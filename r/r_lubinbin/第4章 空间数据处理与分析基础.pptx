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notesSlides/notesSlide2.xml" ContentType="application/vnd.openxmlformats-officedocument.presentationml.notesSlide+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3"/>
  </p:notesMasterIdLst>
  <p:handoutMasterIdLst>
    <p:handoutMasterId r:id="rId94"/>
  </p:handoutMasterIdLst>
  <p:sldIdLst>
    <p:sldId id="256" r:id="rId2"/>
    <p:sldId id="600" r:id="rId3"/>
    <p:sldId id="305" r:id="rId4"/>
    <p:sldId id="331" r:id="rId5"/>
    <p:sldId id="306" r:id="rId6"/>
    <p:sldId id="835" r:id="rId7"/>
    <p:sldId id="836" r:id="rId8"/>
    <p:sldId id="837" r:id="rId9"/>
    <p:sldId id="838" r:id="rId10"/>
    <p:sldId id="839" r:id="rId11"/>
    <p:sldId id="840" r:id="rId12"/>
    <p:sldId id="841" r:id="rId13"/>
    <p:sldId id="842" r:id="rId14"/>
    <p:sldId id="843" r:id="rId15"/>
    <p:sldId id="853" r:id="rId16"/>
    <p:sldId id="330" r:id="rId17"/>
    <p:sldId id="844" r:id="rId18"/>
    <p:sldId id="845" r:id="rId19"/>
    <p:sldId id="846" r:id="rId20"/>
    <p:sldId id="847" r:id="rId21"/>
    <p:sldId id="848" r:id="rId22"/>
    <p:sldId id="849" r:id="rId23"/>
    <p:sldId id="850" r:id="rId24"/>
    <p:sldId id="852" r:id="rId25"/>
    <p:sldId id="851" r:id="rId26"/>
    <p:sldId id="854" r:id="rId27"/>
    <p:sldId id="855" r:id="rId28"/>
    <p:sldId id="856" r:id="rId29"/>
    <p:sldId id="857" r:id="rId30"/>
    <p:sldId id="858" r:id="rId31"/>
    <p:sldId id="859" r:id="rId32"/>
    <p:sldId id="860" r:id="rId33"/>
    <p:sldId id="861" r:id="rId34"/>
    <p:sldId id="862" r:id="rId35"/>
    <p:sldId id="863" r:id="rId36"/>
    <p:sldId id="864" r:id="rId37"/>
    <p:sldId id="865" r:id="rId38"/>
    <p:sldId id="866" r:id="rId39"/>
    <p:sldId id="867" r:id="rId40"/>
    <p:sldId id="868" r:id="rId41"/>
    <p:sldId id="869" r:id="rId42"/>
    <p:sldId id="870" r:id="rId43"/>
    <p:sldId id="871" r:id="rId44"/>
    <p:sldId id="872" r:id="rId45"/>
    <p:sldId id="873" r:id="rId46"/>
    <p:sldId id="874" r:id="rId47"/>
    <p:sldId id="875" r:id="rId48"/>
    <p:sldId id="876" r:id="rId49"/>
    <p:sldId id="877" r:id="rId50"/>
    <p:sldId id="878" r:id="rId51"/>
    <p:sldId id="879" r:id="rId52"/>
    <p:sldId id="880" r:id="rId53"/>
    <p:sldId id="881" r:id="rId54"/>
    <p:sldId id="882" r:id="rId55"/>
    <p:sldId id="883" r:id="rId56"/>
    <p:sldId id="884" r:id="rId57"/>
    <p:sldId id="885" r:id="rId58"/>
    <p:sldId id="886" r:id="rId59"/>
    <p:sldId id="887" r:id="rId60"/>
    <p:sldId id="888" r:id="rId61"/>
    <p:sldId id="890" r:id="rId62"/>
    <p:sldId id="891" r:id="rId63"/>
    <p:sldId id="924" r:id="rId64"/>
    <p:sldId id="894" r:id="rId65"/>
    <p:sldId id="895" r:id="rId66"/>
    <p:sldId id="896" r:id="rId67"/>
    <p:sldId id="898" r:id="rId68"/>
    <p:sldId id="901" r:id="rId69"/>
    <p:sldId id="902" r:id="rId70"/>
    <p:sldId id="903" r:id="rId71"/>
    <p:sldId id="904" r:id="rId72"/>
    <p:sldId id="905" r:id="rId73"/>
    <p:sldId id="925" r:id="rId74"/>
    <p:sldId id="926" r:id="rId75"/>
    <p:sldId id="927" r:id="rId76"/>
    <p:sldId id="928" r:id="rId77"/>
    <p:sldId id="911" r:id="rId78"/>
    <p:sldId id="929" r:id="rId79"/>
    <p:sldId id="912" r:id="rId80"/>
    <p:sldId id="913" r:id="rId81"/>
    <p:sldId id="914" r:id="rId82"/>
    <p:sldId id="915" r:id="rId83"/>
    <p:sldId id="916" r:id="rId84"/>
    <p:sldId id="917" r:id="rId85"/>
    <p:sldId id="918" r:id="rId86"/>
    <p:sldId id="919" r:id="rId87"/>
    <p:sldId id="920" r:id="rId88"/>
    <p:sldId id="921" r:id="rId89"/>
    <p:sldId id="922" r:id="rId90"/>
    <p:sldId id="923" r:id="rId91"/>
    <p:sldId id="624" r:id="rId92"/>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84" userDrawn="1">
          <p15:clr>
            <a:srgbClr val="A4A3A4"/>
          </p15:clr>
        </p15:guide>
        <p15:guide id="2" pos="2856"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怡彤 丁" initials="怡丁" lastIdx="1" clrIdx="0">
    <p:extLst>
      <p:ext uri="{19B8F6BF-5375-455C-9EA6-DF929625EA0E}">
        <p15:presenceInfo xmlns:p15="http://schemas.microsoft.com/office/powerpoint/2012/main" userId="2f2dd4a306a755cc"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FAFC"/>
    <a:srgbClr val="074996"/>
    <a:srgbClr val="2D22C0"/>
    <a:srgbClr val="160A02"/>
    <a:srgbClr val="F13B09"/>
    <a:srgbClr val="F75529"/>
    <a:srgbClr val="170401"/>
    <a:srgbClr val="170A0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031" autoAdjust="0"/>
    <p:restoredTop sz="93536" autoAdjust="0"/>
  </p:normalViewPr>
  <p:slideViewPr>
    <p:cSldViewPr showGuides="1">
      <p:cViewPr varScale="1">
        <p:scale>
          <a:sx n="101" d="100"/>
          <a:sy n="101" d="100"/>
        </p:scale>
        <p:origin x="1444" y="56"/>
      </p:cViewPr>
      <p:guideLst>
        <p:guide orient="horz" pos="2184"/>
        <p:guide pos="2856"/>
      </p:guideLst>
    </p:cSldViewPr>
  </p:slideViewPr>
  <p:outlineViewPr>
    <p:cViewPr>
      <p:scale>
        <a:sx n="33" d="100"/>
        <a:sy n="33" d="100"/>
      </p:scale>
      <p:origin x="0" y="0"/>
    </p:cViewPr>
  </p:outlineViewPr>
  <p:notesTextViewPr>
    <p:cViewPr>
      <p:scale>
        <a:sx n="3" d="2"/>
        <a:sy n="3" d="2"/>
      </p:scale>
      <p:origin x="0" y="0"/>
    </p:cViewPr>
  </p:notesTextViewPr>
  <p:notesViewPr>
    <p:cSldViewPr>
      <p:cViewPr varScale="1">
        <p:scale>
          <a:sx n="62" d="100"/>
          <a:sy n="62" d="100"/>
        </p:scale>
        <p:origin x="2299" y="58"/>
      </p:cViewPr>
      <p:guideLst/>
    </p:cSldViewPr>
  </p:notesViewPr>
  <p:gridSpacing cx="38100" cy="381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commentAuthors" Target="commentAuthor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handoutMaster" Target="handoutMasters/handoutMaster1.xml"/><Relationship Id="rId9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notesMaster" Target="notesMasters/notesMaster1.xml"/><Relationship Id="rId98" Type="http://schemas.openxmlformats.org/officeDocument/2006/relationships/theme" Target="theme/theme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5-03-25T16:19:09.220" idx="1">
    <p:pos x="2256" y="758"/>
    <p:text/>
    <p:extLst>
      <p:ext uri="{C676402C-5697-4E1C-873F-D02D1690AC5C}">
        <p15:threadingInfo xmlns:p15="http://schemas.microsoft.com/office/powerpoint/2012/main" timeZoneBias="-480"/>
      </p:ext>
    </p:extLs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2C7DB12-D159-4442-8014-437DE5BA55C7}" type="datetimeFigureOut">
              <a:rPr lang="zh-CN" altLang="en-US" smtClean="0"/>
              <a:t>2025/4/2</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2B4347-C9BC-4556-8FC3-B2E0153CF995}"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hangingPunct="1">
              <a:defRPr sz="1200">
                <a:latin typeface="Arial" panose="020B0604020202020204" pitchFamily="34" charset="0"/>
                <a:ea typeface="宋体" panose="02010600030101010101" pitchFamily="2" charset="-122"/>
              </a:defRPr>
            </a:lvl1pPr>
          </a:lstStyle>
          <a:p>
            <a:pPr>
              <a:defRPr/>
            </a:pPr>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hangingPunct="1">
              <a:defRPr sz="1200">
                <a:latin typeface="Arial" panose="020B0604020202020204" pitchFamily="34" charset="0"/>
                <a:ea typeface="宋体" panose="02010600030101010101" pitchFamily="2" charset="-122"/>
              </a:defRPr>
            </a:lvl1pPr>
          </a:lstStyle>
          <a:p>
            <a:pPr>
              <a:defRPr/>
            </a:pPr>
            <a:fld id="{0128E977-6F5A-48DB-ACA7-C6E15821CB3C}" type="datetimeFigureOut">
              <a:rPr lang="zh-CN" altLang="en-US"/>
              <a:t>2025/4/2</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400550"/>
            <a:ext cx="5486400" cy="3600450"/>
          </a:xfrm>
          <a:prstGeom prst="rect">
            <a:avLst/>
          </a:prstGeom>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hangingPunct="1">
              <a:defRPr sz="1200">
                <a:latin typeface="Arial" panose="020B0604020202020204" pitchFamily="34" charset="0"/>
                <a:ea typeface="宋体" panose="02010600030101010101" pitchFamily="2" charset="-122"/>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hangingPunct="1">
              <a:defRPr sz="1200">
                <a:latin typeface="Arial" panose="020B0604020202020204" pitchFamily="34" charset="0"/>
                <a:ea typeface="宋体" panose="02010600030101010101" pitchFamily="2" charset="-122"/>
              </a:defRPr>
            </a:lvl1pPr>
          </a:lstStyle>
          <a:p>
            <a:pPr>
              <a:defRPr/>
            </a:pPr>
            <a:fld id="{5F5AD7FC-C08A-4786-B2D8-ABE422D63548}" type="slidenum">
              <a:rPr lang="zh-CN" altLang="en-US"/>
              <a:t>‹#›</a:t>
            </a:fld>
            <a:endParaRPr lang="zh-CN" altLang="en-US"/>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5F5AD7FC-C08A-4786-B2D8-ABE422D63548}"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幻灯片图像占位符 1"/>
          <p:cNvSpPr>
            <a:spLocks noGrp="1" noRot="1" noChangeAspect="1" noTextEdit="1"/>
          </p:cNvSpPr>
          <p:nvPr>
            <p:ph type="sldImg"/>
          </p:nvPr>
        </p:nvSpPr>
        <p:spPr bwMode="auto">
          <a:xfrm>
            <a:off x="1371600" y="1143000"/>
            <a:ext cx="4114800" cy="30861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8130"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8131"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C8FC65C-FC7A-4192-9B2D-44DFEE13D478}" type="slidenum">
              <a:rPr lang="zh-CN" altLang="en-US" smtClean="0"/>
              <a:t>2</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microsoft.com/office/2007/relationships/hdphoto" Target="../media/hdphoto1.wdp"/></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1"/>
        </a:solidFill>
        <a:effectLst/>
      </p:bgPr>
    </p:bg>
    <p:spTree>
      <p:nvGrpSpPr>
        <p:cNvPr id="1" name=""/>
        <p:cNvGrpSpPr/>
        <p:nvPr/>
      </p:nvGrpSpPr>
      <p:grpSpPr>
        <a:xfrm>
          <a:off x="0" y="0"/>
          <a:ext cx="0" cy="0"/>
          <a:chOff x="0" y="0"/>
          <a:chExt cx="0" cy="0"/>
        </a:xfrm>
      </p:grpSpPr>
      <p:pic>
        <p:nvPicPr>
          <p:cNvPr id="159" name="图片 15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57956"/>
            <a:ext cx="9144000" cy="2932680"/>
          </a:xfrm>
          <a:prstGeom prst="rect">
            <a:avLst/>
          </a:prstGeom>
        </p:spPr>
      </p:pic>
      <p:sp>
        <p:nvSpPr>
          <p:cNvPr id="2" name="标题 1"/>
          <p:cNvSpPr>
            <a:spLocks noGrp="1"/>
          </p:cNvSpPr>
          <p:nvPr>
            <p:ph type="ctrTitle"/>
          </p:nvPr>
        </p:nvSpPr>
        <p:spPr>
          <a:xfrm>
            <a:off x="692934" y="3924304"/>
            <a:ext cx="7772400" cy="746125"/>
          </a:xfrm>
          <a:prstGeom prst="rect">
            <a:avLst/>
          </a:prstGeom>
        </p:spPr>
        <p:txBody>
          <a:bodyPr/>
          <a:lstStyle/>
          <a:p>
            <a:r>
              <a:rPr lang="zh-CN" altLang="en-US" dirty="0"/>
              <a:t>单击此处编辑母版标题样式</a:t>
            </a:r>
          </a:p>
        </p:txBody>
      </p:sp>
      <p:sp>
        <p:nvSpPr>
          <p:cNvPr id="3" name="副标题 2"/>
          <p:cNvSpPr>
            <a:spLocks noGrp="1"/>
          </p:cNvSpPr>
          <p:nvPr>
            <p:ph type="subTitle" idx="1"/>
          </p:nvPr>
        </p:nvSpPr>
        <p:spPr>
          <a:xfrm>
            <a:off x="1371600" y="4914904"/>
            <a:ext cx="6400800" cy="746125"/>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82" name="任意形状 36"/>
          <p:cNvSpPr/>
          <p:nvPr userDrawn="1"/>
        </p:nvSpPr>
        <p:spPr>
          <a:xfrm>
            <a:off x="-138132" y="-147919"/>
            <a:ext cx="9434532" cy="3238555"/>
          </a:xfrm>
          <a:custGeom>
            <a:avLst/>
            <a:gdLst>
              <a:gd name="connsiteX0" fmla="*/ 0 w 12192000"/>
              <a:gd name="connsiteY0" fmla="*/ 0 h 3632200"/>
              <a:gd name="connsiteX1" fmla="*/ 12192000 w 12192000"/>
              <a:gd name="connsiteY1" fmla="*/ 0 h 3632200"/>
              <a:gd name="connsiteX2" fmla="*/ 12192000 w 12192000"/>
              <a:gd name="connsiteY2" fmla="*/ 2602097 h 3632200"/>
              <a:gd name="connsiteX3" fmla="*/ 11858362 w 12192000"/>
              <a:gd name="connsiteY3" fmla="*/ 2747371 h 3632200"/>
              <a:gd name="connsiteX4" fmla="*/ 6859519 w 12192000"/>
              <a:gd name="connsiteY4" fmla="*/ 3619648 h 3632200"/>
              <a:gd name="connsiteX5" fmla="*/ 6096062 w 12192000"/>
              <a:gd name="connsiteY5" fmla="*/ 3632200 h 3632200"/>
              <a:gd name="connsiteX6" fmla="*/ 6095939 w 12192000"/>
              <a:gd name="connsiteY6" fmla="*/ 3632200 h 3632200"/>
              <a:gd name="connsiteX7" fmla="*/ 5332482 w 12192000"/>
              <a:gd name="connsiteY7" fmla="*/ 3619648 h 3632200"/>
              <a:gd name="connsiteX8" fmla="*/ 333638 w 12192000"/>
              <a:gd name="connsiteY8" fmla="*/ 2747371 h 3632200"/>
              <a:gd name="connsiteX9" fmla="*/ 0 w 12192000"/>
              <a:gd name="connsiteY9" fmla="*/ 2602097 h 363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3632200">
                <a:moveTo>
                  <a:pt x="0" y="0"/>
                </a:moveTo>
                <a:lnTo>
                  <a:pt x="12192000" y="0"/>
                </a:lnTo>
                <a:lnTo>
                  <a:pt x="12192000" y="2602097"/>
                </a:lnTo>
                <a:lnTo>
                  <a:pt x="11858362" y="2747371"/>
                </a:lnTo>
                <a:cubicBezTo>
                  <a:pt x="10640880" y="3227716"/>
                  <a:pt x="8867829" y="3553239"/>
                  <a:pt x="6859519" y="3619648"/>
                </a:cubicBezTo>
                <a:lnTo>
                  <a:pt x="6096062" y="3632200"/>
                </a:lnTo>
                <a:lnTo>
                  <a:pt x="6095939" y="3632200"/>
                </a:lnTo>
                <a:lnTo>
                  <a:pt x="5332482" y="3619648"/>
                </a:lnTo>
                <a:cubicBezTo>
                  <a:pt x="3324171" y="3553239"/>
                  <a:pt x="1551120" y="3227716"/>
                  <a:pt x="333638" y="2747371"/>
                </a:cubicBezTo>
                <a:lnTo>
                  <a:pt x="0" y="2602097"/>
                </a:lnTo>
                <a:close/>
              </a:path>
            </a:pathLst>
          </a:cu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noAutofit/>
          </a:bodyPr>
          <a:lstStyle/>
          <a:p>
            <a:pPr algn="l">
              <a:lnSpc>
                <a:spcPct val="130000"/>
              </a:lnSpc>
            </a:pPr>
            <a:endParaRPr kumimoji="1" lang="zh-CN" altLang="en-US" sz="2000" dirty="0">
              <a:solidFill>
                <a:schemeClr val="tx1">
                  <a:lumMod val="75000"/>
                  <a:lumOff val="25000"/>
                </a:schemeClr>
              </a:solidFill>
            </a:endParaRPr>
          </a:p>
        </p:txBody>
      </p:sp>
      <p:sp>
        <p:nvSpPr>
          <p:cNvPr id="84" name="矩形 83"/>
          <p:cNvSpPr/>
          <p:nvPr userDrawn="1"/>
        </p:nvSpPr>
        <p:spPr>
          <a:xfrm>
            <a:off x="0" y="0"/>
            <a:ext cx="9144000" cy="163286"/>
          </a:xfrm>
          <a:prstGeom prst="rect">
            <a:avLst/>
          </a:prstGeom>
          <a:solidFill>
            <a:schemeClr val="accent1">
              <a:lumMod val="7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normAutofit fontScale="25000" lnSpcReduction="20000"/>
          </a:bodyPr>
          <a:lstStyle/>
          <a:p>
            <a:pPr algn="l">
              <a:lnSpc>
                <a:spcPct val="130000"/>
              </a:lnSpc>
            </a:pPr>
            <a:endParaRPr kumimoji="1" lang="zh-CN" altLang="en-US" sz="2000" dirty="0">
              <a:solidFill>
                <a:schemeClr val="tx1">
                  <a:lumMod val="75000"/>
                  <a:lumOff val="25000"/>
                </a:schemeClr>
              </a:solidFill>
            </a:endParaRPr>
          </a:p>
        </p:txBody>
      </p:sp>
      <p:grpSp>
        <p:nvGrpSpPr>
          <p:cNvPr id="85" name="组合 84"/>
          <p:cNvGrpSpPr/>
          <p:nvPr userDrawn="1"/>
        </p:nvGrpSpPr>
        <p:grpSpPr>
          <a:xfrm>
            <a:off x="3962400" y="2400300"/>
            <a:ext cx="1219200" cy="1231468"/>
            <a:chOff x="6678206" y="3208602"/>
            <a:chExt cx="1219200" cy="1231468"/>
          </a:xfrm>
        </p:grpSpPr>
        <p:sp>
          <p:nvSpPr>
            <p:cNvPr id="86" name="椭圆 85"/>
            <p:cNvSpPr/>
            <p:nvPr/>
          </p:nvSpPr>
          <p:spPr>
            <a:xfrm>
              <a:off x="6683774" y="3226438"/>
              <a:ext cx="1213632" cy="121363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normAutofit/>
            </a:bodyPr>
            <a:lstStyle/>
            <a:p>
              <a:pPr algn="l">
                <a:lnSpc>
                  <a:spcPct val="130000"/>
                </a:lnSpc>
              </a:pPr>
              <a:endParaRPr kumimoji="1" lang="zh-CN" altLang="en-US" sz="2000" dirty="0">
                <a:solidFill>
                  <a:schemeClr val="tx1">
                    <a:lumMod val="75000"/>
                    <a:lumOff val="25000"/>
                  </a:schemeClr>
                </a:solidFill>
              </a:endParaRPr>
            </a:p>
          </p:txBody>
        </p:sp>
        <p:grpSp>
          <p:nvGrpSpPr>
            <p:cNvPr id="87" name="íšḻîďê"/>
            <p:cNvGrpSpPr/>
            <p:nvPr/>
          </p:nvGrpSpPr>
          <p:grpSpPr>
            <a:xfrm>
              <a:off x="6678206" y="3208602"/>
              <a:ext cx="1219200" cy="1227234"/>
              <a:chOff x="3551238" y="3067050"/>
              <a:chExt cx="722313" cy="727075"/>
            </a:xfrm>
          </p:grpSpPr>
          <p:sp>
            <p:nvSpPr>
              <p:cNvPr id="88" name="ïş1íḍê"/>
              <p:cNvSpPr/>
              <p:nvPr/>
            </p:nvSpPr>
            <p:spPr bwMode="auto">
              <a:xfrm>
                <a:off x="3575051" y="3087688"/>
                <a:ext cx="673100" cy="679450"/>
              </a:xfrm>
              <a:custGeom>
                <a:avLst/>
                <a:gdLst>
                  <a:gd name="T0" fmla="*/ 102 w 204"/>
                  <a:gd name="T1" fmla="*/ 0 h 204"/>
                  <a:gd name="T2" fmla="*/ 204 w 204"/>
                  <a:gd name="T3" fmla="*/ 102 h 204"/>
                  <a:gd name="T4" fmla="*/ 102 w 204"/>
                  <a:gd name="T5" fmla="*/ 204 h 204"/>
                  <a:gd name="T6" fmla="*/ 0 w 204"/>
                  <a:gd name="T7" fmla="*/ 102 h 204"/>
                  <a:gd name="T8" fmla="*/ 102 w 204"/>
                  <a:gd name="T9" fmla="*/ 0 h 204"/>
                  <a:gd name="T10" fmla="*/ 102 w 204"/>
                  <a:gd name="T11" fmla="*/ 25 h 204"/>
                  <a:gd name="T12" fmla="*/ 24 w 204"/>
                  <a:gd name="T13" fmla="*/ 103 h 204"/>
                  <a:gd name="T14" fmla="*/ 102 w 204"/>
                  <a:gd name="T15" fmla="*/ 181 h 204"/>
                  <a:gd name="T16" fmla="*/ 180 w 204"/>
                  <a:gd name="T17" fmla="*/ 103 h 204"/>
                  <a:gd name="T18" fmla="*/ 102 w 204"/>
                  <a:gd name="T19" fmla="*/ 25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4" h="204">
                    <a:moveTo>
                      <a:pt x="102" y="0"/>
                    </a:moveTo>
                    <a:cubicBezTo>
                      <a:pt x="159" y="0"/>
                      <a:pt x="204" y="46"/>
                      <a:pt x="204" y="102"/>
                    </a:cubicBezTo>
                    <a:cubicBezTo>
                      <a:pt x="204" y="158"/>
                      <a:pt x="159" y="204"/>
                      <a:pt x="102" y="204"/>
                    </a:cubicBezTo>
                    <a:cubicBezTo>
                      <a:pt x="46" y="204"/>
                      <a:pt x="0" y="158"/>
                      <a:pt x="0" y="102"/>
                    </a:cubicBezTo>
                    <a:cubicBezTo>
                      <a:pt x="0" y="46"/>
                      <a:pt x="46" y="0"/>
                      <a:pt x="102" y="0"/>
                    </a:cubicBezTo>
                    <a:close/>
                    <a:moveTo>
                      <a:pt x="102" y="25"/>
                    </a:moveTo>
                    <a:cubicBezTo>
                      <a:pt x="59" y="25"/>
                      <a:pt x="24" y="60"/>
                      <a:pt x="24" y="103"/>
                    </a:cubicBezTo>
                    <a:cubicBezTo>
                      <a:pt x="24" y="146"/>
                      <a:pt x="59" y="181"/>
                      <a:pt x="102" y="181"/>
                    </a:cubicBezTo>
                    <a:cubicBezTo>
                      <a:pt x="145" y="181"/>
                      <a:pt x="180" y="146"/>
                      <a:pt x="180" y="103"/>
                    </a:cubicBezTo>
                    <a:cubicBezTo>
                      <a:pt x="180" y="60"/>
                      <a:pt x="145" y="25"/>
                      <a:pt x="102" y="25"/>
                    </a:cubicBezTo>
                    <a:close/>
                  </a:path>
                </a:pathLst>
              </a:custGeom>
              <a:solidFill>
                <a:srgbClr val="00523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89" name="íšḻïḍè"/>
              <p:cNvSpPr/>
              <p:nvPr/>
            </p:nvSpPr>
            <p:spPr bwMode="auto">
              <a:xfrm>
                <a:off x="3621088" y="3103563"/>
                <a:ext cx="584200" cy="203200"/>
              </a:xfrm>
              <a:custGeom>
                <a:avLst/>
                <a:gdLst>
                  <a:gd name="T0" fmla="*/ 8 w 177"/>
                  <a:gd name="T1" fmla="*/ 53 h 61"/>
                  <a:gd name="T2" fmla="*/ 0 w 177"/>
                  <a:gd name="T3" fmla="*/ 56 h 61"/>
                  <a:gd name="T4" fmla="*/ 5 w 177"/>
                  <a:gd name="T5" fmla="*/ 52 h 61"/>
                  <a:gd name="T6" fmla="*/ 4 w 177"/>
                  <a:gd name="T7" fmla="*/ 50 h 61"/>
                  <a:gd name="T8" fmla="*/ 5 w 177"/>
                  <a:gd name="T9" fmla="*/ 48 h 61"/>
                  <a:gd name="T10" fmla="*/ 10 w 177"/>
                  <a:gd name="T11" fmla="*/ 41 h 61"/>
                  <a:gd name="T12" fmla="*/ 17 w 177"/>
                  <a:gd name="T13" fmla="*/ 50 h 61"/>
                  <a:gd name="T14" fmla="*/ 14 w 177"/>
                  <a:gd name="T15" fmla="*/ 35 h 61"/>
                  <a:gd name="T16" fmla="*/ 23 w 177"/>
                  <a:gd name="T17" fmla="*/ 46 h 61"/>
                  <a:gd name="T18" fmla="*/ 31 w 177"/>
                  <a:gd name="T19" fmla="*/ 38 h 61"/>
                  <a:gd name="T20" fmla="*/ 29 w 177"/>
                  <a:gd name="T21" fmla="*/ 40 h 61"/>
                  <a:gd name="T22" fmla="*/ 18 w 177"/>
                  <a:gd name="T23" fmla="*/ 32 h 61"/>
                  <a:gd name="T24" fmla="*/ 19 w 177"/>
                  <a:gd name="T25" fmla="*/ 30 h 61"/>
                  <a:gd name="T26" fmla="*/ 21 w 177"/>
                  <a:gd name="T27" fmla="*/ 27 h 61"/>
                  <a:gd name="T28" fmla="*/ 41 w 177"/>
                  <a:gd name="T29" fmla="*/ 29 h 61"/>
                  <a:gd name="T30" fmla="*/ 43 w 177"/>
                  <a:gd name="T31" fmla="*/ 29 h 61"/>
                  <a:gd name="T32" fmla="*/ 35 w 177"/>
                  <a:gd name="T33" fmla="*/ 35 h 61"/>
                  <a:gd name="T34" fmla="*/ 31 w 177"/>
                  <a:gd name="T35" fmla="*/ 21 h 61"/>
                  <a:gd name="T36" fmla="*/ 46 w 177"/>
                  <a:gd name="T37" fmla="*/ 11 h 61"/>
                  <a:gd name="T38" fmla="*/ 47 w 177"/>
                  <a:gd name="T39" fmla="*/ 11 h 61"/>
                  <a:gd name="T40" fmla="*/ 47 w 177"/>
                  <a:gd name="T41" fmla="*/ 26 h 61"/>
                  <a:gd name="T42" fmla="*/ 39 w 177"/>
                  <a:gd name="T43" fmla="*/ 15 h 61"/>
                  <a:gd name="T44" fmla="*/ 72 w 177"/>
                  <a:gd name="T45" fmla="*/ 16 h 61"/>
                  <a:gd name="T46" fmla="*/ 71 w 177"/>
                  <a:gd name="T47" fmla="*/ 2 h 61"/>
                  <a:gd name="T48" fmla="*/ 65 w 177"/>
                  <a:gd name="T49" fmla="*/ 15 h 61"/>
                  <a:gd name="T50" fmla="*/ 64 w 177"/>
                  <a:gd name="T51" fmla="*/ 4 h 61"/>
                  <a:gd name="T52" fmla="*/ 84 w 177"/>
                  <a:gd name="T53" fmla="*/ 1 h 61"/>
                  <a:gd name="T54" fmla="*/ 84 w 177"/>
                  <a:gd name="T55" fmla="*/ 1 h 61"/>
                  <a:gd name="T56" fmla="*/ 78 w 177"/>
                  <a:gd name="T57" fmla="*/ 16 h 61"/>
                  <a:gd name="T58" fmla="*/ 77 w 177"/>
                  <a:gd name="T59" fmla="*/ 15 h 61"/>
                  <a:gd name="T60" fmla="*/ 90 w 177"/>
                  <a:gd name="T61" fmla="*/ 1 h 61"/>
                  <a:gd name="T62" fmla="*/ 94 w 177"/>
                  <a:gd name="T63" fmla="*/ 15 h 61"/>
                  <a:gd name="T64" fmla="*/ 92 w 177"/>
                  <a:gd name="T65" fmla="*/ 15 h 61"/>
                  <a:gd name="T66" fmla="*/ 113 w 177"/>
                  <a:gd name="T67" fmla="*/ 3 h 61"/>
                  <a:gd name="T68" fmla="*/ 102 w 177"/>
                  <a:gd name="T69" fmla="*/ 2 h 61"/>
                  <a:gd name="T70" fmla="*/ 105 w 177"/>
                  <a:gd name="T71" fmla="*/ 14 h 61"/>
                  <a:gd name="T72" fmla="*/ 117 w 177"/>
                  <a:gd name="T73" fmla="*/ 5 h 61"/>
                  <a:gd name="T74" fmla="*/ 122 w 177"/>
                  <a:gd name="T75" fmla="*/ 19 h 61"/>
                  <a:gd name="T76" fmla="*/ 119 w 177"/>
                  <a:gd name="T77" fmla="*/ 13 h 61"/>
                  <a:gd name="T78" fmla="*/ 121 w 177"/>
                  <a:gd name="T79" fmla="*/ 12 h 61"/>
                  <a:gd name="T80" fmla="*/ 124 w 177"/>
                  <a:gd name="T81" fmla="*/ 10 h 61"/>
                  <a:gd name="T82" fmla="*/ 131 w 177"/>
                  <a:gd name="T83" fmla="*/ 26 h 61"/>
                  <a:gd name="T84" fmla="*/ 126 w 177"/>
                  <a:gd name="T85" fmla="*/ 23 h 61"/>
                  <a:gd name="T86" fmla="*/ 124 w 177"/>
                  <a:gd name="T87" fmla="*/ 23 h 61"/>
                  <a:gd name="T88" fmla="*/ 137 w 177"/>
                  <a:gd name="T89" fmla="*/ 14 h 61"/>
                  <a:gd name="T90" fmla="*/ 133 w 177"/>
                  <a:gd name="T91" fmla="*/ 11 h 61"/>
                  <a:gd name="T92" fmla="*/ 137 w 177"/>
                  <a:gd name="T93" fmla="*/ 32 h 61"/>
                  <a:gd name="T94" fmla="*/ 137 w 177"/>
                  <a:gd name="T95" fmla="*/ 32 h 61"/>
                  <a:gd name="T96" fmla="*/ 145 w 177"/>
                  <a:gd name="T97" fmla="*/ 19 h 61"/>
                  <a:gd name="T98" fmla="*/ 146 w 177"/>
                  <a:gd name="T99" fmla="*/ 19 h 61"/>
                  <a:gd name="T100" fmla="*/ 159 w 177"/>
                  <a:gd name="T101" fmla="*/ 31 h 61"/>
                  <a:gd name="T102" fmla="*/ 149 w 177"/>
                  <a:gd name="T103" fmla="*/ 42 h 61"/>
                  <a:gd name="T104" fmla="*/ 155 w 177"/>
                  <a:gd name="T105" fmla="*/ 27 h 61"/>
                  <a:gd name="T106" fmla="*/ 166 w 177"/>
                  <a:gd name="T107" fmla="*/ 40 h 61"/>
                  <a:gd name="T108" fmla="*/ 160 w 177"/>
                  <a:gd name="T109" fmla="*/ 37 h 61"/>
                  <a:gd name="T110" fmla="*/ 153 w 177"/>
                  <a:gd name="T111" fmla="*/ 46 h 61"/>
                  <a:gd name="T112" fmla="*/ 177 w 177"/>
                  <a:gd name="T113" fmla="*/ 55 h 61"/>
                  <a:gd name="T114" fmla="*/ 162 w 177"/>
                  <a:gd name="T115" fmla="*/ 60 h 61"/>
                  <a:gd name="T116" fmla="*/ 165 w 177"/>
                  <a:gd name="T117" fmla="*/ 55 h 61"/>
                  <a:gd name="T118" fmla="*/ 173 w 177"/>
                  <a:gd name="T119" fmla="*/ 49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77" h="61">
                    <a:moveTo>
                      <a:pt x="6" y="46"/>
                    </a:moveTo>
                    <a:cubicBezTo>
                      <a:pt x="6" y="46"/>
                      <a:pt x="6" y="46"/>
                      <a:pt x="6" y="46"/>
                    </a:cubicBezTo>
                    <a:cubicBezTo>
                      <a:pt x="6" y="46"/>
                      <a:pt x="6" y="46"/>
                      <a:pt x="6" y="46"/>
                    </a:cubicBezTo>
                    <a:cubicBezTo>
                      <a:pt x="6" y="46"/>
                      <a:pt x="6" y="47"/>
                      <a:pt x="6" y="47"/>
                    </a:cubicBezTo>
                    <a:cubicBezTo>
                      <a:pt x="6" y="47"/>
                      <a:pt x="6" y="47"/>
                      <a:pt x="6" y="47"/>
                    </a:cubicBezTo>
                    <a:cubicBezTo>
                      <a:pt x="17" y="57"/>
                      <a:pt x="17" y="57"/>
                      <a:pt x="17" y="57"/>
                    </a:cubicBezTo>
                    <a:cubicBezTo>
                      <a:pt x="17" y="57"/>
                      <a:pt x="17" y="57"/>
                      <a:pt x="17" y="57"/>
                    </a:cubicBezTo>
                    <a:cubicBezTo>
                      <a:pt x="8" y="53"/>
                      <a:pt x="8" y="53"/>
                      <a:pt x="8" y="53"/>
                    </a:cubicBezTo>
                    <a:cubicBezTo>
                      <a:pt x="8" y="54"/>
                      <a:pt x="8" y="54"/>
                      <a:pt x="8" y="54"/>
                    </a:cubicBezTo>
                    <a:cubicBezTo>
                      <a:pt x="15" y="60"/>
                      <a:pt x="15" y="60"/>
                      <a:pt x="15" y="60"/>
                    </a:cubicBezTo>
                    <a:cubicBezTo>
                      <a:pt x="15" y="61"/>
                      <a:pt x="15" y="61"/>
                      <a:pt x="15" y="61"/>
                    </a:cubicBezTo>
                    <a:cubicBezTo>
                      <a:pt x="1" y="55"/>
                      <a:pt x="1" y="55"/>
                      <a:pt x="1" y="55"/>
                    </a:cubicBezTo>
                    <a:cubicBezTo>
                      <a:pt x="1" y="55"/>
                      <a:pt x="1" y="55"/>
                      <a:pt x="1" y="55"/>
                    </a:cubicBezTo>
                    <a:cubicBezTo>
                      <a:pt x="1" y="55"/>
                      <a:pt x="1" y="55"/>
                      <a:pt x="1" y="55"/>
                    </a:cubicBezTo>
                    <a:cubicBezTo>
                      <a:pt x="0" y="56"/>
                      <a:pt x="0" y="56"/>
                      <a:pt x="0" y="56"/>
                    </a:cubicBezTo>
                    <a:cubicBezTo>
                      <a:pt x="0" y="56"/>
                      <a:pt x="0" y="56"/>
                      <a:pt x="0" y="56"/>
                    </a:cubicBezTo>
                    <a:cubicBezTo>
                      <a:pt x="2" y="53"/>
                      <a:pt x="2" y="53"/>
                      <a:pt x="2" y="53"/>
                    </a:cubicBezTo>
                    <a:cubicBezTo>
                      <a:pt x="2" y="53"/>
                      <a:pt x="2" y="53"/>
                      <a:pt x="2" y="53"/>
                    </a:cubicBezTo>
                    <a:cubicBezTo>
                      <a:pt x="2" y="53"/>
                      <a:pt x="2" y="53"/>
                      <a:pt x="2" y="53"/>
                    </a:cubicBezTo>
                    <a:cubicBezTo>
                      <a:pt x="2" y="53"/>
                      <a:pt x="2" y="54"/>
                      <a:pt x="2" y="54"/>
                    </a:cubicBezTo>
                    <a:cubicBezTo>
                      <a:pt x="2" y="54"/>
                      <a:pt x="2" y="54"/>
                      <a:pt x="2" y="54"/>
                    </a:cubicBezTo>
                    <a:cubicBezTo>
                      <a:pt x="11" y="58"/>
                      <a:pt x="11" y="58"/>
                      <a:pt x="11" y="58"/>
                    </a:cubicBezTo>
                    <a:cubicBezTo>
                      <a:pt x="12" y="58"/>
                      <a:pt x="12" y="58"/>
                      <a:pt x="12" y="58"/>
                    </a:cubicBezTo>
                    <a:cubicBezTo>
                      <a:pt x="5" y="52"/>
                      <a:pt x="5" y="52"/>
                      <a:pt x="5" y="52"/>
                    </a:cubicBezTo>
                    <a:cubicBezTo>
                      <a:pt x="4" y="52"/>
                      <a:pt x="4" y="52"/>
                      <a:pt x="4" y="52"/>
                    </a:cubicBezTo>
                    <a:cubicBezTo>
                      <a:pt x="3" y="52"/>
                      <a:pt x="3" y="52"/>
                      <a:pt x="3" y="52"/>
                    </a:cubicBezTo>
                    <a:cubicBezTo>
                      <a:pt x="3" y="52"/>
                      <a:pt x="3" y="52"/>
                      <a:pt x="3" y="52"/>
                    </a:cubicBezTo>
                    <a:cubicBezTo>
                      <a:pt x="3" y="52"/>
                      <a:pt x="3" y="52"/>
                      <a:pt x="3" y="52"/>
                    </a:cubicBezTo>
                    <a:cubicBezTo>
                      <a:pt x="2" y="52"/>
                      <a:pt x="2" y="52"/>
                      <a:pt x="2" y="52"/>
                    </a:cubicBezTo>
                    <a:cubicBezTo>
                      <a:pt x="4" y="49"/>
                      <a:pt x="4" y="49"/>
                      <a:pt x="4" y="49"/>
                    </a:cubicBezTo>
                    <a:cubicBezTo>
                      <a:pt x="4" y="49"/>
                      <a:pt x="4" y="49"/>
                      <a:pt x="4" y="49"/>
                    </a:cubicBezTo>
                    <a:cubicBezTo>
                      <a:pt x="4" y="50"/>
                      <a:pt x="4" y="50"/>
                      <a:pt x="4" y="50"/>
                    </a:cubicBezTo>
                    <a:cubicBezTo>
                      <a:pt x="4" y="50"/>
                      <a:pt x="4" y="50"/>
                      <a:pt x="4" y="50"/>
                    </a:cubicBezTo>
                    <a:cubicBezTo>
                      <a:pt x="4" y="50"/>
                      <a:pt x="4" y="50"/>
                      <a:pt x="4" y="51"/>
                    </a:cubicBezTo>
                    <a:cubicBezTo>
                      <a:pt x="13" y="54"/>
                      <a:pt x="13" y="54"/>
                      <a:pt x="13" y="54"/>
                    </a:cubicBezTo>
                    <a:cubicBezTo>
                      <a:pt x="13" y="54"/>
                      <a:pt x="13" y="54"/>
                      <a:pt x="13" y="54"/>
                    </a:cubicBezTo>
                    <a:cubicBezTo>
                      <a:pt x="6" y="48"/>
                      <a:pt x="6" y="48"/>
                      <a:pt x="6" y="48"/>
                    </a:cubicBezTo>
                    <a:cubicBezTo>
                      <a:pt x="6" y="48"/>
                      <a:pt x="6" y="48"/>
                      <a:pt x="5" y="48"/>
                    </a:cubicBezTo>
                    <a:cubicBezTo>
                      <a:pt x="5" y="48"/>
                      <a:pt x="5" y="48"/>
                      <a:pt x="5" y="48"/>
                    </a:cubicBezTo>
                    <a:cubicBezTo>
                      <a:pt x="5" y="48"/>
                      <a:pt x="5" y="48"/>
                      <a:pt x="5" y="48"/>
                    </a:cubicBezTo>
                    <a:cubicBezTo>
                      <a:pt x="4" y="48"/>
                      <a:pt x="4" y="48"/>
                      <a:pt x="4" y="48"/>
                    </a:cubicBezTo>
                    <a:cubicBezTo>
                      <a:pt x="6" y="46"/>
                      <a:pt x="6" y="46"/>
                      <a:pt x="6" y="46"/>
                    </a:cubicBezTo>
                    <a:close/>
                    <a:moveTo>
                      <a:pt x="22" y="48"/>
                    </a:moveTo>
                    <a:cubicBezTo>
                      <a:pt x="22" y="49"/>
                      <a:pt x="21" y="49"/>
                      <a:pt x="21" y="49"/>
                    </a:cubicBezTo>
                    <a:cubicBezTo>
                      <a:pt x="20" y="50"/>
                      <a:pt x="19" y="49"/>
                      <a:pt x="18" y="48"/>
                    </a:cubicBezTo>
                    <a:cubicBezTo>
                      <a:pt x="10" y="42"/>
                      <a:pt x="10" y="42"/>
                      <a:pt x="10" y="42"/>
                    </a:cubicBezTo>
                    <a:cubicBezTo>
                      <a:pt x="10" y="42"/>
                      <a:pt x="10" y="41"/>
                      <a:pt x="10" y="41"/>
                    </a:cubicBezTo>
                    <a:cubicBezTo>
                      <a:pt x="10" y="41"/>
                      <a:pt x="10" y="41"/>
                      <a:pt x="10" y="41"/>
                    </a:cubicBezTo>
                    <a:cubicBezTo>
                      <a:pt x="10" y="40"/>
                      <a:pt x="10" y="40"/>
                      <a:pt x="10" y="40"/>
                    </a:cubicBezTo>
                    <a:cubicBezTo>
                      <a:pt x="10" y="40"/>
                      <a:pt x="10" y="40"/>
                      <a:pt x="10" y="40"/>
                    </a:cubicBezTo>
                    <a:cubicBezTo>
                      <a:pt x="7" y="43"/>
                      <a:pt x="7" y="43"/>
                      <a:pt x="7" y="43"/>
                    </a:cubicBezTo>
                    <a:cubicBezTo>
                      <a:pt x="8" y="43"/>
                      <a:pt x="8" y="43"/>
                      <a:pt x="8" y="43"/>
                    </a:cubicBezTo>
                    <a:cubicBezTo>
                      <a:pt x="8" y="43"/>
                      <a:pt x="8" y="43"/>
                      <a:pt x="8" y="43"/>
                    </a:cubicBezTo>
                    <a:cubicBezTo>
                      <a:pt x="8" y="43"/>
                      <a:pt x="8" y="43"/>
                      <a:pt x="8" y="43"/>
                    </a:cubicBezTo>
                    <a:cubicBezTo>
                      <a:pt x="9" y="43"/>
                      <a:pt x="9" y="43"/>
                      <a:pt x="9" y="43"/>
                    </a:cubicBezTo>
                    <a:cubicBezTo>
                      <a:pt x="17" y="50"/>
                      <a:pt x="17" y="50"/>
                      <a:pt x="17" y="50"/>
                    </a:cubicBezTo>
                    <a:cubicBezTo>
                      <a:pt x="18" y="50"/>
                      <a:pt x="19" y="51"/>
                      <a:pt x="20" y="50"/>
                    </a:cubicBezTo>
                    <a:cubicBezTo>
                      <a:pt x="21" y="50"/>
                      <a:pt x="22" y="50"/>
                      <a:pt x="23" y="49"/>
                    </a:cubicBezTo>
                    <a:cubicBezTo>
                      <a:pt x="24" y="48"/>
                      <a:pt x="24" y="47"/>
                      <a:pt x="24" y="46"/>
                    </a:cubicBezTo>
                    <a:cubicBezTo>
                      <a:pt x="24" y="45"/>
                      <a:pt x="23" y="44"/>
                      <a:pt x="22" y="43"/>
                    </a:cubicBezTo>
                    <a:cubicBezTo>
                      <a:pt x="14" y="36"/>
                      <a:pt x="14" y="36"/>
                      <a:pt x="14" y="36"/>
                    </a:cubicBezTo>
                    <a:cubicBezTo>
                      <a:pt x="14" y="36"/>
                      <a:pt x="14" y="36"/>
                      <a:pt x="14" y="36"/>
                    </a:cubicBezTo>
                    <a:cubicBezTo>
                      <a:pt x="14" y="36"/>
                      <a:pt x="14" y="36"/>
                      <a:pt x="14" y="35"/>
                    </a:cubicBezTo>
                    <a:cubicBezTo>
                      <a:pt x="14" y="35"/>
                      <a:pt x="14" y="35"/>
                      <a:pt x="14" y="35"/>
                    </a:cubicBezTo>
                    <a:cubicBezTo>
                      <a:pt x="14" y="35"/>
                      <a:pt x="14" y="35"/>
                      <a:pt x="14" y="35"/>
                    </a:cubicBezTo>
                    <a:cubicBezTo>
                      <a:pt x="12" y="37"/>
                      <a:pt x="12" y="37"/>
                      <a:pt x="12" y="37"/>
                    </a:cubicBezTo>
                    <a:cubicBezTo>
                      <a:pt x="12" y="38"/>
                      <a:pt x="12" y="38"/>
                      <a:pt x="12" y="38"/>
                    </a:cubicBezTo>
                    <a:cubicBezTo>
                      <a:pt x="13" y="37"/>
                      <a:pt x="13" y="37"/>
                      <a:pt x="13" y="37"/>
                    </a:cubicBezTo>
                    <a:cubicBezTo>
                      <a:pt x="13" y="37"/>
                      <a:pt x="13" y="37"/>
                      <a:pt x="13" y="37"/>
                    </a:cubicBezTo>
                    <a:cubicBezTo>
                      <a:pt x="13" y="37"/>
                      <a:pt x="14" y="37"/>
                      <a:pt x="14" y="37"/>
                    </a:cubicBezTo>
                    <a:cubicBezTo>
                      <a:pt x="22" y="44"/>
                      <a:pt x="22" y="44"/>
                      <a:pt x="22" y="44"/>
                    </a:cubicBezTo>
                    <a:cubicBezTo>
                      <a:pt x="23" y="44"/>
                      <a:pt x="23" y="45"/>
                      <a:pt x="23" y="46"/>
                    </a:cubicBezTo>
                    <a:cubicBezTo>
                      <a:pt x="23" y="47"/>
                      <a:pt x="23" y="47"/>
                      <a:pt x="22" y="48"/>
                    </a:cubicBezTo>
                    <a:close/>
                    <a:moveTo>
                      <a:pt x="33" y="36"/>
                    </a:moveTo>
                    <a:cubicBezTo>
                      <a:pt x="33" y="36"/>
                      <a:pt x="33" y="36"/>
                      <a:pt x="33" y="36"/>
                    </a:cubicBezTo>
                    <a:cubicBezTo>
                      <a:pt x="33" y="36"/>
                      <a:pt x="34" y="36"/>
                      <a:pt x="34" y="36"/>
                    </a:cubicBezTo>
                    <a:cubicBezTo>
                      <a:pt x="34" y="35"/>
                      <a:pt x="34" y="35"/>
                      <a:pt x="34" y="35"/>
                    </a:cubicBezTo>
                    <a:cubicBezTo>
                      <a:pt x="35" y="36"/>
                      <a:pt x="35" y="36"/>
                      <a:pt x="35" y="36"/>
                    </a:cubicBezTo>
                    <a:cubicBezTo>
                      <a:pt x="32" y="39"/>
                      <a:pt x="32" y="39"/>
                      <a:pt x="32" y="39"/>
                    </a:cubicBezTo>
                    <a:cubicBezTo>
                      <a:pt x="31" y="38"/>
                      <a:pt x="31" y="38"/>
                      <a:pt x="31" y="38"/>
                    </a:cubicBezTo>
                    <a:cubicBezTo>
                      <a:pt x="32" y="38"/>
                      <a:pt x="32" y="38"/>
                      <a:pt x="32" y="38"/>
                    </a:cubicBezTo>
                    <a:cubicBezTo>
                      <a:pt x="32" y="38"/>
                      <a:pt x="32" y="37"/>
                      <a:pt x="32" y="37"/>
                    </a:cubicBezTo>
                    <a:cubicBezTo>
                      <a:pt x="32" y="37"/>
                      <a:pt x="32" y="37"/>
                      <a:pt x="32" y="37"/>
                    </a:cubicBezTo>
                    <a:cubicBezTo>
                      <a:pt x="27" y="32"/>
                      <a:pt x="27" y="32"/>
                      <a:pt x="27" y="32"/>
                    </a:cubicBezTo>
                    <a:cubicBezTo>
                      <a:pt x="23" y="36"/>
                      <a:pt x="23" y="36"/>
                      <a:pt x="23" y="36"/>
                    </a:cubicBezTo>
                    <a:cubicBezTo>
                      <a:pt x="28" y="40"/>
                      <a:pt x="28" y="40"/>
                      <a:pt x="28" y="40"/>
                    </a:cubicBezTo>
                    <a:cubicBezTo>
                      <a:pt x="28" y="41"/>
                      <a:pt x="28" y="41"/>
                      <a:pt x="28" y="41"/>
                    </a:cubicBezTo>
                    <a:cubicBezTo>
                      <a:pt x="28" y="41"/>
                      <a:pt x="29" y="41"/>
                      <a:pt x="29" y="40"/>
                    </a:cubicBezTo>
                    <a:cubicBezTo>
                      <a:pt x="29" y="40"/>
                      <a:pt x="29" y="40"/>
                      <a:pt x="29" y="40"/>
                    </a:cubicBezTo>
                    <a:cubicBezTo>
                      <a:pt x="30" y="41"/>
                      <a:pt x="30" y="41"/>
                      <a:pt x="30" y="41"/>
                    </a:cubicBezTo>
                    <a:cubicBezTo>
                      <a:pt x="27" y="43"/>
                      <a:pt x="27" y="43"/>
                      <a:pt x="27" y="43"/>
                    </a:cubicBezTo>
                    <a:cubicBezTo>
                      <a:pt x="26" y="43"/>
                      <a:pt x="26" y="43"/>
                      <a:pt x="26" y="43"/>
                    </a:cubicBezTo>
                    <a:cubicBezTo>
                      <a:pt x="27" y="43"/>
                      <a:pt x="27" y="43"/>
                      <a:pt x="27" y="43"/>
                    </a:cubicBezTo>
                    <a:cubicBezTo>
                      <a:pt x="27" y="42"/>
                      <a:pt x="27" y="42"/>
                      <a:pt x="27" y="42"/>
                    </a:cubicBezTo>
                    <a:cubicBezTo>
                      <a:pt x="27" y="42"/>
                      <a:pt x="27" y="42"/>
                      <a:pt x="27" y="41"/>
                    </a:cubicBezTo>
                    <a:cubicBezTo>
                      <a:pt x="18" y="32"/>
                      <a:pt x="18" y="32"/>
                      <a:pt x="18" y="32"/>
                    </a:cubicBezTo>
                    <a:cubicBezTo>
                      <a:pt x="18" y="32"/>
                      <a:pt x="17" y="32"/>
                      <a:pt x="17" y="32"/>
                    </a:cubicBezTo>
                    <a:cubicBezTo>
                      <a:pt x="17" y="32"/>
                      <a:pt x="17" y="32"/>
                      <a:pt x="17" y="32"/>
                    </a:cubicBezTo>
                    <a:cubicBezTo>
                      <a:pt x="16" y="32"/>
                      <a:pt x="16" y="32"/>
                      <a:pt x="16" y="32"/>
                    </a:cubicBezTo>
                    <a:cubicBezTo>
                      <a:pt x="16" y="32"/>
                      <a:pt x="16" y="32"/>
                      <a:pt x="16" y="32"/>
                    </a:cubicBezTo>
                    <a:cubicBezTo>
                      <a:pt x="19" y="29"/>
                      <a:pt x="19" y="29"/>
                      <a:pt x="19" y="29"/>
                    </a:cubicBezTo>
                    <a:cubicBezTo>
                      <a:pt x="19" y="29"/>
                      <a:pt x="19" y="29"/>
                      <a:pt x="19" y="29"/>
                    </a:cubicBezTo>
                    <a:cubicBezTo>
                      <a:pt x="19" y="30"/>
                      <a:pt x="19" y="30"/>
                      <a:pt x="19" y="30"/>
                    </a:cubicBezTo>
                    <a:cubicBezTo>
                      <a:pt x="19" y="30"/>
                      <a:pt x="19" y="30"/>
                      <a:pt x="19" y="30"/>
                    </a:cubicBezTo>
                    <a:cubicBezTo>
                      <a:pt x="19" y="30"/>
                      <a:pt x="19" y="31"/>
                      <a:pt x="19" y="31"/>
                    </a:cubicBezTo>
                    <a:cubicBezTo>
                      <a:pt x="23" y="35"/>
                      <a:pt x="23" y="35"/>
                      <a:pt x="23" y="35"/>
                    </a:cubicBezTo>
                    <a:cubicBezTo>
                      <a:pt x="27" y="31"/>
                      <a:pt x="27" y="31"/>
                      <a:pt x="27" y="31"/>
                    </a:cubicBezTo>
                    <a:cubicBezTo>
                      <a:pt x="23" y="27"/>
                      <a:pt x="23" y="27"/>
                      <a:pt x="23" y="27"/>
                    </a:cubicBezTo>
                    <a:cubicBezTo>
                      <a:pt x="23" y="27"/>
                      <a:pt x="22" y="27"/>
                      <a:pt x="22" y="27"/>
                    </a:cubicBezTo>
                    <a:cubicBezTo>
                      <a:pt x="22" y="27"/>
                      <a:pt x="22" y="27"/>
                      <a:pt x="22" y="27"/>
                    </a:cubicBezTo>
                    <a:cubicBezTo>
                      <a:pt x="21" y="27"/>
                      <a:pt x="21" y="27"/>
                      <a:pt x="21" y="27"/>
                    </a:cubicBezTo>
                    <a:cubicBezTo>
                      <a:pt x="21" y="27"/>
                      <a:pt x="21" y="27"/>
                      <a:pt x="21" y="27"/>
                    </a:cubicBezTo>
                    <a:cubicBezTo>
                      <a:pt x="24" y="24"/>
                      <a:pt x="24" y="24"/>
                      <a:pt x="24" y="24"/>
                    </a:cubicBezTo>
                    <a:cubicBezTo>
                      <a:pt x="24" y="25"/>
                      <a:pt x="24" y="25"/>
                      <a:pt x="24" y="25"/>
                    </a:cubicBezTo>
                    <a:cubicBezTo>
                      <a:pt x="24" y="25"/>
                      <a:pt x="24" y="25"/>
                      <a:pt x="24" y="25"/>
                    </a:cubicBezTo>
                    <a:cubicBezTo>
                      <a:pt x="24" y="25"/>
                      <a:pt x="24" y="25"/>
                      <a:pt x="24" y="26"/>
                    </a:cubicBezTo>
                    <a:cubicBezTo>
                      <a:pt x="24" y="26"/>
                      <a:pt x="24" y="26"/>
                      <a:pt x="24" y="26"/>
                    </a:cubicBezTo>
                    <a:cubicBezTo>
                      <a:pt x="33" y="36"/>
                      <a:pt x="33" y="36"/>
                      <a:pt x="33" y="36"/>
                    </a:cubicBezTo>
                    <a:close/>
                    <a:moveTo>
                      <a:pt x="38" y="26"/>
                    </a:moveTo>
                    <a:cubicBezTo>
                      <a:pt x="41" y="29"/>
                      <a:pt x="41" y="29"/>
                      <a:pt x="41" y="29"/>
                    </a:cubicBezTo>
                    <a:cubicBezTo>
                      <a:pt x="41" y="29"/>
                      <a:pt x="41" y="30"/>
                      <a:pt x="41" y="30"/>
                    </a:cubicBezTo>
                    <a:cubicBezTo>
                      <a:pt x="41" y="30"/>
                      <a:pt x="41" y="30"/>
                      <a:pt x="41" y="30"/>
                    </a:cubicBezTo>
                    <a:cubicBezTo>
                      <a:pt x="41" y="31"/>
                      <a:pt x="41" y="31"/>
                      <a:pt x="41" y="31"/>
                    </a:cubicBezTo>
                    <a:cubicBezTo>
                      <a:pt x="41" y="31"/>
                      <a:pt x="41" y="31"/>
                      <a:pt x="41" y="31"/>
                    </a:cubicBezTo>
                    <a:cubicBezTo>
                      <a:pt x="44" y="29"/>
                      <a:pt x="44" y="29"/>
                      <a:pt x="44" y="29"/>
                    </a:cubicBezTo>
                    <a:cubicBezTo>
                      <a:pt x="44" y="28"/>
                      <a:pt x="44" y="28"/>
                      <a:pt x="44" y="28"/>
                    </a:cubicBezTo>
                    <a:cubicBezTo>
                      <a:pt x="44" y="29"/>
                      <a:pt x="44" y="29"/>
                      <a:pt x="44" y="29"/>
                    </a:cubicBezTo>
                    <a:cubicBezTo>
                      <a:pt x="43" y="29"/>
                      <a:pt x="43" y="29"/>
                      <a:pt x="43" y="29"/>
                    </a:cubicBezTo>
                    <a:cubicBezTo>
                      <a:pt x="43" y="29"/>
                      <a:pt x="42" y="29"/>
                      <a:pt x="42" y="28"/>
                    </a:cubicBezTo>
                    <a:cubicBezTo>
                      <a:pt x="31" y="18"/>
                      <a:pt x="31" y="18"/>
                      <a:pt x="31" y="18"/>
                    </a:cubicBezTo>
                    <a:cubicBezTo>
                      <a:pt x="30" y="20"/>
                      <a:pt x="30" y="20"/>
                      <a:pt x="30" y="20"/>
                    </a:cubicBezTo>
                    <a:cubicBezTo>
                      <a:pt x="35" y="33"/>
                      <a:pt x="35" y="33"/>
                      <a:pt x="35" y="33"/>
                    </a:cubicBezTo>
                    <a:cubicBezTo>
                      <a:pt x="35" y="33"/>
                      <a:pt x="35" y="34"/>
                      <a:pt x="35" y="34"/>
                    </a:cubicBezTo>
                    <a:cubicBezTo>
                      <a:pt x="35" y="34"/>
                      <a:pt x="35" y="34"/>
                      <a:pt x="35" y="35"/>
                    </a:cubicBezTo>
                    <a:cubicBezTo>
                      <a:pt x="35" y="35"/>
                      <a:pt x="35" y="35"/>
                      <a:pt x="35" y="35"/>
                    </a:cubicBezTo>
                    <a:cubicBezTo>
                      <a:pt x="35" y="35"/>
                      <a:pt x="35" y="35"/>
                      <a:pt x="35" y="35"/>
                    </a:cubicBezTo>
                    <a:cubicBezTo>
                      <a:pt x="38" y="33"/>
                      <a:pt x="38" y="33"/>
                      <a:pt x="38" y="33"/>
                    </a:cubicBezTo>
                    <a:cubicBezTo>
                      <a:pt x="38" y="33"/>
                      <a:pt x="38" y="33"/>
                      <a:pt x="38" y="33"/>
                    </a:cubicBezTo>
                    <a:cubicBezTo>
                      <a:pt x="37" y="33"/>
                      <a:pt x="37" y="33"/>
                      <a:pt x="37" y="33"/>
                    </a:cubicBezTo>
                    <a:cubicBezTo>
                      <a:pt x="37" y="33"/>
                      <a:pt x="37" y="33"/>
                      <a:pt x="36" y="33"/>
                    </a:cubicBezTo>
                    <a:cubicBezTo>
                      <a:pt x="36" y="33"/>
                      <a:pt x="36" y="32"/>
                      <a:pt x="36" y="32"/>
                    </a:cubicBezTo>
                    <a:cubicBezTo>
                      <a:pt x="34" y="29"/>
                      <a:pt x="34" y="29"/>
                      <a:pt x="34" y="29"/>
                    </a:cubicBezTo>
                    <a:cubicBezTo>
                      <a:pt x="38" y="26"/>
                      <a:pt x="38" y="26"/>
                      <a:pt x="38" y="26"/>
                    </a:cubicBezTo>
                    <a:close/>
                    <a:moveTo>
                      <a:pt x="31" y="21"/>
                    </a:moveTo>
                    <a:cubicBezTo>
                      <a:pt x="31" y="21"/>
                      <a:pt x="31" y="21"/>
                      <a:pt x="31" y="21"/>
                    </a:cubicBezTo>
                    <a:cubicBezTo>
                      <a:pt x="34" y="28"/>
                      <a:pt x="34" y="28"/>
                      <a:pt x="34" y="28"/>
                    </a:cubicBezTo>
                    <a:cubicBezTo>
                      <a:pt x="37" y="26"/>
                      <a:pt x="37" y="26"/>
                      <a:pt x="37" y="26"/>
                    </a:cubicBezTo>
                    <a:cubicBezTo>
                      <a:pt x="31" y="21"/>
                      <a:pt x="31" y="21"/>
                      <a:pt x="31" y="21"/>
                    </a:cubicBezTo>
                    <a:close/>
                    <a:moveTo>
                      <a:pt x="51" y="21"/>
                    </a:moveTo>
                    <a:cubicBezTo>
                      <a:pt x="51" y="21"/>
                      <a:pt x="51" y="21"/>
                      <a:pt x="51" y="21"/>
                    </a:cubicBezTo>
                    <a:cubicBezTo>
                      <a:pt x="46" y="11"/>
                      <a:pt x="46" y="11"/>
                      <a:pt x="46" y="11"/>
                    </a:cubicBezTo>
                    <a:cubicBezTo>
                      <a:pt x="46" y="11"/>
                      <a:pt x="46" y="11"/>
                      <a:pt x="46" y="11"/>
                    </a:cubicBezTo>
                    <a:cubicBezTo>
                      <a:pt x="46" y="11"/>
                      <a:pt x="46" y="11"/>
                      <a:pt x="45" y="11"/>
                    </a:cubicBezTo>
                    <a:cubicBezTo>
                      <a:pt x="45" y="11"/>
                      <a:pt x="45" y="11"/>
                      <a:pt x="45" y="11"/>
                    </a:cubicBezTo>
                    <a:cubicBezTo>
                      <a:pt x="44" y="11"/>
                      <a:pt x="44" y="11"/>
                      <a:pt x="44" y="11"/>
                    </a:cubicBezTo>
                    <a:cubicBezTo>
                      <a:pt x="48" y="9"/>
                      <a:pt x="48" y="9"/>
                      <a:pt x="48" y="9"/>
                    </a:cubicBezTo>
                    <a:cubicBezTo>
                      <a:pt x="48" y="10"/>
                      <a:pt x="48" y="10"/>
                      <a:pt x="48" y="10"/>
                    </a:cubicBezTo>
                    <a:cubicBezTo>
                      <a:pt x="47" y="10"/>
                      <a:pt x="47" y="10"/>
                      <a:pt x="47" y="10"/>
                    </a:cubicBezTo>
                    <a:cubicBezTo>
                      <a:pt x="47" y="10"/>
                      <a:pt x="47" y="10"/>
                      <a:pt x="47" y="10"/>
                    </a:cubicBezTo>
                    <a:cubicBezTo>
                      <a:pt x="47" y="10"/>
                      <a:pt x="47" y="11"/>
                      <a:pt x="47" y="11"/>
                    </a:cubicBezTo>
                    <a:cubicBezTo>
                      <a:pt x="53" y="24"/>
                      <a:pt x="53" y="24"/>
                      <a:pt x="53" y="24"/>
                    </a:cubicBezTo>
                    <a:cubicBezTo>
                      <a:pt x="53" y="24"/>
                      <a:pt x="53" y="24"/>
                      <a:pt x="53" y="24"/>
                    </a:cubicBezTo>
                    <a:cubicBezTo>
                      <a:pt x="53" y="24"/>
                      <a:pt x="53" y="24"/>
                      <a:pt x="53" y="24"/>
                    </a:cubicBezTo>
                    <a:cubicBezTo>
                      <a:pt x="40" y="15"/>
                      <a:pt x="40" y="15"/>
                      <a:pt x="40" y="15"/>
                    </a:cubicBezTo>
                    <a:cubicBezTo>
                      <a:pt x="40" y="15"/>
                      <a:pt x="40" y="15"/>
                      <a:pt x="40" y="15"/>
                    </a:cubicBezTo>
                    <a:cubicBezTo>
                      <a:pt x="46" y="26"/>
                      <a:pt x="46" y="26"/>
                      <a:pt x="46" y="26"/>
                    </a:cubicBezTo>
                    <a:cubicBezTo>
                      <a:pt x="46" y="26"/>
                      <a:pt x="46" y="26"/>
                      <a:pt x="46" y="26"/>
                    </a:cubicBezTo>
                    <a:cubicBezTo>
                      <a:pt x="47" y="26"/>
                      <a:pt x="47" y="26"/>
                      <a:pt x="47" y="26"/>
                    </a:cubicBezTo>
                    <a:cubicBezTo>
                      <a:pt x="48" y="26"/>
                      <a:pt x="48" y="26"/>
                      <a:pt x="48" y="26"/>
                    </a:cubicBezTo>
                    <a:cubicBezTo>
                      <a:pt x="48" y="26"/>
                      <a:pt x="48" y="26"/>
                      <a:pt x="48" y="26"/>
                    </a:cubicBezTo>
                    <a:cubicBezTo>
                      <a:pt x="45" y="28"/>
                      <a:pt x="45" y="28"/>
                      <a:pt x="45" y="28"/>
                    </a:cubicBezTo>
                    <a:cubicBezTo>
                      <a:pt x="44" y="28"/>
                      <a:pt x="44" y="28"/>
                      <a:pt x="44" y="28"/>
                    </a:cubicBezTo>
                    <a:cubicBezTo>
                      <a:pt x="45" y="27"/>
                      <a:pt x="45" y="27"/>
                      <a:pt x="45" y="27"/>
                    </a:cubicBezTo>
                    <a:cubicBezTo>
                      <a:pt x="45" y="27"/>
                      <a:pt x="45" y="27"/>
                      <a:pt x="45" y="27"/>
                    </a:cubicBezTo>
                    <a:cubicBezTo>
                      <a:pt x="46" y="27"/>
                      <a:pt x="46" y="26"/>
                      <a:pt x="45" y="26"/>
                    </a:cubicBezTo>
                    <a:cubicBezTo>
                      <a:pt x="39" y="15"/>
                      <a:pt x="39" y="15"/>
                      <a:pt x="39" y="15"/>
                    </a:cubicBezTo>
                    <a:cubicBezTo>
                      <a:pt x="39" y="14"/>
                      <a:pt x="39" y="14"/>
                      <a:pt x="39" y="14"/>
                    </a:cubicBezTo>
                    <a:cubicBezTo>
                      <a:pt x="39" y="14"/>
                      <a:pt x="39" y="14"/>
                      <a:pt x="38" y="14"/>
                    </a:cubicBezTo>
                    <a:cubicBezTo>
                      <a:pt x="38" y="15"/>
                      <a:pt x="38" y="15"/>
                      <a:pt x="38" y="15"/>
                    </a:cubicBezTo>
                    <a:cubicBezTo>
                      <a:pt x="37" y="14"/>
                      <a:pt x="37" y="14"/>
                      <a:pt x="37" y="14"/>
                    </a:cubicBezTo>
                    <a:cubicBezTo>
                      <a:pt x="40" y="13"/>
                      <a:pt x="40" y="13"/>
                      <a:pt x="40" y="13"/>
                    </a:cubicBezTo>
                    <a:cubicBezTo>
                      <a:pt x="51" y="21"/>
                      <a:pt x="51" y="21"/>
                      <a:pt x="51" y="21"/>
                    </a:cubicBezTo>
                    <a:close/>
                    <a:moveTo>
                      <a:pt x="70" y="17"/>
                    </a:moveTo>
                    <a:cubicBezTo>
                      <a:pt x="70" y="17"/>
                      <a:pt x="71" y="17"/>
                      <a:pt x="72" y="16"/>
                    </a:cubicBezTo>
                    <a:cubicBezTo>
                      <a:pt x="72" y="15"/>
                      <a:pt x="72" y="14"/>
                      <a:pt x="72" y="14"/>
                    </a:cubicBezTo>
                    <a:cubicBezTo>
                      <a:pt x="70" y="3"/>
                      <a:pt x="70" y="3"/>
                      <a:pt x="70" y="3"/>
                    </a:cubicBezTo>
                    <a:cubicBezTo>
                      <a:pt x="70" y="3"/>
                      <a:pt x="69" y="3"/>
                      <a:pt x="69" y="3"/>
                    </a:cubicBezTo>
                    <a:cubicBezTo>
                      <a:pt x="69" y="3"/>
                      <a:pt x="69" y="3"/>
                      <a:pt x="69" y="3"/>
                    </a:cubicBezTo>
                    <a:cubicBezTo>
                      <a:pt x="68" y="3"/>
                      <a:pt x="68" y="3"/>
                      <a:pt x="68" y="3"/>
                    </a:cubicBezTo>
                    <a:cubicBezTo>
                      <a:pt x="68" y="2"/>
                      <a:pt x="68" y="2"/>
                      <a:pt x="68" y="2"/>
                    </a:cubicBezTo>
                    <a:cubicBezTo>
                      <a:pt x="71" y="1"/>
                      <a:pt x="71" y="1"/>
                      <a:pt x="71" y="1"/>
                    </a:cubicBezTo>
                    <a:cubicBezTo>
                      <a:pt x="71" y="2"/>
                      <a:pt x="71" y="2"/>
                      <a:pt x="71" y="2"/>
                    </a:cubicBezTo>
                    <a:cubicBezTo>
                      <a:pt x="71" y="2"/>
                      <a:pt x="71" y="2"/>
                      <a:pt x="71" y="2"/>
                    </a:cubicBezTo>
                    <a:cubicBezTo>
                      <a:pt x="71" y="2"/>
                      <a:pt x="70" y="2"/>
                      <a:pt x="70" y="2"/>
                    </a:cubicBezTo>
                    <a:cubicBezTo>
                      <a:pt x="70" y="3"/>
                      <a:pt x="70" y="3"/>
                      <a:pt x="70" y="3"/>
                    </a:cubicBezTo>
                    <a:cubicBezTo>
                      <a:pt x="73" y="13"/>
                      <a:pt x="73" y="13"/>
                      <a:pt x="73" y="13"/>
                    </a:cubicBezTo>
                    <a:cubicBezTo>
                      <a:pt x="73" y="15"/>
                      <a:pt x="73" y="16"/>
                      <a:pt x="72" y="16"/>
                    </a:cubicBezTo>
                    <a:cubicBezTo>
                      <a:pt x="71" y="17"/>
                      <a:pt x="71" y="18"/>
                      <a:pt x="70" y="18"/>
                    </a:cubicBezTo>
                    <a:cubicBezTo>
                      <a:pt x="68" y="18"/>
                      <a:pt x="67" y="18"/>
                      <a:pt x="66" y="18"/>
                    </a:cubicBezTo>
                    <a:cubicBezTo>
                      <a:pt x="66" y="17"/>
                      <a:pt x="65" y="17"/>
                      <a:pt x="65" y="15"/>
                    </a:cubicBezTo>
                    <a:cubicBezTo>
                      <a:pt x="62" y="5"/>
                      <a:pt x="62" y="5"/>
                      <a:pt x="62" y="5"/>
                    </a:cubicBezTo>
                    <a:cubicBezTo>
                      <a:pt x="62" y="5"/>
                      <a:pt x="62" y="4"/>
                      <a:pt x="62" y="4"/>
                    </a:cubicBezTo>
                    <a:cubicBezTo>
                      <a:pt x="62" y="4"/>
                      <a:pt x="62" y="4"/>
                      <a:pt x="61" y="4"/>
                    </a:cubicBezTo>
                    <a:cubicBezTo>
                      <a:pt x="61" y="4"/>
                      <a:pt x="61" y="4"/>
                      <a:pt x="61" y="4"/>
                    </a:cubicBezTo>
                    <a:cubicBezTo>
                      <a:pt x="61" y="4"/>
                      <a:pt x="61" y="4"/>
                      <a:pt x="61" y="4"/>
                    </a:cubicBezTo>
                    <a:cubicBezTo>
                      <a:pt x="65" y="3"/>
                      <a:pt x="65" y="3"/>
                      <a:pt x="65" y="3"/>
                    </a:cubicBezTo>
                    <a:cubicBezTo>
                      <a:pt x="65" y="4"/>
                      <a:pt x="65" y="4"/>
                      <a:pt x="65" y="4"/>
                    </a:cubicBezTo>
                    <a:cubicBezTo>
                      <a:pt x="64" y="4"/>
                      <a:pt x="64" y="4"/>
                      <a:pt x="64" y="4"/>
                    </a:cubicBezTo>
                    <a:cubicBezTo>
                      <a:pt x="64" y="4"/>
                      <a:pt x="64" y="4"/>
                      <a:pt x="64" y="4"/>
                    </a:cubicBezTo>
                    <a:cubicBezTo>
                      <a:pt x="64" y="4"/>
                      <a:pt x="64" y="4"/>
                      <a:pt x="64" y="5"/>
                    </a:cubicBezTo>
                    <a:cubicBezTo>
                      <a:pt x="66" y="15"/>
                      <a:pt x="66" y="15"/>
                      <a:pt x="66" y="15"/>
                    </a:cubicBezTo>
                    <a:cubicBezTo>
                      <a:pt x="66" y="16"/>
                      <a:pt x="67" y="17"/>
                      <a:pt x="67" y="17"/>
                    </a:cubicBezTo>
                    <a:cubicBezTo>
                      <a:pt x="68" y="18"/>
                      <a:pt x="69" y="18"/>
                      <a:pt x="70" y="17"/>
                    </a:cubicBezTo>
                    <a:close/>
                    <a:moveTo>
                      <a:pt x="84" y="12"/>
                    </a:moveTo>
                    <a:cubicBezTo>
                      <a:pt x="84" y="12"/>
                      <a:pt x="84" y="12"/>
                      <a:pt x="84" y="12"/>
                    </a:cubicBezTo>
                    <a:cubicBezTo>
                      <a:pt x="84" y="1"/>
                      <a:pt x="84" y="1"/>
                      <a:pt x="84" y="1"/>
                    </a:cubicBezTo>
                    <a:cubicBezTo>
                      <a:pt x="84" y="1"/>
                      <a:pt x="84" y="1"/>
                      <a:pt x="83" y="1"/>
                    </a:cubicBezTo>
                    <a:cubicBezTo>
                      <a:pt x="83" y="1"/>
                      <a:pt x="83" y="1"/>
                      <a:pt x="83" y="1"/>
                    </a:cubicBezTo>
                    <a:cubicBezTo>
                      <a:pt x="82" y="1"/>
                      <a:pt x="82" y="1"/>
                      <a:pt x="82" y="1"/>
                    </a:cubicBezTo>
                    <a:cubicBezTo>
                      <a:pt x="82" y="0"/>
                      <a:pt x="82" y="0"/>
                      <a:pt x="82" y="0"/>
                    </a:cubicBezTo>
                    <a:cubicBezTo>
                      <a:pt x="86" y="0"/>
                      <a:pt x="86" y="0"/>
                      <a:pt x="86" y="0"/>
                    </a:cubicBezTo>
                    <a:cubicBezTo>
                      <a:pt x="86" y="1"/>
                      <a:pt x="86" y="1"/>
                      <a:pt x="86" y="1"/>
                    </a:cubicBezTo>
                    <a:cubicBezTo>
                      <a:pt x="85" y="1"/>
                      <a:pt x="85" y="1"/>
                      <a:pt x="85" y="1"/>
                    </a:cubicBezTo>
                    <a:cubicBezTo>
                      <a:pt x="85" y="1"/>
                      <a:pt x="85" y="1"/>
                      <a:pt x="84" y="1"/>
                    </a:cubicBezTo>
                    <a:cubicBezTo>
                      <a:pt x="84" y="1"/>
                      <a:pt x="84" y="1"/>
                      <a:pt x="84" y="1"/>
                    </a:cubicBezTo>
                    <a:cubicBezTo>
                      <a:pt x="85" y="16"/>
                      <a:pt x="85" y="16"/>
                      <a:pt x="85" y="16"/>
                    </a:cubicBezTo>
                    <a:cubicBezTo>
                      <a:pt x="85" y="16"/>
                      <a:pt x="85" y="16"/>
                      <a:pt x="85" y="16"/>
                    </a:cubicBezTo>
                    <a:cubicBezTo>
                      <a:pt x="85" y="16"/>
                      <a:pt x="85" y="16"/>
                      <a:pt x="85" y="16"/>
                    </a:cubicBezTo>
                    <a:cubicBezTo>
                      <a:pt x="77" y="3"/>
                      <a:pt x="77" y="3"/>
                      <a:pt x="77" y="3"/>
                    </a:cubicBezTo>
                    <a:cubicBezTo>
                      <a:pt x="77" y="3"/>
                      <a:pt x="77" y="3"/>
                      <a:pt x="77" y="3"/>
                    </a:cubicBezTo>
                    <a:cubicBezTo>
                      <a:pt x="77" y="15"/>
                      <a:pt x="77" y="15"/>
                      <a:pt x="77" y="15"/>
                    </a:cubicBezTo>
                    <a:cubicBezTo>
                      <a:pt x="77" y="15"/>
                      <a:pt x="78" y="15"/>
                      <a:pt x="78" y="16"/>
                    </a:cubicBezTo>
                    <a:cubicBezTo>
                      <a:pt x="78" y="16"/>
                      <a:pt x="78" y="16"/>
                      <a:pt x="78" y="16"/>
                    </a:cubicBezTo>
                    <a:cubicBezTo>
                      <a:pt x="79" y="16"/>
                      <a:pt x="79" y="16"/>
                      <a:pt x="79" y="16"/>
                    </a:cubicBezTo>
                    <a:cubicBezTo>
                      <a:pt x="79" y="16"/>
                      <a:pt x="79" y="16"/>
                      <a:pt x="79" y="16"/>
                    </a:cubicBezTo>
                    <a:cubicBezTo>
                      <a:pt x="75" y="16"/>
                      <a:pt x="75" y="16"/>
                      <a:pt x="75" y="16"/>
                    </a:cubicBezTo>
                    <a:cubicBezTo>
                      <a:pt x="75" y="16"/>
                      <a:pt x="75" y="16"/>
                      <a:pt x="75" y="16"/>
                    </a:cubicBezTo>
                    <a:cubicBezTo>
                      <a:pt x="76" y="16"/>
                      <a:pt x="76" y="16"/>
                      <a:pt x="76" y="16"/>
                    </a:cubicBezTo>
                    <a:cubicBezTo>
                      <a:pt x="76" y="16"/>
                      <a:pt x="77" y="16"/>
                      <a:pt x="77" y="16"/>
                    </a:cubicBezTo>
                    <a:cubicBezTo>
                      <a:pt x="77" y="15"/>
                      <a:pt x="77" y="15"/>
                      <a:pt x="77" y="15"/>
                    </a:cubicBezTo>
                    <a:cubicBezTo>
                      <a:pt x="76" y="2"/>
                      <a:pt x="76" y="2"/>
                      <a:pt x="76" y="2"/>
                    </a:cubicBezTo>
                    <a:cubicBezTo>
                      <a:pt x="76" y="2"/>
                      <a:pt x="76" y="2"/>
                      <a:pt x="76" y="1"/>
                    </a:cubicBezTo>
                    <a:cubicBezTo>
                      <a:pt x="76" y="1"/>
                      <a:pt x="75" y="1"/>
                      <a:pt x="75" y="1"/>
                    </a:cubicBezTo>
                    <a:cubicBezTo>
                      <a:pt x="74" y="1"/>
                      <a:pt x="74" y="1"/>
                      <a:pt x="74" y="1"/>
                    </a:cubicBezTo>
                    <a:cubicBezTo>
                      <a:pt x="74" y="1"/>
                      <a:pt x="74" y="1"/>
                      <a:pt x="74" y="1"/>
                    </a:cubicBezTo>
                    <a:cubicBezTo>
                      <a:pt x="77" y="1"/>
                      <a:pt x="77" y="1"/>
                      <a:pt x="77" y="1"/>
                    </a:cubicBezTo>
                    <a:cubicBezTo>
                      <a:pt x="84" y="12"/>
                      <a:pt x="84" y="12"/>
                      <a:pt x="84" y="12"/>
                    </a:cubicBezTo>
                    <a:close/>
                    <a:moveTo>
                      <a:pt x="90" y="1"/>
                    </a:moveTo>
                    <a:cubicBezTo>
                      <a:pt x="90" y="0"/>
                      <a:pt x="90" y="0"/>
                      <a:pt x="90" y="0"/>
                    </a:cubicBezTo>
                    <a:cubicBezTo>
                      <a:pt x="98" y="1"/>
                      <a:pt x="98" y="1"/>
                      <a:pt x="98" y="1"/>
                    </a:cubicBezTo>
                    <a:cubicBezTo>
                      <a:pt x="98" y="1"/>
                      <a:pt x="98" y="1"/>
                      <a:pt x="98" y="1"/>
                    </a:cubicBezTo>
                    <a:cubicBezTo>
                      <a:pt x="96" y="1"/>
                      <a:pt x="96" y="1"/>
                      <a:pt x="96" y="1"/>
                    </a:cubicBezTo>
                    <a:cubicBezTo>
                      <a:pt x="95" y="1"/>
                      <a:pt x="95" y="1"/>
                      <a:pt x="95" y="1"/>
                    </a:cubicBezTo>
                    <a:cubicBezTo>
                      <a:pt x="95" y="1"/>
                      <a:pt x="95" y="1"/>
                      <a:pt x="95" y="2"/>
                    </a:cubicBezTo>
                    <a:cubicBezTo>
                      <a:pt x="94" y="15"/>
                      <a:pt x="94" y="15"/>
                      <a:pt x="94" y="15"/>
                    </a:cubicBezTo>
                    <a:cubicBezTo>
                      <a:pt x="94" y="15"/>
                      <a:pt x="94" y="15"/>
                      <a:pt x="94" y="15"/>
                    </a:cubicBezTo>
                    <a:cubicBezTo>
                      <a:pt x="94" y="15"/>
                      <a:pt x="94" y="15"/>
                      <a:pt x="95" y="15"/>
                    </a:cubicBezTo>
                    <a:cubicBezTo>
                      <a:pt x="97" y="16"/>
                      <a:pt x="97" y="16"/>
                      <a:pt x="97" y="16"/>
                    </a:cubicBezTo>
                    <a:cubicBezTo>
                      <a:pt x="97" y="16"/>
                      <a:pt x="97" y="16"/>
                      <a:pt x="97" y="16"/>
                    </a:cubicBezTo>
                    <a:cubicBezTo>
                      <a:pt x="89" y="16"/>
                      <a:pt x="89" y="16"/>
                      <a:pt x="89" y="16"/>
                    </a:cubicBezTo>
                    <a:cubicBezTo>
                      <a:pt x="89" y="15"/>
                      <a:pt x="89" y="15"/>
                      <a:pt x="89" y="15"/>
                    </a:cubicBezTo>
                    <a:cubicBezTo>
                      <a:pt x="91" y="15"/>
                      <a:pt x="91" y="15"/>
                      <a:pt x="91" y="15"/>
                    </a:cubicBezTo>
                    <a:cubicBezTo>
                      <a:pt x="92" y="15"/>
                      <a:pt x="92" y="15"/>
                      <a:pt x="92" y="15"/>
                    </a:cubicBezTo>
                    <a:cubicBezTo>
                      <a:pt x="92" y="15"/>
                      <a:pt x="92" y="15"/>
                      <a:pt x="92" y="15"/>
                    </a:cubicBezTo>
                    <a:cubicBezTo>
                      <a:pt x="93" y="2"/>
                      <a:pt x="93" y="2"/>
                      <a:pt x="93" y="2"/>
                    </a:cubicBezTo>
                    <a:cubicBezTo>
                      <a:pt x="93" y="1"/>
                      <a:pt x="93" y="1"/>
                      <a:pt x="93" y="1"/>
                    </a:cubicBezTo>
                    <a:cubicBezTo>
                      <a:pt x="93" y="1"/>
                      <a:pt x="93" y="1"/>
                      <a:pt x="92" y="1"/>
                    </a:cubicBezTo>
                    <a:cubicBezTo>
                      <a:pt x="90" y="1"/>
                      <a:pt x="90" y="1"/>
                      <a:pt x="90" y="1"/>
                    </a:cubicBezTo>
                    <a:close/>
                    <a:moveTo>
                      <a:pt x="109" y="3"/>
                    </a:moveTo>
                    <a:cubicBezTo>
                      <a:pt x="109" y="2"/>
                      <a:pt x="109" y="2"/>
                      <a:pt x="109" y="2"/>
                    </a:cubicBezTo>
                    <a:cubicBezTo>
                      <a:pt x="113" y="3"/>
                      <a:pt x="113" y="3"/>
                      <a:pt x="113" y="3"/>
                    </a:cubicBezTo>
                    <a:cubicBezTo>
                      <a:pt x="113" y="3"/>
                      <a:pt x="113" y="3"/>
                      <a:pt x="113" y="3"/>
                    </a:cubicBezTo>
                    <a:cubicBezTo>
                      <a:pt x="112" y="3"/>
                      <a:pt x="112" y="3"/>
                      <a:pt x="112" y="3"/>
                    </a:cubicBezTo>
                    <a:cubicBezTo>
                      <a:pt x="112" y="3"/>
                      <a:pt x="112" y="3"/>
                      <a:pt x="111" y="4"/>
                    </a:cubicBezTo>
                    <a:cubicBezTo>
                      <a:pt x="111" y="4"/>
                      <a:pt x="111" y="4"/>
                      <a:pt x="111" y="4"/>
                    </a:cubicBezTo>
                    <a:cubicBezTo>
                      <a:pt x="105" y="17"/>
                      <a:pt x="105" y="17"/>
                      <a:pt x="105" y="17"/>
                    </a:cubicBezTo>
                    <a:cubicBezTo>
                      <a:pt x="104" y="17"/>
                      <a:pt x="104" y="17"/>
                      <a:pt x="104" y="17"/>
                    </a:cubicBezTo>
                    <a:cubicBezTo>
                      <a:pt x="103" y="3"/>
                      <a:pt x="103" y="3"/>
                      <a:pt x="103" y="3"/>
                    </a:cubicBezTo>
                    <a:cubicBezTo>
                      <a:pt x="103" y="3"/>
                      <a:pt x="103" y="2"/>
                      <a:pt x="103" y="2"/>
                    </a:cubicBezTo>
                    <a:cubicBezTo>
                      <a:pt x="103" y="2"/>
                      <a:pt x="103" y="2"/>
                      <a:pt x="102" y="2"/>
                    </a:cubicBezTo>
                    <a:cubicBezTo>
                      <a:pt x="102" y="2"/>
                      <a:pt x="102" y="2"/>
                      <a:pt x="102" y="2"/>
                    </a:cubicBezTo>
                    <a:cubicBezTo>
                      <a:pt x="102" y="1"/>
                      <a:pt x="102" y="1"/>
                      <a:pt x="102" y="1"/>
                    </a:cubicBezTo>
                    <a:cubicBezTo>
                      <a:pt x="106" y="2"/>
                      <a:pt x="106" y="2"/>
                      <a:pt x="106" y="2"/>
                    </a:cubicBezTo>
                    <a:cubicBezTo>
                      <a:pt x="106" y="2"/>
                      <a:pt x="106" y="2"/>
                      <a:pt x="106" y="2"/>
                    </a:cubicBezTo>
                    <a:cubicBezTo>
                      <a:pt x="105" y="2"/>
                      <a:pt x="105" y="2"/>
                      <a:pt x="105" y="2"/>
                    </a:cubicBezTo>
                    <a:cubicBezTo>
                      <a:pt x="105" y="2"/>
                      <a:pt x="105" y="2"/>
                      <a:pt x="105" y="2"/>
                    </a:cubicBezTo>
                    <a:cubicBezTo>
                      <a:pt x="105" y="3"/>
                      <a:pt x="105" y="3"/>
                      <a:pt x="105" y="3"/>
                    </a:cubicBezTo>
                    <a:cubicBezTo>
                      <a:pt x="105" y="14"/>
                      <a:pt x="105" y="14"/>
                      <a:pt x="105" y="14"/>
                    </a:cubicBezTo>
                    <a:cubicBezTo>
                      <a:pt x="106" y="14"/>
                      <a:pt x="106" y="14"/>
                      <a:pt x="106" y="14"/>
                    </a:cubicBezTo>
                    <a:cubicBezTo>
                      <a:pt x="110" y="4"/>
                      <a:pt x="110" y="4"/>
                      <a:pt x="110" y="4"/>
                    </a:cubicBezTo>
                    <a:cubicBezTo>
                      <a:pt x="110" y="4"/>
                      <a:pt x="110" y="4"/>
                      <a:pt x="110" y="3"/>
                    </a:cubicBezTo>
                    <a:cubicBezTo>
                      <a:pt x="110" y="3"/>
                      <a:pt x="110" y="3"/>
                      <a:pt x="110" y="3"/>
                    </a:cubicBezTo>
                    <a:cubicBezTo>
                      <a:pt x="109" y="3"/>
                      <a:pt x="109" y="3"/>
                      <a:pt x="109" y="3"/>
                    </a:cubicBezTo>
                    <a:close/>
                    <a:moveTo>
                      <a:pt x="116" y="5"/>
                    </a:moveTo>
                    <a:cubicBezTo>
                      <a:pt x="116" y="5"/>
                      <a:pt x="116" y="5"/>
                      <a:pt x="116" y="5"/>
                    </a:cubicBezTo>
                    <a:cubicBezTo>
                      <a:pt x="117" y="5"/>
                      <a:pt x="117" y="5"/>
                      <a:pt x="117" y="5"/>
                    </a:cubicBezTo>
                    <a:cubicBezTo>
                      <a:pt x="117" y="5"/>
                      <a:pt x="117" y="6"/>
                      <a:pt x="117" y="6"/>
                    </a:cubicBezTo>
                    <a:cubicBezTo>
                      <a:pt x="113" y="18"/>
                      <a:pt x="113" y="18"/>
                      <a:pt x="113" y="18"/>
                    </a:cubicBezTo>
                    <a:cubicBezTo>
                      <a:pt x="113" y="18"/>
                      <a:pt x="113" y="19"/>
                      <a:pt x="113" y="19"/>
                    </a:cubicBezTo>
                    <a:cubicBezTo>
                      <a:pt x="112" y="19"/>
                      <a:pt x="112" y="19"/>
                      <a:pt x="112" y="19"/>
                    </a:cubicBezTo>
                    <a:cubicBezTo>
                      <a:pt x="111" y="18"/>
                      <a:pt x="111" y="18"/>
                      <a:pt x="111" y="18"/>
                    </a:cubicBezTo>
                    <a:cubicBezTo>
                      <a:pt x="111" y="19"/>
                      <a:pt x="111" y="19"/>
                      <a:pt x="111" y="19"/>
                    </a:cubicBezTo>
                    <a:cubicBezTo>
                      <a:pt x="120" y="22"/>
                      <a:pt x="120" y="22"/>
                      <a:pt x="120" y="22"/>
                    </a:cubicBezTo>
                    <a:cubicBezTo>
                      <a:pt x="122" y="19"/>
                      <a:pt x="122" y="19"/>
                      <a:pt x="122" y="19"/>
                    </a:cubicBezTo>
                    <a:cubicBezTo>
                      <a:pt x="122" y="18"/>
                      <a:pt x="122" y="18"/>
                      <a:pt x="122" y="18"/>
                    </a:cubicBezTo>
                    <a:cubicBezTo>
                      <a:pt x="121" y="19"/>
                      <a:pt x="120" y="20"/>
                      <a:pt x="120" y="20"/>
                    </a:cubicBezTo>
                    <a:cubicBezTo>
                      <a:pt x="119" y="21"/>
                      <a:pt x="118" y="21"/>
                      <a:pt x="117" y="20"/>
                    </a:cubicBezTo>
                    <a:cubicBezTo>
                      <a:pt x="115" y="20"/>
                      <a:pt x="115" y="20"/>
                      <a:pt x="115" y="20"/>
                    </a:cubicBezTo>
                    <a:cubicBezTo>
                      <a:pt x="115" y="20"/>
                      <a:pt x="114" y="19"/>
                      <a:pt x="114" y="19"/>
                    </a:cubicBezTo>
                    <a:cubicBezTo>
                      <a:pt x="114" y="19"/>
                      <a:pt x="114" y="19"/>
                      <a:pt x="114" y="19"/>
                    </a:cubicBezTo>
                    <a:cubicBezTo>
                      <a:pt x="116" y="12"/>
                      <a:pt x="116" y="12"/>
                      <a:pt x="116" y="12"/>
                    </a:cubicBezTo>
                    <a:cubicBezTo>
                      <a:pt x="119" y="13"/>
                      <a:pt x="119" y="13"/>
                      <a:pt x="119" y="13"/>
                    </a:cubicBezTo>
                    <a:cubicBezTo>
                      <a:pt x="120" y="13"/>
                      <a:pt x="120" y="13"/>
                      <a:pt x="120" y="14"/>
                    </a:cubicBezTo>
                    <a:cubicBezTo>
                      <a:pt x="120" y="14"/>
                      <a:pt x="120" y="15"/>
                      <a:pt x="120" y="15"/>
                    </a:cubicBezTo>
                    <a:cubicBezTo>
                      <a:pt x="120" y="16"/>
                      <a:pt x="120" y="16"/>
                      <a:pt x="120" y="16"/>
                    </a:cubicBezTo>
                    <a:cubicBezTo>
                      <a:pt x="120" y="16"/>
                      <a:pt x="120" y="16"/>
                      <a:pt x="120" y="16"/>
                    </a:cubicBezTo>
                    <a:cubicBezTo>
                      <a:pt x="122" y="11"/>
                      <a:pt x="122" y="11"/>
                      <a:pt x="122" y="11"/>
                    </a:cubicBezTo>
                    <a:cubicBezTo>
                      <a:pt x="122" y="11"/>
                      <a:pt x="122" y="11"/>
                      <a:pt x="122" y="11"/>
                    </a:cubicBezTo>
                    <a:cubicBezTo>
                      <a:pt x="121" y="11"/>
                      <a:pt x="121" y="11"/>
                      <a:pt x="121" y="11"/>
                    </a:cubicBezTo>
                    <a:cubicBezTo>
                      <a:pt x="121" y="12"/>
                      <a:pt x="121" y="12"/>
                      <a:pt x="121" y="12"/>
                    </a:cubicBezTo>
                    <a:cubicBezTo>
                      <a:pt x="120" y="13"/>
                      <a:pt x="120" y="13"/>
                      <a:pt x="119" y="12"/>
                    </a:cubicBezTo>
                    <a:cubicBezTo>
                      <a:pt x="117" y="12"/>
                      <a:pt x="117" y="12"/>
                      <a:pt x="117" y="12"/>
                    </a:cubicBezTo>
                    <a:cubicBezTo>
                      <a:pt x="118" y="6"/>
                      <a:pt x="118" y="6"/>
                      <a:pt x="118" y="6"/>
                    </a:cubicBezTo>
                    <a:cubicBezTo>
                      <a:pt x="118" y="6"/>
                      <a:pt x="119" y="6"/>
                      <a:pt x="119" y="6"/>
                    </a:cubicBezTo>
                    <a:cubicBezTo>
                      <a:pt x="119" y="6"/>
                      <a:pt x="119" y="6"/>
                      <a:pt x="119" y="6"/>
                    </a:cubicBezTo>
                    <a:cubicBezTo>
                      <a:pt x="122" y="7"/>
                      <a:pt x="122" y="7"/>
                      <a:pt x="122" y="7"/>
                    </a:cubicBezTo>
                    <a:cubicBezTo>
                      <a:pt x="122" y="7"/>
                      <a:pt x="123" y="7"/>
                      <a:pt x="123" y="8"/>
                    </a:cubicBezTo>
                    <a:cubicBezTo>
                      <a:pt x="124" y="8"/>
                      <a:pt x="124" y="9"/>
                      <a:pt x="124" y="10"/>
                    </a:cubicBezTo>
                    <a:cubicBezTo>
                      <a:pt x="125" y="10"/>
                      <a:pt x="125" y="10"/>
                      <a:pt x="125" y="10"/>
                    </a:cubicBezTo>
                    <a:cubicBezTo>
                      <a:pt x="125" y="7"/>
                      <a:pt x="125" y="7"/>
                      <a:pt x="125" y="7"/>
                    </a:cubicBezTo>
                    <a:cubicBezTo>
                      <a:pt x="116" y="4"/>
                      <a:pt x="116" y="4"/>
                      <a:pt x="116" y="4"/>
                    </a:cubicBezTo>
                    <a:cubicBezTo>
                      <a:pt x="116" y="5"/>
                      <a:pt x="116" y="5"/>
                      <a:pt x="116" y="5"/>
                    </a:cubicBezTo>
                    <a:close/>
                    <a:moveTo>
                      <a:pt x="136" y="17"/>
                    </a:moveTo>
                    <a:cubicBezTo>
                      <a:pt x="136" y="18"/>
                      <a:pt x="135" y="19"/>
                      <a:pt x="134" y="19"/>
                    </a:cubicBezTo>
                    <a:cubicBezTo>
                      <a:pt x="133" y="19"/>
                      <a:pt x="133" y="19"/>
                      <a:pt x="132" y="19"/>
                    </a:cubicBezTo>
                    <a:cubicBezTo>
                      <a:pt x="131" y="26"/>
                      <a:pt x="131" y="26"/>
                      <a:pt x="131" y="26"/>
                    </a:cubicBezTo>
                    <a:cubicBezTo>
                      <a:pt x="131" y="26"/>
                      <a:pt x="131" y="27"/>
                      <a:pt x="131" y="27"/>
                    </a:cubicBezTo>
                    <a:cubicBezTo>
                      <a:pt x="131" y="27"/>
                      <a:pt x="131" y="27"/>
                      <a:pt x="132" y="27"/>
                    </a:cubicBezTo>
                    <a:cubicBezTo>
                      <a:pt x="132" y="27"/>
                      <a:pt x="132" y="27"/>
                      <a:pt x="132" y="27"/>
                    </a:cubicBezTo>
                    <a:cubicBezTo>
                      <a:pt x="132" y="28"/>
                      <a:pt x="132" y="28"/>
                      <a:pt x="132" y="28"/>
                    </a:cubicBezTo>
                    <a:cubicBezTo>
                      <a:pt x="130" y="27"/>
                      <a:pt x="130" y="27"/>
                      <a:pt x="130" y="27"/>
                    </a:cubicBezTo>
                    <a:cubicBezTo>
                      <a:pt x="130" y="18"/>
                      <a:pt x="130" y="18"/>
                      <a:pt x="130" y="18"/>
                    </a:cubicBezTo>
                    <a:cubicBezTo>
                      <a:pt x="129" y="17"/>
                      <a:pt x="129" y="17"/>
                      <a:pt x="129" y="17"/>
                    </a:cubicBezTo>
                    <a:cubicBezTo>
                      <a:pt x="126" y="23"/>
                      <a:pt x="126" y="23"/>
                      <a:pt x="126" y="23"/>
                    </a:cubicBezTo>
                    <a:cubicBezTo>
                      <a:pt x="125" y="24"/>
                      <a:pt x="125" y="24"/>
                      <a:pt x="126" y="24"/>
                    </a:cubicBezTo>
                    <a:cubicBezTo>
                      <a:pt x="126" y="24"/>
                      <a:pt x="126" y="24"/>
                      <a:pt x="126" y="24"/>
                    </a:cubicBezTo>
                    <a:cubicBezTo>
                      <a:pt x="126" y="25"/>
                      <a:pt x="126" y="25"/>
                      <a:pt x="126" y="25"/>
                    </a:cubicBezTo>
                    <a:cubicBezTo>
                      <a:pt x="126" y="25"/>
                      <a:pt x="126" y="25"/>
                      <a:pt x="126" y="25"/>
                    </a:cubicBezTo>
                    <a:cubicBezTo>
                      <a:pt x="122" y="23"/>
                      <a:pt x="122" y="23"/>
                      <a:pt x="122" y="23"/>
                    </a:cubicBezTo>
                    <a:cubicBezTo>
                      <a:pt x="123" y="23"/>
                      <a:pt x="123" y="23"/>
                      <a:pt x="123" y="23"/>
                    </a:cubicBezTo>
                    <a:cubicBezTo>
                      <a:pt x="123" y="23"/>
                      <a:pt x="123" y="23"/>
                      <a:pt x="123" y="23"/>
                    </a:cubicBezTo>
                    <a:cubicBezTo>
                      <a:pt x="123" y="23"/>
                      <a:pt x="124" y="23"/>
                      <a:pt x="124" y="23"/>
                    </a:cubicBezTo>
                    <a:cubicBezTo>
                      <a:pt x="124" y="23"/>
                      <a:pt x="124" y="23"/>
                      <a:pt x="124" y="23"/>
                    </a:cubicBezTo>
                    <a:cubicBezTo>
                      <a:pt x="130" y="11"/>
                      <a:pt x="130" y="11"/>
                      <a:pt x="130" y="11"/>
                    </a:cubicBezTo>
                    <a:cubicBezTo>
                      <a:pt x="130" y="11"/>
                      <a:pt x="130" y="11"/>
                      <a:pt x="130" y="10"/>
                    </a:cubicBezTo>
                    <a:cubicBezTo>
                      <a:pt x="130" y="10"/>
                      <a:pt x="130" y="10"/>
                      <a:pt x="130" y="10"/>
                    </a:cubicBezTo>
                    <a:cubicBezTo>
                      <a:pt x="129" y="10"/>
                      <a:pt x="129" y="10"/>
                      <a:pt x="129" y="10"/>
                    </a:cubicBezTo>
                    <a:cubicBezTo>
                      <a:pt x="130" y="9"/>
                      <a:pt x="130" y="9"/>
                      <a:pt x="130" y="9"/>
                    </a:cubicBezTo>
                    <a:cubicBezTo>
                      <a:pt x="134" y="12"/>
                      <a:pt x="134" y="12"/>
                      <a:pt x="134" y="12"/>
                    </a:cubicBezTo>
                    <a:cubicBezTo>
                      <a:pt x="135" y="12"/>
                      <a:pt x="136" y="13"/>
                      <a:pt x="137" y="14"/>
                    </a:cubicBezTo>
                    <a:cubicBezTo>
                      <a:pt x="137" y="15"/>
                      <a:pt x="137" y="16"/>
                      <a:pt x="136" y="17"/>
                    </a:cubicBezTo>
                    <a:close/>
                    <a:moveTo>
                      <a:pt x="129" y="17"/>
                    </a:moveTo>
                    <a:cubicBezTo>
                      <a:pt x="131" y="18"/>
                      <a:pt x="131" y="18"/>
                      <a:pt x="131" y="18"/>
                    </a:cubicBezTo>
                    <a:cubicBezTo>
                      <a:pt x="131" y="18"/>
                      <a:pt x="132" y="18"/>
                      <a:pt x="133" y="18"/>
                    </a:cubicBezTo>
                    <a:cubicBezTo>
                      <a:pt x="134" y="18"/>
                      <a:pt x="134" y="17"/>
                      <a:pt x="135" y="16"/>
                    </a:cubicBezTo>
                    <a:cubicBezTo>
                      <a:pt x="135" y="15"/>
                      <a:pt x="136" y="15"/>
                      <a:pt x="135" y="14"/>
                    </a:cubicBezTo>
                    <a:cubicBezTo>
                      <a:pt x="135" y="13"/>
                      <a:pt x="135" y="12"/>
                      <a:pt x="133" y="12"/>
                    </a:cubicBezTo>
                    <a:cubicBezTo>
                      <a:pt x="133" y="11"/>
                      <a:pt x="133" y="11"/>
                      <a:pt x="133" y="11"/>
                    </a:cubicBezTo>
                    <a:cubicBezTo>
                      <a:pt x="132" y="11"/>
                      <a:pt x="132" y="11"/>
                      <a:pt x="132" y="11"/>
                    </a:cubicBezTo>
                    <a:cubicBezTo>
                      <a:pt x="132" y="11"/>
                      <a:pt x="132" y="11"/>
                      <a:pt x="132" y="12"/>
                    </a:cubicBezTo>
                    <a:cubicBezTo>
                      <a:pt x="129" y="17"/>
                      <a:pt x="129" y="17"/>
                      <a:pt x="129" y="17"/>
                    </a:cubicBezTo>
                    <a:close/>
                    <a:moveTo>
                      <a:pt x="141" y="25"/>
                    </a:moveTo>
                    <a:cubicBezTo>
                      <a:pt x="142" y="27"/>
                      <a:pt x="142" y="28"/>
                      <a:pt x="142" y="28"/>
                    </a:cubicBezTo>
                    <a:cubicBezTo>
                      <a:pt x="142" y="29"/>
                      <a:pt x="142" y="30"/>
                      <a:pt x="142" y="30"/>
                    </a:cubicBezTo>
                    <a:cubicBezTo>
                      <a:pt x="141" y="31"/>
                      <a:pt x="141" y="32"/>
                      <a:pt x="140" y="32"/>
                    </a:cubicBezTo>
                    <a:cubicBezTo>
                      <a:pt x="139" y="32"/>
                      <a:pt x="138" y="32"/>
                      <a:pt x="137" y="32"/>
                    </a:cubicBezTo>
                    <a:cubicBezTo>
                      <a:pt x="137" y="31"/>
                      <a:pt x="136" y="30"/>
                      <a:pt x="136" y="29"/>
                    </a:cubicBezTo>
                    <a:cubicBezTo>
                      <a:pt x="135" y="28"/>
                      <a:pt x="136" y="27"/>
                      <a:pt x="136" y="26"/>
                    </a:cubicBezTo>
                    <a:cubicBezTo>
                      <a:pt x="136" y="26"/>
                      <a:pt x="136" y="26"/>
                      <a:pt x="136" y="26"/>
                    </a:cubicBezTo>
                    <a:cubicBezTo>
                      <a:pt x="134" y="30"/>
                      <a:pt x="134" y="30"/>
                      <a:pt x="134" y="30"/>
                    </a:cubicBezTo>
                    <a:cubicBezTo>
                      <a:pt x="134" y="30"/>
                      <a:pt x="134" y="30"/>
                      <a:pt x="134" y="30"/>
                    </a:cubicBezTo>
                    <a:cubicBezTo>
                      <a:pt x="135" y="30"/>
                      <a:pt x="135" y="30"/>
                      <a:pt x="135" y="30"/>
                    </a:cubicBezTo>
                    <a:cubicBezTo>
                      <a:pt x="135" y="30"/>
                      <a:pt x="135" y="30"/>
                      <a:pt x="136" y="31"/>
                    </a:cubicBezTo>
                    <a:cubicBezTo>
                      <a:pt x="136" y="31"/>
                      <a:pt x="136" y="32"/>
                      <a:pt x="137" y="32"/>
                    </a:cubicBezTo>
                    <a:cubicBezTo>
                      <a:pt x="138" y="33"/>
                      <a:pt x="139" y="33"/>
                      <a:pt x="140" y="33"/>
                    </a:cubicBezTo>
                    <a:cubicBezTo>
                      <a:pt x="142" y="33"/>
                      <a:pt x="142" y="32"/>
                      <a:pt x="143" y="31"/>
                    </a:cubicBezTo>
                    <a:cubicBezTo>
                      <a:pt x="144" y="30"/>
                      <a:pt x="144" y="29"/>
                      <a:pt x="144" y="28"/>
                    </a:cubicBezTo>
                    <a:cubicBezTo>
                      <a:pt x="144" y="27"/>
                      <a:pt x="143" y="26"/>
                      <a:pt x="142" y="25"/>
                    </a:cubicBezTo>
                    <a:cubicBezTo>
                      <a:pt x="141" y="23"/>
                      <a:pt x="141" y="22"/>
                      <a:pt x="141" y="22"/>
                    </a:cubicBezTo>
                    <a:cubicBezTo>
                      <a:pt x="141" y="21"/>
                      <a:pt x="141" y="20"/>
                      <a:pt x="141" y="20"/>
                    </a:cubicBezTo>
                    <a:cubicBezTo>
                      <a:pt x="142" y="19"/>
                      <a:pt x="142" y="19"/>
                      <a:pt x="143" y="19"/>
                    </a:cubicBezTo>
                    <a:cubicBezTo>
                      <a:pt x="144" y="18"/>
                      <a:pt x="144" y="18"/>
                      <a:pt x="145" y="19"/>
                    </a:cubicBezTo>
                    <a:cubicBezTo>
                      <a:pt x="146" y="20"/>
                      <a:pt x="147" y="20"/>
                      <a:pt x="147" y="21"/>
                    </a:cubicBezTo>
                    <a:cubicBezTo>
                      <a:pt x="147" y="22"/>
                      <a:pt x="147" y="23"/>
                      <a:pt x="147" y="24"/>
                    </a:cubicBezTo>
                    <a:cubicBezTo>
                      <a:pt x="147" y="24"/>
                      <a:pt x="147" y="24"/>
                      <a:pt x="147" y="24"/>
                    </a:cubicBezTo>
                    <a:cubicBezTo>
                      <a:pt x="149" y="21"/>
                      <a:pt x="149" y="21"/>
                      <a:pt x="149" y="21"/>
                    </a:cubicBezTo>
                    <a:cubicBezTo>
                      <a:pt x="149" y="21"/>
                      <a:pt x="149" y="21"/>
                      <a:pt x="148" y="21"/>
                    </a:cubicBezTo>
                    <a:cubicBezTo>
                      <a:pt x="148" y="21"/>
                      <a:pt x="148" y="21"/>
                      <a:pt x="148" y="21"/>
                    </a:cubicBezTo>
                    <a:cubicBezTo>
                      <a:pt x="148" y="21"/>
                      <a:pt x="147" y="20"/>
                      <a:pt x="147" y="20"/>
                    </a:cubicBezTo>
                    <a:cubicBezTo>
                      <a:pt x="147" y="19"/>
                      <a:pt x="146" y="19"/>
                      <a:pt x="146" y="19"/>
                    </a:cubicBezTo>
                    <a:cubicBezTo>
                      <a:pt x="145" y="18"/>
                      <a:pt x="144" y="18"/>
                      <a:pt x="143" y="18"/>
                    </a:cubicBezTo>
                    <a:cubicBezTo>
                      <a:pt x="141" y="18"/>
                      <a:pt x="141" y="19"/>
                      <a:pt x="140" y="19"/>
                    </a:cubicBezTo>
                    <a:cubicBezTo>
                      <a:pt x="139" y="20"/>
                      <a:pt x="139" y="21"/>
                      <a:pt x="139" y="22"/>
                    </a:cubicBezTo>
                    <a:cubicBezTo>
                      <a:pt x="140" y="23"/>
                      <a:pt x="140" y="24"/>
                      <a:pt x="141" y="25"/>
                    </a:cubicBezTo>
                    <a:close/>
                    <a:moveTo>
                      <a:pt x="154" y="26"/>
                    </a:moveTo>
                    <a:cubicBezTo>
                      <a:pt x="154" y="26"/>
                      <a:pt x="154" y="26"/>
                      <a:pt x="154" y="26"/>
                    </a:cubicBezTo>
                    <a:cubicBezTo>
                      <a:pt x="159" y="31"/>
                      <a:pt x="159" y="31"/>
                      <a:pt x="159" y="31"/>
                    </a:cubicBezTo>
                    <a:cubicBezTo>
                      <a:pt x="159" y="31"/>
                      <a:pt x="159" y="31"/>
                      <a:pt x="159" y="31"/>
                    </a:cubicBezTo>
                    <a:cubicBezTo>
                      <a:pt x="158" y="30"/>
                      <a:pt x="158" y="30"/>
                      <a:pt x="158" y="30"/>
                    </a:cubicBezTo>
                    <a:cubicBezTo>
                      <a:pt x="157" y="29"/>
                      <a:pt x="157" y="29"/>
                      <a:pt x="157" y="29"/>
                    </a:cubicBezTo>
                    <a:cubicBezTo>
                      <a:pt x="157" y="29"/>
                      <a:pt x="157" y="29"/>
                      <a:pt x="156" y="30"/>
                    </a:cubicBezTo>
                    <a:cubicBezTo>
                      <a:pt x="147" y="39"/>
                      <a:pt x="147" y="39"/>
                      <a:pt x="147" y="39"/>
                    </a:cubicBezTo>
                    <a:cubicBezTo>
                      <a:pt x="147" y="39"/>
                      <a:pt x="147" y="39"/>
                      <a:pt x="147" y="40"/>
                    </a:cubicBezTo>
                    <a:cubicBezTo>
                      <a:pt x="147" y="40"/>
                      <a:pt x="147" y="40"/>
                      <a:pt x="148" y="40"/>
                    </a:cubicBezTo>
                    <a:cubicBezTo>
                      <a:pt x="149" y="42"/>
                      <a:pt x="149" y="42"/>
                      <a:pt x="149" y="42"/>
                    </a:cubicBezTo>
                    <a:cubicBezTo>
                      <a:pt x="149" y="42"/>
                      <a:pt x="149" y="42"/>
                      <a:pt x="149" y="42"/>
                    </a:cubicBezTo>
                    <a:cubicBezTo>
                      <a:pt x="143" y="37"/>
                      <a:pt x="143" y="37"/>
                      <a:pt x="143" y="37"/>
                    </a:cubicBezTo>
                    <a:cubicBezTo>
                      <a:pt x="144" y="37"/>
                      <a:pt x="144" y="37"/>
                      <a:pt x="144" y="37"/>
                    </a:cubicBezTo>
                    <a:cubicBezTo>
                      <a:pt x="145" y="38"/>
                      <a:pt x="145" y="38"/>
                      <a:pt x="145" y="38"/>
                    </a:cubicBezTo>
                    <a:cubicBezTo>
                      <a:pt x="146" y="38"/>
                      <a:pt x="146" y="38"/>
                      <a:pt x="146" y="38"/>
                    </a:cubicBezTo>
                    <a:cubicBezTo>
                      <a:pt x="146" y="38"/>
                      <a:pt x="146" y="38"/>
                      <a:pt x="146" y="38"/>
                    </a:cubicBezTo>
                    <a:cubicBezTo>
                      <a:pt x="155" y="29"/>
                      <a:pt x="155" y="29"/>
                      <a:pt x="155" y="29"/>
                    </a:cubicBezTo>
                    <a:cubicBezTo>
                      <a:pt x="155" y="28"/>
                      <a:pt x="156" y="28"/>
                      <a:pt x="156" y="28"/>
                    </a:cubicBezTo>
                    <a:cubicBezTo>
                      <a:pt x="156" y="28"/>
                      <a:pt x="155" y="28"/>
                      <a:pt x="155" y="27"/>
                    </a:cubicBezTo>
                    <a:cubicBezTo>
                      <a:pt x="154" y="26"/>
                      <a:pt x="154" y="26"/>
                      <a:pt x="154" y="26"/>
                    </a:cubicBezTo>
                    <a:close/>
                    <a:moveTo>
                      <a:pt x="155" y="50"/>
                    </a:moveTo>
                    <a:cubicBezTo>
                      <a:pt x="156" y="50"/>
                      <a:pt x="156" y="50"/>
                      <a:pt x="156" y="50"/>
                    </a:cubicBezTo>
                    <a:cubicBezTo>
                      <a:pt x="155" y="49"/>
                      <a:pt x="155" y="49"/>
                      <a:pt x="155" y="49"/>
                    </a:cubicBezTo>
                    <a:cubicBezTo>
                      <a:pt x="155" y="49"/>
                      <a:pt x="155" y="49"/>
                      <a:pt x="155" y="49"/>
                    </a:cubicBezTo>
                    <a:cubicBezTo>
                      <a:pt x="155" y="49"/>
                      <a:pt x="155" y="48"/>
                      <a:pt x="155" y="48"/>
                    </a:cubicBezTo>
                    <a:cubicBezTo>
                      <a:pt x="165" y="40"/>
                      <a:pt x="165" y="40"/>
                      <a:pt x="165" y="40"/>
                    </a:cubicBezTo>
                    <a:cubicBezTo>
                      <a:pt x="166" y="40"/>
                      <a:pt x="166" y="40"/>
                      <a:pt x="166" y="40"/>
                    </a:cubicBezTo>
                    <a:cubicBezTo>
                      <a:pt x="166" y="40"/>
                      <a:pt x="166" y="40"/>
                      <a:pt x="167" y="40"/>
                    </a:cubicBezTo>
                    <a:cubicBezTo>
                      <a:pt x="167" y="41"/>
                      <a:pt x="167" y="42"/>
                      <a:pt x="167" y="42"/>
                    </a:cubicBezTo>
                    <a:cubicBezTo>
                      <a:pt x="167" y="43"/>
                      <a:pt x="167" y="43"/>
                      <a:pt x="166" y="45"/>
                    </a:cubicBezTo>
                    <a:cubicBezTo>
                      <a:pt x="166" y="45"/>
                      <a:pt x="166" y="45"/>
                      <a:pt x="166" y="45"/>
                    </a:cubicBezTo>
                    <a:cubicBezTo>
                      <a:pt x="169" y="42"/>
                      <a:pt x="169" y="42"/>
                      <a:pt x="169" y="42"/>
                    </a:cubicBezTo>
                    <a:cubicBezTo>
                      <a:pt x="163" y="35"/>
                      <a:pt x="163" y="35"/>
                      <a:pt x="163" y="35"/>
                    </a:cubicBezTo>
                    <a:cubicBezTo>
                      <a:pt x="160" y="37"/>
                      <a:pt x="160" y="37"/>
                      <a:pt x="160" y="37"/>
                    </a:cubicBezTo>
                    <a:cubicBezTo>
                      <a:pt x="160" y="37"/>
                      <a:pt x="160" y="37"/>
                      <a:pt x="160" y="37"/>
                    </a:cubicBezTo>
                    <a:cubicBezTo>
                      <a:pt x="162" y="37"/>
                      <a:pt x="163" y="37"/>
                      <a:pt x="163" y="37"/>
                    </a:cubicBezTo>
                    <a:cubicBezTo>
                      <a:pt x="163" y="37"/>
                      <a:pt x="164" y="37"/>
                      <a:pt x="164" y="38"/>
                    </a:cubicBezTo>
                    <a:cubicBezTo>
                      <a:pt x="165" y="38"/>
                      <a:pt x="165" y="38"/>
                      <a:pt x="165" y="38"/>
                    </a:cubicBezTo>
                    <a:cubicBezTo>
                      <a:pt x="165" y="39"/>
                      <a:pt x="165" y="39"/>
                      <a:pt x="164" y="39"/>
                    </a:cubicBezTo>
                    <a:cubicBezTo>
                      <a:pt x="154" y="47"/>
                      <a:pt x="154" y="47"/>
                      <a:pt x="154" y="47"/>
                    </a:cubicBezTo>
                    <a:cubicBezTo>
                      <a:pt x="154" y="47"/>
                      <a:pt x="154" y="47"/>
                      <a:pt x="154" y="47"/>
                    </a:cubicBezTo>
                    <a:cubicBezTo>
                      <a:pt x="154" y="47"/>
                      <a:pt x="153" y="47"/>
                      <a:pt x="153" y="47"/>
                    </a:cubicBezTo>
                    <a:cubicBezTo>
                      <a:pt x="153" y="46"/>
                      <a:pt x="153" y="46"/>
                      <a:pt x="153" y="46"/>
                    </a:cubicBezTo>
                    <a:cubicBezTo>
                      <a:pt x="152" y="47"/>
                      <a:pt x="152" y="47"/>
                      <a:pt x="152" y="47"/>
                    </a:cubicBezTo>
                    <a:cubicBezTo>
                      <a:pt x="155" y="50"/>
                      <a:pt x="155" y="50"/>
                      <a:pt x="155" y="50"/>
                    </a:cubicBezTo>
                    <a:close/>
                    <a:moveTo>
                      <a:pt x="174" y="54"/>
                    </a:moveTo>
                    <a:cubicBezTo>
                      <a:pt x="174" y="54"/>
                      <a:pt x="175" y="54"/>
                      <a:pt x="175" y="53"/>
                    </a:cubicBezTo>
                    <a:cubicBezTo>
                      <a:pt x="175" y="53"/>
                      <a:pt x="175" y="53"/>
                      <a:pt x="174" y="53"/>
                    </a:cubicBezTo>
                    <a:cubicBezTo>
                      <a:pt x="174" y="52"/>
                      <a:pt x="174" y="52"/>
                      <a:pt x="174" y="52"/>
                    </a:cubicBezTo>
                    <a:cubicBezTo>
                      <a:pt x="175" y="52"/>
                      <a:pt x="175" y="52"/>
                      <a:pt x="175" y="52"/>
                    </a:cubicBezTo>
                    <a:cubicBezTo>
                      <a:pt x="177" y="55"/>
                      <a:pt x="177" y="55"/>
                      <a:pt x="177" y="55"/>
                    </a:cubicBezTo>
                    <a:cubicBezTo>
                      <a:pt x="176" y="55"/>
                      <a:pt x="176" y="55"/>
                      <a:pt x="176" y="55"/>
                    </a:cubicBezTo>
                    <a:cubicBezTo>
                      <a:pt x="176" y="55"/>
                      <a:pt x="176" y="55"/>
                      <a:pt x="176" y="55"/>
                    </a:cubicBezTo>
                    <a:cubicBezTo>
                      <a:pt x="176" y="55"/>
                      <a:pt x="176" y="55"/>
                      <a:pt x="175" y="55"/>
                    </a:cubicBezTo>
                    <a:cubicBezTo>
                      <a:pt x="175" y="55"/>
                      <a:pt x="175" y="55"/>
                      <a:pt x="174" y="55"/>
                    </a:cubicBezTo>
                    <a:cubicBezTo>
                      <a:pt x="166" y="56"/>
                      <a:pt x="166" y="56"/>
                      <a:pt x="166" y="56"/>
                    </a:cubicBezTo>
                    <a:cubicBezTo>
                      <a:pt x="162" y="58"/>
                      <a:pt x="162" y="58"/>
                      <a:pt x="162" y="58"/>
                    </a:cubicBezTo>
                    <a:cubicBezTo>
                      <a:pt x="162" y="59"/>
                      <a:pt x="162" y="59"/>
                      <a:pt x="162" y="59"/>
                    </a:cubicBezTo>
                    <a:cubicBezTo>
                      <a:pt x="161" y="59"/>
                      <a:pt x="162" y="59"/>
                      <a:pt x="162" y="60"/>
                    </a:cubicBezTo>
                    <a:cubicBezTo>
                      <a:pt x="162" y="60"/>
                      <a:pt x="162" y="60"/>
                      <a:pt x="162" y="60"/>
                    </a:cubicBezTo>
                    <a:cubicBezTo>
                      <a:pt x="162" y="61"/>
                      <a:pt x="162" y="61"/>
                      <a:pt x="162" y="61"/>
                    </a:cubicBezTo>
                    <a:cubicBezTo>
                      <a:pt x="159" y="56"/>
                      <a:pt x="159" y="56"/>
                      <a:pt x="159" y="56"/>
                    </a:cubicBezTo>
                    <a:cubicBezTo>
                      <a:pt x="160" y="56"/>
                      <a:pt x="160" y="56"/>
                      <a:pt x="160" y="56"/>
                    </a:cubicBezTo>
                    <a:cubicBezTo>
                      <a:pt x="160" y="57"/>
                      <a:pt x="160" y="57"/>
                      <a:pt x="160" y="57"/>
                    </a:cubicBezTo>
                    <a:cubicBezTo>
                      <a:pt x="160" y="57"/>
                      <a:pt x="160" y="57"/>
                      <a:pt x="161" y="57"/>
                    </a:cubicBezTo>
                    <a:cubicBezTo>
                      <a:pt x="161" y="57"/>
                      <a:pt x="161" y="57"/>
                      <a:pt x="161" y="57"/>
                    </a:cubicBezTo>
                    <a:cubicBezTo>
                      <a:pt x="165" y="55"/>
                      <a:pt x="165" y="55"/>
                      <a:pt x="165" y="55"/>
                    </a:cubicBezTo>
                    <a:cubicBezTo>
                      <a:pt x="171" y="48"/>
                      <a:pt x="171" y="48"/>
                      <a:pt x="171" y="48"/>
                    </a:cubicBezTo>
                    <a:cubicBezTo>
                      <a:pt x="171" y="48"/>
                      <a:pt x="171" y="48"/>
                      <a:pt x="171" y="47"/>
                    </a:cubicBezTo>
                    <a:cubicBezTo>
                      <a:pt x="171" y="47"/>
                      <a:pt x="171" y="47"/>
                      <a:pt x="171" y="47"/>
                    </a:cubicBezTo>
                    <a:cubicBezTo>
                      <a:pt x="171" y="46"/>
                      <a:pt x="171" y="46"/>
                      <a:pt x="171" y="46"/>
                    </a:cubicBezTo>
                    <a:cubicBezTo>
                      <a:pt x="171" y="46"/>
                      <a:pt x="171" y="46"/>
                      <a:pt x="171" y="46"/>
                    </a:cubicBezTo>
                    <a:cubicBezTo>
                      <a:pt x="173" y="50"/>
                      <a:pt x="173" y="50"/>
                      <a:pt x="173" y="50"/>
                    </a:cubicBezTo>
                    <a:cubicBezTo>
                      <a:pt x="173" y="50"/>
                      <a:pt x="173" y="50"/>
                      <a:pt x="173" y="50"/>
                    </a:cubicBezTo>
                    <a:cubicBezTo>
                      <a:pt x="173" y="49"/>
                      <a:pt x="173" y="49"/>
                      <a:pt x="173" y="49"/>
                    </a:cubicBezTo>
                    <a:cubicBezTo>
                      <a:pt x="172" y="49"/>
                      <a:pt x="172" y="49"/>
                      <a:pt x="172" y="49"/>
                    </a:cubicBezTo>
                    <a:cubicBezTo>
                      <a:pt x="172" y="49"/>
                      <a:pt x="172" y="49"/>
                      <a:pt x="171" y="49"/>
                    </a:cubicBezTo>
                    <a:cubicBezTo>
                      <a:pt x="167" y="55"/>
                      <a:pt x="167" y="55"/>
                      <a:pt x="167" y="55"/>
                    </a:cubicBezTo>
                    <a:cubicBezTo>
                      <a:pt x="167" y="55"/>
                      <a:pt x="167" y="55"/>
                      <a:pt x="167" y="55"/>
                    </a:cubicBezTo>
                    <a:lnTo>
                      <a:pt x="174" y="54"/>
                    </a:lnTo>
                    <a:close/>
                  </a:path>
                </a:pathLst>
              </a:custGeom>
              <a:solidFill>
                <a:srgbClr val="FFFFFF"/>
              </a:solidFill>
              <a:ln w="3175" cap="flat">
                <a:solidFill>
                  <a:srgbClr val="FFFFFF"/>
                </a:solidFill>
                <a:prstDash val="solid"/>
                <a:miter lim="800000"/>
              </a:ln>
            </p:spPr>
            <p:txBody>
              <a:bodyPr anchor="ctr"/>
              <a:lstStyle/>
              <a:p>
                <a:pPr algn="ctr"/>
                <a:endParaRPr sz="1800"/>
              </a:p>
            </p:txBody>
          </p:sp>
          <p:sp>
            <p:nvSpPr>
              <p:cNvPr id="90" name="ïśľíḓé"/>
              <p:cNvSpPr/>
              <p:nvPr/>
            </p:nvSpPr>
            <p:spPr bwMode="auto">
              <a:xfrm>
                <a:off x="3667126" y="3184525"/>
                <a:ext cx="492125" cy="496888"/>
              </a:xfrm>
              <a:custGeom>
                <a:avLst/>
                <a:gdLst>
                  <a:gd name="T0" fmla="*/ 74 w 149"/>
                  <a:gd name="T1" fmla="*/ 0 h 149"/>
                  <a:gd name="T2" fmla="*/ 149 w 149"/>
                  <a:gd name="T3" fmla="*/ 74 h 149"/>
                  <a:gd name="T4" fmla="*/ 74 w 149"/>
                  <a:gd name="T5" fmla="*/ 149 h 149"/>
                  <a:gd name="T6" fmla="*/ 0 w 149"/>
                  <a:gd name="T7" fmla="*/ 74 h 149"/>
                  <a:gd name="T8" fmla="*/ 74 w 149"/>
                  <a:gd name="T9" fmla="*/ 0 h 149"/>
                  <a:gd name="T10" fmla="*/ 74 w 149"/>
                  <a:gd name="T11" fmla="*/ 2 h 149"/>
                  <a:gd name="T12" fmla="*/ 2 w 149"/>
                  <a:gd name="T13" fmla="*/ 74 h 149"/>
                  <a:gd name="T14" fmla="*/ 74 w 149"/>
                  <a:gd name="T15" fmla="*/ 146 h 149"/>
                  <a:gd name="T16" fmla="*/ 146 w 149"/>
                  <a:gd name="T17" fmla="*/ 74 h 149"/>
                  <a:gd name="T18" fmla="*/ 74 w 149"/>
                  <a:gd name="T19" fmla="*/ 2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9" h="149">
                    <a:moveTo>
                      <a:pt x="74" y="0"/>
                    </a:moveTo>
                    <a:cubicBezTo>
                      <a:pt x="115" y="0"/>
                      <a:pt x="149" y="33"/>
                      <a:pt x="149" y="74"/>
                    </a:cubicBezTo>
                    <a:cubicBezTo>
                      <a:pt x="149" y="115"/>
                      <a:pt x="115" y="149"/>
                      <a:pt x="74" y="149"/>
                    </a:cubicBezTo>
                    <a:cubicBezTo>
                      <a:pt x="33" y="149"/>
                      <a:pt x="0" y="115"/>
                      <a:pt x="0" y="74"/>
                    </a:cubicBezTo>
                    <a:cubicBezTo>
                      <a:pt x="0" y="33"/>
                      <a:pt x="33" y="0"/>
                      <a:pt x="74" y="0"/>
                    </a:cubicBezTo>
                    <a:close/>
                    <a:moveTo>
                      <a:pt x="74" y="2"/>
                    </a:moveTo>
                    <a:cubicBezTo>
                      <a:pt x="35" y="2"/>
                      <a:pt x="2" y="34"/>
                      <a:pt x="2" y="74"/>
                    </a:cubicBezTo>
                    <a:cubicBezTo>
                      <a:pt x="2" y="114"/>
                      <a:pt x="35" y="146"/>
                      <a:pt x="74" y="146"/>
                    </a:cubicBezTo>
                    <a:cubicBezTo>
                      <a:pt x="114" y="146"/>
                      <a:pt x="146" y="114"/>
                      <a:pt x="146" y="74"/>
                    </a:cubicBezTo>
                    <a:cubicBezTo>
                      <a:pt x="146" y="34"/>
                      <a:pt x="114" y="2"/>
                      <a:pt x="74" y="2"/>
                    </a:cubicBezTo>
                    <a:close/>
                  </a:path>
                </a:pathLst>
              </a:custGeom>
              <a:solidFill>
                <a:srgbClr val="00523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91" name="ïslíḍê"/>
              <p:cNvSpPr/>
              <p:nvPr/>
            </p:nvSpPr>
            <p:spPr bwMode="auto">
              <a:xfrm>
                <a:off x="3775076" y="3248025"/>
                <a:ext cx="274638" cy="146050"/>
              </a:xfrm>
              <a:custGeom>
                <a:avLst/>
                <a:gdLst>
                  <a:gd name="T0" fmla="*/ 10 w 83"/>
                  <a:gd name="T1" fmla="*/ 43 h 44"/>
                  <a:gd name="T2" fmla="*/ 18 w 83"/>
                  <a:gd name="T3" fmla="*/ 39 h 44"/>
                  <a:gd name="T4" fmla="*/ 67 w 83"/>
                  <a:gd name="T5" fmla="*/ 39 h 44"/>
                  <a:gd name="T6" fmla="*/ 73 w 83"/>
                  <a:gd name="T7" fmla="*/ 42 h 44"/>
                  <a:gd name="T8" fmla="*/ 76 w 83"/>
                  <a:gd name="T9" fmla="*/ 43 h 44"/>
                  <a:gd name="T10" fmla="*/ 83 w 83"/>
                  <a:gd name="T11" fmla="*/ 35 h 44"/>
                  <a:gd name="T12" fmla="*/ 76 w 83"/>
                  <a:gd name="T13" fmla="*/ 37 h 44"/>
                  <a:gd name="T14" fmla="*/ 69 w 83"/>
                  <a:gd name="T15" fmla="*/ 33 h 44"/>
                  <a:gd name="T16" fmla="*/ 70 w 83"/>
                  <a:gd name="T17" fmla="*/ 26 h 44"/>
                  <a:gd name="T18" fmla="*/ 64 w 83"/>
                  <a:gd name="T19" fmla="*/ 30 h 44"/>
                  <a:gd name="T20" fmla="*/ 59 w 83"/>
                  <a:gd name="T21" fmla="*/ 31 h 44"/>
                  <a:gd name="T22" fmla="*/ 56 w 83"/>
                  <a:gd name="T23" fmla="*/ 29 h 44"/>
                  <a:gd name="T24" fmla="*/ 56 w 83"/>
                  <a:gd name="T25" fmla="*/ 24 h 44"/>
                  <a:gd name="T26" fmla="*/ 58 w 83"/>
                  <a:gd name="T27" fmla="*/ 23 h 44"/>
                  <a:gd name="T28" fmla="*/ 58 w 83"/>
                  <a:gd name="T29" fmla="*/ 19 h 44"/>
                  <a:gd name="T30" fmla="*/ 54 w 83"/>
                  <a:gd name="T31" fmla="*/ 19 h 44"/>
                  <a:gd name="T32" fmla="*/ 53 w 83"/>
                  <a:gd name="T33" fmla="*/ 21 h 44"/>
                  <a:gd name="T34" fmla="*/ 44 w 83"/>
                  <a:gd name="T35" fmla="*/ 21 h 44"/>
                  <a:gd name="T36" fmla="*/ 43 w 83"/>
                  <a:gd name="T37" fmla="*/ 18 h 44"/>
                  <a:gd name="T38" fmla="*/ 44 w 83"/>
                  <a:gd name="T39" fmla="*/ 13 h 44"/>
                  <a:gd name="T40" fmla="*/ 43 w 83"/>
                  <a:gd name="T41" fmla="*/ 8 h 44"/>
                  <a:gd name="T42" fmla="*/ 43 w 83"/>
                  <a:gd name="T43" fmla="*/ 6 h 44"/>
                  <a:gd name="T44" fmla="*/ 43 w 83"/>
                  <a:gd name="T45" fmla="*/ 2 h 44"/>
                  <a:gd name="T46" fmla="*/ 43 w 83"/>
                  <a:gd name="T47" fmla="*/ 0 h 44"/>
                  <a:gd name="T48" fmla="*/ 40 w 83"/>
                  <a:gd name="T49" fmla="*/ 0 h 44"/>
                  <a:gd name="T50" fmla="*/ 39 w 83"/>
                  <a:gd name="T51" fmla="*/ 2 h 44"/>
                  <a:gd name="T52" fmla="*/ 39 w 83"/>
                  <a:gd name="T53" fmla="*/ 6 h 44"/>
                  <a:gd name="T54" fmla="*/ 39 w 83"/>
                  <a:gd name="T55" fmla="*/ 8 h 44"/>
                  <a:gd name="T56" fmla="*/ 38 w 83"/>
                  <a:gd name="T57" fmla="*/ 13 h 44"/>
                  <a:gd name="T58" fmla="*/ 38 w 83"/>
                  <a:gd name="T59" fmla="*/ 18 h 44"/>
                  <a:gd name="T60" fmla="*/ 38 w 83"/>
                  <a:gd name="T61" fmla="*/ 21 h 44"/>
                  <a:gd name="T62" fmla="*/ 30 w 83"/>
                  <a:gd name="T63" fmla="*/ 21 h 44"/>
                  <a:gd name="T64" fmla="*/ 29 w 83"/>
                  <a:gd name="T65" fmla="*/ 19 h 44"/>
                  <a:gd name="T66" fmla="*/ 25 w 83"/>
                  <a:gd name="T67" fmla="*/ 19 h 44"/>
                  <a:gd name="T68" fmla="*/ 25 w 83"/>
                  <a:gd name="T69" fmla="*/ 23 h 44"/>
                  <a:gd name="T70" fmla="*/ 26 w 83"/>
                  <a:gd name="T71" fmla="*/ 24 h 44"/>
                  <a:gd name="T72" fmla="*/ 27 w 83"/>
                  <a:gd name="T73" fmla="*/ 29 h 44"/>
                  <a:gd name="T74" fmla="*/ 22 w 83"/>
                  <a:gd name="T75" fmla="*/ 31 h 44"/>
                  <a:gd name="T76" fmla="*/ 13 w 83"/>
                  <a:gd name="T77" fmla="*/ 26 h 44"/>
                  <a:gd name="T78" fmla="*/ 13 w 83"/>
                  <a:gd name="T79" fmla="*/ 35 h 44"/>
                  <a:gd name="T80" fmla="*/ 7 w 83"/>
                  <a:gd name="T81" fmla="*/ 37 h 44"/>
                  <a:gd name="T82" fmla="*/ 0 w 83"/>
                  <a:gd name="T83" fmla="*/ 34 h 44"/>
                  <a:gd name="T84" fmla="*/ 5 w 83"/>
                  <a:gd name="T85" fmla="*/ 42 h 44"/>
                  <a:gd name="T86" fmla="*/ 10 w 83"/>
                  <a:gd name="T87" fmla="*/ 43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3" h="44">
                    <a:moveTo>
                      <a:pt x="10" y="43"/>
                    </a:moveTo>
                    <a:cubicBezTo>
                      <a:pt x="18" y="39"/>
                      <a:pt x="18" y="39"/>
                      <a:pt x="18" y="39"/>
                    </a:cubicBezTo>
                    <a:cubicBezTo>
                      <a:pt x="67" y="39"/>
                      <a:pt x="67" y="39"/>
                      <a:pt x="67" y="39"/>
                    </a:cubicBezTo>
                    <a:cubicBezTo>
                      <a:pt x="73" y="42"/>
                      <a:pt x="73" y="42"/>
                      <a:pt x="73" y="42"/>
                    </a:cubicBezTo>
                    <a:cubicBezTo>
                      <a:pt x="74" y="43"/>
                      <a:pt x="75" y="43"/>
                      <a:pt x="76" y="43"/>
                    </a:cubicBezTo>
                    <a:cubicBezTo>
                      <a:pt x="80" y="42"/>
                      <a:pt x="83" y="35"/>
                      <a:pt x="83" y="35"/>
                    </a:cubicBezTo>
                    <a:cubicBezTo>
                      <a:pt x="83" y="35"/>
                      <a:pt x="79" y="38"/>
                      <a:pt x="76" y="37"/>
                    </a:cubicBezTo>
                    <a:cubicBezTo>
                      <a:pt x="73" y="37"/>
                      <a:pt x="69" y="36"/>
                      <a:pt x="69" y="33"/>
                    </a:cubicBezTo>
                    <a:cubicBezTo>
                      <a:pt x="69" y="30"/>
                      <a:pt x="70" y="27"/>
                      <a:pt x="70" y="26"/>
                    </a:cubicBezTo>
                    <a:cubicBezTo>
                      <a:pt x="70" y="26"/>
                      <a:pt x="67" y="29"/>
                      <a:pt x="64" y="30"/>
                    </a:cubicBezTo>
                    <a:cubicBezTo>
                      <a:pt x="61" y="32"/>
                      <a:pt x="60" y="31"/>
                      <a:pt x="59" y="31"/>
                    </a:cubicBezTo>
                    <a:cubicBezTo>
                      <a:pt x="57" y="30"/>
                      <a:pt x="56" y="29"/>
                      <a:pt x="56" y="29"/>
                    </a:cubicBezTo>
                    <a:cubicBezTo>
                      <a:pt x="56" y="24"/>
                      <a:pt x="56" y="24"/>
                      <a:pt x="56" y="24"/>
                    </a:cubicBezTo>
                    <a:cubicBezTo>
                      <a:pt x="58" y="23"/>
                      <a:pt x="58" y="23"/>
                      <a:pt x="58" y="23"/>
                    </a:cubicBezTo>
                    <a:cubicBezTo>
                      <a:pt x="58" y="19"/>
                      <a:pt x="58" y="19"/>
                      <a:pt x="58" y="19"/>
                    </a:cubicBezTo>
                    <a:cubicBezTo>
                      <a:pt x="54" y="19"/>
                      <a:pt x="54" y="19"/>
                      <a:pt x="54" y="19"/>
                    </a:cubicBezTo>
                    <a:cubicBezTo>
                      <a:pt x="54" y="19"/>
                      <a:pt x="54" y="21"/>
                      <a:pt x="53" y="21"/>
                    </a:cubicBezTo>
                    <a:cubicBezTo>
                      <a:pt x="52" y="21"/>
                      <a:pt x="44" y="21"/>
                      <a:pt x="44" y="21"/>
                    </a:cubicBezTo>
                    <a:cubicBezTo>
                      <a:pt x="44" y="21"/>
                      <a:pt x="43" y="20"/>
                      <a:pt x="43" y="18"/>
                    </a:cubicBezTo>
                    <a:cubicBezTo>
                      <a:pt x="44" y="17"/>
                      <a:pt x="44" y="17"/>
                      <a:pt x="44" y="13"/>
                    </a:cubicBezTo>
                    <a:cubicBezTo>
                      <a:pt x="44" y="10"/>
                      <a:pt x="44" y="9"/>
                      <a:pt x="43" y="8"/>
                    </a:cubicBezTo>
                    <a:cubicBezTo>
                      <a:pt x="43" y="7"/>
                      <a:pt x="42" y="7"/>
                      <a:pt x="43" y="6"/>
                    </a:cubicBezTo>
                    <a:cubicBezTo>
                      <a:pt x="44" y="5"/>
                      <a:pt x="44" y="4"/>
                      <a:pt x="43" y="2"/>
                    </a:cubicBezTo>
                    <a:cubicBezTo>
                      <a:pt x="42" y="1"/>
                      <a:pt x="43" y="2"/>
                      <a:pt x="43" y="0"/>
                    </a:cubicBezTo>
                    <a:cubicBezTo>
                      <a:pt x="40" y="0"/>
                      <a:pt x="40" y="0"/>
                      <a:pt x="40" y="0"/>
                    </a:cubicBezTo>
                    <a:cubicBezTo>
                      <a:pt x="39" y="0"/>
                      <a:pt x="40" y="1"/>
                      <a:pt x="39" y="2"/>
                    </a:cubicBezTo>
                    <a:cubicBezTo>
                      <a:pt x="38" y="3"/>
                      <a:pt x="38" y="5"/>
                      <a:pt x="39" y="6"/>
                    </a:cubicBezTo>
                    <a:cubicBezTo>
                      <a:pt x="39" y="7"/>
                      <a:pt x="40" y="7"/>
                      <a:pt x="39" y="8"/>
                    </a:cubicBezTo>
                    <a:cubicBezTo>
                      <a:pt x="38" y="9"/>
                      <a:pt x="38" y="10"/>
                      <a:pt x="38" y="13"/>
                    </a:cubicBezTo>
                    <a:cubicBezTo>
                      <a:pt x="38" y="16"/>
                      <a:pt x="38" y="17"/>
                      <a:pt x="38" y="18"/>
                    </a:cubicBezTo>
                    <a:cubicBezTo>
                      <a:pt x="39" y="20"/>
                      <a:pt x="38" y="21"/>
                      <a:pt x="38" y="21"/>
                    </a:cubicBezTo>
                    <a:cubicBezTo>
                      <a:pt x="37" y="21"/>
                      <a:pt x="30" y="21"/>
                      <a:pt x="30" y="21"/>
                    </a:cubicBezTo>
                    <a:cubicBezTo>
                      <a:pt x="30" y="21"/>
                      <a:pt x="29" y="20"/>
                      <a:pt x="29" y="19"/>
                    </a:cubicBezTo>
                    <a:cubicBezTo>
                      <a:pt x="25" y="19"/>
                      <a:pt x="25" y="19"/>
                      <a:pt x="25" y="19"/>
                    </a:cubicBezTo>
                    <a:cubicBezTo>
                      <a:pt x="25" y="23"/>
                      <a:pt x="25" y="23"/>
                      <a:pt x="25" y="23"/>
                    </a:cubicBezTo>
                    <a:cubicBezTo>
                      <a:pt x="26" y="24"/>
                      <a:pt x="26" y="24"/>
                      <a:pt x="26" y="24"/>
                    </a:cubicBezTo>
                    <a:cubicBezTo>
                      <a:pt x="27" y="29"/>
                      <a:pt x="27" y="29"/>
                      <a:pt x="27" y="29"/>
                    </a:cubicBezTo>
                    <a:cubicBezTo>
                      <a:pt x="27" y="29"/>
                      <a:pt x="24" y="31"/>
                      <a:pt x="22" y="31"/>
                    </a:cubicBezTo>
                    <a:cubicBezTo>
                      <a:pt x="19" y="31"/>
                      <a:pt x="13" y="26"/>
                      <a:pt x="13" y="26"/>
                    </a:cubicBezTo>
                    <a:cubicBezTo>
                      <a:pt x="13" y="26"/>
                      <a:pt x="14" y="33"/>
                      <a:pt x="13" y="35"/>
                    </a:cubicBezTo>
                    <a:cubicBezTo>
                      <a:pt x="13" y="37"/>
                      <a:pt x="10" y="37"/>
                      <a:pt x="7" y="37"/>
                    </a:cubicBezTo>
                    <a:cubicBezTo>
                      <a:pt x="4" y="37"/>
                      <a:pt x="0" y="35"/>
                      <a:pt x="0" y="34"/>
                    </a:cubicBezTo>
                    <a:cubicBezTo>
                      <a:pt x="0" y="34"/>
                      <a:pt x="3" y="40"/>
                      <a:pt x="5" y="42"/>
                    </a:cubicBezTo>
                    <a:cubicBezTo>
                      <a:pt x="7" y="44"/>
                      <a:pt x="10" y="43"/>
                      <a:pt x="10" y="43"/>
                    </a:cubicBez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92" name="íṡļïdê"/>
              <p:cNvSpPr/>
              <p:nvPr/>
            </p:nvSpPr>
            <p:spPr bwMode="auto">
              <a:xfrm>
                <a:off x="3614738" y="3370263"/>
                <a:ext cx="596900" cy="241300"/>
              </a:xfrm>
              <a:custGeom>
                <a:avLst/>
                <a:gdLst>
                  <a:gd name="T0" fmla="*/ 58 w 181"/>
                  <a:gd name="T1" fmla="*/ 72 h 72"/>
                  <a:gd name="T2" fmla="*/ 8 w 181"/>
                  <a:gd name="T3" fmla="*/ 72 h 72"/>
                  <a:gd name="T4" fmla="*/ 3 w 181"/>
                  <a:gd name="T5" fmla="*/ 63 h 72"/>
                  <a:gd name="T6" fmla="*/ 6 w 181"/>
                  <a:gd name="T7" fmla="*/ 63 h 72"/>
                  <a:gd name="T8" fmla="*/ 11 w 181"/>
                  <a:gd name="T9" fmla="*/ 55 h 72"/>
                  <a:gd name="T10" fmla="*/ 14 w 181"/>
                  <a:gd name="T11" fmla="*/ 55 h 72"/>
                  <a:gd name="T12" fmla="*/ 14 w 181"/>
                  <a:gd name="T13" fmla="*/ 29 h 72"/>
                  <a:gd name="T14" fmla="*/ 0 w 181"/>
                  <a:gd name="T15" fmla="*/ 4 h 72"/>
                  <a:gd name="T16" fmla="*/ 30 w 181"/>
                  <a:gd name="T17" fmla="*/ 0 h 72"/>
                  <a:gd name="T18" fmla="*/ 58 w 181"/>
                  <a:gd name="T19" fmla="*/ 8 h 72"/>
                  <a:gd name="T20" fmla="*/ 51 w 181"/>
                  <a:gd name="T21" fmla="*/ 25 h 72"/>
                  <a:gd name="T22" fmla="*/ 131 w 181"/>
                  <a:gd name="T23" fmla="*/ 25 h 72"/>
                  <a:gd name="T24" fmla="*/ 122 w 181"/>
                  <a:gd name="T25" fmla="*/ 8 h 72"/>
                  <a:gd name="T26" fmla="*/ 150 w 181"/>
                  <a:gd name="T27" fmla="*/ 0 h 72"/>
                  <a:gd name="T28" fmla="*/ 181 w 181"/>
                  <a:gd name="T29" fmla="*/ 5 h 72"/>
                  <a:gd name="T30" fmla="*/ 166 w 181"/>
                  <a:gd name="T31" fmla="*/ 28 h 72"/>
                  <a:gd name="T32" fmla="*/ 166 w 181"/>
                  <a:gd name="T33" fmla="*/ 55 h 72"/>
                  <a:gd name="T34" fmla="*/ 171 w 181"/>
                  <a:gd name="T35" fmla="*/ 55 h 72"/>
                  <a:gd name="T36" fmla="*/ 178 w 181"/>
                  <a:gd name="T37" fmla="*/ 65 h 72"/>
                  <a:gd name="T38" fmla="*/ 174 w 181"/>
                  <a:gd name="T39" fmla="*/ 72 h 72"/>
                  <a:gd name="T40" fmla="*/ 58 w 181"/>
                  <a:gd name="T41" fmla="*/ 7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1" h="72">
                    <a:moveTo>
                      <a:pt x="58" y="72"/>
                    </a:moveTo>
                    <a:cubicBezTo>
                      <a:pt x="8" y="72"/>
                      <a:pt x="8" y="72"/>
                      <a:pt x="8" y="72"/>
                    </a:cubicBezTo>
                    <a:cubicBezTo>
                      <a:pt x="3" y="63"/>
                      <a:pt x="3" y="63"/>
                      <a:pt x="3" y="63"/>
                    </a:cubicBezTo>
                    <a:cubicBezTo>
                      <a:pt x="6" y="63"/>
                      <a:pt x="6" y="63"/>
                      <a:pt x="6" y="63"/>
                    </a:cubicBezTo>
                    <a:cubicBezTo>
                      <a:pt x="7" y="61"/>
                      <a:pt x="10" y="57"/>
                      <a:pt x="11" y="55"/>
                    </a:cubicBezTo>
                    <a:cubicBezTo>
                      <a:pt x="12" y="55"/>
                      <a:pt x="13" y="55"/>
                      <a:pt x="14" y="55"/>
                    </a:cubicBezTo>
                    <a:cubicBezTo>
                      <a:pt x="14" y="45"/>
                      <a:pt x="14" y="39"/>
                      <a:pt x="14" y="29"/>
                    </a:cubicBezTo>
                    <a:cubicBezTo>
                      <a:pt x="6" y="25"/>
                      <a:pt x="0" y="19"/>
                      <a:pt x="0" y="4"/>
                    </a:cubicBezTo>
                    <a:cubicBezTo>
                      <a:pt x="13" y="19"/>
                      <a:pt x="25" y="20"/>
                      <a:pt x="30" y="0"/>
                    </a:cubicBezTo>
                    <a:cubicBezTo>
                      <a:pt x="40" y="22"/>
                      <a:pt x="50" y="16"/>
                      <a:pt x="58" y="8"/>
                    </a:cubicBezTo>
                    <a:cubicBezTo>
                      <a:pt x="59" y="17"/>
                      <a:pt x="51" y="24"/>
                      <a:pt x="51" y="25"/>
                    </a:cubicBezTo>
                    <a:cubicBezTo>
                      <a:pt x="131" y="25"/>
                      <a:pt x="131" y="25"/>
                      <a:pt x="131" y="25"/>
                    </a:cubicBezTo>
                    <a:cubicBezTo>
                      <a:pt x="128" y="21"/>
                      <a:pt x="123" y="15"/>
                      <a:pt x="122" y="8"/>
                    </a:cubicBezTo>
                    <a:cubicBezTo>
                      <a:pt x="131" y="18"/>
                      <a:pt x="141" y="23"/>
                      <a:pt x="150" y="0"/>
                    </a:cubicBezTo>
                    <a:cubicBezTo>
                      <a:pt x="160" y="23"/>
                      <a:pt x="169" y="16"/>
                      <a:pt x="181" y="5"/>
                    </a:cubicBezTo>
                    <a:cubicBezTo>
                      <a:pt x="178" y="23"/>
                      <a:pt x="174" y="23"/>
                      <a:pt x="166" y="28"/>
                    </a:cubicBezTo>
                    <a:cubicBezTo>
                      <a:pt x="166" y="38"/>
                      <a:pt x="166" y="45"/>
                      <a:pt x="166" y="55"/>
                    </a:cubicBezTo>
                    <a:cubicBezTo>
                      <a:pt x="168" y="55"/>
                      <a:pt x="169" y="55"/>
                      <a:pt x="171" y="55"/>
                    </a:cubicBezTo>
                    <a:cubicBezTo>
                      <a:pt x="178" y="65"/>
                      <a:pt x="178" y="65"/>
                      <a:pt x="178" y="65"/>
                    </a:cubicBezTo>
                    <a:cubicBezTo>
                      <a:pt x="174" y="72"/>
                      <a:pt x="174" y="72"/>
                      <a:pt x="174" y="72"/>
                    </a:cubicBezTo>
                    <a:lnTo>
                      <a:pt x="58" y="7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93" name="iş1ïďe"/>
              <p:cNvSpPr/>
              <p:nvPr/>
            </p:nvSpPr>
            <p:spPr bwMode="auto">
              <a:xfrm>
                <a:off x="3624263" y="3381375"/>
                <a:ext cx="577850" cy="200025"/>
              </a:xfrm>
              <a:custGeom>
                <a:avLst/>
                <a:gdLst>
                  <a:gd name="T0" fmla="*/ 130 w 175"/>
                  <a:gd name="T1" fmla="*/ 51 h 60"/>
                  <a:gd name="T2" fmla="*/ 130 w 175"/>
                  <a:gd name="T3" fmla="*/ 50 h 60"/>
                  <a:gd name="T4" fmla="*/ 48 w 175"/>
                  <a:gd name="T5" fmla="*/ 50 h 60"/>
                  <a:gd name="T6" fmla="*/ 48 w 175"/>
                  <a:gd name="T7" fmla="*/ 51 h 60"/>
                  <a:gd name="T8" fmla="*/ 52 w 175"/>
                  <a:gd name="T9" fmla="*/ 51 h 60"/>
                  <a:gd name="T10" fmla="*/ 48 w 175"/>
                  <a:gd name="T11" fmla="*/ 60 h 60"/>
                  <a:gd name="T12" fmla="*/ 7 w 175"/>
                  <a:gd name="T13" fmla="*/ 60 h 60"/>
                  <a:gd name="T14" fmla="*/ 10 w 175"/>
                  <a:gd name="T15" fmla="*/ 54 h 60"/>
                  <a:gd name="T16" fmla="*/ 14 w 175"/>
                  <a:gd name="T17" fmla="*/ 54 h 60"/>
                  <a:gd name="T18" fmla="*/ 13 w 175"/>
                  <a:gd name="T19" fmla="*/ 25 h 60"/>
                  <a:gd name="T20" fmla="*/ 0 w 175"/>
                  <a:gd name="T21" fmla="*/ 7 h 60"/>
                  <a:gd name="T22" fmla="*/ 28 w 175"/>
                  <a:gd name="T23" fmla="*/ 0 h 60"/>
                  <a:gd name="T24" fmla="*/ 55 w 175"/>
                  <a:gd name="T25" fmla="*/ 7 h 60"/>
                  <a:gd name="T26" fmla="*/ 48 w 175"/>
                  <a:gd name="T27" fmla="*/ 22 h 60"/>
                  <a:gd name="T28" fmla="*/ 127 w 175"/>
                  <a:gd name="T29" fmla="*/ 22 h 60"/>
                  <a:gd name="T30" fmla="*/ 119 w 175"/>
                  <a:gd name="T31" fmla="*/ 7 h 60"/>
                  <a:gd name="T32" fmla="*/ 147 w 175"/>
                  <a:gd name="T33" fmla="*/ 0 h 60"/>
                  <a:gd name="T34" fmla="*/ 175 w 175"/>
                  <a:gd name="T35" fmla="*/ 7 h 60"/>
                  <a:gd name="T36" fmla="*/ 161 w 175"/>
                  <a:gd name="T37" fmla="*/ 24 h 60"/>
                  <a:gd name="T38" fmla="*/ 161 w 175"/>
                  <a:gd name="T39" fmla="*/ 53 h 60"/>
                  <a:gd name="T40" fmla="*/ 165 w 175"/>
                  <a:gd name="T41" fmla="*/ 53 h 60"/>
                  <a:gd name="T42" fmla="*/ 169 w 175"/>
                  <a:gd name="T43" fmla="*/ 60 h 60"/>
                  <a:gd name="T44" fmla="*/ 128 w 175"/>
                  <a:gd name="T45" fmla="*/ 60 h 60"/>
                  <a:gd name="T46" fmla="*/ 124 w 175"/>
                  <a:gd name="T47" fmla="*/ 51 h 60"/>
                  <a:gd name="T48" fmla="*/ 130 w 175"/>
                  <a:gd name="T49" fmla="*/ 51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5" h="60">
                    <a:moveTo>
                      <a:pt x="130" y="51"/>
                    </a:moveTo>
                    <a:cubicBezTo>
                      <a:pt x="130" y="50"/>
                      <a:pt x="130" y="50"/>
                      <a:pt x="130" y="50"/>
                    </a:cubicBezTo>
                    <a:cubicBezTo>
                      <a:pt x="48" y="50"/>
                      <a:pt x="48" y="50"/>
                      <a:pt x="48" y="50"/>
                    </a:cubicBezTo>
                    <a:cubicBezTo>
                      <a:pt x="48" y="51"/>
                      <a:pt x="48" y="51"/>
                      <a:pt x="48" y="51"/>
                    </a:cubicBezTo>
                    <a:cubicBezTo>
                      <a:pt x="52" y="51"/>
                      <a:pt x="52" y="51"/>
                      <a:pt x="52" y="51"/>
                    </a:cubicBezTo>
                    <a:cubicBezTo>
                      <a:pt x="48" y="60"/>
                      <a:pt x="48" y="60"/>
                      <a:pt x="48" y="60"/>
                    </a:cubicBezTo>
                    <a:cubicBezTo>
                      <a:pt x="34" y="60"/>
                      <a:pt x="20" y="60"/>
                      <a:pt x="7" y="60"/>
                    </a:cubicBezTo>
                    <a:cubicBezTo>
                      <a:pt x="8" y="58"/>
                      <a:pt x="9" y="56"/>
                      <a:pt x="10" y="54"/>
                    </a:cubicBezTo>
                    <a:cubicBezTo>
                      <a:pt x="11" y="54"/>
                      <a:pt x="12" y="54"/>
                      <a:pt x="14" y="54"/>
                    </a:cubicBezTo>
                    <a:cubicBezTo>
                      <a:pt x="14" y="44"/>
                      <a:pt x="13" y="34"/>
                      <a:pt x="13" y="25"/>
                    </a:cubicBezTo>
                    <a:cubicBezTo>
                      <a:pt x="5" y="20"/>
                      <a:pt x="1" y="14"/>
                      <a:pt x="0" y="7"/>
                    </a:cubicBezTo>
                    <a:cubicBezTo>
                      <a:pt x="12" y="18"/>
                      <a:pt x="22" y="17"/>
                      <a:pt x="28" y="0"/>
                    </a:cubicBezTo>
                    <a:cubicBezTo>
                      <a:pt x="37" y="22"/>
                      <a:pt x="47" y="15"/>
                      <a:pt x="55" y="7"/>
                    </a:cubicBezTo>
                    <a:cubicBezTo>
                      <a:pt x="55" y="14"/>
                      <a:pt x="50" y="17"/>
                      <a:pt x="48" y="22"/>
                    </a:cubicBezTo>
                    <a:cubicBezTo>
                      <a:pt x="127" y="22"/>
                      <a:pt x="127" y="22"/>
                      <a:pt x="127" y="22"/>
                    </a:cubicBezTo>
                    <a:cubicBezTo>
                      <a:pt x="125" y="18"/>
                      <a:pt x="120" y="14"/>
                      <a:pt x="119" y="7"/>
                    </a:cubicBezTo>
                    <a:cubicBezTo>
                      <a:pt x="127" y="15"/>
                      <a:pt x="137" y="22"/>
                      <a:pt x="147" y="0"/>
                    </a:cubicBezTo>
                    <a:cubicBezTo>
                      <a:pt x="153" y="17"/>
                      <a:pt x="163" y="18"/>
                      <a:pt x="175" y="7"/>
                    </a:cubicBezTo>
                    <a:cubicBezTo>
                      <a:pt x="173" y="14"/>
                      <a:pt x="169" y="19"/>
                      <a:pt x="161" y="24"/>
                    </a:cubicBezTo>
                    <a:cubicBezTo>
                      <a:pt x="161" y="34"/>
                      <a:pt x="161" y="44"/>
                      <a:pt x="161" y="53"/>
                    </a:cubicBezTo>
                    <a:cubicBezTo>
                      <a:pt x="162" y="53"/>
                      <a:pt x="164" y="53"/>
                      <a:pt x="165" y="53"/>
                    </a:cubicBezTo>
                    <a:cubicBezTo>
                      <a:pt x="166" y="55"/>
                      <a:pt x="167" y="58"/>
                      <a:pt x="169" y="60"/>
                    </a:cubicBezTo>
                    <a:cubicBezTo>
                      <a:pt x="155" y="60"/>
                      <a:pt x="142" y="60"/>
                      <a:pt x="128" y="60"/>
                    </a:cubicBezTo>
                    <a:cubicBezTo>
                      <a:pt x="124" y="51"/>
                      <a:pt x="124" y="51"/>
                      <a:pt x="124" y="51"/>
                    </a:cubicBezTo>
                    <a:lnTo>
                      <a:pt x="130" y="51"/>
                    </a:ln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94" name="ïṩḷíḍé"/>
              <p:cNvSpPr/>
              <p:nvPr/>
            </p:nvSpPr>
            <p:spPr bwMode="auto">
              <a:xfrm>
                <a:off x="4065588" y="3490913"/>
                <a:ext cx="17463"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95" name="ïśľíḍè"/>
              <p:cNvSpPr/>
              <p:nvPr/>
            </p:nvSpPr>
            <p:spPr bwMode="auto">
              <a:xfrm>
                <a:off x="3740151" y="3490913"/>
                <a:ext cx="15875"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96" name="í$ḻîḋè"/>
              <p:cNvSpPr/>
              <p:nvPr/>
            </p:nvSpPr>
            <p:spPr bwMode="auto">
              <a:xfrm>
                <a:off x="4125913" y="3490913"/>
                <a:ext cx="15875"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97" name="iṣļíḋe"/>
              <p:cNvSpPr/>
              <p:nvPr/>
            </p:nvSpPr>
            <p:spPr bwMode="auto">
              <a:xfrm>
                <a:off x="3709988" y="3490913"/>
                <a:ext cx="15875"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98" name="iṩḷiḓé"/>
              <p:cNvSpPr/>
              <p:nvPr/>
            </p:nvSpPr>
            <p:spPr bwMode="auto">
              <a:xfrm>
                <a:off x="4095751" y="3490913"/>
                <a:ext cx="17463"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99" name="iSľiḍè"/>
              <p:cNvSpPr/>
              <p:nvPr/>
            </p:nvSpPr>
            <p:spPr bwMode="auto">
              <a:xfrm>
                <a:off x="3663951" y="3460750"/>
                <a:ext cx="495300" cy="31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00" name="ïṩḷîḍe"/>
              <p:cNvSpPr/>
              <p:nvPr/>
            </p:nvSpPr>
            <p:spPr bwMode="auto">
              <a:xfrm>
                <a:off x="3663951" y="3473450"/>
                <a:ext cx="115888"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01" name="íšḻiḑê"/>
              <p:cNvSpPr/>
              <p:nvPr/>
            </p:nvSpPr>
            <p:spPr bwMode="auto">
              <a:xfrm>
                <a:off x="3789363" y="3473450"/>
                <a:ext cx="4286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02" name="ïṩļïďè"/>
              <p:cNvSpPr/>
              <p:nvPr/>
            </p:nvSpPr>
            <p:spPr bwMode="auto">
              <a:xfrm>
                <a:off x="3851276" y="3473450"/>
                <a:ext cx="57150"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03" name="îṥlïḋê"/>
              <p:cNvSpPr/>
              <p:nvPr/>
            </p:nvSpPr>
            <p:spPr bwMode="auto">
              <a:xfrm>
                <a:off x="3917951" y="3473450"/>
                <a:ext cx="5556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04" name="îṧľïdè"/>
              <p:cNvSpPr/>
              <p:nvPr/>
            </p:nvSpPr>
            <p:spPr bwMode="auto">
              <a:xfrm>
                <a:off x="3994151" y="3473450"/>
                <a:ext cx="4286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05" name="iSḷîḓê"/>
              <p:cNvSpPr/>
              <p:nvPr/>
            </p:nvSpPr>
            <p:spPr bwMode="auto">
              <a:xfrm>
                <a:off x="4046538" y="3473450"/>
                <a:ext cx="11271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06" name="îślíďè"/>
              <p:cNvSpPr/>
              <p:nvPr/>
            </p:nvSpPr>
            <p:spPr bwMode="auto">
              <a:xfrm>
                <a:off x="3979863" y="3473450"/>
                <a:ext cx="7938"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07" name="iSḻïḍè"/>
              <p:cNvSpPr/>
              <p:nvPr/>
            </p:nvSpPr>
            <p:spPr bwMode="auto">
              <a:xfrm>
                <a:off x="3838576" y="3473450"/>
                <a:ext cx="6350"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08" name="ïṡliḑê"/>
              <p:cNvSpPr/>
              <p:nvPr/>
            </p:nvSpPr>
            <p:spPr bwMode="auto">
              <a:xfrm>
                <a:off x="3851276" y="3384550"/>
                <a:ext cx="26988"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09" name="islïďé"/>
              <p:cNvSpPr/>
              <p:nvPr/>
            </p:nvSpPr>
            <p:spPr bwMode="auto">
              <a:xfrm>
                <a:off x="3817938" y="3384550"/>
                <a:ext cx="26988" cy="15875"/>
              </a:xfrm>
              <a:custGeom>
                <a:avLst/>
                <a:gdLst>
                  <a:gd name="T0" fmla="*/ 7 w 8"/>
                  <a:gd name="T1" fmla="*/ 0 h 5"/>
                  <a:gd name="T2" fmla="*/ 8 w 8"/>
                  <a:gd name="T3" fmla="*/ 2 h 5"/>
                  <a:gd name="T4" fmla="*/ 1 w 8"/>
                  <a:gd name="T5" fmla="*/ 5 h 5"/>
                  <a:gd name="T6" fmla="*/ 7 w 8"/>
                  <a:gd name="T7" fmla="*/ 0 h 5"/>
                  <a:gd name="T8" fmla="*/ 7 w 8"/>
                  <a:gd name="T9" fmla="*/ 0 h 5"/>
                  <a:gd name="T10" fmla="*/ 7 w 8"/>
                  <a:gd name="T11" fmla="*/ 0 h 5"/>
                </a:gdLst>
                <a:ahLst/>
                <a:cxnLst>
                  <a:cxn ang="0">
                    <a:pos x="T0" y="T1"/>
                  </a:cxn>
                  <a:cxn ang="0">
                    <a:pos x="T2" y="T3"/>
                  </a:cxn>
                  <a:cxn ang="0">
                    <a:pos x="T4" y="T5"/>
                  </a:cxn>
                  <a:cxn ang="0">
                    <a:pos x="T6" y="T7"/>
                  </a:cxn>
                  <a:cxn ang="0">
                    <a:pos x="T8" y="T9"/>
                  </a:cxn>
                  <a:cxn ang="0">
                    <a:pos x="T10" y="T11"/>
                  </a:cxn>
                </a:cxnLst>
                <a:rect l="0" t="0" r="r" b="b"/>
                <a:pathLst>
                  <a:path w="8" h="5">
                    <a:moveTo>
                      <a:pt x="7" y="0"/>
                    </a:moveTo>
                    <a:cubicBezTo>
                      <a:pt x="8" y="2"/>
                      <a:pt x="8" y="2"/>
                      <a:pt x="8" y="2"/>
                    </a:cubicBezTo>
                    <a:cubicBezTo>
                      <a:pt x="1" y="5"/>
                      <a:pt x="1" y="5"/>
                      <a:pt x="1" y="5"/>
                    </a:cubicBezTo>
                    <a:cubicBezTo>
                      <a:pt x="1" y="5"/>
                      <a:pt x="0" y="2"/>
                      <a:pt x="7" y="0"/>
                    </a:cubicBezTo>
                    <a:close/>
                    <a:moveTo>
                      <a:pt x="7" y="0"/>
                    </a:moveTo>
                    <a:cubicBezTo>
                      <a:pt x="7" y="0"/>
                      <a:pt x="7" y="0"/>
                      <a:pt x="7"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10" name="îṥḷîdé"/>
              <p:cNvSpPr/>
              <p:nvPr/>
            </p:nvSpPr>
            <p:spPr bwMode="auto">
              <a:xfrm>
                <a:off x="3983038" y="3384550"/>
                <a:ext cx="26988" cy="15875"/>
              </a:xfrm>
              <a:custGeom>
                <a:avLst/>
                <a:gdLst>
                  <a:gd name="T0" fmla="*/ 1 w 8"/>
                  <a:gd name="T1" fmla="*/ 0 h 5"/>
                  <a:gd name="T2" fmla="*/ 0 w 8"/>
                  <a:gd name="T3" fmla="*/ 2 h 5"/>
                  <a:gd name="T4" fmla="*/ 7 w 8"/>
                  <a:gd name="T5" fmla="*/ 5 h 5"/>
                  <a:gd name="T6" fmla="*/ 1 w 8"/>
                  <a:gd name="T7" fmla="*/ 0 h 5"/>
                  <a:gd name="T8" fmla="*/ 1 w 8"/>
                  <a:gd name="T9" fmla="*/ 0 h 5"/>
                  <a:gd name="T10" fmla="*/ 1 w 8"/>
                  <a:gd name="T11" fmla="*/ 0 h 5"/>
                </a:gdLst>
                <a:ahLst/>
                <a:cxnLst>
                  <a:cxn ang="0">
                    <a:pos x="T0" y="T1"/>
                  </a:cxn>
                  <a:cxn ang="0">
                    <a:pos x="T2" y="T3"/>
                  </a:cxn>
                  <a:cxn ang="0">
                    <a:pos x="T4" y="T5"/>
                  </a:cxn>
                  <a:cxn ang="0">
                    <a:pos x="T6" y="T7"/>
                  </a:cxn>
                  <a:cxn ang="0">
                    <a:pos x="T8" y="T9"/>
                  </a:cxn>
                  <a:cxn ang="0">
                    <a:pos x="T10" y="T11"/>
                  </a:cxn>
                </a:cxnLst>
                <a:rect l="0" t="0" r="r" b="b"/>
                <a:pathLst>
                  <a:path w="8" h="5">
                    <a:moveTo>
                      <a:pt x="1" y="0"/>
                    </a:moveTo>
                    <a:cubicBezTo>
                      <a:pt x="0" y="2"/>
                      <a:pt x="0" y="2"/>
                      <a:pt x="0" y="2"/>
                    </a:cubicBezTo>
                    <a:cubicBezTo>
                      <a:pt x="7" y="5"/>
                      <a:pt x="7" y="5"/>
                      <a:pt x="7" y="5"/>
                    </a:cubicBezTo>
                    <a:cubicBezTo>
                      <a:pt x="7" y="5"/>
                      <a:pt x="8" y="2"/>
                      <a:pt x="1" y="0"/>
                    </a:cubicBezTo>
                    <a:close/>
                    <a:moveTo>
                      <a:pt x="1" y="0"/>
                    </a:moveTo>
                    <a:cubicBezTo>
                      <a:pt x="1" y="0"/>
                      <a:pt x="1" y="0"/>
                      <a:pt x="1"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11" name="isḷîḋé"/>
              <p:cNvSpPr/>
              <p:nvPr/>
            </p:nvSpPr>
            <p:spPr bwMode="auto">
              <a:xfrm>
                <a:off x="3884613" y="3384550"/>
                <a:ext cx="26988"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12" name="iśḷïḑè"/>
              <p:cNvSpPr/>
              <p:nvPr/>
            </p:nvSpPr>
            <p:spPr bwMode="auto">
              <a:xfrm>
                <a:off x="3917951" y="3384550"/>
                <a:ext cx="25400"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13" name="iṧľiďé"/>
              <p:cNvSpPr/>
              <p:nvPr/>
            </p:nvSpPr>
            <p:spPr bwMode="auto">
              <a:xfrm>
                <a:off x="3951288" y="3384550"/>
                <a:ext cx="25400"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14" name="išľïḍé"/>
              <p:cNvSpPr/>
              <p:nvPr/>
            </p:nvSpPr>
            <p:spPr bwMode="auto">
              <a:xfrm>
                <a:off x="3771901" y="3484563"/>
                <a:ext cx="7938" cy="60325"/>
              </a:xfrm>
              <a:prstGeom prst="rect">
                <a:avLst/>
              </a:prstGeom>
              <a:solidFill>
                <a:srgbClr val="FFFFFF"/>
              </a:solidFill>
              <a:ln w="0" cap="flat">
                <a:solidFill>
                  <a:srgbClr val="FFFFFF"/>
                </a:solidFill>
                <a:prstDash val="solid"/>
                <a:miter lim="800000"/>
              </a:ln>
            </p:spPr>
            <p:txBody>
              <a:bodyPr anchor="ctr"/>
              <a:lstStyle/>
              <a:p>
                <a:pPr algn="ctr"/>
                <a:endParaRPr sz="1800"/>
              </a:p>
            </p:txBody>
          </p:sp>
          <p:sp>
            <p:nvSpPr>
              <p:cNvPr id="115" name="îŝlîḑè"/>
              <p:cNvSpPr/>
              <p:nvPr/>
            </p:nvSpPr>
            <p:spPr bwMode="auto">
              <a:xfrm>
                <a:off x="3786188" y="3484563"/>
                <a:ext cx="46038" cy="60325"/>
              </a:xfrm>
              <a:custGeom>
                <a:avLst/>
                <a:gdLst>
                  <a:gd name="T0" fmla="*/ 8 w 29"/>
                  <a:gd name="T1" fmla="*/ 0 h 38"/>
                  <a:gd name="T2" fmla="*/ 20 w 29"/>
                  <a:gd name="T3" fmla="*/ 0 h 38"/>
                  <a:gd name="T4" fmla="*/ 29 w 29"/>
                  <a:gd name="T5" fmla="*/ 8 h 38"/>
                  <a:gd name="T6" fmla="*/ 29 w 29"/>
                  <a:gd name="T7" fmla="*/ 38 h 38"/>
                  <a:gd name="T8" fmla="*/ 0 w 29"/>
                  <a:gd name="T9" fmla="*/ 38 h 38"/>
                  <a:gd name="T10" fmla="*/ 0 w 29"/>
                  <a:gd name="T11" fmla="*/ 8 h 38"/>
                  <a:gd name="T12" fmla="*/ 8 w 29"/>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29" h="38">
                    <a:moveTo>
                      <a:pt x="8" y="0"/>
                    </a:moveTo>
                    <a:lnTo>
                      <a:pt x="20" y="0"/>
                    </a:lnTo>
                    <a:lnTo>
                      <a:pt x="29" y="8"/>
                    </a:lnTo>
                    <a:lnTo>
                      <a:pt x="29" y="38"/>
                    </a:lnTo>
                    <a:lnTo>
                      <a:pt x="0" y="38"/>
                    </a:lnTo>
                    <a:lnTo>
                      <a:pt x="0" y="8"/>
                    </a:lnTo>
                    <a:lnTo>
                      <a:pt x="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16" name="îṩḻíḓe"/>
              <p:cNvSpPr/>
              <p:nvPr/>
            </p:nvSpPr>
            <p:spPr bwMode="auto">
              <a:xfrm>
                <a:off x="3994151" y="3484563"/>
                <a:ext cx="46038" cy="60325"/>
              </a:xfrm>
              <a:custGeom>
                <a:avLst/>
                <a:gdLst>
                  <a:gd name="T0" fmla="*/ 8 w 29"/>
                  <a:gd name="T1" fmla="*/ 0 h 38"/>
                  <a:gd name="T2" fmla="*/ 18 w 29"/>
                  <a:gd name="T3" fmla="*/ 0 h 38"/>
                  <a:gd name="T4" fmla="*/ 29 w 29"/>
                  <a:gd name="T5" fmla="*/ 8 h 38"/>
                  <a:gd name="T6" fmla="*/ 29 w 29"/>
                  <a:gd name="T7" fmla="*/ 38 h 38"/>
                  <a:gd name="T8" fmla="*/ 0 w 29"/>
                  <a:gd name="T9" fmla="*/ 38 h 38"/>
                  <a:gd name="T10" fmla="*/ 0 w 29"/>
                  <a:gd name="T11" fmla="*/ 8 h 38"/>
                  <a:gd name="T12" fmla="*/ 8 w 29"/>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29" h="38">
                    <a:moveTo>
                      <a:pt x="8" y="0"/>
                    </a:moveTo>
                    <a:lnTo>
                      <a:pt x="18" y="0"/>
                    </a:lnTo>
                    <a:lnTo>
                      <a:pt x="29" y="8"/>
                    </a:lnTo>
                    <a:lnTo>
                      <a:pt x="29" y="38"/>
                    </a:lnTo>
                    <a:lnTo>
                      <a:pt x="0" y="38"/>
                    </a:lnTo>
                    <a:lnTo>
                      <a:pt x="0" y="8"/>
                    </a:lnTo>
                    <a:lnTo>
                      <a:pt x="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17" name="î$1îdè"/>
              <p:cNvSpPr/>
              <p:nvPr/>
            </p:nvSpPr>
            <p:spPr bwMode="auto">
              <a:xfrm>
                <a:off x="3851276" y="3484563"/>
                <a:ext cx="122238" cy="60325"/>
              </a:xfrm>
              <a:custGeom>
                <a:avLst/>
                <a:gdLst>
                  <a:gd name="T0" fmla="*/ 9 w 77"/>
                  <a:gd name="T1" fmla="*/ 0 h 38"/>
                  <a:gd name="T2" fmla="*/ 69 w 77"/>
                  <a:gd name="T3" fmla="*/ 0 h 38"/>
                  <a:gd name="T4" fmla="*/ 77 w 77"/>
                  <a:gd name="T5" fmla="*/ 8 h 38"/>
                  <a:gd name="T6" fmla="*/ 77 w 77"/>
                  <a:gd name="T7" fmla="*/ 38 h 38"/>
                  <a:gd name="T8" fmla="*/ 0 w 77"/>
                  <a:gd name="T9" fmla="*/ 38 h 38"/>
                  <a:gd name="T10" fmla="*/ 0 w 77"/>
                  <a:gd name="T11" fmla="*/ 8 h 38"/>
                  <a:gd name="T12" fmla="*/ 9 w 77"/>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77" h="38">
                    <a:moveTo>
                      <a:pt x="9" y="0"/>
                    </a:moveTo>
                    <a:lnTo>
                      <a:pt x="69" y="0"/>
                    </a:lnTo>
                    <a:lnTo>
                      <a:pt x="77" y="8"/>
                    </a:lnTo>
                    <a:lnTo>
                      <a:pt x="77" y="38"/>
                    </a:lnTo>
                    <a:lnTo>
                      <a:pt x="0" y="38"/>
                    </a:lnTo>
                    <a:lnTo>
                      <a:pt x="0" y="8"/>
                    </a:lnTo>
                    <a:lnTo>
                      <a:pt x="9"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18" name="iśľïḓe"/>
              <p:cNvSpPr/>
              <p:nvPr/>
            </p:nvSpPr>
            <p:spPr bwMode="auto">
              <a:xfrm>
                <a:off x="4046538" y="3484563"/>
                <a:ext cx="6350" cy="60325"/>
              </a:xfrm>
              <a:prstGeom prst="rect">
                <a:avLst/>
              </a:prstGeom>
              <a:solidFill>
                <a:srgbClr val="FFFFFF"/>
              </a:solidFill>
              <a:ln w="0" cap="flat">
                <a:solidFill>
                  <a:srgbClr val="FFFFFF"/>
                </a:solidFill>
                <a:prstDash val="solid"/>
                <a:miter lim="800000"/>
              </a:ln>
            </p:spPr>
            <p:txBody>
              <a:bodyPr anchor="ctr"/>
              <a:lstStyle/>
              <a:p>
                <a:pPr algn="ctr"/>
                <a:endParaRPr sz="1800"/>
              </a:p>
            </p:txBody>
          </p:sp>
          <p:sp>
            <p:nvSpPr>
              <p:cNvPr id="119" name="iṣļïḑè"/>
              <p:cNvSpPr/>
              <p:nvPr/>
            </p:nvSpPr>
            <p:spPr bwMode="auto">
              <a:xfrm>
                <a:off x="3838576" y="3484563"/>
                <a:ext cx="6350" cy="60325"/>
              </a:xfrm>
              <a:prstGeom prst="rect">
                <a:avLst/>
              </a:prstGeom>
              <a:solidFill>
                <a:srgbClr val="FFFFFF"/>
              </a:solidFill>
              <a:ln w="0" cap="flat">
                <a:solidFill>
                  <a:srgbClr val="FFFFFF"/>
                </a:solidFill>
                <a:prstDash val="solid"/>
                <a:miter lim="800000"/>
              </a:ln>
            </p:spPr>
            <p:txBody>
              <a:bodyPr anchor="ctr"/>
              <a:lstStyle/>
              <a:p>
                <a:pPr algn="ctr"/>
                <a:endParaRPr sz="1800"/>
              </a:p>
            </p:txBody>
          </p:sp>
          <p:sp>
            <p:nvSpPr>
              <p:cNvPr id="120" name="iṡḷidé"/>
              <p:cNvSpPr/>
              <p:nvPr/>
            </p:nvSpPr>
            <p:spPr bwMode="auto">
              <a:xfrm>
                <a:off x="3979863" y="3484563"/>
                <a:ext cx="3175" cy="60325"/>
              </a:xfrm>
              <a:prstGeom prst="rect">
                <a:avLst/>
              </a:prstGeom>
              <a:solidFill>
                <a:srgbClr val="FFFFFF"/>
              </a:solidFill>
              <a:ln w="0" cap="flat">
                <a:solidFill>
                  <a:srgbClr val="FFFFFF"/>
                </a:solidFill>
                <a:prstDash val="solid"/>
                <a:miter lim="800000"/>
              </a:ln>
            </p:spPr>
            <p:txBody>
              <a:bodyPr anchor="ctr"/>
              <a:lstStyle/>
              <a:p>
                <a:pPr algn="ctr"/>
                <a:endParaRPr sz="1800"/>
              </a:p>
            </p:txBody>
          </p:sp>
          <p:sp>
            <p:nvSpPr>
              <p:cNvPr id="121" name="íṡḷíḋe"/>
              <p:cNvSpPr/>
              <p:nvPr/>
            </p:nvSpPr>
            <p:spPr bwMode="auto">
              <a:xfrm>
                <a:off x="3811588" y="3551238"/>
                <a:ext cx="20478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22" name="íŝ1iḑê"/>
              <p:cNvSpPr/>
              <p:nvPr/>
            </p:nvSpPr>
            <p:spPr bwMode="auto">
              <a:xfrm>
                <a:off x="3805238" y="3557588"/>
                <a:ext cx="214313"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23" name="îṩḷiḑe"/>
              <p:cNvSpPr/>
              <p:nvPr/>
            </p:nvSpPr>
            <p:spPr bwMode="auto">
              <a:xfrm>
                <a:off x="3802063" y="3567113"/>
                <a:ext cx="220663" cy="1588"/>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24" name="iṧḻiḑê"/>
              <p:cNvSpPr/>
              <p:nvPr/>
            </p:nvSpPr>
            <p:spPr bwMode="auto">
              <a:xfrm>
                <a:off x="3802063" y="3570288"/>
                <a:ext cx="22383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25" name="ïṣḻîḋè"/>
              <p:cNvSpPr/>
              <p:nvPr/>
            </p:nvSpPr>
            <p:spPr bwMode="auto">
              <a:xfrm>
                <a:off x="3795713" y="3581400"/>
                <a:ext cx="234950"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26" name="îṡ1îḍé"/>
              <p:cNvSpPr/>
              <p:nvPr/>
            </p:nvSpPr>
            <p:spPr bwMode="auto">
              <a:xfrm>
                <a:off x="3633788" y="3587750"/>
                <a:ext cx="560388" cy="6350"/>
              </a:xfrm>
              <a:custGeom>
                <a:avLst/>
                <a:gdLst>
                  <a:gd name="T0" fmla="*/ 0 w 353"/>
                  <a:gd name="T1" fmla="*/ 0 h 4"/>
                  <a:gd name="T2" fmla="*/ 353 w 353"/>
                  <a:gd name="T3" fmla="*/ 0 h 4"/>
                  <a:gd name="T4" fmla="*/ 351 w 353"/>
                  <a:gd name="T5" fmla="*/ 4 h 4"/>
                  <a:gd name="T6" fmla="*/ 2 w 353"/>
                  <a:gd name="T7" fmla="*/ 4 h 4"/>
                  <a:gd name="T8" fmla="*/ 0 w 353"/>
                  <a:gd name="T9" fmla="*/ 0 h 4"/>
                </a:gdLst>
                <a:ahLst/>
                <a:cxnLst>
                  <a:cxn ang="0">
                    <a:pos x="T0" y="T1"/>
                  </a:cxn>
                  <a:cxn ang="0">
                    <a:pos x="T2" y="T3"/>
                  </a:cxn>
                  <a:cxn ang="0">
                    <a:pos x="T4" y="T5"/>
                  </a:cxn>
                  <a:cxn ang="0">
                    <a:pos x="T6" y="T7"/>
                  </a:cxn>
                  <a:cxn ang="0">
                    <a:pos x="T8" y="T9"/>
                  </a:cxn>
                </a:cxnLst>
                <a:rect l="0" t="0" r="r" b="b"/>
                <a:pathLst>
                  <a:path w="353" h="4">
                    <a:moveTo>
                      <a:pt x="0" y="0"/>
                    </a:moveTo>
                    <a:lnTo>
                      <a:pt x="353" y="0"/>
                    </a:lnTo>
                    <a:lnTo>
                      <a:pt x="351" y="4"/>
                    </a:lnTo>
                    <a:lnTo>
                      <a:pt x="2" y="4"/>
                    </a:lnTo>
                    <a:lnTo>
                      <a:pt x="0" y="0"/>
                    </a:ln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27" name="îš1íḑe"/>
              <p:cNvSpPr/>
              <p:nvPr/>
            </p:nvSpPr>
            <p:spPr bwMode="auto">
              <a:xfrm>
                <a:off x="3640138" y="3600450"/>
                <a:ext cx="547688" cy="6350"/>
              </a:xfrm>
              <a:custGeom>
                <a:avLst/>
                <a:gdLst>
                  <a:gd name="T0" fmla="*/ 0 w 345"/>
                  <a:gd name="T1" fmla="*/ 0 h 4"/>
                  <a:gd name="T2" fmla="*/ 345 w 345"/>
                  <a:gd name="T3" fmla="*/ 0 h 4"/>
                  <a:gd name="T4" fmla="*/ 343 w 345"/>
                  <a:gd name="T5" fmla="*/ 4 h 4"/>
                  <a:gd name="T6" fmla="*/ 2 w 345"/>
                  <a:gd name="T7" fmla="*/ 4 h 4"/>
                  <a:gd name="T8" fmla="*/ 0 w 345"/>
                  <a:gd name="T9" fmla="*/ 0 h 4"/>
                </a:gdLst>
                <a:ahLst/>
                <a:cxnLst>
                  <a:cxn ang="0">
                    <a:pos x="T0" y="T1"/>
                  </a:cxn>
                  <a:cxn ang="0">
                    <a:pos x="T2" y="T3"/>
                  </a:cxn>
                  <a:cxn ang="0">
                    <a:pos x="T4" y="T5"/>
                  </a:cxn>
                  <a:cxn ang="0">
                    <a:pos x="T6" y="T7"/>
                  </a:cxn>
                  <a:cxn ang="0">
                    <a:pos x="T8" y="T9"/>
                  </a:cxn>
                </a:cxnLst>
                <a:rect l="0" t="0" r="r" b="b"/>
                <a:pathLst>
                  <a:path w="345" h="4">
                    <a:moveTo>
                      <a:pt x="0" y="0"/>
                    </a:moveTo>
                    <a:lnTo>
                      <a:pt x="345" y="0"/>
                    </a:lnTo>
                    <a:lnTo>
                      <a:pt x="343" y="4"/>
                    </a:lnTo>
                    <a:lnTo>
                      <a:pt x="2" y="4"/>
                    </a:lnTo>
                    <a:lnTo>
                      <a:pt x="0" y="0"/>
                    </a:ln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28" name="iš1ïḍe"/>
              <p:cNvSpPr/>
              <p:nvPr/>
            </p:nvSpPr>
            <p:spPr bwMode="auto">
              <a:xfrm>
                <a:off x="3736976" y="3406775"/>
                <a:ext cx="352425" cy="4763"/>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29" name="îSḻîde"/>
              <p:cNvSpPr/>
              <p:nvPr/>
            </p:nvSpPr>
            <p:spPr bwMode="auto">
              <a:xfrm>
                <a:off x="3746501" y="3417888"/>
                <a:ext cx="3333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30" name="î$ḻîḑé"/>
              <p:cNvSpPr/>
              <p:nvPr/>
            </p:nvSpPr>
            <p:spPr bwMode="auto">
              <a:xfrm>
                <a:off x="3805238" y="3417888"/>
                <a:ext cx="211138" cy="1588"/>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31" name="íŝļïḓe"/>
              <p:cNvSpPr/>
              <p:nvPr/>
            </p:nvSpPr>
            <p:spPr bwMode="auto">
              <a:xfrm>
                <a:off x="3811588" y="3421063"/>
                <a:ext cx="3175"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32" name="îS1iḍé"/>
              <p:cNvSpPr/>
              <p:nvPr/>
            </p:nvSpPr>
            <p:spPr bwMode="auto">
              <a:xfrm>
                <a:off x="3802063" y="3421063"/>
                <a:ext cx="3175"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33" name="išlïdé"/>
              <p:cNvSpPr/>
              <p:nvPr/>
            </p:nvSpPr>
            <p:spPr bwMode="auto">
              <a:xfrm>
                <a:off x="3789363" y="3421063"/>
                <a:ext cx="6350"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34" name="ïSlïde"/>
              <p:cNvSpPr/>
              <p:nvPr/>
            </p:nvSpPr>
            <p:spPr bwMode="auto">
              <a:xfrm>
                <a:off x="3822701"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35" name="îşľïďe"/>
              <p:cNvSpPr/>
              <p:nvPr/>
            </p:nvSpPr>
            <p:spPr bwMode="auto">
              <a:xfrm>
                <a:off x="3832226"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36" name="ïşľíďê"/>
              <p:cNvSpPr/>
              <p:nvPr/>
            </p:nvSpPr>
            <p:spPr bwMode="auto">
              <a:xfrm>
                <a:off x="3844926"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37" name="íś1ïdè"/>
              <p:cNvSpPr/>
              <p:nvPr/>
            </p:nvSpPr>
            <p:spPr bwMode="auto">
              <a:xfrm>
                <a:off x="3854451"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0" y="0"/>
                      <a:pt x="1" y="0"/>
                      <a:pt x="2" y="0"/>
                    </a:cubicBezTo>
                    <a:cubicBezTo>
                      <a:pt x="2" y="3"/>
                      <a:pt x="2" y="6"/>
                      <a:pt x="2"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38" name="iṩḷiḍe"/>
              <p:cNvSpPr/>
              <p:nvPr/>
            </p:nvSpPr>
            <p:spPr bwMode="auto">
              <a:xfrm>
                <a:off x="3865563"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39" name="ïŝ1iďè"/>
              <p:cNvSpPr/>
              <p:nvPr/>
            </p:nvSpPr>
            <p:spPr bwMode="auto">
              <a:xfrm>
                <a:off x="3878263"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40" name="íṩļíḋê"/>
              <p:cNvSpPr/>
              <p:nvPr/>
            </p:nvSpPr>
            <p:spPr bwMode="auto">
              <a:xfrm>
                <a:off x="3887788"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41" name="ïṧ1ïdè"/>
              <p:cNvSpPr/>
              <p:nvPr/>
            </p:nvSpPr>
            <p:spPr bwMode="auto">
              <a:xfrm>
                <a:off x="3897313"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42" name="íŝḻîḍé"/>
              <p:cNvSpPr/>
              <p:nvPr/>
            </p:nvSpPr>
            <p:spPr bwMode="auto">
              <a:xfrm>
                <a:off x="3908426"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43" name="îşḻïḓé"/>
              <p:cNvSpPr/>
              <p:nvPr/>
            </p:nvSpPr>
            <p:spPr bwMode="auto">
              <a:xfrm>
                <a:off x="3921126"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44" name="íśļíďè"/>
              <p:cNvSpPr/>
              <p:nvPr/>
            </p:nvSpPr>
            <p:spPr bwMode="auto">
              <a:xfrm>
                <a:off x="3930651"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45" name="iŝ1ïdé"/>
              <p:cNvSpPr/>
              <p:nvPr/>
            </p:nvSpPr>
            <p:spPr bwMode="auto">
              <a:xfrm>
                <a:off x="3940176"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46" name="is1ídè"/>
              <p:cNvSpPr/>
              <p:nvPr/>
            </p:nvSpPr>
            <p:spPr bwMode="auto">
              <a:xfrm>
                <a:off x="3951288"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2" y="0"/>
                      <a:pt x="2" y="0"/>
                    </a:cubicBezTo>
                    <a:cubicBezTo>
                      <a:pt x="2" y="3"/>
                      <a:pt x="2" y="6"/>
                      <a:pt x="2" y="9"/>
                    </a:cubicBezTo>
                    <a:cubicBezTo>
                      <a:pt x="2"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47" name="islíďê"/>
              <p:cNvSpPr/>
              <p:nvPr/>
            </p:nvSpPr>
            <p:spPr bwMode="auto">
              <a:xfrm>
                <a:off x="3963988"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48" name="iṩlíḑê"/>
              <p:cNvSpPr/>
              <p:nvPr/>
            </p:nvSpPr>
            <p:spPr bwMode="auto">
              <a:xfrm>
                <a:off x="3973513"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49" name="îṥḷïďê"/>
              <p:cNvSpPr/>
              <p:nvPr/>
            </p:nvSpPr>
            <p:spPr bwMode="auto">
              <a:xfrm>
                <a:off x="3983038"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50" name="íṥḻïďè"/>
              <p:cNvSpPr/>
              <p:nvPr/>
            </p:nvSpPr>
            <p:spPr bwMode="auto">
              <a:xfrm>
                <a:off x="3997326"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51" name="íṡḷíḍè"/>
              <p:cNvSpPr/>
              <p:nvPr/>
            </p:nvSpPr>
            <p:spPr bwMode="auto">
              <a:xfrm>
                <a:off x="4006851" y="3421063"/>
                <a:ext cx="3175"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52" name="î$ḷîḑé"/>
              <p:cNvSpPr/>
              <p:nvPr/>
            </p:nvSpPr>
            <p:spPr bwMode="auto">
              <a:xfrm>
                <a:off x="4016376" y="3421063"/>
                <a:ext cx="6350"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53" name="í$ľîdè"/>
              <p:cNvSpPr/>
              <p:nvPr/>
            </p:nvSpPr>
            <p:spPr bwMode="auto">
              <a:xfrm>
                <a:off x="4025901" y="3421063"/>
                <a:ext cx="7938"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54" name="iṥ1iḍè"/>
              <p:cNvSpPr/>
              <p:nvPr/>
            </p:nvSpPr>
            <p:spPr bwMode="auto">
              <a:xfrm>
                <a:off x="4040188" y="3417888"/>
                <a:ext cx="3968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55" name="ïslidé"/>
              <p:cNvSpPr/>
              <p:nvPr/>
            </p:nvSpPr>
            <p:spPr bwMode="auto">
              <a:xfrm>
                <a:off x="3679826" y="3490913"/>
                <a:ext cx="17463"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56" name="íṡlïďè"/>
              <p:cNvSpPr/>
              <p:nvPr/>
            </p:nvSpPr>
            <p:spPr bwMode="auto">
              <a:xfrm>
                <a:off x="3884613" y="3490913"/>
                <a:ext cx="55563" cy="53975"/>
              </a:xfrm>
              <a:custGeom>
                <a:avLst/>
                <a:gdLst>
                  <a:gd name="T0" fmla="*/ 0 w 35"/>
                  <a:gd name="T1" fmla="*/ 0 h 34"/>
                  <a:gd name="T2" fmla="*/ 35 w 35"/>
                  <a:gd name="T3" fmla="*/ 0 h 34"/>
                  <a:gd name="T4" fmla="*/ 35 w 35"/>
                  <a:gd name="T5" fmla="*/ 34 h 34"/>
                  <a:gd name="T6" fmla="*/ 0 w 35"/>
                  <a:gd name="T7" fmla="*/ 34 h 34"/>
                  <a:gd name="T8" fmla="*/ 0 w 35"/>
                  <a:gd name="T9" fmla="*/ 0 h 34"/>
                  <a:gd name="T10" fmla="*/ 0 w 35"/>
                  <a:gd name="T11" fmla="*/ 0 h 34"/>
                  <a:gd name="T12" fmla="*/ 4 w 35"/>
                  <a:gd name="T13" fmla="*/ 8 h 34"/>
                  <a:gd name="T14" fmla="*/ 4 w 35"/>
                  <a:gd name="T15" fmla="*/ 27 h 34"/>
                  <a:gd name="T16" fmla="*/ 8 w 35"/>
                  <a:gd name="T17" fmla="*/ 27 h 34"/>
                  <a:gd name="T18" fmla="*/ 8 w 35"/>
                  <a:gd name="T19" fmla="*/ 8 h 34"/>
                  <a:gd name="T20" fmla="*/ 4 w 35"/>
                  <a:gd name="T21" fmla="*/ 8 h 34"/>
                  <a:gd name="T22" fmla="*/ 4 w 35"/>
                  <a:gd name="T23" fmla="*/ 8 h 34"/>
                  <a:gd name="T24" fmla="*/ 29 w 35"/>
                  <a:gd name="T25" fmla="*/ 8 h 34"/>
                  <a:gd name="T26" fmla="*/ 29 w 35"/>
                  <a:gd name="T27" fmla="*/ 27 h 34"/>
                  <a:gd name="T28" fmla="*/ 31 w 35"/>
                  <a:gd name="T29" fmla="*/ 27 h 34"/>
                  <a:gd name="T30" fmla="*/ 31 w 35"/>
                  <a:gd name="T31" fmla="*/ 8 h 34"/>
                  <a:gd name="T32" fmla="*/ 29 w 35"/>
                  <a:gd name="T33" fmla="*/ 8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5" h="34">
                    <a:moveTo>
                      <a:pt x="0" y="0"/>
                    </a:moveTo>
                    <a:lnTo>
                      <a:pt x="35" y="0"/>
                    </a:lnTo>
                    <a:lnTo>
                      <a:pt x="35" y="34"/>
                    </a:lnTo>
                    <a:lnTo>
                      <a:pt x="0" y="34"/>
                    </a:lnTo>
                    <a:lnTo>
                      <a:pt x="0" y="0"/>
                    </a:lnTo>
                    <a:lnTo>
                      <a:pt x="0" y="0"/>
                    </a:lnTo>
                    <a:close/>
                    <a:moveTo>
                      <a:pt x="4" y="8"/>
                    </a:moveTo>
                    <a:lnTo>
                      <a:pt x="4" y="27"/>
                    </a:lnTo>
                    <a:lnTo>
                      <a:pt x="8" y="27"/>
                    </a:lnTo>
                    <a:lnTo>
                      <a:pt x="8" y="8"/>
                    </a:lnTo>
                    <a:lnTo>
                      <a:pt x="4" y="8"/>
                    </a:lnTo>
                    <a:lnTo>
                      <a:pt x="4" y="8"/>
                    </a:lnTo>
                    <a:close/>
                    <a:moveTo>
                      <a:pt x="29" y="8"/>
                    </a:moveTo>
                    <a:lnTo>
                      <a:pt x="29" y="27"/>
                    </a:lnTo>
                    <a:lnTo>
                      <a:pt x="31" y="27"/>
                    </a:lnTo>
                    <a:lnTo>
                      <a:pt x="31" y="8"/>
                    </a:lnTo>
                    <a:lnTo>
                      <a:pt x="29" y="8"/>
                    </a:ln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57" name="iṧ1ïḓè"/>
              <p:cNvSpPr/>
              <p:nvPr/>
            </p:nvSpPr>
            <p:spPr bwMode="auto">
              <a:xfrm>
                <a:off x="3551238" y="3067050"/>
                <a:ext cx="722313" cy="727075"/>
              </a:xfrm>
              <a:custGeom>
                <a:avLst/>
                <a:gdLst>
                  <a:gd name="T0" fmla="*/ 109 w 219"/>
                  <a:gd name="T1" fmla="*/ 0 h 218"/>
                  <a:gd name="T2" fmla="*/ 219 w 219"/>
                  <a:gd name="T3" fmla="*/ 109 h 218"/>
                  <a:gd name="T4" fmla="*/ 109 w 219"/>
                  <a:gd name="T5" fmla="*/ 218 h 218"/>
                  <a:gd name="T6" fmla="*/ 0 w 219"/>
                  <a:gd name="T7" fmla="*/ 109 h 218"/>
                  <a:gd name="T8" fmla="*/ 109 w 219"/>
                  <a:gd name="T9" fmla="*/ 0 h 218"/>
                  <a:gd name="T10" fmla="*/ 109 w 219"/>
                  <a:gd name="T11" fmla="*/ 3 h 218"/>
                  <a:gd name="T12" fmla="*/ 4 w 219"/>
                  <a:gd name="T13" fmla="*/ 109 h 218"/>
                  <a:gd name="T14" fmla="*/ 109 w 219"/>
                  <a:gd name="T15" fmla="*/ 215 h 218"/>
                  <a:gd name="T16" fmla="*/ 215 w 219"/>
                  <a:gd name="T17" fmla="*/ 109 h 218"/>
                  <a:gd name="T18" fmla="*/ 109 w 219"/>
                  <a:gd name="T19" fmla="*/ 3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9" h="218">
                    <a:moveTo>
                      <a:pt x="109" y="0"/>
                    </a:moveTo>
                    <a:cubicBezTo>
                      <a:pt x="170" y="0"/>
                      <a:pt x="219" y="49"/>
                      <a:pt x="219" y="109"/>
                    </a:cubicBezTo>
                    <a:cubicBezTo>
                      <a:pt x="219" y="169"/>
                      <a:pt x="170" y="218"/>
                      <a:pt x="109" y="218"/>
                    </a:cubicBezTo>
                    <a:cubicBezTo>
                      <a:pt x="49" y="218"/>
                      <a:pt x="0" y="169"/>
                      <a:pt x="0" y="109"/>
                    </a:cubicBezTo>
                    <a:cubicBezTo>
                      <a:pt x="0" y="49"/>
                      <a:pt x="49" y="0"/>
                      <a:pt x="109" y="0"/>
                    </a:cubicBezTo>
                    <a:close/>
                    <a:moveTo>
                      <a:pt x="109" y="3"/>
                    </a:moveTo>
                    <a:cubicBezTo>
                      <a:pt x="51" y="3"/>
                      <a:pt x="4" y="51"/>
                      <a:pt x="4" y="109"/>
                    </a:cubicBezTo>
                    <a:cubicBezTo>
                      <a:pt x="4" y="167"/>
                      <a:pt x="51" y="215"/>
                      <a:pt x="109" y="215"/>
                    </a:cubicBezTo>
                    <a:cubicBezTo>
                      <a:pt x="168" y="215"/>
                      <a:pt x="215" y="167"/>
                      <a:pt x="215" y="109"/>
                    </a:cubicBezTo>
                    <a:cubicBezTo>
                      <a:pt x="215" y="51"/>
                      <a:pt x="168" y="3"/>
                      <a:pt x="109" y="3"/>
                    </a:cubicBez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grpSp>
      </p:grpSp>
      <p:pic>
        <p:nvPicPr>
          <p:cNvPr id="161" name="图片 160"/>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a:xfrm>
            <a:off x="266702" y="268906"/>
            <a:ext cx="710933" cy="1592849"/>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alphaModFix amt="3000"/>
            <a:duotone>
              <a:schemeClr val="accent1">
                <a:shade val="45000"/>
                <a:satMod val="135000"/>
              </a:schemeClr>
              <a:prstClr val="white"/>
            </a:duotone>
          </a:blip>
          <a:stretch>
            <a:fillRect/>
          </a:stretch>
        </p:blipFill>
        <p:spPr>
          <a:xfrm>
            <a:off x="5673244" y="-1"/>
            <a:ext cx="7356956" cy="6858001"/>
          </a:xfrm>
          <a:prstGeom prst="rect">
            <a:avLst/>
          </a:prstGeom>
        </p:spPr>
      </p:pic>
      <p:sp>
        <p:nvSpPr>
          <p:cNvPr id="4" name="矩形 3"/>
          <p:cNvSpPr/>
          <p:nvPr userDrawn="1"/>
        </p:nvSpPr>
        <p:spPr>
          <a:xfrm>
            <a:off x="-12646" y="0"/>
            <a:ext cx="177972" cy="685800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图片占位符 8"/>
          <p:cNvSpPr>
            <a:spLocks noGrp="1"/>
          </p:cNvSpPr>
          <p:nvPr>
            <p:ph type="pic" sz="quarter" idx="15"/>
          </p:nvPr>
        </p:nvSpPr>
        <p:spPr>
          <a:xfrm flipH="1">
            <a:off x="170624" y="0"/>
            <a:ext cx="2928003" cy="6858000"/>
          </a:xfrm>
          <a:custGeom>
            <a:avLst/>
            <a:gdLst>
              <a:gd name="connsiteX0" fmla="*/ 533952 w 4167120"/>
              <a:gd name="connsiteY0" fmla="*/ 0 h 6858000"/>
              <a:gd name="connsiteX1" fmla="*/ 4167120 w 4167120"/>
              <a:gd name="connsiteY1" fmla="*/ 0 h 6858000"/>
              <a:gd name="connsiteX2" fmla="*/ 4167120 w 4167120"/>
              <a:gd name="connsiteY2" fmla="*/ 6858000 h 6858000"/>
              <a:gd name="connsiteX3" fmla="*/ 427599 w 4167120"/>
              <a:gd name="connsiteY3" fmla="*/ 6858000 h 6858000"/>
              <a:gd name="connsiteX4" fmla="*/ 322189 w 4167120"/>
              <a:gd name="connsiteY4" fmla="*/ 6466939 h 6858000"/>
              <a:gd name="connsiteX5" fmla="*/ 0 w 4167120"/>
              <a:gd name="connsiteY5" fmla="*/ 3599121 h 6858000"/>
              <a:gd name="connsiteX6" fmla="*/ 455902 w 4167120"/>
              <a:gd name="connsiteY6" fmla="*/ 23524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120" h="6858000">
                <a:moveTo>
                  <a:pt x="533952" y="0"/>
                </a:moveTo>
                <a:lnTo>
                  <a:pt x="4167120" y="0"/>
                </a:lnTo>
                <a:lnTo>
                  <a:pt x="4167120" y="6858000"/>
                </a:lnTo>
                <a:lnTo>
                  <a:pt x="427599" y="6858000"/>
                </a:lnTo>
                <a:lnTo>
                  <a:pt x="322189" y="6466939"/>
                </a:lnTo>
                <a:cubicBezTo>
                  <a:pt x="116715" y="5614442"/>
                  <a:pt x="0" y="4637502"/>
                  <a:pt x="0" y="3599121"/>
                </a:cubicBezTo>
                <a:cubicBezTo>
                  <a:pt x="0" y="2353065"/>
                  <a:pt x="168069" y="1195481"/>
                  <a:pt x="455902" y="235243"/>
                </a:cubicBezTo>
                <a:close/>
              </a:path>
            </a:pathLst>
          </a:custGeom>
        </p:spPr>
        <p:txBody>
          <a:bodyPr wrap="square">
            <a:noAutofit/>
          </a:bodyPr>
          <a:lstStyle/>
          <a:p>
            <a:endParaRPr kumimoji="1" lang="zh-CN" altLang="en-US" dirty="0"/>
          </a:p>
        </p:txBody>
      </p:sp>
      <p:sp>
        <p:nvSpPr>
          <p:cNvPr id="6" name="任意形状 9"/>
          <p:cNvSpPr/>
          <p:nvPr userDrawn="1"/>
        </p:nvSpPr>
        <p:spPr>
          <a:xfrm flipH="1">
            <a:off x="33862" y="-98854"/>
            <a:ext cx="3064764" cy="7039443"/>
          </a:xfrm>
          <a:custGeom>
            <a:avLst/>
            <a:gdLst>
              <a:gd name="connsiteX0" fmla="*/ 533952 w 4167120"/>
              <a:gd name="connsiteY0" fmla="*/ 0 h 6858000"/>
              <a:gd name="connsiteX1" fmla="*/ 4167120 w 4167120"/>
              <a:gd name="connsiteY1" fmla="*/ 0 h 6858000"/>
              <a:gd name="connsiteX2" fmla="*/ 4167120 w 4167120"/>
              <a:gd name="connsiteY2" fmla="*/ 6858000 h 6858000"/>
              <a:gd name="connsiteX3" fmla="*/ 427599 w 4167120"/>
              <a:gd name="connsiteY3" fmla="*/ 6858000 h 6858000"/>
              <a:gd name="connsiteX4" fmla="*/ 322189 w 4167120"/>
              <a:gd name="connsiteY4" fmla="*/ 6466939 h 6858000"/>
              <a:gd name="connsiteX5" fmla="*/ 0 w 4167120"/>
              <a:gd name="connsiteY5" fmla="*/ 3599121 h 6858000"/>
              <a:gd name="connsiteX6" fmla="*/ 455902 w 4167120"/>
              <a:gd name="connsiteY6" fmla="*/ 23524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120" h="6858000">
                <a:moveTo>
                  <a:pt x="533952" y="0"/>
                </a:moveTo>
                <a:lnTo>
                  <a:pt x="4167120" y="0"/>
                </a:lnTo>
                <a:lnTo>
                  <a:pt x="4167120" y="6858000"/>
                </a:lnTo>
                <a:lnTo>
                  <a:pt x="427599" y="6858000"/>
                </a:lnTo>
                <a:lnTo>
                  <a:pt x="322189" y="6466939"/>
                </a:lnTo>
                <a:cubicBezTo>
                  <a:pt x="116715" y="5614442"/>
                  <a:pt x="0" y="4637502"/>
                  <a:pt x="0" y="3599121"/>
                </a:cubicBezTo>
                <a:cubicBezTo>
                  <a:pt x="0" y="2353065"/>
                  <a:pt x="168069" y="1195481"/>
                  <a:pt x="455902" y="235243"/>
                </a:cubicBezTo>
                <a:close/>
              </a:path>
            </a:pathLst>
          </a:cu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noAutofit/>
          </a:bodyPr>
          <a:lstStyle/>
          <a:p>
            <a:pPr algn="l">
              <a:lnSpc>
                <a:spcPct val="130000"/>
              </a:lnSpc>
            </a:pPr>
            <a:endParaRPr kumimoji="1" lang="zh-CN" altLang="en-US" sz="2000" dirty="0">
              <a:solidFill>
                <a:schemeClr val="tx1">
                  <a:lumMod val="75000"/>
                  <a:lumOff val="25000"/>
                </a:schemeClr>
              </a:solidFill>
            </a:endParaRPr>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DB92293E-CE77-91C3-9760-2C6B5AC48399}"/>
              </a:ext>
            </a:extLst>
          </p:cNvPr>
          <p:cNvPicPr>
            <a:picLocks noChangeAspect="1"/>
          </p:cNvPicPr>
          <p:nvPr userDrawn="1"/>
        </p:nvPicPr>
        <p:blipFill>
          <a:blip r:embed="rId2">
            <a:alphaModFix amt="3000"/>
            <a:duotone>
              <a:schemeClr val="accent1">
                <a:shade val="45000"/>
                <a:satMod val="135000"/>
              </a:schemeClr>
              <a:prstClr val="white"/>
            </a:duotone>
          </a:blip>
          <a:stretch>
            <a:fillRect/>
          </a:stretch>
        </p:blipFill>
        <p:spPr>
          <a:xfrm>
            <a:off x="-2882793" y="1029268"/>
            <a:ext cx="5784639" cy="5818800"/>
          </a:xfrm>
          <a:prstGeom prst="rect">
            <a:avLst/>
          </a:prstGeom>
        </p:spPr>
      </p:pic>
      <p:sp>
        <p:nvSpPr>
          <p:cNvPr id="7" name="标题 1"/>
          <p:cNvSpPr>
            <a:spLocks noGrp="1"/>
          </p:cNvSpPr>
          <p:nvPr>
            <p:ph type="title"/>
          </p:nvPr>
        </p:nvSpPr>
        <p:spPr>
          <a:xfrm>
            <a:off x="1181101" y="342900"/>
            <a:ext cx="6896099" cy="663575"/>
          </a:xfrm>
          <a:prstGeom prst="rect">
            <a:avLst/>
          </a:prstGeom>
        </p:spPr>
        <p:txBody>
          <a:bodyPr lIns="0"/>
          <a:lstStyle>
            <a:lvl1pPr>
              <a:defRPr b="1">
                <a:solidFill>
                  <a:schemeClr val="accent1"/>
                </a:solidFill>
              </a:defRPr>
            </a:lvl1pPr>
          </a:lstStyle>
          <a:p>
            <a:r>
              <a:rPr lang="zh-CN" altLang="en-US" dirty="0"/>
              <a:t>单击此处编辑母版标题样式</a:t>
            </a:r>
          </a:p>
        </p:txBody>
      </p:sp>
      <p:pic>
        <p:nvPicPr>
          <p:cNvPr id="109" name="图片 108" descr="图片包含 天空, 户外, 建筑物, 日落&#10;&#10;描述已自动生成"/>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ackgroundRemoval t="10000" b="99500" l="10000" r="98000">
                        <a14:foregroundMark x1="45583" y1="28625" x2="72750" y2="47875"/>
                        <a14:foregroundMark x1="72750" y1="47875" x2="79000" y2="48875"/>
                        <a14:foregroundMark x1="79000" y1="48875" x2="87083" y2="44750"/>
                        <a14:foregroundMark x1="87083" y1="44750" x2="89333" y2="42875"/>
                        <a14:foregroundMark x1="49697" y1="28104" x2="51500" y2="30625"/>
                        <a14:foregroundMark x1="46583" y1="23750" x2="49595" y2="27961"/>
                        <a14:foregroundMark x1="46917" y1="21000" x2="48333" y2="17125"/>
                        <a14:foregroundMark x1="62917" y1="48125" x2="65250" y2="51750"/>
                        <a14:foregroundMark x1="65250" y1="51750" x2="86750" y2="67750"/>
                        <a14:foregroundMark x1="94417" y1="36500" x2="92917" y2="90875"/>
                        <a14:foregroundMark x1="98000" y1="30875" x2="91667" y2="84250"/>
                        <a14:foregroundMark x1="91667" y1="84250" x2="91333" y2="85500"/>
                        <a14:foregroundMark x1="70000" y1="67000" x2="89333" y2="84250"/>
                        <a14:foregroundMark x1="89333" y1="84250" x2="89333" y2="84250"/>
                        <a14:foregroundMark x1="70500" y1="67000" x2="66333" y2="64125"/>
                        <a14:foregroundMark x1="66333" y1="64125" x2="59333" y2="53500"/>
                        <a14:foregroundMark x1="79333" y1="90625" x2="80167" y2="96250"/>
                        <a14:foregroundMark x1="80167" y1="96250" x2="85167" y2="96625"/>
                        <a14:foregroundMark x1="85167" y1="96625" x2="88083" y2="94625"/>
                        <a14:foregroundMark x1="88083" y1="94625" x2="88167" y2="94625"/>
                        <a14:foregroundMark x1="96750" y1="97500" x2="76750" y2="99500"/>
                        <a14:foregroundMark x1="77799" y1="89875" x2="77667" y2="86250"/>
                        <a14:foregroundMark x1="77984" y1="94938" x2="77927" y2="93375"/>
                        <a14:foregroundMark x1="78000" y1="95375" x2="78056" y2="96909"/>
                        <a14:foregroundMark x1="68667" y1="40875" x2="68417" y2="41125"/>
                        <a14:backgroundMark x1="77667" y1="89875" x2="77667" y2="93375"/>
                        <a14:backgroundMark x1="77833" y1="95625" x2="78167" y2="90625"/>
                        <a14:backgroundMark x1="78500" y1="96125" x2="79000" y2="90375"/>
                        <a14:backgroundMark x1="19833" y1="30625" x2="46417" y2="71000"/>
                        <a14:backgroundMark x1="46417" y1="71000" x2="46417" y2="71000"/>
                        <a14:backgroundMark x1="17000" y1="72500" x2="23583" y2="72625"/>
                        <a14:backgroundMark x1="23583" y1="72625" x2="37833" y2="71875"/>
                        <a14:backgroundMark x1="37833" y1="71875" x2="57167" y2="75375"/>
                        <a14:backgroundMark x1="61667" y1="37000" x2="62000" y2="37375"/>
                        <a14:backgroundMark x1="66667" y1="39375" x2="66917" y2="39750"/>
                        <a14:backgroundMark x1="50917" y1="27125" x2="51000" y2="27625"/>
                      </a14:backgroundRemoval>
                    </a14:imgEffect>
                    <a14:imgEffect>
                      <a14:brightnessContrast bright="72000"/>
                    </a14:imgEffect>
                    <a14:imgEffect>
                      <a14:colorTemperature colorTemp="9660"/>
                    </a14:imgEffect>
                    <a14:imgEffect>
                      <a14:saturation sat="111000"/>
                    </a14:imgEffect>
                  </a14:imgLayer>
                </a14:imgProps>
              </a:ext>
              <a:ext uri="{28A0092B-C50C-407E-A947-70E740481C1C}">
                <a14:useLocalDpi xmlns:a14="http://schemas.microsoft.com/office/drawing/2010/main" val="0"/>
              </a:ext>
            </a:extLst>
          </a:blip>
          <a:srcRect l="38743" t="8413"/>
          <a:stretch>
            <a:fillRect/>
          </a:stretch>
        </p:blipFill>
        <p:spPr>
          <a:xfrm flipH="1">
            <a:off x="-1" y="60500"/>
            <a:ext cx="958611" cy="955500"/>
          </a:xfrm>
          <a:prstGeom prst="rect">
            <a:avLst/>
          </a:prstGeom>
        </p:spPr>
      </p:pic>
      <p:cxnSp>
        <p:nvCxnSpPr>
          <p:cNvPr id="112" name="直线连接符 3"/>
          <p:cNvCxnSpPr/>
          <p:nvPr userDrawn="1"/>
        </p:nvCxnSpPr>
        <p:spPr>
          <a:xfrm>
            <a:off x="0" y="1016000"/>
            <a:ext cx="12192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3" name="灯片编号占位符 5"/>
          <p:cNvSpPr>
            <a:spLocks noGrp="1"/>
          </p:cNvSpPr>
          <p:nvPr>
            <p:ph type="sldNum" sz="quarter" idx="12"/>
          </p:nvPr>
        </p:nvSpPr>
        <p:spPr>
          <a:xfrm>
            <a:off x="457200" y="6253087"/>
            <a:ext cx="2133600" cy="365125"/>
          </a:xfrm>
          <a:prstGeom prst="rect">
            <a:avLst/>
          </a:prstGeom>
        </p:spPr>
        <p:txBody>
          <a:bodyPr/>
          <a:lstStyle>
            <a:lvl1pPr>
              <a:defRPr/>
            </a:lvl1pPr>
          </a:lstStyle>
          <a:p>
            <a:pPr>
              <a:defRPr/>
            </a:pPr>
            <a:fld id="{6B3369F9-03CD-4B48-86A9-9EE39A82955A}" type="slidenum">
              <a:rPr lang="zh-CN" altLang="en-US"/>
              <a:t>‹#›</a:t>
            </a:fld>
            <a:endParaRPr lang="zh-CN" altLang="en-US" dirty="0"/>
          </a:p>
        </p:txBody>
      </p:sp>
      <p:pic>
        <p:nvPicPr>
          <p:cNvPr id="3" name="图片 2"/>
          <p:cNvPicPr>
            <a:picLocks noChangeAspect="1"/>
          </p:cNvPicPr>
          <p:nvPr userDrawn="1"/>
        </p:nvPicPr>
        <p:blipFill>
          <a:blip r:embed="rId2">
            <a:alphaModFix amt="3000"/>
            <a:duotone>
              <a:schemeClr val="accent1">
                <a:shade val="45000"/>
                <a:satMod val="135000"/>
              </a:schemeClr>
              <a:prstClr val="white"/>
            </a:duotone>
          </a:blip>
          <a:stretch>
            <a:fillRect/>
          </a:stretch>
        </p:blipFill>
        <p:spPr>
          <a:xfrm>
            <a:off x="6214702" y="1006475"/>
            <a:ext cx="5784639" cy="5818800"/>
          </a:xfrm>
          <a:prstGeom prst="rect">
            <a:avLst/>
          </a:prstGeom>
        </p:spPr>
      </p:pic>
      <p:pic>
        <p:nvPicPr>
          <p:cNvPr id="5" name="图片 4"/>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7098077" y="381000"/>
            <a:ext cx="1729645" cy="543942"/>
          </a:xfrm>
          <a:prstGeom prst="rect">
            <a:avLst/>
          </a:prstGeom>
        </p:spPr>
      </p:pic>
      <p:pic>
        <p:nvPicPr>
          <p:cNvPr id="12" name="图片 11">
            <a:extLst>
              <a:ext uri="{FF2B5EF4-FFF2-40B4-BE49-F238E27FC236}">
                <a16:creationId xmlns:a16="http://schemas.microsoft.com/office/drawing/2014/main" id="{34760BFC-9949-C20B-E0E4-82823230169B}"/>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294932" y="6172200"/>
            <a:ext cx="468068" cy="474901"/>
          </a:xfrm>
          <a:prstGeom prst="rect">
            <a:avLst/>
          </a:prstGeom>
        </p:spPr>
      </p:pic>
    </p:spTree>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eaLnBrk="1" fontAlgn="base" hangingPunct="1">
        <a:spcBef>
          <a:spcPct val="0"/>
        </a:spcBef>
        <a:spcAft>
          <a:spcPct val="0"/>
        </a:spcAft>
        <a:defRPr sz="4400">
          <a:solidFill>
            <a:schemeClr val="tx1"/>
          </a:solidFill>
          <a:latin typeface="Calibri" panose="020F0502020204030204" pitchFamily="34" charset="0"/>
        </a:defRPr>
      </a:lvl6pPr>
      <a:lvl7pPr marL="914400" algn="ctr" rtl="0" eaLnBrk="1" fontAlgn="base" hangingPunct="1">
        <a:spcBef>
          <a:spcPct val="0"/>
        </a:spcBef>
        <a:spcAft>
          <a:spcPct val="0"/>
        </a:spcAft>
        <a:defRPr sz="4400">
          <a:solidFill>
            <a:schemeClr val="tx1"/>
          </a:solidFill>
          <a:latin typeface="Calibri" panose="020F0502020204030204" pitchFamily="34" charset="0"/>
        </a:defRPr>
      </a:lvl7pPr>
      <a:lvl8pPr marL="1371600" algn="ctr" rtl="0" eaLnBrk="1" fontAlgn="base" hangingPunct="1">
        <a:spcBef>
          <a:spcPct val="0"/>
        </a:spcBef>
        <a:spcAft>
          <a:spcPct val="0"/>
        </a:spcAft>
        <a:defRPr sz="4400">
          <a:solidFill>
            <a:schemeClr val="tx1"/>
          </a:solidFill>
          <a:latin typeface="Calibri" panose="020F0502020204030204" pitchFamily="34" charset="0"/>
        </a:defRPr>
      </a:lvl8pPr>
      <a:lvl9pPr marL="1828800" algn="ctr" rtl="0" eaLnBrk="1" fontAlgn="base" hangingPunct="1">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tags" Target="../tags/tag18.xml"/><Relationship Id="rId26" Type="http://schemas.openxmlformats.org/officeDocument/2006/relationships/tags" Target="../tags/tag26.xml"/><Relationship Id="rId3" Type="http://schemas.openxmlformats.org/officeDocument/2006/relationships/tags" Target="../tags/tag3.xml"/><Relationship Id="rId21" Type="http://schemas.openxmlformats.org/officeDocument/2006/relationships/tags" Target="../tags/tag21.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tags" Target="../tags/tag25.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tags" Target="../tags/tag20.xml"/><Relationship Id="rId29" Type="http://schemas.openxmlformats.org/officeDocument/2006/relationships/slideLayout" Target="../slideLayouts/slideLayout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24" Type="http://schemas.openxmlformats.org/officeDocument/2006/relationships/tags" Target="../tags/tag24.xml"/><Relationship Id="rId5" Type="http://schemas.openxmlformats.org/officeDocument/2006/relationships/tags" Target="../tags/tag5.xml"/><Relationship Id="rId15" Type="http://schemas.openxmlformats.org/officeDocument/2006/relationships/tags" Target="../tags/tag15.xml"/><Relationship Id="rId23" Type="http://schemas.openxmlformats.org/officeDocument/2006/relationships/tags" Target="../tags/tag23.xml"/><Relationship Id="rId28" Type="http://schemas.openxmlformats.org/officeDocument/2006/relationships/tags" Target="../tags/tag28.xml"/><Relationship Id="rId10" Type="http://schemas.openxmlformats.org/officeDocument/2006/relationships/tags" Target="../tags/tag10.xml"/><Relationship Id="rId19" Type="http://schemas.openxmlformats.org/officeDocument/2006/relationships/tags" Target="../tags/tag19.xml"/><Relationship Id="rId31" Type="http://schemas.openxmlformats.org/officeDocument/2006/relationships/image" Target="../media/image7.jpeg"/><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tags" Target="../tags/tag22.xml"/><Relationship Id="rId27" Type="http://schemas.openxmlformats.org/officeDocument/2006/relationships/tags" Target="../tags/tag27.xml"/><Relationship Id="rId3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tags" Target="../tags/tag31.xml"/><Relationship Id="rId7" Type="http://schemas.openxmlformats.org/officeDocument/2006/relationships/slideLayout" Target="../slideLayouts/slideLayout3.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tags" Target="../tags/tag34.xml"/><Relationship Id="rId5" Type="http://schemas.openxmlformats.org/officeDocument/2006/relationships/tags" Target="../tags/tag33.xml"/><Relationship Id="rId4" Type="http://schemas.openxmlformats.org/officeDocument/2006/relationships/tags" Target="../tags/tag3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tags" Target="../tags/tag37.xml"/><Relationship Id="rId7" Type="http://schemas.openxmlformats.org/officeDocument/2006/relationships/slideLayout" Target="../slideLayouts/slideLayout3.xml"/><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tags" Target="../tags/tag40.xml"/><Relationship Id="rId5" Type="http://schemas.openxmlformats.org/officeDocument/2006/relationships/tags" Target="../tags/tag39.xml"/><Relationship Id="rId4" Type="http://schemas.openxmlformats.org/officeDocument/2006/relationships/tags" Target="../tags/tag3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8" Type="http://schemas.openxmlformats.org/officeDocument/2006/relationships/tags" Target="../tags/tag48.xml"/><Relationship Id="rId3" Type="http://schemas.openxmlformats.org/officeDocument/2006/relationships/tags" Target="../tags/tag43.xml"/><Relationship Id="rId7" Type="http://schemas.openxmlformats.org/officeDocument/2006/relationships/tags" Target="../tags/tag47.xml"/><Relationship Id="rId2" Type="http://schemas.openxmlformats.org/officeDocument/2006/relationships/tags" Target="../tags/tag42.xml"/><Relationship Id="rId1" Type="http://schemas.openxmlformats.org/officeDocument/2006/relationships/tags" Target="../tags/tag41.xml"/><Relationship Id="rId6" Type="http://schemas.openxmlformats.org/officeDocument/2006/relationships/tags" Target="../tags/tag46.xml"/><Relationship Id="rId5" Type="http://schemas.openxmlformats.org/officeDocument/2006/relationships/tags" Target="../tags/tag45.xml"/><Relationship Id="rId10" Type="http://schemas.openxmlformats.org/officeDocument/2006/relationships/slideLayout" Target="../slideLayouts/slideLayout3.xml"/><Relationship Id="rId4" Type="http://schemas.openxmlformats.org/officeDocument/2006/relationships/tags" Target="../tags/tag44.xml"/><Relationship Id="rId9" Type="http://schemas.openxmlformats.org/officeDocument/2006/relationships/tags" Target="../tags/tag49.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tags" Target="../tags/tag52.xml"/><Relationship Id="rId7" Type="http://schemas.openxmlformats.org/officeDocument/2006/relationships/slideLayout" Target="../slideLayouts/slideLayout3.xml"/><Relationship Id="rId2" Type="http://schemas.openxmlformats.org/officeDocument/2006/relationships/tags" Target="../tags/tag51.xml"/><Relationship Id="rId1" Type="http://schemas.openxmlformats.org/officeDocument/2006/relationships/tags" Target="../tags/tag50.xml"/><Relationship Id="rId6" Type="http://schemas.openxmlformats.org/officeDocument/2006/relationships/tags" Target="../tags/tag55.xml"/><Relationship Id="rId5" Type="http://schemas.openxmlformats.org/officeDocument/2006/relationships/tags" Target="../tags/tag54.xml"/><Relationship Id="rId4" Type="http://schemas.openxmlformats.org/officeDocument/2006/relationships/tags" Target="../tags/tag5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3" Type="http://schemas.openxmlformats.org/officeDocument/2006/relationships/tags" Target="../tags/tag58.xml"/><Relationship Id="rId7" Type="http://schemas.openxmlformats.org/officeDocument/2006/relationships/slideLayout" Target="../slideLayouts/slideLayout3.xml"/><Relationship Id="rId2" Type="http://schemas.openxmlformats.org/officeDocument/2006/relationships/tags" Target="../tags/tag57.xml"/><Relationship Id="rId1" Type="http://schemas.openxmlformats.org/officeDocument/2006/relationships/tags" Target="../tags/tag56.xml"/><Relationship Id="rId6" Type="http://schemas.openxmlformats.org/officeDocument/2006/relationships/tags" Target="../tags/tag61.xml"/><Relationship Id="rId5" Type="http://schemas.openxmlformats.org/officeDocument/2006/relationships/tags" Target="../tags/tag60.xml"/><Relationship Id="rId4" Type="http://schemas.openxmlformats.org/officeDocument/2006/relationships/tags" Target="../tags/tag5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jpeg"/><Relationship Id="rId1" Type="http://schemas.openxmlformats.org/officeDocument/2006/relationships/slideLayout" Target="../slideLayouts/slideLayout3.xml"/><Relationship Id="rId4" Type="http://schemas.openxmlformats.org/officeDocument/2006/relationships/comments" Target="../comments/commen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ctrTitle"/>
          </p:nvPr>
        </p:nvSpPr>
        <p:spPr>
          <a:xfrm>
            <a:off x="479817" y="3924300"/>
            <a:ext cx="8184365" cy="746125"/>
          </a:xfrm>
        </p:spPr>
        <p:txBody>
          <a:bodyPr/>
          <a:lstStyle/>
          <a:p>
            <a:pPr eaLnBrk="1" hangingPunct="1">
              <a:lnSpc>
                <a:spcPct val="90000"/>
              </a:lnSpc>
            </a:pPr>
            <a:r>
              <a:rPr lang="zh-CN" altLang="en-US" b="1" dirty="0">
                <a:solidFill>
                  <a:srgbClr val="074996"/>
                </a:solidFill>
                <a:latin typeface="+mj-ea"/>
              </a:rPr>
              <a:t>第四章 空间数据处理与分析基础</a:t>
            </a:r>
          </a:p>
        </p:txBody>
      </p:sp>
      <p:sp>
        <p:nvSpPr>
          <p:cNvPr id="8" name="副标题 7"/>
          <p:cNvSpPr>
            <a:spLocks noGrp="1"/>
          </p:cNvSpPr>
          <p:nvPr>
            <p:ph type="subTitle" idx="1"/>
          </p:nvPr>
        </p:nvSpPr>
        <p:spPr>
          <a:xfrm>
            <a:off x="1371600" y="4914901"/>
            <a:ext cx="6400800" cy="1104900"/>
          </a:xfrm>
        </p:spPr>
        <p:txBody>
          <a:bodyPr/>
          <a:lstStyle/>
          <a:p>
            <a:pPr>
              <a:lnSpc>
                <a:spcPct val="150000"/>
              </a:lnSpc>
            </a:pPr>
            <a:r>
              <a:rPr lang="zh-CN" altLang="en-US" sz="1800" dirty="0">
                <a:solidFill>
                  <a:schemeClr val="tx1">
                    <a:lumMod val="75000"/>
                    <a:lumOff val="25000"/>
                  </a:schemeClr>
                </a:solidFill>
                <a:latin typeface="+mj-ea"/>
                <a:ea typeface="+mj-ea"/>
              </a:rPr>
              <a:t>卢宾宾</a:t>
            </a:r>
            <a:endParaRPr lang="en-US" altLang="zh-CN" sz="1800" dirty="0">
              <a:solidFill>
                <a:schemeClr val="tx1">
                  <a:lumMod val="75000"/>
                  <a:lumOff val="25000"/>
                </a:schemeClr>
              </a:solidFill>
              <a:latin typeface="+mj-ea"/>
              <a:ea typeface="+mj-ea"/>
            </a:endParaRPr>
          </a:p>
          <a:p>
            <a:pPr>
              <a:lnSpc>
                <a:spcPct val="150000"/>
              </a:lnSpc>
            </a:pPr>
            <a:r>
              <a:rPr lang="zh-CN" altLang="en-US" sz="1800" dirty="0">
                <a:solidFill>
                  <a:schemeClr val="tx1">
                    <a:lumMod val="75000"/>
                    <a:lumOff val="25000"/>
                  </a:schemeClr>
                </a:solidFill>
                <a:latin typeface="+mj-ea"/>
                <a:ea typeface="+mj-ea"/>
              </a:rPr>
              <a:t>武汉大学遥感信息工程学院</a:t>
            </a:r>
          </a:p>
          <a:p>
            <a:endParaRPr lang="zh-CN" altLang="en-US" dirty="0">
              <a:latin typeface="+mj-ea"/>
              <a:ea typeface="+mj-ea"/>
            </a:endParaRPr>
          </a:p>
        </p:txBody>
      </p:sp>
    </p:spTree>
  </p:cSld>
  <p:clrMapOvr>
    <a:masterClrMapping/>
  </p:clrMapOvr>
  <p:transition spd="slow" advTm="5148"/>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占位符 6"/>
          <p:cNvPicPr>
            <a:picLocks noGrp="1" noChangeAspect="1"/>
          </p:cNvPicPr>
          <p:nvPr>
            <p:ph type="pic" sz="quarter" idx="15"/>
          </p:nvPr>
        </p:nvPicPr>
        <p:blipFill>
          <a:blip r:embed="rId31">
            <a:extLst>
              <a:ext uri="{28A0092B-C50C-407E-A947-70E740481C1C}">
                <a14:useLocalDpi xmlns:a14="http://schemas.microsoft.com/office/drawing/2010/main" val="0"/>
              </a:ext>
            </a:extLst>
          </a:blip>
          <a:srcRect l="20087" r="20087"/>
          <a:stretch>
            <a:fillRect/>
          </a:stretch>
        </p:blipFill>
        <p:spPr/>
      </p:pic>
      <p:sp>
        <p:nvSpPr>
          <p:cNvPr id="47105" name="标题 1"/>
          <p:cNvSpPr>
            <a:spLocks noGrp="1"/>
          </p:cNvSpPr>
          <p:nvPr>
            <p:ph type="title" idx="4294967295"/>
          </p:nvPr>
        </p:nvSpPr>
        <p:spPr>
          <a:xfrm>
            <a:off x="3797406" y="342900"/>
            <a:ext cx="4889394" cy="1143000"/>
          </a:xfrm>
          <a:prstGeom prst="rect">
            <a:avLst/>
          </a:prstGeom>
        </p:spPr>
        <p:txBody>
          <a:bodyPr/>
          <a:lstStyle/>
          <a:p>
            <a:pPr algn="l"/>
            <a:r>
              <a:rPr lang="zh-CN" altLang="en-US" sz="4800" b="1" dirty="0">
                <a:solidFill>
                  <a:schemeClr val="accent1"/>
                </a:solidFill>
                <a:latin typeface="+mj-ea"/>
                <a:cs typeface="Times New Roman" panose="02020603050405020304" charset="0"/>
              </a:rPr>
              <a:t>目录</a:t>
            </a:r>
          </a:p>
        </p:txBody>
      </p:sp>
      <p:grpSp>
        <p:nvGrpSpPr>
          <p:cNvPr id="28" name="组合 27"/>
          <p:cNvGrpSpPr/>
          <p:nvPr>
            <p:custDataLst>
              <p:tags r:id="rId1"/>
            </p:custDataLst>
          </p:nvPr>
        </p:nvGrpSpPr>
        <p:grpSpPr>
          <a:xfrm>
            <a:off x="3797406" y="1219200"/>
            <a:ext cx="6334019" cy="749588"/>
            <a:chOff x="3797406" y="1425837"/>
            <a:chExt cx="6334019" cy="749588"/>
          </a:xfrm>
        </p:grpSpPr>
        <p:sp>
          <p:nvSpPr>
            <p:cNvPr id="12" name="文本框 11"/>
            <p:cNvSpPr txBox="1"/>
            <p:nvPr>
              <p:custDataLst>
                <p:tags r:id="rId26"/>
              </p:custDataLst>
            </p:nvPr>
          </p:nvSpPr>
          <p:spPr>
            <a:xfrm>
              <a:off x="3797406" y="1621427"/>
              <a:ext cx="761747" cy="553998"/>
            </a:xfrm>
            <a:prstGeom prst="rect">
              <a:avLst/>
            </a:prstGeom>
            <a:noFill/>
          </p:spPr>
          <p:txBody>
            <a:bodyPr wrap="none" tIns="0" bIns="0" rtlCol="0" anchor="b" anchorCtr="0">
              <a:spAutoFit/>
            </a:bodyPr>
            <a:lstStyle/>
            <a:p>
              <a:r>
                <a:rPr kumimoji="1" lang="en-US" altLang="zh-CN" sz="3600" b="1" dirty="0">
                  <a:solidFill>
                    <a:schemeClr val="accent1"/>
                  </a:solidFill>
                  <a:latin typeface="Times New Roman" panose="02020603050405020304" pitchFamily="18" charset="0"/>
                  <a:cs typeface="Times New Roman" panose="02020603050405020304" pitchFamily="18" charset="0"/>
                </a:rPr>
                <a:t>4.1</a:t>
              </a:r>
            </a:p>
          </p:txBody>
        </p:sp>
        <p:sp>
          <p:nvSpPr>
            <p:cNvPr id="13" name="文本占位符 27"/>
            <p:cNvSpPr txBox="1"/>
            <p:nvPr>
              <p:custDataLst>
                <p:tags r:id="rId27"/>
              </p:custDataLst>
            </p:nvPr>
          </p:nvSpPr>
          <p:spPr>
            <a:xfrm>
              <a:off x="4838700" y="1425837"/>
              <a:ext cx="5292725" cy="708025"/>
            </a:xfrm>
            <a:prstGeom prst="rect">
              <a:avLst/>
            </a:prstGeom>
          </p:spPr>
          <p:txBody>
            <a:bodyPr lIns="0" rIns="0" bIns="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chemeClr val="accent2"/>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3200" dirty="0">
                  <a:solidFill>
                    <a:schemeClr val="accent1"/>
                  </a:solidFill>
                  <a:latin typeface="Times New Roman" panose="02020603050405020304" pitchFamily="18" charset="0"/>
                  <a:cs typeface="Times New Roman" panose="02020603050405020304" pitchFamily="18" charset="0"/>
                </a:rPr>
                <a:t>章节</a:t>
              </a:r>
              <a:r>
                <a:rPr lang="en-US" altLang="zh-CN" sz="3200" dirty="0">
                  <a:solidFill>
                    <a:schemeClr val="accent1"/>
                  </a:solidFill>
                  <a:latin typeface="Times New Roman" panose="02020603050405020304" pitchFamily="18" charset="0"/>
                  <a:cs typeface="Times New Roman" panose="02020603050405020304" pitchFamily="18" charset="0"/>
                </a:rPr>
                <a:t>R</a:t>
              </a:r>
              <a:r>
                <a:rPr lang="zh-CN" altLang="en-US" sz="3200" dirty="0">
                  <a:solidFill>
                    <a:schemeClr val="accent1"/>
                  </a:solidFill>
                  <a:latin typeface="Times New Roman" panose="02020603050405020304" pitchFamily="18" charset="0"/>
                  <a:cs typeface="Times New Roman" panose="02020603050405020304" pitchFamily="18" charset="0"/>
                </a:rPr>
                <a:t>函数包准备</a:t>
              </a:r>
              <a:endParaRPr kumimoji="1" lang="zh-CN" altLang="en-US" sz="3200" dirty="0">
                <a:solidFill>
                  <a:schemeClr val="accent1"/>
                </a:solidFill>
                <a:latin typeface="Times New Roman" panose="02020603050405020304" pitchFamily="18" charset="0"/>
                <a:cs typeface="Times New Roman" panose="02020603050405020304" pitchFamily="18" charset="0"/>
              </a:endParaRPr>
            </a:p>
          </p:txBody>
        </p:sp>
        <p:cxnSp>
          <p:nvCxnSpPr>
            <p:cNvPr id="14" name="直线连接符 13"/>
            <p:cNvCxnSpPr/>
            <p:nvPr>
              <p:custDataLst>
                <p:tags r:id="rId28"/>
              </p:custDataLst>
            </p:nvPr>
          </p:nvCxnSpPr>
          <p:spPr>
            <a:xfrm>
              <a:off x="3797406" y="2133862"/>
              <a:ext cx="6334019" cy="0"/>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grpSp>
      <p:grpSp>
        <p:nvGrpSpPr>
          <p:cNvPr id="29" name="组合 28"/>
          <p:cNvGrpSpPr/>
          <p:nvPr>
            <p:custDataLst>
              <p:tags r:id="rId2"/>
            </p:custDataLst>
          </p:nvPr>
        </p:nvGrpSpPr>
        <p:grpSpPr>
          <a:xfrm>
            <a:off x="3797406" y="1972820"/>
            <a:ext cx="6334019" cy="749588"/>
            <a:chOff x="3797406" y="2539558"/>
            <a:chExt cx="6334019" cy="749588"/>
          </a:xfrm>
        </p:grpSpPr>
        <p:sp>
          <p:nvSpPr>
            <p:cNvPr id="15" name="文本框 14"/>
            <p:cNvSpPr txBox="1"/>
            <p:nvPr>
              <p:custDataLst>
                <p:tags r:id="rId23"/>
              </p:custDataLst>
            </p:nvPr>
          </p:nvSpPr>
          <p:spPr>
            <a:xfrm>
              <a:off x="3797406" y="2735148"/>
              <a:ext cx="761747" cy="553998"/>
            </a:xfrm>
            <a:prstGeom prst="rect">
              <a:avLst/>
            </a:prstGeom>
            <a:noFill/>
          </p:spPr>
          <p:txBody>
            <a:bodyPr wrap="none" tIns="0" bIns="0" rtlCol="0" anchor="b" anchorCtr="0">
              <a:spAutoFit/>
            </a:bodyPr>
            <a:lstStyle/>
            <a:p>
              <a:r>
                <a:rPr kumimoji="1" lang="en-US" altLang="zh-CN" sz="3600" b="1" dirty="0">
                  <a:solidFill>
                    <a:schemeClr val="accent1"/>
                  </a:solidFill>
                  <a:latin typeface="Times New Roman" panose="02020603050405020304" pitchFamily="18" charset="0"/>
                  <a:cs typeface="Times New Roman" panose="02020603050405020304" pitchFamily="18" charset="0"/>
                </a:rPr>
                <a:t>4.2</a:t>
              </a:r>
            </a:p>
          </p:txBody>
        </p:sp>
        <p:sp>
          <p:nvSpPr>
            <p:cNvPr id="16" name="文本占位符 27"/>
            <p:cNvSpPr txBox="1"/>
            <p:nvPr>
              <p:custDataLst>
                <p:tags r:id="rId24"/>
              </p:custDataLst>
            </p:nvPr>
          </p:nvSpPr>
          <p:spPr>
            <a:xfrm>
              <a:off x="4838700" y="2539558"/>
              <a:ext cx="5292725" cy="708025"/>
            </a:xfrm>
            <a:prstGeom prst="rect">
              <a:avLst/>
            </a:prstGeom>
          </p:spPr>
          <p:txBody>
            <a:bodyPr lIns="0" rIns="0" bIns="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chemeClr val="accent2"/>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3200" dirty="0">
                  <a:solidFill>
                    <a:schemeClr val="accent1"/>
                  </a:solidFill>
                  <a:latin typeface="Times New Roman" panose="02020603050405020304" pitchFamily="18" charset="0"/>
                  <a:cs typeface="Times New Roman" panose="02020603050405020304" pitchFamily="18" charset="0"/>
                </a:rPr>
                <a:t>属性数据编辑</a:t>
              </a:r>
              <a:endParaRPr kumimoji="1" lang="zh-CN" altLang="en-US" sz="3200" dirty="0">
                <a:solidFill>
                  <a:schemeClr val="accent1"/>
                </a:solidFill>
                <a:latin typeface="Times New Roman" panose="02020603050405020304" pitchFamily="18" charset="0"/>
                <a:cs typeface="Times New Roman" panose="02020603050405020304" pitchFamily="18" charset="0"/>
              </a:endParaRPr>
            </a:p>
          </p:txBody>
        </p:sp>
        <p:cxnSp>
          <p:nvCxnSpPr>
            <p:cNvPr id="17" name="直线连接符 16"/>
            <p:cNvCxnSpPr/>
            <p:nvPr>
              <p:custDataLst>
                <p:tags r:id="rId25"/>
              </p:custDataLst>
            </p:nvPr>
          </p:nvCxnSpPr>
          <p:spPr>
            <a:xfrm>
              <a:off x="3797406" y="3247583"/>
              <a:ext cx="6334019" cy="0"/>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grpSp>
      <p:grpSp>
        <p:nvGrpSpPr>
          <p:cNvPr id="30" name="组合 29"/>
          <p:cNvGrpSpPr/>
          <p:nvPr>
            <p:custDataLst>
              <p:tags r:id="rId3"/>
            </p:custDataLst>
          </p:nvPr>
        </p:nvGrpSpPr>
        <p:grpSpPr>
          <a:xfrm>
            <a:off x="3797406" y="2727770"/>
            <a:ext cx="6334019" cy="749588"/>
            <a:chOff x="3797406" y="3632531"/>
            <a:chExt cx="6334019" cy="749588"/>
          </a:xfrm>
        </p:grpSpPr>
        <p:sp>
          <p:nvSpPr>
            <p:cNvPr id="18" name="文本框 17"/>
            <p:cNvSpPr txBox="1"/>
            <p:nvPr>
              <p:custDataLst>
                <p:tags r:id="rId20"/>
              </p:custDataLst>
            </p:nvPr>
          </p:nvSpPr>
          <p:spPr>
            <a:xfrm>
              <a:off x="3797406" y="3828121"/>
              <a:ext cx="761747" cy="553998"/>
            </a:xfrm>
            <a:prstGeom prst="rect">
              <a:avLst/>
            </a:prstGeom>
            <a:noFill/>
          </p:spPr>
          <p:txBody>
            <a:bodyPr wrap="none" tIns="0" bIns="0" rtlCol="0" anchor="b" anchorCtr="0">
              <a:spAutoFit/>
            </a:bodyPr>
            <a:lstStyle/>
            <a:p>
              <a:r>
                <a:rPr kumimoji="1" lang="en-US" altLang="zh-CN" sz="3600" b="1" dirty="0">
                  <a:solidFill>
                    <a:schemeClr val="accent1"/>
                  </a:solidFill>
                  <a:latin typeface="Times New Roman" panose="02020603050405020304" pitchFamily="18" charset="0"/>
                  <a:cs typeface="Times New Roman" panose="02020603050405020304" pitchFamily="18" charset="0"/>
                </a:rPr>
                <a:t>4.3</a:t>
              </a:r>
            </a:p>
          </p:txBody>
        </p:sp>
        <p:sp>
          <p:nvSpPr>
            <p:cNvPr id="19" name="文本占位符 27"/>
            <p:cNvSpPr txBox="1"/>
            <p:nvPr>
              <p:custDataLst>
                <p:tags r:id="rId21"/>
              </p:custDataLst>
            </p:nvPr>
          </p:nvSpPr>
          <p:spPr>
            <a:xfrm>
              <a:off x="4838700" y="3632531"/>
              <a:ext cx="5292725" cy="708025"/>
            </a:xfrm>
            <a:prstGeom prst="rect">
              <a:avLst/>
            </a:prstGeom>
          </p:spPr>
          <p:txBody>
            <a:bodyPr lIns="0" rIns="0" bIns="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chemeClr val="accent2"/>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3200" dirty="0">
                  <a:solidFill>
                    <a:schemeClr val="accent1"/>
                  </a:solidFill>
                  <a:latin typeface="Times New Roman" panose="02020603050405020304" pitchFamily="18" charset="0"/>
                  <a:cs typeface="Times New Roman" panose="02020603050405020304" pitchFamily="18" charset="0"/>
                </a:rPr>
                <a:t>空间信息编辑</a:t>
              </a:r>
              <a:endParaRPr kumimoji="1" lang="zh-CN" altLang="en-US" sz="3200" dirty="0">
                <a:solidFill>
                  <a:schemeClr val="accent1"/>
                </a:solidFill>
                <a:latin typeface="Times New Roman" panose="02020603050405020304" pitchFamily="18" charset="0"/>
                <a:cs typeface="Times New Roman" panose="02020603050405020304" pitchFamily="18" charset="0"/>
              </a:endParaRPr>
            </a:p>
          </p:txBody>
        </p:sp>
        <p:cxnSp>
          <p:nvCxnSpPr>
            <p:cNvPr id="20" name="直线连接符 19"/>
            <p:cNvCxnSpPr/>
            <p:nvPr>
              <p:custDataLst>
                <p:tags r:id="rId22"/>
              </p:custDataLst>
            </p:nvPr>
          </p:nvCxnSpPr>
          <p:spPr>
            <a:xfrm>
              <a:off x="3797406" y="4340556"/>
              <a:ext cx="6334019" cy="0"/>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grpSp>
      <p:grpSp>
        <p:nvGrpSpPr>
          <p:cNvPr id="31" name="组合 30"/>
          <p:cNvGrpSpPr/>
          <p:nvPr>
            <p:custDataLst>
              <p:tags r:id="rId4"/>
            </p:custDataLst>
          </p:nvPr>
        </p:nvGrpSpPr>
        <p:grpSpPr>
          <a:xfrm>
            <a:off x="3797406" y="3426410"/>
            <a:ext cx="6334019" cy="749588"/>
            <a:chOff x="3797406" y="4704550"/>
            <a:chExt cx="6334019" cy="749588"/>
          </a:xfrm>
        </p:grpSpPr>
        <p:sp>
          <p:nvSpPr>
            <p:cNvPr id="21" name="文本框 20"/>
            <p:cNvSpPr txBox="1"/>
            <p:nvPr>
              <p:custDataLst>
                <p:tags r:id="rId17"/>
              </p:custDataLst>
            </p:nvPr>
          </p:nvSpPr>
          <p:spPr>
            <a:xfrm>
              <a:off x="3797406" y="4900140"/>
              <a:ext cx="761747" cy="553998"/>
            </a:xfrm>
            <a:prstGeom prst="rect">
              <a:avLst/>
            </a:prstGeom>
            <a:noFill/>
          </p:spPr>
          <p:txBody>
            <a:bodyPr wrap="none" tIns="0" bIns="0" rtlCol="0" anchor="b" anchorCtr="0">
              <a:spAutoFit/>
            </a:bodyPr>
            <a:lstStyle/>
            <a:p>
              <a:r>
                <a:rPr kumimoji="1" lang="en-US" altLang="zh-CN" sz="3600" b="1" dirty="0">
                  <a:solidFill>
                    <a:schemeClr val="accent1"/>
                  </a:solidFill>
                  <a:latin typeface="Times New Roman" panose="02020603050405020304" pitchFamily="18" charset="0"/>
                  <a:cs typeface="Times New Roman" panose="02020603050405020304" pitchFamily="18" charset="0"/>
                </a:rPr>
                <a:t>4.4</a:t>
              </a:r>
            </a:p>
          </p:txBody>
        </p:sp>
        <p:sp>
          <p:nvSpPr>
            <p:cNvPr id="22" name="文本占位符 27"/>
            <p:cNvSpPr txBox="1"/>
            <p:nvPr>
              <p:custDataLst>
                <p:tags r:id="rId18"/>
              </p:custDataLst>
            </p:nvPr>
          </p:nvSpPr>
          <p:spPr>
            <a:xfrm>
              <a:off x="4838700" y="4704550"/>
              <a:ext cx="5292725" cy="708025"/>
            </a:xfrm>
            <a:prstGeom prst="rect">
              <a:avLst/>
            </a:prstGeom>
          </p:spPr>
          <p:txBody>
            <a:bodyPr lIns="0" rIns="0" bIns="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chemeClr val="accent2"/>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3200" dirty="0">
                  <a:solidFill>
                    <a:schemeClr val="accent1"/>
                  </a:solidFill>
                  <a:latin typeface="Times New Roman" panose="02020603050405020304" pitchFamily="18" charset="0"/>
                  <a:cs typeface="Times New Roman" panose="02020603050405020304" pitchFamily="18" charset="0"/>
                </a:rPr>
                <a:t>遥感影像数据分析</a:t>
              </a:r>
              <a:endParaRPr kumimoji="1" lang="zh-CN" altLang="en-US" sz="3200" dirty="0">
                <a:solidFill>
                  <a:schemeClr val="accent1"/>
                </a:solidFill>
                <a:latin typeface="Times New Roman" panose="02020603050405020304" pitchFamily="18" charset="0"/>
                <a:cs typeface="Times New Roman" panose="02020603050405020304" pitchFamily="18" charset="0"/>
              </a:endParaRPr>
            </a:p>
          </p:txBody>
        </p:sp>
        <p:cxnSp>
          <p:nvCxnSpPr>
            <p:cNvPr id="23" name="直线连接符 22"/>
            <p:cNvCxnSpPr/>
            <p:nvPr>
              <p:custDataLst>
                <p:tags r:id="rId19"/>
              </p:custDataLst>
            </p:nvPr>
          </p:nvCxnSpPr>
          <p:spPr>
            <a:xfrm>
              <a:off x="3797406" y="5412575"/>
              <a:ext cx="6334019" cy="0"/>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grpSp>
      <p:grpSp>
        <p:nvGrpSpPr>
          <p:cNvPr id="32" name="组合 31"/>
          <p:cNvGrpSpPr/>
          <p:nvPr>
            <p:custDataLst>
              <p:tags r:id="rId5"/>
            </p:custDataLst>
          </p:nvPr>
        </p:nvGrpSpPr>
        <p:grpSpPr>
          <a:xfrm>
            <a:off x="3797406" y="4135171"/>
            <a:ext cx="6334019" cy="749588"/>
            <a:chOff x="3797406" y="5781255"/>
            <a:chExt cx="6334019" cy="749588"/>
          </a:xfrm>
        </p:grpSpPr>
        <p:sp>
          <p:nvSpPr>
            <p:cNvPr id="25" name="文本框 24"/>
            <p:cNvSpPr txBox="1"/>
            <p:nvPr>
              <p:custDataLst>
                <p:tags r:id="rId14"/>
              </p:custDataLst>
            </p:nvPr>
          </p:nvSpPr>
          <p:spPr>
            <a:xfrm>
              <a:off x="3797406" y="5976845"/>
              <a:ext cx="761747" cy="553998"/>
            </a:xfrm>
            <a:prstGeom prst="rect">
              <a:avLst/>
            </a:prstGeom>
            <a:noFill/>
          </p:spPr>
          <p:txBody>
            <a:bodyPr wrap="none" tIns="0" bIns="0" rtlCol="0" anchor="b" anchorCtr="0">
              <a:spAutoFit/>
            </a:bodyPr>
            <a:lstStyle/>
            <a:p>
              <a:r>
                <a:rPr kumimoji="1" lang="en-US" altLang="zh-CN" sz="3600" b="1" dirty="0">
                  <a:solidFill>
                    <a:schemeClr val="accent1"/>
                  </a:solidFill>
                  <a:latin typeface="Times New Roman" panose="02020603050405020304" pitchFamily="18" charset="0"/>
                  <a:cs typeface="Times New Roman" panose="02020603050405020304" pitchFamily="18" charset="0"/>
                </a:rPr>
                <a:t>4.5</a:t>
              </a:r>
            </a:p>
          </p:txBody>
        </p:sp>
        <p:sp>
          <p:nvSpPr>
            <p:cNvPr id="26" name="文本占位符 27"/>
            <p:cNvSpPr txBox="1"/>
            <p:nvPr>
              <p:custDataLst>
                <p:tags r:id="rId15"/>
              </p:custDataLst>
            </p:nvPr>
          </p:nvSpPr>
          <p:spPr>
            <a:xfrm>
              <a:off x="4838700" y="5781255"/>
              <a:ext cx="5292725" cy="708025"/>
            </a:xfrm>
            <a:prstGeom prst="rect">
              <a:avLst/>
            </a:prstGeom>
          </p:spPr>
          <p:txBody>
            <a:bodyPr lIns="0" rIns="0" bIns="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chemeClr val="accent2"/>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3200" dirty="0">
                  <a:solidFill>
                    <a:schemeClr val="accent1"/>
                  </a:solidFill>
                  <a:latin typeface="Times New Roman" panose="02020603050405020304" pitchFamily="18" charset="0"/>
                  <a:cs typeface="Times New Roman" panose="02020603050405020304" pitchFamily="18" charset="0"/>
                </a:rPr>
                <a:t>空间数据基础分析</a:t>
              </a:r>
              <a:endParaRPr kumimoji="1" lang="zh-CN" altLang="en-US" sz="3200" dirty="0">
                <a:solidFill>
                  <a:schemeClr val="accent1"/>
                </a:solidFill>
                <a:latin typeface="Times New Roman" panose="02020603050405020304" pitchFamily="18" charset="0"/>
                <a:cs typeface="Times New Roman" panose="02020603050405020304" pitchFamily="18" charset="0"/>
              </a:endParaRPr>
            </a:p>
          </p:txBody>
        </p:sp>
        <p:cxnSp>
          <p:nvCxnSpPr>
            <p:cNvPr id="27" name="直线连接符 22"/>
            <p:cNvCxnSpPr/>
            <p:nvPr>
              <p:custDataLst>
                <p:tags r:id="rId16"/>
              </p:custDataLst>
            </p:nvPr>
          </p:nvCxnSpPr>
          <p:spPr>
            <a:xfrm>
              <a:off x="3797406" y="6489280"/>
              <a:ext cx="6334019" cy="0"/>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grpSp>
      <p:grpSp>
        <p:nvGrpSpPr>
          <p:cNvPr id="2" name="组合 1">
            <a:extLst>
              <a:ext uri="{FF2B5EF4-FFF2-40B4-BE49-F238E27FC236}">
                <a16:creationId xmlns:a16="http://schemas.microsoft.com/office/drawing/2014/main" id="{C07C0144-FCA1-F18D-3F8E-09306564DAE4}"/>
              </a:ext>
            </a:extLst>
          </p:cNvPr>
          <p:cNvGrpSpPr/>
          <p:nvPr>
            <p:custDataLst>
              <p:tags r:id="rId6"/>
            </p:custDataLst>
          </p:nvPr>
        </p:nvGrpSpPr>
        <p:grpSpPr>
          <a:xfrm>
            <a:off x="3797405" y="4871620"/>
            <a:ext cx="6334019" cy="749588"/>
            <a:chOff x="3797406" y="5781255"/>
            <a:chExt cx="6334019" cy="749588"/>
          </a:xfrm>
        </p:grpSpPr>
        <p:sp>
          <p:nvSpPr>
            <p:cNvPr id="3" name="文本框 2">
              <a:extLst>
                <a:ext uri="{FF2B5EF4-FFF2-40B4-BE49-F238E27FC236}">
                  <a16:creationId xmlns:a16="http://schemas.microsoft.com/office/drawing/2014/main" id="{8B22E631-7BFC-4117-6AC7-45E545562982}"/>
                </a:ext>
              </a:extLst>
            </p:cNvPr>
            <p:cNvSpPr txBox="1"/>
            <p:nvPr>
              <p:custDataLst>
                <p:tags r:id="rId11"/>
              </p:custDataLst>
            </p:nvPr>
          </p:nvSpPr>
          <p:spPr>
            <a:xfrm>
              <a:off x="3797406" y="5976845"/>
              <a:ext cx="761747" cy="553998"/>
            </a:xfrm>
            <a:prstGeom prst="rect">
              <a:avLst/>
            </a:prstGeom>
            <a:noFill/>
          </p:spPr>
          <p:txBody>
            <a:bodyPr wrap="none" tIns="0" bIns="0" rtlCol="0" anchor="b" anchorCtr="0">
              <a:spAutoFit/>
            </a:bodyPr>
            <a:lstStyle/>
            <a:p>
              <a:r>
                <a:rPr kumimoji="1" lang="en-US" altLang="zh-CN" sz="3600" b="1" dirty="0">
                  <a:solidFill>
                    <a:schemeClr val="accent1"/>
                  </a:solidFill>
                  <a:latin typeface="Times New Roman" panose="02020603050405020304" pitchFamily="18" charset="0"/>
                  <a:cs typeface="Times New Roman" panose="02020603050405020304" pitchFamily="18" charset="0"/>
                </a:rPr>
                <a:t>4.6</a:t>
              </a:r>
            </a:p>
          </p:txBody>
        </p:sp>
        <p:sp>
          <p:nvSpPr>
            <p:cNvPr id="4" name="文本占位符 27">
              <a:extLst>
                <a:ext uri="{FF2B5EF4-FFF2-40B4-BE49-F238E27FC236}">
                  <a16:creationId xmlns:a16="http://schemas.microsoft.com/office/drawing/2014/main" id="{2F7589B3-F456-3F51-A60D-0425075D7FC6}"/>
                </a:ext>
              </a:extLst>
            </p:cNvPr>
            <p:cNvSpPr txBox="1"/>
            <p:nvPr>
              <p:custDataLst>
                <p:tags r:id="rId12"/>
              </p:custDataLst>
            </p:nvPr>
          </p:nvSpPr>
          <p:spPr>
            <a:xfrm>
              <a:off x="4838700" y="5781255"/>
              <a:ext cx="5292725" cy="708025"/>
            </a:xfrm>
            <a:prstGeom prst="rect">
              <a:avLst/>
            </a:prstGeom>
          </p:spPr>
          <p:txBody>
            <a:bodyPr lIns="0" rIns="0" bIns="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chemeClr val="accent2"/>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3200" dirty="0">
                  <a:solidFill>
                    <a:schemeClr val="accent1"/>
                  </a:solidFill>
                  <a:latin typeface="Times New Roman" panose="02020603050405020304" pitchFamily="18" charset="0"/>
                  <a:cs typeface="Times New Roman" panose="02020603050405020304" pitchFamily="18" charset="0"/>
                </a:rPr>
                <a:t>基础空间关系分析</a:t>
              </a:r>
              <a:endParaRPr kumimoji="1" lang="zh-CN" altLang="en-US" sz="3200" dirty="0">
                <a:solidFill>
                  <a:schemeClr val="accent1"/>
                </a:solidFill>
                <a:latin typeface="Times New Roman" panose="02020603050405020304" pitchFamily="18" charset="0"/>
                <a:cs typeface="Times New Roman" panose="02020603050405020304" pitchFamily="18" charset="0"/>
              </a:endParaRPr>
            </a:p>
          </p:txBody>
        </p:sp>
        <p:cxnSp>
          <p:nvCxnSpPr>
            <p:cNvPr id="5" name="直线连接符 22">
              <a:extLst>
                <a:ext uri="{FF2B5EF4-FFF2-40B4-BE49-F238E27FC236}">
                  <a16:creationId xmlns:a16="http://schemas.microsoft.com/office/drawing/2014/main" id="{82E50CEA-F7A9-4412-069E-D657E6A16C5A}"/>
                </a:ext>
              </a:extLst>
            </p:cNvPr>
            <p:cNvCxnSpPr/>
            <p:nvPr>
              <p:custDataLst>
                <p:tags r:id="rId13"/>
              </p:custDataLst>
            </p:nvPr>
          </p:nvCxnSpPr>
          <p:spPr>
            <a:xfrm>
              <a:off x="3797406" y="6489280"/>
              <a:ext cx="6334019" cy="0"/>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grpSp>
      <p:grpSp>
        <p:nvGrpSpPr>
          <p:cNvPr id="6" name="组合 5">
            <a:extLst>
              <a:ext uri="{FF2B5EF4-FFF2-40B4-BE49-F238E27FC236}">
                <a16:creationId xmlns:a16="http://schemas.microsoft.com/office/drawing/2014/main" id="{09D97135-25B0-53D5-E8FB-A40292DD4A8A}"/>
              </a:ext>
            </a:extLst>
          </p:cNvPr>
          <p:cNvGrpSpPr/>
          <p:nvPr>
            <p:custDataLst>
              <p:tags r:id="rId7"/>
            </p:custDataLst>
          </p:nvPr>
        </p:nvGrpSpPr>
        <p:grpSpPr>
          <a:xfrm>
            <a:off x="3797405" y="5594061"/>
            <a:ext cx="6334019" cy="749588"/>
            <a:chOff x="3797406" y="5781255"/>
            <a:chExt cx="6334019" cy="749588"/>
          </a:xfrm>
        </p:grpSpPr>
        <p:sp>
          <p:nvSpPr>
            <p:cNvPr id="8" name="文本框 7">
              <a:extLst>
                <a:ext uri="{FF2B5EF4-FFF2-40B4-BE49-F238E27FC236}">
                  <a16:creationId xmlns:a16="http://schemas.microsoft.com/office/drawing/2014/main" id="{DC0106F2-C6E6-8DF9-A249-7940A1470EC5}"/>
                </a:ext>
              </a:extLst>
            </p:cNvPr>
            <p:cNvSpPr txBox="1"/>
            <p:nvPr>
              <p:custDataLst>
                <p:tags r:id="rId8"/>
              </p:custDataLst>
            </p:nvPr>
          </p:nvSpPr>
          <p:spPr>
            <a:xfrm>
              <a:off x="3797406" y="5976845"/>
              <a:ext cx="761747" cy="553998"/>
            </a:xfrm>
            <a:prstGeom prst="rect">
              <a:avLst/>
            </a:prstGeom>
            <a:noFill/>
          </p:spPr>
          <p:txBody>
            <a:bodyPr wrap="none" tIns="0" bIns="0" rtlCol="0" anchor="b" anchorCtr="0">
              <a:spAutoFit/>
            </a:bodyPr>
            <a:lstStyle/>
            <a:p>
              <a:r>
                <a:rPr kumimoji="1" lang="en-US" altLang="zh-CN" sz="3600" b="1" dirty="0">
                  <a:solidFill>
                    <a:schemeClr val="accent1"/>
                  </a:solidFill>
                  <a:latin typeface="Times New Roman" panose="02020603050405020304" pitchFamily="18" charset="0"/>
                  <a:cs typeface="Times New Roman" panose="02020603050405020304" pitchFamily="18" charset="0"/>
                </a:rPr>
                <a:t>4.7</a:t>
              </a:r>
            </a:p>
          </p:txBody>
        </p:sp>
        <p:sp>
          <p:nvSpPr>
            <p:cNvPr id="9" name="文本占位符 27">
              <a:extLst>
                <a:ext uri="{FF2B5EF4-FFF2-40B4-BE49-F238E27FC236}">
                  <a16:creationId xmlns:a16="http://schemas.microsoft.com/office/drawing/2014/main" id="{6016409B-40DE-3065-25AF-2177E583B223}"/>
                </a:ext>
              </a:extLst>
            </p:cNvPr>
            <p:cNvSpPr txBox="1"/>
            <p:nvPr>
              <p:custDataLst>
                <p:tags r:id="rId9"/>
              </p:custDataLst>
            </p:nvPr>
          </p:nvSpPr>
          <p:spPr>
            <a:xfrm>
              <a:off x="4838700" y="5781255"/>
              <a:ext cx="5292725" cy="708025"/>
            </a:xfrm>
            <a:prstGeom prst="rect">
              <a:avLst/>
            </a:prstGeom>
          </p:spPr>
          <p:txBody>
            <a:bodyPr lIns="0" rIns="0" bIns="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chemeClr val="accent2"/>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3200" dirty="0">
                  <a:solidFill>
                    <a:schemeClr val="accent1"/>
                  </a:solidFill>
                  <a:latin typeface="Times New Roman" panose="02020603050405020304" pitchFamily="18" charset="0"/>
                  <a:cs typeface="Times New Roman" panose="02020603050405020304" pitchFamily="18" charset="0"/>
                </a:rPr>
                <a:t>属性与空间关联</a:t>
              </a:r>
              <a:endParaRPr kumimoji="1" lang="zh-CN" altLang="en-US" sz="3200" dirty="0">
                <a:solidFill>
                  <a:schemeClr val="accent1"/>
                </a:solidFill>
                <a:latin typeface="Times New Roman" panose="02020603050405020304" pitchFamily="18" charset="0"/>
                <a:cs typeface="Times New Roman" panose="02020603050405020304" pitchFamily="18" charset="0"/>
              </a:endParaRPr>
            </a:p>
          </p:txBody>
        </p:sp>
        <p:cxnSp>
          <p:nvCxnSpPr>
            <p:cNvPr id="10" name="直线连接符 22">
              <a:extLst>
                <a:ext uri="{FF2B5EF4-FFF2-40B4-BE49-F238E27FC236}">
                  <a16:creationId xmlns:a16="http://schemas.microsoft.com/office/drawing/2014/main" id="{2EE5CF6E-B158-2BAA-F771-154452557502}"/>
                </a:ext>
              </a:extLst>
            </p:cNvPr>
            <p:cNvCxnSpPr/>
            <p:nvPr>
              <p:custDataLst>
                <p:tags r:id="rId10"/>
              </p:custDataLst>
            </p:nvPr>
          </p:nvCxnSpPr>
          <p:spPr>
            <a:xfrm>
              <a:off x="3797406" y="6489280"/>
              <a:ext cx="6334019" cy="0"/>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4.1 </a:t>
            </a:r>
            <a:r>
              <a:rPr lang="zh-CN" altLang="en-US" sz="3600" dirty="0">
                <a:latin typeface="Times New Roman" panose="02020603050405020304" pitchFamily="18" charset="0"/>
                <a:cs typeface="Times New Roman" panose="02020603050405020304" pitchFamily="18" charset="0"/>
              </a:rPr>
              <a:t>章节</a:t>
            </a:r>
            <a:r>
              <a:rPr lang="en-US" altLang="zh-CN" sz="3600" dirty="0">
                <a:latin typeface="Times New Roman" panose="02020603050405020304" pitchFamily="18" charset="0"/>
                <a:cs typeface="Times New Roman" panose="02020603050405020304" pitchFamily="18" charset="0"/>
              </a:rPr>
              <a:t>R</a:t>
            </a:r>
            <a:r>
              <a:rPr lang="zh-CN" altLang="en-US" sz="3600" dirty="0">
                <a:latin typeface="Times New Roman" panose="02020603050405020304" pitchFamily="18" charset="0"/>
                <a:cs typeface="Times New Roman" panose="02020603050405020304" pitchFamily="18" charset="0"/>
              </a:rPr>
              <a:t>函数包准备</a:t>
            </a:r>
          </a:p>
        </p:txBody>
      </p:sp>
      <p:sp>
        <p:nvSpPr>
          <p:cNvPr id="8" name="灯片编号占位符 7"/>
          <p:cNvSpPr>
            <a:spLocks noGrp="1"/>
          </p:cNvSpPr>
          <p:nvPr>
            <p:ph type="sldNum" sz="quarter" idx="12"/>
          </p:nvPr>
        </p:nvSpPr>
        <p:spPr>
          <a:prstGeom prst="rect">
            <a:avLst/>
          </a:prstGeom>
        </p:spPr>
        <p:txBody>
          <a:bodyPr/>
          <a:lstStyle/>
          <a:p>
            <a:pPr>
              <a:defRPr/>
            </a:pPr>
            <a:fld id="{6B3369F9-03CD-4B48-86A9-9EE39A82955A}" type="slidenum">
              <a:rPr lang="zh-CN" altLang="en-US" smtClean="0">
                <a:solidFill>
                  <a:schemeClr val="bg2">
                    <a:lumMod val="75000"/>
                  </a:schemeClr>
                </a:solidFill>
              </a:rPr>
              <a:t>3</a:t>
            </a:fld>
            <a:endParaRPr lang="zh-CN" altLang="en-US" dirty="0">
              <a:solidFill>
                <a:schemeClr val="bg2">
                  <a:lumMod val="75000"/>
                </a:schemeClr>
              </a:solidFill>
            </a:endParaRPr>
          </a:p>
        </p:txBody>
      </p:sp>
      <p:sp>
        <p:nvSpPr>
          <p:cNvPr id="9" name="矩形 8"/>
          <p:cNvSpPr/>
          <p:nvPr/>
        </p:nvSpPr>
        <p:spPr>
          <a:xfrm>
            <a:off x="5372100" y="2416600"/>
            <a:ext cx="2829240" cy="2125325"/>
          </a:xfrm>
          <a:prstGeom prst="rect">
            <a:avLst/>
          </a:prstGeom>
        </p:spPr>
        <p:txBody>
          <a:bodyPr wrap="square">
            <a:spAutoFit/>
          </a:bodyPr>
          <a:lstStyle/>
          <a:p>
            <a:pPr>
              <a:lnSpc>
                <a:spcPct val="150000"/>
              </a:lnSpc>
            </a:pPr>
            <a:r>
              <a:rPr lang="en-US" altLang="zh-CN"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 </a:t>
            </a:r>
            <a:r>
              <a:rPr lang="zh-CN" altLang="en-US"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加载函数包</a:t>
            </a:r>
          </a:p>
          <a:p>
            <a:pPr>
              <a:lnSpc>
                <a:spcPct val="150000"/>
              </a:lnSpc>
            </a:pPr>
            <a:r>
              <a:rPr lang="en-US" altLang="zh-CN"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library(</a:t>
            </a:r>
            <a:r>
              <a:rPr lang="en-US" altLang="zh-CN" dirty="0" err="1">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sp</a:t>
            </a:r>
            <a:r>
              <a:rPr lang="en-US" altLang="zh-CN"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a:t>
            </a:r>
          </a:p>
          <a:p>
            <a:pPr>
              <a:lnSpc>
                <a:spcPct val="150000"/>
              </a:lnSpc>
            </a:pPr>
            <a:r>
              <a:rPr lang="en-US" altLang="zh-CN"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library(sf)</a:t>
            </a:r>
          </a:p>
          <a:p>
            <a:pPr>
              <a:lnSpc>
                <a:spcPct val="150000"/>
              </a:lnSpc>
            </a:pPr>
            <a:r>
              <a:rPr lang="en-US" altLang="zh-CN"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library(terra)</a:t>
            </a:r>
          </a:p>
          <a:p>
            <a:pPr>
              <a:lnSpc>
                <a:spcPct val="150000"/>
              </a:lnSpc>
            </a:pPr>
            <a:r>
              <a:rPr lang="en-US" altLang="zh-CN"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library(</a:t>
            </a:r>
            <a:r>
              <a:rPr lang="en-US" altLang="zh-CN" dirty="0" err="1">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rgeos</a:t>
            </a:r>
            <a:r>
              <a:rPr lang="en-US" altLang="zh-CN"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a:t>
            </a:r>
            <a:r>
              <a:rPr lang="en-US" altLang="zh-CN" baseline="30000" dirty="0">
                <a:effectLst>
                  <a:outerShdw blurRad="38100" dist="38100" dir="2700000" algn="tl">
                    <a:srgbClr val="000000">
                      <a:alpha val="43137"/>
                    </a:srgbClr>
                  </a:outerShdw>
                </a:effectLst>
                <a:latin typeface="+mn-lt"/>
                <a:ea typeface="+mj-ea"/>
                <a:sym typeface="Consolas" panose="020B0609020204030204" pitchFamily="49" charset="0"/>
              </a:rPr>
              <a:t>1</a:t>
            </a:r>
          </a:p>
        </p:txBody>
      </p:sp>
      <p:sp>
        <p:nvSpPr>
          <p:cNvPr id="10" name="矩形 9"/>
          <p:cNvSpPr/>
          <p:nvPr/>
        </p:nvSpPr>
        <p:spPr>
          <a:xfrm>
            <a:off x="984485" y="2624348"/>
            <a:ext cx="3892315" cy="1709827"/>
          </a:xfrm>
          <a:prstGeom prst="rect">
            <a:avLst/>
          </a:prstGeom>
        </p:spPr>
        <p:txBody>
          <a:bodyPr wrap="square">
            <a:spAutoFit/>
          </a:bodyPr>
          <a:lstStyle/>
          <a:p>
            <a:pPr>
              <a:lnSpc>
                <a:spcPct val="150000"/>
              </a:lnSpc>
            </a:pPr>
            <a:r>
              <a:rPr lang="en-US" altLang="zh-CN"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 </a:t>
            </a:r>
            <a:r>
              <a:rPr lang="zh-CN" altLang="en-US"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安装函数包</a:t>
            </a:r>
            <a:endParaRPr lang="en-US" altLang="zh-CN"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endParaRPr>
          </a:p>
          <a:p>
            <a:pPr>
              <a:lnSpc>
                <a:spcPct val="150000"/>
              </a:lnSpc>
            </a:pPr>
            <a:r>
              <a:rPr lang="en-US" altLang="zh-CN" dirty="0" err="1">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install.packages</a:t>
            </a:r>
            <a:r>
              <a:rPr lang="en-US" altLang="zh-CN"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a:t>
            </a:r>
            <a:r>
              <a:rPr lang="en-US" altLang="zh-CN" dirty="0" err="1">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sp</a:t>
            </a:r>
            <a:r>
              <a:rPr lang="en-US" altLang="zh-CN"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a:t>
            </a:r>
          </a:p>
          <a:p>
            <a:pPr>
              <a:lnSpc>
                <a:spcPct val="150000"/>
              </a:lnSpc>
            </a:pPr>
            <a:r>
              <a:rPr lang="en-US" altLang="zh-CN" dirty="0" err="1">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install.packages</a:t>
            </a:r>
            <a:r>
              <a:rPr lang="en-US" altLang="zh-CN"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("sf")</a:t>
            </a:r>
          </a:p>
          <a:p>
            <a:pPr>
              <a:lnSpc>
                <a:spcPct val="150000"/>
              </a:lnSpc>
            </a:pPr>
            <a:r>
              <a:rPr lang="en-US" altLang="zh-CN" dirty="0" err="1">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install.packages</a:t>
            </a:r>
            <a:r>
              <a:rPr lang="en-US" altLang="zh-CN"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("terra")</a:t>
            </a:r>
          </a:p>
        </p:txBody>
      </p:sp>
      <p:cxnSp>
        <p:nvCxnSpPr>
          <p:cNvPr id="3" name="直接连接符 2">
            <a:extLst>
              <a:ext uri="{FF2B5EF4-FFF2-40B4-BE49-F238E27FC236}">
                <a16:creationId xmlns:a16="http://schemas.microsoft.com/office/drawing/2014/main" id="{E485EB41-1E2D-5E09-3F60-C187ED7DDF11}"/>
              </a:ext>
            </a:extLst>
          </p:cNvPr>
          <p:cNvCxnSpPr>
            <a:cxnSpLocks/>
          </p:cNvCxnSpPr>
          <p:nvPr/>
        </p:nvCxnSpPr>
        <p:spPr>
          <a:xfrm>
            <a:off x="533400" y="5691793"/>
            <a:ext cx="1866900" cy="0"/>
          </a:xfrm>
          <a:prstGeom prst="line">
            <a:avLst/>
          </a:prstGeom>
        </p:spPr>
        <p:style>
          <a:lnRef idx="1">
            <a:schemeClr val="dk1"/>
          </a:lnRef>
          <a:fillRef idx="0">
            <a:schemeClr val="dk1"/>
          </a:fillRef>
          <a:effectRef idx="0">
            <a:schemeClr val="dk1"/>
          </a:effectRef>
          <a:fontRef idx="minor">
            <a:schemeClr val="tx1"/>
          </a:fontRef>
        </p:style>
      </p:cxnSp>
      <p:sp>
        <p:nvSpPr>
          <p:cNvPr id="4" name="文本框 3">
            <a:extLst>
              <a:ext uri="{FF2B5EF4-FFF2-40B4-BE49-F238E27FC236}">
                <a16:creationId xmlns:a16="http://schemas.microsoft.com/office/drawing/2014/main" id="{27C1782F-8425-A3BC-27E5-9D690FE41EE8}"/>
              </a:ext>
            </a:extLst>
          </p:cNvPr>
          <p:cNvSpPr txBox="1"/>
          <p:nvPr/>
        </p:nvSpPr>
        <p:spPr>
          <a:xfrm>
            <a:off x="776130" y="5829300"/>
            <a:ext cx="7339170" cy="523220"/>
          </a:xfrm>
          <a:prstGeom prst="rect">
            <a:avLst/>
          </a:prstGeom>
          <a:noFill/>
        </p:spPr>
        <p:txBody>
          <a:bodyPr wrap="square" rtlCol="0">
            <a:spAutoFit/>
          </a:bodyPr>
          <a:lstStyle/>
          <a:p>
            <a:r>
              <a:rPr lang="en-US" altLang="zh-CN" sz="1400" baseline="30000" dirty="0">
                <a:latin typeface="+mj-lt"/>
                <a:ea typeface="+mj-ea"/>
              </a:rPr>
              <a:t>1 </a:t>
            </a:r>
            <a:r>
              <a:rPr lang="zh-CN" altLang="en-US" sz="1400" dirty="0">
                <a:latin typeface="+mj-lt"/>
                <a:ea typeface="+mj-ea"/>
              </a:rPr>
              <a:t>函数包</a:t>
            </a:r>
            <a:r>
              <a:rPr lang="en-US" altLang="zh-CN" sz="1400" dirty="0" err="1">
                <a:latin typeface="+mj-lt"/>
                <a:ea typeface="+mj-ea"/>
              </a:rPr>
              <a:t>rgeos</a:t>
            </a:r>
            <a:r>
              <a:rPr lang="zh-CN" altLang="en-US" sz="1400" dirty="0">
                <a:latin typeface="+mj-lt"/>
                <a:ea typeface="+mj-ea"/>
              </a:rPr>
              <a:t>已经退役，无法从</a:t>
            </a:r>
            <a:r>
              <a:rPr lang="en-US" altLang="zh-CN" sz="1400" dirty="0">
                <a:latin typeface="+mj-lt"/>
                <a:ea typeface="+mj-ea"/>
              </a:rPr>
              <a:t>CRAN</a:t>
            </a:r>
            <a:r>
              <a:rPr lang="zh-CN" altLang="en-US" sz="1400" dirty="0">
                <a:latin typeface="+mj-lt"/>
                <a:ea typeface="+mj-ea"/>
              </a:rPr>
              <a:t>中直接安装，需要自行从</a:t>
            </a:r>
            <a:r>
              <a:rPr lang="en-US" altLang="zh-CN" sz="1400" dirty="0">
                <a:latin typeface="+mj-lt"/>
                <a:ea typeface="+mj-ea"/>
              </a:rPr>
              <a:t>Archive</a:t>
            </a:r>
            <a:r>
              <a:rPr lang="zh-CN" altLang="en-US" sz="1400" dirty="0">
                <a:latin typeface="+mj-lt"/>
                <a:ea typeface="+mj-ea"/>
              </a:rPr>
              <a:t>中下载用进行本地编译安装</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4.2 </a:t>
            </a:r>
            <a:r>
              <a:rPr lang="zh-CN" altLang="en-US" sz="3600" dirty="0">
                <a:latin typeface="Times New Roman" panose="02020603050405020304" pitchFamily="18" charset="0"/>
                <a:cs typeface="Times New Roman" panose="02020603050405020304" pitchFamily="18" charset="0"/>
              </a:rPr>
              <a:t>属性数据编辑</a:t>
            </a:r>
          </a:p>
        </p:txBody>
      </p:sp>
      <p:sp>
        <p:nvSpPr>
          <p:cNvPr id="8" name="灯片编号占位符 7"/>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4</a:t>
            </a:fld>
            <a:endParaRPr lang="zh-CN" altLang="en-US" dirty="0">
              <a:solidFill>
                <a:schemeClr val="bg2">
                  <a:lumMod val="75000"/>
                </a:schemeClr>
              </a:solidFill>
            </a:endParaRPr>
          </a:p>
        </p:txBody>
      </p:sp>
      <p:grpSp>
        <p:nvGrpSpPr>
          <p:cNvPr id="2" name="组合 1">
            <a:extLst>
              <a:ext uri="{FF2B5EF4-FFF2-40B4-BE49-F238E27FC236}">
                <a16:creationId xmlns:a16="http://schemas.microsoft.com/office/drawing/2014/main" id="{CA5336DC-B251-6F0B-6B4D-DB6AE3F00B20}"/>
              </a:ext>
            </a:extLst>
          </p:cNvPr>
          <p:cNvGrpSpPr/>
          <p:nvPr>
            <p:custDataLst>
              <p:tags r:id="rId1"/>
            </p:custDataLst>
          </p:nvPr>
        </p:nvGrpSpPr>
        <p:grpSpPr>
          <a:xfrm>
            <a:off x="1485900" y="2561080"/>
            <a:ext cx="6626224" cy="749588"/>
            <a:chOff x="3797406" y="1425837"/>
            <a:chExt cx="6626224" cy="749588"/>
          </a:xfrm>
        </p:grpSpPr>
        <p:sp>
          <p:nvSpPr>
            <p:cNvPr id="3" name="文本框 2">
              <a:extLst>
                <a:ext uri="{FF2B5EF4-FFF2-40B4-BE49-F238E27FC236}">
                  <a16:creationId xmlns:a16="http://schemas.microsoft.com/office/drawing/2014/main" id="{F562801F-AF7A-1DAD-49AC-801F3A219109}"/>
                </a:ext>
              </a:extLst>
            </p:cNvPr>
            <p:cNvSpPr txBox="1"/>
            <p:nvPr>
              <p:custDataLst>
                <p:tags r:id="rId5"/>
              </p:custDataLst>
            </p:nvPr>
          </p:nvSpPr>
          <p:spPr>
            <a:xfrm>
              <a:off x="3797406" y="1621427"/>
              <a:ext cx="1107996" cy="553998"/>
            </a:xfrm>
            <a:prstGeom prst="rect">
              <a:avLst/>
            </a:prstGeom>
            <a:noFill/>
          </p:spPr>
          <p:txBody>
            <a:bodyPr wrap="none" tIns="0" bIns="0" rtlCol="0" anchor="b" anchorCtr="0">
              <a:spAutoFit/>
            </a:bodyPr>
            <a:lstStyle/>
            <a:p>
              <a:r>
                <a:rPr kumimoji="1" lang="en-US" altLang="zh-CN" sz="3600" b="1" dirty="0">
                  <a:solidFill>
                    <a:schemeClr val="accent1"/>
                  </a:solidFill>
                  <a:latin typeface="Times New Roman" panose="02020603050405020304" pitchFamily="18" charset="0"/>
                  <a:cs typeface="Times New Roman" panose="02020603050405020304" pitchFamily="18" charset="0"/>
                </a:rPr>
                <a:t>4.2.1</a:t>
              </a:r>
            </a:p>
          </p:txBody>
        </p:sp>
        <p:sp>
          <p:nvSpPr>
            <p:cNvPr id="4" name="文本占位符 27">
              <a:extLst>
                <a:ext uri="{FF2B5EF4-FFF2-40B4-BE49-F238E27FC236}">
                  <a16:creationId xmlns:a16="http://schemas.microsoft.com/office/drawing/2014/main" id="{249E681F-19E0-79B2-CD71-D792363F2FD7}"/>
                </a:ext>
              </a:extLst>
            </p:cNvPr>
            <p:cNvSpPr txBox="1"/>
            <p:nvPr>
              <p:custDataLst>
                <p:tags r:id="rId6"/>
              </p:custDataLst>
            </p:nvPr>
          </p:nvSpPr>
          <p:spPr>
            <a:xfrm>
              <a:off x="5130905" y="1425837"/>
              <a:ext cx="5292725" cy="708025"/>
            </a:xfrm>
            <a:prstGeom prst="rect">
              <a:avLst/>
            </a:prstGeom>
          </p:spPr>
          <p:txBody>
            <a:bodyPr lIns="0" rIns="0" bIns="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chemeClr val="accent2"/>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3200" dirty="0">
                  <a:solidFill>
                    <a:schemeClr val="accent1"/>
                  </a:solidFill>
                  <a:latin typeface="Times New Roman" panose="02020603050405020304" pitchFamily="18" charset="0"/>
                  <a:cs typeface="Times New Roman" panose="02020603050405020304" pitchFamily="18" charset="0"/>
                </a:rPr>
                <a:t>Spatial</a:t>
              </a:r>
              <a:r>
                <a:rPr lang="zh-CN" altLang="en-US" sz="3200" dirty="0">
                  <a:solidFill>
                    <a:schemeClr val="accent1"/>
                  </a:solidFill>
                  <a:latin typeface="Times New Roman" panose="02020603050405020304" pitchFamily="18" charset="0"/>
                  <a:cs typeface="Times New Roman" panose="02020603050405020304" pitchFamily="18" charset="0"/>
                </a:rPr>
                <a:t>对象</a:t>
              </a:r>
              <a:endParaRPr kumimoji="1" lang="zh-CN" altLang="en-US" sz="3200" dirty="0">
                <a:solidFill>
                  <a:schemeClr val="accent1"/>
                </a:solidFill>
                <a:latin typeface="Times New Roman" panose="02020603050405020304" pitchFamily="18" charset="0"/>
                <a:cs typeface="Times New Roman" panose="02020603050405020304" pitchFamily="18" charset="0"/>
              </a:endParaRPr>
            </a:p>
          </p:txBody>
        </p:sp>
      </p:grpSp>
      <p:grpSp>
        <p:nvGrpSpPr>
          <p:cNvPr id="9" name="组合 8">
            <a:extLst>
              <a:ext uri="{FF2B5EF4-FFF2-40B4-BE49-F238E27FC236}">
                <a16:creationId xmlns:a16="http://schemas.microsoft.com/office/drawing/2014/main" id="{D4AF0E24-949C-EBFB-80EE-83B59A37D83F}"/>
              </a:ext>
            </a:extLst>
          </p:cNvPr>
          <p:cNvGrpSpPr/>
          <p:nvPr>
            <p:custDataLst>
              <p:tags r:id="rId2"/>
            </p:custDataLst>
          </p:nvPr>
        </p:nvGrpSpPr>
        <p:grpSpPr>
          <a:xfrm>
            <a:off x="1485900" y="3314700"/>
            <a:ext cx="6626225" cy="749588"/>
            <a:chOff x="3797406" y="2539558"/>
            <a:chExt cx="6626225" cy="749588"/>
          </a:xfrm>
        </p:grpSpPr>
        <p:sp>
          <p:nvSpPr>
            <p:cNvPr id="10" name="文本框 9">
              <a:extLst>
                <a:ext uri="{FF2B5EF4-FFF2-40B4-BE49-F238E27FC236}">
                  <a16:creationId xmlns:a16="http://schemas.microsoft.com/office/drawing/2014/main" id="{FE601F70-0BF2-777C-61EF-2835DC678480}"/>
                </a:ext>
              </a:extLst>
            </p:cNvPr>
            <p:cNvSpPr txBox="1"/>
            <p:nvPr>
              <p:custDataLst>
                <p:tags r:id="rId3"/>
              </p:custDataLst>
            </p:nvPr>
          </p:nvSpPr>
          <p:spPr>
            <a:xfrm>
              <a:off x="3797406" y="2735148"/>
              <a:ext cx="1107996" cy="553998"/>
            </a:xfrm>
            <a:prstGeom prst="rect">
              <a:avLst/>
            </a:prstGeom>
            <a:noFill/>
          </p:spPr>
          <p:txBody>
            <a:bodyPr wrap="none" tIns="0" bIns="0" rtlCol="0" anchor="b" anchorCtr="0">
              <a:spAutoFit/>
            </a:bodyPr>
            <a:lstStyle/>
            <a:p>
              <a:r>
                <a:rPr kumimoji="1" lang="en-US" altLang="zh-CN" sz="3600" b="1" dirty="0">
                  <a:solidFill>
                    <a:schemeClr val="accent1"/>
                  </a:solidFill>
                  <a:latin typeface="Times New Roman" panose="02020603050405020304" pitchFamily="18" charset="0"/>
                  <a:cs typeface="Times New Roman" panose="02020603050405020304" pitchFamily="18" charset="0"/>
                </a:rPr>
                <a:t>4.2.2</a:t>
              </a:r>
            </a:p>
          </p:txBody>
        </p:sp>
        <p:sp>
          <p:nvSpPr>
            <p:cNvPr id="12" name="文本占位符 27">
              <a:extLst>
                <a:ext uri="{FF2B5EF4-FFF2-40B4-BE49-F238E27FC236}">
                  <a16:creationId xmlns:a16="http://schemas.microsoft.com/office/drawing/2014/main" id="{2F4E60A7-7481-3378-5EB6-2BAB0ABE1D75}"/>
                </a:ext>
              </a:extLst>
            </p:cNvPr>
            <p:cNvSpPr txBox="1"/>
            <p:nvPr>
              <p:custDataLst>
                <p:tags r:id="rId4"/>
              </p:custDataLst>
            </p:nvPr>
          </p:nvSpPr>
          <p:spPr>
            <a:xfrm>
              <a:off x="5130906" y="2539558"/>
              <a:ext cx="5292725" cy="708025"/>
            </a:xfrm>
            <a:prstGeom prst="rect">
              <a:avLst/>
            </a:prstGeom>
          </p:spPr>
          <p:txBody>
            <a:bodyPr lIns="0" rIns="0" bIns="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chemeClr val="accent2"/>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3200" dirty="0">
                  <a:solidFill>
                    <a:schemeClr val="accent1"/>
                  </a:solidFill>
                  <a:latin typeface="Times New Roman" panose="02020603050405020304" pitchFamily="18" charset="0"/>
                  <a:cs typeface="Times New Roman" panose="02020603050405020304" pitchFamily="18" charset="0"/>
                </a:rPr>
                <a:t>Simple Feature</a:t>
              </a:r>
              <a:r>
                <a:rPr lang="zh-CN" altLang="en-US" sz="3200" dirty="0">
                  <a:solidFill>
                    <a:schemeClr val="accent1"/>
                  </a:solidFill>
                  <a:latin typeface="Times New Roman" panose="02020603050405020304" pitchFamily="18" charset="0"/>
                  <a:cs typeface="Times New Roman" panose="02020603050405020304" pitchFamily="18" charset="0"/>
                </a:rPr>
                <a:t>对象</a:t>
              </a:r>
              <a:endParaRPr kumimoji="1" lang="zh-CN" altLang="en-US" sz="3200" dirty="0">
                <a:solidFill>
                  <a:schemeClr val="accent1"/>
                </a:solidFill>
                <a:latin typeface="Times New Roman" panose="02020603050405020304" pitchFamily="18" charset="0"/>
                <a:cs typeface="Times New Roman" panose="02020603050405020304" pitchFamily="18" charset="0"/>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501971" y="1857421"/>
            <a:ext cx="8137525" cy="2120068"/>
          </a:xfrm>
          <a:prstGeom prst="rect">
            <a:avLst/>
          </a:prstGeom>
        </p:spPr>
        <p:txBody>
          <a:bodyPr wrap="square">
            <a:spAutoFit/>
          </a:bodyPr>
          <a:lstStyle/>
          <a:p>
            <a:pPr indent="457200">
              <a:lnSpc>
                <a:spcPct val="150000"/>
              </a:lnSpc>
            </a:pPr>
            <a:r>
              <a:rPr lang="zh-CN" altLang="en-US" dirty="0">
                <a:latin typeface="+mn-lt"/>
                <a:ea typeface="+mj-ea"/>
                <a:sym typeface="Consolas" panose="020B0609020204030204" pitchFamily="49" charset="0"/>
              </a:rPr>
              <a:t>在</a:t>
            </a:r>
            <a:r>
              <a:rPr lang="en-US" altLang="zh-CN" b="1" dirty="0">
                <a:latin typeface="+mn-lt"/>
                <a:ea typeface="+mj-ea"/>
                <a:sym typeface="Consolas" panose="020B0609020204030204" pitchFamily="49" charset="0"/>
              </a:rPr>
              <a:t>R</a:t>
            </a:r>
            <a:r>
              <a:rPr lang="zh-CN" altLang="en-US" dirty="0">
                <a:latin typeface="+mn-lt"/>
                <a:ea typeface="+mj-ea"/>
                <a:sym typeface="Consolas" panose="020B0609020204030204" pitchFamily="49" charset="0"/>
              </a:rPr>
              <a:t>语言中，</a:t>
            </a:r>
            <a:r>
              <a:rPr lang="en-US" altLang="zh-CN" b="1" i="1" dirty="0">
                <a:latin typeface="+mn-lt"/>
                <a:ea typeface="+mj-ea"/>
                <a:sym typeface="Consolas" panose="020B0609020204030204" pitchFamily="49" charset="0"/>
              </a:rPr>
              <a:t>Spatial</a:t>
            </a:r>
            <a:r>
              <a:rPr lang="zh-CN" altLang="en-US" dirty="0">
                <a:latin typeface="+mn-lt"/>
                <a:ea typeface="+mj-ea"/>
                <a:sym typeface="Consolas" panose="020B0609020204030204" pitchFamily="49" charset="0"/>
              </a:rPr>
              <a:t>类空间数据对象多以</a:t>
            </a:r>
            <a:r>
              <a:rPr lang="en-US" altLang="zh-CN" b="1" i="1" dirty="0">
                <a:latin typeface="+mn-lt"/>
                <a:ea typeface="+mj-ea"/>
                <a:sym typeface="Consolas" panose="020B0609020204030204" pitchFamily="49" charset="0"/>
              </a:rPr>
              <a:t>Spatial*</a:t>
            </a:r>
            <a:r>
              <a:rPr lang="en-US" altLang="zh-CN" b="1" i="1" dirty="0" err="1">
                <a:latin typeface="+mn-lt"/>
                <a:ea typeface="+mj-ea"/>
                <a:sym typeface="Consolas" panose="020B0609020204030204" pitchFamily="49" charset="0"/>
              </a:rPr>
              <a:t>DataFrame</a:t>
            </a:r>
            <a:r>
              <a:rPr lang="zh-CN" altLang="en-US" dirty="0">
                <a:latin typeface="+mn-lt"/>
                <a:ea typeface="+mj-ea"/>
                <a:sym typeface="Consolas" panose="020B0609020204030204" pitchFamily="49" charset="0"/>
              </a:rPr>
              <a:t>对象存储，包含</a:t>
            </a:r>
            <a:r>
              <a:rPr lang="zh-CN" altLang="en-US" b="1" dirty="0">
                <a:latin typeface="+mn-lt"/>
                <a:ea typeface="+mj-ea"/>
                <a:sym typeface="Consolas" panose="020B0609020204030204" pitchFamily="49" charset="0"/>
              </a:rPr>
              <a:t>空间</a:t>
            </a:r>
            <a:r>
              <a:rPr lang="zh-CN" altLang="en-US" dirty="0">
                <a:latin typeface="+mn-lt"/>
                <a:ea typeface="+mj-ea"/>
                <a:sym typeface="Consolas" panose="020B0609020204030204" pitchFamily="49" charset="0"/>
              </a:rPr>
              <a:t>和</a:t>
            </a:r>
            <a:r>
              <a:rPr lang="zh-CN" altLang="en-US" b="1" dirty="0">
                <a:latin typeface="+mn-lt"/>
                <a:ea typeface="+mj-ea"/>
                <a:sym typeface="Consolas" panose="020B0609020204030204" pitchFamily="49" charset="0"/>
              </a:rPr>
              <a:t>属性</a:t>
            </a:r>
            <a:r>
              <a:rPr lang="zh-CN" altLang="en-US" dirty="0">
                <a:latin typeface="+mn-lt"/>
                <a:ea typeface="+mj-ea"/>
                <a:sym typeface="Consolas" panose="020B0609020204030204" pitchFamily="49" charset="0"/>
              </a:rPr>
              <a:t>两个部分。</a:t>
            </a:r>
            <a:endParaRPr lang="en-US" altLang="zh-CN" dirty="0">
              <a:latin typeface="+mn-lt"/>
              <a:ea typeface="+mj-ea"/>
              <a:sym typeface="Consolas" panose="020B0609020204030204" pitchFamily="49" charset="0"/>
            </a:endParaRPr>
          </a:p>
          <a:p>
            <a:pPr indent="457200">
              <a:lnSpc>
                <a:spcPct val="150000"/>
              </a:lnSpc>
            </a:pPr>
            <a:r>
              <a:rPr lang="zh-CN" altLang="en-US" dirty="0">
                <a:latin typeface="+mn-lt"/>
                <a:ea typeface="+mj-ea"/>
                <a:sym typeface="Consolas" panose="020B0609020204030204" pitchFamily="49" charset="0"/>
              </a:rPr>
              <a:t>如果需要对</a:t>
            </a:r>
            <a:r>
              <a:rPr lang="en-US" altLang="zh-CN" b="1" i="1" dirty="0">
                <a:latin typeface="+mn-lt"/>
                <a:ea typeface="+mj-ea"/>
                <a:sym typeface="Consolas" panose="020B0609020204030204" pitchFamily="49" charset="0"/>
              </a:rPr>
              <a:t>Spatial*</a:t>
            </a:r>
            <a:r>
              <a:rPr lang="en-US" altLang="zh-CN" b="1" i="1" dirty="0" err="1">
                <a:latin typeface="+mn-lt"/>
                <a:ea typeface="+mj-ea"/>
                <a:sym typeface="Consolas" panose="020B0609020204030204" pitchFamily="49" charset="0"/>
              </a:rPr>
              <a:t>DataFrame</a:t>
            </a:r>
            <a:r>
              <a:rPr lang="zh-CN" altLang="en-US" dirty="0">
                <a:latin typeface="+mn-lt"/>
                <a:ea typeface="+mj-ea"/>
                <a:sym typeface="Consolas" panose="020B0609020204030204" pitchFamily="49" charset="0"/>
              </a:rPr>
              <a:t>对象属性数据部分进行增加、删除列、关联等操作，可通过</a:t>
            </a:r>
            <a:r>
              <a:rPr lang="en-US" altLang="zh-CN" b="1" i="1" dirty="0">
                <a:latin typeface="+mn-lt"/>
                <a:ea typeface="+mj-ea"/>
                <a:sym typeface="Consolas" panose="020B0609020204030204" pitchFamily="49" charset="0"/>
              </a:rPr>
              <a:t>Spatial*</a:t>
            </a:r>
            <a:r>
              <a:rPr lang="en-US" altLang="zh-CN" b="1" i="1" dirty="0" err="1">
                <a:latin typeface="+mn-lt"/>
                <a:ea typeface="+mj-ea"/>
                <a:sym typeface="Consolas" panose="020B0609020204030204" pitchFamily="49" charset="0"/>
              </a:rPr>
              <a:t>DataFrame</a:t>
            </a:r>
            <a:r>
              <a:rPr lang="zh-CN" altLang="en-US" dirty="0">
                <a:latin typeface="+mn-lt"/>
                <a:ea typeface="+mj-ea"/>
                <a:sym typeface="Consolas" panose="020B0609020204030204" pitchFamily="49" charset="0"/>
              </a:rPr>
              <a:t>对象中的“</a:t>
            </a:r>
            <a:r>
              <a:rPr lang="en-US" altLang="zh-CN" dirty="0">
                <a:latin typeface="+mn-lt"/>
                <a:ea typeface="+mj-ea"/>
                <a:sym typeface="Consolas" panose="020B0609020204030204" pitchFamily="49" charset="0"/>
              </a:rPr>
              <a:t>data</a:t>
            </a:r>
            <a:r>
              <a:rPr lang="zh-CN" altLang="en-US" dirty="0">
                <a:latin typeface="+mn-lt"/>
                <a:ea typeface="+mj-ea"/>
                <a:sym typeface="Consolas" panose="020B0609020204030204" pitchFamily="49" charset="0"/>
              </a:rPr>
              <a:t>”槽</a:t>
            </a:r>
            <a:r>
              <a:rPr lang="en-US" altLang="zh-CN" dirty="0">
                <a:latin typeface="+mn-lt"/>
                <a:ea typeface="+mj-ea"/>
                <a:sym typeface="Consolas" panose="020B0609020204030204" pitchFamily="49" charset="0"/>
              </a:rPr>
              <a:t>(slot)</a:t>
            </a:r>
            <a:r>
              <a:rPr lang="zh-CN" altLang="en-US" dirty="0">
                <a:latin typeface="+mn-lt"/>
                <a:ea typeface="+mj-ea"/>
                <a:sym typeface="Consolas" panose="020B0609020204030204" pitchFamily="49" charset="0"/>
              </a:rPr>
              <a:t>进行便捷地操作。</a:t>
            </a:r>
            <a:endParaRPr lang="en-US" altLang="zh-CN" dirty="0">
              <a:latin typeface="+mn-lt"/>
              <a:ea typeface="+mj-ea"/>
              <a:sym typeface="Consolas" panose="020B0609020204030204" pitchFamily="49" charset="0"/>
            </a:endParaRPr>
          </a:p>
          <a:p>
            <a:pPr indent="457200">
              <a:lnSpc>
                <a:spcPct val="150000"/>
              </a:lnSpc>
            </a:pPr>
            <a:r>
              <a:rPr lang="zh-CN" altLang="en-US" dirty="0">
                <a:latin typeface="+mn-lt"/>
                <a:ea typeface="+mj-ea"/>
                <a:sym typeface="Consolas" panose="020B0609020204030204" pitchFamily="49" charset="0"/>
              </a:rPr>
              <a:t>读入示例数据</a:t>
            </a:r>
            <a:r>
              <a:rPr lang="en-US" altLang="zh-CN" sz="1800" kern="0" dirty="0">
                <a:effectLst/>
                <a:latin typeface="Times New Roman" panose="02020603050405020304" pitchFamily="18" charset="0"/>
                <a:ea typeface="宋体" panose="02010600030101010101" pitchFamily="2" charset="-122"/>
              </a:rPr>
              <a:t>WHHP_2015</a:t>
            </a:r>
            <a:r>
              <a:rPr lang="zh-CN" altLang="en-US" sz="1800" kern="0" dirty="0">
                <a:effectLst/>
                <a:latin typeface="Times New Roman" panose="02020603050405020304" pitchFamily="18" charset="0"/>
                <a:ea typeface="宋体" panose="02010600030101010101" pitchFamily="2" charset="-122"/>
              </a:rPr>
              <a:t>：</a:t>
            </a:r>
            <a:endParaRPr lang="en-US" altLang="zh-CN" dirty="0">
              <a:latin typeface="+mn-lt"/>
              <a:ea typeface="+mj-ea"/>
              <a:sym typeface="Consolas" panose="020B0609020204030204" pitchFamily="49" charset="0"/>
            </a:endParaRPr>
          </a:p>
        </p:txBody>
      </p:sp>
      <p:sp>
        <p:nvSpPr>
          <p:cNvPr id="10" name="标题 9"/>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4.2 </a:t>
            </a:r>
            <a:r>
              <a:rPr lang="zh-CN" altLang="en-US" sz="3600" dirty="0">
                <a:latin typeface="Times New Roman" panose="02020603050405020304" pitchFamily="18" charset="0"/>
                <a:cs typeface="Times New Roman" panose="02020603050405020304" pitchFamily="18" charset="0"/>
              </a:rPr>
              <a:t>属性数据编辑</a:t>
            </a:r>
          </a:p>
        </p:txBody>
      </p:sp>
      <p:sp>
        <p:nvSpPr>
          <p:cNvPr id="12" name="灯片编号占位符 11"/>
          <p:cNvSpPr>
            <a:spLocks noGrp="1"/>
          </p:cNvSpPr>
          <p:nvPr>
            <p:ph type="sldNum" sz="quarter" idx="12"/>
          </p:nvPr>
        </p:nvSpPr>
        <p:spPr/>
        <p:txBody>
          <a:bodyPr/>
          <a:lstStyle/>
          <a:p>
            <a:fld id="{6B3369F9-03CD-4B48-86A9-9EE39A82955A}" type="slidenum">
              <a:rPr lang="zh-CN" altLang="en-US">
                <a:solidFill>
                  <a:schemeClr val="bg2">
                    <a:lumMod val="75000"/>
                  </a:schemeClr>
                </a:solidFill>
              </a:rPr>
              <a:t>5</a:t>
            </a:fld>
            <a:endParaRPr lang="zh-CN" altLang="en-US" dirty="0">
              <a:solidFill>
                <a:schemeClr val="bg2">
                  <a:lumMod val="75000"/>
                </a:schemeClr>
              </a:solidFill>
            </a:endParaRPr>
          </a:p>
        </p:txBody>
      </p:sp>
      <p:sp>
        <p:nvSpPr>
          <p:cNvPr id="2" name="文本框 1">
            <a:extLst>
              <a:ext uri="{FF2B5EF4-FFF2-40B4-BE49-F238E27FC236}">
                <a16:creationId xmlns:a16="http://schemas.microsoft.com/office/drawing/2014/main" id="{0B2A4995-AFBF-F245-3010-48BD17D4921A}"/>
              </a:ext>
            </a:extLst>
          </p:cNvPr>
          <p:cNvSpPr txBox="1"/>
          <p:nvPr/>
        </p:nvSpPr>
        <p:spPr>
          <a:xfrm>
            <a:off x="1027433" y="4114800"/>
            <a:ext cx="7086600" cy="1754326"/>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library(</a:t>
            </a:r>
            <a:r>
              <a:rPr lang="en-US" altLang="zh-CN"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sp</a:t>
            </a:r>
            <a:r>
              <a:rPr lang="en-US" altLang="zh-CN"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dirty="0">
              <a:effectLst/>
              <a:latin typeface="Times New Roman" panose="02020603050405020304" pitchFamily="18" charset="0"/>
              <a:ea typeface="宋体" panose="02010600030101010101" pitchFamily="2" charset="-122"/>
            </a:endParaRPr>
          </a:p>
          <a:p>
            <a:pPr indent="127000" algn="l">
              <a:buNone/>
            </a:pPr>
            <a:r>
              <a:rPr lang="en-US" altLang="zh-CN"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library(</a:t>
            </a:r>
            <a:r>
              <a:rPr lang="en-US" altLang="zh-CN"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maptools</a:t>
            </a:r>
            <a:r>
              <a:rPr lang="en-US" altLang="zh-CN"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dirty="0">
              <a:effectLst/>
              <a:latin typeface="Times New Roman" panose="02020603050405020304" pitchFamily="18" charset="0"/>
              <a:ea typeface="宋体" panose="02010600030101010101" pitchFamily="2" charset="-122"/>
            </a:endParaRPr>
          </a:p>
          <a:p>
            <a:pPr indent="127000" algn="l">
              <a:buNone/>
            </a:pPr>
            <a:r>
              <a:rPr lang="en-US" altLang="zh-CN"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setwd</a:t>
            </a:r>
            <a:r>
              <a:rPr lang="en-US" altLang="zh-CN"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"E:/R_course/Chapter4/Data"</a:t>
            </a:r>
            <a:r>
              <a:rPr lang="en-US" altLang="zh-CN"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baseline="30000" dirty="0">
                <a:solidFill>
                  <a:srgbClr val="000000"/>
                </a:solidFill>
                <a:effectLst/>
                <a:latin typeface="+mj-lt"/>
                <a:ea typeface="宋体" panose="02010600030101010101" pitchFamily="2" charset="-122"/>
                <a:cs typeface="宋体" panose="02010600030101010101" pitchFamily="2" charset="-122"/>
              </a:rPr>
              <a:t>1</a:t>
            </a:r>
            <a:endParaRPr lang="zh-CN" altLang="zh-CN" baseline="30000" dirty="0">
              <a:effectLst/>
              <a:latin typeface="+mj-lt"/>
              <a:ea typeface="宋体" panose="02010600030101010101" pitchFamily="2" charset="-122"/>
            </a:endParaRPr>
          </a:p>
          <a:p>
            <a:pPr>
              <a:buNone/>
            </a:pPr>
            <a:r>
              <a:rPr lang="en-US" altLang="zh-CN"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kern="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WHHP_sp</a:t>
            </a:r>
            <a:r>
              <a:rPr lang="en-US" altLang="zh-CN"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a:t>
            </a:r>
            <a:r>
              <a:rPr lang="en-US" altLang="zh-CN" kern="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readShapePoly</a:t>
            </a:r>
            <a:r>
              <a:rPr lang="en-US" altLang="zh-CN"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kern="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"WHHP_2015.shp"</a:t>
            </a:r>
            <a:r>
              <a:rPr lang="en-US" altLang="zh-CN"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verbose=T, proj4string = CRS(</a:t>
            </a:r>
            <a:r>
              <a:rPr lang="en-US" altLang="zh-CN" kern="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kern="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proj</a:t>
            </a:r>
            <a:r>
              <a:rPr lang="en-US" altLang="zh-CN" kern="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kern="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tmerc</a:t>
            </a:r>
            <a:r>
              <a:rPr lang="en-US" altLang="zh-CN" kern="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 +lat_0=0 +lon_0=114 +k=1 +x_0=500000 +y_0=0 +</a:t>
            </a:r>
            <a:r>
              <a:rPr lang="en-US" altLang="zh-CN" kern="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ellps</a:t>
            </a:r>
            <a:r>
              <a:rPr lang="en-US" altLang="zh-CN" kern="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=GRS80 +units=m +</a:t>
            </a:r>
            <a:r>
              <a:rPr lang="en-US" altLang="zh-CN" kern="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no_defs</a:t>
            </a:r>
            <a:r>
              <a:rPr lang="en-US" altLang="zh-CN" kern="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200" dirty="0">
              <a:latin typeface="Consolas" panose="020B0609020204030204" pitchFamily="49" charset="0"/>
            </a:endParaRPr>
          </a:p>
        </p:txBody>
      </p:sp>
      <p:sp>
        <p:nvSpPr>
          <p:cNvPr id="4" name="文本框 3">
            <a:extLst>
              <a:ext uri="{FF2B5EF4-FFF2-40B4-BE49-F238E27FC236}">
                <a16:creationId xmlns:a16="http://schemas.microsoft.com/office/drawing/2014/main" id="{F04B1708-4B28-1168-7DA0-8F89B17DC768}"/>
              </a:ext>
            </a:extLst>
          </p:cNvPr>
          <p:cNvSpPr txBox="1"/>
          <p:nvPr/>
        </p:nvSpPr>
        <p:spPr>
          <a:xfrm>
            <a:off x="457200" y="1327100"/>
            <a:ext cx="2159566" cy="461665"/>
          </a:xfrm>
          <a:prstGeom prst="rect">
            <a:avLst/>
          </a:prstGeom>
          <a:noFill/>
        </p:spPr>
        <p:txBody>
          <a:bodyPr wrap="none" rtlCol="0">
            <a:spAutoFit/>
          </a:bodyPr>
          <a:lstStyle/>
          <a:p>
            <a:r>
              <a:rPr lang="en-US" altLang="zh-CN" sz="2400" b="1" dirty="0">
                <a:latin typeface="+mj-lt"/>
                <a:ea typeface="+mj-ea"/>
              </a:rPr>
              <a:t>(1) Spatial</a:t>
            </a:r>
            <a:r>
              <a:rPr lang="zh-CN" altLang="en-US" sz="2400" b="1" dirty="0">
                <a:latin typeface="+mj-lt"/>
                <a:ea typeface="+mj-ea"/>
              </a:rPr>
              <a:t>对象</a:t>
            </a:r>
          </a:p>
        </p:txBody>
      </p:sp>
      <p:cxnSp>
        <p:nvCxnSpPr>
          <p:cNvPr id="6" name="直接连接符 5">
            <a:extLst>
              <a:ext uri="{FF2B5EF4-FFF2-40B4-BE49-F238E27FC236}">
                <a16:creationId xmlns:a16="http://schemas.microsoft.com/office/drawing/2014/main" id="{CC770B24-DA38-BB13-7B7B-B7A83C5969F7}"/>
              </a:ext>
            </a:extLst>
          </p:cNvPr>
          <p:cNvCxnSpPr>
            <a:cxnSpLocks/>
          </p:cNvCxnSpPr>
          <p:nvPr/>
        </p:nvCxnSpPr>
        <p:spPr>
          <a:xfrm>
            <a:off x="533400" y="6069553"/>
            <a:ext cx="1866900" cy="0"/>
          </a:xfrm>
          <a:prstGeom prst="line">
            <a:avLst/>
          </a:prstGeom>
        </p:spPr>
        <p:style>
          <a:lnRef idx="1">
            <a:schemeClr val="dk1"/>
          </a:lnRef>
          <a:fillRef idx="0">
            <a:schemeClr val="dk1"/>
          </a:fillRef>
          <a:effectRef idx="0">
            <a:schemeClr val="dk1"/>
          </a:effectRef>
          <a:fontRef idx="minor">
            <a:schemeClr val="tx1"/>
          </a:fontRef>
        </p:style>
      </p:cxnSp>
      <p:sp>
        <p:nvSpPr>
          <p:cNvPr id="7" name="文本框 6">
            <a:extLst>
              <a:ext uri="{FF2B5EF4-FFF2-40B4-BE49-F238E27FC236}">
                <a16:creationId xmlns:a16="http://schemas.microsoft.com/office/drawing/2014/main" id="{3D21B5A5-6890-C0B0-5523-58B645AC9780}"/>
              </a:ext>
            </a:extLst>
          </p:cNvPr>
          <p:cNvSpPr txBox="1"/>
          <p:nvPr/>
        </p:nvSpPr>
        <p:spPr>
          <a:xfrm>
            <a:off x="776130" y="6207060"/>
            <a:ext cx="7339170" cy="307777"/>
          </a:xfrm>
          <a:prstGeom prst="rect">
            <a:avLst/>
          </a:prstGeom>
          <a:noFill/>
        </p:spPr>
        <p:txBody>
          <a:bodyPr wrap="square" rtlCol="0">
            <a:spAutoFit/>
          </a:bodyPr>
          <a:lstStyle/>
          <a:p>
            <a:r>
              <a:rPr lang="en-US" altLang="zh-CN" sz="1400" baseline="30000" dirty="0">
                <a:latin typeface="+mj-lt"/>
                <a:ea typeface="+mj-ea"/>
              </a:rPr>
              <a:t>1 </a:t>
            </a:r>
            <a:r>
              <a:rPr lang="zh-CN" altLang="en-US" sz="1400" dirty="0">
                <a:latin typeface="+mj-lt"/>
                <a:ea typeface="+mj-ea"/>
              </a:rPr>
              <a:t>修改为实际的工作目录，并将示例数据移动到该目录下</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3FD33-7E1C-CD70-481F-BFE7E1BE418D}"/>
            </a:ext>
          </a:extLst>
        </p:cNvPr>
        <p:cNvGrpSpPr/>
        <p:nvPr/>
      </p:nvGrpSpPr>
      <p:grpSpPr>
        <a:xfrm>
          <a:off x="0" y="0"/>
          <a:ext cx="0" cy="0"/>
          <a:chOff x="0" y="0"/>
          <a:chExt cx="0" cy="0"/>
        </a:xfrm>
      </p:grpSpPr>
      <p:sp>
        <p:nvSpPr>
          <p:cNvPr id="11" name="矩形 10">
            <a:extLst>
              <a:ext uri="{FF2B5EF4-FFF2-40B4-BE49-F238E27FC236}">
                <a16:creationId xmlns:a16="http://schemas.microsoft.com/office/drawing/2014/main" id="{12D77320-EE82-6E3F-5002-987BAA1C3AA3}"/>
              </a:ext>
            </a:extLst>
          </p:cNvPr>
          <p:cNvSpPr/>
          <p:nvPr/>
        </p:nvSpPr>
        <p:spPr>
          <a:xfrm>
            <a:off x="762000" y="1739545"/>
            <a:ext cx="7499029" cy="874214"/>
          </a:xfrm>
          <a:prstGeom prst="rect">
            <a:avLst/>
          </a:prstGeom>
        </p:spPr>
        <p:txBody>
          <a:bodyPr wrap="square">
            <a:spAutoFit/>
          </a:bodyPr>
          <a:lstStyle/>
          <a:p>
            <a:pPr indent="457200">
              <a:lnSpc>
                <a:spcPct val="150000"/>
              </a:lnSpc>
            </a:pPr>
            <a:r>
              <a:rPr lang="zh-CN" altLang="en-US" dirty="0">
                <a:latin typeface="+mn-lt"/>
                <a:ea typeface="+mj-ea"/>
                <a:sym typeface="Consolas" panose="020B0609020204030204" pitchFamily="49" charset="0"/>
              </a:rPr>
              <a:t>输出其属性列概览信息，可观察到其属性列中存在一列重复多余的列“</a:t>
            </a:r>
            <a:r>
              <a:rPr lang="en-US" altLang="zh-CN" dirty="0">
                <a:latin typeface="+mn-lt"/>
                <a:ea typeface="+mj-ea"/>
                <a:sym typeface="Consolas" panose="020B0609020204030204" pitchFamily="49" charset="0"/>
              </a:rPr>
              <a:t>FID_1_1</a:t>
            </a:r>
            <a:r>
              <a:rPr lang="zh-CN" altLang="en-US" dirty="0">
                <a:latin typeface="+mn-lt"/>
                <a:ea typeface="+mj-ea"/>
                <a:sym typeface="Consolas" panose="020B0609020204030204" pitchFamily="49" charset="0"/>
              </a:rPr>
              <a:t>”和一列全为</a:t>
            </a:r>
            <a:r>
              <a:rPr lang="en-US" altLang="zh-CN" dirty="0">
                <a:latin typeface="+mn-lt"/>
                <a:ea typeface="+mj-ea"/>
                <a:sym typeface="Consolas" panose="020B0609020204030204" pitchFamily="49" charset="0"/>
              </a:rPr>
              <a:t>NA</a:t>
            </a:r>
            <a:r>
              <a:rPr lang="zh-CN" altLang="en-US" dirty="0">
                <a:latin typeface="+mn-lt"/>
                <a:ea typeface="+mj-ea"/>
                <a:sym typeface="Consolas" panose="020B0609020204030204" pitchFamily="49" charset="0"/>
              </a:rPr>
              <a:t>的列“</a:t>
            </a:r>
            <a:r>
              <a:rPr lang="en-US" altLang="zh-CN" dirty="0">
                <a:latin typeface="+mn-lt"/>
                <a:ea typeface="+mj-ea"/>
                <a:sym typeface="Consolas" panose="020B0609020204030204" pitchFamily="49" charset="0"/>
              </a:rPr>
              <a:t>District</a:t>
            </a:r>
            <a:r>
              <a:rPr lang="zh-CN" altLang="en-US" dirty="0">
                <a:latin typeface="+mn-lt"/>
                <a:ea typeface="+mj-ea"/>
                <a:sym typeface="Consolas" panose="020B0609020204030204" pitchFamily="49" charset="0"/>
              </a:rPr>
              <a:t>”：</a:t>
            </a:r>
            <a:endParaRPr lang="en-US" altLang="zh-CN" dirty="0">
              <a:latin typeface="+mn-lt"/>
              <a:ea typeface="+mj-ea"/>
              <a:sym typeface="Consolas" panose="020B0609020204030204" pitchFamily="49" charset="0"/>
            </a:endParaRPr>
          </a:p>
        </p:txBody>
      </p:sp>
      <p:sp>
        <p:nvSpPr>
          <p:cNvPr id="10" name="标题 9">
            <a:extLst>
              <a:ext uri="{FF2B5EF4-FFF2-40B4-BE49-F238E27FC236}">
                <a16:creationId xmlns:a16="http://schemas.microsoft.com/office/drawing/2014/main" id="{25714237-4B4F-E96F-A42E-E45E08F45B6C}"/>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4.2 </a:t>
            </a:r>
            <a:r>
              <a:rPr lang="zh-CN" altLang="en-US" sz="3600" dirty="0">
                <a:latin typeface="Times New Roman" panose="02020603050405020304" pitchFamily="18" charset="0"/>
                <a:cs typeface="Times New Roman" panose="02020603050405020304" pitchFamily="18" charset="0"/>
              </a:rPr>
              <a:t>属性数据编辑</a:t>
            </a:r>
          </a:p>
        </p:txBody>
      </p:sp>
      <p:sp>
        <p:nvSpPr>
          <p:cNvPr id="12" name="灯片编号占位符 11">
            <a:extLst>
              <a:ext uri="{FF2B5EF4-FFF2-40B4-BE49-F238E27FC236}">
                <a16:creationId xmlns:a16="http://schemas.microsoft.com/office/drawing/2014/main" id="{C6F52D32-A37C-853A-8EC5-CF90F7BC777F}"/>
              </a:ext>
            </a:extLst>
          </p:cNvPr>
          <p:cNvSpPr>
            <a:spLocks noGrp="1"/>
          </p:cNvSpPr>
          <p:nvPr>
            <p:ph type="sldNum" sz="quarter" idx="12"/>
          </p:nvPr>
        </p:nvSpPr>
        <p:spPr/>
        <p:txBody>
          <a:bodyPr/>
          <a:lstStyle/>
          <a:p>
            <a:fld id="{6B3369F9-03CD-4B48-86A9-9EE39A82955A}" type="slidenum">
              <a:rPr lang="zh-CN" altLang="en-US">
                <a:solidFill>
                  <a:schemeClr val="bg2">
                    <a:lumMod val="75000"/>
                  </a:schemeClr>
                </a:solidFill>
              </a:rPr>
              <a:t>6</a:t>
            </a:fld>
            <a:endParaRPr lang="zh-CN" altLang="en-US" dirty="0">
              <a:solidFill>
                <a:schemeClr val="bg2">
                  <a:lumMod val="75000"/>
                </a:schemeClr>
              </a:solidFill>
            </a:endParaRPr>
          </a:p>
        </p:txBody>
      </p:sp>
      <p:sp>
        <p:nvSpPr>
          <p:cNvPr id="2" name="文本框 1">
            <a:extLst>
              <a:ext uri="{FF2B5EF4-FFF2-40B4-BE49-F238E27FC236}">
                <a16:creationId xmlns:a16="http://schemas.microsoft.com/office/drawing/2014/main" id="{05F1E4D5-412F-D623-819E-E5080DEB2F6E}"/>
              </a:ext>
            </a:extLst>
          </p:cNvPr>
          <p:cNvSpPr txBox="1"/>
          <p:nvPr/>
        </p:nvSpPr>
        <p:spPr>
          <a:xfrm>
            <a:off x="1186516" y="2658027"/>
            <a:ext cx="7086600" cy="584775"/>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class(</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WHHP_sp</a:t>
            </a:r>
            <a:r>
              <a:rPr lang="en-US" altLang="zh-CN" sz="16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data</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summary(</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WHHP_sp</a:t>
            </a:r>
            <a:r>
              <a:rPr lang="en-US" altLang="zh-CN" sz="16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data</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p:txBody>
      </p:sp>
      <p:pic>
        <p:nvPicPr>
          <p:cNvPr id="3" name="图片 2">
            <a:extLst>
              <a:ext uri="{FF2B5EF4-FFF2-40B4-BE49-F238E27FC236}">
                <a16:creationId xmlns:a16="http://schemas.microsoft.com/office/drawing/2014/main" id="{BA37905A-8A70-EB27-DB54-A85D225149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65622" y="3516666"/>
            <a:ext cx="5610222" cy="3008419"/>
          </a:xfrm>
          <a:prstGeom prst="rect">
            <a:avLst/>
          </a:prstGeom>
          <a:ln>
            <a:noFill/>
          </a:ln>
          <a:effectLst>
            <a:outerShdw blurRad="190500" algn="tl" rotWithShape="0">
              <a:srgbClr val="000000">
                <a:alpha val="70000"/>
              </a:srgbClr>
            </a:outerShdw>
          </a:effectLst>
        </p:spPr>
      </p:pic>
      <p:sp>
        <p:nvSpPr>
          <p:cNvPr id="4" name="矩形 3">
            <a:extLst>
              <a:ext uri="{FF2B5EF4-FFF2-40B4-BE49-F238E27FC236}">
                <a16:creationId xmlns:a16="http://schemas.microsoft.com/office/drawing/2014/main" id="{BDC3965F-D0E6-55A8-DF4B-B5747A2A4530}"/>
              </a:ext>
            </a:extLst>
          </p:cNvPr>
          <p:cNvSpPr/>
          <p:nvPr/>
        </p:nvSpPr>
        <p:spPr>
          <a:xfrm>
            <a:off x="2667000" y="3402366"/>
            <a:ext cx="1409700" cy="1066800"/>
          </a:xfrm>
          <a:prstGeom prst="rect">
            <a:avLst/>
          </a:prstGeom>
          <a:noFill/>
          <a:ln>
            <a:solidFill>
              <a:schemeClr val="accent6"/>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264DF6D5-5AEC-5FBE-1E54-DE78E72394F1}"/>
              </a:ext>
            </a:extLst>
          </p:cNvPr>
          <p:cNvSpPr txBox="1"/>
          <p:nvPr/>
        </p:nvSpPr>
        <p:spPr>
          <a:xfrm>
            <a:off x="457200" y="1327100"/>
            <a:ext cx="2159566" cy="461665"/>
          </a:xfrm>
          <a:prstGeom prst="rect">
            <a:avLst/>
          </a:prstGeom>
          <a:noFill/>
        </p:spPr>
        <p:txBody>
          <a:bodyPr wrap="none" rtlCol="0">
            <a:spAutoFit/>
          </a:bodyPr>
          <a:lstStyle/>
          <a:p>
            <a:r>
              <a:rPr lang="en-US" altLang="zh-CN" sz="2400" b="1" dirty="0">
                <a:latin typeface="+mj-lt"/>
                <a:ea typeface="+mj-ea"/>
              </a:rPr>
              <a:t>(1) Spatial</a:t>
            </a:r>
            <a:r>
              <a:rPr lang="zh-CN" altLang="en-US" sz="2400" b="1" dirty="0">
                <a:latin typeface="+mj-lt"/>
                <a:ea typeface="+mj-ea"/>
              </a:rPr>
              <a:t>对象</a:t>
            </a:r>
          </a:p>
        </p:txBody>
      </p:sp>
    </p:spTree>
    <p:extLst>
      <p:ext uri="{BB962C8B-B14F-4D97-AF65-F5344CB8AC3E}">
        <p14:creationId xmlns:p14="http://schemas.microsoft.com/office/powerpoint/2010/main" val="21133682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E0D94-D883-00C9-177D-F25BAE81A83A}"/>
            </a:ext>
          </a:extLst>
        </p:cNvPr>
        <p:cNvGrpSpPr/>
        <p:nvPr/>
      </p:nvGrpSpPr>
      <p:grpSpPr>
        <a:xfrm>
          <a:off x="0" y="0"/>
          <a:ext cx="0" cy="0"/>
          <a:chOff x="0" y="0"/>
          <a:chExt cx="0" cy="0"/>
        </a:xfrm>
      </p:grpSpPr>
      <p:sp>
        <p:nvSpPr>
          <p:cNvPr id="11" name="矩形 10">
            <a:extLst>
              <a:ext uri="{FF2B5EF4-FFF2-40B4-BE49-F238E27FC236}">
                <a16:creationId xmlns:a16="http://schemas.microsoft.com/office/drawing/2014/main" id="{80B113AA-73A6-66A9-CEF6-491596C5C28E}"/>
              </a:ext>
            </a:extLst>
          </p:cNvPr>
          <p:cNvSpPr/>
          <p:nvPr/>
        </p:nvSpPr>
        <p:spPr>
          <a:xfrm>
            <a:off x="501971" y="1599813"/>
            <a:ext cx="8137525" cy="458715"/>
          </a:xfrm>
          <a:prstGeom prst="rect">
            <a:avLst/>
          </a:prstGeom>
        </p:spPr>
        <p:txBody>
          <a:bodyPr wrap="square">
            <a:spAutoFit/>
          </a:bodyPr>
          <a:lstStyle/>
          <a:p>
            <a:pPr indent="457200">
              <a:lnSpc>
                <a:spcPct val="150000"/>
              </a:lnSpc>
            </a:pPr>
            <a:r>
              <a:rPr lang="zh-CN" altLang="en-US" dirty="0">
                <a:latin typeface="+mn-lt"/>
                <a:ea typeface="+mj-ea"/>
                <a:sym typeface="Consolas" panose="020B0609020204030204" pitchFamily="49" charset="0"/>
              </a:rPr>
              <a:t>将重复的列和全为空值的列去除：</a:t>
            </a:r>
            <a:endParaRPr lang="en-US" altLang="zh-CN" dirty="0">
              <a:latin typeface="+mn-lt"/>
              <a:ea typeface="+mj-ea"/>
              <a:sym typeface="Consolas" panose="020B0609020204030204" pitchFamily="49" charset="0"/>
            </a:endParaRPr>
          </a:p>
        </p:txBody>
      </p:sp>
      <p:sp>
        <p:nvSpPr>
          <p:cNvPr id="10" name="标题 9">
            <a:extLst>
              <a:ext uri="{FF2B5EF4-FFF2-40B4-BE49-F238E27FC236}">
                <a16:creationId xmlns:a16="http://schemas.microsoft.com/office/drawing/2014/main" id="{36F9FFB5-EF6C-5741-3D88-FA8208F59B9E}"/>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4.2 </a:t>
            </a:r>
            <a:r>
              <a:rPr lang="zh-CN" altLang="en-US" sz="3600" dirty="0">
                <a:latin typeface="Times New Roman" panose="02020603050405020304" pitchFamily="18" charset="0"/>
                <a:cs typeface="Times New Roman" panose="02020603050405020304" pitchFamily="18" charset="0"/>
              </a:rPr>
              <a:t>属性数据编辑</a:t>
            </a:r>
          </a:p>
        </p:txBody>
      </p:sp>
      <p:sp>
        <p:nvSpPr>
          <p:cNvPr id="12" name="灯片编号占位符 11">
            <a:extLst>
              <a:ext uri="{FF2B5EF4-FFF2-40B4-BE49-F238E27FC236}">
                <a16:creationId xmlns:a16="http://schemas.microsoft.com/office/drawing/2014/main" id="{EF0E7DD5-89C8-BA6E-6FF3-1284F3097E59}"/>
              </a:ext>
            </a:extLst>
          </p:cNvPr>
          <p:cNvSpPr>
            <a:spLocks noGrp="1"/>
          </p:cNvSpPr>
          <p:nvPr>
            <p:ph type="sldNum" sz="quarter" idx="12"/>
          </p:nvPr>
        </p:nvSpPr>
        <p:spPr/>
        <p:txBody>
          <a:bodyPr/>
          <a:lstStyle/>
          <a:p>
            <a:fld id="{6B3369F9-03CD-4B48-86A9-9EE39A82955A}" type="slidenum">
              <a:rPr lang="zh-CN" altLang="en-US">
                <a:solidFill>
                  <a:schemeClr val="bg2">
                    <a:lumMod val="75000"/>
                  </a:schemeClr>
                </a:solidFill>
              </a:rPr>
              <a:t>7</a:t>
            </a:fld>
            <a:endParaRPr lang="zh-CN" altLang="en-US" dirty="0">
              <a:solidFill>
                <a:schemeClr val="bg2">
                  <a:lumMod val="75000"/>
                </a:schemeClr>
              </a:solidFill>
            </a:endParaRPr>
          </a:p>
        </p:txBody>
      </p:sp>
      <p:sp>
        <p:nvSpPr>
          <p:cNvPr id="2" name="文本框 1">
            <a:extLst>
              <a:ext uri="{FF2B5EF4-FFF2-40B4-BE49-F238E27FC236}">
                <a16:creationId xmlns:a16="http://schemas.microsoft.com/office/drawing/2014/main" id="{7CA03ADB-167C-49B9-9B4D-60B27E316118}"/>
              </a:ext>
            </a:extLst>
          </p:cNvPr>
          <p:cNvSpPr txBox="1"/>
          <p:nvPr/>
        </p:nvSpPr>
        <p:spPr>
          <a:xfrm>
            <a:off x="1027433" y="2101074"/>
            <a:ext cx="7086600" cy="1323439"/>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new_df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WHHP_sp</a:t>
            </a:r>
            <a:r>
              <a:rPr lang="en-US" altLang="zh-CN" sz="16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data</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new_df</a:t>
            </a:r>
            <a:r>
              <a:rPr lang="en-US" altLang="zh-CN" sz="16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FID_1_1 &lt;- </a:t>
            </a:r>
            <a:r>
              <a:rPr lang="en-US" altLang="zh-CN" sz="16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NULL</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new_df</a:t>
            </a:r>
            <a:r>
              <a:rPr lang="en-US" altLang="zh-CN" sz="16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District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a:t>
            </a:r>
            <a:r>
              <a:rPr lang="en-US" altLang="zh-CN" sz="16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NULL</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WHHP_sp</a:t>
            </a:r>
            <a:r>
              <a:rPr lang="en-US" altLang="zh-CN" sz="16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data</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new_df</a:t>
            </a:r>
            <a:endParaRPr lang="zh-CN" altLang="zh-CN" sz="1600" dirty="0">
              <a:effectLst/>
              <a:latin typeface="Times New Roman" panose="02020603050405020304" pitchFamily="18" charset="0"/>
              <a:ea typeface="宋体" panose="02010600030101010101" pitchFamily="2" charset="-122"/>
            </a:endParaRPr>
          </a:p>
          <a:p>
            <a:pPr indent="127000" algn="l"/>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summary(</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WHHP_sp</a:t>
            </a:r>
            <a:r>
              <a:rPr lang="en-US" altLang="zh-CN" sz="16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data</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p:txBody>
      </p:sp>
      <p:pic>
        <p:nvPicPr>
          <p:cNvPr id="4" name="图片 3">
            <a:extLst>
              <a:ext uri="{FF2B5EF4-FFF2-40B4-BE49-F238E27FC236}">
                <a16:creationId xmlns:a16="http://schemas.microsoft.com/office/drawing/2014/main" id="{C8BDFBE0-BB9F-7E62-2F16-07655C56BB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34845" y="3595939"/>
            <a:ext cx="5274310" cy="2905760"/>
          </a:xfrm>
          <a:prstGeom prst="rect">
            <a:avLst/>
          </a:prstGeom>
          <a:ln>
            <a:noFill/>
          </a:ln>
          <a:effectLst>
            <a:outerShdw blurRad="190500" algn="tl" rotWithShape="0">
              <a:srgbClr val="000000">
                <a:alpha val="70000"/>
              </a:srgbClr>
            </a:outerShdw>
          </a:effectLst>
        </p:spPr>
      </p:pic>
      <p:sp>
        <p:nvSpPr>
          <p:cNvPr id="5" name="文本框 4">
            <a:extLst>
              <a:ext uri="{FF2B5EF4-FFF2-40B4-BE49-F238E27FC236}">
                <a16:creationId xmlns:a16="http://schemas.microsoft.com/office/drawing/2014/main" id="{6D93B343-989F-3320-053B-98FEA5585192}"/>
              </a:ext>
            </a:extLst>
          </p:cNvPr>
          <p:cNvSpPr txBox="1"/>
          <p:nvPr/>
        </p:nvSpPr>
        <p:spPr>
          <a:xfrm>
            <a:off x="457200" y="1220046"/>
            <a:ext cx="2159566" cy="461665"/>
          </a:xfrm>
          <a:prstGeom prst="rect">
            <a:avLst/>
          </a:prstGeom>
          <a:noFill/>
        </p:spPr>
        <p:txBody>
          <a:bodyPr wrap="none" rtlCol="0">
            <a:spAutoFit/>
          </a:bodyPr>
          <a:lstStyle/>
          <a:p>
            <a:r>
              <a:rPr lang="en-US" altLang="zh-CN" sz="2400" b="1" dirty="0">
                <a:latin typeface="+mj-lt"/>
                <a:ea typeface="+mj-ea"/>
              </a:rPr>
              <a:t>(1) Spatial</a:t>
            </a:r>
            <a:r>
              <a:rPr lang="zh-CN" altLang="en-US" sz="2400" b="1" dirty="0">
                <a:latin typeface="+mj-lt"/>
                <a:ea typeface="+mj-ea"/>
              </a:rPr>
              <a:t>对象</a:t>
            </a:r>
          </a:p>
        </p:txBody>
      </p:sp>
    </p:spTree>
    <p:extLst>
      <p:ext uri="{BB962C8B-B14F-4D97-AF65-F5344CB8AC3E}">
        <p14:creationId xmlns:p14="http://schemas.microsoft.com/office/powerpoint/2010/main" val="20027391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8EEC1A-94B0-20C8-218F-3171BF8E6122}"/>
            </a:ext>
          </a:extLst>
        </p:cNvPr>
        <p:cNvGrpSpPr/>
        <p:nvPr/>
      </p:nvGrpSpPr>
      <p:grpSpPr>
        <a:xfrm>
          <a:off x="0" y="0"/>
          <a:ext cx="0" cy="0"/>
          <a:chOff x="0" y="0"/>
          <a:chExt cx="0" cy="0"/>
        </a:xfrm>
      </p:grpSpPr>
      <p:sp>
        <p:nvSpPr>
          <p:cNvPr id="11" name="矩形 10">
            <a:extLst>
              <a:ext uri="{FF2B5EF4-FFF2-40B4-BE49-F238E27FC236}">
                <a16:creationId xmlns:a16="http://schemas.microsoft.com/office/drawing/2014/main" id="{DC2885D1-6F0D-7BA2-ACBD-1F7D1215C4C2}"/>
              </a:ext>
            </a:extLst>
          </p:cNvPr>
          <p:cNvSpPr/>
          <p:nvPr/>
        </p:nvSpPr>
        <p:spPr>
          <a:xfrm>
            <a:off x="592618" y="1479044"/>
            <a:ext cx="7956229" cy="874214"/>
          </a:xfrm>
          <a:prstGeom prst="rect">
            <a:avLst/>
          </a:prstGeom>
        </p:spPr>
        <p:txBody>
          <a:bodyPr wrap="square">
            <a:spAutoFit/>
          </a:bodyPr>
          <a:lstStyle/>
          <a:p>
            <a:pPr indent="457200">
              <a:lnSpc>
                <a:spcPct val="150000"/>
              </a:lnSpc>
            </a:pPr>
            <a:r>
              <a:rPr lang="en-US" altLang="zh-CN" dirty="0">
                <a:latin typeface="+mn-lt"/>
                <a:ea typeface="+mj-ea"/>
                <a:sym typeface="Consolas" panose="020B0609020204030204" pitchFamily="49" charset="0"/>
              </a:rPr>
              <a:t>WHHP_2015</a:t>
            </a:r>
            <a:r>
              <a:rPr lang="zh-CN" altLang="en-US" dirty="0">
                <a:latin typeface="+mn-lt"/>
                <a:ea typeface="+mj-ea"/>
                <a:sym typeface="Consolas" panose="020B0609020204030204" pitchFamily="49" charset="0"/>
              </a:rPr>
              <a:t>属性数据包含“</a:t>
            </a:r>
            <a:r>
              <a:rPr lang="en-US" altLang="zh-CN" dirty="0" err="1">
                <a:latin typeface="+mn-lt"/>
                <a:ea typeface="+mj-ea"/>
                <a:sym typeface="Consolas" panose="020B0609020204030204" pitchFamily="49" charset="0"/>
              </a:rPr>
              <a:t>Avg_Pop</a:t>
            </a:r>
            <a:r>
              <a:rPr lang="zh-CN" altLang="en-US" dirty="0">
                <a:latin typeface="+mn-lt"/>
                <a:ea typeface="+mj-ea"/>
                <a:sym typeface="Consolas" panose="020B0609020204030204" pitchFamily="49" charset="0"/>
              </a:rPr>
              <a:t>”（人口数量）和“</a:t>
            </a:r>
            <a:r>
              <a:rPr lang="en-US" altLang="zh-CN" dirty="0">
                <a:latin typeface="+mn-lt"/>
                <a:ea typeface="+mj-ea"/>
                <a:sym typeface="Consolas" panose="020B0609020204030204" pitchFamily="49" charset="0"/>
              </a:rPr>
              <a:t>Avg_Shap_1</a:t>
            </a:r>
            <a:r>
              <a:rPr lang="zh-CN" altLang="en-US" dirty="0">
                <a:latin typeface="+mn-lt"/>
                <a:ea typeface="+mj-ea"/>
                <a:sym typeface="Consolas" panose="020B0609020204030204" pitchFamily="49" charset="0"/>
              </a:rPr>
              <a:t>”（区域面积），在属性数据中新增加一列“</a:t>
            </a:r>
            <a:r>
              <a:rPr lang="en-US" altLang="zh-CN" dirty="0" err="1">
                <a:latin typeface="+mn-lt"/>
                <a:ea typeface="+mj-ea"/>
                <a:sym typeface="Consolas" panose="020B0609020204030204" pitchFamily="49" charset="0"/>
              </a:rPr>
              <a:t>Pop_Den</a:t>
            </a:r>
            <a:r>
              <a:rPr lang="zh-CN" altLang="en-US" dirty="0">
                <a:latin typeface="+mn-lt"/>
                <a:ea typeface="+mj-ea"/>
                <a:sym typeface="Consolas" panose="020B0609020204030204" pitchFamily="49" charset="0"/>
              </a:rPr>
              <a:t>”，即人口密度：</a:t>
            </a:r>
            <a:endParaRPr lang="en-US" altLang="zh-CN" dirty="0">
              <a:latin typeface="+mn-lt"/>
              <a:ea typeface="+mj-ea"/>
              <a:sym typeface="Consolas" panose="020B0609020204030204" pitchFamily="49" charset="0"/>
            </a:endParaRPr>
          </a:p>
        </p:txBody>
      </p:sp>
      <p:sp>
        <p:nvSpPr>
          <p:cNvPr id="10" name="标题 9">
            <a:extLst>
              <a:ext uri="{FF2B5EF4-FFF2-40B4-BE49-F238E27FC236}">
                <a16:creationId xmlns:a16="http://schemas.microsoft.com/office/drawing/2014/main" id="{AA75E9AC-366B-A278-0685-247AAE26D769}"/>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4.2 </a:t>
            </a:r>
            <a:r>
              <a:rPr lang="zh-CN" altLang="en-US" sz="3600" dirty="0">
                <a:latin typeface="Times New Roman" panose="02020603050405020304" pitchFamily="18" charset="0"/>
                <a:cs typeface="Times New Roman" panose="02020603050405020304" pitchFamily="18" charset="0"/>
              </a:rPr>
              <a:t>属性数据编辑</a:t>
            </a:r>
          </a:p>
        </p:txBody>
      </p:sp>
      <p:sp>
        <p:nvSpPr>
          <p:cNvPr id="12" name="灯片编号占位符 11">
            <a:extLst>
              <a:ext uri="{FF2B5EF4-FFF2-40B4-BE49-F238E27FC236}">
                <a16:creationId xmlns:a16="http://schemas.microsoft.com/office/drawing/2014/main" id="{66863182-BF0E-4637-2E57-A7B377493765}"/>
              </a:ext>
            </a:extLst>
          </p:cNvPr>
          <p:cNvSpPr>
            <a:spLocks noGrp="1"/>
          </p:cNvSpPr>
          <p:nvPr>
            <p:ph type="sldNum" sz="quarter" idx="12"/>
          </p:nvPr>
        </p:nvSpPr>
        <p:spPr/>
        <p:txBody>
          <a:bodyPr/>
          <a:lstStyle/>
          <a:p>
            <a:fld id="{6B3369F9-03CD-4B48-86A9-9EE39A82955A}" type="slidenum">
              <a:rPr lang="zh-CN" altLang="en-US">
                <a:solidFill>
                  <a:schemeClr val="bg2">
                    <a:lumMod val="75000"/>
                  </a:schemeClr>
                </a:solidFill>
              </a:rPr>
              <a:t>8</a:t>
            </a:fld>
            <a:endParaRPr lang="zh-CN" altLang="en-US" dirty="0">
              <a:solidFill>
                <a:schemeClr val="bg2">
                  <a:lumMod val="75000"/>
                </a:schemeClr>
              </a:solidFill>
            </a:endParaRPr>
          </a:p>
        </p:txBody>
      </p:sp>
      <p:sp>
        <p:nvSpPr>
          <p:cNvPr id="2" name="文本框 1">
            <a:extLst>
              <a:ext uri="{FF2B5EF4-FFF2-40B4-BE49-F238E27FC236}">
                <a16:creationId xmlns:a16="http://schemas.microsoft.com/office/drawing/2014/main" id="{6E6433D9-158D-2485-DACC-C8DCA71BE9C9}"/>
              </a:ext>
            </a:extLst>
          </p:cNvPr>
          <p:cNvSpPr txBox="1"/>
          <p:nvPr/>
        </p:nvSpPr>
        <p:spPr>
          <a:xfrm>
            <a:off x="1027433" y="2357931"/>
            <a:ext cx="7086600" cy="1384995"/>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pop &lt;-</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new_df</a:t>
            </a:r>
            <a:r>
              <a:rPr lang="en-US" altLang="zh-CN" sz="14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Avg_Pop</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area &lt;- new_df</a:t>
            </a:r>
            <a:r>
              <a:rPr lang="en-US" altLang="zh-CN" sz="14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Avg_Shap_1</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den &lt;-pop/area </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new_df</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Pop_Den</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den</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WHHP_sp</a:t>
            </a:r>
            <a:r>
              <a:rPr lang="en-US" altLang="zh-CN" sz="14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data</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new_df</a:t>
            </a:r>
            <a:endParaRPr lang="zh-CN" altLang="zh-CN" sz="1400" dirty="0">
              <a:effectLst/>
              <a:latin typeface="Times New Roman" panose="02020603050405020304" pitchFamily="18" charset="0"/>
              <a:ea typeface="宋体" panose="02010600030101010101" pitchFamily="2" charset="-122"/>
            </a:endParaRPr>
          </a:p>
          <a:p>
            <a:pPr indent="127000" algn="l"/>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summary(</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WHHP_sp</a:t>
            </a:r>
            <a:r>
              <a:rPr lang="en-US" altLang="zh-CN" sz="14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data</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p:txBody>
      </p:sp>
      <p:pic>
        <p:nvPicPr>
          <p:cNvPr id="3" name="图片 2">
            <a:extLst>
              <a:ext uri="{FF2B5EF4-FFF2-40B4-BE49-F238E27FC236}">
                <a16:creationId xmlns:a16="http://schemas.microsoft.com/office/drawing/2014/main" id="{BBBD17C4-6B5F-CB2A-259A-C85379DE38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2600" y="3838407"/>
            <a:ext cx="5029200" cy="2779805"/>
          </a:xfrm>
          <a:prstGeom prst="rect">
            <a:avLst/>
          </a:prstGeom>
          <a:ln>
            <a:noFill/>
          </a:ln>
          <a:effectLst>
            <a:outerShdw blurRad="190500" algn="tl" rotWithShape="0">
              <a:srgbClr val="000000">
                <a:alpha val="70000"/>
              </a:srgbClr>
            </a:outerShdw>
          </a:effectLst>
        </p:spPr>
      </p:pic>
      <p:sp>
        <p:nvSpPr>
          <p:cNvPr id="5" name="矩形 4">
            <a:extLst>
              <a:ext uri="{FF2B5EF4-FFF2-40B4-BE49-F238E27FC236}">
                <a16:creationId xmlns:a16="http://schemas.microsoft.com/office/drawing/2014/main" id="{DBE00BD6-8002-5F47-C185-66AA660D1C52}"/>
              </a:ext>
            </a:extLst>
          </p:cNvPr>
          <p:cNvSpPr/>
          <p:nvPr/>
        </p:nvSpPr>
        <p:spPr>
          <a:xfrm>
            <a:off x="4381500" y="5888937"/>
            <a:ext cx="1053553" cy="832387"/>
          </a:xfrm>
          <a:prstGeom prst="rect">
            <a:avLst/>
          </a:prstGeom>
          <a:noFill/>
          <a:ln>
            <a:solidFill>
              <a:schemeClr val="accent6"/>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8CC35D80-C35B-3545-9427-FCC01EEDA583}"/>
              </a:ext>
            </a:extLst>
          </p:cNvPr>
          <p:cNvSpPr txBox="1"/>
          <p:nvPr/>
        </p:nvSpPr>
        <p:spPr>
          <a:xfrm>
            <a:off x="7153596" y="4045445"/>
            <a:ext cx="1485900" cy="1600438"/>
          </a:xfrm>
          <a:prstGeom prst="rect">
            <a:avLst/>
          </a:prstGeom>
          <a:noFill/>
        </p:spPr>
        <p:txBody>
          <a:bodyPr wrap="square" rtlCol="0">
            <a:spAutoFit/>
          </a:bodyPr>
          <a:lstStyle/>
          <a:p>
            <a:pPr algn="just"/>
            <a:r>
              <a:rPr lang="en-US" altLang="zh-CN" sz="1400" dirty="0">
                <a:latin typeface="+mn-lt"/>
                <a:ea typeface="+mj-ea"/>
              </a:rPr>
              <a:t>*</a:t>
            </a:r>
            <a:r>
              <a:rPr lang="zh-CN" altLang="en-US" sz="1400" dirty="0">
                <a:latin typeface="+mn-lt"/>
                <a:ea typeface="+mj-ea"/>
              </a:rPr>
              <a:t>新增列默认位于属性数据的最后一列，请思考如何将新增列移动到第九列，也即“</a:t>
            </a:r>
            <a:r>
              <a:rPr lang="en-US" altLang="zh-CN" sz="1400" dirty="0" err="1">
                <a:latin typeface="+mn-lt"/>
                <a:ea typeface="+mj-ea"/>
                <a:sym typeface="Consolas" panose="020B0609020204030204" pitchFamily="49" charset="0"/>
              </a:rPr>
              <a:t>Avg_Pop</a:t>
            </a:r>
            <a:r>
              <a:rPr lang="zh-CN" altLang="en-US" sz="1400" dirty="0">
                <a:latin typeface="+mn-lt"/>
                <a:ea typeface="+mj-ea"/>
              </a:rPr>
              <a:t>”列之后？</a:t>
            </a:r>
          </a:p>
        </p:txBody>
      </p:sp>
      <p:sp>
        <p:nvSpPr>
          <p:cNvPr id="7" name="文本框 6">
            <a:extLst>
              <a:ext uri="{FF2B5EF4-FFF2-40B4-BE49-F238E27FC236}">
                <a16:creationId xmlns:a16="http://schemas.microsoft.com/office/drawing/2014/main" id="{806B34FA-1196-11D2-6D2C-D5A74D7B9DA3}"/>
              </a:ext>
            </a:extLst>
          </p:cNvPr>
          <p:cNvSpPr txBox="1"/>
          <p:nvPr/>
        </p:nvSpPr>
        <p:spPr>
          <a:xfrm>
            <a:off x="457200" y="1054543"/>
            <a:ext cx="2159566" cy="461665"/>
          </a:xfrm>
          <a:prstGeom prst="rect">
            <a:avLst/>
          </a:prstGeom>
          <a:noFill/>
        </p:spPr>
        <p:txBody>
          <a:bodyPr wrap="none" rtlCol="0">
            <a:spAutoFit/>
          </a:bodyPr>
          <a:lstStyle/>
          <a:p>
            <a:r>
              <a:rPr lang="en-US" altLang="zh-CN" sz="2400" b="1" dirty="0">
                <a:latin typeface="+mj-lt"/>
                <a:ea typeface="+mj-ea"/>
              </a:rPr>
              <a:t>(1) Spatial</a:t>
            </a:r>
            <a:r>
              <a:rPr lang="zh-CN" altLang="en-US" sz="2400" b="1" dirty="0">
                <a:latin typeface="+mj-lt"/>
                <a:ea typeface="+mj-ea"/>
              </a:rPr>
              <a:t>对象</a:t>
            </a:r>
          </a:p>
        </p:txBody>
      </p:sp>
    </p:spTree>
    <p:extLst>
      <p:ext uri="{BB962C8B-B14F-4D97-AF65-F5344CB8AC3E}">
        <p14:creationId xmlns:p14="http://schemas.microsoft.com/office/powerpoint/2010/main" val="35522713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1E9B1-439A-6618-04E1-3EE5F7D7EE7C}"/>
            </a:ext>
          </a:extLst>
        </p:cNvPr>
        <p:cNvGrpSpPr/>
        <p:nvPr/>
      </p:nvGrpSpPr>
      <p:grpSpPr>
        <a:xfrm>
          <a:off x="0" y="0"/>
          <a:ext cx="0" cy="0"/>
          <a:chOff x="0" y="0"/>
          <a:chExt cx="0" cy="0"/>
        </a:xfrm>
      </p:grpSpPr>
      <p:sp>
        <p:nvSpPr>
          <p:cNvPr id="11" name="矩形 10">
            <a:extLst>
              <a:ext uri="{FF2B5EF4-FFF2-40B4-BE49-F238E27FC236}">
                <a16:creationId xmlns:a16="http://schemas.microsoft.com/office/drawing/2014/main" id="{60688ABB-A715-15CE-EC53-95F14BBA7CDC}"/>
              </a:ext>
            </a:extLst>
          </p:cNvPr>
          <p:cNvSpPr/>
          <p:nvPr/>
        </p:nvSpPr>
        <p:spPr>
          <a:xfrm>
            <a:off x="501971" y="2019300"/>
            <a:ext cx="8137525" cy="1289712"/>
          </a:xfrm>
          <a:prstGeom prst="rect">
            <a:avLst/>
          </a:prstGeom>
        </p:spPr>
        <p:txBody>
          <a:bodyPr wrap="square">
            <a:spAutoFit/>
          </a:bodyPr>
          <a:lstStyle/>
          <a:p>
            <a:pPr indent="457200">
              <a:lnSpc>
                <a:spcPct val="150000"/>
              </a:lnSpc>
            </a:pPr>
            <a:r>
              <a:rPr lang="zh-CN" altLang="en-US" dirty="0">
                <a:latin typeface="+mn-lt"/>
                <a:ea typeface="+mj-ea"/>
                <a:sym typeface="Consolas" panose="020B0609020204030204" pitchFamily="49" charset="0"/>
              </a:rPr>
              <a:t>函数包</a:t>
            </a:r>
            <a:r>
              <a:rPr lang="en-US" altLang="zh-CN" b="1" dirty="0" err="1">
                <a:latin typeface="+mn-lt"/>
                <a:ea typeface="+mj-ea"/>
                <a:sym typeface="Consolas" panose="020B0609020204030204" pitchFamily="49" charset="0"/>
              </a:rPr>
              <a:t>sp</a:t>
            </a:r>
            <a:r>
              <a:rPr lang="zh-CN" altLang="en-US" dirty="0">
                <a:latin typeface="+mn-lt"/>
                <a:ea typeface="+mj-ea"/>
                <a:sym typeface="Consolas" panose="020B0609020204030204" pitchFamily="49" charset="0"/>
              </a:rPr>
              <a:t>提供了</a:t>
            </a:r>
            <a:r>
              <a:rPr lang="en-US" altLang="zh-CN" b="1" i="1" dirty="0" err="1">
                <a:latin typeface="+mn-lt"/>
                <a:ea typeface="+mj-ea"/>
                <a:sym typeface="Consolas" panose="020B0609020204030204" pitchFamily="49" charset="0"/>
              </a:rPr>
              <a:t>spCbind</a:t>
            </a:r>
            <a:r>
              <a:rPr lang="zh-CN" altLang="en-US" dirty="0">
                <a:latin typeface="+mn-lt"/>
                <a:ea typeface="+mj-ea"/>
                <a:sym typeface="Consolas" panose="020B0609020204030204" pitchFamily="49" charset="0"/>
              </a:rPr>
              <a:t>函数，可直接将</a:t>
            </a:r>
            <a:r>
              <a:rPr lang="en-US" altLang="zh-CN" b="1" i="1" dirty="0">
                <a:latin typeface="+mn-lt"/>
                <a:ea typeface="+mj-ea"/>
                <a:sym typeface="Consolas" panose="020B0609020204030204" pitchFamily="49" charset="0"/>
              </a:rPr>
              <a:t>Spatial*</a:t>
            </a:r>
            <a:r>
              <a:rPr lang="en-US" altLang="zh-CN" b="1" i="1" dirty="0" err="1">
                <a:latin typeface="+mn-lt"/>
                <a:ea typeface="+mj-ea"/>
                <a:sym typeface="Consolas" panose="020B0609020204030204" pitchFamily="49" charset="0"/>
              </a:rPr>
              <a:t>DataFrame</a:t>
            </a:r>
            <a:r>
              <a:rPr lang="zh-CN" altLang="en-US" dirty="0">
                <a:latin typeface="+mn-lt"/>
                <a:ea typeface="+mj-ea"/>
                <a:sym typeface="Consolas" panose="020B0609020204030204" pitchFamily="49" charset="0"/>
              </a:rPr>
              <a:t>对象与给定的属性数据</a:t>
            </a:r>
            <a:r>
              <a:rPr lang="en-US" altLang="zh-CN" dirty="0">
                <a:latin typeface="+mn-lt"/>
                <a:ea typeface="+mj-ea"/>
                <a:sym typeface="Consolas" panose="020B0609020204030204" pitchFamily="49" charset="0"/>
              </a:rPr>
              <a:t>(</a:t>
            </a:r>
            <a:r>
              <a:rPr lang="en-US" altLang="zh-CN" dirty="0" err="1">
                <a:latin typeface="+mn-lt"/>
                <a:ea typeface="+mj-ea"/>
                <a:sym typeface="Consolas" panose="020B0609020204030204" pitchFamily="49" charset="0"/>
              </a:rPr>
              <a:t>data.frame</a:t>
            </a:r>
            <a:r>
              <a:rPr lang="en-US" altLang="zh-CN" dirty="0">
                <a:latin typeface="+mn-lt"/>
                <a:ea typeface="+mj-ea"/>
                <a:sym typeface="Consolas" panose="020B0609020204030204" pitchFamily="49" charset="0"/>
              </a:rPr>
              <a:t>)</a:t>
            </a:r>
            <a:r>
              <a:rPr lang="zh-CN" altLang="en-US" dirty="0">
                <a:latin typeface="+mn-lt"/>
                <a:ea typeface="+mj-ea"/>
                <a:sym typeface="Consolas" panose="020B0609020204030204" pitchFamily="49" charset="0"/>
              </a:rPr>
              <a:t>对象进行直接关联。因此，以下代码也可实现将“</a:t>
            </a:r>
            <a:r>
              <a:rPr lang="en-US" altLang="zh-CN" dirty="0" err="1">
                <a:latin typeface="+mn-lt"/>
                <a:ea typeface="+mj-ea"/>
                <a:sym typeface="Consolas" panose="020B0609020204030204" pitchFamily="49" charset="0"/>
              </a:rPr>
              <a:t>Pop_De</a:t>
            </a:r>
            <a:r>
              <a:rPr lang="zh-CN" altLang="en-US" dirty="0">
                <a:latin typeface="+mn-lt"/>
                <a:ea typeface="+mj-ea"/>
                <a:sym typeface="Consolas" panose="020B0609020204030204" pitchFamily="49" charset="0"/>
              </a:rPr>
              <a:t>”属性添加到</a:t>
            </a:r>
            <a:r>
              <a:rPr lang="en-US" altLang="zh-CN" dirty="0">
                <a:latin typeface="+mn-lt"/>
                <a:ea typeface="+mj-ea"/>
                <a:sym typeface="Consolas" panose="020B0609020204030204" pitchFamily="49" charset="0"/>
              </a:rPr>
              <a:t>WHHP_2015</a:t>
            </a:r>
            <a:r>
              <a:rPr lang="zh-CN" altLang="en-US" dirty="0">
                <a:latin typeface="+mn-lt"/>
                <a:ea typeface="+mj-ea"/>
                <a:sym typeface="Consolas" panose="020B0609020204030204" pitchFamily="49" charset="0"/>
              </a:rPr>
              <a:t>属性数据中：</a:t>
            </a:r>
            <a:endParaRPr lang="en-US" altLang="zh-CN" dirty="0">
              <a:latin typeface="+mn-lt"/>
              <a:ea typeface="+mj-ea"/>
              <a:sym typeface="Consolas" panose="020B0609020204030204" pitchFamily="49" charset="0"/>
            </a:endParaRPr>
          </a:p>
        </p:txBody>
      </p:sp>
      <p:sp>
        <p:nvSpPr>
          <p:cNvPr id="10" name="标题 9">
            <a:extLst>
              <a:ext uri="{FF2B5EF4-FFF2-40B4-BE49-F238E27FC236}">
                <a16:creationId xmlns:a16="http://schemas.microsoft.com/office/drawing/2014/main" id="{4BC6CDBA-A81D-4C08-BCD7-A41184ED4EB8}"/>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4.2 </a:t>
            </a:r>
            <a:r>
              <a:rPr lang="zh-CN" altLang="en-US" sz="3600" dirty="0">
                <a:latin typeface="Times New Roman" panose="02020603050405020304" pitchFamily="18" charset="0"/>
                <a:cs typeface="Times New Roman" panose="02020603050405020304" pitchFamily="18" charset="0"/>
              </a:rPr>
              <a:t>属性数据编辑</a:t>
            </a:r>
          </a:p>
        </p:txBody>
      </p:sp>
      <p:sp>
        <p:nvSpPr>
          <p:cNvPr id="12" name="灯片编号占位符 11">
            <a:extLst>
              <a:ext uri="{FF2B5EF4-FFF2-40B4-BE49-F238E27FC236}">
                <a16:creationId xmlns:a16="http://schemas.microsoft.com/office/drawing/2014/main" id="{8651620E-D1DC-282C-4313-EC3330EAFEBF}"/>
              </a:ext>
            </a:extLst>
          </p:cNvPr>
          <p:cNvSpPr>
            <a:spLocks noGrp="1"/>
          </p:cNvSpPr>
          <p:nvPr>
            <p:ph type="sldNum" sz="quarter" idx="12"/>
          </p:nvPr>
        </p:nvSpPr>
        <p:spPr/>
        <p:txBody>
          <a:bodyPr/>
          <a:lstStyle/>
          <a:p>
            <a:fld id="{6B3369F9-03CD-4B48-86A9-9EE39A82955A}" type="slidenum">
              <a:rPr lang="zh-CN" altLang="en-US">
                <a:solidFill>
                  <a:schemeClr val="bg2">
                    <a:lumMod val="75000"/>
                  </a:schemeClr>
                </a:solidFill>
              </a:rPr>
              <a:t>9</a:t>
            </a:fld>
            <a:endParaRPr lang="zh-CN" altLang="en-US" dirty="0">
              <a:solidFill>
                <a:schemeClr val="bg2">
                  <a:lumMod val="75000"/>
                </a:schemeClr>
              </a:solidFill>
            </a:endParaRPr>
          </a:p>
        </p:txBody>
      </p:sp>
      <p:sp>
        <p:nvSpPr>
          <p:cNvPr id="2" name="文本框 1">
            <a:extLst>
              <a:ext uri="{FF2B5EF4-FFF2-40B4-BE49-F238E27FC236}">
                <a16:creationId xmlns:a16="http://schemas.microsoft.com/office/drawing/2014/main" id="{95C8228C-8269-13A2-6EA2-ABFDDB90F728}"/>
              </a:ext>
            </a:extLst>
          </p:cNvPr>
          <p:cNvSpPr txBox="1"/>
          <p:nvPr/>
        </p:nvSpPr>
        <p:spPr>
          <a:xfrm>
            <a:off x="1027433" y="3581400"/>
            <a:ext cx="7086600" cy="1323439"/>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den &lt;-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data.frame</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(den)</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rownames</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(den) &lt;-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as.character</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as.numeric</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rownames</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(den))-</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names(den) &lt;-</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Pop_Den</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WHHP_sp</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spCbind</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WHHP_sp,den</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endParaRPr lang="zh-CN" altLang="zh-CN" sz="1600" dirty="0">
              <a:effectLst/>
              <a:latin typeface="Times New Roman" panose="02020603050405020304" pitchFamily="18" charset="0"/>
              <a:ea typeface="宋体" panose="02010600030101010101" pitchFamily="2" charset="-122"/>
            </a:endParaRPr>
          </a:p>
          <a:p>
            <a:pPr indent="127000" algn="l"/>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summary(</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WHHP_sp</a:t>
            </a:r>
            <a:r>
              <a:rPr lang="en-US" altLang="zh-CN" sz="16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data</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p:txBody>
      </p:sp>
      <p:sp>
        <p:nvSpPr>
          <p:cNvPr id="4" name="文本框 3">
            <a:extLst>
              <a:ext uri="{FF2B5EF4-FFF2-40B4-BE49-F238E27FC236}">
                <a16:creationId xmlns:a16="http://schemas.microsoft.com/office/drawing/2014/main" id="{563D0AEB-8ED8-030D-A67E-8C163587073C}"/>
              </a:ext>
            </a:extLst>
          </p:cNvPr>
          <p:cNvSpPr txBox="1"/>
          <p:nvPr/>
        </p:nvSpPr>
        <p:spPr>
          <a:xfrm>
            <a:off x="457200" y="1327100"/>
            <a:ext cx="2159566" cy="461665"/>
          </a:xfrm>
          <a:prstGeom prst="rect">
            <a:avLst/>
          </a:prstGeom>
          <a:noFill/>
        </p:spPr>
        <p:txBody>
          <a:bodyPr wrap="none" rtlCol="0">
            <a:spAutoFit/>
          </a:bodyPr>
          <a:lstStyle/>
          <a:p>
            <a:r>
              <a:rPr lang="en-US" altLang="zh-CN" sz="2400" b="1" dirty="0">
                <a:latin typeface="+mj-lt"/>
                <a:ea typeface="+mj-ea"/>
              </a:rPr>
              <a:t>(1) Spatial</a:t>
            </a:r>
            <a:r>
              <a:rPr lang="zh-CN" altLang="en-US" sz="2400" b="1" dirty="0">
                <a:latin typeface="+mj-lt"/>
                <a:ea typeface="+mj-ea"/>
              </a:rPr>
              <a:t>对象</a:t>
            </a:r>
          </a:p>
        </p:txBody>
      </p:sp>
    </p:spTree>
    <p:extLst>
      <p:ext uri="{BB962C8B-B14F-4D97-AF65-F5344CB8AC3E}">
        <p14:creationId xmlns:p14="http://schemas.microsoft.com/office/powerpoint/2010/main" val="9506469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D1236-CC5A-2EAB-D19A-B8A1D0DD50E2}"/>
            </a:ext>
          </a:extLst>
        </p:cNvPr>
        <p:cNvGrpSpPr/>
        <p:nvPr/>
      </p:nvGrpSpPr>
      <p:grpSpPr>
        <a:xfrm>
          <a:off x="0" y="0"/>
          <a:ext cx="0" cy="0"/>
          <a:chOff x="0" y="0"/>
          <a:chExt cx="0" cy="0"/>
        </a:xfrm>
      </p:grpSpPr>
      <p:sp>
        <p:nvSpPr>
          <p:cNvPr id="11" name="矩形 10">
            <a:extLst>
              <a:ext uri="{FF2B5EF4-FFF2-40B4-BE49-F238E27FC236}">
                <a16:creationId xmlns:a16="http://schemas.microsoft.com/office/drawing/2014/main" id="{123AED4C-1A7E-A1B7-CFAC-A7F2A201F364}"/>
              </a:ext>
            </a:extLst>
          </p:cNvPr>
          <p:cNvSpPr/>
          <p:nvPr/>
        </p:nvSpPr>
        <p:spPr>
          <a:xfrm>
            <a:off x="501971" y="1943100"/>
            <a:ext cx="8137525" cy="2536207"/>
          </a:xfrm>
          <a:prstGeom prst="rect">
            <a:avLst/>
          </a:prstGeom>
        </p:spPr>
        <p:txBody>
          <a:bodyPr wrap="square">
            <a:spAutoFit/>
          </a:bodyPr>
          <a:lstStyle/>
          <a:p>
            <a:pPr indent="457200">
              <a:lnSpc>
                <a:spcPct val="150000"/>
              </a:lnSpc>
            </a:pPr>
            <a:r>
              <a:rPr lang="en-US" altLang="zh-CN" b="1" dirty="0">
                <a:latin typeface="+mn-lt"/>
                <a:ea typeface="+mj-ea"/>
                <a:sym typeface="Consolas" panose="020B0609020204030204" pitchFamily="49" charset="0"/>
              </a:rPr>
              <a:t>Simple Feature</a:t>
            </a:r>
            <a:r>
              <a:rPr lang="zh-CN" altLang="en-US" dirty="0">
                <a:latin typeface="+mn-lt"/>
                <a:ea typeface="+mj-ea"/>
                <a:sym typeface="Consolas" panose="020B0609020204030204" pitchFamily="49" charset="0"/>
              </a:rPr>
              <a:t>对象也分为</a:t>
            </a:r>
            <a:r>
              <a:rPr lang="zh-CN" altLang="en-US" b="1" dirty="0">
                <a:latin typeface="+mn-lt"/>
                <a:ea typeface="+mj-ea"/>
                <a:sym typeface="Consolas" panose="020B0609020204030204" pitchFamily="49" charset="0"/>
              </a:rPr>
              <a:t>属性</a:t>
            </a:r>
            <a:r>
              <a:rPr lang="zh-CN" altLang="en-US" dirty="0">
                <a:latin typeface="+mn-lt"/>
                <a:ea typeface="+mj-ea"/>
                <a:sym typeface="Consolas" panose="020B0609020204030204" pitchFamily="49" charset="0"/>
              </a:rPr>
              <a:t>和</a:t>
            </a:r>
            <a:r>
              <a:rPr lang="zh-CN" altLang="en-US" b="1" dirty="0">
                <a:latin typeface="+mn-lt"/>
                <a:ea typeface="+mj-ea"/>
                <a:sym typeface="Consolas" panose="020B0609020204030204" pitchFamily="49" charset="0"/>
              </a:rPr>
              <a:t>空间</a:t>
            </a:r>
            <a:r>
              <a:rPr lang="zh-CN" altLang="en-US" dirty="0">
                <a:latin typeface="+mn-lt"/>
                <a:ea typeface="+mj-ea"/>
                <a:sym typeface="Consolas" panose="020B0609020204030204" pitchFamily="49" charset="0"/>
              </a:rPr>
              <a:t>两个部分，其中</a:t>
            </a:r>
            <a:r>
              <a:rPr lang="en-US" altLang="zh-CN" b="1" dirty="0">
                <a:latin typeface="+mn-lt"/>
                <a:ea typeface="+mj-ea"/>
                <a:sym typeface="Consolas" panose="020B0609020204030204" pitchFamily="49" charset="0"/>
              </a:rPr>
              <a:t>geometry</a:t>
            </a:r>
            <a:r>
              <a:rPr lang="zh-CN" altLang="en-US" b="1" dirty="0">
                <a:latin typeface="+mn-lt"/>
                <a:ea typeface="+mj-ea"/>
                <a:sym typeface="Consolas" panose="020B0609020204030204" pitchFamily="49" charset="0"/>
              </a:rPr>
              <a:t>列存储空间信息</a:t>
            </a:r>
            <a:r>
              <a:rPr lang="zh-CN" altLang="en-US" dirty="0">
                <a:latin typeface="+mn-lt"/>
                <a:ea typeface="+mj-ea"/>
                <a:sym typeface="Consolas" panose="020B0609020204030204" pitchFamily="49" charset="0"/>
              </a:rPr>
              <a:t>部分，其他列存储的则是属性部分。对属性数据进行操作：</a:t>
            </a:r>
            <a:endParaRPr lang="en-US" altLang="zh-CN" dirty="0">
              <a:latin typeface="+mn-lt"/>
              <a:ea typeface="+mj-ea"/>
              <a:sym typeface="Consolas" panose="020B0609020204030204" pitchFamily="49" charset="0"/>
            </a:endParaRPr>
          </a:p>
          <a:p>
            <a:pPr indent="457200">
              <a:lnSpc>
                <a:spcPct val="150000"/>
              </a:lnSpc>
            </a:pPr>
            <a:r>
              <a:rPr lang="zh-CN" altLang="en-US" dirty="0">
                <a:latin typeface="+mn-lt"/>
                <a:ea typeface="+mj-ea"/>
                <a:sym typeface="Consolas" panose="020B0609020204030204" pitchFamily="49" charset="0"/>
              </a:rPr>
              <a:t>① 使用</a:t>
            </a:r>
            <a:r>
              <a:rPr lang="en-US" altLang="zh-CN" b="1" i="1" dirty="0" err="1">
                <a:latin typeface="+mn-lt"/>
                <a:ea typeface="+mj-ea"/>
                <a:sym typeface="Consolas" panose="020B0609020204030204" pitchFamily="49" charset="0"/>
              </a:rPr>
              <a:t>st_drop_geometry</a:t>
            </a:r>
            <a:r>
              <a:rPr lang="zh-CN" altLang="en-US" dirty="0">
                <a:latin typeface="+mn-lt"/>
                <a:ea typeface="+mj-ea"/>
                <a:sym typeface="Consolas" panose="020B0609020204030204" pitchFamily="49" charset="0"/>
              </a:rPr>
              <a:t>函数可以获得单独的属性数据；</a:t>
            </a:r>
            <a:endParaRPr lang="en-US" altLang="zh-CN" dirty="0">
              <a:latin typeface="+mn-lt"/>
              <a:ea typeface="+mj-ea"/>
              <a:sym typeface="Consolas" panose="020B0609020204030204" pitchFamily="49" charset="0"/>
            </a:endParaRPr>
          </a:p>
          <a:p>
            <a:pPr indent="457200">
              <a:lnSpc>
                <a:spcPct val="150000"/>
              </a:lnSpc>
            </a:pPr>
            <a:r>
              <a:rPr lang="zh-CN" altLang="en-US" dirty="0">
                <a:latin typeface="+mn-lt"/>
                <a:ea typeface="+mj-ea"/>
                <a:sym typeface="Consolas" panose="020B0609020204030204" pitchFamily="49" charset="0"/>
              </a:rPr>
              <a:t>② 通过“</a:t>
            </a:r>
            <a:r>
              <a:rPr lang="en-US" altLang="zh-CN" b="1" dirty="0">
                <a:latin typeface="+mn-lt"/>
                <a:ea typeface="+mj-ea"/>
                <a:sym typeface="Consolas" panose="020B0609020204030204" pitchFamily="49" charset="0"/>
              </a:rPr>
              <a:t>$</a:t>
            </a:r>
            <a:r>
              <a:rPr lang="zh-CN" altLang="en-US" b="1" dirty="0">
                <a:latin typeface="+mn-lt"/>
                <a:ea typeface="+mj-ea"/>
                <a:sym typeface="Consolas" panose="020B0609020204030204" pitchFamily="49" charset="0"/>
              </a:rPr>
              <a:t>”符号加属性列名</a:t>
            </a:r>
            <a:r>
              <a:rPr lang="zh-CN" altLang="en-US" dirty="0">
                <a:latin typeface="+mn-lt"/>
                <a:ea typeface="+mj-ea"/>
                <a:sym typeface="Consolas" panose="020B0609020204030204" pitchFamily="49" charset="0"/>
              </a:rPr>
              <a:t>或者使用</a:t>
            </a:r>
            <a:r>
              <a:rPr lang="en-US" altLang="zh-CN" b="1" dirty="0" err="1">
                <a:latin typeface="+mn-lt"/>
                <a:ea typeface="+mj-ea"/>
                <a:sym typeface="Consolas" panose="020B0609020204030204" pitchFamily="49" charset="0"/>
              </a:rPr>
              <a:t>dplyr</a:t>
            </a:r>
            <a:r>
              <a:rPr lang="zh-CN" altLang="en-US" dirty="0">
                <a:latin typeface="+mn-lt"/>
                <a:ea typeface="+mj-ea"/>
                <a:sym typeface="Consolas" panose="020B0609020204030204" pitchFamily="49" charset="0"/>
              </a:rPr>
              <a:t>包提供的</a:t>
            </a:r>
            <a:r>
              <a:rPr lang="en-US" altLang="zh-CN" b="1" i="1" dirty="0">
                <a:latin typeface="+mn-lt"/>
                <a:ea typeface="+mj-ea"/>
                <a:sym typeface="Consolas" panose="020B0609020204030204" pitchFamily="49" charset="0"/>
              </a:rPr>
              <a:t>select</a:t>
            </a:r>
            <a:r>
              <a:rPr lang="zh-CN" altLang="en-US" dirty="0">
                <a:latin typeface="+mn-lt"/>
                <a:ea typeface="+mj-ea"/>
                <a:sym typeface="Consolas" panose="020B0609020204030204" pitchFamily="49" charset="0"/>
              </a:rPr>
              <a:t>函数引用某列，对其进行增加、删除、关联等操作</a:t>
            </a:r>
            <a:endParaRPr lang="en-US" altLang="zh-CN" dirty="0">
              <a:latin typeface="+mn-lt"/>
              <a:ea typeface="+mj-ea"/>
              <a:sym typeface="Consolas" panose="020B0609020204030204" pitchFamily="49" charset="0"/>
            </a:endParaRPr>
          </a:p>
          <a:p>
            <a:pPr indent="457200">
              <a:lnSpc>
                <a:spcPct val="150000"/>
              </a:lnSpc>
            </a:pPr>
            <a:r>
              <a:rPr lang="zh-CN" altLang="en-US" dirty="0">
                <a:latin typeface="+mn-lt"/>
                <a:ea typeface="+mj-ea"/>
                <a:sym typeface="Consolas" panose="020B0609020204030204" pitchFamily="49" charset="0"/>
              </a:rPr>
              <a:t>读入示例数据</a:t>
            </a:r>
            <a:r>
              <a:rPr lang="en-US" altLang="zh-CN" dirty="0">
                <a:latin typeface="+mn-lt"/>
                <a:ea typeface="+mj-ea"/>
                <a:sym typeface="Consolas" panose="020B0609020204030204" pitchFamily="49" charset="0"/>
              </a:rPr>
              <a:t>WHHP_2015</a:t>
            </a:r>
            <a:r>
              <a:rPr lang="zh-CN" altLang="en-US" dirty="0">
                <a:latin typeface="+mn-lt"/>
                <a:ea typeface="+mj-ea"/>
                <a:sym typeface="Consolas" panose="020B0609020204030204" pitchFamily="49" charset="0"/>
              </a:rPr>
              <a:t>，并获取属性数据：</a:t>
            </a:r>
            <a:endParaRPr lang="en-US" altLang="zh-CN" dirty="0">
              <a:latin typeface="+mn-lt"/>
              <a:ea typeface="+mj-ea"/>
              <a:sym typeface="Consolas" panose="020B0609020204030204" pitchFamily="49" charset="0"/>
            </a:endParaRPr>
          </a:p>
        </p:txBody>
      </p:sp>
      <p:sp>
        <p:nvSpPr>
          <p:cNvPr id="10" name="标题 9">
            <a:extLst>
              <a:ext uri="{FF2B5EF4-FFF2-40B4-BE49-F238E27FC236}">
                <a16:creationId xmlns:a16="http://schemas.microsoft.com/office/drawing/2014/main" id="{7D25E1B7-1603-880F-F659-5836B2744590}"/>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4.2 </a:t>
            </a:r>
            <a:r>
              <a:rPr lang="zh-CN" altLang="en-US" sz="3600" dirty="0">
                <a:latin typeface="Times New Roman" panose="02020603050405020304" pitchFamily="18" charset="0"/>
                <a:cs typeface="Times New Roman" panose="02020603050405020304" pitchFamily="18" charset="0"/>
              </a:rPr>
              <a:t>属性数据编辑</a:t>
            </a:r>
          </a:p>
        </p:txBody>
      </p:sp>
      <p:sp>
        <p:nvSpPr>
          <p:cNvPr id="12" name="灯片编号占位符 11">
            <a:extLst>
              <a:ext uri="{FF2B5EF4-FFF2-40B4-BE49-F238E27FC236}">
                <a16:creationId xmlns:a16="http://schemas.microsoft.com/office/drawing/2014/main" id="{92248BEB-4037-AD9A-B130-31527AB669CD}"/>
              </a:ext>
            </a:extLst>
          </p:cNvPr>
          <p:cNvSpPr>
            <a:spLocks noGrp="1"/>
          </p:cNvSpPr>
          <p:nvPr>
            <p:ph type="sldNum" sz="quarter" idx="12"/>
          </p:nvPr>
        </p:nvSpPr>
        <p:spPr/>
        <p:txBody>
          <a:bodyPr/>
          <a:lstStyle/>
          <a:p>
            <a:fld id="{6B3369F9-03CD-4B48-86A9-9EE39A82955A}" type="slidenum">
              <a:rPr lang="zh-CN" altLang="en-US">
                <a:solidFill>
                  <a:schemeClr val="bg2">
                    <a:lumMod val="75000"/>
                  </a:schemeClr>
                </a:solidFill>
              </a:rPr>
              <a:t>10</a:t>
            </a:fld>
            <a:endParaRPr lang="zh-CN" altLang="en-US" dirty="0">
              <a:solidFill>
                <a:schemeClr val="bg2">
                  <a:lumMod val="75000"/>
                </a:schemeClr>
              </a:solidFill>
            </a:endParaRPr>
          </a:p>
        </p:txBody>
      </p:sp>
      <p:sp>
        <p:nvSpPr>
          <p:cNvPr id="2" name="文本框 1">
            <a:extLst>
              <a:ext uri="{FF2B5EF4-FFF2-40B4-BE49-F238E27FC236}">
                <a16:creationId xmlns:a16="http://schemas.microsoft.com/office/drawing/2014/main" id="{9EF92316-C9B3-81EC-0CB5-F7F67B41964E}"/>
              </a:ext>
            </a:extLst>
          </p:cNvPr>
          <p:cNvSpPr txBox="1"/>
          <p:nvPr/>
        </p:nvSpPr>
        <p:spPr>
          <a:xfrm>
            <a:off x="1027433" y="4610100"/>
            <a:ext cx="7086600" cy="1077218"/>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library(sf)</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library(</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dplyr</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WHHP_sf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read_sf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"WHHP_2015.shp"</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WHHP_att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st_drop_geometry</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WHHP_sf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p:txBody>
      </p:sp>
      <p:sp>
        <p:nvSpPr>
          <p:cNvPr id="3" name="文本框 2">
            <a:extLst>
              <a:ext uri="{FF2B5EF4-FFF2-40B4-BE49-F238E27FC236}">
                <a16:creationId xmlns:a16="http://schemas.microsoft.com/office/drawing/2014/main" id="{7C9E5549-0CA9-866E-7A0B-782B5221BA4D}"/>
              </a:ext>
            </a:extLst>
          </p:cNvPr>
          <p:cNvSpPr txBox="1"/>
          <p:nvPr/>
        </p:nvSpPr>
        <p:spPr>
          <a:xfrm>
            <a:off x="457200" y="1327100"/>
            <a:ext cx="3237618" cy="461665"/>
          </a:xfrm>
          <a:prstGeom prst="rect">
            <a:avLst/>
          </a:prstGeom>
          <a:noFill/>
        </p:spPr>
        <p:txBody>
          <a:bodyPr wrap="none" rtlCol="0">
            <a:spAutoFit/>
          </a:bodyPr>
          <a:lstStyle/>
          <a:p>
            <a:r>
              <a:rPr lang="en-US" altLang="zh-CN" sz="2400" b="1" dirty="0">
                <a:latin typeface="+mj-lt"/>
                <a:ea typeface="+mj-ea"/>
              </a:rPr>
              <a:t>(2) Simple Feature</a:t>
            </a:r>
            <a:r>
              <a:rPr lang="zh-CN" altLang="en-US" sz="2400" b="1" dirty="0">
                <a:latin typeface="+mj-lt"/>
                <a:ea typeface="+mj-ea"/>
              </a:rPr>
              <a:t>对象</a:t>
            </a:r>
          </a:p>
        </p:txBody>
      </p:sp>
    </p:spTree>
    <p:extLst>
      <p:ext uri="{BB962C8B-B14F-4D97-AF65-F5344CB8AC3E}">
        <p14:creationId xmlns:p14="http://schemas.microsoft.com/office/powerpoint/2010/main" val="34491206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00D1D1-AC08-B332-4423-6561AB71444C}"/>
            </a:ext>
          </a:extLst>
        </p:cNvPr>
        <p:cNvGrpSpPr/>
        <p:nvPr/>
      </p:nvGrpSpPr>
      <p:grpSpPr>
        <a:xfrm>
          <a:off x="0" y="0"/>
          <a:ext cx="0" cy="0"/>
          <a:chOff x="0" y="0"/>
          <a:chExt cx="0" cy="0"/>
        </a:xfrm>
      </p:grpSpPr>
      <p:sp>
        <p:nvSpPr>
          <p:cNvPr id="11" name="矩形 10">
            <a:extLst>
              <a:ext uri="{FF2B5EF4-FFF2-40B4-BE49-F238E27FC236}">
                <a16:creationId xmlns:a16="http://schemas.microsoft.com/office/drawing/2014/main" id="{6A5F8773-4458-6007-43C4-EB53926A8E47}"/>
              </a:ext>
            </a:extLst>
          </p:cNvPr>
          <p:cNvSpPr/>
          <p:nvPr/>
        </p:nvSpPr>
        <p:spPr>
          <a:xfrm>
            <a:off x="501971" y="1858320"/>
            <a:ext cx="8137525" cy="874214"/>
          </a:xfrm>
          <a:prstGeom prst="rect">
            <a:avLst/>
          </a:prstGeom>
        </p:spPr>
        <p:txBody>
          <a:bodyPr wrap="square">
            <a:spAutoFit/>
          </a:bodyPr>
          <a:lstStyle/>
          <a:p>
            <a:pPr indent="457200">
              <a:lnSpc>
                <a:spcPct val="150000"/>
              </a:lnSpc>
            </a:pPr>
            <a:r>
              <a:rPr lang="zh-CN" altLang="en-US" dirty="0">
                <a:latin typeface="+mn-lt"/>
                <a:ea typeface="+mj-ea"/>
                <a:sym typeface="Consolas" panose="020B0609020204030204" pitchFamily="49" charset="0"/>
              </a:rPr>
              <a:t>通过输出其属性列概览信息，同样可观察到其属性列中存在一列重复列“</a:t>
            </a:r>
            <a:r>
              <a:rPr lang="en-US" altLang="zh-CN" dirty="0">
                <a:latin typeface="+mn-lt"/>
                <a:ea typeface="+mj-ea"/>
                <a:sym typeface="Consolas" panose="020B0609020204030204" pitchFamily="49" charset="0"/>
              </a:rPr>
              <a:t>FID_1_1</a:t>
            </a:r>
            <a:r>
              <a:rPr lang="zh-CN" altLang="en-US" dirty="0">
                <a:latin typeface="+mn-lt"/>
                <a:ea typeface="+mj-ea"/>
                <a:sym typeface="Consolas" panose="020B0609020204030204" pitchFamily="49" charset="0"/>
              </a:rPr>
              <a:t>”和一列空值列“</a:t>
            </a:r>
            <a:r>
              <a:rPr lang="en-US" altLang="zh-CN" dirty="0">
                <a:latin typeface="+mn-lt"/>
                <a:ea typeface="+mj-ea"/>
                <a:sym typeface="Consolas" panose="020B0609020204030204" pitchFamily="49" charset="0"/>
              </a:rPr>
              <a:t>District</a:t>
            </a:r>
            <a:r>
              <a:rPr lang="zh-CN" altLang="en-US" dirty="0">
                <a:latin typeface="+mn-lt"/>
                <a:ea typeface="+mj-ea"/>
                <a:sym typeface="Consolas" panose="020B0609020204030204" pitchFamily="49" charset="0"/>
              </a:rPr>
              <a:t>”：</a:t>
            </a:r>
            <a:endParaRPr lang="en-US" altLang="zh-CN" dirty="0">
              <a:latin typeface="+mn-lt"/>
              <a:ea typeface="+mj-ea"/>
              <a:sym typeface="Consolas" panose="020B0609020204030204" pitchFamily="49" charset="0"/>
            </a:endParaRPr>
          </a:p>
        </p:txBody>
      </p:sp>
      <p:sp>
        <p:nvSpPr>
          <p:cNvPr id="10" name="标题 9">
            <a:extLst>
              <a:ext uri="{FF2B5EF4-FFF2-40B4-BE49-F238E27FC236}">
                <a16:creationId xmlns:a16="http://schemas.microsoft.com/office/drawing/2014/main" id="{21BEB3FB-A510-7266-2258-6C0C7B10F7A4}"/>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4.2 </a:t>
            </a:r>
            <a:r>
              <a:rPr lang="zh-CN" altLang="en-US" sz="3600" dirty="0">
                <a:latin typeface="Times New Roman" panose="02020603050405020304" pitchFamily="18" charset="0"/>
                <a:cs typeface="Times New Roman" panose="02020603050405020304" pitchFamily="18" charset="0"/>
              </a:rPr>
              <a:t>属性数据编辑</a:t>
            </a:r>
          </a:p>
        </p:txBody>
      </p:sp>
      <p:sp>
        <p:nvSpPr>
          <p:cNvPr id="12" name="灯片编号占位符 11">
            <a:extLst>
              <a:ext uri="{FF2B5EF4-FFF2-40B4-BE49-F238E27FC236}">
                <a16:creationId xmlns:a16="http://schemas.microsoft.com/office/drawing/2014/main" id="{227286B9-9C24-836A-8658-96E1DFB97BC7}"/>
              </a:ext>
            </a:extLst>
          </p:cNvPr>
          <p:cNvSpPr>
            <a:spLocks noGrp="1"/>
          </p:cNvSpPr>
          <p:nvPr>
            <p:ph type="sldNum" sz="quarter" idx="12"/>
          </p:nvPr>
        </p:nvSpPr>
        <p:spPr/>
        <p:txBody>
          <a:bodyPr/>
          <a:lstStyle/>
          <a:p>
            <a:fld id="{6B3369F9-03CD-4B48-86A9-9EE39A82955A}" type="slidenum">
              <a:rPr lang="zh-CN" altLang="en-US">
                <a:solidFill>
                  <a:schemeClr val="bg2">
                    <a:lumMod val="75000"/>
                  </a:schemeClr>
                </a:solidFill>
              </a:rPr>
              <a:t>11</a:t>
            </a:fld>
            <a:endParaRPr lang="zh-CN" altLang="en-US" dirty="0">
              <a:solidFill>
                <a:schemeClr val="bg2">
                  <a:lumMod val="75000"/>
                </a:schemeClr>
              </a:solidFill>
            </a:endParaRPr>
          </a:p>
        </p:txBody>
      </p:sp>
      <p:sp>
        <p:nvSpPr>
          <p:cNvPr id="2" name="文本框 1">
            <a:extLst>
              <a:ext uri="{FF2B5EF4-FFF2-40B4-BE49-F238E27FC236}">
                <a16:creationId xmlns:a16="http://schemas.microsoft.com/office/drawing/2014/main" id="{B03E5B00-F7D2-9B43-660D-0CB4ED375854}"/>
              </a:ext>
            </a:extLst>
          </p:cNvPr>
          <p:cNvSpPr txBox="1"/>
          <p:nvPr/>
        </p:nvSpPr>
        <p:spPr>
          <a:xfrm>
            <a:off x="1027433" y="2805611"/>
            <a:ext cx="7086600" cy="584775"/>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class(</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WHHP_att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summary(</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WHHP_att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p:txBody>
      </p:sp>
      <p:sp>
        <p:nvSpPr>
          <p:cNvPr id="3" name="文本框 2">
            <a:extLst>
              <a:ext uri="{FF2B5EF4-FFF2-40B4-BE49-F238E27FC236}">
                <a16:creationId xmlns:a16="http://schemas.microsoft.com/office/drawing/2014/main" id="{74263B21-0333-08D2-A0B0-903FF8D9B252}"/>
              </a:ext>
            </a:extLst>
          </p:cNvPr>
          <p:cNvSpPr txBox="1"/>
          <p:nvPr/>
        </p:nvSpPr>
        <p:spPr>
          <a:xfrm>
            <a:off x="457200" y="1327100"/>
            <a:ext cx="3237618" cy="461665"/>
          </a:xfrm>
          <a:prstGeom prst="rect">
            <a:avLst/>
          </a:prstGeom>
          <a:noFill/>
        </p:spPr>
        <p:txBody>
          <a:bodyPr wrap="none" rtlCol="0">
            <a:spAutoFit/>
          </a:bodyPr>
          <a:lstStyle/>
          <a:p>
            <a:r>
              <a:rPr lang="en-US" altLang="zh-CN" sz="2400" b="1" dirty="0">
                <a:latin typeface="+mj-lt"/>
                <a:ea typeface="+mj-ea"/>
              </a:rPr>
              <a:t>(2) Simple Feature</a:t>
            </a:r>
            <a:r>
              <a:rPr lang="zh-CN" altLang="en-US" sz="2400" b="1" dirty="0">
                <a:latin typeface="+mj-lt"/>
                <a:ea typeface="+mj-ea"/>
              </a:rPr>
              <a:t>对象</a:t>
            </a:r>
          </a:p>
        </p:txBody>
      </p:sp>
      <p:pic>
        <p:nvPicPr>
          <p:cNvPr id="4" name="图片 3">
            <a:extLst>
              <a:ext uri="{FF2B5EF4-FFF2-40B4-BE49-F238E27FC236}">
                <a16:creationId xmlns:a16="http://schemas.microsoft.com/office/drawing/2014/main" id="{72420B18-8D5B-31DC-B75C-C3D6B25E46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33578" y="3622371"/>
            <a:ext cx="5274310" cy="2776220"/>
          </a:xfrm>
          <a:prstGeom prst="rect">
            <a:avLst/>
          </a:prstGeom>
          <a:ln>
            <a:noFill/>
          </a:ln>
          <a:effectLst>
            <a:outerShdw blurRad="190500" algn="tl" rotWithShape="0">
              <a:srgbClr val="000000">
                <a:alpha val="70000"/>
              </a:srgbClr>
            </a:outerShdw>
          </a:effectLst>
        </p:spPr>
      </p:pic>
      <p:sp>
        <p:nvSpPr>
          <p:cNvPr id="5" name="矩形 4">
            <a:extLst>
              <a:ext uri="{FF2B5EF4-FFF2-40B4-BE49-F238E27FC236}">
                <a16:creationId xmlns:a16="http://schemas.microsoft.com/office/drawing/2014/main" id="{CD90E891-F848-2486-6BE1-C1AA3239B073}"/>
              </a:ext>
            </a:extLst>
          </p:cNvPr>
          <p:cNvSpPr/>
          <p:nvPr/>
        </p:nvSpPr>
        <p:spPr>
          <a:xfrm>
            <a:off x="2705100" y="3539835"/>
            <a:ext cx="1752600" cy="830134"/>
          </a:xfrm>
          <a:prstGeom prst="rect">
            <a:avLst/>
          </a:prstGeom>
          <a:noFill/>
          <a:ln>
            <a:solidFill>
              <a:schemeClr val="accent6"/>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7144942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1F99A-EDB2-95C1-A4CB-4FD94107B8D8}"/>
            </a:ext>
          </a:extLst>
        </p:cNvPr>
        <p:cNvGrpSpPr/>
        <p:nvPr/>
      </p:nvGrpSpPr>
      <p:grpSpPr>
        <a:xfrm>
          <a:off x="0" y="0"/>
          <a:ext cx="0" cy="0"/>
          <a:chOff x="0" y="0"/>
          <a:chExt cx="0" cy="0"/>
        </a:xfrm>
      </p:grpSpPr>
      <p:sp>
        <p:nvSpPr>
          <p:cNvPr id="11" name="矩形 10">
            <a:extLst>
              <a:ext uri="{FF2B5EF4-FFF2-40B4-BE49-F238E27FC236}">
                <a16:creationId xmlns:a16="http://schemas.microsoft.com/office/drawing/2014/main" id="{AB1D3C0C-8F91-974A-8EDF-E15C0CA64466}"/>
              </a:ext>
            </a:extLst>
          </p:cNvPr>
          <p:cNvSpPr/>
          <p:nvPr/>
        </p:nvSpPr>
        <p:spPr>
          <a:xfrm>
            <a:off x="501971" y="1509723"/>
            <a:ext cx="8137525" cy="458715"/>
          </a:xfrm>
          <a:prstGeom prst="rect">
            <a:avLst/>
          </a:prstGeom>
        </p:spPr>
        <p:txBody>
          <a:bodyPr wrap="square">
            <a:spAutoFit/>
          </a:bodyPr>
          <a:lstStyle/>
          <a:p>
            <a:pPr indent="457200">
              <a:lnSpc>
                <a:spcPct val="150000"/>
              </a:lnSpc>
            </a:pPr>
            <a:r>
              <a:rPr lang="zh-CN" altLang="en-US" dirty="0">
                <a:latin typeface="+mn-lt"/>
                <a:ea typeface="+mj-ea"/>
                <a:sym typeface="Consolas" panose="020B0609020204030204" pitchFamily="49" charset="0"/>
              </a:rPr>
              <a:t>下面三种方法都可以将重复列和空值列删除：</a:t>
            </a:r>
            <a:endParaRPr lang="en-US" altLang="zh-CN" dirty="0">
              <a:latin typeface="+mn-lt"/>
              <a:ea typeface="+mj-ea"/>
              <a:sym typeface="Consolas" panose="020B0609020204030204" pitchFamily="49" charset="0"/>
            </a:endParaRPr>
          </a:p>
        </p:txBody>
      </p:sp>
      <p:sp>
        <p:nvSpPr>
          <p:cNvPr id="10" name="标题 9">
            <a:extLst>
              <a:ext uri="{FF2B5EF4-FFF2-40B4-BE49-F238E27FC236}">
                <a16:creationId xmlns:a16="http://schemas.microsoft.com/office/drawing/2014/main" id="{DB5C26A4-3C0C-D157-4DA8-0AF4E7C47512}"/>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4.2 </a:t>
            </a:r>
            <a:r>
              <a:rPr lang="zh-CN" altLang="en-US" sz="3600" dirty="0">
                <a:latin typeface="Times New Roman" panose="02020603050405020304" pitchFamily="18" charset="0"/>
                <a:cs typeface="Times New Roman" panose="02020603050405020304" pitchFamily="18" charset="0"/>
              </a:rPr>
              <a:t>属性数据编辑</a:t>
            </a:r>
          </a:p>
        </p:txBody>
      </p:sp>
      <p:sp>
        <p:nvSpPr>
          <p:cNvPr id="12" name="灯片编号占位符 11">
            <a:extLst>
              <a:ext uri="{FF2B5EF4-FFF2-40B4-BE49-F238E27FC236}">
                <a16:creationId xmlns:a16="http://schemas.microsoft.com/office/drawing/2014/main" id="{F652D5C4-0225-3210-BB26-50D62940BECD}"/>
              </a:ext>
            </a:extLst>
          </p:cNvPr>
          <p:cNvSpPr>
            <a:spLocks noGrp="1"/>
          </p:cNvSpPr>
          <p:nvPr>
            <p:ph type="sldNum" sz="quarter" idx="12"/>
          </p:nvPr>
        </p:nvSpPr>
        <p:spPr/>
        <p:txBody>
          <a:bodyPr/>
          <a:lstStyle/>
          <a:p>
            <a:fld id="{6B3369F9-03CD-4B48-86A9-9EE39A82955A}" type="slidenum">
              <a:rPr lang="zh-CN" altLang="en-US">
                <a:solidFill>
                  <a:schemeClr val="bg2">
                    <a:lumMod val="75000"/>
                  </a:schemeClr>
                </a:solidFill>
              </a:rPr>
              <a:t>12</a:t>
            </a:fld>
            <a:endParaRPr lang="zh-CN" altLang="en-US" dirty="0">
              <a:solidFill>
                <a:schemeClr val="bg2">
                  <a:lumMod val="75000"/>
                </a:schemeClr>
              </a:solidFill>
            </a:endParaRPr>
          </a:p>
        </p:txBody>
      </p:sp>
      <p:sp>
        <p:nvSpPr>
          <p:cNvPr id="2" name="文本框 1">
            <a:extLst>
              <a:ext uri="{FF2B5EF4-FFF2-40B4-BE49-F238E27FC236}">
                <a16:creationId xmlns:a16="http://schemas.microsoft.com/office/drawing/2014/main" id="{7C6E3ABC-56AE-3446-6871-9626122E8CD3}"/>
              </a:ext>
            </a:extLst>
          </p:cNvPr>
          <p:cNvSpPr txBox="1"/>
          <p:nvPr/>
        </p:nvSpPr>
        <p:spPr>
          <a:xfrm>
            <a:off x="1027433" y="1940840"/>
            <a:ext cx="7086600" cy="830997"/>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WHHP_att</a:t>
            </a:r>
            <a:r>
              <a:rPr lang="en-US" altLang="zh-CN" sz="16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FID_1_1&lt;-</a:t>
            </a:r>
            <a:r>
              <a:rPr lang="en-US" altLang="zh-CN" sz="16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NULL</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WHHP_att</a:t>
            </a:r>
            <a:r>
              <a:rPr lang="en-US" altLang="zh-CN" sz="16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District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&lt;-</a:t>
            </a:r>
            <a:r>
              <a:rPr lang="en-US" altLang="zh-CN" sz="16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NULL</a:t>
            </a:r>
            <a:endParaRPr lang="zh-CN" altLang="zh-CN" sz="1600" dirty="0">
              <a:effectLst/>
              <a:latin typeface="Times New Roman" panose="02020603050405020304" pitchFamily="18" charset="0"/>
              <a:ea typeface="宋体" panose="02010600030101010101" pitchFamily="2" charset="-122"/>
            </a:endParaRPr>
          </a:p>
          <a:p>
            <a:pPr indent="127000" algn="l"/>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summary(</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WHHP_att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p:txBody>
      </p:sp>
      <p:sp>
        <p:nvSpPr>
          <p:cNvPr id="3" name="文本框 2">
            <a:extLst>
              <a:ext uri="{FF2B5EF4-FFF2-40B4-BE49-F238E27FC236}">
                <a16:creationId xmlns:a16="http://schemas.microsoft.com/office/drawing/2014/main" id="{D55751E6-A6C7-E319-F047-2A4BBD682542}"/>
              </a:ext>
            </a:extLst>
          </p:cNvPr>
          <p:cNvSpPr txBox="1"/>
          <p:nvPr/>
        </p:nvSpPr>
        <p:spPr>
          <a:xfrm>
            <a:off x="457200" y="1091153"/>
            <a:ext cx="3237618" cy="461665"/>
          </a:xfrm>
          <a:prstGeom prst="rect">
            <a:avLst/>
          </a:prstGeom>
          <a:noFill/>
        </p:spPr>
        <p:txBody>
          <a:bodyPr wrap="none" rtlCol="0">
            <a:spAutoFit/>
          </a:bodyPr>
          <a:lstStyle/>
          <a:p>
            <a:r>
              <a:rPr lang="en-US" altLang="zh-CN" sz="2400" b="1" dirty="0">
                <a:latin typeface="+mj-lt"/>
                <a:ea typeface="+mj-ea"/>
              </a:rPr>
              <a:t>(2) Simple Feature</a:t>
            </a:r>
            <a:r>
              <a:rPr lang="zh-CN" altLang="en-US" sz="2400" b="1" dirty="0">
                <a:latin typeface="+mj-lt"/>
                <a:ea typeface="+mj-ea"/>
              </a:rPr>
              <a:t>对象</a:t>
            </a:r>
          </a:p>
        </p:txBody>
      </p:sp>
      <p:sp>
        <p:nvSpPr>
          <p:cNvPr id="6" name="文本框 5">
            <a:extLst>
              <a:ext uri="{FF2B5EF4-FFF2-40B4-BE49-F238E27FC236}">
                <a16:creationId xmlns:a16="http://schemas.microsoft.com/office/drawing/2014/main" id="{5BF54CBC-3D29-9304-BE74-A4E59343E8B8}"/>
              </a:ext>
            </a:extLst>
          </p:cNvPr>
          <p:cNvSpPr txBox="1"/>
          <p:nvPr/>
        </p:nvSpPr>
        <p:spPr>
          <a:xfrm>
            <a:off x="1027432" y="2802251"/>
            <a:ext cx="7773667" cy="830997"/>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WHHP_att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WHHP_att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[,!names(</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WHHP_att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in%c</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"FID_1_1"</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"District"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p>
          <a:p>
            <a:pPr indent="127000" algn="l">
              <a:buNone/>
            </a:pPr>
            <a:endParaRPr lang="zh-CN" altLang="zh-CN" sz="1600" dirty="0">
              <a:effectLst/>
              <a:latin typeface="Times New Roman" panose="02020603050405020304" pitchFamily="18" charset="0"/>
              <a:ea typeface="宋体" panose="02010600030101010101" pitchFamily="2" charset="-122"/>
            </a:endParaRPr>
          </a:p>
          <a:p>
            <a:pPr indent="127000" algn="l"/>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WHHP_att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&lt;-select(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WHHP_att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,-c(FID_1_1,District))</a:t>
            </a:r>
            <a:endParaRPr lang="zh-CN" altLang="zh-CN" sz="1600" dirty="0">
              <a:effectLst/>
              <a:latin typeface="Times New Roman" panose="02020603050405020304" pitchFamily="18" charset="0"/>
              <a:ea typeface="宋体" panose="02010600030101010101" pitchFamily="2" charset="-122"/>
            </a:endParaRPr>
          </a:p>
        </p:txBody>
      </p:sp>
      <p:pic>
        <p:nvPicPr>
          <p:cNvPr id="7" name="图片 6">
            <a:extLst>
              <a:ext uri="{FF2B5EF4-FFF2-40B4-BE49-F238E27FC236}">
                <a16:creationId xmlns:a16="http://schemas.microsoft.com/office/drawing/2014/main" id="{CA583DBF-23E1-0C5E-F48F-2B6ECE6A83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34845" y="3733800"/>
            <a:ext cx="5274310" cy="293370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3594593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711769-1909-7324-F0EC-49F7B17748CF}"/>
            </a:ext>
          </a:extLst>
        </p:cNvPr>
        <p:cNvGrpSpPr/>
        <p:nvPr/>
      </p:nvGrpSpPr>
      <p:grpSpPr>
        <a:xfrm>
          <a:off x="0" y="0"/>
          <a:ext cx="0" cy="0"/>
          <a:chOff x="0" y="0"/>
          <a:chExt cx="0" cy="0"/>
        </a:xfrm>
      </p:grpSpPr>
      <p:sp>
        <p:nvSpPr>
          <p:cNvPr id="11" name="矩形 10">
            <a:extLst>
              <a:ext uri="{FF2B5EF4-FFF2-40B4-BE49-F238E27FC236}">
                <a16:creationId xmlns:a16="http://schemas.microsoft.com/office/drawing/2014/main" id="{22BC2016-BC8F-9B0B-780B-780496F9AA76}"/>
              </a:ext>
            </a:extLst>
          </p:cNvPr>
          <p:cNvSpPr/>
          <p:nvPr/>
        </p:nvSpPr>
        <p:spPr>
          <a:xfrm>
            <a:off x="501971" y="1745670"/>
            <a:ext cx="8137525" cy="458715"/>
          </a:xfrm>
          <a:prstGeom prst="rect">
            <a:avLst/>
          </a:prstGeom>
        </p:spPr>
        <p:txBody>
          <a:bodyPr wrap="square">
            <a:spAutoFit/>
          </a:bodyPr>
          <a:lstStyle/>
          <a:p>
            <a:pPr indent="457200">
              <a:lnSpc>
                <a:spcPct val="150000"/>
              </a:lnSpc>
            </a:pPr>
            <a:r>
              <a:rPr lang="zh-CN" altLang="en-US" dirty="0">
                <a:latin typeface="+mn-lt"/>
                <a:ea typeface="+mj-ea"/>
                <a:sym typeface="Consolas" panose="020B0609020204030204" pitchFamily="49" charset="0"/>
              </a:rPr>
              <a:t>在属性数据中新增“</a:t>
            </a:r>
            <a:r>
              <a:rPr lang="en-US" altLang="zh-CN" dirty="0" err="1">
                <a:latin typeface="+mn-lt"/>
                <a:ea typeface="+mj-ea"/>
                <a:sym typeface="Consolas" panose="020B0609020204030204" pitchFamily="49" charset="0"/>
              </a:rPr>
              <a:t>Pop_Den</a:t>
            </a:r>
            <a:r>
              <a:rPr lang="zh-CN" altLang="en-US" dirty="0">
                <a:latin typeface="+mn-lt"/>
                <a:ea typeface="+mj-ea"/>
                <a:sym typeface="Consolas" panose="020B0609020204030204" pitchFamily="49" charset="0"/>
              </a:rPr>
              <a:t>”一列：</a:t>
            </a:r>
            <a:endParaRPr lang="en-US" altLang="zh-CN" dirty="0">
              <a:latin typeface="+mn-lt"/>
              <a:ea typeface="+mj-ea"/>
              <a:sym typeface="Consolas" panose="020B0609020204030204" pitchFamily="49" charset="0"/>
            </a:endParaRPr>
          </a:p>
        </p:txBody>
      </p:sp>
      <p:sp>
        <p:nvSpPr>
          <p:cNvPr id="10" name="标题 9">
            <a:extLst>
              <a:ext uri="{FF2B5EF4-FFF2-40B4-BE49-F238E27FC236}">
                <a16:creationId xmlns:a16="http://schemas.microsoft.com/office/drawing/2014/main" id="{CD025759-9AC2-302E-0AB0-FBB238BEEA91}"/>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4.2 </a:t>
            </a:r>
            <a:r>
              <a:rPr lang="zh-CN" altLang="en-US" sz="3600" dirty="0">
                <a:latin typeface="Times New Roman" panose="02020603050405020304" pitchFamily="18" charset="0"/>
                <a:cs typeface="Times New Roman" panose="02020603050405020304" pitchFamily="18" charset="0"/>
              </a:rPr>
              <a:t>属性数据编辑</a:t>
            </a:r>
          </a:p>
        </p:txBody>
      </p:sp>
      <p:sp>
        <p:nvSpPr>
          <p:cNvPr id="12" name="灯片编号占位符 11">
            <a:extLst>
              <a:ext uri="{FF2B5EF4-FFF2-40B4-BE49-F238E27FC236}">
                <a16:creationId xmlns:a16="http://schemas.microsoft.com/office/drawing/2014/main" id="{54CE2A72-B2FF-3189-80B1-7106492357D7}"/>
              </a:ext>
            </a:extLst>
          </p:cNvPr>
          <p:cNvSpPr>
            <a:spLocks noGrp="1"/>
          </p:cNvSpPr>
          <p:nvPr>
            <p:ph type="sldNum" sz="quarter" idx="12"/>
          </p:nvPr>
        </p:nvSpPr>
        <p:spPr/>
        <p:txBody>
          <a:bodyPr/>
          <a:lstStyle/>
          <a:p>
            <a:fld id="{6B3369F9-03CD-4B48-86A9-9EE39A82955A}" type="slidenum">
              <a:rPr lang="zh-CN" altLang="en-US">
                <a:solidFill>
                  <a:schemeClr val="bg2">
                    <a:lumMod val="75000"/>
                  </a:schemeClr>
                </a:solidFill>
              </a:rPr>
              <a:t>13</a:t>
            </a:fld>
            <a:endParaRPr lang="zh-CN" altLang="en-US" dirty="0">
              <a:solidFill>
                <a:schemeClr val="bg2">
                  <a:lumMod val="75000"/>
                </a:schemeClr>
              </a:solidFill>
            </a:endParaRPr>
          </a:p>
        </p:txBody>
      </p:sp>
      <p:sp>
        <p:nvSpPr>
          <p:cNvPr id="2" name="文本框 1">
            <a:extLst>
              <a:ext uri="{FF2B5EF4-FFF2-40B4-BE49-F238E27FC236}">
                <a16:creationId xmlns:a16="http://schemas.microsoft.com/office/drawing/2014/main" id="{4D0A41FA-D5CD-031D-5C97-A6B952EDA178}"/>
              </a:ext>
            </a:extLst>
          </p:cNvPr>
          <p:cNvSpPr txBox="1"/>
          <p:nvPr/>
        </p:nvSpPr>
        <p:spPr>
          <a:xfrm>
            <a:off x="1027433" y="2179660"/>
            <a:ext cx="7086600" cy="1323439"/>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pop&lt;-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WHHP_att</a:t>
            </a:r>
            <a:r>
              <a:rPr lang="en-US" altLang="zh-CN" sz="16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Avg_Pop</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area&lt;-WHHP_att</a:t>
            </a:r>
            <a:r>
              <a:rPr lang="en-US" altLang="zh-CN" sz="16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Avg_Shap_1</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den &lt;-pop/area</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WHHP_att</a:t>
            </a:r>
            <a:r>
              <a:rPr lang="en-US" altLang="zh-CN" sz="16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Pop_Den</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&lt;-den</a:t>
            </a:r>
            <a:endParaRPr lang="zh-CN" altLang="zh-CN" sz="1600" dirty="0">
              <a:effectLst/>
              <a:latin typeface="Times New Roman" panose="02020603050405020304" pitchFamily="18" charset="0"/>
              <a:ea typeface="宋体" panose="02010600030101010101" pitchFamily="2" charset="-122"/>
            </a:endParaRPr>
          </a:p>
          <a:p>
            <a:pPr indent="127000" algn="l"/>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summary(</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WHHP_att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p:txBody>
      </p:sp>
      <p:sp>
        <p:nvSpPr>
          <p:cNvPr id="3" name="文本框 2">
            <a:extLst>
              <a:ext uri="{FF2B5EF4-FFF2-40B4-BE49-F238E27FC236}">
                <a16:creationId xmlns:a16="http://schemas.microsoft.com/office/drawing/2014/main" id="{5D2B165B-69FE-D44A-F758-D38E3D0BC2D5}"/>
              </a:ext>
            </a:extLst>
          </p:cNvPr>
          <p:cNvSpPr txBox="1"/>
          <p:nvPr/>
        </p:nvSpPr>
        <p:spPr>
          <a:xfrm>
            <a:off x="457200" y="1327100"/>
            <a:ext cx="3237618" cy="461665"/>
          </a:xfrm>
          <a:prstGeom prst="rect">
            <a:avLst/>
          </a:prstGeom>
          <a:noFill/>
        </p:spPr>
        <p:txBody>
          <a:bodyPr wrap="none" rtlCol="0">
            <a:spAutoFit/>
          </a:bodyPr>
          <a:lstStyle/>
          <a:p>
            <a:r>
              <a:rPr lang="en-US" altLang="zh-CN" sz="2400" b="1" dirty="0">
                <a:latin typeface="+mj-lt"/>
                <a:ea typeface="+mj-ea"/>
              </a:rPr>
              <a:t>(2) Simple Feature</a:t>
            </a:r>
            <a:r>
              <a:rPr lang="zh-CN" altLang="en-US" sz="2400" b="1" dirty="0">
                <a:latin typeface="+mj-lt"/>
                <a:ea typeface="+mj-ea"/>
              </a:rPr>
              <a:t>对象</a:t>
            </a:r>
          </a:p>
        </p:txBody>
      </p:sp>
      <p:pic>
        <p:nvPicPr>
          <p:cNvPr id="4" name="图片 3">
            <a:extLst>
              <a:ext uri="{FF2B5EF4-FFF2-40B4-BE49-F238E27FC236}">
                <a16:creationId xmlns:a16="http://schemas.microsoft.com/office/drawing/2014/main" id="{C215EA59-9B63-8D1F-5C25-D41663C74C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34845" y="3588327"/>
            <a:ext cx="5274310" cy="2933700"/>
          </a:xfrm>
          <a:prstGeom prst="rect">
            <a:avLst/>
          </a:prstGeom>
          <a:ln>
            <a:noFill/>
          </a:ln>
          <a:effectLst>
            <a:outerShdw blurRad="190500" algn="tl" rotWithShape="0">
              <a:srgbClr val="000000">
                <a:alpha val="70000"/>
              </a:srgbClr>
            </a:outerShdw>
          </a:effectLst>
        </p:spPr>
      </p:pic>
      <p:sp>
        <p:nvSpPr>
          <p:cNvPr id="5" name="矩形 4">
            <a:extLst>
              <a:ext uri="{FF2B5EF4-FFF2-40B4-BE49-F238E27FC236}">
                <a16:creationId xmlns:a16="http://schemas.microsoft.com/office/drawing/2014/main" id="{F07A1BC6-8FD5-DB4C-D075-F5A2F3DD8DFE}"/>
              </a:ext>
            </a:extLst>
          </p:cNvPr>
          <p:cNvSpPr/>
          <p:nvPr/>
        </p:nvSpPr>
        <p:spPr>
          <a:xfrm>
            <a:off x="4724400" y="5753100"/>
            <a:ext cx="1104900" cy="865112"/>
          </a:xfrm>
          <a:prstGeom prst="rect">
            <a:avLst/>
          </a:prstGeom>
          <a:noFill/>
          <a:ln>
            <a:solidFill>
              <a:schemeClr val="accent6"/>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712232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90A190-5428-F9E3-09CB-9217637112B4}"/>
            </a:ext>
          </a:extLst>
        </p:cNvPr>
        <p:cNvGrpSpPr/>
        <p:nvPr/>
      </p:nvGrpSpPr>
      <p:grpSpPr>
        <a:xfrm>
          <a:off x="0" y="0"/>
          <a:ext cx="0" cy="0"/>
          <a:chOff x="0" y="0"/>
          <a:chExt cx="0" cy="0"/>
        </a:xfrm>
      </p:grpSpPr>
      <p:sp>
        <p:nvSpPr>
          <p:cNvPr id="11" name="矩形 10">
            <a:extLst>
              <a:ext uri="{FF2B5EF4-FFF2-40B4-BE49-F238E27FC236}">
                <a16:creationId xmlns:a16="http://schemas.microsoft.com/office/drawing/2014/main" id="{A1E81E29-D7EE-393E-4796-FCAD8777DC15}"/>
              </a:ext>
            </a:extLst>
          </p:cNvPr>
          <p:cNvSpPr/>
          <p:nvPr/>
        </p:nvSpPr>
        <p:spPr>
          <a:xfrm>
            <a:off x="783118" y="2465359"/>
            <a:ext cx="7575229" cy="874214"/>
          </a:xfrm>
          <a:prstGeom prst="rect">
            <a:avLst/>
          </a:prstGeom>
        </p:spPr>
        <p:txBody>
          <a:bodyPr wrap="square">
            <a:spAutoFit/>
          </a:bodyPr>
          <a:lstStyle/>
          <a:p>
            <a:pPr indent="457200">
              <a:lnSpc>
                <a:spcPct val="150000"/>
              </a:lnSpc>
            </a:pPr>
            <a:r>
              <a:rPr lang="zh-CN" altLang="en-US" dirty="0">
                <a:latin typeface="+mn-lt"/>
                <a:ea typeface="+mj-ea"/>
                <a:sym typeface="Consolas" panose="020B0609020204030204" pitchFamily="49" charset="0"/>
              </a:rPr>
              <a:t>还可以使用</a:t>
            </a:r>
            <a:r>
              <a:rPr lang="en-US" altLang="zh-CN" b="1" i="1" dirty="0" err="1">
                <a:latin typeface="+mn-lt"/>
                <a:ea typeface="+mj-ea"/>
                <a:sym typeface="Consolas" panose="020B0609020204030204" pitchFamily="49" charset="0"/>
              </a:rPr>
              <a:t>cbind</a:t>
            </a:r>
            <a:r>
              <a:rPr lang="zh-CN" altLang="en-US" dirty="0">
                <a:latin typeface="+mn-lt"/>
                <a:ea typeface="+mj-ea"/>
                <a:sym typeface="Consolas" panose="020B0609020204030204" pitchFamily="49" charset="0"/>
              </a:rPr>
              <a:t>函数，直接将</a:t>
            </a:r>
            <a:r>
              <a:rPr lang="en-US" altLang="zh-CN" dirty="0">
                <a:latin typeface="+mn-lt"/>
                <a:ea typeface="+mj-ea"/>
                <a:sym typeface="Consolas" panose="020B0609020204030204" pitchFamily="49" charset="0"/>
              </a:rPr>
              <a:t>Simple Feature</a:t>
            </a:r>
            <a:r>
              <a:rPr lang="zh-CN" altLang="en-US" dirty="0">
                <a:latin typeface="+mn-lt"/>
                <a:ea typeface="+mj-ea"/>
                <a:sym typeface="Consolas" panose="020B0609020204030204" pitchFamily="49" charset="0"/>
              </a:rPr>
              <a:t>对象与给定的属性数据（</a:t>
            </a:r>
            <a:r>
              <a:rPr lang="en-US" altLang="zh-CN" dirty="0" err="1">
                <a:latin typeface="+mn-lt"/>
                <a:ea typeface="+mj-ea"/>
                <a:sym typeface="Consolas" panose="020B0609020204030204" pitchFamily="49" charset="0"/>
              </a:rPr>
              <a:t>data.frame</a:t>
            </a:r>
            <a:r>
              <a:rPr lang="zh-CN" altLang="en-US" dirty="0">
                <a:latin typeface="+mn-lt"/>
                <a:ea typeface="+mj-ea"/>
                <a:sym typeface="Consolas" panose="020B0609020204030204" pitchFamily="49" charset="0"/>
              </a:rPr>
              <a:t>对象）进行直接关联：</a:t>
            </a:r>
            <a:endParaRPr lang="en-US" altLang="zh-CN" dirty="0">
              <a:latin typeface="+mn-lt"/>
              <a:ea typeface="+mj-ea"/>
              <a:sym typeface="Consolas" panose="020B0609020204030204" pitchFamily="49" charset="0"/>
            </a:endParaRPr>
          </a:p>
        </p:txBody>
      </p:sp>
      <p:sp>
        <p:nvSpPr>
          <p:cNvPr id="10" name="标题 9">
            <a:extLst>
              <a:ext uri="{FF2B5EF4-FFF2-40B4-BE49-F238E27FC236}">
                <a16:creationId xmlns:a16="http://schemas.microsoft.com/office/drawing/2014/main" id="{E50F81DC-8DD7-5A3D-0535-88D1A9F3E92A}"/>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4.2 </a:t>
            </a:r>
            <a:r>
              <a:rPr lang="zh-CN" altLang="en-US" sz="3600" dirty="0">
                <a:latin typeface="Times New Roman" panose="02020603050405020304" pitchFamily="18" charset="0"/>
                <a:cs typeface="Times New Roman" panose="02020603050405020304" pitchFamily="18" charset="0"/>
              </a:rPr>
              <a:t>属性数据编辑</a:t>
            </a:r>
          </a:p>
        </p:txBody>
      </p:sp>
      <p:sp>
        <p:nvSpPr>
          <p:cNvPr id="12" name="灯片编号占位符 11">
            <a:extLst>
              <a:ext uri="{FF2B5EF4-FFF2-40B4-BE49-F238E27FC236}">
                <a16:creationId xmlns:a16="http://schemas.microsoft.com/office/drawing/2014/main" id="{EBA3493E-5750-65F7-CCB8-57D2C5FBA2AD}"/>
              </a:ext>
            </a:extLst>
          </p:cNvPr>
          <p:cNvSpPr>
            <a:spLocks noGrp="1"/>
          </p:cNvSpPr>
          <p:nvPr>
            <p:ph type="sldNum" sz="quarter" idx="12"/>
          </p:nvPr>
        </p:nvSpPr>
        <p:spPr/>
        <p:txBody>
          <a:bodyPr/>
          <a:lstStyle/>
          <a:p>
            <a:fld id="{6B3369F9-03CD-4B48-86A9-9EE39A82955A}" type="slidenum">
              <a:rPr lang="zh-CN" altLang="en-US">
                <a:solidFill>
                  <a:schemeClr val="bg2">
                    <a:lumMod val="75000"/>
                  </a:schemeClr>
                </a:solidFill>
              </a:rPr>
              <a:t>14</a:t>
            </a:fld>
            <a:endParaRPr lang="zh-CN" altLang="en-US" dirty="0">
              <a:solidFill>
                <a:schemeClr val="bg2">
                  <a:lumMod val="75000"/>
                </a:schemeClr>
              </a:solidFill>
            </a:endParaRPr>
          </a:p>
        </p:txBody>
      </p:sp>
      <p:sp>
        <p:nvSpPr>
          <p:cNvPr id="2" name="文本框 1">
            <a:extLst>
              <a:ext uri="{FF2B5EF4-FFF2-40B4-BE49-F238E27FC236}">
                <a16:creationId xmlns:a16="http://schemas.microsoft.com/office/drawing/2014/main" id="{CA82FCE7-4486-288A-C4A9-FB941FBE43AB}"/>
              </a:ext>
            </a:extLst>
          </p:cNvPr>
          <p:cNvSpPr txBox="1"/>
          <p:nvPr/>
        </p:nvSpPr>
        <p:spPr>
          <a:xfrm>
            <a:off x="1027433" y="3619230"/>
            <a:ext cx="7086600" cy="1200329"/>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den&lt;-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data.frame</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(den)</a:t>
            </a:r>
            <a:endParaRPr lang="zh-CN" altLang="zh-CN" sz="1800" dirty="0">
              <a:effectLst/>
              <a:latin typeface="Times New Roman" panose="02020603050405020304" pitchFamily="18" charset="0"/>
              <a:ea typeface="宋体" panose="02010600030101010101" pitchFamily="2" charset="-122"/>
            </a:endParaRPr>
          </a:p>
          <a:p>
            <a:pPr indent="127000" algn="l">
              <a:buNone/>
            </a:pP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names(den)&lt;-</a:t>
            </a:r>
            <a:r>
              <a:rPr lang="en-US" altLang="zh-CN" sz="18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Pop_Den</a:t>
            </a:r>
            <a:r>
              <a:rPr lang="en-US" altLang="zh-CN" sz="18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dirty="0">
              <a:effectLst/>
              <a:latin typeface="Times New Roman" panose="02020603050405020304" pitchFamily="18" charset="0"/>
              <a:ea typeface="宋体" panose="02010600030101010101" pitchFamily="2" charset="-122"/>
            </a:endParaRPr>
          </a:p>
          <a:p>
            <a:pPr indent="127000" algn="l">
              <a:buNone/>
            </a:pP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WHHP_att</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cbind</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WHHP_att,den</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dirty="0">
              <a:effectLst/>
              <a:latin typeface="Times New Roman" panose="02020603050405020304" pitchFamily="18" charset="0"/>
              <a:ea typeface="宋体" panose="02010600030101010101" pitchFamily="2" charset="-122"/>
            </a:endParaRPr>
          </a:p>
          <a:p>
            <a:pPr indent="127000" algn="l"/>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summary(</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WHHP_att</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dirty="0">
              <a:effectLst/>
              <a:latin typeface="Times New Roman" panose="02020603050405020304" pitchFamily="18" charset="0"/>
              <a:ea typeface="宋体" panose="02010600030101010101" pitchFamily="2" charset="-122"/>
            </a:endParaRPr>
          </a:p>
        </p:txBody>
      </p:sp>
      <p:sp>
        <p:nvSpPr>
          <p:cNvPr id="3" name="文本框 2">
            <a:extLst>
              <a:ext uri="{FF2B5EF4-FFF2-40B4-BE49-F238E27FC236}">
                <a16:creationId xmlns:a16="http://schemas.microsoft.com/office/drawing/2014/main" id="{00EC99D4-8FEE-4D6D-B598-7C3E705DBCC8}"/>
              </a:ext>
            </a:extLst>
          </p:cNvPr>
          <p:cNvSpPr txBox="1"/>
          <p:nvPr/>
        </p:nvSpPr>
        <p:spPr>
          <a:xfrm>
            <a:off x="457200" y="1823817"/>
            <a:ext cx="3237618" cy="461665"/>
          </a:xfrm>
          <a:prstGeom prst="rect">
            <a:avLst/>
          </a:prstGeom>
          <a:noFill/>
        </p:spPr>
        <p:txBody>
          <a:bodyPr wrap="none" rtlCol="0">
            <a:spAutoFit/>
          </a:bodyPr>
          <a:lstStyle/>
          <a:p>
            <a:r>
              <a:rPr lang="en-US" altLang="zh-CN" sz="2400" b="1" dirty="0">
                <a:latin typeface="+mj-lt"/>
                <a:ea typeface="+mj-ea"/>
              </a:rPr>
              <a:t>(2) Simple Feature</a:t>
            </a:r>
            <a:r>
              <a:rPr lang="zh-CN" altLang="en-US" sz="2400" b="1" dirty="0">
                <a:latin typeface="+mj-lt"/>
                <a:ea typeface="+mj-ea"/>
              </a:rPr>
              <a:t>对象</a:t>
            </a:r>
          </a:p>
        </p:txBody>
      </p:sp>
    </p:spTree>
    <p:extLst>
      <p:ext uri="{BB962C8B-B14F-4D97-AF65-F5344CB8AC3E}">
        <p14:creationId xmlns:p14="http://schemas.microsoft.com/office/powerpoint/2010/main" val="3722933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7C0C5-C2DA-62C6-3307-00EB9EC73483}"/>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86CA39E0-1E35-C3F8-3A46-015B4F108D12}"/>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4.3 </a:t>
            </a:r>
            <a:r>
              <a:rPr lang="zh-CN" altLang="en-US" sz="3600" dirty="0">
                <a:latin typeface="Times New Roman" panose="02020603050405020304" pitchFamily="18" charset="0"/>
                <a:cs typeface="Times New Roman" panose="02020603050405020304" pitchFamily="18" charset="0"/>
              </a:rPr>
              <a:t>空间信息编辑</a:t>
            </a:r>
          </a:p>
        </p:txBody>
      </p:sp>
      <p:sp>
        <p:nvSpPr>
          <p:cNvPr id="8" name="灯片编号占位符 7">
            <a:extLst>
              <a:ext uri="{FF2B5EF4-FFF2-40B4-BE49-F238E27FC236}">
                <a16:creationId xmlns:a16="http://schemas.microsoft.com/office/drawing/2014/main" id="{E181EF24-90AB-AB7E-AAD0-7EFF81F3C937}"/>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15</a:t>
            </a:fld>
            <a:endParaRPr lang="zh-CN" altLang="en-US" dirty="0">
              <a:solidFill>
                <a:schemeClr val="bg2">
                  <a:lumMod val="75000"/>
                </a:schemeClr>
              </a:solidFill>
            </a:endParaRPr>
          </a:p>
        </p:txBody>
      </p:sp>
      <p:grpSp>
        <p:nvGrpSpPr>
          <p:cNvPr id="2" name="组合 1">
            <a:extLst>
              <a:ext uri="{FF2B5EF4-FFF2-40B4-BE49-F238E27FC236}">
                <a16:creationId xmlns:a16="http://schemas.microsoft.com/office/drawing/2014/main" id="{9EAC0A9A-D63D-E367-1A9E-E91C910BBC44}"/>
              </a:ext>
            </a:extLst>
          </p:cNvPr>
          <p:cNvGrpSpPr/>
          <p:nvPr>
            <p:custDataLst>
              <p:tags r:id="rId1"/>
            </p:custDataLst>
          </p:nvPr>
        </p:nvGrpSpPr>
        <p:grpSpPr>
          <a:xfrm>
            <a:off x="1485900" y="2561080"/>
            <a:ext cx="6626224" cy="749588"/>
            <a:chOff x="3797406" y="1425837"/>
            <a:chExt cx="6626224" cy="749588"/>
          </a:xfrm>
        </p:grpSpPr>
        <p:sp>
          <p:nvSpPr>
            <p:cNvPr id="3" name="文本框 2">
              <a:extLst>
                <a:ext uri="{FF2B5EF4-FFF2-40B4-BE49-F238E27FC236}">
                  <a16:creationId xmlns:a16="http://schemas.microsoft.com/office/drawing/2014/main" id="{5D61F18E-E09E-CCA7-E36D-FDABF0BAF538}"/>
                </a:ext>
              </a:extLst>
            </p:cNvPr>
            <p:cNvSpPr txBox="1"/>
            <p:nvPr>
              <p:custDataLst>
                <p:tags r:id="rId5"/>
              </p:custDataLst>
            </p:nvPr>
          </p:nvSpPr>
          <p:spPr>
            <a:xfrm>
              <a:off x="3797406" y="1621427"/>
              <a:ext cx="1107996" cy="553998"/>
            </a:xfrm>
            <a:prstGeom prst="rect">
              <a:avLst/>
            </a:prstGeom>
            <a:noFill/>
          </p:spPr>
          <p:txBody>
            <a:bodyPr wrap="none" tIns="0" bIns="0" rtlCol="0" anchor="b" anchorCtr="0">
              <a:spAutoFit/>
            </a:bodyPr>
            <a:lstStyle/>
            <a:p>
              <a:r>
                <a:rPr kumimoji="1" lang="en-US" altLang="zh-CN" sz="3600" b="1" dirty="0">
                  <a:solidFill>
                    <a:schemeClr val="accent1"/>
                  </a:solidFill>
                  <a:latin typeface="Times New Roman" panose="02020603050405020304" pitchFamily="18" charset="0"/>
                  <a:cs typeface="Times New Roman" panose="02020603050405020304" pitchFamily="18" charset="0"/>
                </a:rPr>
                <a:t>4.3.1</a:t>
              </a:r>
            </a:p>
          </p:txBody>
        </p:sp>
        <p:sp>
          <p:nvSpPr>
            <p:cNvPr id="4" name="文本占位符 27">
              <a:extLst>
                <a:ext uri="{FF2B5EF4-FFF2-40B4-BE49-F238E27FC236}">
                  <a16:creationId xmlns:a16="http://schemas.microsoft.com/office/drawing/2014/main" id="{877C74D1-37D4-9546-7ABA-B8561AB4C929}"/>
                </a:ext>
              </a:extLst>
            </p:cNvPr>
            <p:cNvSpPr txBox="1"/>
            <p:nvPr>
              <p:custDataLst>
                <p:tags r:id="rId6"/>
              </p:custDataLst>
            </p:nvPr>
          </p:nvSpPr>
          <p:spPr>
            <a:xfrm>
              <a:off x="5130905" y="1425837"/>
              <a:ext cx="5292725" cy="708025"/>
            </a:xfrm>
            <a:prstGeom prst="rect">
              <a:avLst/>
            </a:prstGeom>
          </p:spPr>
          <p:txBody>
            <a:bodyPr lIns="0" rIns="0" bIns="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chemeClr val="accent2"/>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3200" dirty="0">
                  <a:solidFill>
                    <a:schemeClr val="accent1"/>
                  </a:solidFill>
                  <a:latin typeface="Times New Roman" panose="02020603050405020304" pitchFamily="18" charset="0"/>
                  <a:cs typeface="Times New Roman" panose="02020603050405020304" pitchFamily="18" charset="0"/>
                </a:rPr>
                <a:t>Spatial*</a:t>
              </a:r>
              <a:r>
                <a:rPr lang="en-US" altLang="zh-CN" sz="3200" dirty="0" err="1">
                  <a:solidFill>
                    <a:schemeClr val="accent1"/>
                  </a:solidFill>
                  <a:latin typeface="Times New Roman" panose="02020603050405020304" pitchFamily="18" charset="0"/>
                  <a:cs typeface="Times New Roman" panose="02020603050405020304" pitchFamily="18" charset="0"/>
                </a:rPr>
                <a:t>DataFrame</a:t>
              </a:r>
              <a:r>
                <a:rPr lang="zh-CN" altLang="en-US" sz="3200" dirty="0">
                  <a:solidFill>
                    <a:schemeClr val="accent1"/>
                  </a:solidFill>
                  <a:latin typeface="Times New Roman" panose="02020603050405020304" pitchFamily="18" charset="0"/>
                  <a:cs typeface="Times New Roman" panose="02020603050405020304" pitchFamily="18" charset="0"/>
                </a:rPr>
                <a:t>对象</a:t>
              </a:r>
              <a:endParaRPr kumimoji="1" lang="zh-CN" altLang="en-US" sz="3200" dirty="0">
                <a:solidFill>
                  <a:schemeClr val="accent1"/>
                </a:solidFill>
                <a:latin typeface="Times New Roman" panose="02020603050405020304" pitchFamily="18" charset="0"/>
                <a:cs typeface="Times New Roman" panose="02020603050405020304" pitchFamily="18" charset="0"/>
              </a:endParaRPr>
            </a:p>
          </p:txBody>
        </p:sp>
      </p:grpSp>
      <p:grpSp>
        <p:nvGrpSpPr>
          <p:cNvPr id="9" name="组合 8">
            <a:extLst>
              <a:ext uri="{FF2B5EF4-FFF2-40B4-BE49-F238E27FC236}">
                <a16:creationId xmlns:a16="http://schemas.microsoft.com/office/drawing/2014/main" id="{6B2F311A-2106-5AB1-EAC5-2AC5FEED59B6}"/>
              </a:ext>
            </a:extLst>
          </p:cNvPr>
          <p:cNvGrpSpPr/>
          <p:nvPr>
            <p:custDataLst>
              <p:tags r:id="rId2"/>
            </p:custDataLst>
          </p:nvPr>
        </p:nvGrpSpPr>
        <p:grpSpPr>
          <a:xfrm>
            <a:off x="1485900" y="3314700"/>
            <a:ext cx="6626225" cy="749588"/>
            <a:chOff x="3797406" y="2539558"/>
            <a:chExt cx="6626225" cy="749588"/>
          </a:xfrm>
        </p:grpSpPr>
        <p:sp>
          <p:nvSpPr>
            <p:cNvPr id="10" name="文本框 9">
              <a:extLst>
                <a:ext uri="{FF2B5EF4-FFF2-40B4-BE49-F238E27FC236}">
                  <a16:creationId xmlns:a16="http://schemas.microsoft.com/office/drawing/2014/main" id="{D5CFBBCA-2D49-A662-77C3-4538471E3526}"/>
                </a:ext>
              </a:extLst>
            </p:cNvPr>
            <p:cNvSpPr txBox="1"/>
            <p:nvPr>
              <p:custDataLst>
                <p:tags r:id="rId3"/>
              </p:custDataLst>
            </p:nvPr>
          </p:nvSpPr>
          <p:spPr>
            <a:xfrm>
              <a:off x="3797406" y="2735148"/>
              <a:ext cx="1107996" cy="553998"/>
            </a:xfrm>
            <a:prstGeom prst="rect">
              <a:avLst/>
            </a:prstGeom>
            <a:noFill/>
          </p:spPr>
          <p:txBody>
            <a:bodyPr wrap="none" tIns="0" bIns="0" rtlCol="0" anchor="b" anchorCtr="0">
              <a:spAutoFit/>
            </a:bodyPr>
            <a:lstStyle/>
            <a:p>
              <a:r>
                <a:rPr kumimoji="1" lang="en-US" altLang="zh-CN" sz="3600" b="1" dirty="0">
                  <a:solidFill>
                    <a:schemeClr val="accent1"/>
                  </a:solidFill>
                  <a:latin typeface="Times New Roman" panose="02020603050405020304" pitchFamily="18" charset="0"/>
                  <a:cs typeface="Times New Roman" panose="02020603050405020304" pitchFamily="18" charset="0"/>
                </a:rPr>
                <a:t>4.3.2</a:t>
              </a:r>
            </a:p>
          </p:txBody>
        </p:sp>
        <p:sp>
          <p:nvSpPr>
            <p:cNvPr id="12" name="文本占位符 27">
              <a:extLst>
                <a:ext uri="{FF2B5EF4-FFF2-40B4-BE49-F238E27FC236}">
                  <a16:creationId xmlns:a16="http://schemas.microsoft.com/office/drawing/2014/main" id="{8DC7B972-A902-4F4E-0B6F-5F3F55FB4931}"/>
                </a:ext>
              </a:extLst>
            </p:cNvPr>
            <p:cNvSpPr txBox="1"/>
            <p:nvPr>
              <p:custDataLst>
                <p:tags r:id="rId4"/>
              </p:custDataLst>
            </p:nvPr>
          </p:nvSpPr>
          <p:spPr>
            <a:xfrm>
              <a:off x="5130906" y="2539558"/>
              <a:ext cx="5292725" cy="708025"/>
            </a:xfrm>
            <a:prstGeom prst="rect">
              <a:avLst/>
            </a:prstGeom>
          </p:spPr>
          <p:txBody>
            <a:bodyPr lIns="0" rIns="0" bIns="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chemeClr val="accent2"/>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3200" dirty="0">
                  <a:solidFill>
                    <a:schemeClr val="accent1"/>
                  </a:solidFill>
                  <a:latin typeface="Times New Roman" panose="02020603050405020304" pitchFamily="18" charset="0"/>
                  <a:cs typeface="Times New Roman" panose="02020603050405020304" pitchFamily="18" charset="0"/>
                </a:rPr>
                <a:t>Simple Feature</a:t>
              </a:r>
              <a:r>
                <a:rPr lang="zh-CN" altLang="en-US" sz="3200" dirty="0">
                  <a:solidFill>
                    <a:schemeClr val="accent1"/>
                  </a:solidFill>
                  <a:latin typeface="Times New Roman" panose="02020603050405020304" pitchFamily="18" charset="0"/>
                  <a:cs typeface="Times New Roman" panose="02020603050405020304" pitchFamily="18" charset="0"/>
                </a:rPr>
                <a:t>对象</a:t>
              </a:r>
              <a:endParaRPr kumimoji="1" lang="zh-CN" altLang="en-US" sz="3200" dirty="0">
                <a:solidFill>
                  <a:schemeClr val="accent1"/>
                </a:solidFill>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15595106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495300" y="2360637"/>
            <a:ext cx="8137525" cy="787395"/>
          </a:xfrm>
          <a:prstGeom prst="rect">
            <a:avLst/>
          </a:prstGeom>
        </p:spPr>
        <p:txBody>
          <a:bodyPr wrap="square">
            <a:spAutoFit/>
          </a:bodyPr>
          <a:lstStyle/>
          <a:p>
            <a:pPr indent="457200">
              <a:lnSpc>
                <a:spcPct val="150000"/>
              </a:lnSpc>
            </a:pPr>
            <a:r>
              <a:rPr lang="zh-CN" altLang="en-US" sz="1600" dirty="0">
                <a:latin typeface="+mj-lt"/>
                <a:ea typeface="+mj-ea"/>
                <a:sym typeface="Consolas" panose="020B0609020204030204" pitchFamily="49" charset="0"/>
              </a:rPr>
              <a:t>函数包</a:t>
            </a:r>
            <a:r>
              <a:rPr lang="en-US" altLang="zh-CN" sz="1600" b="1" dirty="0" err="1">
                <a:latin typeface="+mj-lt"/>
                <a:ea typeface="+mj-ea"/>
                <a:sym typeface="Consolas" panose="020B0609020204030204" pitchFamily="49" charset="0"/>
              </a:rPr>
              <a:t>sp</a:t>
            </a:r>
            <a:r>
              <a:rPr lang="zh-CN" altLang="en-US" sz="1600" dirty="0">
                <a:latin typeface="+mj-lt"/>
                <a:ea typeface="+mj-ea"/>
                <a:sym typeface="Consolas" panose="020B0609020204030204" pitchFamily="49" charset="0"/>
              </a:rPr>
              <a:t>中提供了</a:t>
            </a:r>
            <a:r>
              <a:rPr lang="en-US" altLang="zh-CN" sz="1600" b="1" i="1" dirty="0">
                <a:latin typeface="+mj-lt"/>
                <a:ea typeface="+mj-ea"/>
                <a:sym typeface="Consolas" panose="020B0609020204030204" pitchFamily="49" charset="0"/>
              </a:rPr>
              <a:t>coordinates</a:t>
            </a:r>
            <a:r>
              <a:rPr lang="zh-CN" altLang="en-US" sz="1600" dirty="0">
                <a:latin typeface="+mj-lt"/>
                <a:ea typeface="+mj-ea"/>
                <a:sym typeface="Consolas" panose="020B0609020204030204" pitchFamily="49" charset="0"/>
              </a:rPr>
              <a:t>函数，用于获取</a:t>
            </a:r>
            <a:r>
              <a:rPr lang="en-US" altLang="zh-CN" sz="1600" dirty="0">
                <a:latin typeface="+mj-lt"/>
                <a:ea typeface="+mj-ea"/>
                <a:sym typeface="Consolas" panose="020B0609020204030204" pitchFamily="49" charset="0"/>
              </a:rPr>
              <a:t>Spatial*</a:t>
            </a:r>
            <a:r>
              <a:rPr lang="en-US" altLang="zh-CN" sz="1600" dirty="0" err="1">
                <a:latin typeface="+mj-lt"/>
                <a:ea typeface="+mj-ea"/>
                <a:sym typeface="Consolas" panose="020B0609020204030204" pitchFamily="49" charset="0"/>
              </a:rPr>
              <a:t>DataFrame</a:t>
            </a:r>
            <a:r>
              <a:rPr lang="zh-CN" altLang="en-US" sz="1600" dirty="0">
                <a:latin typeface="+mj-lt"/>
                <a:ea typeface="+mj-ea"/>
                <a:sym typeface="Consolas" panose="020B0609020204030204" pitchFamily="49" charset="0"/>
              </a:rPr>
              <a:t>对象的坐标信息。以示例数据</a:t>
            </a:r>
            <a:r>
              <a:rPr lang="en-US" altLang="zh-CN" sz="1600" dirty="0">
                <a:latin typeface="+mj-lt"/>
                <a:ea typeface="+mj-ea"/>
                <a:sym typeface="Consolas" panose="020B0609020204030204" pitchFamily="49" charset="0"/>
              </a:rPr>
              <a:t>WHSWZZ_ZZQ</a:t>
            </a:r>
            <a:r>
              <a:rPr lang="zh-CN" altLang="en-US" sz="1600" dirty="0">
                <a:latin typeface="+mj-lt"/>
                <a:ea typeface="+mj-ea"/>
                <a:sym typeface="Consolas" panose="020B0609020204030204" pitchFamily="49" charset="0"/>
              </a:rPr>
              <a:t>、</a:t>
            </a:r>
            <a:r>
              <a:rPr lang="en-US" altLang="zh-CN" sz="1600" dirty="0">
                <a:latin typeface="+mj-lt"/>
                <a:ea typeface="+mj-ea"/>
                <a:sym typeface="Consolas" panose="020B0609020204030204" pitchFamily="49" charset="0"/>
              </a:rPr>
              <a:t>WHRD</a:t>
            </a:r>
            <a:r>
              <a:rPr lang="zh-CN" altLang="en-US" sz="1600" dirty="0">
                <a:latin typeface="+mj-lt"/>
                <a:ea typeface="+mj-ea"/>
                <a:sym typeface="Consolas" panose="020B0609020204030204" pitchFamily="49" charset="0"/>
              </a:rPr>
              <a:t>和</a:t>
            </a:r>
            <a:r>
              <a:rPr lang="en-US" altLang="zh-CN" sz="1600" dirty="0" err="1">
                <a:latin typeface="+mj-lt"/>
                <a:ea typeface="+mj-ea"/>
                <a:sym typeface="Consolas" panose="020B0609020204030204" pitchFamily="49" charset="0"/>
              </a:rPr>
              <a:t>WHDistrict</a:t>
            </a:r>
            <a:r>
              <a:rPr lang="zh-CN" altLang="en-US" sz="1600" dirty="0">
                <a:latin typeface="+mj-lt"/>
                <a:ea typeface="+mj-ea"/>
                <a:sym typeface="Consolas" panose="020B0609020204030204" pitchFamily="49" charset="0"/>
              </a:rPr>
              <a:t>为例，读入数据：</a:t>
            </a:r>
            <a:endParaRPr lang="en-US" altLang="zh-CN" sz="1600" dirty="0">
              <a:latin typeface="+mj-lt"/>
              <a:ea typeface="+mj-ea"/>
              <a:sym typeface="Consolas" panose="020B0609020204030204" pitchFamily="49" charset="0"/>
            </a:endParaRPr>
          </a:p>
        </p:txBody>
      </p:sp>
      <p:sp>
        <p:nvSpPr>
          <p:cNvPr id="13" name="标题 9"/>
          <p:cNvSpPr>
            <a:spLocks noGrp="1"/>
          </p:cNvSpPr>
          <p:nvPr>
            <p:ph type="title"/>
          </p:nvPr>
        </p:nvSpPr>
        <p:spPr>
          <a:xfrm>
            <a:off x="1181100" y="342900"/>
            <a:ext cx="7007225" cy="663575"/>
          </a:xfrm>
        </p:spPr>
        <p:txBody>
          <a:bodyPr/>
          <a:lstStyle/>
          <a:p>
            <a:pPr algn="l"/>
            <a:r>
              <a:rPr lang="en-US" altLang="zh-CN" sz="3600" dirty="0">
                <a:latin typeface="Times New Roman" panose="02020603050405020304" pitchFamily="18" charset="0"/>
                <a:cs typeface="Times New Roman" panose="02020603050405020304" pitchFamily="18" charset="0"/>
              </a:rPr>
              <a:t>4.3 </a:t>
            </a:r>
            <a:r>
              <a:rPr lang="zh-CN" altLang="en-US" sz="3600" dirty="0">
                <a:latin typeface="Times New Roman" panose="02020603050405020304" pitchFamily="18" charset="0"/>
                <a:cs typeface="Times New Roman" panose="02020603050405020304" pitchFamily="18" charset="0"/>
              </a:rPr>
              <a:t>空间信息编辑</a:t>
            </a:r>
          </a:p>
        </p:txBody>
      </p:sp>
      <p:sp>
        <p:nvSpPr>
          <p:cNvPr id="14" name="灯片编号占位符 13"/>
          <p:cNvSpPr>
            <a:spLocks noGrp="1"/>
          </p:cNvSpPr>
          <p:nvPr>
            <p:ph type="sldNum" sz="quarter" idx="12"/>
          </p:nvPr>
        </p:nvSpPr>
        <p:spPr/>
        <p:txBody>
          <a:bodyPr/>
          <a:lstStyle/>
          <a:p>
            <a:fld id="{6B3369F9-03CD-4B48-86A9-9EE39A82955A}" type="slidenum">
              <a:rPr lang="zh-CN" altLang="en-US">
                <a:solidFill>
                  <a:schemeClr val="bg2">
                    <a:lumMod val="75000"/>
                  </a:schemeClr>
                </a:solidFill>
              </a:rPr>
              <a:t>16</a:t>
            </a:fld>
            <a:endParaRPr lang="zh-CN" altLang="en-US" dirty="0">
              <a:solidFill>
                <a:schemeClr val="bg2">
                  <a:lumMod val="75000"/>
                </a:schemeClr>
              </a:solidFill>
            </a:endParaRPr>
          </a:p>
        </p:txBody>
      </p:sp>
      <p:sp>
        <p:nvSpPr>
          <p:cNvPr id="4" name="文本框 3">
            <a:extLst>
              <a:ext uri="{FF2B5EF4-FFF2-40B4-BE49-F238E27FC236}">
                <a16:creationId xmlns:a16="http://schemas.microsoft.com/office/drawing/2014/main" id="{B833B603-7BF4-49E0-0AC5-908C5718988C}"/>
              </a:ext>
            </a:extLst>
          </p:cNvPr>
          <p:cNvSpPr txBox="1"/>
          <p:nvPr/>
        </p:nvSpPr>
        <p:spPr>
          <a:xfrm>
            <a:off x="1181100" y="3365165"/>
            <a:ext cx="6667500" cy="1569660"/>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WHZZQ_sp</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readShapePoints</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WHSWZZ_ZZQ.shp</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verbose=T, proj4string=CRS(</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proj</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longlat</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 +datum=WGS84 +</a:t>
            </a:r>
            <a:r>
              <a:rPr lang="en-US" altLang="zh-CN" sz="16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no_defs</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WHRD_sp</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readShapeLines</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WHRD.shp</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verbose=T, proj4string=CRS(</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proj</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longlat</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 +datum=WGS84 +</a:t>
            </a:r>
            <a:r>
              <a:rPr lang="en-US" altLang="zh-CN" sz="16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no_defs</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WHDis_sp</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readShapePoly</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WHDistrict.shp</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verbose=T, proj4string=CRS(</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proj</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longlat</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 +datum=WGS84 +</a:t>
            </a:r>
            <a:r>
              <a:rPr lang="en-US" altLang="zh-CN" sz="16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no_defs</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p:txBody>
      </p:sp>
      <p:sp>
        <p:nvSpPr>
          <p:cNvPr id="5" name="文本框 4">
            <a:extLst>
              <a:ext uri="{FF2B5EF4-FFF2-40B4-BE49-F238E27FC236}">
                <a16:creationId xmlns:a16="http://schemas.microsoft.com/office/drawing/2014/main" id="{3C6E154A-DA68-9BC0-9A5D-4201523BB272}"/>
              </a:ext>
            </a:extLst>
          </p:cNvPr>
          <p:cNvSpPr txBox="1"/>
          <p:nvPr/>
        </p:nvSpPr>
        <p:spPr>
          <a:xfrm>
            <a:off x="457200" y="1681839"/>
            <a:ext cx="3817071" cy="461665"/>
          </a:xfrm>
          <a:prstGeom prst="rect">
            <a:avLst/>
          </a:prstGeom>
          <a:noFill/>
        </p:spPr>
        <p:txBody>
          <a:bodyPr wrap="none" rtlCol="0">
            <a:spAutoFit/>
          </a:bodyPr>
          <a:lstStyle/>
          <a:p>
            <a:r>
              <a:rPr lang="en-US" altLang="zh-CN" sz="2400" b="1" dirty="0">
                <a:latin typeface="+mj-lt"/>
                <a:ea typeface="+mj-ea"/>
              </a:rPr>
              <a:t>(1) Spatial*</a:t>
            </a:r>
            <a:r>
              <a:rPr lang="en-US" altLang="zh-CN" sz="2400" b="1" dirty="0" err="1">
                <a:latin typeface="+mj-lt"/>
                <a:ea typeface="+mj-ea"/>
              </a:rPr>
              <a:t>DataFrame</a:t>
            </a:r>
            <a:r>
              <a:rPr lang="zh-CN" altLang="en-US" sz="2400" b="1" dirty="0">
                <a:latin typeface="+mj-lt"/>
                <a:ea typeface="+mj-ea"/>
              </a:rPr>
              <a:t>对象</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4F3BE3-809F-8FCA-3FBE-B85A40DE7844}"/>
            </a:ext>
          </a:extLst>
        </p:cNvPr>
        <p:cNvGrpSpPr/>
        <p:nvPr/>
      </p:nvGrpSpPr>
      <p:grpSpPr>
        <a:xfrm>
          <a:off x="0" y="0"/>
          <a:ext cx="0" cy="0"/>
          <a:chOff x="0" y="0"/>
          <a:chExt cx="0" cy="0"/>
        </a:xfrm>
      </p:grpSpPr>
      <p:sp>
        <p:nvSpPr>
          <p:cNvPr id="11" name="矩形 10">
            <a:extLst>
              <a:ext uri="{FF2B5EF4-FFF2-40B4-BE49-F238E27FC236}">
                <a16:creationId xmlns:a16="http://schemas.microsoft.com/office/drawing/2014/main" id="{47BA2A1F-4BC5-DFA2-3855-F3CE8A989DD5}"/>
              </a:ext>
            </a:extLst>
          </p:cNvPr>
          <p:cNvSpPr/>
          <p:nvPr/>
        </p:nvSpPr>
        <p:spPr>
          <a:xfrm>
            <a:off x="495300" y="2150211"/>
            <a:ext cx="8137525" cy="418063"/>
          </a:xfrm>
          <a:prstGeom prst="rect">
            <a:avLst/>
          </a:prstGeom>
        </p:spPr>
        <p:txBody>
          <a:bodyPr wrap="square">
            <a:spAutoFit/>
          </a:bodyPr>
          <a:lstStyle/>
          <a:p>
            <a:pPr indent="457200">
              <a:lnSpc>
                <a:spcPct val="150000"/>
              </a:lnSpc>
            </a:pPr>
            <a:r>
              <a:rPr lang="zh-CN" altLang="en-US" sz="1600" dirty="0">
                <a:latin typeface="+mj-lt"/>
                <a:ea typeface="+mj-ea"/>
                <a:sym typeface="Consolas" panose="020B0609020204030204" pitchFamily="49" charset="0"/>
              </a:rPr>
              <a:t>分别获取三种数据的坐标信息：</a:t>
            </a:r>
            <a:endParaRPr lang="en-US" altLang="zh-CN" sz="1600" dirty="0">
              <a:latin typeface="+mj-lt"/>
              <a:ea typeface="+mj-ea"/>
              <a:sym typeface="Consolas" panose="020B0609020204030204" pitchFamily="49" charset="0"/>
            </a:endParaRPr>
          </a:p>
        </p:txBody>
      </p:sp>
      <p:sp>
        <p:nvSpPr>
          <p:cNvPr id="13" name="标题 9">
            <a:extLst>
              <a:ext uri="{FF2B5EF4-FFF2-40B4-BE49-F238E27FC236}">
                <a16:creationId xmlns:a16="http://schemas.microsoft.com/office/drawing/2014/main" id="{56D4C974-7E7E-4FC8-DC52-66F497B8F752}"/>
              </a:ext>
            </a:extLst>
          </p:cNvPr>
          <p:cNvSpPr>
            <a:spLocks noGrp="1"/>
          </p:cNvSpPr>
          <p:nvPr>
            <p:ph type="title"/>
          </p:nvPr>
        </p:nvSpPr>
        <p:spPr>
          <a:xfrm>
            <a:off x="1181100" y="342900"/>
            <a:ext cx="7007225" cy="663575"/>
          </a:xfrm>
        </p:spPr>
        <p:txBody>
          <a:bodyPr/>
          <a:lstStyle/>
          <a:p>
            <a:pPr algn="l"/>
            <a:r>
              <a:rPr lang="en-US" altLang="zh-CN" sz="3600" dirty="0">
                <a:latin typeface="Times New Roman" panose="02020603050405020304" pitchFamily="18" charset="0"/>
                <a:cs typeface="Times New Roman" panose="02020603050405020304" pitchFamily="18" charset="0"/>
              </a:rPr>
              <a:t>4.3 </a:t>
            </a:r>
            <a:r>
              <a:rPr lang="zh-CN" altLang="en-US" sz="3600" dirty="0">
                <a:latin typeface="Times New Roman" panose="02020603050405020304" pitchFamily="18" charset="0"/>
                <a:cs typeface="Times New Roman" panose="02020603050405020304" pitchFamily="18" charset="0"/>
              </a:rPr>
              <a:t>空间信息编辑</a:t>
            </a:r>
          </a:p>
        </p:txBody>
      </p:sp>
      <p:sp>
        <p:nvSpPr>
          <p:cNvPr id="14" name="灯片编号占位符 13">
            <a:extLst>
              <a:ext uri="{FF2B5EF4-FFF2-40B4-BE49-F238E27FC236}">
                <a16:creationId xmlns:a16="http://schemas.microsoft.com/office/drawing/2014/main" id="{D8DEB167-1E6F-F7EC-35CB-274329C70297}"/>
              </a:ext>
            </a:extLst>
          </p:cNvPr>
          <p:cNvSpPr>
            <a:spLocks noGrp="1"/>
          </p:cNvSpPr>
          <p:nvPr>
            <p:ph type="sldNum" sz="quarter" idx="12"/>
          </p:nvPr>
        </p:nvSpPr>
        <p:spPr/>
        <p:txBody>
          <a:bodyPr/>
          <a:lstStyle/>
          <a:p>
            <a:fld id="{6B3369F9-03CD-4B48-86A9-9EE39A82955A}" type="slidenum">
              <a:rPr lang="zh-CN" altLang="en-US">
                <a:solidFill>
                  <a:schemeClr val="bg2">
                    <a:lumMod val="75000"/>
                  </a:schemeClr>
                </a:solidFill>
              </a:rPr>
              <a:t>17</a:t>
            </a:fld>
            <a:endParaRPr lang="zh-CN" altLang="en-US" dirty="0">
              <a:solidFill>
                <a:schemeClr val="bg2">
                  <a:lumMod val="75000"/>
                </a:schemeClr>
              </a:solidFill>
            </a:endParaRPr>
          </a:p>
        </p:txBody>
      </p:sp>
      <p:sp>
        <p:nvSpPr>
          <p:cNvPr id="4" name="文本框 3">
            <a:extLst>
              <a:ext uri="{FF2B5EF4-FFF2-40B4-BE49-F238E27FC236}">
                <a16:creationId xmlns:a16="http://schemas.microsoft.com/office/drawing/2014/main" id="{9A0E8689-3F2C-8A4A-4C9F-A425220CC423}"/>
              </a:ext>
            </a:extLst>
          </p:cNvPr>
          <p:cNvSpPr txBox="1"/>
          <p:nvPr/>
        </p:nvSpPr>
        <p:spPr>
          <a:xfrm>
            <a:off x="1104900" y="2678155"/>
            <a:ext cx="6667500" cy="3046988"/>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coord_spt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&lt;- coordinates(</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WHZZQ_sp</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WHZZQ_sp</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points(</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coord_spt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col=</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"red"</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coord_spl</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&lt;- coordinates(</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WHRD_sp</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WHRD_sp</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for</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i</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in</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6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length(</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coord_spl</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points(</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coord_spl</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i</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col=</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"red"</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cex</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0.4</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coord_spol</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&lt;- coordinates(</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WHDis_sp</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WHDis_sp</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points(</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coord_spol</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col=</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"red"</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p:txBody>
      </p:sp>
      <p:sp>
        <p:nvSpPr>
          <p:cNvPr id="5" name="文本框 4">
            <a:extLst>
              <a:ext uri="{FF2B5EF4-FFF2-40B4-BE49-F238E27FC236}">
                <a16:creationId xmlns:a16="http://schemas.microsoft.com/office/drawing/2014/main" id="{6845656A-F7A3-277A-4C42-D8A5557836A9}"/>
              </a:ext>
            </a:extLst>
          </p:cNvPr>
          <p:cNvSpPr txBox="1"/>
          <p:nvPr/>
        </p:nvSpPr>
        <p:spPr>
          <a:xfrm>
            <a:off x="457200" y="1579979"/>
            <a:ext cx="3817071" cy="461665"/>
          </a:xfrm>
          <a:prstGeom prst="rect">
            <a:avLst/>
          </a:prstGeom>
          <a:noFill/>
        </p:spPr>
        <p:txBody>
          <a:bodyPr wrap="none" rtlCol="0">
            <a:spAutoFit/>
          </a:bodyPr>
          <a:lstStyle/>
          <a:p>
            <a:r>
              <a:rPr lang="en-US" altLang="zh-CN" sz="2400" b="1" dirty="0">
                <a:latin typeface="+mj-lt"/>
                <a:ea typeface="+mj-ea"/>
              </a:rPr>
              <a:t>(1) Spatial*</a:t>
            </a:r>
            <a:r>
              <a:rPr lang="en-US" altLang="zh-CN" sz="2400" b="1" dirty="0" err="1">
                <a:latin typeface="+mj-lt"/>
                <a:ea typeface="+mj-ea"/>
              </a:rPr>
              <a:t>DataFrame</a:t>
            </a:r>
            <a:r>
              <a:rPr lang="zh-CN" altLang="en-US" sz="2400" b="1" dirty="0">
                <a:latin typeface="+mj-lt"/>
                <a:ea typeface="+mj-ea"/>
              </a:rPr>
              <a:t>对象</a:t>
            </a:r>
          </a:p>
        </p:txBody>
      </p:sp>
    </p:spTree>
    <p:extLst>
      <p:ext uri="{BB962C8B-B14F-4D97-AF65-F5344CB8AC3E}">
        <p14:creationId xmlns:p14="http://schemas.microsoft.com/office/powerpoint/2010/main" val="24734802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C1C6D-C933-C549-FD6C-3D8C2C0F8106}"/>
            </a:ext>
          </a:extLst>
        </p:cNvPr>
        <p:cNvGrpSpPr/>
        <p:nvPr/>
      </p:nvGrpSpPr>
      <p:grpSpPr>
        <a:xfrm>
          <a:off x="0" y="0"/>
          <a:ext cx="0" cy="0"/>
          <a:chOff x="0" y="0"/>
          <a:chExt cx="0" cy="0"/>
        </a:xfrm>
      </p:grpSpPr>
      <p:sp>
        <p:nvSpPr>
          <p:cNvPr id="11" name="矩形 10">
            <a:extLst>
              <a:ext uri="{FF2B5EF4-FFF2-40B4-BE49-F238E27FC236}">
                <a16:creationId xmlns:a16="http://schemas.microsoft.com/office/drawing/2014/main" id="{C91E340F-FA23-D78A-A6FC-142670A32013}"/>
              </a:ext>
            </a:extLst>
          </p:cNvPr>
          <p:cNvSpPr/>
          <p:nvPr/>
        </p:nvSpPr>
        <p:spPr>
          <a:xfrm>
            <a:off x="185215" y="1844911"/>
            <a:ext cx="2882900" cy="377283"/>
          </a:xfrm>
          <a:prstGeom prst="rect">
            <a:avLst/>
          </a:prstGeom>
        </p:spPr>
        <p:txBody>
          <a:bodyPr wrap="square">
            <a:spAutoFit/>
          </a:bodyPr>
          <a:lstStyle/>
          <a:p>
            <a:pPr algn="ctr">
              <a:lnSpc>
                <a:spcPct val="150000"/>
              </a:lnSpc>
            </a:pPr>
            <a:r>
              <a:rPr lang="zh-CN" altLang="en-US" sz="1400" dirty="0">
                <a:latin typeface="+mj-lt"/>
                <a:ea typeface="+mj-ea"/>
                <a:sym typeface="Consolas" panose="020B0609020204030204" pitchFamily="49" charset="0"/>
              </a:rPr>
              <a:t>空间点的二维坐标矩阵</a:t>
            </a:r>
            <a:endParaRPr lang="en-US" altLang="zh-CN" sz="1400" dirty="0">
              <a:latin typeface="+mj-lt"/>
              <a:ea typeface="+mj-ea"/>
              <a:sym typeface="Consolas" panose="020B0609020204030204" pitchFamily="49" charset="0"/>
            </a:endParaRPr>
          </a:p>
        </p:txBody>
      </p:sp>
      <p:sp>
        <p:nvSpPr>
          <p:cNvPr id="13" name="标题 9">
            <a:extLst>
              <a:ext uri="{FF2B5EF4-FFF2-40B4-BE49-F238E27FC236}">
                <a16:creationId xmlns:a16="http://schemas.microsoft.com/office/drawing/2014/main" id="{247C72F1-697C-EAF2-D801-0FBD597FE2D8}"/>
              </a:ext>
            </a:extLst>
          </p:cNvPr>
          <p:cNvSpPr>
            <a:spLocks noGrp="1"/>
          </p:cNvSpPr>
          <p:nvPr>
            <p:ph type="title"/>
          </p:nvPr>
        </p:nvSpPr>
        <p:spPr>
          <a:xfrm>
            <a:off x="1181100" y="342900"/>
            <a:ext cx="7007225" cy="663575"/>
          </a:xfrm>
        </p:spPr>
        <p:txBody>
          <a:bodyPr/>
          <a:lstStyle/>
          <a:p>
            <a:pPr algn="l"/>
            <a:r>
              <a:rPr lang="en-US" altLang="zh-CN" sz="3600" dirty="0">
                <a:latin typeface="Times New Roman" panose="02020603050405020304" pitchFamily="18" charset="0"/>
                <a:cs typeface="Times New Roman" panose="02020603050405020304" pitchFamily="18" charset="0"/>
              </a:rPr>
              <a:t>4.3 </a:t>
            </a:r>
            <a:r>
              <a:rPr lang="zh-CN" altLang="en-US" sz="3600" dirty="0">
                <a:latin typeface="Times New Roman" panose="02020603050405020304" pitchFamily="18" charset="0"/>
                <a:cs typeface="Times New Roman" panose="02020603050405020304" pitchFamily="18" charset="0"/>
              </a:rPr>
              <a:t>空间信息编辑</a:t>
            </a:r>
          </a:p>
        </p:txBody>
      </p:sp>
      <p:sp>
        <p:nvSpPr>
          <p:cNvPr id="14" name="灯片编号占位符 13">
            <a:extLst>
              <a:ext uri="{FF2B5EF4-FFF2-40B4-BE49-F238E27FC236}">
                <a16:creationId xmlns:a16="http://schemas.microsoft.com/office/drawing/2014/main" id="{96A79C0C-E433-971E-6C45-B204989E922E}"/>
              </a:ext>
            </a:extLst>
          </p:cNvPr>
          <p:cNvSpPr>
            <a:spLocks noGrp="1"/>
          </p:cNvSpPr>
          <p:nvPr>
            <p:ph type="sldNum" sz="quarter" idx="12"/>
          </p:nvPr>
        </p:nvSpPr>
        <p:spPr/>
        <p:txBody>
          <a:bodyPr/>
          <a:lstStyle/>
          <a:p>
            <a:fld id="{6B3369F9-03CD-4B48-86A9-9EE39A82955A}" type="slidenum">
              <a:rPr lang="zh-CN" altLang="en-US">
                <a:solidFill>
                  <a:schemeClr val="bg2">
                    <a:lumMod val="75000"/>
                  </a:schemeClr>
                </a:solidFill>
              </a:rPr>
              <a:t>18</a:t>
            </a:fld>
            <a:endParaRPr lang="zh-CN" altLang="en-US" dirty="0">
              <a:solidFill>
                <a:schemeClr val="bg2">
                  <a:lumMod val="75000"/>
                </a:schemeClr>
              </a:solidFill>
            </a:endParaRPr>
          </a:p>
        </p:txBody>
      </p:sp>
      <p:sp>
        <p:nvSpPr>
          <p:cNvPr id="5" name="文本框 4">
            <a:extLst>
              <a:ext uri="{FF2B5EF4-FFF2-40B4-BE49-F238E27FC236}">
                <a16:creationId xmlns:a16="http://schemas.microsoft.com/office/drawing/2014/main" id="{9DD562A6-B67F-4E9D-49D7-0A7739B0254E}"/>
              </a:ext>
            </a:extLst>
          </p:cNvPr>
          <p:cNvSpPr txBox="1"/>
          <p:nvPr/>
        </p:nvSpPr>
        <p:spPr>
          <a:xfrm>
            <a:off x="457200" y="1168332"/>
            <a:ext cx="3817071" cy="461665"/>
          </a:xfrm>
          <a:prstGeom prst="rect">
            <a:avLst/>
          </a:prstGeom>
          <a:noFill/>
        </p:spPr>
        <p:txBody>
          <a:bodyPr wrap="none" rtlCol="0">
            <a:spAutoFit/>
          </a:bodyPr>
          <a:lstStyle/>
          <a:p>
            <a:r>
              <a:rPr lang="en-US" altLang="zh-CN" sz="2400" b="1" dirty="0">
                <a:latin typeface="+mj-lt"/>
                <a:ea typeface="+mj-ea"/>
              </a:rPr>
              <a:t>(1) Spatial*</a:t>
            </a:r>
            <a:r>
              <a:rPr lang="en-US" altLang="zh-CN" sz="2400" b="1" dirty="0" err="1">
                <a:latin typeface="+mj-lt"/>
                <a:ea typeface="+mj-ea"/>
              </a:rPr>
              <a:t>DataFrame</a:t>
            </a:r>
            <a:r>
              <a:rPr lang="zh-CN" altLang="en-US" sz="2400" b="1" dirty="0">
                <a:latin typeface="+mj-lt"/>
                <a:ea typeface="+mj-ea"/>
              </a:rPr>
              <a:t>对象</a:t>
            </a:r>
          </a:p>
        </p:txBody>
      </p:sp>
      <p:pic>
        <p:nvPicPr>
          <p:cNvPr id="2" name="图片 1">
            <a:extLst>
              <a:ext uri="{FF2B5EF4-FFF2-40B4-BE49-F238E27FC236}">
                <a16:creationId xmlns:a16="http://schemas.microsoft.com/office/drawing/2014/main" id="{054D2182-458D-3F51-FA3D-3C841A2DD28F}"/>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2098" y="2405100"/>
            <a:ext cx="2929135" cy="2794369"/>
          </a:xfrm>
          <a:prstGeom prst="rect">
            <a:avLst/>
          </a:prstGeom>
          <a:ln>
            <a:noFill/>
          </a:ln>
          <a:effectLst>
            <a:outerShdw blurRad="190500" algn="tl" rotWithShape="0">
              <a:srgbClr val="000000">
                <a:alpha val="70000"/>
              </a:srgbClr>
            </a:outerShdw>
          </a:effectLst>
        </p:spPr>
      </p:pic>
      <p:pic>
        <p:nvPicPr>
          <p:cNvPr id="3" name="图片 2">
            <a:extLst>
              <a:ext uri="{FF2B5EF4-FFF2-40B4-BE49-F238E27FC236}">
                <a16:creationId xmlns:a16="http://schemas.microsoft.com/office/drawing/2014/main" id="{AE7DD304-56F2-6237-02CF-91C33E1C171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16830" y="2405100"/>
            <a:ext cx="2714381" cy="2794369"/>
          </a:xfrm>
          <a:prstGeom prst="rect">
            <a:avLst/>
          </a:prstGeom>
          <a:ln>
            <a:noFill/>
          </a:ln>
          <a:effectLst>
            <a:outerShdw blurRad="190500" algn="tl" rotWithShape="0">
              <a:srgbClr val="000000">
                <a:alpha val="70000"/>
              </a:srgbClr>
            </a:outerShdw>
          </a:effectLst>
        </p:spPr>
      </p:pic>
      <p:pic>
        <p:nvPicPr>
          <p:cNvPr id="6" name="图片 5">
            <a:extLst>
              <a:ext uri="{FF2B5EF4-FFF2-40B4-BE49-F238E27FC236}">
                <a16:creationId xmlns:a16="http://schemas.microsoft.com/office/drawing/2014/main" id="{80A6E5E1-9E2E-2539-F982-561DBDDC23D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248400" y="2400300"/>
            <a:ext cx="2744873" cy="2794369"/>
          </a:xfrm>
          <a:prstGeom prst="rect">
            <a:avLst/>
          </a:prstGeom>
          <a:ln>
            <a:noFill/>
          </a:ln>
          <a:effectLst>
            <a:outerShdw blurRad="190500" algn="tl" rotWithShape="0">
              <a:srgbClr val="000000">
                <a:alpha val="70000"/>
              </a:srgbClr>
            </a:outerShdw>
          </a:effectLst>
        </p:spPr>
      </p:pic>
      <p:sp>
        <p:nvSpPr>
          <p:cNvPr id="7" name="矩形 6">
            <a:extLst>
              <a:ext uri="{FF2B5EF4-FFF2-40B4-BE49-F238E27FC236}">
                <a16:creationId xmlns:a16="http://schemas.microsoft.com/office/drawing/2014/main" id="{D59E6B2D-1420-D8B0-5B64-44E7F00569BD}"/>
              </a:ext>
            </a:extLst>
          </p:cNvPr>
          <p:cNvSpPr/>
          <p:nvPr/>
        </p:nvSpPr>
        <p:spPr>
          <a:xfrm>
            <a:off x="3228410" y="1844911"/>
            <a:ext cx="2882900" cy="377283"/>
          </a:xfrm>
          <a:prstGeom prst="rect">
            <a:avLst/>
          </a:prstGeom>
        </p:spPr>
        <p:txBody>
          <a:bodyPr wrap="square">
            <a:spAutoFit/>
          </a:bodyPr>
          <a:lstStyle/>
          <a:p>
            <a:pPr algn="ctr">
              <a:lnSpc>
                <a:spcPct val="150000"/>
              </a:lnSpc>
            </a:pPr>
            <a:r>
              <a:rPr lang="zh-CN" altLang="en-US" sz="1400" dirty="0">
                <a:latin typeface="+mj-lt"/>
                <a:ea typeface="+mj-ea"/>
                <a:sym typeface="Consolas" panose="020B0609020204030204" pitchFamily="49" charset="0"/>
              </a:rPr>
              <a:t>所有线对象的节点坐标</a:t>
            </a:r>
            <a:r>
              <a:rPr lang="en-US" altLang="zh-CN" sz="1400" dirty="0">
                <a:latin typeface="+mj-lt"/>
                <a:ea typeface="+mj-ea"/>
                <a:sym typeface="Consolas" panose="020B0609020204030204" pitchFamily="49" charset="0"/>
              </a:rPr>
              <a:t>list</a:t>
            </a:r>
            <a:r>
              <a:rPr lang="zh-CN" altLang="en-US" sz="1400" dirty="0">
                <a:latin typeface="+mj-lt"/>
                <a:ea typeface="+mj-ea"/>
                <a:sym typeface="Consolas" panose="020B0609020204030204" pitchFamily="49" charset="0"/>
              </a:rPr>
              <a:t>对象</a:t>
            </a:r>
            <a:endParaRPr lang="en-US" altLang="zh-CN" sz="1400" dirty="0">
              <a:latin typeface="+mj-lt"/>
              <a:ea typeface="+mj-ea"/>
              <a:sym typeface="Consolas" panose="020B0609020204030204" pitchFamily="49" charset="0"/>
            </a:endParaRPr>
          </a:p>
        </p:txBody>
      </p:sp>
      <p:sp>
        <p:nvSpPr>
          <p:cNvPr id="8" name="矩形 7">
            <a:extLst>
              <a:ext uri="{FF2B5EF4-FFF2-40B4-BE49-F238E27FC236}">
                <a16:creationId xmlns:a16="http://schemas.microsoft.com/office/drawing/2014/main" id="{8A8F96A5-6733-C336-FCD6-37A904AB9FA9}"/>
              </a:ext>
            </a:extLst>
          </p:cNvPr>
          <p:cNvSpPr/>
          <p:nvPr/>
        </p:nvSpPr>
        <p:spPr>
          <a:xfrm>
            <a:off x="6179386" y="1844911"/>
            <a:ext cx="2882900" cy="377283"/>
          </a:xfrm>
          <a:prstGeom prst="rect">
            <a:avLst/>
          </a:prstGeom>
        </p:spPr>
        <p:txBody>
          <a:bodyPr wrap="square">
            <a:spAutoFit/>
          </a:bodyPr>
          <a:lstStyle/>
          <a:p>
            <a:pPr algn="ctr">
              <a:lnSpc>
                <a:spcPct val="150000"/>
              </a:lnSpc>
            </a:pPr>
            <a:r>
              <a:rPr lang="zh-CN" altLang="en-US" sz="1400" dirty="0">
                <a:latin typeface="+mj-lt"/>
                <a:ea typeface="+mj-ea"/>
                <a:sym typeface="Consolas" panose="020B0609020204030204" pitchFamily="49" charset="0"/>
              </a:rPr>
              <a:t>每个多边形的中心点二维坐标矩阵</a:t>
            </a:r>
            <a:endParaRPr lang="en-US" altLang="zh-CN" sz="1400" dirty="0">
              <a:latin typeface="+mj-lt"/>
              <a:ea typeface="+mj-ea"/>
              <a:sym typeface="Consolas" panose="020B0609020204030204" pitchFamily="49" charset="0"/>
            </a:endParaRPr>
          </a:p>
        </p:txBody>
      </p:sp>
      <p:sp>
        <p:nvSpPr>
          <p:cNvPr id="10" name="文本框 9">
            <a:extLst>
              <a:ext uri="{FF2B5EF4-FFF2-40B4-BE49-F238E27FC236}">
                <a16:creationId xmlns:a16="http://schemas.microsoft.com/office/drawing/2014/main" id="{E67E614A-6696-B55C-05F5-A96C3AF3B65D}"/>
              </a:ext>
            </a:extLst>
          </p:cNvPr>
          <p:cNvSpPr txBox="1"/>
          <p:nvPr/>
        </p:nvSpPr>
        <p:spPr>
          <a:xfrm>
            <a:off x="800889" y="5428058"/>
            <a:ext cx="7542222" cy="523220"/>
          </a:xfrm>
          <a:prstGeom prst="rect">
            <a:avLst/>
          </a:prstGeom>
          <a:noFill/>
        </p:spPr>
        <p:txBody>
          <a:bodyPr wrap="square">
            <a:spAutoFit/>
          </a:bodyPr>
          <a:lstStyle/>
          <a:p>
            <a:pPr algn="ctr"/>
            <a:r>
              <a:rPr lang="en-US" altLang="zh-CN" sz="1400" i="1" kern="0" dirty="0" err="1">
                <a:effectLst/>
                <a:latin typeface="+mj-lt"/>
                <a:ea typeface="+mj-ea"/>
              </a:rPr>
              <a:t>SpatialPointsDataFrame</a:t>
            </a:r>
            <a:r>
              <a:rPr lang="zh-CN" altLang="en-US" sz="1400" i="1" kern="0" dirty="0">
                <a:effectLst/>
                <a:latin typeface="+mj-lt"/>
                <a:ea typeface="+mj-ea"/>
              </a:rPr>
              <a:t>、</a:t>
            </a:r>
            <a:r>
              <a:rPr lang="en-US" altLang="zh-CN" sz="1400" i="1" kern="0" dirty="0" err="1">
                <a:effectLst/>
                <a:latin typeface="+mj-lt"/>
                <a:ea typeface="+mj-ea"/>
              </a:rPr>
              <a:t>SpatialLinesDataFrame</a:t>
            </a:r>
            <a:r>
              <a:rPr lang="zh-CN" altLang="en-US" sz="1400" i="1" kern="0" dirty="0">
                <a:effectLst/>
                <a:latin typeface="+mj-lt"/>
                <a:ea typeface="+mj-ea"/>
              </a:rPr>
              <a:t>、</a:t>
            </a:r>
            <a:r>
              <a:rPr lang="en-US" altLang="zh-CN" sz="1400" i="1" kern="0" dirty="0" err="1">
                <a:effectLst/>
                <a:latin typeface="+mj-lt"/>
                <a:ea typeface="+mj-ea"/>
              </a:rPr>
              <a:t>SpatialPolygonsDataFrame</a:t>
            </a:r>
            <a:r>
              <a:rPr lang="en-US" altLang="zh-CN" sz="1400" kern="0" dirty="0" err="1">
                <a:effectLst/>
                <a:latin typeface="+mj-lt"/>
                <a:ea typeface="+mj-ea"/>
                <a:cs typeface="Times New Roman" panose="02020603050405020304" pitchFamily="18" charset="0"/>
              </a:rPr>
              <a:t>对象</a:t>
            </a:r>
            <a:endParaRPr lang="en-US" altLang="zh-CN" sz="1400" kern="0" dirty="0">
              <a:effectLst/>
              <a:latin typeface="+mj-lt"/>
              <a:ea typeface="+mj-ea"/>
              <a:cs typeface="Times New Roman" panose="02020603050405020304" pitchFamily="18" charset="0"/>
            </a:endParaRPr>
          </a:p>
          <a:p>
            <a:pPr algn="ctr"/>
            <a:r>
              <a:rPr lang="en-US" altLang="zh-CN" sz="1400" b="1" i="1" kern="0" dirty="0">
                <a:effectLst/>
                <a:latin typeface="+mj-lt"/>
                <a:ea typeface="+mj-ea"/>
              </a:rPr>
              <a:t>coordinates</a:t>
            </a:r>
            <a:r>
              <a:rPr lang="zh-CN" altLang="zh-CN" sz="1400" kern="0" dirty="0">
                <a:effectLst/>
                <a:latin typeface="+mj-lt"/>
                <a:ea typeface="+mj-ea"/>
                <a:cs typeface="Times New Roman" panose="02020603050405020304" pitchFamily="18" charset="0"/>
              </a:rPr>
              <a:t>函数返回结果</a:t>
            </a:r>
            <a:endParaRPr lang="zh-CN" altLang="en-US" sz="1400" dirty="0">
              <a:latin typeface="+mj-lt"/>
              <a:ea typeface="+mj-ea"/>
            </a:endParaRPr>
          </a:p>
        </p:txBody>
      </p:sp>
    </p:spTree>
    <p:extLst>
      <p:ext uri="{BB962C8B-B14F-4D97-AF65-F5344CB8AC3E}">
        <p14:creationId xmlns:p14="http://schemas.microsoft.com/office/powerpoint/2010/main" val="32799831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0F353B-AFC4-E7E9-42B6-4531C7F4784C}"/>
            </a:ext>
          </a:extLst>
        </p:cNvPr>
        <p:cNvGrpSpPr/>
        <p:nvPr/>
      </p:nvGrpSpPr>
      <p:grpSpPr>
        <a:xfrm>
          <a:off x="0" y="0"/>
          <a:ext cx="0" cy="0"/>
          <a:chOff x="0" y="0"/>
          <a:chExt cx="0" cy="0"/>
        </a:xfrm>
      </p:grpSpPr>
      <p:sp>
        <p:nvSpPr>
          <p:cNvPr id="13" name="标题 9">
            <a:extLst>
              <a:ext uri="{FF2B5EF4-FFF2-40B4-BE49-F238E27FC236}">
                <a16:creationId xmlns:a16="http://schemas.microsoft.com/office/drawing/2014/main" id="{B587AA29-391A-32E3-677B-17B3A433B9E9}"/>
              </a:ext>
            </a:extLst>
          </p:cNvPr>
          <p:cNvSpPr>
            <a:spLocks noGrp="1"/>
          </p:cNvSpPr>
          <p:nvPr>
            <p:ph type="title"/>
          </p:nvPr>
        </p:nvSpPr>
        <p:spPr>
          <a:xfrm>
            <a:off x="1181100" y="342900"/>
            <a:ext cx="7007225" cy="663575"/>
          </a:xfrm>
        </p:spPr>
        <p:txBody>
          <a:bodyPr/>
          <a:lstStyle/>
          <a:p>
            <a:pPr algn="l"/>
            <a:r>
              <a:rPr lang="en-US" altLang="zh-CN" sz="3600" dirty="0">
                <a:latin typeface="Times New Roman" panose="02020603050405020304" pitchFamily="18" charset="0"/>
                <a:cs typeface="Times New Roman" panose="02020603050405020304" pitchFamily="18" charset="0"/>
              </a:rPr>
              <a:t>4.3 </a:t>
            </a:r>
            <a:r>
              <a:rPr lang="zh-CN" altLang="en-US" sz="3600" dirty="0">
                <a:latin typeface="Times New Roman" panose="02020603050405020304" pitchFamily="18" charset="0"/>
                <a:cs typeface="Times New Roman" panose="02020603050405020304" pitchFamily="18" charset="0"/>
              </a:rPr>
              <a:t>空间信息编辑</a:t>
            </a:r>
          </a:p>
        </p:txBody>
      </p:sp>
      <p:sp>
        <p:nvSpPr>
          <p:cNvPr id="14" name="灯片编号占位符 13">
            <a:extLst>
              <a:ext uri="{FF2B5EF4-FFF2-40B4-BE49-F238E27FC236}">
                <a16:creationId xmlns:a16="http://schemas.microsoft.com/office/drawing/2014/main" id="{540E7405-93A4-D20A-E187-C5B4F1EEAAD9}"/>
              </a:ext>
            </a:extLst>
          </p:cNvPr>
          <p:cNvSpPr>
            <a:spLocks noGrp="1"/>
          </p:cNvSpPr>
          <p:nvPr>
            <p:ph type="sldNum" sz="quarter" idx="12"/>
          </p:nvPr>
        </p:nvSpPr>
        <p:spPr/>
        <p:txBody>
          <a:bodyPr/>
          <a:lstStyle/>
          <a:p>
            <a:fld id="{6B3369F9-03CD-4B48-86A9-9EE39A82955A}" type="slidenum">
              <a:rPr lang="zh-CN" altLang="en-US">
                <a:solidFill>
                  <a:schemeClr val="bg2">
                    <a:lumMod val="75000"/>
                  </a:schemeClr>
                </a:solidFill>
              </a:rPr>
              <a:t>19</a:t>
            </a:fld>
            <a:endParaRPr lang="zh-CN" altLang="en-US" dirty="0">
              <a:solidFill>
                <a:schemeClr val="bg2">
                  <a:lumMod val="75000"/>
                </a:schemeClr>
              </a:solidFill>
            </a:endParaRPr>
          </a:p>
        </p:txBody>
      </p:sp>
      <p:sp>
        <p:nvSpPr>
          <p:cNvPr id="5" name="文本框 4">
            <a:extLst>
              <a:ext uri="{FF2B5EF4-FFF2-40B4-BE49-F238E27FC236}">
                <a16:creationId xmlns:a16="http://schemas.microsoft.com/office/drawing/2014/main" id="{B0F37C85-9459-014A-9F78-C922C6362665}"/>
              </a:ext>
            </a:extLst>
          </p:cNvPr>
          <p:cNvSpPr txBox="1"/>
          <p:nvPr/>
        </p:nvSpPr>
        <p:spPr>
          <a:xfrm>
            <a:off x="457200" y="1937833"/>
            <a:ext cx="3817071" cy="461665"/>
          </a:xfrm>
          <a:prstGeom prst="rect">
            <a:avLst/>
          </a:prstGeom>
          <a:noFill/>
        </p:spPr>
        <p:txBody>
          <a:bodyPr wrap="none" rtlCol="0">
            <a:spAutoFit/>
          </a:bodyPr>
          <a:lstStyle/>
          <a:p>
            <a:r>
              <a:rPr lang="en-US" altLang="zh-CN" sz="2400" b="1" dirty="0">
                <a:latin typeface="+mj-lt"/>
                <a:ea typeface="+mj-ea"/>
              </a:rPr>
              <a:t>(1) Spatial*</a:t>
            </a:r>
            <a:r>
              <a:rPr lang="en-US" altLang="zh-CN" sz="2400" b="1" dirty="0" err="1">
                <a:latin typeface="+mj-lt"/>
                <a:ea typeface="+mj-ea"/>
              </a:rPr>
              <a:t>DataFrame</a:t>
            </a:r>
            <a:r>
              <a:rPr lang="zh-CN" altLang="en-US" sz="2400" b="1" dirty="0">
                <a:latin typeface="+mj-lt"/>
                <a:ea typeface="+mj-ea"/>
              </a:rPr>
              <a:t>对象</a:t>
            </a:r>
          </a:p>
        </p:txBody>
      </p:sp>
      <p:sp>
        <p:nvSpPr>
          <p:cNvPr id="10" name="文本框 9">
            <a:extLst>
              <a:ext uri="{FF2B5EF4-FFF2-40B4-BE49-F238E27FC236}">
                <a16:creationId xmlns:a16="http://schemas.microsoft.com/office/drawing/2014/main" id="{4354537B-7E40-CAAB-4831-2FB8C6634BC9}"/>
              </a:ext>
            </a:extLst>
          </p:cNvPr>
          <p:cNvSpPr txBox="1"/>
          <p:nvPr/>
        </p:nvSpPr>
        <p:spPr>
          <a:xfrm>
            <a:off x="800889" y="2554786"/>
            <a:ext cx="7542222" cy="874214"/>
          </a:xfrm>
          <a:prstGeom prst="rect">
            <a:avLst/>
          </a:prstGeom>
          <a:noFill/>
        </p:spPr>
        <p:txBody>
          <a:bodyPr wrap="square">
            <a:spAutoFit/>
          </a:bodyPr>
          <a:lstStyle/>
          <a:p>
            <a:pPr indent="457200" algn="just">
              <a:lnSpc>
                <a:spcPct val="150000"/>
              </a:lnSpc>
            </a:pPr>
            <a:r>
              <a:rPr lang="zh-CN" altLang="en-US" kern="0" dirty="0">
                <a:effectLst/>
                <a:latin typeface="+mj-lt"/>
                <a:ea typeface="+mj-ea"/>
              </a:rPr>
              <a:t>在函数包</a:t>
            </a:r>
            <a:r>
              <a:rPr lang="en-US" altLang="zh-CN" b="1" kern="0" dirty="0" err="1">
                <a:effectLst/>
                <a:latin typeface="+mj-lt"/>
                <a:ea typeface="+mj-ea"/>
              </a:rPr>
              <a:t>sp</a:t>
            </a:r>
            <a:r>
              <a:rPr lang="zh-CN" altLang="en-US" kern="0" dirty="0">
                <a:effectLst/>
                <a:latin typeface="+mj-lt"/>
                <a:ea typeface="+mj-ea"/>
              </a:rPr>
              <a:t>中提供了</a:t>
            </a:r>
            <a:r>
              <a:rPr lang="en-US" altLang="zh-CN" b="1" i="1" kern="0" dirty="0" err="1">
                <a:effectLst/>
                <a:latin typeface="+mj-lt"/>
                <a:ea typeface="+mj-ea"/>
              </a:rPr>
              <a:t>bbox</a:t>
            </a:r>
            <a:r>
              <a:rPr lang="zh-CN" altLang="en-US" kern="0" dirty="0">
                <a:effectLst/>
                <a:latin typeface="+mj-lt"/>
                <a:ea typeface="+mj-ea"/>
              </a:rPr>
              <a:t>函数，用于获取空间数据外包矩形的左上、右下点坐标</a:t>
            </a:r>
            <a:r>
              <a:rPr lang="zh-CN" altLang="en-US" kern="0" dirty="0">
                <a:latin typeface="+mj-lt"/>
                <a:ea typeface="+mj-ea"/>
              </a:rPr>
              <a:t>：</a:t>
            </a:r>
            <a:endParaRPr lang="en-US" altLang="zh-CN" kern="0" dirty="0">
              <a:effectLst/>
              <a:latin typeface="+mj-lt"/>
              <a:ea typeface="+mj-ea"/>
              <a:cs typeface="Times New Roman" panose="02020603050405020304" pitchFamily="18" charset="0"/>
            </a:endParaRPr>
          </a:p>
        </p:txBody>
      </p:sp>
      <p:sp>
        <p:nvSpPr>
          <p:cNvPr id="4" name="文本框 3">
            <a:extLst>
              <a:ext uri="{FF2B5EF4-FFF2-40B4-BE49-F238E27FC236}">
                <a16:creationId xmlns:a16="http://schemas.microsoft.com/office/drawing/2014/main" id="{689EFDE7-4D7B-3F5A-A3D9-FBF616D63CA6}"/>
              </a:ext>
            </a:extLst>
          </p:cNvPr>
          <p:cNvSpPr txBox="1"/>
          <p:nvPr/>
        </p:nvSpPr>
        <p:spPr>
          <a:xfrm>
            <a:off x="1104900" y="3736837"/>
            <a:ext cx="6667500" cy="923330"/>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bbox</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WHZZQ_sp</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dirty="0">
              <a:effectLst/>
              <a:latin typeface="Times New Roman" panose="02020603050405020304" pitchFamily="18" charset="0"/>
              <a:ea typeface="宋体" panose="02010600030101010101" pitchFamily="2" charset="-122"/>
            </a:endParaRPr>
          </a:p>
          <a:p>
            <a:pPr indent="127000" algn="l">
              <a:buNone/>
            </a:pP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bbox</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WHRD_sp</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dirty="0">
              <a:effectLst/>
              <a:latin typeface="Times New Roman" panose="02020603050405020304" pitchFamily="18" charset="0"/>
              <a:ea typeface="宋体" panose="02010600030101010101" pitchFamily="2" charset="-122"/>
            </a:endParaRPr>
          </a:p>
          <a:p>
            <a:pPr indent="127000" algn="l"/>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bbox</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WHDis_sp</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22739389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3C3C5-F64C-332A-DDEE-847A365D8AE1}"/>
            </a:ext>
          </a:extLst>
        </p:cNvPr>
        <p:cNvGrpSpPr/>
        <p:nvPr/>
      </p:nvGrpSpPr>
      <p:grpSpPr>
        <a:xfrm>
          <a:off x="0" y="0"/>
          <a:ext cx="0" cy="0"/>
          <a:chOff x="0" y="0"/>
          <a:chExt cx="0" cy="0"/>
        </a:xfrm>
      </p:grpSpPr>
      <p:sp>
        <p:nvSpPr>
          <p:cNvPr id="13" name="标题 9">
            <a:extLst>
              <a:ext uri="{FF2B5EF4-FFF2-40B4-BE49-F238E27FC236}">
                <a16:creationId xmlns:a16="http://schemas.microsoft.com/office/drawing/2014/main" id="{21B28792-8D9C-FE15-0AF2-2863EAD2817F}"/>
              </a:ext>
            </a:extLst>
          </p:cNvPr>
          <p:cNvSpPr>
            <a:spLocks noGrp="1"/>
          </p:cNvSpPr>
          <p:nvPr>
            <p:ph type="title"/>
          </p:nvPr>
        </p:nvSpPr>
        <p:spPr>
          <a:xfrm>
            <a:off x="1181100" y="342900"/>
            <a:ext cx="7007225" cy="663575"/>
          </a:xfrm>
        </p:spPr>
        <p:txBody>
          <a:bodyPr/>
          <a:lstStyle/>
          <a:p>
            <a:pPr algn="l"/>
            <a:r>
              <a:rPr lang="en-US" altLang="zh-CN" sz="3600" dirty="0">
                <a:latin typeface="Times New Roman" panose="02020603050405020304" pitchFamily="18" charset="0"/>
                <a:cs typeface="Times New Roman" panose="02020603050405020304" pitchFamily="18" charset="0"/>
              </a:rPr>
              <a:t>4.3 </a:t>
            </a:r>
            <a:r>
              <a:rPr lang="zh-CN" altLang="en-US" sz="3600" dirty="0">
                <a:latin typeface="Times New Roman" panose="02020603050405020304" pitchFamily="18" charset="0"/>
                <a:cs typeface="Times New Roman" panose="02020603050405020304" pitchFamily="18" charset="0"/>
              </a:rPr>
              <a:t>空间信息编辑</a:t>
            </a:r>
          </a:p>
        </p:txBody>
      </p:sp>
      <p:sp>
        <p:nvSpPr>
          <p:cNvPr id="14" name="灯片编号占位符 13">
            <a:extLst>
              <a:ext uri="{FF2B5EF4-FFF2-40B4-BE49-F238E27FC236}">
                <a16:creationId xmlns:a16="http://schemas.microsoft.com/office/drawing/2014/main" id="{5FEF33D0-7597-521D-B52D-97FCE6621B43}"/>
              </a:ext>
            </a:extLst>
          </p:cNvPr>
          <p:cNvSpPr>
            <a:spLocks noGrp="1"/>
          </p:cNvSpPr>
          <p:nvPr>
            <p:ph type="sldNum" sz="quarter" idx="12"/>
          </p:nvPr>
        </p:nvSpPr>
        <p:spPr/>
        <p:txBody>
          <a:bodyPr/>
          <a:lstStyle/>
          <a:p>
            <a:fld id="{6B3369F9-03CD-4B48-86A9-9EE39A82955A}" type="slidenum">
              <a:rPr lang="zh-CN" altLang="en-US">
                <a:solidFill>
                  <a:schemeClr val="bg2">
                    <a:lumMod val="75000"/>
                  </a:schemeClr>
                </a:solidFill>
              </a:rPr>
              <a:t>20</a:t>
            </a:fld>
            <a:endParaRPr lang="zh-CN" altLang="en-US" dirty="0">
              <a:solidFill>
                <a:schemeClr val="bg2">
                  <a:lumMod val="75000"/>
                </a:schemeClr>
              </a:solidFill>
            </a:endParaRPr>
          </a:p>
        </p:txBody>
      </p:sp>
      <p:sp>
        <p:nvSpPr>
          <p:cNvPr id="5" name="文本框 4">
            <a:extLst>
              <a:ext uri="{FF2B5EF4-FFF2-40B4-BE49-F238E27FC236}">
                <a16:creationId xmlns:a16="http://schemas.microsoft.com/office/drawing/2014/main" id="{8DA9FC7B-3525-A809-E120-B551F079A605}"/>
              </a:ext>
            </a:extLst>
          </p:cNvPr>
          <p:cNvSpPr txBox="1"/>
          <p:nvPr/>
        </p:nvSpPr>
        <p:spPr>
          <a:xfrm>
            <a:off x="457200" y="1447800"/>
            <a:ext cx="3237618" cy="461665"/>
          </a:xfrm>
          <a:prstGeom prst="rect">
            <a:avLst/>
          </a:prstGeom>
          <a:noFill/>
        </p:spPr>
        <p:txBody>
          <a:bodyPr wrap="none" rtlCol="0">
            <a:spAutoFit/>
          </a:bodyPr>
          <a:lstStyle/>
          <a:p>
            <a:r>
              <a:rPr lang="en-US" altLang="zh-CN" sz="2400" b="1" dirty="0">
                <a:latin typeface="+mj-lt"/>
                <a:ea typeface="+mj-ea"/>
              </a:rPr>
              <a:t>(2) Simple Feature</a:t>
            </a:r>
            <a:r>
              <a:rPr lang="zh-CN" altLang="en-US" sz="2400" b="1" dirty="0">
                <a:latin typeface="+mj-lt"/>
                <a:ea typeface="+mj-ea"/>
              </a:rPr>
              <a:t>对象</a:t>
            </a:r>
          </a:p>
        </p:txBody>
      </p:sp>
      <p:sp>
        <p:nvSpPr>
          <p:cNvPr id="10" name="文本框 9">
            <a:extLst>
              <a:ext uri="{FF2B5EF4-FFF2-40B4-BE49-F238E27FC236}">
                <a16:creationId xmlns:a16="http://schemas.microsoft.com/office/drawing/2014/main" id="{A92C3AE2-F97B-67FA-DF75-8420BFEEC995}"/>
              </a:ext>
            </a:extLst>
          </p:cNvPr>
          <p:cNvSpPr txBox="1"/>
          <p:nvPr/>
        </p:nvSpPr>
        <p:spPr>
          <a:xfrm>
            <a:off x="800889" y="2116818"/>
            <a:ext cx="7542222" cy="2120709"/>
          </a:xfrm>
          <a:prstGeom prst="rect">
            <a:avLst/>
          </a:prstGeom>
          <a:noFill/>
        </p:spPr>
        <p:txBody>
          <a:bodyPr wrap="square">
            <a:spAutoFit/>
          </a:bodyPr>
          <a:lstStyle/>
          <a:p>
            <a:pPr indent="457200" algn="just">
              <a:lnSpc>
                <a:spcPct val="150000"/>
              </a:lnSpc>
            </a:pPr>
            <a:r>
              <a:rPr lang="zh-CN" altLang="en-US" kern="0" dirty="0">
                <a:effectLst/>
                <a:latin typeface="+mj-lt"/>
                <a:ea typeface="+mj-ea"/>
              </a:rPr>
              <a:t>与函数包</a:t>
            </a:r>
            <a:r>
              <a:rPr lang="en-US" altLang="zh-CN" b="1" kern="0" dirty="0" err="1">
                <a:effectLst/>
                <a:latin typeface="+mj-lt"/>
                <a:ea typeface="+mj-ea"/>
              </a:rPr>
              <a:t>sp</a:t>
            </a:r>
            <a:r>
              <a:rPr lang="zh-CN" altLang="en-US" kern="0" dirty="0">
                <a:effectLst/>
                <a:latin typeface="+mj-lt"/>
                <a:ea typeface="+mj-ea"/>
              </a:rPr>
              <a:t>中的</a:t>
            </a:r>
            <a:r>
              <a:rPr lang="en-US" altLang="zh-CN" kern="0" dirty="0">
                <a:effectLst/>
                <a:latin typeface="+mj-lt"/>
                <a:ea typeface="+mj-ea"/>
              </a:rPr>
              <a:t>coordinates</a:t>
            </a:r>
            <a:r>
              <a:rPr lang="zh-CN" altLang="en-US" kern="0" dirty="0">
                <a:effectLst/>
                <a:latin typeface="+mj-lt"/>
                <a:ea typeface="+mj-ea"/>
              </a:rPr>
              <a:t>函数类似，函数包</a:t>
            </a:r>
            <a:r>
              <a:rPr lang="en-US" altLang="zh-CN" b="1" kern="0" dirty="0">
                <a:effectLst/>
                <a:latin typeface="+mj-lt"/>
                <a:ea typeface="+mj-ea"/>
              </a:rPr>
              <a:t>sf</a:t>
            </a:r>
            <a:r>
              <a:rPr lang="zh-CN" altLang="en-US" kern="0" dirty="0">
                <a:effectLst/>
                <a:latin typeface="+mj-lt"/>
                <a:ea typeface="+mj-ea"/>
              </a:rPr>
              <a:t>中提供了</a:t>
            </a:r>
            <a:r>
              <a:rPr lang="en-US" altLang="zh-CN" b="1" i="1" kern="0" dirty="0" err="1">
                <a:effectLst/>
                <a:latin typeface="+mj-lt"/>
                <a:ea typeface="+mj-ea"/>
              </a:rPr>
              <a:t>st_coordinates</a:t>
            </a:r>
            <a:r>
              <a:rPr lang="zh-CN" altLang="en-US" kern="0" dirty="0">
                <a:effectLst/>
                <a:latin typeface="+mj-lt"/>
                <a:ea typeface="+mj-ea"/>
              </a:rPr>
              <a:t>函数，用于获取</a:t>
            </a:r>
            <a:r>
              <a:rPr lang="en-US" altLang="zh-CN" kern="0" dirty="0">
                <a:effectLst/>
                <a:latin typeface="+mj-lt"/>
                <a:ea typeface="+mj-ea"/>
              </a:rPr>
              <a:t>Simple Feature</a:t>
            </a:r>
            <a:r>
              <a:rPr lang="zh-CN" altLang="en-US" kern="0" dirty="0">
                <a:effectLst/>
                <a:latin typeface="+mj-lt"/>
                <a:ea typeface="+mj-ea"/>
              </a:rPr>
              <a:t>对象的坐标信息，但二者之间的效果存在一定的差异。</a:t>
            </a:r>
            <a:endParaRPr lang="en-US" altLang="zh-CN" kern="0" dirty="0">
              <a:effectLst/>
              <a:latin typeface="+mj-lt"/>
              <a:ea typeface="+mj-ea"/>
            </a:endParaRPr>
          </a:p>
          <a:p>
            <a:pPr indent="457200" algn="just">
              <a:lnSpc>
                <a:spcPct val="150000"/>
              </a:lnSpc>
            </a:pPr>
            <a:r>
              <a:rPr lang="zh-CN" altLang="en-US" kern="0" dirty="0">
                <a:effectLst/>
                <a:latin typeface="+mj-lt"/>
                <a:ea typeface="+mj-ea"/>
                <a:cs typeface="Times New Roman" panose="02020603050405020304" pitchFamily="18" charset="0"/>
              </a:rPr>
              <a:t>以</a:t>
            </a:r>
            <a:r>
              <a:rPr lang="en-US" altLang="zh-CN" kern="0" dirty="0">
                <a:effectLst/>
                <a:latin typeface="+mj-lt"/>
                <a:ea typeface="+mj-ea"/>
                <a:cs typeface="Times New Roman" panose="02020603050405020304" pitchFamily="18" charset="0"/>
              </a:rPr>
              <a:t>WHSWZZ_ZZQ</a:t>
            </a:r>
            <a:r>
              <a:rPr lang="zh-CN" altLang="en-US" kern="0" dirty="0">
                <a:effectLst/>
                <a:latin typeface="+mj-lt"/>
                <a:ea typeface="+mj-ea"/>
                <a:cs typeface="Times New Roman" panose="02020603050405020304" pitchFamily="18" charset="0"/>
              </a:rPr>
              <a:t>、</a:t>
            </a:r>
            <a:r>
              <a:rPr lang="en-US" altLang="zh-CN" kern="0" dirty="0">
                <a:effectLst/>
                <a:latin typeface="+mj-lt"/>
                <a:ea typeface="+mj-ea"/>
                <a:cs typeface="Times New Roman" panose="02020603050405020304" pitchFamily="18" charset="0"/>
              </a:rPr>
              <a:t>WHRD</a:t>
            </a:r>
            <a:r>
              <a:rPr lang="zh-CN" altLang="en-US" kern="0" dirty="0">
                <a:effectLst/>
                <a:latin typeface="+mj-lt"/>
                <a:ea typeface="+mj-ea"/>
                <a:cs typeface="Times New Roman" panose="02020603050405020304" pitchFamily="18" charset="0"/>
              </a:rPr>
              <a:t>和</a:t>
            </a:r>
            <a:r>
              <a:rPr lang="en-US" altLang="zh-CN" kern="0" dirty="0" err="1">
                <a:effectLst/>
                <a:latin typeface="+mj-lt"/>
                <a:ea typeface="+mj-ea"/>
                <a:cs typeface="Times New Roman" panose="02020603050405020304" pitchFamily="18" charset="0"/>
              </a:rPr>
              <a:t>WHDistrict</a:t>
            </a:r>
            <a:r>
              <a:rPr lang="zh-CN" altLang="en-US" kern="0" dirty="0">
                <a:effectLst/>
                <a:latin typeface="+mj-lt"/>
                <a:ea typeface="+mj-ea"/>
                <a:cs typeface="Times New Roman" panose="02020603050405020304" pitchFamily="18" charset="0"/>
              </a:rPr>
              <a:t>为示例数据，读入为</a:t>
            </a:r>
            <a:r>
              <a:rPr lang="en-US" altLang="zh-CN" kern="0" dirty="0">
                <a:effectLst/>
                <a:latin typeface="+mj-lt"/>
                <a:ea typeface="+mj-ea"/>
                <a:cs typeface="Times New Roman" panose="02020603050405020304" pitchFamily="18" charset="0"/>
              </a:rPr>
              <a:t>Simple Feature</a:t>
            </a:r>
            <a:r>
              <a:rPr lang="zh-CN" altLang="en-US" kern="0" dirty="0">
                <a:effectLst/>
                <a:latin typeface="+mj-lt"/>
                <a:ea typeface="+mj-ea"/>
                <a:cs typeface="Times New Roman" panose="02020603050405020304" pitchFamily="18" charset="0"/>
              </a:rPr>
              <a:t>对象：</a:t>
            </a:r>
            <a:endParaRPr lang="en-US" altLang="zh-CN" kern="0" dirty="0">
              <a:effectLst/>
              <a:latin typeface="+mj-lt"/>
              <a:ea typeface="+mj-ea"/>
              <a:cs typeface="Times New Roman" panose="02020603050405020304" pitchFamily="18" charset="0"/>
            </a:endParaRPr>
          </a:p>
        </p:txBody>
      </p:sp>
      <p:sp>
        <p:nvSpPr>
          <p:cNvPr id="4" name="文本框 3">
            <a:extLst>
              <a:ext uri="{FF2B5EF4-FFF2-40B4-BE49-F238E27FC236}">
                <a16:creationId xmlns:a16="http://schemas.microsoft.com/office/drawing/2014/main" id="{BBCBDC60-64AC-DF94-0FDB-2B9CC4CA3B89}"/>
              </a:ext>
            </a:extLst>
          </p:cNvPr>
          <p:cNvSpPr txBox="1"/>
          <p:nvPr/>
        </p:nvSpPr>
        <p:spPr>
          <a:xfrm>
            <a:off x="1178210" y="4444880"/>
            <a:ext cx="6667500" cy="830997"/>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WHZZQ_sf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read_sf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WHSWZZ_ZZQ.shp</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WHRD_sf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read_sf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WHRD.shp</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WHDis_sf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read_sf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WHDistrict.shp</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32589198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582E5-D03B-F0D7-DD6B-EE1ECA3CF4BF}"/>
            </a:ext>
          </a:extLst>
        </p:cNvPr>
        <p:cNvGrpSpPr/>
        <p:nvPr/>
      </p:nvGrpSpPr>
      <p:grpSpPr>
        <a:xfrm>
          <a:off x="0" y="0"/>
          <a:ext cx="0" cy="0"/>
          <a:chOff x="0" y="0"/>
          <a:chExt cx="0" cy="0"/>
        </a:xfrm>
      </p:grpSpPr>
      <p:sp>
        <p:nvSpPr>
          <p:cNvPr id="13" name="标题 9">
            <a:extLst>
              <a:ext uri="{FF2B5EF4-FFF2-40B4-BE49-F238E27FC236}">
                <a16:creationId xmlns:a16="http://schemas.microsoft.com/office/drawing/2014/main" id="{7D8D40DE-F127-2704-A03E-475EECCECA2F}"/>
              </a:ext>
            </a:extLst>
          </p:cNvPr>
          <p:cNvSpPr>
            <a:spLocks noGrp="1"/>
          </p:cNvSpPr>
          <p:nvPr>
            <p:ph type="title"/>
          </p:nvPr>
        </p:nvSpPr>
        <p:spPr>
          <a:xfrm>
            <a:off x="1181100" y="342900"/>
            <a:ext cx="7007225" cy="663575"/>
          </a:xfrm>
        </p:spPr>
        <p:txBody>
          <a:bodyPr/>
          <a:lstStyle/>
          <a:p>
            <a:pPr algn="l"/>
            <a:r>
              <a:rPr lang="en-US" altLang="zh-CN" sz="3600" dirty="0">
                <a:latin typeface="Times New Roman" panose="02020603050405020304" pitchFamily="18" charset="0"/>
                <a:cs typeface="Times New Roman" panose="02020603050405020304" pitchFamily="18" charset="0"/>
              </a:rPr>
              <a:t>4.3 </a:t>
            </a:r>
            <a:r>
              <a:rPr lang="zh-CN" altLang="en-US" sz="3600" dirty="0">
                <a:latin typeface="Times New Roman" panose="02020603050405020304" pitchFamily="18" charset="0"/>
                <a:cs typeface="Times New Roman" panose="02020603050405020304" pitchFamily="18" charset="0"/>
              </a:rPr>
              <a:t>空间信息编辑</a:t>
            </a:r>
          </a:p>
        </p:txBody>
      </p:sp>
      <p:sp>
        <p:nvSpPr>
          <p:cNvPr id="14" name="灯片编号占位符 13">
            <a:extLst>
              <a:ext uri="{FF2B5EF4-FFF2-40B4-BE49-F238E27FC236}">
                <a16:creationId xmlns:a16="http://schemas.microsoft.com/office/drawing/2014/main" id="{C557251C-15BF-C4AB-44AD-786BB1A4257C}"/>
              </a:ext>
            </a:extLst>
          </p:cNvPr>
          <p:cNvSpPr>
            <a:spLocks noGrp="1"/>
          </p:cNvSpPr>
          <p:nvPr>
            <p:ph type="sldNum" sz="quarter" idx="12"/>
          </p:nvPr>
        </p:nvSpPr>
        <p:spPr/>
        <p:txBody>
          <a:bodyPr/>
          <a:lstStyle/>
          <a:p>
            <a:fld id="{6B3369F9-03CD-4B48-86A9-9EE39A82955A}" type="slidenum">
              <a:rPr lang="zh-CN" altLang="en-US">
                <a:solidFill>
                  <a:schemeClr val="bg2">
                    <a:lumMod val="75000"/>
                  </a:schemeClr>
                </a:solidFill>
              </a:rPr>
              <a:t>21</a:t>
            </a:fld>
            <a:endParaRPr lang="zh-CN" altLang="en-US" dirty="0">
              <a:solidFill>
                <a:schemeClr val="bg2">
                  <a:lumMod val="75000"/>
                </a:schemeClr>
              </a:solidFill>
            </a:endParaRPr>
          </a:p>
        </p:txBody>
      </p:sp>
      <p:sp>
        <p:nvSpPr>
          <p:cNvPr id="5" name="文本框 4">
            <a:extLst>
              <a:ext uri="{FF2B5EF4-FFF2-40B4-BE49-F238E27FC236}">
                <a16:creationId xmlns:a16="http://schemas.microsoft.com/office/drawing/2014/main" id="{E473186A-CD98-21A4-B643-1879A7533968}"/>
              </a:ext>
            </a:extLst>
          </p:cNvPr>
          <p:cNvSpPr txBox="1"/>
          <p:nvPr/>
        </p:nvSpPr>
        <p:spPr>
          <a:xfrm>
            <a:off x="457200" y="1160327"/>
            <a:ext cx="3237618" cy="461665"/>
          </a:xfrm>
          <a:prstGeom prst="rect">
            <a:avLst/>
          </a:prstGeom>
          <a:noFill/>
        </p:spPr>
        <p:txBody>
          <a:bodyPr wrap="none" rtlCol="0">
            <a:spAutoFit/>
          </a:bodyPr>
          <a:lstStyle/>
          <a:p>
            <a:r>
              <a:rPr lang="en-US" altLang="zh-CN" sz="2400" b="1" dirty="0">
                <a:latin typeface="+mj-lt"/>
                <a:ea typeface="+mj-ea"/>
              </a:rPr>
              <a:t>(2) Simple Feature</a:t>
            </a:r>
            <a:r>
              <a:rPr lang="zh-CN" altLang="en-US" sz="2400" b="1" dirty="0">
                <a:latin typeface="+mj-lt"/>
                <a:ea typeface="+mj-ea"/>
              </a:rPr>
              <a:t>对象</a:t>
            </a:r>
          </a:p>
        </p:txBody>
      </p:sp>
      <p:sp>
        <p:nvSpPr>
          <p:cNvPr id="10" name="文本框 9">
            <a:extLst>
              <a:ext uri="{FF2B5EF4-FFF2-40B4-BE49-F238E27FC236}">
                <a16:creationId xmlns:a16="http://schemas.microsoft.com/office/drawing/2014/main" id="{56A70941-94C6-03DB-DDD0-AFA8151EC0A8}"/>
              </a:ext>
            </a:extLst>
          </p:cNvPr>
          <p:cNvSpPr txBox="1"/>
          <p:nvPr/>
        </p:nvSpPr>
        <p:spPr>
          <a:xfrm>
            <a:off x="571500" y="1560717"/>
            <a:ext cx="7542222" cy="458715"/>
          </a:xfrm>
          <a:prstGeom prst="rect">
            <a:avLst/>
          </a:prstGeom>
          <a:noFill/>
        </p:spPr>
        <p:txBody>
          <a:bodyPr wrap="square">
            <a:spAutoFit/>
          </a:bodyPr>
          <a:lstStyle/>
          <a:p>
            <a:pPr indent="457200" algn="just">
              <a:lnSpc>
                <a:spcPct val="150000"/>
              </a:lnSpc>
            </a:pPr>
            <a:r>
              <a:rPr lang="zh-CN" altLang="en-US" kern="0" dirty="0">
                <a:effectLst/>
                <a:latin typeface="+mj-lt"/>
                <a:ea typeface="+mj-ea"/>
              </a:rPr>
              <a:t>使用</a:t>
            </a:r>
            <a:r>
              <a:rPr lang="en-US" altLang="zh-CN" b="1" i="1" kern="0" dirty="0" err="1">
                <a:effectLst/>
                <a:latin typeface="+mj-lt"/>
                <a:ea typeface="+mj-ea"/>
              </a:rPr>
              <a:t>st_coordinates</a:t>
            </a:r>
            <a:r>
              <a:rPr lang="zh-CN" altLang="en-US" kern="0" dirty="0">
                <a:effectLst/>
                <a:latin typeface="+mj-lt"/>
                <a:ea typeface="+mj-ea"/>
              </a:rPr>
              <a:t>函数，分别获取坐标信息，观察绘制结果：</a:t>
            </a:r>
            <a:endParaRPr lang="en-US" altLang="zh-CN" kern="0" dirty="0">
              <a:effectLst/>
              <a:latin typeface="+mj-lt"/>
              <a:ea typeface="+mj-ea"/>
              <a:cs typeface="Times New Roman" panose="02020603050405020304" pitchFamily="18" charset="0"/>
            </a:endParaRPr>
          </a:p>
        </p:txBody>
      </p:sp>
      <p:sp>
        <p:nvSpPr>
          <p:cNvPr id="4" name="文本框 3">
            <a:extLst>
              <a:ext uri="{FF2B5EF4-FFF2-40B4-BE49-F238E27FC236}">
                <a16:creationId xmlns:a16="http://schemas.microsoft.com/office/drawing/2014/main" id="{0AA6BE8F-C79B-47CA-22E8-41DAC1F4510B}"/>
              </a:ext>
            </a:extLst>
          </p:cNvPr>
          <p:cNvSpPr txBox="1"/>
          <p:nvPr/>
        </p:nvSpPr>
        <p:spPr>
          <a:xfrm>
            <a:off x="1181100" y="2021534"/>
            <a:ext cx="6667500" cy="4616648"/>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coord_sfpt</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&lt;-</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st_coordinates</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WHZZQ_sf</a:t>
            </a:r>
            <a:r>
              <a:rPr lang="en-US" altLang="zh-CN" sz="14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geometry</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class(</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coord_sfpt</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coord_sfpt</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&lt;-</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data.frame</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coord_sfpt</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WHZZQ_sf</a:t>
            </a:r>
            <a:r>
              <a:rPr lang="en-US" altLang="zh-CN" sz="14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geometry,pch</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points(</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coord_sfpt,col</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"red"</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coord_sfl</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&lt;-</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st_coordinates</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WHRD_sf</a:t>
            </a:r>
            <a:r>
              <a:rPr lang="en-US" altLang="zh-CN" sz="14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geometry</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class(</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coord_sfl</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coord_sfl</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&lt;-</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data.frame</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coord_sfl</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WHRD_sf</a:t>
            </a:r>
            <a:r>
              <a:rPr lang="en-US" altLang="zh-CN" sz="14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geometry</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for</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i</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in</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4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nrow(</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coord_sfl</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points(</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coord_sfl</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i</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,],col=</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"red"</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cex</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0.4</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coord_sfpol</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&lt;-</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st_coordinates</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WHDis_sf</a:t>
            </a:r>
            <a:r>
              <a:rPr lang="en-US" altLang="zh-CN" sz="14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geometry</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class(</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coord_sfpol</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coord_sfpol</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&lt;-</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data.frame</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coord_sfpol</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WHDis_sf</a:t>
            </a:r>
            <a:r>
              <a:rPr lang="en-US" altLang="zh-CN" sz="14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geometry</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for</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i</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in</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4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nrow(</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coord_sfpol</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points(</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coord_sfpol</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i</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,],col=</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"red"</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15891090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0DA93-51AA-17E3-CD74-988D7C6558FF}"/>
            </a:ext>
          </a:extLst>
        </p:cNvPr>
        <p:cNvGrpSpPr/>
        <p:nvPr/>
      </p:nvGrpSpPr>
      <p:grpSpPr>
        <a:xfrm>
          <a:off x="0" y="0"/>
          <a:ext cx="0" cy="0"/>
          <a:chOff x="0" y="0"/>
          <a:chExt cx="0" cy="0"/>
        </a:xfrm>
      </p:grpSpPr>
      <p:sp>
        <p:nvSpPr>
          <p:cNvPr id="13" name="标题 9">
            <a:extLst>
              <a:ext uri="{FF2B5EF4-FFF2-40B4-BE49-F238E27FC236}">
                <a16:creationId xmlns:a16="http://schemas.microsoft.com/office/drawing/2014/main" id="{EE8B0FAE-907C-5036-2422-1B29A6E64398}"/>
              </a:ext>
            </a:extLst>
          </p:cNvPr>
          <p:cNvSpPr>
            <a:spLocks noGrp="1"/>
          </p:cNvSpPr>
          <p:nvPr>
            <p:ph type="title"/>
          </p:nvPr>
        </p:nvSpPr>
        <p:spPr>
          <a:xfrm>
            <a:off x="1181100" y="342900"/>
            <a:ext cx="7007225" cy="663575"/>
          </a:xfrm>
        </p:spPr>
        <p:txBody>
          <a:bodyPr/>
          <a:lstStyle/>
          <a:p>
            <a:pPr algn="l"/>
            <a:r>
              <a:rPr lang="en-US" altLang="zh-CN" sz="3600" dirty="0">
                <a:latin typeface="Times New Roman" panose="02020603050405020304" pitchFamily="18" charset="0"/>
                <a:cs typeface="Times New Roman" panose="02020603050405020304" pitchFamily="18" charset="0"/>
              </a:rPr>
              <a:t>4.3 </a:t>
            </a:r>
            <a:r>
              <a:rPr lang="zh-CN" altLang="en-US" sz="3600" dirty="0">
                <a:latin typeface="Times New Roman" panose="02020603050405020304" pitchFamily="18" charset="0"/>
                <a:cs typeface="Times New Roman" panose="02020603050405020304" pitchFamily="18" charset="0"/>
              </a:rPr>
              <a:t>空间信息编辑</a:t>
            </a:r>
          </a:p>
        </p:txBody>
      </p:sp>
      <p:sp>
        <p:nvSpPr>
          <p:cNvPr id="14" name="灯片编号占位符 13">
            <a:extLst>
              <a:ext uri="{FF2B5EF4-FFF2-40B4-BE49-F238E27FC236}">
                <a16:creationId xmlns:a16="http://schemas.microsoft.com/office/drawing/2014/main" id="{FA551CA0-5A54-AFBC-5E11-071E665081ED}"/>
              </a:ext>
            </a:extLst>
          </p:cNvPr>
          <p:cNvSpPr>
            <a:spLocks noGrp="1"/>
          </p:cNvSpPr>
          <p:nvPr>
            <p:ph type="sldNum" sz="quarter" idx="12"/>
          </p:nvPr>
        </p:nvSpPr>
        <p:spPr/>
        <p:txBody>
          <a:bodyPr/>
          <a:lstStyle/>
          <a:p>
            <a:fld id="{6B3369F9-03CD-4B48-86A9-9EE39A82955A}" type="slidenum">
              <a:rPr lang="zh-CN" altLang="en-US">
                <a:solidFill>
                  <a:schemeClr val="bg2">
                    <a:lumMod val="75000"/>
                  </a:schemeClr>
                </a:solidFill>
              </a:rPr>
              <a:t>22</a:t>
            </a:fld>
            <a:endParaRPr lang="zh-CN" altLang="en-US" dirty="0">
              <a:solidFill>
                <a:schemeClr val="bg2">
                  <a:lumMod val="75000"/>
                </a:schemeClr>
              </a:solidFill>
            </a:endParaRPr>
          </a:p>
        </p:txBody>
      </p:sp>
      <p:sp>
        <p:nvSpPr>
          <p:cNvPr id="5" name="文本框 4">
            <a:extLst>
              <a:ext uri="{FF2B5EF4-FFF2-40B4-BE49-F238E27FC236}">
                <a16:creationId xmlns:a16="http://schemas.microsoft.com/office/drawing/2014/main" id="{6112ACB9-0AB3-D094-A9ED-B63E36D1CDB7}"/>
              </a:ext>
            </a:extLst>
          </p:cNvPr>
          <p:cNvSpPr txBox="1"/>
          <p:nvPr/>
        </p:nvSpPr>
        <p:spPr>
          <a:xfrm>
            <a:off x="457200" y="1160327"/>
            <a:ext cx="3237618" cy="461665"/>
          </a:xfrm>
          <a:prstGeom prst="rect">
            <a:avLst/>
          </a:prstGeom>
          <a:noFill/>
        </p:spPr>
        <p:txBody>
          <a:bodyPr wrap="none" rtlCol="0">
            <a:spAutoFit/>
          </a:bodyPr>
          <a:lstStyle/>
          <a:p>
            <a:r>
              <a:rPr lang="en-US" altLang="zh-CN" sz="2400" b="1" dirty="0">
                <a:latin typeface="+mj-lt"/>
                <a:ea typeface="+mj-ea"/>
              </a:rPr>
              <a:t>(2) Simple Feature</a:t>
            </a:r>
            <a:r>
              <a:rPr lang="zh-CN" altLang="en-US" sz="2400" b="1" dirty="0">
                <a:latin typeface="+mj-lt"/>
                <a:ea typeface="+mj-ea"/>
              </a:rPr>
              <a:t>对象</a:t>
            </a:r>
          </a:p>
        </p:txBody>
      </p:sp>
      <p:sp>
        <p:nvSpPr>
          <p:cNvPr id="10" name="文本框 9">
            <a:extLst>
              <a:ext uri="{FF2B5EF4-FFF2-40B4-BE49-F238E27FC236}">
                <a16:creationId xmlns:a16="http://schemas.microsoft.com/office/drawing/2014/main" id="{CDE80E61-AABE-5C08-3CE6-843241D90F89}"/>
              </a:ext>
            </a:extLst>
          </p:cNvPr>
          <p:cNvSpPr txBox="1"/>
          <p:nvPr/>
        </p:nvSpPr>
        <p:spPr>
          <a:xfrm>
            <a:off x="571500" y="1560717"/>
            <a:ext cx="7542222" cy="458715"/>
          </a:xfrm>
          <a:prstGeom prst="rect">
            <a:avLst/>
          </a:prstGeom>
          <a:noFill/>
        </p:spPr>
        <p:txBody>
          <a:bodyPr wrap="square">
            <a:spAutoFit/>
          </a:bodyPr>
          <a:lstStyle/>
          <a:p>
            <a:pPr indent="457200" algn="just">
              <a:lnSpc>
                <a:spcPct val="150000"/>
              </a:lnSpc>
            </a:pPr>
            <a:r>
              <a:rPr lang="zh-CN" altLang="en-US" kern="0" dirty="0">
                <a:effectLst/>
                <a:latin typeface="+mj-lt"/>
                <a:ea typeface="+mj-ea"/>
              </a:rPr>
              <a:t>使用</a:t>
            </a:r>
            <a:r>
              <a:rPr lang="en-US" altLang="zh-CN" b="1" i="1" kern="0" dirty="0" err="1">
                <a:effectLst/>
                <a:latin typeface="+mj-lt"/>
                <a:ea typeface="+mj-ea"/>
              </a:rPr>
              <a:t>st_coordinates</a:t>
            </a:r>
            <a:r>
              <a:rPr lang="zh-CN" altLang="en-US" kern="0" dirty="0">
                <a:effectLst/>
                <a:latin typeface="+mj-lt"/>
                <a:ea typeface="+mj-ea"/>
              </a:rPr>
              <a:t>函数，分别获取坐标信息，观察绘制结果：</a:t>
            </a:r>
            <a:endParaRPr lang="en-US" altLang="zh-CN" kern="0" dirty="0">
              <a:effectLst/>
              <a:latin typeface="+mj-lt"/>
              <a:ea typeface="+mj-ea"/>
              <a:cs typeface="Times New Roman" panose="02020603050405020304" pitchFamily="18" charset="0"/>
            </a:endParaRPr>
          </a:p>
        </p:txBody>
      </p:sp>
      <p:sp>
        <p:nvSpPr>
          <p:cNvPr id="2" name="矩形 1">
            <a:extLst>
              <a:ext uri="{FF2B5EF4-FFF2-40B4-BE49-F238E27FC236}">
                <a16:creationId xmlns:a16="http://schemas.microsoft.com/office/drawing/2014/main" id="{82EDFED1-16E2-8175-E036-FF13A46482CC}"/>
              </a:ext>
            </a:extLst>
          </p:cNvPr>
          <p:cNvSpPr/>
          <p:nvPr/>
        </p:nvSpPr>
        <p:spPr>
          <a:xfrm>
            <a:off x="185215" y="2087280"/>
            <a:ext cx="2882900" cy="377283"/>
          </a:xfrm>
          <a:prstGeom prst="rect">
            <a:avLst/>
          </a:prstGeom>
        </p:spPr>
        <p:txBody>
          <a:bodyPr wrap="square">
            <a:spAutoFit/>
          </a:bodyPr>
          <a:lstStyle/>
          <a:p>
            <a:pPr algn="ctr">
              <a:lnSpc>
                <a:spcPct val="150000"/>
              </a:lnSpc>
            </a:pPr>
            <a:r>
              <a:rPr lang="zh-CN" altLang="en-US" sz="1400" dirty="0">
                <a:latin typeface="+mj-lt"/>
                <a:ea typeface="+mj-ea"/>
                <a:sym typeface="Consolas" panose="020B0609020204030204" pitchFamily="49" charset="0"/>
              </a:rPr>
              <a:t>空间点的二维坐标矩阵</a:t>
            </a:r>
            <a:endParaRPr lang="en-US" altLang="zh-CN" sz="1400" dirty="0">
              <a:latin typeface="+mj-lt"/>
              <a:ea typeface="+mj-ea"/>
              <a:sym typeface="Consolas" panose="020B0609020204030204" pitchFamily="49" charset="0"/>
            </a:endParaRPr>
          </a:p>
        </p:txBody>
      </p:sp>
      <p:sp>
        <p:nvSpPr>
          <p:cNvPr id="8" name="矩形 7">
            <a:extLst>
              <a:ext uri="{FF2B5EF4-FFF2-40B4-BE49-F238E27FC236}">
                <a16:creationId xmlns:a16="http://schemas.microsoft.com/office/drawing/2014/main" id="{C1427E79-6D22-9574-C7B5-E39790525B21}"/>
              </a:ext>
            </a:extLst>
          </p:cNvPr>
          <p:cNvSpPr/>
          <p:nvPr/>
        </p:nvSpPr>
        <p:spPr>
          <a:xfrm>
            <a:off x="3130550" y="2089909"/>
            <a:ext cx="2882900" cy="374654"/>
          </a:xfrm>
          <a:prstGeom prst="rect">
            <a:avLst/>
          </a:prstGeom>
        </p:spPr>
        <p:txBody>
          <a:bodyPr wrap="square">
            <a:spAutoFit/>
          </a:bodyPr>
          <a:lstStyle/>
          <a:p>
            <a:pPr algn="ctr">
              <a:lnSpc>
                <a:spcPct val="150000"/>
              </a:lnSpc>
            </a:pPr>
            <a:r>
              <a:rPr lang="zh-CN" altLang="zh-CN" sz="1400" kern="0" dirty="0">
                <a:effectLst/>
                <a:latin typeface="+mj-ea"/>
                <a:ea typeface="+mj-ea"/>
                <a:cs typeface="Times New Roman" panose="02020603050405020304" pitchFamily="18" charset="0"/>
              </a:rPr>
              <a:t>所有线对象的节点坐标</a:t>
            </a:r>
            <a:r>
              <a:rPr lang="zh-CN" altLang="en-US" sz="1400" kern="0" dirty="0">
                <a:effectLst/>
                <a:latin typeface="+mj-ea"/>
                <a:ea typeface="+mj-ea"/>
                <a:cs typeface="Times New Roman" panose="02020603050405020304" pitchFamily="18" charset="0"/>
              </a:rPr>
              <a:t>矩阵</a:t>
            </a:r>
            <a:endParaRPr lang="en-US" altLang="zh-CN" sz="1100" dirty="0">
              <a:latin typeface="+mj-ea"/>
              <a:ea typeface="+mj-ea"/>
              <a:sym typeface="Consolas" panose="020B0609020204030204" pitchFamily="49" charset="0"/>
            </a:endParaRPr>
          </a:p>
        </p:txBody>
      </p:sp>
      <p:sp>
        <p:nvSpPr>
          <p:cNvPr id="9" name="矩形 8">
            <a:extLst>
              <a:ext uri="{FF2B5EF4-FFF2-40B4-BE49-F238E27FC236}">
                <a16:creationId xmlns:a16="http://schemas.microsoft.com/office/drawing/2014/main" id="{CD6CBD57-9213-2DF1-3D08-D2970056353F}"/>
              </a:ext>
            </a:extLst>
          </p:cNvPr>
          <p:cNvSpPr/>
          <p:nvPr/>
        </p:nvSpPr>
        <p:spPr>
          <a:xfrm>
            <a:off x="6179386" y="2087280"/>
            <a:ext cx="2882900" cy="377283"/>
          </a:xfrm>
          <a:prstGeom prst="rect">
            <a:avLst/>
          </a:prstGeom>
        </p:spPr>
        <p:txBody>
          <a:bodyPr wrap="square">
            <a:spAutoFit/>
          </a:bodyPr>
          <a:lstStyle/>
          <a:p>
            <a:pPr algn="ctr">
              <a:lnSpc>
                <a:spcPct val="150000"/>
              </a:lnSpc>
            </a:pPr>
            <a:r>
              <a:rPr lang="zh-CN" altLang="en-US" sz="1400" dirty="0">
                <a:latin typeface="+mj-lt"/>
                <a:ea typeface="+mj-ea"/>
                <a:sym typeface="Consolas" panose="020B0609020204030204" pitchFamily="49" charset="0"/>
              </a:rPr>
              <a:t>所有面对象边界的节点坐标矩阵</a:t>
            </a:r>
            <a:endParaRPr lang="en-US" altLang="zh-CN" sz="1400" dirty="0">
              <a:latin typeface="+mj-lt"/>
              <a:ea typeface="+mj-ea"/>
              <a:sym typeface="Consolas" panose="020B0609020204030204" pitchFamily="49" charset="0"/>
            </a:endParaRPr>
          </a:p>
        </p:txBody>
      </p:sp>
      <p:sp>
        <p:nvSpPr>
          <p:cNvPr id="11" name="文本框 10">
            <a:extLst>
              <a:ext uri="{FF2B5EF4-FFF2-40B4-BE49-F238E27FC236}">
                <a16:creationId xmlns:a16="http://schemas.microsoft.com/office/drawing/2014/main" id="{5A3A3927-431B-F0FD-2A02-C79C804F38EC}"/>
              </a:ext>
            </a:extLst>
          </p:cNvPr>
          <p:cNvSpPr txBox="1"/>
          <p:nvPr/>
        </p:nvSpPr>
        <p:spPr>
          <a:xfrm>
            <a:off x="800889" y="5670427"/>
            <a:ext cx="7542222" cy="523220"/>
          </a:xfrm>
          <a:prstGeom prst="rect">
            <a:avLst/>
          </a:prstGeom>
          <a:noFill/>
        </p:spPr>
        <p:txBody>
          <a:bodyPr wrap="square">
            <a:spAutoFit/>
          </a:bodyPr>
          <a:lstStyle/>
          <a:p>
            <a:pPr algn="ctr"/>
            <a:r>
              <a:rPr lang="en-US" altLang="zh-CN" sz="1400" i="1" kern="0" dirty="0">
                <a:effectLst/>
                <a:latin typeface="+mj-lt"/>
                <a:ea typeface="+mj-ea"/>
              </a:rPr>
              <a:t>POINT</a:t>
            </a:r>
            <a:r>
              <a:rPr lang="zh-CN" altLang="en-US" sz="1400" i="1" kern="0" dirty="0">
                <a:effectLst/>
                <a:latin typeface="+mj-lt"/>
                <a:ea typeface="+mj-ea"/>
              </a:rPr>
              <a:t>、</a:t>
            </a:r>
            <a:r>
              <a:rPr lang="en-US" altLang="zh-CN" sz="1400" i="1" kern="0" dirty="0">
                <a:effectLst/>
                <a:latin typeface="+mj-lt"/>
                <a:ea typeface="+mj-ea"/>
              </a:rPr>
              <a:t>LINESTRING</a:t>
            </a:r>
            <a:r>
              <a:rPr lang="zh-CN" altLang="en-US" sz="1400" i="1" kern="0" dirty="0">
                <a:effectLst/>
                <a:latin typeface="+mj-lt"/>
                <a:ea typeface="+mj-ea"/>
              </a:rPr>
              <a:t>、</a:t>
            </a:r>
            <a:r>
              <a:rPr lang="en-US" altLang="zh-CN" sz="1400" i="1" kern="0" dirty="0" err="1">
                <a:effectLst/>
                <a:latin typeface="+mj-lt"/>
                <a:ea typeface="+mj-ea"/>
              </a:rPr>
              <a:t>POLYGON</a:t>
            </a:r>
            <a:r>
              <a:rPr lang="en-US" altLang="zh-CN" sz="1400" kern="0" dirty="0" err="1">
                <a:effectLst/>
                <a:latin typeface="+mj-lt"/>
                <a:ea typeface="+mj-ea"/>
                <a:cs typeface="Times New Roman" panose="02020603050405020304" pitchFamily="18" charset="0"/>
              </a:rPr>
              <a:t>对象</a:t>
            </a:r>
            <a:endParaRPr lang="en-US" altLang="zh-CN" sz="1400" kern="0" dirty="0">
              <a:effectLst/>
              <a:latin typeface="+mj-lt"/>
              <a:ea typeface="+mj-ea"/>
              <a:cs typeface="Times New Roman" panose="02020603050405020304" pitchFamily="18" charset="0"/>
            </a:endParaRPr>
          </a:p>
          <a:p>
            <a:pPr algn="ctr"/>
            <a:r>
              <a:rPr lang="en-US" altLang="zh-CN" sz="1400" b="1" i="1" kern="0" dirty="0" err="1">
                <a:effectLst/>
                <a:latin typeface="+mj-lt"/>
                <a:ea typeface="+mj-ea"/>
              </a:rPr>
              <a:t>st_coordinates</a:t>
            </a:r>
            <a:r>
              <a:rPr lang="zh-CN" altLang="zh-CN" sz="1400" kern="0" dirty="0">
                <a:effectLst/>
                <a:latin typeface="+mj-lt"/>
                <a:ea typeface="+mj-ea"/>
                <a:cs typeface="Times New Roman" panose="02020603050405020304" pitchFamily="18" charset="0"/>
              </a:rPr>
              <a:t>函数返回结果</a:t>
            </a:r>
            <a:endParaRPr lang="zh-CN" altLang="en-US" sz="1400" dirty="0">
              <a:latin typeface="+mj-lt"/>
              <a:ea typeface="+mj-ea"/>
            </a:endParaRPr>
          </a:p>
        </p:txBody>
      </p:sp>
      <p:pic>
        <p:nvPicPr>
          <p:cNvPr id="12" name="图片 11">
            <a:extLst>
              <a:ext uri="{FF2B5EF4-FFF2-40B4-BE49-F238E27FC236}">
                <a16:creationId xmlns:a16="http://schemas.microsoft.com/office/drawing/2014/main" id="{DE25C28F-6922-66A0-316F-7BFE6129729B}"/>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7516" y="2618972"/>
            <a:ext cx="2532967" cy="2833112"/>
          </a:xfrm>
          <a:prstGeom prst="rect">
            <a:avLst/>
          </a:prstGeom>
          <a:ln>
            <a:noFill/>
          </a:ln>
          <a:effectLst>
            <a:outerShdw blurRad="190500" algn="tl" rotWithShape="0">
              <a:srgbClr val="000000">
                <a:alpha val="70000"/>
              </a:srgbClr>
            </a:outerShdw>
          </a:effectLst>
        </p:spPr>
      </p:pic>
      <p:pic>
        <p:nvPicPr>
          <p:cNvPr id="15" name="图片 14">
            <a:extLst>
              <a:ext uri="{FF2B5EF4-FFF2-40B4-BE49-F238E27FC236}">
                <a16:creationId xmlns:a16="http://schemas.microsoft.com/office/drawing/2014/main" id="{64B86AD6-975A-5583-92DE-99C7C12855C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46070" y="2618972"/>
            <a:ext cx="2451860" cy="2824393"/>
          </a:xfrm>
          <a:prstGeom prst="rect">
            <a:avLst/>
          </a:prstGeom>
          <a:ln>
            <a:noFill/>
          </a:ln>
          <a:effectLst>
            <a:outerShdw blurRad="190500" algn="tl" rotWithShape="0">
              <a:srgbClr val="000000">
                <a:alpha val="70000"/>
              </a:srgbClr>
            </a:outerShdw>
          </a:effectLst>
        </p:spPr>
      </p:pic>
      <p:pic>
        <p:nvPicPr>
          <p:cNvPr id="16" name="图片 15">
            <a:extLst>
              <a:ext uri="{FF2B5EF4-FFF2-40B4-BE49-F238E27FC236}">
                <a16:creationId xmlns:a16="http://schemas.microsoft.com/office/drawing/2014/main" id="{78147ED5-EF02-4126-E81A-C1986FFCAF06}"/>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00800" y="2618972"/>
            <a:ext cx="2413131" cy="2822407"/>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8547164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546F0-C5DF-6DA4-972A-F055C0C9D017}"/>
            </a:ext>
          </a:extLst>
        </p:cNvPr>
        <p:cNvGrpSpPr/>
        <p:nvPr/>
      </p:nvGrpSpPr>
      <p:grpSpPr>
        <a:xfrm>
          <a:off x="0" y="0"/>
          <a:ext cx="0" cy="0"/>
          <a:chOff x="0" y="0"/>
          <a:chExt cx="0" cy="0"/>
        </a:xfrm>
      </p:grpSpPr>
      <p:sp>
        <p:nvSpPr>
          <p:cNvPr id="13" name="标题 9">
            <a:extLst>
              <a:ext uri="{FF2B5EF4-FFF2-40B4-BE49-F238E27FC236}">
                <a16:creationId xmlns:a16="http://schemas.microsoft.com/office/drawing/2014/main" id="{0824F4FB-2E33-A354-6E60-A252AE9124A6}"/>
              </a:ext>
            </a:extLst>
          </p:cNvPr>
          <p:cNvSpPr>
            <a:spLocks noGrp="1"/>
          </p:cNvSpPr>
          <p:nvPr>
            <p:ph type="title"/>
          </p:nvPr>
        </p:nvSpPr>
        <p:spPr>
          <a:xfrm>
            <a:off x="1181100" y="342900"/>
            <a:ext cx="7007225" cy="663575"/>
          </a:xfrm>
        </p:spPr>
        <p:txBody>
          <a:bodyPr/>
          <a:lstStyle/>
          <a:p>
            <a:pPr algn="l"/>
            <a:r>
              <a:rPr lang="en-US" altLang="zh-CN" sz="3600" dirty="0">
                <a:latin typeface="Times New Roman" panose="02020603050405020304" pitchFamily="18" charset="0"/>
                <a:cs typeface="Times New Roman" panose="02020603050405020304" pitchFamily="18" charset="0"/>
              </a:rPr>
              <a:t>4.3 </a:t>
            </a:r>
            <a:r>
              <a:rPr lang="zh-CN" altLang="en-US" sz="3600" dirty="0">
                <a:latin typeface="Times New Roman" panose="02020603050405020304" pitchFamily="18" charset="0"/>
                <a:cs typeface="Times New Roman" panose="02020603050405020304" pitchFamily="18" charset="0"/>
              </a:rPr>
              <a:t>空间信息编辑</a:t>
            </a:r>
          </a:p>
        </p:txBody>
      </p:sp>
      <p:sp>
        <p:nvSpPr>
          <p:cNvPr id="14" name="灯片编号占位符 13">
            <a:extLst>
              <a:ext uri="{FF2B5EF4-FFF2-40B4-BE49-F238E27FC236}">
                <a16:creationId xmlns:a16="http://schemas.microsoft.com/office/drawing/2014/main" id="{D6135F35-3DE6-B89C-FC77-FFD712FE2515}"/>
              </a:ext>
            </a:extLst>
          </p:cNvPr>
          <p:cNvSpPr>
            <a:spLocks noGrp="1"/>
          </p:cNvSpPr>
          <p:nvPr>
            <p:ph type="sldNum" sz="quarter" idx="12"/>
          </p:nvPr>
        </p:nvSpPr>
        <p:spPr/>
        <p:txBody>
          <a:bodyPr/>
          <a:lstStyle/>
          <a:p>
            <a:fld id="{6B3369F9-03CD-4B48-86A9-9EE39A82955A}" type="slidenum">
              <a:rPr lang="zh-CN" altLang="en-US">
                <a:solidFill>
                  <a:schemeClr val="bg2">
                    <a:lumMod val="75000"/>
                  </a:schemeClr>
                </a:solidFill>
              </a:rPr>
              <a:t>23</a:t>
            </a:fld>
            <a:endParaRPr lang="zh-CN" altLang="en-US" dirty="0">
              <a:solidFill>
                <a:schemeClr val="bg2">
                  <a:lumMod val="75000"/>
                </a:schemeClr>
              </a:solidFill>
            </a:endParaRPr>
          </a:p>
        </p:txBody>
      </p:sp>
      <p:sp>
        <p:nvSpPr>
          <p:cNvPr id="5" name="文本框 4">
            <a:extLst>
              <a:ext uri="{FF2B5EF4-FFF2-40B4-BE49-F238E27FC236}">
                <a16:creationId xmlns:a16="http://schemas.microsoft.com/office/drawing/2014/main" id="{7F6D9B06-8E04-2BBA-44E1-FD17FAD4EACD}"/>
              </a:ext>
            </a:extLst>
          </p:cNvPr>
          <p:cNvSpPr txBox="1"/>
          <p:nvPr/>
        </p:nvSpPr>
        <p:spPr>
          <a:xfrm>
            <a:off x="457200" y="1160327"/>
            <a:ext cx="3237618" cy="461665"/>
          </a:xfrm>
          <a:prstGeom prst="rect">
            <a:avLst/>
          </a:prstGeom>
          <a:noFill/>
        </p:spPr>
        <p:txBody>
          <a:bodyPr wrap="none" rtlCol="0">
            <a:spAutoFit/>
          </a:bodyPr>
          <a:lstStyle/>
          <a:p>
            <a:r>
              <a:rPr lang="en-US" altLang="zh-CN" sz="2400" b="1" dirty="0">
                <a:latin typeface="+mj-lt"/>
                <a:ea typeface="+mj-ea"/>
              </a:rPr>
              <a:t>(2) Simple Feature</a:t>
            </a:r>
            <a:r>
              <a:rPr lang="zh-CN" altLang="en-US" sz="2400" b="1" dirty="0">
                <a:latin typeface="+mj-lt"/>
                <a:ea typeface="+mj-ea"/>
              </a:rPr>
              <a:t>对象</a:t>
            </a:r>
          </a:p>
        </p:txBody>
      </p:sp>
      <p:sp>
        <p:nvSpPr>
          <p:cNvPr id="10" name="文本框 9">
            <a:extLst>
              <a:ext uri="{FF2B5EF4-FFF2-40B4-BE49-F238E27FC236}">
                <a16:creationId xmlns:a16="http://schemas.microsoft.com/office/drawing/2014/main" id="{B9DA9F63-1BCE-0819-57F8-6897016D0015}"/>
              </a:ext>
            </a:extLst>
          </p:cNvPr>
          <p:cNvSpPr txBox="1"/>
          <p:nvPr/>
        </p:nvSpPr>
        <p:spPr>
          <a:xfrm>
            <a:off x="358118" y="1676400"/>
            <a:ext cx="7848600" cy="2536207"/>
          </a:xfrm>
          <a:prstGeom prst="rect">
            <a:avLst/>
          </a:prstGeom>
          <a:noFill/>
        </p:spPr>
        <p:txBody>
          <a:bodyPr wrap="square">
            <a:spAutoFit/>
          </a:bodyPr>
          <a:lstStyle/>
          <a:p>
            <a:pPr marL="285750" indent="-285750" algn="just">
              <a:lnSpc>
                <a:spcPct val="150000"/>
              </a:lnSpc>
              <a:buFont typeface="Wingdings" panose="05000000000000000000" pitchFamily="2" charset="2"/>
              <a:buChar char="ü"/>
            </a:pPr>
            <a:r>
              <a:rPr lang="en-US" altLang="zh-CN" b="1" i="1" kern="0" dirty="0" err="1">
                <a:effectLst/>
                <a:latin typeface="+mj-lt"/>
                <a:ea typeface="+mj-ea"/>
              </a:rPr>
              <a:t>st_centroid</a:t>
            </a:r>
            <a:r>
              <a:rPr lang="zh-CN" altLang="en-US" kern="0" dirty="0">
                <a:effectLst/>
                <a:latin typeface="+mj-lt"/>
                <a:ea typeface="+mj-ea"/>
              </a:rPr>
              <a:t>函数：获取</a:t>
            </a:r>
            <a:r>
              <a:rPr lang="en-US" altLang="zh-CN" kern="0" dirty="0">
                <a:effectLst/>
                <a:latin typeface="+mj-lt"/>
                <a:ea typeface="+mj-ea"/>
              </a:rPr>
              <a:t>Simple Feature</a:t>
            </a:r>
            <a:r>
              <a:rPr lang="zh-CN" altLang="en-US" kern="0" dirty="0">
                <a:effectLst/>
                <a:latin typeface="+mj-lt"/>
                <a:ea typeface="+mj-ea"/>
              </a:rPr>
              <a:t>空间面对象的中心点</a:t>
            </a:r>
            <a:endParaRPr lang="en-US" altLang="zh-CN" kern="0" dirty="0">
              <a:effectLst/>
              <a:latin typeface="+mj-lt"/>
              <a:ea typeface="+mj-ea"/>
            </a:endParaRPr>
          </a:p>
          <a:p>
            <a:pPr marL="285750" indent="-285750" algn="just">
              <a:lnSpc>
                <a:spcPct val="150000"/>
              </a:lnSpc>
              <a:buFont typeface="Wingdings" panose="05000000000000000000" pitchFamily="2" charset="2"/>
              <a:buChar char="ü"/>
            </a:pPr>
            <a:endParaRPr lang="en-US" altLang="zh-CN" kern="0" dirty="0">
              <a:latin typeface="+mj-lt"/>
              <a:ea typeface="+mj-ea"/>
              <a:cs typeface="Times New Roman" panose="02020603050405020304" pitchFamily="18" charset="0"/>
            </a:endParaRPr>
          </a:p>
          <a:p>
            <a:pPr marL="285750" indent="-285750" algn="just">
              <a:lnSpc>
                <a:spcPct val="150000"/>
              </a:lnSpc>
              <a:buFont typeface="Wingdings" panose="05000000000000000000" pitchFamily="2" charset="2"/>
              <a:buChar char="ü"/>
            </a:pPr>
            <a:endParaRPr lang="en-US" altLang="zh-CN" kern="0" dirty="0">
              <a:effectLst/>
              <a:latin typeface="+mj-lt"/>
              <a:ea typeface="+mj-ea"/>
              <a:cs typeface="Times New Roman" panose="02020603050405020304" pitchFamily="18" charset="0"/>
            </a:endParaRPr>
          </a:p>
          <a:p>
            <a:pPr marL="285750" indent="-285750" algn="just">
              <a:lnSpc>
                <a:spcPct val="150000"/>
              </a:lnSpc>
              <a:buFont typeface="Wingdings" panose="05000000000000000000" pitchFamily="2" charset="2"/>
              <a:buChar char="ü"/>
            </a:pPr>
            <a:endParaRPr lang="en-US" altLang="zh-CN" kern="0" dirty="0">
              <a:latin typeface="+mj-lt"/>
              <a:ea typeface="+mj-ea"/>
              <a:cs typeface="Times New Roman" panose="02020603050405020304" pitchFamily="18" charset="0"/>
            </a:endParaRPr>
          </a:p>
          <a:p>
            <a:pPr marL="285750" indent="-285750" algn="just">
              <a:lnSpc>
                <a:spcPct val="150000"/>
              </a:lnSpc>
              <a:buFont typeface="Wingdings" panose="05000000000000000000" pitchFamily="2" charset="2"/>
              <a:buChar char="ü"/>
            </a:pPr>
            <a:r>
              <a:rPr lang="en-US" altLang="zh-CN" b="1" i="1" kern="0" dirty="0">
                <a:effectLst/>
                <a:latin typeface="+mj-lt"/>
                <a:ea typeface="+mj-ea"/>
                <a:cs typeface="Times New Roman" panose="02020603050405020304" pitchFamily="18" charset="0"/>
              </a:rPr>
              <a:t> </a:t>
            </a:r>
            <a:r>
              <a:rPr lang="en-US" altLang="zh-CN" b="1" i="1" kern="0" dirty="0" err="1">
                <a:effectLst/>
                <a:latin typeface="+mj-lt"/>
                <a:ea typeface="+mj-ea"/>
                <a:cs typeface="Times New Roman" panose="02020603050405020304" pitchFamily="18" charset="0"/>
              </a:rPr>
              <a:t>st_bbox</a:t>
            </a:r>
            <a:r>
              <a:rPr lang="zh-CN" altLang="en-US" kern="0" dirty="0">
                <a:effectLst/>
                <a:latin typeface="+mj-lt"/>
                <a:ea typeface="+mj-ea"/>
                <a:cs typeface="Times New Roman" panose="02020603050405020304" pitchFamily="18" charset="0"/>
              </a:rPr>
              <a:t>函数：获取空间数据外包矩形的左下、右</a:t>
            </a:r>
            <a:endParaRPr lang="en-US" altLang="zh-CN" kern="0" dirty="0">
              <a:effectLst/>
              <a:latin typeface="+mj-lt"/>
              <a:ea typeface="+mj-ea"/>
              <a:cs typeface="Times New Roman" panose="02020603050405020304" pitchFamily="18" charset="0"/>
            </a:endParaRPr>
          </a:p>
          <a:p>
            <a:pPr algn="just">
              <a:lnSpc>
                <a:spcPct val="150000"/>
              </a:lnSpc>
            </a:pPr>
            <a:r>
              <a:rPr lang="zh-CN" altLang="en-US" kern="0" dirty="0">
                <a:effectLst/>
                <a:latin typeface="+mj-lt"/>
                <a:ea typeface="+mj-ea"/>
                <a:cs typeface="Times New Roman" panose="02020603050405020304" pitchFamily="18" charset="0"/>
              </a:rPr>
              <a:t>上点坐标</a:t>
            </a:r>
            <a:endParaRPr lang="en-US" altLang="zh-CN" kern="0" dirty="0">
              <a:effectLst/>
              <a:latin typeface="+mj-lt"/>
              <a:ea typeface="+mj-ea"/>
              <a:cs typeface="Times New Roman" panose="02020603050405020304" pitchFamily="18" charset="0"/>
            </a:endParaRPr>
          </a:p>
        </p:txBody>
      </p:sp>
      <p:sp>
        <p:nvSpPr>
          <p:cNvPr id="3" name="文本框 2">
            <a:extLst>
              <a:ext uri="{FF2B5EF4-FFF2-40B4-BE49-F238E27FC236}">
                <a16:creationId xmlns:a16="http://schemas.microsoft.com/office/drawing/2014/main" id="{7D8B2B20-A6FD-ACEF-9EFD-DA4DF53758F0}"/>
              </a:ext>
            </a:extLst>
          </p:cNvPr>
          <p:cNvSpPr txBox="1"/>
          <p:nvPr/>
        </p:nvSpPr>
        <p:spPr>
          <a:xfrm>
            <a:off x="762000" y="2209781"/>
            <a:ext cx="6667500" cy="1077218"/>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WHDis_sf</a:t>
            </a:r>
            <a:r>
              <a:rPr lang="en-US" altLang="zh-CN" sz="16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geometry</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st_make_valid</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WHDis_sf</a:t>
            </a:r>
            <a:r>
              <a:rPr lang="en-US" altLang="zh-CN" sz="16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geometry</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WHDis_sf_cen</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st_centroid</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WHDis_sf</a:t>
            </a:r>
            <a:r>
              <a:rPr lang="en-US" altLang="zh-CN" sz="16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geometry</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WHDis_sf</a:t>
            </a:r>
            <a:r>
              <a:rPr lang="en-US" altLang="zh-CN" sz="16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geometry</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WHDis_sf_cen,col</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red"</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,add</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TRUE</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p:txBody>
      </p:sp>
      <p:pic>
        <p:nvPicPr>
          <p:cNvPr id="4" name="图片 3">
            <a:extLst>
              <a:ext uri="{FF2B5EF4-FFF2-40B4-BE49-F238E27FC236}">
                <a16:creationId xmlns:a16="http://schemas.microsoft.com/office/drawing/2014/main" id="{FCB4801C-8ABA-344B-4DD3-CD8B4532CC7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829300" y="2933700"/>
            <a:ext cx="2667000" cy="3144328"/>
          </a:xfrm>
          <a:prstGeom prst="rect">
            <a:avLst/>
          </a:prstGeom>
          <a:ln>
            <a:noFill/>
          </a:ln>
          <a:effectLst>
            <a:outerShdw blurRad="190500" algn="tl" rotWithShape="0">
              <a:srgbClr val="000000">
                <a:alpha val="70000"/>
              </a:srgbClr>
            </a:outerShdw>
          </a:effectLst>
        </p:spPr>
      </p:pic>
      <p:sp>
        <p:nvSpPr>
          <p:cNvPr id="6" name="文本框 5">
            <a:extLst>
              <a:ext uri="{FF2B5EF4-FFF2-40B4-BE49-F238E27FC236}">
                <a16:creationId xmlns:a16="http://schemas.microsoft.com/office/drawing/2014/main" id="{BB8DFA8D-2A16-3B4B-074F-7DFE5E819289}"/>
              </a:ext>
            </a:extLst>
          </p:cNvPr>
          <p:cNvSpPr txBox="1"/>
          <p:nvPr/>
        </p:nvSpPr>
        <p:spPr>
          <a:xfrm>
            <a:off x="762000" y="4267015"/>
            <a:ext cx="6667500" cy="830997"/>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st_bbox</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WHZZQ_sf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st_bbox</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WHRD_sf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st_bbox</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WHDis_sf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451346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DE941-2347-58FA-DDC7-BC51047F806B}"/>
            </a:ext>
          </a:extLst>
        </p:cNvPr>
        <p:cNvGrpSpPr/>
        <p:nvPr/>
      </p:nvGrpSpPr>
      <p:grpSpPr>
        <a:xfrm>
          <a:off x="0" y="0"/>
          <a:ext cx="0" cy="0"/>
          <a:chOff x="0" y="0"/>
          <a:chExt cx="0" cy="0"/>
        </a:xfrm>
      </p:grpSpPr>
      <p:sp>
        <p:nvSpPr>
          <p:cNvPr id="13" name="标题 9">
            <a:extLst>
              <a:ext uri="{FF2B5EF4-FFF2-40B4-BE49-F238E27FC236}">
                <a16:creationId xmlns:a16="http://schemas.microsoft.com/office/drawing/2014/main" id="{2A198483-8FE6-5106-F55F-0D383EE570E1}"/>
              </a:ext>
            </a:extLst>
          </p:cNvPr>
          <p:cNvSpPr>
            <a:spLocks noGrp="1"/>
          </p:cNvSpPr>
          <p:nvPr>
            <p:ph type="title"/>
          </p:nvPr>
        </p:nvSpPr>
        <p:spPr>
          <a:xfrm>
            <a:off x="1181100" y="342900"/>
            <a:ext cx="7007225" cy="663575"/>
          </a:xfrm>
        </p:spPr>
        <p:txBody>
          <a:bodyPr/>
          <a:lstStyle/>
          <a:p>
            <a:pPr algn="l"/>
            <a:r>
              <a:rPr lang="en-US" altLang="zh-CN" sz="3600" dirty="0">
                <a:latin typeface="Times New Roman" panose="02020603050405020304" pitchFamily="18" charset="0"/>
                <a:cs typeface="Times New Roman" panose="02020603050405020304" pitchFamily="18" charset="0"/>
              </a:rPr>
              <a:t>4.3 </a:t>
            </a:r>
            <a:r>
              <a:rPr lang="zh-CN" altLang="en-US" sz="3600" dirty="0">
                <a:latin typeface="Times New Roman" panose="02020603050405020304" pitchFamily="18" charset="0"/>
                <a:cs typeface="Times New Roman" panose="02020603050405020304" pitchFamily="18" charset="0"/>
              </a:rPr>
              <a:t>空间信息编辑</a:t>
            </a:r>
          </a:p>
        </p:txBody>
      </p:sp>
      <p:sp>
        <p:nvSpPr>
          <p:cNvPr id="14" name="灯片编号占位符 13">
            <a:extLst>
              <a:ext uri="{FF2B5EF4-FFF2-40B4-BE49-F238E27FC236}">
                <a16:creationId xmlns:a16="http://schemas.microsoft.com/office/drawing/2014/main" id="{B6D10868-4330-F20A-4597-4988A9CCACB6}"/>
              </a:ext>
            </a:extLst>
          </p:cNvPr>
          <p:cNvSpPr>
            <a:spLocks noGrp="1"/>
          </p:cNvSpPr>
          <p:nvPr>
            <p:ph type="sldNum" sz="quarter" idx="12"/>
          </p:nvPr>
        </p:nvSpPr>
        <p:spPr/>
        <p:txBody>
          <a:bodyPr/>
          <a:lstStyle/>
          <a:p>
            <a:fld id="{6B3369F9-03CD-4B48-86A9-9EE39A82955A}" type="slidenum">
              <a:rPr lang="zh-CN" altLang="en-US">
                <a:solidFill>
                  <a:schemeClr val="bg2">
                    <a:lumMod val="75000"/>
                  </a:schemeClr>
                </a:solidFill>
              </a:rPr>
              <a:t>24</a:t>
            </a:fld>
            <a:endParaRPr lang="zh-CN" altLang="en-US" dirty="0">
              <a:solidFill>
                <a:schemeClr val="bg2">
                  <a:lumMod val="75000"/>
                </a:schemeClr>
              </a:solidFill>
            </a:endParaRPr>
          </a:p>
        </p:txBody>
      </p:sp>
      <p:sp>
        <p:nvSpPr>
          <p:cNvPr id="5" name="文本框 4">
            <a:extLst>
              <a:ext uri="{FF2B5EF4-FFF2-40B4-BE49-F238E27FC236}">
                <a16:creationId xmlns:a16="http://schemas.microsoft.com/office/drawing/2014/main" id="{65A8C43B-6CF2-BA02-47E2-F2323B7BED6D}"/>
              </a:ext>
            </a:extLst>
          </p:cNvPr>
          <p:cNvSpPr txBox="1"/>
          <p:nvPr/>
        </p:nvSpPr>
        <p:spPr>
          <a:xfrm>
            <a:off x="457200" y="1160327"/>
            <a:ext cx="3237618" cy="461665"/>
          </a:xfrm>
          <a:prstGeom prst="rect">
            <a:avLst/>
          </a:prstGeom>
          <a:noFill/>
        </p:spPr>
        <p:txBody>
          <a:bodyPr wrap="none" rtlCol="0">
            <a:spAutoFit/>
          </a:bodyPr>
          <a:lstStyle/>
          <a:p>
            <a:r>
              <a:rPr lang="en-US" altLang="zh-CN" sz="2400" b="1" dirty="0">
                <a:latin typeface="+mj-lt"/>
                <a:ea typeface="+mj-ea"/>
              </a:rPr>
              <a:t>(2) Simple Feature</a:t>
            </a:r>
            <a:r>
              <a:rPr lang="zh-CN" altLang="en-US" sz="2400" b="1" dirty="0">
                <a:latin typeface="+mj-lt"/>
                <a:ea typeface="+mj-ea"/>
              </a:rPr>
              <a:t>对象</a:t>
            </a:r>
          </a:p>
        </p:txBody>
      </p:sp>
      <p:sp>
        <p:nvSpPr>
          <p:cNvPr id="10" name="文本框 9">
            <a:extLst>
              <a:ext uri="{FF2B5EF4-FFF2-40B4-BE49-F238E27FC236}">
                <a16:creationId xmlns:a16="http://schemas.microsoft.com/office/drawing/2014/main" id="{7B311889-1E56-D707-2CC5-DC434D2AF6F1}"/>
              </a:ext>
            </a:extLst>
          </p:cNvPr>
          <p:cNvSpPr txBox="1"/>
          <p:nvPr/>
        </p:nvSpPr>
        <p:spPr>
          <a:xfrm>
            <a:off x="358118" y="1564983"/>
            <a:ext cx="8252482" cy="1156727"/>
          </a:xfrm>
          <a:prstGeom prst="rect">
            <a:avLst/>
          </a:prstGeom>
          <a:noFill/>
        </p:spPr>
        <p:txBody>
          <a:bodyPr wrap="square">
            <a:spAutoFit/>
          </a:bodyPr>
          <a:lstStyle/>
          <a:p>
            <a:pPr marL="285750" indent="-285750" algn="just">
              <a:lnSpc>
                <a:spcPct val="150000"/>
              </a:lnSpc>
              <a:buFont typeface="Wingdings" panose="05000000000000000000" pitchFamily="2" charset="2"/>
              <a:buChar char="ü"/>
            </a:pPr>
            <a:r>
              <a:rPr lang="en-US" altLang="zh-CN" sz="1600" b="1" i="1" kern="0" dirty="0">
                <a:effectLst/>
                <a:latin typeface="+mj-lt"/>
                <a:ea typeface="+mj-ea"/>
              </a:rPr>
              <a:t> </a:t>
            </a:r>
            <a:r>
              <a:rPr lang="en-US" altLang="zh-CN" sz="1600" b="1" i="1" kern="0" dirty="0" err="1">
                <a:effectLst/>
                <a:latin typeface="+mj-lt"/>
                <a:ea typeface="+mj-ea"/>
              </a:rPr>
              <a:t>st_convex_hull</a:t>
            </a:r>
            <a:r>
              <a:rPr lang="zh-CN" altLang="en-US" sz="1600" kern="0" dirty="0">
                <a:effectLst/>
                <a:latin typeface="+mj-lt"/>
                <a:ea typeface="+mj-ea"/>
              </a:rPr>
              <a:t>函数：自动生成空间数据对象的凸包多边形</a:t>
            </a:r>
            <a:endParaRPr lang="en-US" altLang="zh-CN" sz="1600" kern="0" dirty="0">
              <a:effectLst/>
              <a:latin typeface="+mj-lt"/>
              <a:ea typeface="+mj-ea"/>
            </a:endParaRPr>
          </a:p>
          <a:p>
            <a:pPr marL="285750" indent="-285750" algn="just">
              <a:lnSpc>
                <a:spcPct val="150000"/>
              </a:lnSpc>
              <a:buFont typeface="Wingdings" panose="05000000000000000000" pitchFamily="2" charset="2"/>
              <a:buChar char="ü"/>
            </a:pPr>
            <a:r>
              <a:rPr lang="zh-CN" altLang="en-US" sz="1600" kern="0" dirty="0">
                <a:effectLst/>
                <a:latin typeface="+mj-lt"/>
                <a:ea typeface="+mj-ea"/>
              </a:rPr>
              <a:t>但如需获得空间数据整体的凸包多边形，则需先使用</a:t>
            </a:r>
            <a:r>
              <a:rPr lang="en-US" altLang="zh-CN" sz="1600" b="1" i="1" kern="0" dirty="0" err="1">
                <a:effectLst/>
                <a:latin typeface="+mj-lt"/>
                <a:ea typeface="+mj-ea"/>
              </a:rPr>
              <a:t>st_union</a:t>
            </a:r>
            <a:r>
              <a:rPr lang="zh-CN" altLang="en-US" sz="1600" kern="0" dirty="0">
                <a:effectLst/>
                <a:latin typeface="+mj-lt"/>
                <a:ea typeface="+mj-ea"/>
              </a:rPr>
              <a:t>函数将</a:t>
            </a:r>
            <a:r>
              <a:rPr lang="en-US" altLang="zh-CN" sz="1600" b="1" i="1" kern="0" dirty="0" err="1">
                <a:effectLst/>
                <a:latin typeface="+mj-lt"/>
                <a:ea typeface="+mj-ea"/>
              </a:rPr>
              <a:t>st_convex_hull</a:t>
            </a:r>
            <a:r>
              <a:rPr lang="zh-CN" altLang="en-US" sz="1600" kern="0" dirty="0">
                <a:effectLst/>
                <a:latin typeface="+mj-lt"/>
                <a:ea typeface="+mj-ea"/>
              </a:rPr>
              <a:t>函数返回的数据合并为一个整体。体会两种结果的差异：</a:t>
            </a:r>
            <a:endParaRPr lang="en-US" altLang="zh-CN" sz="1600" kern="0" dirty="0">
              <a:effectLst/>
              <a:latin typeface="+mj-lt"/>
              <a:ea typeface="+mj-ea"/>
              <a:cs typeface="Times New Roman" panose="02020603050405020304" pitchFamily="18" charset="0"/>
            </a:endParaRPr>
          </a:p>
        </p:txBody>
      </p:sp>
      <p:sp>
        <p:nvSpPr>
          <p:cNvPr id="6" name="文本框 5">
            <a:extLst>
              <a:ext uri="{FF2B5EF4-FFF2-40B4-BE49-F238E27FC236}">
                <a16:creationId xmlns:a16="http://schemas.microsoft.com/office/drawing/2014/main" id="{80CDBC3B-44F0-3497-F86E-99E5F356BB72}"/>
              </a:ext>
            </a:extLst>
          </p:cNvPr>
          <p:cNvSpPr txBox="1"/>
          <p:nvPr/>
        </p:nvSpPr>
        <p:spPr>
          <a:xfrm>
            <a:off x="723900" y="2721710"/>
            <a:ext cx="6667500" cy="3970318"/>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par(</a:t>
            </a:r>
            <a:r>
              <a:rPr lang="en-US" altLang="zh-CN" sz="12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mfrow</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2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200" dirty="0">
              <a:effectLst/>
              <a:latin typeface="Times New Roman" panose="02020603050405020304" pitchFamily="18" charset="0"/>
              <a:ea typeface="宋体" panose="02010600030101010101" pitchFamily="2" charset="-122"/>
            </a:endParaRPr>
          </a:p>
          <a:p>
            <a:pPr indent="127000" algn="l">
              <a:buNone/>
            </a:pP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endParaRPr lang="zh-CN" altLang="zh-CN" sz="1200" dirty="0">
              <a:effectLst/>
              <a:latin typeface="Times New Roman" panose="02020603050405020304" pitchFamily="18" charset="0"/>
              <a:ea typeface="宋体" panose="02010600030101010101" pitchFamily="2" charset="-122"/>
            </a:endParaRPr>
          </a:p>
          <a:p>
            <a:pPr indent="127000" algn="l">
              <a:buNone/>
            </a:pP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s1&lt;-</a:t>
            </a:r>
            <a:r>
              <a:rPr lang="en-US" altLang="zh-CN" sz="12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rbind</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2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2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2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200" dirty="0">
              <a:effectLst/>
              <a:latin typeface="Times New Roman" panose="02020603050405020304" pitchFamily="18" charset="0"/>
              <a:ea typeface="宋体" panose="02010600030101010101" pitchFamily="2" charset="-122"/>
            </a:endParaRPr>
          </a:p>
          <a:p>
            <a:pPr indent="127000" algn="l">
              <a:buNone/>
            </a:pP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s2&lt;-</a:t>
            </a:r>
            <a:r>
              <a:rPr lang="en-US" altLang="zh-CN" sz="12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rbind</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2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2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2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200" dirty="0">
              <a:effectLst/>
              <a:latin typeface="Times New Roman" panose="02020603050405020304" pitchFamily="18" charset="0"/>
              <a:ea typeface="宋体" panose="02010600030101010101" pitchFamily="2" charset="-122"/>
            </a:endParaRPr>
          </a:p>
          <a:p>
            <a:pPr indent="127000" algn="l">
              <a:buNone/>
            </a:pPr>
            <a:r>
              <a:rPr lang="en-US" altLang="zh-CN" sz="12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ls_sfc</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&lt;-</a:t>
            </a:r>
            <a:r>
              <a:rPr lang="en-US" altLang="zh-CN" sz="12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st_sfc</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200" dirty="0">
              <a:effectLst/>
              <a:latin typeface="Times New Roman" panose="02020603050405020304" pitchFamily="18" charset="0"/>
              <a:ea typeface="宋体" panose="02010600030101010101" pitchFamily="2" charset="-122"/>
            </a:endParaRPr>
          </a:p>
          <a:p>
            <a:pPr indent="127000" algn="l">
              <a:buNone/>
            </a:pP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2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st_linestring</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(s1),</a:t>
            </a:r>
            <a:endParaRPr lang="zh-CN" altLang="zh-CN" sz="1200" dirty="0">
              <a:effectLst/>
              <a:latin typeface="Times New Roman" panose="02020603050405020304" pitchFamily="18" charset="0"/>
              <a:ea typeface="宋体" panose="02010600030101010101" pitchFamily="2" charset="-122"/>
            </a:endParaRPr>
          </a:p>
          <a:p>
            <a:pPr indent="127000" algn="l">
              <a:buNone/>
            </a:pP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2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st_linestring</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(s2)</a:t>
            </a:r>
            <a:endParaRPr lang="zh-CN" altLang="zh-CN" sz="1200" dirty="0">
              <a:effectLst/>
              <a:latin typeface="Times New Roman" panose="02020603050405020304" pitchFamily="18" charset="0"/>
              <a:ea typeface="宋体" panose="02010600030101010101" pitchFamily="2" charset="-122"/>
            </a:endParaRPr>
          </a:p>
          <a:p>
            <a:pPr indent="127000" algn="l">
              <a:buNone/>
            </a:pP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200" dirty="0">
              <a:effectLst/>
              <a:latin typeface="Times New Roman" panose="02020603050405020304" pitchFamily="18" charset="0"/>
              <a:ea typeface="宋体" panose="02010600030101010101" pitchFamily="2" charset="-122"/>
            </a:endParaRPr>
          </a:p>
          <a:p>
            <a:pPr indent="127000" algn="l">
              <a:buNone/>
            </a:pPr>
            <a:r>
              <a:rPr lang="en-US" altLang="zh-CN" sz="12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ls_sf</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&lt;-</a:t>
            </a:r>
            <a:r>
              <a:rPr lang="en-US" altLang="zh-CN" sz="12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st_sf</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(id=c(</a:t>
            </a:r>
            <a:r>
              <a:rPr lang="en-US" altLang="zh-CN" sz="12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),geometry=</a:t>
            </a:r>
            <a:r>
              <a:rPr lang="en-US" altLang="zh-CN" sz="12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ls_sfc,crs</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4326</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200" dirty="0">
              <a:effectLst/>
              <a:latin typeface="Times New Roman" panose="02020603050405020304" pitchFamily="18" charset="0"/>
              <a:ea typeface="宋体" panose="02010600030101010101" pitchFamily="2" charset="-122"/>
            </a:endParaRPr>
          </a:p>
          <a:p>
            <a:pPr indent="127000" algn="l">
              <a:buNone/>
            </a:pPr>
            <a:r>
              <a:rPr lang="en-US" altLang="zh-CN" sz="1200" dirty="0">
                <a:solidFill>
                  <a:srgbClr val="008000"/>
                </a:solidFill>
                <a:effectLst/>
                <a:latin typeface="Consolas" panose="020B0609020204030204" pitchFamily="49" charset="0"/>
                <a:ea typeface="宋体" panose="02010600030101010101" pitchFamily="2" charset="-122"/>
                <a:cs typeface="宋体" panose="02010600030101010101" pitchFamily="2" charset="-122"/>
              </a:rPr>
              <a:t>#</a:t>
            </a:r>
            <a:r>
              <a:rPr lang="zh-CN" altLang="zh-CN" sz="1200" dirty="0">
                <a:solidFill>
                  <a:srgbClr val="008000"/>
                </a:solidFill>
                <a:effectLst/>
                <a:latin typeface="Consolas" panose="020B0609020204030204" pitchFamily="49" charset="0"/>
                <a:ea typeface="宋体" panose="02010600030101010101" pitchFamily="2" charset="-122"/>
                <a:cs typeface="宋体" panose="02010600030101010101" pitchFamily="2" charset="-122"/>
              </a:rPr>
              <a:t>不合并</a:t>
            </a:r>
            <a:endParaRPr lang="zh-CN" altLang="zh-CN" sz="1200" dirty="0">
              <a:effectLst/>
              <a:latin typeface="Times New Roman" panose="02020603050405020304" pitchFamily="18" charset="0"/>
              <a:ea typeface="宋体" panose="02010600030101010101" pitchFamily="2" charset="-122"/>
            </a:endParaRPr>
          </a:p>
          <a:p>
            <a:pPr indent="127000" algn="l">
              <a:buNone/>
            </a:pPr>
            <a:r>
              <a:rPr lang="en-US" altLang="zh-CN" sz="12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ls_hull</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&lt;-</a:t>
            </a:r>
            <a:r>
              <a:rPr lang="en-US" altLang="zh-CN" sz="12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st_convex_hull</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ls_sf</a:t>
            </a:r>
            <a:r>
              <a:rPr lang="en-US" altLang="zh-CN" sz="12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geometry</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200" dirty="0">
              <a:effectLst/>
              <a:latin typeface="Times New Roman" panose="02020603050405020304" pitchFamily="18" charset="0"/>
              <a:ea typeface="宋体" panose="02010600030101010101" pitchFamily="2" charset="-122"/>
            </a:endParaRPr>
          </a:p>
          <a:p>
            <a:pPr indent="127000" algn="l">
              <a:buNone/>
            </a:pP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2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ls_hull,border</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"red"</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200" dirty="0">
              <a:effectLst/>
              <a:latin typeface="Times New Roman" panose="02020603050405020304" pitchFamily="18" charset="0"/>
              <a:ea typeface="宋体" panose="02010600030101010101" pitchFamily="2" charset="-122"/>
            </a:endParaRPr>
          </a:p>
          <a:p>
            <a:pPr indent="127000" algn="l">
              <a:buNone/>
            </a:pP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2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ls_sf</a:t>
            </a:r>
            <a:r>
              <a:rPr lang="en-US" altLang="zh-CN" sz="12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geometry,add</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TRUE</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200" dirty="0">
              <a:effectLst/>
              <a:latin typeface="Times New Roman" panose="02020603050405020304" pitchFamily="18" charset="0"/>
              <a:ea typeface="宋体" panose="02010600030101010101" pitchFamily="2" charset="-122"/>
            </a:endParaRPr>
          </a:p>
          <a:p>
            <a:pPr indent="127000" algn="l">
              <a:buNone/>
            </a:pP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title(</a:t>
            </a:r>
            <a:r>
              <a:rPr lang="en-US" altLang="zh-CN" sz="12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zh-CN" altLang="zh-CN" sz="12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不合并</a:t>
            </a:r>
            <a:r>
              <a:rPr lang="en-US" altLang="zh-CN" sz="12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200" dirty="0">
              <a:effectLst/>
              <a:latin typeface="Times New Roman" panose="02020603050405020304" pitchFamily="18" charset="0"/>
              <a:ea typeface="宋体" panose="02010600030101010101" pitchFamily="2" charset="-122"/>
            </a:endParaRPr>
          </a:p>
          <a:p>
            <a:pPr indent="127000" algn="l">
              <a:buNone/>
            </a:pPr>
            <a:r>
              <a:rPr lang="en-US" altLang="zh-CN" sz="1200" dirty="0">
                <a:solidFill>
                  <a:srgbClr val="008000"/>
                </a:solidFill>
                <a:effectLst/>
                <a:latin typeface="Consolas" panose="020B0609020204030204" pitchFamily="49" charset="0"/>
                <a:ea typeface="宋体" panose="02010600030101010101" pitchFamily="2" charset="-122"/>
                <a:cs typeface="宋体" panose="02010600030101010101" pitchFamily="2" charset="-122"/>
              </a:rPr>
              <a:t>#</a:t>
            </a:r>
            <a:r>
              <a:rPr lang="zh-CN" altLang="zh-CN" sz="1200" dirty="0">
                <a:solidFill>
                  <a:srgbClr val="008000"/>
                </a:solidFill>
                <a:effectLst/>
                <a:latin typeface="Consolas" panose="020B0609020204030204" pitchFamily="49" charset="0"/>
                <a:ea typeface="宋体" panose="02010600030101010101" pitchFamily="2" charset="-122"/>
                <a:cs typeface="宋体" panose="02010600030101010101" pitchFamily="2" charset="-122"/>
              </a:rPr>
              <a:t>合并</a:t>
            </a:r>
            <a:endParaRPr lang="zh-CN" altLang="zh-CN" sz="1200" dirty="0">
              <a:effectLst/>
              <a:latin typeface="Times New Roman" panose="02020603050405020304" pitchFamily="18" charset="0"/>
              <a:ea typeface="宋体" panose="02010600030101010101" pitchFamily="2" charset="-122"/>
            </a:endParaRPr>
          </a:p>
          <a:p>
            <a:pPr indent="127000" algn="l">
              <a:buNone/>
            </a:pPr>
            <a:r>
              <a:rPr lang="en-US" altLang="zh-CN" sz="12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ls_sf_un</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&lt;-</a:t>
            </a:r>
            <a:r>
              <a:rPr lang="en-US" altLang="zh-CN" sz="12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st_union</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ls_sf</a:t>
            </a:r>
            <a:r>
              <a:rPr lang="en-US" altLang="zh-CN" sz="12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geometry</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200" dirty="0">
              <a:effectLst/>
              <a:latin typeface="Times New Roman" panose="02020603050405020304" pitchFamily="18" charset="0"/>
              <a:ea typeface="宋体" panose="02010600030101010101" pitchFamily="2" charset="-122"/>
            </a:endParaRPr>
          </a:p>
          <a:p>
            <a:pPr indent="127000" algn="l">
              <a:buNone/>
            </a:pPr>
            <a:r>
              <a:rPr lang="en-US" altLang="zh-CN" sz="12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ls_un_hull</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&lt;-</a:t>
            </a:r>
            <a:r>
              <a:rPr lang="en-US" altLang="zh-CN" sz="12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st_convex_hull</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ls_sf_un</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200" dirty="0">
              <a:effectLst/>
              <a:latin typeface="Times New Roman" panose="02020603050405020304" pitchFamily="18" charset="0"/>
              <a:ea typeface="宋体" panose="02010600030101010101" pitchFamily="2" charset="-122"/>
            </a:endParaRPr>
          </a:p>
          <a:p>
            <a:pPr indent="127000" algn="l">
              <a:buNone/>
            </a:pP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2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ls_un_hull,border</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"red"</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200" dirty="0">
              <a:effectLst/>
              <a:latin typeface="Times New Roman" panose="02020603050405020304" pitchFamily="18" charset="0"/>
              <a:ea typeface="宋体" panose="02010600030101010101" pitchFamily="2" charset="-122"/>
            </a:endParaRPr>
          </a:p>
          <a:p>
            <a:pPr indent="127000" algn="l">
              <a:buNone/>
            </a:pP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2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ls_sf_un,add</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TRUE</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200" dirty="0">
              <a:effectLst/>
              <a:latin typeface="Times New Roman" panose="02020603050405020304" pitchFamily="18" charset="0"/>
              <a:ea typeface="宋体" panose="02010600030101010101" pitchFamily="2" charset="-122"/>
            </a:endParaRPr>
          </a:p>
          <a:p>
            <a:pPr indent="127000" algn="l">
              <a:buNone/>
            </a:pP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title(</a:t>
            </a:r>
            <a:r>
              <a:rPr lang="en-US" altLang="zh-CN" sz="12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zh-CN" altLang="zh-CN" sz="12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合并</a:t>
            </a:r>
            <a:r>
              <a:rPr lang="en-US" altLang="zh-CN" sz="12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200" dirty="0">
              <a:effectLst/>
              <a:latin typeface="Times New Roman" panose="02020603050405020304" pitchFamily="18" charset="0"/>
              <a:ea typeface="宋体" panose="02010600030101010101" pitchFamily="2" charset="-122"/>
            </a:endParaRPr>
          </a:p>
          <a:p>
            <a:pPr indent="127000" algn="l"/>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par(</a:t>
            </a:r>
            <a:r>
              <a:rPr lang="en-US" altLang="zh-CN" sz="12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mfrow</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2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200" dirty="0">
              <a:effectLst/>
              <a:latin typeface="Times New Roman" panose="02020603050405020304" pitchFamily="18" charset="0"/>
              <a:ea typeface="宋体" panose="02010600030101010101" pitchFamily="2" charset="-122"/>
            </a:endParaRPr>
          </a:p>
        </p:txBody>
      </p:sp>
      <p:pic>
        <p:nvPicPr>
          <p:cNvPr id="2" name="图片 1">
            <a:extLst>
              <a:ext uri="{FF2B5EF4-FFF2-40B4-BE49-F238E27FC236}">
                <a16:creationId xmlns:a16="http://schemas.microsoft.com/office/drawing/2014/main" id="{DCBE6174-169F-32B1-4068-3034D65F5B63}"/>
              </a:ext>
            </a:extLst>
          </p:cNvPr>
          <p:cNvPicPr>
            <a:picLocks noChangeAspect="1"/>
          </p:cNvPicPr>
          <p:nvPr/>
        </p:nvPicPr>
        <p:blipFill>
          <a:blip r:embed="rId2" cstate="print">
            <a:extLst>
              <a:ext uri="{28A0092B-C50C-407E-A947-70E740481C1C}">
                <a14:useLocalDpi xmlns:a14="http://schemas.microsoft.com/office/drawing/2010/main" val="0"/>
              </a:ext>
            </a:extLst>
          </a:blip>
          <a:srcRect l="-1" r="203"/>
          <a:stretch/>
        </p:blipFill>
        <p:spPr bwMode="auto">
          <a:xfrm>
            <a:off x="5105400" y="3179284"/>
            <a:ext cx="3938161" cy="2148375"/>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9893393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781FE2-21F0-E11C-A1FB-D05FE39B1886}"/>
            </a:ext>
          </a:extLst>
        </p:cNvPr>
        <p:cNvGrpSpPr/>
        <p:nvPr/>
      </p:nvGrpSpPr>
      <p:grpSpPr>
        <a:xfrm>
          <a:off x="0" y="0"/>
          <a:ext cx="0" cy="0"/>
          <a:chOff x="0" y="0"/>
          <a:chExt cx="0" cy="0"/>
        </a:xfrm>
      </p:grpSpPr>
      <p:sp>
        <p:nvSpPr>
          <p:cNvPr id="13" name="标题 9">
            <a:extLst>
              <a:ext uri="{FF2B5EF4-FFF2-40B4-BE49-F238E27FC236}">
                <a16:creationId xmlns:a16="http://schemas.microsoft.com/office/drawing/2014/main" id="{7E88720F-5EBF-623F-0139-5CD99E6D3C69}"/>
              </a:ext>
            </a:extLst>
          </p:cNvPr>
          <p:cNvSpPr>
            <a:spLocks noGrp="1"/>
          </p:cNvSpPr>
          <p:nvPr>
            <p:ph type="title"/>
          </p:nvPr>
        </p:nvSpPr>
        <p:spPr>
          <a:xfrm>
            <a:off x="1181100" y="342900"/>
            <a:ext cx="7007225" cy="663575"/>
          </a:xfrm>
        </p:spPr>
        <p:txBody>
          <a:bodyPr/>
          <a:lstStyle/>
          <a:p>
            <a:pPr algn="l"/>
            <a:r>
              <a:rPr lang="en-US" altLang="zh-CN" sz="3600" dirty="0">
                <a:latin typeface="Times New Roman" panose="02020603050405020304" pitchFamily="18" charset="0"/>
                <a:cs typeface="Times New Roman" panose="02020603050405020304" pitchFamily="18" charset="0"/>
              </a:rPr>
              <a:t>4.3 </a:t>
            </a:r>
            <a:r>
              <a:rPr lang="zh-CN" altLang="en-US" sz="3600" dirty="0">
                <a:latin typeface="Times New Roman" panose="02020603050405020304" pitchFamily="18" charset="0"/>
                <a:cs typeface="Times New Roman" panose="02020603050405020304" pitchFamily="18" charset="0"/>
              </a:rPr>
              <a:t>空间信息编辑</a:t>
            </a:r>
          </a:p>
        </p:txBody>
      </p:sp>
      <p:sp>
        <p:nvSpPr>
          <p:cNvPr id="14" name="灯片编号占位符 13">
            <a:extLst>
              <a:ext uri="{FF2B5EF4-FFF2-40B4-BE49-F238E27FC236}">
                <a16:creationId xmlns:a16="http://schemas.microsoft.com/office/drawing/2014/main" id="{577C0EEC-3557-56B3-38A3-A6C7B53F0F27}"/>
              </a:ext>
            </a:extLst>
          </p:cNvPr>
          <p:cNvSpPr>
            <a:spLocks noGrp="1"/>
          </p:cNvSpPr>
          <p:nvPr>
            <p:ph type="sldNum" sz="quarter" idx="12"/>
          </p:nvPr>
        </p:nvSpPr>
        <p:spPr/>
        <p:txBody>
          <a:bodyPr/>
          <a:lstStyle/>
          <a:p>
            <a:fld id="{6B3369F9-03CD-4B48-86A9-9EE39A82955A}" type="slidenum">
              <a:rPr lang="zh-CN" altLang="en-US">
                <a:solidFill>
                  <a:schemeClr val="bg2">
                    <a:lumMod val="75000"/>
                  </a:schemeClr>
                </a:solidFill>
              </a:rPr>
              <a:t>25</a:t>
            </a:fld>
            <a:endParaRPr lang="zh-CN" altLang="en-US" dirty="0">
              <a:solidFill>
                <a:schemeClr val="bg2">
                  <a:lumMod val="75000"/>
                </a:schemeClr>
              </a:solidFill>
            </a:endParaRPr>
          </a:p>
        </p:txBody>
      </p:sp>
      <p:sp>
        <p:nvSpPr>
          <p:cNvPr id="5" name="文本框 4">
            <a:extLst>
              <a:ext uri="{FF2B5EF4-FFF2-40B4-BE49-F238E27FC236}">
                <a16:creationId xmlns:a16="http://schemas.microsoft.com/office/drawing/2014/main" id="{829718ED-5501-4842-57EC-97D29B6FFD93}"/>
              </a:ext>
            </a:extLst>
          </p:cNvPr>
          <p:cNvSpPr txBox="1"/>
          <p:nvPr/>
        </p:nvSpPr>
        <p:spPr>
          <a:xfrm>
            <a:off x="556282" y="1716600"/>
            <a:ext cx="3237618" cy="461665"/>
          </a:xfrm>
          <a:prstGeom prst="rect">
            <a:avLst/>
          </a:prstGeom>
          <a:noFill/>
        </p:spPr>
        <p:txBody>
          <a:bodyPr wrap="none" rtlCol="0">
            <a:spAutoFit/>
          </a:bodyPr>
          <a:lstStyle/>
          <a:p>
            <a:r>
              <a:rPr lang="en-US" altLang="zh-CN" sz="2400" b="1" dirty="0">
                <a:latin typeface="+mj-lt"/>
                <a:ea typeface="+mj-ea"/>
              </a:rPr>
              <a:t>(2) Simple Feature</a:t>
            </a:r>
            <a:r>
              <a:rPr lang="zh-CN" altLang="en-US" sz="2400" b="1" dirty="0">
                <a:latin typeface="+mj-lt"/>
                <a:ea typeface="+mj-ea"/>
              </a:rPr>
              <a:t>对象</a:t>
            </a:r>
          </a:p>
        </p:txBody>
      </p:sp>
      <p:sp>
        <p:nvSpPr>
          <p:cNvPr id="10" name="文本框 9">
            <a:extLst>
              <a:ext uri="{FF2B5EF4-FFF2-40B4-BE49-F238E27FC236}">
                <a16:creationId xmlns:a16="http://schemas.microsoft.com/office/drawing/2014/main" id="{9DE82A31-DBC3-0A06-425B-65FAB58271A7}"/>
              </a:ext>
            </a:extLst>
          </p:cNvPr>
          <p:cNvSpPr txBox="1"/>
          <p:nvPr/>
        </p:nvSpPr>
        <p:spPr>
          <a:xfrm>
            <a:off x="457200" y="2324100"/>
            <a:ext cx="8252482" cy="1525418"/>
          </a:xfrm>
          <a:prstGeom prst="rect">
            <a:avLst/>
          </a:prstGeom>
          <a:noFill/>
        </p:spPr>
        <p:txBody>
          <a:bodyPr wrap="square">
            <a:spAutoFit/>
          </a:bodyPr>
          <a:lstStyle/>
          <a:p>
            <a:pPr marL="285750" indent="-285750" algn="just">
              <a:lnSpc>
                <a:spcPct val="150000"/>
              </a:lnSpc>
              <a:buFont typeface="Wingdings" panose="05000000000000000000" pitchFamily="2" charset="2"/>
              <a:buChar char="ü"/>
            </a:pPr>
            <a:r>
              <a:rPr lang="en-US" altLang="zh-CN" sz="1600" b="1" i="1" kern="0" dirty="0">
                <a:effectLst/>
                <a:latin typeface="+mj-lt"/>
                <a:ea typeface="+mj-ea"/>
              </a:rPr>
              <a:t> </a:t>
            </a:r>
            <a:r>
              <a:rPr lang="en-US" altLang="zh-CN" sz="1600" b="1" i="1" kern="0" dirty="0" err="1">
                <a:effectLst/>
                <a:latin typeface="+mj-lt"/>
                <a:ea typeface="+mj-ea"/>
              </a:rPr>
              <a:t>st_length</a:t>
            </a:r>
            <a:r>
              <a:rPr lang="zh-CN" altLang="en-US" sz="1600" kern="0" dirty="0">
                <a:effectLst/>
                <a:latin typeface="+mj-lt"/>
                <a:ea typeface="+mj-ea"/>
              </a:rPr>
              <a:t>函数计算</a:t>
            </a:r>
            <a:r>
              <a:rPr lang="zh-CN" altLang="en-US" sz="1600" b="1" kern="0" dirty="0">
                <a:effectLst/>
                <a:latin typeface="+mj-lt"/>
                <a:ea typeface="+mj-ea"/>
              </a:rPr>
              <a:t>线对象长度</a:t>
            </a:r>
            <a:r>
              <a:rPr lang="zh-CN" altLang="en-US" sz="1600" kern="0" dirty="0">
                <a:effectLst/>
                <a:latin typeface="+mj-lt"/>
                <a:ea typeface="+mj-ea"/>
              </a:rPr>
              <a:t>，以下代码可计算</a:t>
            </a:r>
            <a:r>
              <a:rPr lang="en-US" altLang="zh-CN" sz="1600" kern="0" dirty="0">
                <a:effectLst/>
                <a:latin typeface="+mj-lt"/>
                <a:ea typeface="+mj-ea"/>
              </a:rPr>
              <a:t>WHRD</a:t>
            </a:r>
            <a:r>
              <a:rPr lang="zh-CN" altLang="en-US" sz="1600" kern="0" dirty="0">
                <a:effectLst/>
                <a:latin typeface="+mj-lt"/>
                <a:ea typeface="+mj-ea"/>
              </a:rPr>
              <a:t>数据中每个线对象的长度：</a:t>
            </a:r>
            <a:endParaRPr lang="en-US" altLang="zh-CN" sz="1600" kern="0" dirty="0">
              <a:effectLst/>
              <a:latin typeface="+mj-lt"/>
              <a:ea typeface="+mj-ea"/>
            </a:endParaRPr>
          </a:p>
          <a:p>
            <a:pPr marL="285750" indent="-285750" algn="just">
              <a:lnSpc>
                <a:spcPct val="150000"/>
              </a:lnSpc>
              <a:buFont typeface="Wingdings" panose="05000000000000000000" pitchFamily="2" charset="2"/>
              <a:buChar char="ü"/>
            </a:pPr>
            <a:endParaRPr lang="en-US" altLang="zh-CN" sz="1600" kern="0" dirty="0">
              <a:latin typeface="+mj-lt"/>
              <a:ea typeface="+mj-ea"/>
              <a:cs typeface="Times New Roman" panose="02020603050405020304" pitchFamily="18" charset="0"/>
            </a:endParaRPr>
          </a:p>
          <a:p>
            <a:pPr marL="285750" indent="-285750" algn="just">
              <a:lnSpc>
                <a:spcPct val="150000"/>
              </a:lnSpc>
              <a:buFont typeface="Wingdings" panose="05000000000000000000" pitchFamily="2" charset="2"/>
              <a:buChar char="ü"/>
            </a:pPr>
            <a:endParaRPr lang="en-US" altLang="zh-CN" sz="1600" kern="0" dirty="0">
              <a:effectLst/>
              <a:latin typeface="+mj-lt"/>
              <a:ea typeface="+mj-ea"/>
              <a:cs typeface="Times New Roman" panose="02020603050405020304" pitchFamily="18" charset="0"/>
            </a:endParaRPr>
          </a:p>
          <a:p>
            <a:pPr marL="285750" indent="-285750" algn="just">
              <a:lnSpc>
                <a:spcPct val="150000"/>
              </a:lnSpc>
              <a:buFont typeface="Wingdings" panose="05000000000000000000" pitchFamily="2" charset="2"/>
              <a:buChar char="ü"/>
            </a:pPr>
            <a:r>
              <a:rPr lang="en-US" altLang="zh-CN" sz="1600" kern="0" dirty="0">
                <a:effectLst/>
                <a:latin typeface="+mj-lt"/>
                <a:ea typeface="+mj-ea"/>
                <a:cs typeface="Times New Roman" panose="02020603050405020304" pitchFamily="18" charset="0"/>
              </a:rPr>
              <a:t> </a:t>
            </a:r>
            <a:r>
              <a:rPr lang="en-US" altLang="zh-CN" sz="1600" b="1" i="1" kern="0" dirty="0" err="1">
                <a:effectLst/>
                <a:latin typeface="+mj-lt"/>
                <a:ea typeface="+mj-ea"/>
                <a:cs typeface="Times New Roman" panose="02020603050405020304" pitchFamily="18" charset="0"/>
              </a:rPr>
              <a:t>st_area</a:t>
            </a:r>
            <a:r>
              <a:rPr lang="zh-CN" altLang="en-US" sz="1600" kern="0" dirty="0">
                <a:effectLst/>
                <a:latin typeface="+mj-lt"/>
                <a:ea typeface="+mj-ea"/>
                <a:cs typeface="Times New Roman" panose="02020603050405020304" pitchFamily="18" charset="0"/>
              </a:rPr>
              <a:t>函数计算</a:t>
            </a:r>
            <a:r>
              <a:rPr lang="zh-CN" altLang="en-US" sz="1600" b="1" kern="0" dirty="0">
                <a:effectLst/>
                <a:latin typeface="+mj-lt"/>
                <a:ea typeface="+mj-ea"/>
                <a:cs typeface="Times New Roman" panose="02020603050405020304" pitchFamily="18" charset="0"/>
              </a:rPr>
              <a:t>多边形面积</a:t>
            </a:r>
            <a:r>
              <a:rPr lang="zh-CN" altLang="en-US" sz="1600" kern="0" dirty="0">
                <a:effectLst/>
                <a:latin typeface="+mj-lt"/>
                <a:ea typeface="+mj-ea"/>
                <a:cs typeface="Times New Roman" panose="02020603050405020304" pitchFamily="18" charset="0"/>
              </a:rPr>
              <a:t>，以下代码可计算</a:t>
            </a:r>
            <a:r>
              <a:rPr lang="en-US" altLang="zh-CN" sz="1600" kern="0" dirty="0" err="1">
                <a:effectLst/>
                <a:latin typeface="+mj-lt"/>
                <a:ea typeface="+mj-ea"/>
                <a:cs typeface="Times New Roman" panose="02020603050405020304" pitchFamily="18" charset="0"/>
              </a:rPr>
              <a:t>WHDistrict</a:t>
            </a:r>
            <a:r>
              <a:rPr lang="zh-CN" altLang="en-US" sz="1600" kern="0" dirty="0">
                <a:effectLst/>
                <a:latin typeface="+mj-lt"/>
                <a:ea typeface="+mj-ea"/>
                <a:cs typeface="Times New Roman" panose="02020603050405020304" pitchFamily="18" charset="0"/>
              </a:rPr>
              <a:t>数据中每个多边形的面积：</a:t>
            </a:r>
            <a:endParaRPr lang="en-US" altLang="zh-CN" sz="1600" kern="0" dirty="0">
              <a:effectLst/>
              <a:latin typeface="+mj-lt"/>
              <a:ea typeface="+mj-ea"/>
              <a:cs typeface="Times New Roman" panose="02020603050405020304" pitchFamily="18" charset="0"/>
            </a:endParaRPr>
          </a:p>
        </p:txBody>
      </p:sp>
      <p:sp>
        <p:nvSpPr>
          <p:cNvPr id="6" name="文本框 5">
            <a:extLst>
              <a:ext uri="{FF2B5EF4-FFF2-40B4-BE49-F238E27FC236}">
                <a16:creationId xmlns:a16="http://schemas.microsoft.com/office/drawing/2014/main" id="{1809DDD7-C381-D8BE-6511-4B70A8425C9F}"/>
              </a:ext>
            </a:extLst>
          </p:cNvPr>
          <p:cNvSpPr txBox="1"/>
          <p:nvPr/>
        </p:nvSpPr>
        <p:spPr>
          <a:xfrm>
            <a:off x="822982" y="2816517"/>
            <a:ext cx="6667500" cy="369332"/>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st_length</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WHRD_sf</a:t>
            </a:r>
            <a:r>
              <a:rPr lang="en-US" altLang="zh-CN" sz="18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geometry</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dirty="0">
              <a:effectLst/>
              <a:latin typeface="Times New Roman" panose="02020603050405020304" pitchFamily="18" charset="0"/>
              <a:ea typeface="宋体" panose="02010600030101010101" pitchFamily="2" charset="-122"/>
            </a:endParaRPr>
          </a:p>
        </p:txBody>
      </p:sp>
      <p:sp>
        <p:nvSpPr>
          <p:cNvPr id="11" name="文本框 10">
            <a:extLst>
              <a:ext uri="{FF2B5EF4-FFF2-40B4-BE49-F238E27FC236}">
                <a16:creationId xmlns:a16="http://schemas.microsoft.com/office/drawing/2014/main" id="{8E707354-24BF-504D-0ECB-AF1A5554A3B9}"/>
              </a:ext>
            </a:extLst>
          </p:cNvPr>
          <p:cNvSpPr txBox="1"/>
          <p:nvPr/>
        </p:nvSpPr>
        <p:spPr>
          <a:xfrm>
            <a:off x="822982" y="3915594"/>
            <a:ext cx="6667500" cy="369332"/>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st_area</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WHDis_sf</a:t>
            </a:r>
            <a:r>
              <a:rPr lang="en-US" altLang="zh-CN" sz="18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geometry</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40172064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32297E-B058-1B7F-2AC6-6495B2671CB8}"/>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7F49B880-5E36-DFEF-FB34-127E2430F007}"/>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4.4 </a:t>
            </a:r>
            <a:r>
              <a:rPr lang="zh-CN" altLang="en-US" sz="3600" dirty="0">
                <a:latin typeface="Times New Roman" panose="02020603050405020304" pitchFamily="18" charset="0"/>
                <a:cs typeface="Times New Roman" panose="02020603050405020304" pitchFamily="18" charset="0"/>
              </a:rPr>
              <a:t>遥感影像数据分析</a:t>
            </a:r>
          </a:p>
        </p:txBody>
      </p:sp>
      <p:sp>
        <p:nvSpPr>
          <p:cNvPr id="8" name="灯片编号占位符 7">
            <a:extLst>
              <a:ext uri="{FF2B5EF4-FFF2-40B4-BE49-F238E27FC236}">
                <a16:creationId xmlns:a16="http://schemas.microsoft.com/office/drawing/2014/main" id="{22C6F605-1625-A9F9-F098-7B8059B37325}"/>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26</a:t>
            </a:fld>
            <a:endParaRPr lang="zh-CN" altLang="en-US" dirty="0">
              <a:solidFill>
                <a:schemeClr val="bg2">
                  <a:lumMod val="75000"/>
                </a:schemeClr>
              </a:solidFill>
            </a:endParaRPr>
          </a:p>
        </p:txBody>
      </p:sp>
      <p:grpSp>
        <p:nvGrpSpPr>
          <p:cNvPr id="2" name="组合 1">
            <a:extLst>
              <a:ext uri="{FF2B5EF4-FFF2-40B4-BE49-F238E27FC236}">
                <a16:creationId xmlns:a16="http://schemas.microsoft.com/office/drawing/2014/main" id="{7FF74FFB-0A63-75D8-497A-5B3193C734DD}"/>
              </a:ext>
            </a:extLst>
          </p:cNvPr>
          <p:cNvGrpSpPr/>
          <p:nvPr>
            <p:custDataLst>
              <p:tags r:id="rId1"/>
            </p:custDataLst>
          </p:nvPr>
        </p:nvGrpSpPr>
        <p:grpSpPr>
          <a:xfrm>
            <a:off x="1485900" y="2561080"/>
            <a:ext cx="6626224" cy="749588"/>
            <a:chOff x="3797406" y="1425837"/>
            <a:chExt cx="6626224" cy="749588"/>
          </a:xfrm>
        </p:grpSpPr>
        <p:sp>
          <p:nvSpPr>
            <p:cNvPr id="3" name="文本框 2">
              <a:extLst>
                <a:ext uri="{FF2B5EF4-FFF2-40B4-BE49-F238E27FC236}">
                  <a16:creationId xmlns:a16="http://schemas.microsoft.com/office/drawing/2014/main" id="{4A43997C-078B-49C5-8E07-3C96BAE67B3F}"/>
                </a:ext>
              </a:extLst>
            </p:cNvPr>
            <p:cNvSpPr txBox="1"/>
            <p:nvPr>
              <p:custDataLst>
                <p:tags r:id="rId8"/>
              </p:custDataLst>
            </p:nvPr>
          </p:nvSpPr>
          <p:spPr>
            <a:xfrm>
              <a:off x="3797406" y="1621427"/>
              <a:ext cx="1107996" cy="553998"/>
            </a:xfrm>
            <a:prstGeom prst="rect">
              <a:avLst/>
            </a:prstGeom>
            <a:noFill/>
          </p:spPr>
          <p:txBody>
            <a:bodyPr wrap="none" tIns="0" bIns="0" rtlCol="0" anchor="b" anchorCtr="0">
              <a:spAutoFit/>
            </a:bodyPr>
            <a:lstStyle/>
            <a:p>
              <a:r>
                <a:rPr kumimoji="1" lang="en-US" altLang="zh-CN" sz="3600" b="1" dirty="0">
                  <a:solidFill>
                    <a:schemeClr val="accent1"/>
                  </a:solidFill>
                  <a:latin typeface="Times New Roman" panose="02020603050405020304" pitchFamily="18" charset="0"/>
                  <a:cs typeface="Times New Roman" panose="02020603050405020304" pitchFamily="18" charset="0"/>
                </a:rPr>
                <a:t>4.4.1</a:t>
              </a:r>
            </a:p>
          </p:txBody>
        </p:sp>
        <p:sp>
          <p:nvSpPr>
            <p:cNvPr id="4" name="文本占位符 27">
              <a:extLst>
                <a:ext uri="{FF2B5EF4-FFF2-40B4-BE49-F238E27FC236}">
                  <a16:creationId xmlns:a16="http://schemas.microsoft.com/office/drawing/2014/main" id="{5656801E-D104-4DCD-61C7-AC5D117B9156}"/>
                </a:ext>
              </a:extLst>
            </p:cNvPr>
            <p:cNvSpPr txBox="1"/>
            <p:nvPr>
              <p:custDataLst>
                <p:tags r:id="rId9"/>
              </p:custDataLst>
            </p:nvPr>
          </p:nvSpPr>
          <p:spPr>
            <a:xfrm>
              <a:off x="5130905" y="1425837"/>
              <a:ext cx="5292725" cy="708025"/>
            </a:xfrm>
            <a:prstGeom prst="rect">
              <a:avLst/>
            </a:prstGeom>
          </p:spPr>
          <p:txBody>
            <a:bodyPr lIns="0" rIns="0" bIns="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chemeClr val="accent2"/>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3200" dirty="0">
                  <a:solidFill>
                    <a:schemeClr val="accent1"/>
                  </a:solidFill>
                  <a:latin typeface="Times New Roman" panose="02020603050405020304" pitchFamily="18" charset="0"/>
                  <a:cs typeface="Times New Roman" panose="02020603050405020304" pitchFamily="18" charset="0"/>
                </a:rPr>
                <a:t>影像信息统计</a:t>
              </a:r>
              <a:endParaRPr kumimoji="1" lang="zh-CN" altLang="en-US" sz="3200" dirty="0">
                <a:solidFill>
                  <a:schemeClr val="accent1"/>
                </a:solidFill>
                <a:latin typeface="Times New Roman" panose="02020603050405020304" pitchFamily="18" charset="0"/>
                <a:cs typeface="Times New Roman" panose="02020603050405020304" pitchFamily="18" charset="0"/>
              </a:endParaRPr>
            </a:p>
          </p:txBody>
        </p:sp>
      </p:grpSp>
      <p:grpSp>
        <p:nvGrpSpPr>
          <p:cNvPr id="9" name="组合 8">
            <a:extLst>
              <a:ext uri="{FF2B5EF4-FFF2-40B4-BE49-F238E27FC236}">
                <a16:creationId xmlns:a16="http://schemas.microsoft.com/office/drawing/2014/main" id="{0F1644E0-CF14-3114-CE01-AE7D1039C5D8}"/>
              </a:ext>
            </a:extLst>
          </p:cNvPr>
          <p:cNvGrpSpPr/>
          <p:nvPr>
            <p:custDataLst>
              <p:tags r:id="rId2"/>
            </p:custDataLst>
          </p:nvPr>
        </p:nvGrpSpPr>
        <p:grpSpPr>
          <a:xfrm>
            <a:off x="1485900" y="3314700"/>
            <a:ext cx="6626225" cy="749588"/>
            <a:chOff x="3797406" y="2539558"/>
            <a:chExt cx="6626225" cy="749588"/>
          </a:xfrm>
        </p:grpSpPr>
        <p:sp>
          <p:nvSpPr>
            <p:cNvPr id="10" name="文本框 9">
              <a:extLst>
                <a:ext uri="{FF2B5EF4-FFF2-40B4-BE49-F238E27FC236}">
                  <a16:creationId xmlns:a16="http://schemas.microsoft.com/office/drawing/2014/main" id="{DD488E0A-79A9-A9A8-0933-4B5012F7806B}"/>
                </a:ext>
              </a:extLst>
            </p:cNvPr>
            <p:cNvSpPr txBox="1"/>
            <p:nvPr>
              <p:custDataLst>
                <p:tags r:id="rId6"/>
              </p:custDataLst>
            </p:nvPr>
          </p:nvSpPr>
          <p:spPr>
            <a:xfrm>
              <a:off x="3797406" y="2735148"/>
              <a:ext cx="1107996" cy="553998"/>
            </a:xfrm>
            <a:prstGeom prst="rect">
              <a:avLst/>
            </a:prstGeom>
            <a:noFill/>
          </p:spPr>
          <p:txBody>
            <a:bodyPr wrap="none" tIns="0" bIns="0" rtlCol="0" anchor="b" anchorCtr="0">
              <a:spAutoFit/>
            </a:bodyPr>
            <a:lstStyle/>
            <a:p>
              <a:r>
                <a:rPr kumimoji="1" lang="en-US" altLang="zh-CN" sz="3600" b="1" dirty="0">
                  <a:solidFill>
                    <a:schemeClr val="accent1"/>
                  </a:solidFill>
                  <a:latin typeface="Times New Roman" panose="02020603050405020304" pitchFamily="18" charset="0"/>
                  <a:cs typeface="Times New Roman" panose="02020603050405020304" pitchFamily="18" charset="0"/>
                </a:rPr>
                <a:t>4.4.2</a:t>
              </a:r>
            </a:p>
          </p:txBody>
        </p:sp>
        <p:sp>
          <p:nvSpPr>
            <p:cNvPr id="12" name="文本占位符 27">
              <a:extLst>
                <a:ext uri="{FF2B5EF4-FFF2-40B4-BE49-F238E27FC236}">
                  <a16:creationId xmlns:a16="http://schemas.microsoft.com/office/drawing/2014/main" id="{E92EE293-DF50-8594-657C-79998C2BA8B0}"/>
                </a:ext>
              </a:extLst>
            </p:cNvPr>
            <p:cNvSpPr txBox="1"/>
            <p:nvPr>
              <p:custDataLst>
                <p:tags r:id="rId7"/>
              </p:custDataLst>
            </p:nvPr>
          </p:nvSpPr>
          <p:spPr>
            <a:xfrm>
              <a:off x="5130906" y="2539558"/>
              <a:ext cx="5292725" cy="708025"/>
            </a:xfrm>
            <a:prstGeom prst="rect">
              <a:avLst/>
            </a:prstGeom>
          </p:spPr>
          <p:txBody>
            <a:bodyPr lIns="0" rIns="0" bIns="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chemeClr val="accent2"/>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3200" dirty="0">
                  <a:solidFill>
                    <a:schemeClr val="accent1"/>
                  </a:solidFill>
                  <a:latin typeface="Times New Roman" panose="02020603050405020304" pitchFamily="18" charset="0"/>
                  <a:cs typeface="Times New Roman" panose="02020603050405020304" pitchFamily="18" charset="0"/>
                </a:rPr>
                <a:t>遥感影像波段信息分析</a:t>
              </a:r>
              <a:endParaRPr kumimoji="1" lang="zh-CN" altLang="en-US" sz="3200" dirty="0">
                <a:solidFill>
                  <a:schemeClr val="accent1"/>
                </a:solidFill>
                <a:latin typeface="Times New Roman" panose="02020603050405020304" pitchFamily="18" charset="0"/>
                <a:cs typeface="Times New Roman" panose="02020603050405020304" pitchFamily="18" charset="0"/>
              </a:endParaRPr>
            </a:p>
          </p:txBody>
        </p:sp>
      </p:grpSp>
      <p:grpSp>
        <p:nvGrpSpPr>
          <p:cNvPr id="5" name="组合 4">
            <a:extLst>
              <a:ext uri="{FF2B5EF4-FFF2-40B4-BE49-F238E27FC236}">
                <a16:creationId xmlns:a16="http://schemas.microsoft.com/office/drawing/2014/main" id="{755EC239-B22F-90C6-922E-14A1876D2309}"/>
              </a:ext>
            </a:extLst>
          </p:cNvPr>
          <p:cNvGrpSpPr/>
          <p:nvPr>
            <p:custDataLst>
              <p:tags r:id="rId3"/>
            </p:custDataLst>
          </p:nvPr>
        </p:nvGrpSpPr>
        <p:grpSpPr>
          <a:xfrm>
            <a:off x="1485900" y="4068319"/>
            <a:ext cx="6626225" cy="749588"/>
            <a:chOff x="3797406" y="2539558"/>
            <a:chExt cx="6626225" cy="749588"/>
          </a:xfrm>
        </p:grpSpPr>
        <p:sp>
          <p:nvSpPr>
            <p:cNvPr id="11" name="文本框 10">
              <a:extLst>
                <a:ext uri="{FF2B5EF4-FFF2-40B4-BE49-F238E27FC236}">
                  <a16:creationId xmlns:a16="http://schemas.microsoft.com/office/drawing/2014/main" id="{9496F739-DDAD-D12B-EC35-0C533FFFB8E6}"/>
                </a:ext>
              </a:extLst>
            </p:cNvPr>
            <p:cNvSpPr txBox="1"/>
            <p:nvPr>
              <p:custDataLst>
                <p:tags r:id="rId4"/>
              </p:custDataLst>
            </p:nvPr>
          </p:nvSpPr>
          <p:spPr>
            <a:xfrm>
              <a:off x="3797406" y="2735148"/>
              <a:ext cx="1107996" cy="553998"/>
            </a:xfrm>
            <a:prstGeom prst="rect">
              <a:avLst/>
            </a:prstGeom>
            <a:noFill/>
          </p:spPr>
          <p:txBody>
            <a:bodyPr wrap="none" tIns="0" bIns="0" rtlCol="0" anchor="b" anchorCtr="0">
              <a:spAutoFit/>
            </a:bodyPr>
            <a:lstStyle/>
            <a:p>
              <a:r>
                <a:rPr kumimoji="1" lang="en-US" altLang="zh-CN" sz="3600" b="1" dirty="0">
                  <a:solidFill>
                    <a:schemeClr val="accent1"/>
                  </a:solidFill>
                  <a:latin typeface="Times New Roman" panose="02020603050405020304" pitchFamily="18" charset="0"/>
                  <a:cs typeface="Times New Roman" panose="02020603050405020304" pitchFamily="18" charset="0"/>
                </a:rPr>
                <a:t>4.4.3</a:t>
              </a:r>
            </a:p>
          </p:txBody>
        </p:sp>
        <p:sp>
          <p:nvSpPr>
            <p:cNvPr id="14" name="文本占位符 27">
              <a:extLst>
                <a:ext uri="{FF2B5EF4-FFF2-40B4-BE49-F238E27FC236}">
                  <a16:creationId xmlns:a16="http://schemas.microsoft.com/office/drawing/2014/main" id="{DC24744C-28D4-4998-31B8-EC073C65A70B}"/>
                </a:ext>
              </a:extLst>
            </p:cNvPr>
            <p:cNvSpPr txBox="1"/>
            <p:nvPr>
              <p:custDataLst>
                <p:tags r:id="rId5"/>
              </p:custDataLst>
            </p:nvPr>
          </p:nvSpPr>
          <p:spPr>
            <a:xfrm>
              <a:off x="5130906" y="2539558"/>
              <a:ext cx="5292725" cy="708025"/>
            </a:xfrm>
            <a:prstGeom prst="rect">
              <a:avLst/>
            </a:prstGeom>
          </p:spPr>
          <p:txBody>
            <a:bodyPr lIns="0" rIns="0" bIns="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chemeClr val="accent2"/>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3200" dirty="0">
                  <a:solidFill>
                    <a:schemeClr val="accent1"/>
                  </a:solidFill>
                  <a:latin typeface="Times New Roman" panose="02020603050405020304" pitchFamily="18" charset="0"/>
                  <a:cs typeface="Times New Roman" panose="02020603050405020304" pitchFamily="18" charset="0"/>
                </a:rPr>
                <a:t>归一化植被指数计算</a:t>
              </a:r>
              <a:endParaRPr kumimoji="1" lang="zh-CN" altLang="en-US" sz="3200" dirty="0">
                <a:solidFill>
                  <a:schemeClr val="accent1"/>
                </a:solidFill>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19547759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1F354-2524-22A9-20A9-20EA03188F20}"/>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94185D37-FF43-8340-0882-A25BD81D6297}"/>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4.4.1 </a:t>
            </a:r>
            <a:r>
              <a:rPr lang="zh-CN" altLang="en-US" sz="3600" dirty="0">
                <a:latin typeface="Times New Roman" panose="02020603050405020304" pitchFamily="18" charset="0"/>
                <a:cs typeface="Times New Roman" panose="02020603050405020304" pitchFamily="18" charset="0"/>
              </a:rPr>
              <a:t>影像信息统计</a:t>
            </a:r>
          </a:p>
        </p:txBody>
      </p:sp>
      <p:sp>
        <p:nvSpPr>
          <p:cNvPr id="8" name="灯片编号占位符 7">
            <a:extLst>
              <a:ext uri="{FF2B5EF4-FFF2-40B4-BE49-F238E27FC236}">
                <a16:creationId xmlns:a16="http://schemas.microsoft.com/office/drawing/2014/main" id="{AFBBA2BD-F2F5-C019-4722-D21DE723ECEF}"/>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27</a:t>
            </a:fld>
            <a:endParaRPr lang="zh-CN" altLang="en-US" dirty="0">
              <a:solidFill>
                <a:schemeClr val="bg2">
                  <a:lumMod val="75000"/>
                </a:schemeClr>
              </a:solidFill>
            </a:endParaRPr>
          </a:p>
        </p:txBody>
      </p:sp>
      <p:sp>
        <p:nvSpPr>
          <p:cNvPr id="16" name="文本框 15">
            <a:extLst>
              <a:ext uri="{FF2B5EF4-FFF2-40B4-BE49-F238E27FC236}">
                <a16:creationId xmlns:a16="http://schemas.microsoft.com/office/drawing/2014/main" id="{7B69D5B0-D28D-1C19-2BA4-901A267AD92A}"/>
              </a:ext>
            </a:extLst>
          </p:cNvPr>
          <p:cNvSpPr txBox="1"/>
          <p:nvPr/>
        </p:nvSpPr>
        <p:spPr>
          <a:xfrm>
            <a:off x="457200" y="1485900"/>
            <a:ext cx="8252482" cy="1156727"/>
          </a:xfrm>
          <a:prstGeom prst="rect">
            <a:avLst/>
          </a:prstGeom>
          <a:noFill/>
        </p:spPr>
        <p:txBody>
          <a:bodyPr wrap="square">
            <a:spAutoFit/>
          </a:bodyPr>
          <a:lstStyle/>
          <a:p>
            <a:pPr indent="457200" algn="just">
              <a:lnSpc>
                <a:spcPct val="150000"/>
              </a:lnSpc>
            </a:pPr>
            <a:r>
              <a:rPr lang="zh-CN" altLang="en-US" sz="1600" kern="0" dirty="0">
                <a:effectLst/>
                <a:latin typeface="+mj-lt"/>
                <a:ea typeface="+mj-ea"/>
              </a:rPr>
              <a:t>使用</a:t>
            </a:r>
            <a:r>
              <a:rPr lang="en-US" altLang="zh-CN" sz="1600" b="1" kern="0" dirty="0">
                <a:effectLst/>
                <a:latin typeface="+mj-lt"/>
                <a:ea typeface="+mj-ea"/>
              </a:rPr>
              <a:t>terra</a:t>
            </a:r>
            <a:r>
              <a:rPr lang="zh-CN" altLang="en-US" sz="1600" kern="0" dirty="0">
                <a:effectLst/>
                <a:latin typeface="+mj-lt"/>
                <a:ea typeface="+mj-ea"/>
              </a:rPr>
              <a:t>包提供的</a:t>
            </a:r>
            <a:r>
              <a:rPr lang="en-US" altLang="zh-CN" sz="1600" b="1" i="1" kern="0" dirty="0" err="1">
                <a:effectLst/>
                <a:latin typeface="+mj-lt"/>
                <a:ea typeface="+mj-ea"/>
              </a:rPr>
              <a:t>rast</a:t>
            </a:r>
            <a:r>
              <a:rPr lang="en-US" altLang="zh-CN" sz="1600" b="1" i="1" kern="0" dirty="0">
                <a:effectLst/>
                <a:latin typeface="+mj-lt"/>
                <a:ea typeface="+mj-ea"/>
              </a:rPr>
              <a:t>()</a:t>
            </a:r>
            <a:r>
              <a:rPr lang="zh-CN" altLang="en-US" sz="1600" kern="0" dirty="0">
                <a:effectLst/>
                <a:latin typeface="+mj-lt"/>
                <a:ea typeface="+mj-ea"/>
              </a:rPr>
              <a:t>函数读入示例遥感影像数据，并查看该遥感影像的概览信息，包括影像的维度</a:t>
            </a:r>
            <a:r>
              <a:rPr lang="en-US" altLang="zh-CN" sz="1600" kern="0" dirty="0">
                <a:effectLst/>
                <a:latin typeface="+mj-lt"/>
                <a:ea typeface="+mj-ea"/>
              </a:rPr>
              <a:t>(dimensions)</a:t>
            </a:r>
            <a:r>
              <a:rPr lang="zh-CN" altLang="en-US" sz="1600" kern="0" dirty="0">
                <a:effectLst/>
                <a:latin typeface="+mj-lt"/>
                <a:ea typeface="+mj-ea"/>
              </a:rPr>
              <a:t>、分辨率</a:t>
            </a:r>
            <a:r>
              <a:rPr lang="en-US" altLang="zh-CN" sz="1600" kern="0" dirty="0">
                <a:effectLst/>
                <a:latin typeface="+mj-lt"/>
                <a:ea typeface="+mj-ea"/>
              </a:rPr>
              <a:t>(resolution)</a:t>
            </a:r>
            <a:r>
              <a:rPr lang="zh-CN" altLang="en-US" sz="1600" kern="0" dirty="0">
                <a:effectLst/>
                <a:latin typeface="+mj-lt"/>
                <a:ea typeface="+mj-ea"/>
              </a:rPr>
              <a:t>、范围</a:t>
            </a:r>
            <a:r>
              <a:rPr lang="en-US" altLang="zh-CN" sz="1600" kern="0" dirty="0">
                <a:effectLst/>
                <a:latin typeface="+mj-lt"/>
                <a:ea typeface="+mj-ea"/>
              </a:rPr>
              <a:t>(extent)</a:t>
            </a:r>
            <a:r>
              <a:rPr lang="zh-CN" altLang="en-US" sz="1600" kern="0" dirty="0">
                <a:effectLst/>
                <a:latin typeface="+mj-lt"/>
                <a:ea typeface="+mj-ea"/>
              </a:rPr>
              <a:t>、坐标参考系</a:t>
            </a:r>
            <a:r>
              <a:rPr lang="en-US" altLang="zh-CN" sz="1600" kern="0" dirty="0">
                <a:effectLst/>
                <a:latin typeface="+mj-lt"/>
                <a:ea typeface="+mj-ea"/>
              </a:rPr>
              <a:t>(</a:t>
            </a:r>
            <a:r>
              <a:rPr lang="en-US" altLang="zh-CN" sz="1600" kern="0" dirty="0" err="1">
                <a:effectLst/>
                <a:latin typeface="+mj-lt"/>
                <a:ea typeface="+mj-ea"/>
              </a:rPr>
              <a:t>coord.ref</a:t>
            </a:r>
            <a:r>
              <a:rPr lang="en-US" altLang="zh-CN" sz="1600" kern="0" dirty="0">
                <a:effectLst/>
                <a:latin typeface="+mj-lt"/>
                <a:ea typeface="+mj-ea"/>
              </a:rPr>
              <a:t>)</a:t>
            </a:r>
            <a:r>
              <a:rPr lang="zh-CN" altLang="en-US" sz="1600" kern="0" dirty="0">
                <a:effectLst/>
                <a:latin typeface="+mj-lt"/>
                <a:ea typeface="+mj-ea"/>
              </a:rPr>
              <a:t>以及各波段的名称</a:t>
            </a:r>
            <a:r>
              <a:rPr lang="en-US" altLang="zh-CN" sz="1600" kern="0" dirty="0">
                <a:effectLst/>
                <a:latin typeface="+mj-lt"/>
                <a:ea typeface="+mj-ea"/>
              </a:rPr>
              <a:t>(names)</a:t>
            </a:r>
            <a:r>
              <a:rPr lang="zh-CN" altLang="en-US" sz="1600" kern="0" dirty="0">
                <a:effectLst/>
                <a:latin typeface="+mj-lt"/>
                <a:ea typeface="+mj-ea"/>
              </a:rPr>
              <a:t>等：</a:t>
            </a:r>
            <a:endParaRPr lang="en-US" altLang="zh-CN" sz="1600" kern="0" dirty="0">
              <a:effectLst/>
              <a:latin typeface="+mj-lt"/>
              <a:ea typeface="+mj-ea"/>
              <a:cs typeface="Times New Roman" panose="02020603050405020304" pitchFamily="18" charset="0"/>
            </a:endParaRPr>
          </a:p>
        </p:txBody>
      </p:sp>
      <p:sp>
        <p:nvSpPr>
          <p:cNvPr id="17" name="文本框 16">
            <a:extLst>
              <a:ext uri="{FF2B5EF4-FFF2-40B4-BE49-F238E27FC236}">
                <a16:creationId xmlns:a16="http://schemas.microsoft.com/office/drawing/2014/main" id="{EEED8598-DCEE-B0B6-5637-106365AC9416}"/>
              </a:ext>
            </a:extLst>
          </p:cNvPr>
          <p:cNvSpPr txBox="1"/>
          <p:nvPr/>
        </p:nvSpPr>
        <p:spPr>
          <a:xfrm>
            <a:off x="822982" y="2781300"/>
            <a:ext cx="7711418" cy="830997"/>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library(terra)</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r&lt;-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rast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"MOD09A1.A2019137.h27v05.061.2020294200410.hdf"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r</a:t>
            </a:r>
            <a:endParaRPr lang="zh-CN" altLang="zh-CN" sz="1600" dirty="0">
              <a:effectLst/>
              <a:latin typeface="Times New Roman" panose="02020603050405020304" pitchFamily="18" charset="0"/>
              <a:ea typeface="宋体" panose="02010600030101010101" pitchFamily="2" charset="-122"/>
            </a:endParaRPr>
          </a:p>
        </p:txBody>
      </p:sp>
      <p:pic>
        <p:nvPicPr>
          <p:cNvPr id="18" name="图片 17">
            <a:extLst>
              <a:ext uri="{FF2B5EF4-FFF2-40B4-BE49-F238E27FC236}">
                <a16:creationId xmlns:a16="http://schemas.microsoft.com/office/drawing/2014/main" id="{E1365DF6-4A5C-114A-11D8-3CADE20FB7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2179" y="3924706"/>
            <a:ext cx="7259641" cy="184419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3468721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0A369-7A21-65E1-CDA4-54B554AAE5C4}"/>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D010DAFF-958A-F44B-A909-8561ACCCD15E}"/>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4.4.1 </a:t>
            </a:r>
            <a:r>
              <a:rPr lang="zh-CN" altLang="en-US" sz="3600" dirty="0">
                <a:latin typeface="Times New Roman" panose="02020603050405020304" pitchFamily="18" charset="0"/>
                <a:cs typeface="Times New Roman" panose="02020603050405020304" pitchFamily="18" charset="0"/>
              </a:rPr>
              <a:t>影像信息统计</a:t>
            </a:r>
          </a:p>
        </p:txBody>
      </p:sp>
      <p:sp>
        <p:nvSpPr>
          <p:cNvPr id="8" name="灯片编号占位符 7">
            <a:extLst>
              <a:ext uri="{FF2B5EF4-FFF2-40B4-BE49-F238E27FC236}">
                <a16:creationId xmlns:a16="http://schemas.microsoft.com/office/drawing/2014/main" id="{17138160-045D-D230-15AD-E4E41F7DE2AB}"/>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28</a:t>
            </a:fld>
            <a:endParaRPr lang="zh-CN" altLang="en-US" dirty="0">
              <a:solidFill>
                <a:schemeClr val="bg2">
                  <a:lumMod val="75000"/>
                </a:schemeClr>
              </a:solidFill>
            </a:endParaRPr>
          </a:p>
        </p:txBody>
      </p:sp>
      <p:sp>
        <p:nvSpPr>
          <p:cNvPr id="16" name="文本框 15">
            <a:extLst>
              <a:ext uri="{FF2B5EF4-FFF2-40B4-BE49-F238E27FC236}">
                <a16:creationId xmlns:a16="http://schemas.microsoft.com/office/drawing/2014/main" id="{B4E3335B-5673-C5BE-8853-4BFF442E3113}"/>
              </a:ext>
            </a:extLst>
          </p:cNvPr>
          <p:cNvSpPr txBox="1"/>
          <p:nvPr/>
        </p:nvSpPr>
        <p:spPr>
          <a:xfrm>
            <a:off x="266700" y="1841742"/>
            <a:ext cx="8252482" cy="458715"/>
          </a:xfrm>
          <a:prstGeom prst="rect">
            <a:avLst/>
          </a:prstGeom>
          <a:noFill/>
        </p:spPr>
        <p:txBody>
          <a:bodyPr wrap="square">
            <a:spAutoFit/>
          </a:bodyPr>
          <a:lstStyle/>
          <a:p>
            <a:pPr indent="457200" algn="just">
              <a:lnSpc>
                <a:spcPct val="150000"/>
              </a:lnSpc>
            </a:pPr>
            <a:r>
              <a:rPr lang="zh-CN" altLang="en-US" kern="0" dirty="0">
                <a:effectLst/>
                <a:latin typeface="+mj-lt"/>
                <a:ea typeface="+mj-ea"/>
              </a:rPr>
              <a:t>如果需要</a:t>
            </a:r>
            <a:r>
              <a:rPr lang="zh-CN" altLang="en-US" b="1" kern="0" dirty="0">
                <a:effectLst/>
                <a:latin typeface="+mj-lt"/>
                <a:ea typeface="+mj-ea"/>
              </a:rPr>
              <a:t>单独获取某些特定信息</a:t>
            </a:r>
            <a:r>
              <a:rPr lang="zh-CN" altLang="en-US" kern="0" dirty="0">
                <a:effectLst/>
                <a:latin typeface="+mj-lt"/>
                <a:ea typeface="+mj-ea"/>
              </a:rPr>
              <a:t>，</a:t>
            </a:r>
            <a:r>
              <a:rPr lang="en-US" altLang="zh-CN" b="1" kern="0" dirty="0">
                <a:effectLst/>
                <a:latin typeface="+mj-lt"/>
                <a:ea typeface="+mj-ea"/>
              </a:rPr>
              <a:t>terra</a:t>
            </a:r>
            <a:r>
              <a:rPr lang="zh-CN" altLang="en-US" kern="0" dirty="0">
                <a:effectLst/>
                <a:latin typeface="+mj-lt"/>
                <a:ea typeface="+mj-ea"/>
              </a:rPr>
              <a:t>函数包提供了一些具体的函数：</a:t>
            </a:r>
            <a:endParaRPr lang="en-US" altLang="zh-CN" kern="0" dirty="0">
              <a:effectLst/>
              <a:latin typeface="+mj-lt"/>
              <a:ea typeface="+mj-ea"/>
              <a:cs typeface="Times New Roman" panose="02020603050405020304" pitchFamily="18" charset="0"/>
            </a:endParaRPr>
          </a:p>
        </p:txBody>
      </p:sp>
      <p:graphicFrame>
        <p:nvGraphicFramePr>
          <p:cNvPr id="2" name="表格 1">
            <a:extLst>
              <a:ext uri="{FF2B5EF4-FFF2-40B4-BE49-F238E27FC236}">
                <a16:creationId xmlns:a16="http://schemas.microsoft.com/office/drawing/2014/main" id="{0281AE66-60DB-C821-11F9-D28EDCDA3DDA}"/>
              </a:ext>
            </a:extLst>
          </p:cNvPr>
          <p:cNvGraphicFramePr>
            <a:graphicFrameLocks noGrp="1"/>
          </p:cNvGraphicFramePr>
          <p:nvPr>
            <p:extLst>
              <p:ext uri="{D42A27DB-BD31-4B8C-83A1-F6EECF244321}">
                <p14:modId xmlns:p14="http://schemas.microsoft.com/office/powerpoint/2010/main" val="4179449651"/>
              </p:ext>
            </p:extLst>
          </p:nvPr>
        </p:nvGraphicFramePr>
        <p:xfrm>
          <a:off x="1525839" y="2743200"/>
          <a:ext cx="6096000" cy="2560320"/>
        </p:xfrm>
        <a:graphic>
          <a:graphicData uri="http://schemas.openxmlformats.org/drawingml/2006/table">
            <a:tbl>
              <a:tblPr firstRow="1" bandRow="1">
                <a:tableStyleId>{5C22544A-7EE6-4342-B048-85BDC9FD1C3A}</a:tableStyleId>
              </a:tblPr>
              <a:tblGrid>
                <a:gridCol w="1641453">
                  <a:extLst>
                    <a:ext uri="{9D8B030D-6E8A-4147-A177-3AD203B41FA5}">
                      <a16:colId xmlns:a16="http://schemas.microsoft.com/office/drawing/2014/main" val="2538033005"/>
                    </a:ext>
                  </a:extLst>
                </a:gridCol>
                <a:gridCol w="4454547">
                  <a:extLst>
                    <a:ext uri="{9D8B030D-6E8A-4147-A177-3AD203B41FA5}">
                      <a16:colId xmlns:a16="http://schemas.microsoft.com/office/drawing/2014/main" val="2701619511"/>
                    </a:ext>
                  </a:extLst>
                </a:gridCol>
              </a:tblGrid>
              <a:tr h="0">
                <a:tc>
                  <a:txBody>
                    <a:bodyPr/>
                    <a:lstStyle/>
                    <a:p>
                      <a:pPr algn="ctr"/>
                      <a:r>
                        <a:rPr lang="zh-CN" altLang="en-US" sz="1600" dirty="0"/>
                        <a:t>函数</a:t>
                      </a:r>
                    </a:p>
                  </a:txBody>
                  <a:tcPr anchor="ctr"/>
                </a:tc>
                <a:tc>
                  <a:txBody>
                    <a:bodyPr/>
                    <a:lstStyle/>
                    <a:p>
                      <a:pPr algn="ctr"/>
                      <a:r>
                        <a:rPr lang="zh-CN" altLang="en-US" sz="1600" dirty="0"/>
                        <a:t>对应获取的信息</a:t>
                      </a:r>
                    </a:p>
                  </a:txBody>
                  <a:tcPr anchor="ctr"/>
                </a:tc>
                <a:extLst>
                  <a:ext uri="{0D108BD9-81ED-4DB2-BD59-A6C34878D82A}">
                    <a16:rowId xmlns:a16="http://schemas.microsoft.com/office/drawing/2014/main" val="947454988"/>
                  </a:ext>
                </a:extLst>
              </a:tr>
              <a:tr h="370840">
                <a:tc>
                  <a:txBody>
                    <a:bodyPr/>
                    <a:lstStyle/>
                    <a:p>
                      <a:pPr algn="ctr"/>
                      <a:r>
                        <a:rPr lang="en-US" altLang="zh-CN" sz="1600" i="1" dirty="0"/>
                        <a:t>dim()</a:t>
                      </a:r>
                      <a:endParaRPr lang="zh-CN" altLang="en-US" sz="1600" i="1" dirty="0"/>
                    </a:p>
                  </a:txBody>
                  <a:tcPr anchor="ctr"/>
                </a:tc>
                <a:tc>
                  <a:txBody>
                    <a:bodyPr/>
                    <a:lstStyle/>
                    <a:p>
                      <a:pPr algn="ctr"/>
                      <a:r>
                        <a:rPr lang="zh-CN" altLang="en-US" sz="1600" dirty="0"/>
                        <a:t>遥感影像的维度</a:t>
                      </a:r>
                    </a:p>
                  </a:txBody>
                  <a:tcPr anchor="ctr"/>
                </a:tc>
                <a:extLst>
                  <a:ext uri="{0D108BD9-81ED-4DB2-BD59-A6C34878D82A}">
                    <a16:rowId xmlns:a16="http://schemas.microsoft.com/office/drawing/2014/main" val="2039499929"/>
                  </a:ext>
                </a:extLst>
              </a:tr>
              <a:tr h="370840">
                <a:tc>
                  <a:txBody>
                    <a:bodyPr/>
                    <a:lstStyle/>
                    <a:p>
                      <a:pPr algn="ctr"/>
                      <a:r>
                        <a:rPr lang="en-US" altLang="zh-CN" sz="1600" i="1" dirty="0" err="1"/>
                        <a:t>ncell</a:t>
                      </a:r>
                      <a:r>
                        <a:rPr lang="en-US" altLang="zh-CN" sz="1600" i="1" dirty="0"/>
                        <a:t>()</a:t>
                      </a:r>
                      <a:endParaRPr lang="zh-CN" altLang="en-US" sz="1600" i="1" dirty="0"/>
                    </a:p>
                  </a:txBody>
                  <a:tcPr anchor="ctr"/>
                </a:tc>
                <a:tc>
                  <a:txBody>
                    <a:bodyPr/>
                    <a:lstStyle/>
                    <a:p>
                      <a:pPr algn="ctr"/>
                      <a:r>
                        <a:rPr lang="zh-CN" altLang="en-US" sz="1600" dirty="0"/>
                        <a:t>栅格单元总数（行数与列数的乘积）</a:t>
                      </a:r>
                    </a:p>
                  </a:txBody>
                  <a:tcPr anchor="ctr"/>
                </a:tc>
                <a:extLst>
                  <a:ext uri="{0D108BD9-81ED-4DB2-BD59-A6C34878D82A}">
                    <a16:rowId xmlns:a16="http://schemas.microsoft.com/office/drawing/2014/main" val="1824037468"/>
                  </a:ext>
                </a:extLst>
              </a:tr>
              <a:tr h="370840">
                <a:tc>
                  <a:txBody>
                    <a:bodyPr/>
                    <a:lstStyle/>
                    <a:p>
                      <a:pPr algn="ctr"/>
                      <a:r>
                        <a:rPr lang="en-US" altLang="zh-CN" sz="1600" i="1" dirty="0" err="1"/>
                        <a:t>nlyr</a:t>
                      </a:r>
                      <a:r>
                        <a:rPr lang="en-US" altLang="zh-CN" sz="1600" i="1" dirty="0"/>
                        <a:t>()</a:t>
                      </a:r>
                      <a:endParaRPr lang="zh-CN" altLang="en-US" sz="1600" i="1" dirty="0"/>
                    </a:p>
                  </a:txBody>
                  <a:tcPr anchor="ctr"/>
                </a:tc>
                <a:tc>
                  <a:txBody>
                    <a:bodyPr/>
                    <a:lstStyle/>
                    <a:p>
                      <a:pPr algn="ctr"/>
                      <a:r>
                        <a:rPr lang="zh-CN" altLang="en-US" sz="1600" dirty="0"/>
                        <a:t>栅格数据的层数（遥感影像的波段数）</a:t>
                      </a:r>
                    </a:p>
                  </a:txBody>
                  <a:tcPr anchor="ctr"/>
                </a:tc>
                <a:extLst>
                  <a:ext uri="{0D108BD9-81ED-4DB2-BD59-A6C34878D82A}">
                    <a16:rowId xmlns:a16="http://schemas.microsoft.com/office/drawing/2014/main" val="1467319036"/>
                  </a:ext>
                </a:extLst>
              </a:tr>
              <a:tr h="370840">
                <a:tc>
                  <a:txBody>
                    <a:bodyPr/>
                    <a:lstStyle/>
                    <a:p>
                      <a:pPr algn="ctr"/>
                      <a:r>
                        <a:rPr lang="en-US" altLang="zh-CN" sz="1600" i="1" dirty="0"/>
                        <a:t>names()</a:t>
                      </a:r>
                      <a:endParaRPr lang="zh-CN" altLang="en-US" sz="1600" i="1" dirty="0"/>
                    </a:p>
                  </a:txBody>
                  <a:tcPr anchor="ctr"/>
                </a:tc>
                <a:tc>
                  <a:txBody>
                    <a:bodyPr/>
                    <a:lstStyle/>
                    <a:p>
                      <a:pPr algn="ctr"/>
                      <a:r>
                        <a:rPr lang="zh-CN" altLang="en-US" sz="1600" dirty="0"/>
                        <a:t>波段的名称</a:t>
                      </a:r>
                    </a:p>
                  </a:txBody>
                  <a:tcPr anchor="ctr"/>
                </a:tc>
                <a:extLst>
                  <a:ext uri="{0D108BD9-81ED-4DB2-BD59-A6C34878D82A}">
                    <a16:rowId xmlns:a16="http://schemas.microsoft.com/office/drawing/2014/main" val="1023015711"/>
                  </a:ext>
                </a:extLst>
              </a:tr>
              <a:tr h="370840">
                <a:tc>
                  <a:txBody>
                    <a:bodyPr/>
                    <a:lstStyle/>
                    <a:p>
                      <a:pPr algn="ctr"/>
                      <a:r>
                        <a:rPr lang="en-US" altLang="zh-CN" sz="1600" i="1" dirty="0"/>
                        <a:t>res()</a:t>
                      </a:r>
                      <a:endParaRPr lang="zh-CN" altLang="en-US" sz="1600" i="1" dirty="0"/>
                    </a:p>
                  </a:txBody>
                  <a:tcPr anchor="ctr"/>
                </a:tc>
                <a:tc>
                  <a:txBody>
                    <a:bodyPr/>
                    <a:lstStyle/>
                    <a:p>
                      <a:pPr algn="ctr"/>
                      <a:r>
                        <a:rPr lang="zh-CN" altLang="en-US" sz="1600" dirty="0"/>
                        <a:t>遥感影像的分辨率</a:t>
                      </a:r>
                    </a:p>
                  </a:txBody>
                  <a:tcPr anchor="ctr"/>
                </a:tc>
                <a:extLst>
                  <a:ext uri="{0D108BD9-81ED-4DB2-BD59-A6C34878D82A}">
                    <a16:rowId xmlns:a16="http://schemas.microsoft.com/office/drawing/2014/main" val="209999736"/>
                  </a:ext>
                </a:extLst>
              </a:tr>
              <a:tr h="370840">
                <a:tc>
                  <a:txBody>
                    <a:bodyPr/>
                    <a:lstStyle/>
                    <a:p>
                      <a:pPr algn="ctr"/>
                      <a:r>
                        <a:rPr lang="en-US" altLang="zh-CN" sz="1600" i="1" dirty="0" err="1"/>
                        <a:t>crs</a:t>
                      </a:r>
                      <a:r>
                        <a:rPr lang="en-US" altLang="zh-CN" sz="1600" i="1" dirty="0"/>
                        <a:t>()</a:t>
                      </a:r>
                      <a:endParaRPr lang="zh-CN" altLang="en-US" sz="1600" i="1" dirty="0"/>
                    </a:p>
                  </a:txBody>
                  <a:tcPr anchor="ctr"/>
                </a:tc>
                <a:tc>
                  <a:txBody>
                    <a:bodyPr/>
                    <a:lstStyle/>
                    <a:p>
                      <a:pPr algn="ctr"/>
                      <a:r>
                        <a:rPr lang="zh-CN" altLang="en-US" sz="1600" dirty="0"/>
                        <a:t>遥感影像的坐标参考系</a:t>
                      </a:r>
                    </a:p>
                  </a:txBody>
                  <a:tcPr anchor="ctr"/>
                </a:tc>
                <a:extLst>
                  <a:ext uri="{0D108BD9-81ED-4DB2-BD59-A6C34878D82A}">
                    <a16:rowId xmlns:a16="http://schemas.microsoft.com/office/drawing/2014/main" val="420226270"/>
                  </a:ext>
                </a:extLst>
              </a:tr>
            </a:tbl>
          </a:graphicData>
        </a:graphic>
      </p:graphicFrame>
    </p:spTree>
    <p:extLst>
      <p:ext uri="{BB962C8B-B14F-4D97-AF65-F5344CB8AC3E}">
        <p14:creationId xmlns:p14="http://schemas.microsoft.com/office/powerpoint/2010/main" val="39301968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CAA80-802E-66E7-8D04-CD0DBFC7F490}"/>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EFADF967-EB2F-7FFE-2752-EE441D423D9F}"/>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4.4.1 </a:t>
            </a:r>
            <a:r>
              <a:rPr lang="zh-CN" altLang="en-US" sz="3600" dirty="0">
                <a:latin typeface="Times New Roman" panose="02020603050405020304" pitchFamily="18" charset="0"/>
                <a:cs typeface="Times New Roman" panose="02020603050405020304" pitchFamily="18" charset="0"/>
              </a:rPr>
              <a:t>影像信息统计</a:t>
            </a:r>
          </a:p>
        </p:txBody>
      </p:sp>
      <p:sp>
        <p:nvSpPr>
          <p:cNvPr id="8" name="灯片编号占位符 7">
            <a:extLst>
              <a:ext uri="{FF2B5EF4-FFF2-40B4-BE49-F238E27FC236}">
                <a16:creationId xmlns:a16="http://schemas.microsoft.com/office/drawing/2014/main" id="{E6D54F85-CA57-8EEC-1E7A-EB4A6BCB1C24}"/>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29</a:t>
            </a:fld>
            <a:endParaRPr lang="zh-CN" altLang="en-US" dirty="0">
              <a:solidFill>
                <a:schemeClr val="bg2">
                  <a:lumMod val="75000"/>
                </a:schemeClr>
              </a:solidFill>
            </a:endParaRPr>
          </a:p>
        </p:txBody>
      </p:sp>
      <p:sp>
        <p:nvSpPr>
          <p:cNvPr id="16" name="文本框 15">
            <a:extLst>
              <a:ext uri="{FF2B5EF4-FFF2-40B4-BE49-F238E27FC236}">
                <a16:creationId xmlns:a16="http://schemas.microsoft.com/office/drawing/2014/main" id="{DC5422BB-0358-5FAC-D209-2DA08C8B27E1}"/>
              </a:ext>
            </a:extLst>
          </p:cNvPr>
          <p:cNvSpPr txBox="1"/>
          <p:nvPr/>
        </p:nvSpPr>
        <p:spPr>
          <a:xfrm>
            <a:off x="9197" y="1793360"/>
            <a:ext cx="8252482" cy="458715"/>
          </a:xfrm>
          <a:prstGeom prst="rect">
            <a:avLst/>
          </a:prstGeom>
          <a:noFill/>
        </p:spPr>
        <p:txBody>
          <a:bodyPr wrap="square">
            <a:spAutoFit/>
          </a:bodyPr>
          <a:lstStyle/>
          <a:p>
            <a:pPr indent="457200" algn="just">
              <a:lnSpc>
                <a:spcPct val="150000"/>
              </a:lnSpc>
            </a:pPr>
            <a:r>
              <a:rPr lang="zh-CN" altLang="en-US" kern="0" dirty="0">
                <a:latin typeface="+mj-lt"/>
                <a:ea typeface="+mj-ea"/>
              </a:rPr>
              <a:t>使用列表中的函数，观察输出的信息</a:t>
            </a:r>
            <a:r>
              <a:rPr lang="zh-CN" altLang="en-US" kern="0" dirty="0">
                <a:effectLst/>
                <a:latin typeface="+mj-lt"/>
                <a:ea typeface="+mj-ea"/>
              </a:rPr>
              <a:t>：</a:t>
            </a:r>
            <a:endParaRPr lang="en-US" altLang="zh-CN" kern="0" dirty="0">
              <a:effectLst/>
              <a:latin typeface="+mj-lt"/>
              <a:ea typeface="+mj-ea"/>
              <a:cs typeface="Times New Roman" panose="02020603050405020304" pitchFamily="18" charset="0"/>
            </a:endParaRPr>
          </a:p>
        </p:txBody>
      </p:sp>
      <p:sp>
        <p:nvSpPr>
          <p:cNvPr id="3" name="文本框 2">
            <a:extLst>
              <a:ext uri="{FF2B5EF4-FFF2-40B4-BE49-F238E27FC236}">
                <a16:creationId xmlns:a16="http://schemas.microsoft.com/office/drawing/2014/main" id="{6F8A4EBC-7BDB-D7B5-3C69-20F4E6557EC0}"/>
              </a:ext>
            </a:extLst>
          </p:cNvPr>
          <p:cNvSpPr txBox="1"/>
          <p:nvPr/>
        </p:nvSpPr>
        <p:spPr>
          <a:xfrm>
            <a:off x="506741" y="2547175"/>
            <a:ext cx="2034518" cy="1569660"/>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dim(r)</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ncell</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(r)</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nlyr</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(r)</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names(r)</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res(r)</a:t>
            </a:r>
            <a:endParaRPr lang="zh-CN" altLang="zh-CN" sz="1600" dirty="0">
              <a:effectLst/>
              <a:latin typeface="Times New Roman" panose="02020603050405020304" pitchFamily="18" charset="0"/>
              <a:ea typeface="宋体" panose="02010600030101010101" pitchFamily="2" charset="-122"/>
            </a:endParaRPr>
          </a:p>
          <a:p>
            <a:pPr indent="127000" algn="l"/>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crs</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(r)</a:t>
            </a:r>
            <a:endParaRPr lang="zh-CN" altLang="zh-CN" sz="1600" dirty="0">
              <a:effectLst/>
              <a:latin typeface="Times New Roman" panose="02020603050405020304" pitchFamily="18" charset="0"/>
              <a:ea typeface="宋体" panose="02010600030101010101" pitchFamily="2" charset="-122"/>
            </a:endParaRPr>
          </a:p>
        </p:txBody>
      </p:sp>
      <p:pic>
        <p:nvPicPr>
          <p:cNvPr id="4" name="图片 3">
            <a:extLst>
              <a:ext uri="{FF2B5EF4-FFF2-40B4-BE49-F238E27FC236}">
                <a16:creationId xmlns:a16="http://schemas.microsoft.com/office/drawing/2014/main" id="{E8E40579-46E4-53F0-A036-0C9549E30B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12996" y="2547175"/>
            <a:ext cx="6708235" cy="2825115"/>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6574894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DFEA3B-A76B-9C5D-FA23-DDF172D63865}"/>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BA79CBEA-2FCD-3157-3354-801CC4B38C15}"/>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4.4.2 </a:t>
            </a:r>
            <a:r>
              <a:rPr lang="zh-CN" altLang="en-US" sz="3600" dirty="0">
                <a:latin typeface="Times New Roman" panose="02020603050405020304" pitchFamily="18" charset="0"/>
                <a:cs typeface="Times New Roman" panose="02020603050405020304" pitchFamily="18" charset="0"/>
              </a:rPr>
              <a:t>遥感影像波段信息分析</a:t>
            </a:r>
          </a:p>
        </p:txBody>
      </p:sp>
      <p:sp>
        <p:nvSpPr>
          <p:cNvPr id="8" name="灯片编号占位符 7">
            <a:extLst>
              <a:ext uri="{FF2B5EF4-FFF2-40B4-BE49-F238E27FC236}">
                <a16:creationId xmlns:a16="http://schemas.microsoft.com/office/drawing/2014/main" id="{712C8E31-715D-7628-4BB1-68DD6C1AFCA5}"/>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30</a:t>
            </a:fld>
            <a:endParaRPr lang="zh-CN" altLang="en-US" dirty="0">
              <a:solidFill>
                <a:schemeClr val="bg2">
                  <a:lumMod val="75000"/>
                </a:schemeClr>
              </a:solidFill>
            </a:endParaRPr>
          </a:p>
        </p:txBody>
      </p:sp>
      <p:sp>
        <p:nvSpPr>
          <p:cNvPr id="16" name="文本框 15">
            <a:extLst>
              <a:ext uri="{FF2B5EF4-FFF2-40B4-BE49-F238E27FC236}">
                <a16:creationId xmlns:a16="http://schemas.microsoft.com/office/drawing/2014/main" id="{3DBFF102-E882-7121-34A4-66E0CFDED9CF}"/>
              </a:ext>
            </a:extLst>
          </p:cNvPr>
          <p:cNvSpPr txBox="1"/>
          <p:nvPr/>
        </p:nvSpPr>
        <p:spPr>
          <a:xfrm>
            <a:off x="445759" y="1598166"/>
            <a:ext cx="8252482" cy="2536207"/>
          </a:xfrm>
          <a:prstGeom prst="rect">
            <a:avLst/>
          </a:prstGeom>
          <a:noFill/>
        </p:spPr>
        <p:txBody>
          <a:bodyPr wrap="square">
            <a:spAutoFit/>
          </a:bodyPr>
          <a:lstStyle/>
          <a:p>
            <a:pPr indent="457200" algn="just">
              <a:lnSpc>
                <a:spcPct val="150000"/>
              </a:lnSpc>
            </a:pPr>
            <a:r>
              <a:rPr lang="zh-CN" altLang="en-US" kern="0" dirty="0">
                <a:effectLst/>
                <a:latin typeface="+mj-lt"/>
                <a:ea typeface="+mj-ea"/>
                <a:cs typeface="Times New Roman" panose="02020603050405020304" pitchFamily="18" charset="0"/>
              </a:rPr>
              <a:t>观察前面</a:t>
            </a:r>
            <a:r>
              <a:rPr lang="en-US" altLang="zh-CN" b="1" i="1" kern="0" dirty="0" err="1">
                <a:effectLst/>
                <a:latin typeface="+mj-lt"/>
                <a:ea typeface="+mj-ea"/>
                <a:cs typeface="Times New Roman" panose="02020603050405020304" pitchFamily="18" charset="0"/>
              </a:rPr>
              <a:t>nlyr</a:t>
            </a:r>
            <a:r>
              <a:rPr lang="en-US" altLang="zh-CN" b="1" i="1" kern="0" dirty="0">
                <a:effectLst/>
                <a:latin typeface="+mj-lt"/>
                <a:ea typeface="+mj-ea"/>
                <a:cs typeface="Times New Roman" panose="02020603050405020304" pitchFamily="18" charset="0"/>
              </a:rPr>
              <a:t>()</a:t>
            </a:r>
            <a:r>
              <a:rPr lang="zh-CN" altLang="en-US" kern="0" dirty="0">
                <a:effectLst/>
                <a:latin typeface="+mj-lt"/>
                <a:ea typeface="+mj-ea"/>
                <a:cs typeface="Times New Roman" panose="02020603050405020304" pitchFamily="18" charset="0"/>
              </a:rPr>
              <a:t>和</a:t>
            </a:r>
            <a:r>
              <a:rPr lang="en-US" altLang="zh-CN" b="1" i="1" kern="0" dirty="0">
                <a:effectLst/>
                <a:latin typeface="+mj-lt"/>
                <a:ea typeface="+mj-ea"/>
                <a:cs typeface="Times New Roman" panose="02020603050405020304" pitchFamily="18" charset="0"/>
              </a:rPr>
              <a:t>names()</a:t>
            </a:r>
            <a:r>
              <a:rPr lang="zh-CN" altLang="en-US" kern="0" dirty="0">
                <a:effectLst/>
                <a:latin typeface="+mj-lt"/>
                <a:ea typeface="+mj-ea"/>
                <a:cs typeface="Times New Roman" panose="02020603050405020304" pitchFamily="18" charset="0"/>
              </a:rPr>
              <a:t>函数的输出可以获得该幅遥感影像的波段数和各波段图层的名称，这幅遥感影像中，有</a:t>
            </a:r>
            <a:r>
              <a:rPr lang="en-US" altLang="zh-CN" b="1" kern="0" dirty="0">
                <a:effectLst/>
                <a:latin typeface="+mj-lt"/>
                <a:ea typeface="+mj-ea"/>
                <a:cs typeface="Times New Roman" panose="02020603050405020304" pitchFamily="18" charset="0"/>
              </a:rPr>
              <a:t>13</a:t>
            </a:r>
            <a:r>
              <a:rPr lang="zh-CN" altLang="en-US" kern="0" dirty="0">
                <a:effectLst/>
                <a:latin typeface="+mj-lt"/>
                <a:ea typeface="+mj-ea"/>
                <a:cs typeface="Times New Roman" panose="02020603050405020304" pitchFamily="18" charset="0"/>
              </a:rPr>
              <a:t>个波段信息图层，分别代表红光（</a:t>
            </a:r>
            <a:r>
              <a:rPr lang="en-US" altLang="zh-CN" kern="0" dirty="0">
                <a:effectLst/>
                <a:latin typeface="+mj-lt"/>
                <a:ea typeface="+mj-ea"/>
                <a:cs typeface="Times New Roman" panose="02020603050405020304" pitchFamily="18" charset="0"/>
              </a:rPr>
              <a:t>620-670nm</a:t>
            </a:r>
            <a:r>
              <a:rPr lang="zh-CN" altLang="en-US" kern="0" dirty="0">
                <a:effectLst/>
                <a:latin typeface="+mj-lt"/>
                <a:ea typeface="+mj-ea"/>
                <a:cs typeface="Times New Roman" panose="02020603050405020304" pitchFamily="18" charset="0"/>
              </a:rPr>
              <a:t>）、近红外（</a:t>
            </a:r>
            <a:r>
              <a:rPr lang="en-US" altLang="zh-CN" kern="0" dirty="0">
                <a:effectLst/>
                <a:latin typeface="+mj-lt"/>
                <a:ea typeface="+mj-ea"/>
                <a:cs typeface="Times New Roman" panose="02020603050405020304" pitchFamily="18" charset="0"/>
              </a:rPr>
              <a:t>841-876nm</a:t>
            </a:r>
            <a:r>
              <a:rPr lang="zh-CN" altLang="en-US" kern="0" dirty="0">
                <a:effectLst/>
                <a:latin typeface="+mj-lt"/>
                <a:ea typeface="+mj-ea"/>
                <a:cs typeface="Times New Roman" panose="02020603050405020304" pitchFamily="18" charset="0"/>
              </a:rPr>
              <a:t>）、蓝光（</a:t>
            </a:r>
            <a:r>
              <a:rPr lang="en-US" altLang="zh-CN" kern="0" dirty="0">
                <a:effectLst/>
                <a:latin typeface="+mj-lt"/>
                <a:ea typeface="+mj-ea"/>
                <a:cs typeface="Times New Roman" panose="02020603050405020304" pitchFamily="18" charset="0"/>
              </a:rPr>
              <a:t>459-479nm</a:t>
            </a:r>
            <a:r>
              <a:rPr lang="zh-CN" altLang="en-US" kern="0" dirty="0">
                <a:effectLst/>
                <a:latin typeface="+mj-lt"/>
                <a:ea typeface="+mj-ea"/>
                <a:cs typeface="Times New Roman" panose="02020603050405020304" pitchFamily="18" charset="0"/>
              </a:rPr>
              <a:t>）、绿光（</a:t>
            </a:r>
            <a:r>
              <a:rPr lang="en-US" altLang="zh-CN" kern="0" dirty="0">
                <a:effectLst/>
                <a:latin typeface="+mj-lt"/>
                <a:ea typeface="+mj-ea"/>
                <a:cs typeface="Times New Roman" panose="02020603050405020304" pitchFamily="18" charset="0"/>
              </a:rPr>
              <a:t>545-565nm</a:t>
            </a:r>
            <a:r>
              <a:rPr lang="zh-CN" altLang="en-US" kern="0" dirty="0">
                <a:effectLst/>
                <a:latin typeface="+mj-lt"/>
                <a:ea typeface="+mj-ea"/>
                <a:cs typeface="Times New Roman" panose="02020603050405020304" pitchFamily="18" charset="0"/>
              </a:rPr>
              <a:t>）、近红外（</a:t>
            </a:r>
            <a:r>
              <a:rPr lang="en-US" altLang="zh-CN" kern="0" dirty="0">
                <a:effectLst/>
                <a:latin typeface="+mj-lt"/>
                <a:ea typeface="+mj-ea"/>
                <a:cs typeface="Times New Roman" panose="02020603050405020304" pitchFamily="18" charset="0"/>
              </a:rPr>
              <a:t>1230-1250nm</a:t>
            </a:r>
            <a:r>
              <a:rPr lang="zh-CN" altLang="en-US" kern="0" dirty="0">
                <a:effectLst/>
                <a:latin typeface="+mj-lt"/>
                <a:ea typeface="+mj-ea"/>
                <a:cs typeface="Times New Roman" panose="02020603050405020304" pitchFamily="18" charset="0"/>
              </a:rPr>
              <a:t>）、短波红外（</a:t>
            </a:r>
            <a:r>
              <a:rPr lang="en-US" altLang="zh-CN" kern="0" dirty="0">
                <a:effectLst/>
                <a:latin typeface="+mj-lt"/>
                <a:ea typeface="+mj-ea"/>
                <a:cs typeface="Times New Roman" panose="02020603050405020304" pitchFamily="18" charset="0"/>
              </a:rPr>
              <a:t>1628-1652nm</a:t>
            </a:r>
            <a:r>
              <a:rPr lang="zh-CN" altLang="en-US" kern="0" dirty="0">
                <a:effectLst/>
                <a:latin typeface="+mj-lt"/>
                <a:ea typeface="+mj-ea"/>
                <a:cs typeface="Times New Roman" panose="02020603050405020304" pitchFamily="18" charset="0"/>
              </a:rPr>
              <a:t>）、短波红外（</a:t>
            </a:r>
            <a:r>
              <a:rPr lang="en-US" altLang="zh-CN" kern="0" dirty="0">
                <a:effectLst/>
                <a:latin typeface="+mj-lt"/>
                <a:ea typeface="+mj-ea"/>
                <a:cs typeface="Times New Roman" panose="02020603050405020304" pitchFamily="18" charset="0"/>
              </a:rPr>
              <a:t>2105-2155nm</a:t>
            </a:r>
            <a:r>
              <a:rPr lang="zh-CN" altLang="en-US" kern="0" dirty="0">
                <a:effectLst/>
                <a:latin typeface="+mj-lt"/>
                <a:ea typeface="+mj-ea"/>
                <a:cs typeface="Times New Roman" panose="02020603050405020304" pitchFamily="18" charset="0"/>
              </a:rPr>
              <a:t>）波段以及表面反射率质量控制信息（</a:t>
            </a:r>
            <a:r>
              <a:rPr lang="en-US" altLang="zh-CN" kern="0" dirty="0">
                <a:effectLst/>
                <a:latin typeface="+mj-lt"/>
                <a:ea typeface="+mj-ea"/>
                <a:cs typeface="Times New Roman" panose="02020603050405020304" pitchFamily="18" charset="0"/>
              </a:rPr>
              <a:t>500</a:t>
            </a:r>
            <a:r>
              <a:rPr lang="zh-CN" altLang="en-US" kern="0" dirty="0">
                <a:effectLst/>
                <a:latin typeface="+mj-lt"/>
                <a:ea typeface="+mj-ea"/>
                <a:cs typeface="Times New Roman" panose="02020603050405020304" pitchFamily="18" charset="0"/>
              </a:rPr>
              <a:t>米分辨率）、太阳天顶角、观测天顶角、相对方位角、表面反射率状态信息（</a:t>
            </a:r>
            <a:r>
              <a:rPr lang="en-US" altLang="zh-CN" kern="0" dirty="0">
                <a:effectLst/>
                <a:latin typeface="+mj-lt"/>
                <a:ea typeface="+mj-ea"/>
                <a:cs typeface="Times New Roman" panose="02020603050405020304" pitchFamily="18" charset="0"/>
              </a:rPr>
              <a:t>500</a:t>
            </a:r>
            <a:r>
              <a:rPr lang="zh-CN" altLang="en-US" kern="0" dirty="0">
                <a:effectLst/>
                <a:latin typeface="+mj-lt"/>
                <a:ea typeface="+mj-ea"/>
                <a:cs typeface="Times New Roman" panose="02020603050405020304" pitchFamily="18" charset="0"/>
              </a:rPr>
              <a:t>米分辨率）以及年内日序号</a:t>
            </a:r>
            <a:r>
              <a:rPr lang="zh-CN" altLang="en-US" kern="0" dirty="0">
                <a:latin typeface="+mj-lt"/>
                <a:ea typeface="+mj-ea"/>
                <a:cs typeface="Times New Roman" panose="02020603050405020304" pitchFamily="18" charset="0"/>
              </a:rPr>
              <a:t>。</a:t>
            </a:r>
            <a:endParaRPr lang="en-US" altLang="zh-CN" kern="0" dirty="0">
              <a:effectLst/>
              <a:latin typeface="+mj-lt"/>
              <a:ea typeface="+mj-ea"/>
              <a:cs typeface="Times New Roman" panose="02020603050405020304" pitchFamily="18" charset="0"/>
            </a:endParaRPr>
          </a:p>
        </p:txBody>
      </p:sp>
      <p:pic>
        <p:nvPicPr>
          <p:cNvPr id="2" name="图片 1">
            <a:extLst>
              <a:ext uri="{FF2B5EF4-FFF2-40B4-BE49-F238E27FC236}">
                <a16:creationId xmlns:a16="http://schemas.microsoft.com/office/drawing/2014/main" id="{201A61C7-ECA7-C1F6-EA17-B80A6EAB6CDA}"/>
              </a:ext>
            </a:extLst>
          </p:cNvPr>
          <p:cNvPicPr>
            <a:picLocks noChangeAspect="1"/>
          </p:cNvPicPr>
          <p:nvPr/>
        </p:nvPicPr>
        <p:blipFill>
          <a:blip r:embed="rId2">
            <a:extLst>
              <a:ext uri="{28A0092B-C50C-407E-A947-70E740481C1C}">
                <a14:useLocalDpi xmlns:a14="http://schemas.microsoft.com/office/drawing/2010/main" val="0"/>
              </a:ext>
            </a:extLst>
          </a:blip>
          <a:srcRect t="16589" b="53945"/>
          <a:stretch/>
        </p:blipFill>
        <p:spPr>
          <a:xfrm>
            <a:off x="1217882" y="4563122"/>
            <a:ext cx="6708235" cy="832468"/>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9859716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8885D4-FA95-12BC-E209-582BC8E3AD31}"/>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4E48E0D7-A937-264D-2220-E98A8F68A499}"/>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4.4.2 </a:t>
            </a:r>
            <a:r>
              <a:rPr lang="zh-CN" altLang="en-US" sz="3600" dirty="0">
                <a:latin typeface="Times New Roman" panose="02020603050405020304" pitchFamily="18" charset="0"/>
                <a:cs typeface="Times New Roman" panose="02020603050405020304" pitchFamily="18" charset="0"/>
              </a:rPr>
              <a:t>遥感影像波段信息分析</a:t>
            </a:r>
          </a:p>
        </p:txBody>
      </p:sp>
      <p:sp>
        <p:nvSpPr>
          <p:cNvPr id="8" name="灯片编号占位符 7">
            <a:extLst>
              <a:ext uri="{FF2B5EF4-FFF2-40B4-BE49-F238E27FC236}">
                <a16:creationId xmlns:a16="http://schemas.microsoft.com/office/drawing/2014/main" id="{B6928D0A-0C2F-8D3E-8BD6-9706BC4C9AE2}"/>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31</a:t>
            </a:fld>
            <a:endParaRPr lang="zh-CN" altLang="en-US" dirty="0">
              <a:solidFill>
                <a:schemeClr val="bg2">
                  <a:lumMod val="75000"/>
                </a:schemeClr>
              </a:solidFill>
            </a:endParaRPr>
          </a:p>
        </p:txBody>
      </p:sp>
      <p:sp>
        <p:nvSpPr>
          <p:cNvPr id="16" name="文本框 15">
            <a:extLst>
              <a:ext uri="{FF2B5EF4-FFF2-40B4-BE49-F238E27FC236}">
                <a16:creationId xmlns:a16="http://schemas.microsoft.com/office/drawing/2014/main" id="{385DDDD4-09B0-47B9-57BA-37C7638FF708}"/>
              </a:ext>
            </a:extLst>
          </p:cNvPr>
          <p:cNvSpPr txBox="1"/>
          <p:nvPr/>
        </p:nvSpPr>
        <p:spPr>
          <a:xfrm>
            <a:off x="445759" y="1985664"/>
            <a:ext cx="8252482" cy="1289712"/>
          </a:xfrm>
          <a:prstGeom prst="rect">
            <a:avLst/>
          </a:prstGeom>
          <a:noFill/>
        </p:spPr>
        <p:txBody>
          <a:bodyPr wrap="square">
            <a:spAutoFit/>
          </a:bodyPr>
          <a:lstStyle/>
          <a:p>
            <a:pPr indent="457200" algn="just">
              <a:lnSpc>
                <a:spcPct val="150000"/>
              </a:lnSpc>
            </a:pPr>
            <a:r>
              <a:rPr lang="zh-CN" altLang="en-US" kern="0" dirty="0">
                <a:effectLst/>
                <a:latin typeface="+mj-lt"/>
                <a:ea typeface="+mj-ea"/>
                <a:cs typeface="Times New Roman" panose="02020603050405020304" pitchFamily="18" charset="0"/>
              </a:rPr>
              <a:t>可使用基础的</a:t>
            </a:r>
            <a:r>
              <a:rPr lang="en-US" altLang="zh-CN" b="1" i="1" kern="0" dirty="0">
                <a:effectLst/>
                <a:latin typeface="+mj-lt"/>
                <a:ea typeface="+mj-ea"/>
                <a:cs typeface="Times New Roman" panose="02020603050405020304" pitchFamily="18" charset="0"/>
              </a:rPr>
              <a:t>plot</a:t>
            </a:r>
            <a:r>
              <a:rPr lang="zh-CN" altLang="en-US" kern="0" dirty="0">
                <a:effectLst/>
                <a:latin typeface="+mj-lt"/>
                <a:ea typeface="+mj-ea"/>
                <a:cs typeface="Times New Roman" panose="02020603050405020304" pitchFamily="18" charset="0"/>
              </a:rPr>
              <a:t>函数绘制遥感影像数据中的红光、蓝光、绿光和近红外波段的</a:t>
            </a:r>
            <a:r>
              <a:rPr lang="zh-CN" altLang="en-US" b="1" kern="0" dirty="0">
                <a:effectLst/>
                <a:latin typeface="+mj-lt"/>
                <a:ea typeface="+mj-ea"/>
                <a:cs typeface="Times New Roman" panose="02020603050405020304" pitchFamily="18" charset="0"/>
              </a:rPr>
              <a:t>单波段图像</a:t>
            </a:r>
            <a:r>
              <a:rPr lang="zh-CN" altLang="en-US" kern="0" dirty="0">
                <a:effectLst/>
                <a:latin typeface="+mj-lt"/>
                <a:ea typeface="+mj-ea"/>
                <a:cs typeface="Times New Roman" panose="02020603050405020304" pitchFamily="18" charset="0"/>
              </a:rPr>
              <a:t>，并通过</a:t>
            </a:r>
            <a:r>
              <a:rPr lang="en-US" altLang="zh-CN" kern="0" dirty="0">
                <a:effectLst/>
                <a:latin typeface="+mj-lt"/>
                <a:ea typeface="+mj-ea"/>
                <a:cs typeface="Times New Roman" panose="02020603050405020304" pitchFamily="18" charset="0"/>
              </a:rPr>
              <a:t>col</a:t>
            </a:r>
            <a:r>
              <a:rPr lang="zh-CN" altLang="en-US" kern="0" dirty="0">
                <a:effectLst/>
                <a:latin typeface="+mj-lt"/>
                <a:ea typeface="+mj-ea"/>
                <a:cs typeface="Times New Roman" panose="02020603050405020304" pitchFamily="18" charset="0"/>
              </a:rPr>
              <a:t>参数</a:t>
            </a:r>
            <a:r>
              <a:rPr lang="zh-CN" altLang="en-US" b="1" kern="0" dirty="0">
                <a:effectLst/>
                <a:latin typeface="+mj-lt"/>
                <a:ea typeface="+mj-ea"/>
                <a:cs typeface="Times New Roman" panose="02020603050405020304" pitchFamily="18" charset="0"/>
              </a:rPr>
              <a:t>指定灰度配色</a:t>
            </a:r>
            <a:r>
              <a:rPr lang="zh-CN" altLang="en-US" kern="0" dirty="0">
                <a:effectLst/>
                <a:latin typeface="+mj-lt"/>
                <a:ea typeface="+mj-ea"/>
                <a:cs typeface="Times New Roman" panose="02020603050405020304" pitchFamily="18" charset="0"/>
              </a:rPr>
              <a:t>，图像中越低的数值对应越暗的颜色，越高的数值则对应越亮的颜色</a:t>
            </a:r>
            <a:r>
              <a:rPr lang="zh-CN" altLang="en-US" kern="0" dirty="0">
                <a:latin typeface="+mj-lt"/>
                <a:ea typeface="+mj-ea"/>
                <a:cs typeface="Times New Roman" panose="02020603050405020304" pitchFamily="18" charset="0"/>
              </a:rPr>
              <a:t>：</a:t>
            </a:r>
            <a:endParaRPr lang="en-US" altLang="zh-CN" kern="0" dirty="0">
              <a:effectLst/>
              <a:latin typeface="+mj-lt"/>
              <a:ea typeface="+mj-ea"/>
              <a:cs typeface="Times New Roman" panose="02020603050405020304" pitchFamily="18" charset="0"/>
            </a:endParaRPr>
          </a:p>
        </p:txBody>
      </p:sp>
      <p:sp>
        <p:nvSpPr>
          <p:cNvPr id="3" name="文本框 2">
            <a:extLst>
              <a:ext uri="{FF2B5EF4-FFF2-40B4-BE49-F238E27FC236}">
                <a16:creationId xmlns:a16="http://schemas.microsoft.com/office/drawing/2014/main" id="{138F09C3-AD25-CCAE-EB68-803CC7135314}"/>
              </a:ext>
            </a:extLst>
          </p:cNvPr>
          <p:cNvSpPr txBox="1"/>
          <p:nvPr/>
        </p:nvSpPr>
        <p:spPr>
          <a:xfrm>
            <a:off x="914400" y="3465847"/>
            <a:ext cx="7010400" cy="1569660"/>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par(</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mfrow</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 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plot(r[[</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main = </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"Red"</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col = gray(</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a:t>
            </a:r>
            <a:r>
              <a:rPr lang="en-US" altLang="zh-CN" sz="16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100</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 </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100</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plot(r[[</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main = </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"Blue"</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col = gray(</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a:t>
            </a:r>
            <a:r>
              <a:rPr lang="en-US" altLang="zh-CN" sz="16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100</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 </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100</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plot(r[[</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main = </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"Green"</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col = gray(</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a:t>
            </a:r>
            <a:r>
              <a:rPr lang="en-US" altLang="zh-CN" sz="16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100</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 </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100</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plot(r[[</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main = </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"NIR"</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col = gray(</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a:t>
            </a:r>
            <a:r>
              <a:rPr lang="en-US" altLang="zh-CN" sz="16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100</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 </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100</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par(</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mfrow</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 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p:txBody>
      </p:sp>
      <p:sp>
        <p:nvSpPr>
          <p:cNvPr id="4" name="文本框 3">
            <a:extLst>
              <a:ext uri="{FF2B5EF4-FFF2-40B4-BE49-F238E27FC236}">
                <a16:creationId xmlns:a16="http://schemas.microsoft.com/office/drawing/2014/main" id="{EF71269B-E2DC-EF1F-64F4-FAC76C7B3C0C}"/>
              </a:ext>
            </a:extLst>
          </p:cNvPr>
          <p:cNvSpPr txBox="1"/>
          <p:nvPr/>
        </p:nvSpPr>
        <p:spPr>
          <a:xfrm>
            <a:off x="457200" y="1459380"/>
            <a:ext cx="1850186" cy="400110"/>
          </a:xfrm>
          <a:prstGeom prst="rect">
            <a:avLst/>
          </a:prstGeom>
          <a:noFill/>
        </p:spPr>
        <p:txBody>
          <a:bodyPr wrap="none" rtlCol="0">
            <a:spAutoFit/>
          </a:bodyPr>
          <a:lstStyle/>
          <a:p>
            <a:r>
              <a:rPr lang="en-US" altLang="zh-CN" sz="2000" b="1" dirty="0">
                <a:latin typeface="+mj-lt"/>
                <a:ea typeface="+mj-ea"/>
              </a:rPr>
              <a:t>(1) </a:t>
            </a:r>
            <a:r>
              <a:rPr lang="zh-CN" altLang="en-US" sz="2000" b="1" dirty="0">
                <a:latin typeface="+mj-lt"/>
                <a:ea typeface="+mj-ea"/>
              </a:rPr>
              <a:t>单波段绘制</a:t>
            </a:r>
          </a:p>
        </p:txBody>
      </p:sp>
    </p:spTree>
    <p:extLst>
      <p:ext uri="{BB962C8B-B14F-4D97-AF65-F5344CB8AC3E}">
        <p14:creationId xmlns:p14="http://schemas.microsoft.com/office/powerpoint/2010/main" val="7375406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983B3-3AC6-6A21-7FCB-C9B4B1FF68C1}"/>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37A96E18-5BD2-F916-0F3F-FD46D03D71BA}"/>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4.4.2 </a:t>
            </a:r>
            <a:r>
              <a:rPr lang="zh-CN" altLang="en-US" sz="3600" dirty="0">
                <a:latin typeface="Times New Roman" panose="02020603050405020304" pitchFamily="18" charset="0"/>
                <a:cs typeface="Times New Roman" panose="02020603050405020304" pitchFamily="18" charset="0"/>
              </a:rPr>
              <a:t>遥感影像波段信息分析</a:t>
            </a:r>
          </a:p>
        </p:txBody>
      </p:sp>
      <p:sp>
        <p:nvSpPr>
          <p:cNvPr id="8" name="灯片编号占位符 7">
            <a:extLst>
              <a:ext uri="{FF2B5EF4-FFF2-40B4-BE49-F238E27FC236}">
                <a16:creationId xmlns:a16="http://schemas.microsoft.com/office/drawing/2014/main" id="{7DA13D4F-587E-748C-D517-5DB19A69A3D1}"/>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32</a:t>
            </a:fld>
            <a:endParaRPr lang="zh-CN" altLang="en-US" dirty="0">
              <a:solidFill>
                <a:schemeClr val="bg2">
                  <a:lumMod val="75000"/>
                </a:schemeClr>
              </a:solidFill>
            </a:endParaRPr>
          </a:p>
        </p:txBody>
      </p:sp>
      <p:sp>
        <p:nvSpPr>
          <p:cNvPr id="16" name="文本框 15">
            <a:extLst>
              <a:ext uri="{FF2B5EF4-FFF2-40B4-BE49-F238E27FC236}">
                <a16:creationId xmlns:a16="http://schemas.microsoft.com/office/drawing/2014/main" id="{3285F5BD-3143-10FD-4541-677979287BC0}"/>
              </a:ext>
            </a:extLst>
          </p:cNvPr>
          <p:cNvSpPr txBox="1"/>
          <p:nvPr/>
        </p:nvSpPr>
        <p:spPr>
          <a:xfrm>
            <a:off x="394329" y="1624667"/>
            <a:ext cx="8406771" cy="1436419"/>
          </a:xfrm>
          <a:prstGeom prst="rect">
            <a:avLst/>
          </a:prstGeom>
          <a:noFill/>
        </p:spPr>
        <p:txBody>
          <a:bodyPr wrap="square">
            <a:spAutoFit/>
          </a:bodyPr>
          <a:lstStyle/>
          <a:p>
            <a:pPr indent="457200" algn="just">
              <a:lnSpc>
                <a:spcPct val="150000"/>
              </a:lnSpc>
            </a:pPr>
            <a:r>
              <a:rPr lang="zh-CN" altLang="en-US" sz="1500" kern="0" dirty="0">
                <a:effectLst/>
                <a:latin typeface="+mj-lt"/>
                <a:ea typeface="+mj-ea"/>
                <a:cs typeface="Times New Roman" panose="02020603050405020304" pitchFamily="18" charset="0"/>
              </a:rPr>
              <a:t>每个波段的数据代表着</a:t>
            </a:r>
            <a:r>
              <a:rPr lang="zh-CN" altLang="en-US" sz="1500" b="1" kern="0" dirty="0">
                <a:effectLst/>
                <a:latin typeface="+mj-lt"/>
                <a:ea typeface="+mj-ea"/>
                <a:cs typeface="Times New Roman" panose="02020603050405020304" pitchFamily="18" charset="0"/>
              </a:rPr>
              <a:t>地表在特定波长范围内对太阳辐射的反射量</a:t>
            </a:r>
            <a:r>
              <a:rPr lang="zh-CN" altLang="en-US" sz="1500" kern="0" dirty="0">
                <a:effectLst/>
                <a:latin typeface="+mj-lt"/>
                <a:ea typeface="+mj-ea"/>
                <a:cs typeface="Times New Roman" panose="02020603050405020304" pitchFamily="18" charset="0"/>
              </a:rPr>
              <a:t>，不同地表特征对各波长范围的光反射特性不同，导致不同波段的图像之间存在着比较明显的差异。例如，植被反射更多的近红外光，而水体则吸收大部分近红外光。因此，在近红外波段的图像中，植被区域显得较亮，而水体区域则较暗。</a:t>
            </a:r>
            <a:endParaRPr lang="en-US" altLang="zh-CN" sz="1500" kern="0" dirty="0">
              <a:effectLst/>
              <a:latin typeface="+mj-lt"/>
              <a:ea typeface="+mj-ea"/>
              <a:cs typeface="Times New Roman" panose="02020603050405020304" pitchFamily="18" charset="0"/>
            </a:endParaRPr>
          </a:p>
        </p:txBody>
      </p:sp>
      <p:pic>
        <p:nvPicPr>
          <p:cNvPr id="2" name="图片 1">
            <a:extLst>
              <a:ext uri="{FF2B5EF4-FFF2-40B4-BE49-F238E27FC236}">
                <a16:creationId xmlns:a16="http://schemas.microsoft.com/office/drawing/2014/main" id="{4CA2A31B-2F5B-70C4-C4C4-9B930ED25E19}"/>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69908" y="3238500"/>
            <a:ext cx="4225324" cy="3191631"/>
          </a:xfrm>
          <a:prstGeom prst="rect">
            <a:avLst/>
          </a:prstGeom>
          <a:ln>
            <a:noFill/>
          </a:ln>
          <a:effectLst>
            <a:outerShdw blurRad="190500" algn="tl" rotWithShape="0">
              <a:srgbClr val="000000">
                <a:alpha val="70000"/>
              </a:srgbClr>
            </a:outerShdw>
          </a:effectLst>
        </p:spPr>
      </p:pic>
      <p:sp>
        <p:nvSpPr>
          <p:cNvPr id="4" name="矩形 3">
            <a:extLst>
              <a:ext uri="{FF2B5EF4-FFF2-40B4-BE49-F238E27FC236}">
                <a16:creationId xmlns:a16="http://schemas.microsoft.com/office/drawing/2014/main" id="{7F9DABBB-B94F-7EA9-D08F-DBB7D0237443}"/>
              </a:ext>
            </a:extLst>
          </p:cNvPr>
          <p:cNvSpPr/>
          <p:nvPr/>
        </p:nvSpPr>
        <p:spPr>
          <a:xfrm>
            <a:off x="266699" y="2371141"/>
            <a:ext cx="8610600" cy="709940"/>
          </a:xfrm>
          <a:prstGeom prst="rect">
            <a:avLst/>
          </a:prstGeom>
          <a:noFill/>
          <a:ln>
            <a:solidFill>
              <a:schemeClr val="accent6"/>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5" name="矩形 4">
            <a:extLst>
              <a:ext uri="{FF2B5EF4-FFF2-40B4-BE49-F238E27FC236}">
                <a16:creationId xmlns:a16="http://schemas.microsoft.com/office/drawing/2014/main" id="{24C9056F-151B-F662-809D-E48AADEABBC5}"/>
              </a:ext>
            </a:extLst>
          </p:cNvPr>
          <p:cNvSpPr/>
          <p:nvPr/>
        </p:nvSpPr>
        <p:spPr>
          <a:xfrm>
            <a:off x="4383292" y="4841409"/>
            <a:ext cx="2169910" cy="1673691"/>
          </a:xfrm>
          <a:prstGeom prst="rect">
            <a:avLst/>
          </a:prstGeom>
          <a:noFill/>
          <a:ln>
            <a:solidFill>
              <a:schemeClr val="accent6"/>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40E4930F-39D1-758F-5181-0EFDDAC0A636}"/>
              </a:ext>
            </a:extLst>
          </p:cNvPr>
          <p:cNvSpPr txBox="1"/>
          <p:nvPr/>
        </p:nvSpPr>
        <p:spPr>
          <a:xfrm>
            <a:off x="457200" y="1204562"/>
            <a:ext cx="1850186" cy="400110"/>
          </a:xfrm>
          <a:prstGeom prst="rect">
            <a:avLst/>
          </a:prstGeom>
          <a:noFill/>
        </p:spPr>
        <p:txBody>
          <a:bodyPr wrap="none" rtlCol="0">
            <a:spAutoFit/>
          </a:bodyPr>
          <a:lstStyle/>
          <a:p>
            <a:r>
              <a:rPr lang="en-US" altLang="zh-CN" sz="2000" b="1" dirty="0">
                <a:latin typeface="+mj-lt"/>
                <a:ea typeface="+mj-ea"/>
              </a:rPr>
              <a:t>(1) </a:t>
            </a:r>
            <a:r>
              <a:rPr lang="zh-CN" altLang="en-US" sz="2000" b="1" dirty="0">
                <a:latin typeface="+mj-lt"/>
                <a:ea typeface="+mj-ea"/>
              </a:rPr>
              <a:t>单波段绘制</a:t>
            </a:r>
          </a:p>
        </p:txBody>
      </p:sp>
    </p:spTree>
    <p:extLst>
      <p:ext uri="{BB962C8B-B14F-4D97-AF65-F5344CB8AC3E}">
        <p14:creationId xmlns:p14="http://schemas.microsoft.com/office/powerpoint/2010/main" val="3282655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1067BE-485C-5FDC-7102-5FC295425CA1}"/>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5E54A215-3CB2-190C-7122-A429D5BF8A57}"/>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4.4.2 </a:t>
            </a:r>
            <a:r>
              <a:rPr lang="zh-CN" altLang="en-US" sz="3600" dirty="0">
                <a:latin typeface="Times New Roman" panose="02020603050405020304" pitchFamily="18" charset="0"/>
                <a:cs typeface="Times New Roman" panose="02020603050405020304" pitchFamily="18" charset="0"/>
              </a:rPr>
              <a:t>遥感影像波段信息分析</a:t>
            </a:r>
          </a:p>
        </p:txBody>
      </p:sp>
      <p:sp>
        <p:nvSpPr>
          <p:cNvPr id="8" name="灯片编号占位符 7">
            <a:extLst>
              <a:ext uri="{FF2B5EF4-FFF2-40B4-BE49-F238E27FC236}">
                <a16:creationId xmlns:a16="http://schemas.microsoft.com/office/drawing/2014/main" id="{7987FF86-22CD-9AF5-3226-FF2430B00A81}"/>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33</a:t>
            </a:fld>
            <a:endParaRPr lang="zh-CN" altLang="en-US" dirty="0">
              <a:solidFill>
                <a:schemeClr val="bg2">
                  <a:lumMod val="75000"/>
                </a:schemeClr>
              </a:solidFill>
            </a:endParaRPr>
          </a:p>
        </p:txBody>
      </p:sp>
      <p:sp>
        <p:nvSpPr>
          <p:cNvPr id="16" name="文本框 15">
            <a:extLst>
              <a:ext uri="{FF2B5EF4-FFF2-40B4-BE49-F238E27FC236}">
                <a16:creationId xmlns:a16="http://schemas.microsoft.com/office/drawing/2014/main" id="{53596F3F-D83B-7F34-A26B-56C62B1BD470}"/>
              </a:ext>
            </a:extLst>
          </p:cNvPr>
          <p:cNvSpPr txBox="1"/>
          <p:nvPr/>
        </p:nvSpPr>
        <p:spPr>
          <a:xfrm>
            <a:off x="651032" y="1943422"/>
            <a:ext cx="7841936" cy="3372718"/>
          </a:xfrm>
          <a:prstGeom prst="rect">
            <a:avLst/>
          </a:prstGeom>
          <a:noFill/>
        </p:spPr>
        <p:txBody>
          <a:bodyPr wrap="square">
            <a:spAutoFit/>
          </a:bodyPr>
          <a:lstStyle/>
          <a:p>
            <a:pPr indent="457200" algn="just">
              <a:lnSpc>
                <a:spcPct val="150000"/>
              </a:lnSpc>
            </a:pPr>
            <a:r>
              <a:rPr lang="zh-CN" altLang="en-US" sz="1600" kern="0" dirty="0">
                <a:latin typeface="+mj-lt"/>
                <a:ea typeface="+mj-ea"/>
                <a:cs typeface="Times New Roman" panose="02020603050405020304" pitchFamily="18" charset="0"/>
              </a:rPr>
              <a:t>由于能够从单个波段中获取的信息的局限性，在遥感影像数据处理过程中，往往需要</a:t>
            </a:r>
            <a:r>
              <a:rPr lang="zh-CN" altLang="en-US" sz="1600" b="1" kern="0" dirty="0">
                <a:latin typeface="+mj-lt"/>
                <a:ea typeface="+mj-ea"/>
                <a:cs typeface="Times New Roman" panose="02020603050405020304" pitchFamily="18" charset="0"/>
              </a:rPr>
              <a:t>对多个波段进行组合</a:t>
            </a:r>
            <a:r>
              <a:rPr lang="zh-CN" altLang="en-US" sz="1600" kern="0" dirty="0">
                <a:latin typeface="+mj-lt"/>
                <a:ea typeface="+mj-ea"/>
                <a:cs typeface="Times New Roman" panose="02020603050405020304" pitchFamily="18" charset="0"/>
              </a:rPr>
              <a:t>，生成彩色合成图像。</a:t>
            </a:r>
            <a:endParaRPr lang="en-US" altLang="zh-CN" sz="1600" kern="0" dirty="0">
              <a:latin typeface="+mj-lt"/>
              <a:ea typeface="+mj-ea"/>
              <a:cs typeface="Times New Roman" panose="02020603050405020304" pitchFamily="18" charset="0"/>
            </a:endParaRPr>
          </a:p>
          <a:p>
            <a:pPr indent="457200" algn="just">
              <a:lnSpc>
                <a:spcPct val="150000"/>
              </a:lnSpc>
            </a:pPr>
            <a:r>
              <a:rPr lang="zh-CN" altLang="en-US" sz="1600" kern="0" dirty="0">
                <a:latin typeface="+mj-lt"/>
                <a:ea typeface="+mj-ea"/>
                <a:cs typeface="Times New Roman" panose="02020603050405020304" pitchFamily="18" charset="0"/>
              </a:rPr>
              <a:t>单波段影像数据的不同组合方式能够生成不同的彩色合成图像，突出不同的地表特征，其中</a:t>
            </a:r>
            <a:r>
              <a:rPr lang="zh-CN" altLang="en-US" sz="1600" b="1" kern="0" dirty="0">
                <a:latin typeface="+mj-lt"/>
                <a:ea typeface="+mj-ea"/>
                <a:cs typeface="Times New Roman" panose="02020603050405020304" pitchFamily="18" charset="0"/>
              </a:rPr>
              <a:t>真彩色合成</a:t>
            </a:r>
            <a:r>
              <a:rPr lang="zh-CN" altLang="en-US" sz="1600" kern="0" dirty="0">
                <a:latin typeface="+mj-lt"/>
                <a:ea typeface="+mj-ea"/>
                <a:cs typeface="Times New Roman" panose="02020603050405020304" pitchFamily="18" charset="0"/>
              </a:rPr>
              <a:t>和</a:t>
            </a:r>
            <a:r>
              <a:rPr lang="zh-CN" altLang="en-US" sz="1600" b="1" kern="0" dirty="0">
                <a:latin typeface="+mj-lt"/>
                <a:ea typeface="+mj-ea"/>
                <a:cs typeface="Times New Roman" panose="02020603050405020304" pitchFamily="18" charset="0"/>
              </a:rPr>
              <a:t>假彩色合成</a:t>
            </a:r>
            <a:r>
              <a:rPr lang="zh-CN" altLang="en-US" sz="1600" kern="0" dirty="0">
                <a:latin typeface="+mj-lt"/>
                <a:ea typeface="+mj-ea"/>
                <a:cs typeface="Times New Roman" panose="02020603050405020304" pitchFamily="18" charset="0"/>
              </a:rPr>
              <a:t>是两种较为常见的波段组合方式：</a:t>
            </a:r>
            <a:endParaRPr lang="en-US" altLang="zh-CN" sz="1600" kern="0" dirty="0">
              <a:latin typeface="+mj-lt"/>
              <a:ea typeface="+mj-ea"/>
              <a:cs typeface="Times New Roman" panose="02020603050405020304" pitchFamily="18" charset="0"/>
            </a:endParaRPr>
          </a:p>
          <a:p>
            <a:pPr marL="342900" indent="-342900" algn="just">
              <a:lnSpc>
                <a:spcPct val="150000"/>
              </a:lnSpc>
              <a:buFont typeface="+mj-ea"/>
              <a:buAutoNum type="circleNumDbPlain"/>
            </a:pPr>
            <a:r>
              <a:rPr lang="zh-CN" altLang="en-US" sz="1600" b="1" kern="0" dirty="0">
                <a:latin typeface="+mj-lt"/>
                <a:ea typeface="+mj-ea"/>
                <a:cs typeface="Times New Roman" panose="02020603050405020304" pitchFamily="18" charset="0"/>
              </a:rPr>
              <a:t>真彩色合成</a:t>
            </a:r>
            <a:r>
              <a:rPr lang="zh-CN" altLang="en-US" sz="1600" kern="0" dirty="0">
                <a:latin typeface="+mj-lt"/>
                <a:ea typeface="+mj-ea"/>
                <a:cs typeface="Times New Roman" panose="02020603050405020304" pitchFamily="18" charset="0"/>
              </a:rPr>
              <a:t>：将</a:t>
            </a:r>
            <a:r>
              <a:rPr lang="zh-CN" altLang="en-US" sz="1600" b="1" kern="0" dirty="0">
                <a:latin typeface="+mj-lt"/>
                <a:ea typeface="+mj-ea"/>
                <a:cs typeface="Times New Roman" panose="02020603050405020304" pitchFamily="18" charset="0"/>
              </a:rPr>
              <a:t>红光、绿光和蓝光波段</a:t>
            </a:r>
            <a:r>
              <a:rPr lang="zh-CN" altLang="en-US" sz="1600" kern="0" dirty="0">
                <a:latin typeface="+mj-lt"/>
                <a:ea typeface="+mj-ea"/>
                <a:cs typeface="Times New Roman" panose="02020603050405020304" pitchFamily="18" charset="0"/>
              </a:rPr>
              <a:t>进行组合。这种组合与人眼所看到的自然颜色接近，以生成接近真实世界的真彩色合成图像，用于可视化和基础分析；</a:t>
            </a:r>
            <a:endParaRPr lang="en-US" altLang="zh-CN" sz="1600" kern="0" dirty="0">
              <a:latin typeface="+mj-lt"/>
              <a:ea typeface="+mj-ea"/>
              <a:cs typeface="Times New Roman" panose="02020603050405020304" pitchFamily="18" charset="0"/>
            </a:endParaRPr>
          </a:p>
          <a:p>
            <a:pPr marL="342900" indent="-342900" algn="just">
              <a:lnSpc>
                <a:spcPct val="150000"/>
              </a:lnSpc>
              <a:buFont typeface="+mj-ea"/>
              <a:buAutoNum type="circleNumDbPlain"/>
            </a:pPr>
            <a:r>
              <a:rPr lang="zh-CN" altLang="en-US" sz="1600" b="1" kern="0" dirty="0">
                <a:latin typeface="+mj-lt"/>
                <a:ea typeface="+mj-ea"/>
                <a:cs typeface="Times New Roman" panose="02020603050405020304" pitchFamily="18" charset="0"/>
              </a:rPr>
              <a:t>假彩色合成</a:t>
            </a:r>
            <a:r>
              <a:rPr lang="zh-CN" altLang="en-US" sz="1600" kern="0" dirty="0">
                <a:latin typeface="+mj-lt"/>
                <a:ea typeface="+mj-ea"/>
                <a:cs typeface="Times New Roman" panose="02020603050405020304" pitchFamily="18" charset="0"/>
              </a:rPr>
              <a:t>：将</a:t>
            </a:r>
            <a:r>
              <a:rPr lang="zh-CN" altLang="en-US" sz="1600" b="1" kern="0" dirty="0">
                <a:latin typeface="+mj-lt"/>
                <a:ea typeface="+mj-ea"/>
                <a:cs typeface="Times New Roman" panose="02020603050405020304" pitchFamily="18" charset="0"/>
              </a:rPr>
              <a:t>近红外、红光和绿光波段</a:t>
            </a:r>
            <a:r>
              <a:rPr lang="zh-CN" altLang="en-US" sz="1600" kern="0" dirty="0">
                <a:latin typeface="+mj-lt"/>
                <a:ea typeface="+mj-ea"/>
                <a:cs typeface="Times New Roman" panose="02020603050405020304" pitchFamily="18" charset="0"/>
              </a:rPr>
              <a:t>进行组合。由于植被对近红外光形成强烈反射，在这种合成图像中，健康、茂密的植被通常显示为红色，而水体通常显示为黑色或深蓝色，从而增加二者之间的对比效果。</a:t>
            </a:r>
            <a:endParaRPr lang="en-US" altLang="zh-CN" sz="1600" kern="0" dirty="0">
              <a:effectLst/>
              <a:latin typeface="+mj-lt"/>
              <a:ea typeface="+mj-ea"/>
              <a:cs typeface="Times New Roman" panose="02020603050405020304" pitchFamily="18" charset="0"/>
            </a:endParaRPr>
          </a:p>
        </p:txBody>
      </p:sp>
      <p:sp>
        <p:nvSpPr>
          <p:cNvPr id="3" name="文本框 2">
            <a:extLst>
              <a:ext uri="{FF2B5EF4-FFF2-40B4-BE49-F238E27FC236}">
                <a16:creationId xmlns:a16="http://schemas.microsoft.com/office/drawing/2014/main" id="{9416D1C8-94EA-5A69-FC69-37FCDB2D0F40}"/>
              </a:ext>
            </a:extLst>
          </p:cNvPr>
          <p:cNvSpPr txBox="1"/>
          <p:nvPr/>
        </p:nvSpPr>
        <p:spPr>
          <a:xfrm>
            <a:off x="457200" y="1447800"/>
            <a:ext cx="2412840" cy="400110"/>
          </a:xfrm>
          <a:prstGeom prst="rect">
            <a:avLst/>
          </a:prstGeom>
          <a:noFill/>
        </p:spPr>
        <p:txBody>
          <a:bodyPr wrap="none" rtlCol="0">
            <a:spAutoFit/>
          </a:bodyPr>
          <a:lstStyle/>
          <a:p>
            <a:r>
              <a:rPr lang="en-US" altLang="zh-CN" sz="2000" b="1" dirty="0">
                <a:latin typeface="+mj-lt"/>
                <a:ea typeface="+mj-ea"/>
              </a:rPr>
              <a:t>(2) </a:t>
            </a:r>
            <a:r>
              <a:rPr lang="zh-CN" altLang="en-US" sz="2000" b="1" dirty="0">
                <a:latin typeface="+mj-lt"/>
                <a:ea typeface="+mj-ea"/>
              </a:rPr>
              <a:t>多波段组合绘制</a:t>
            </a:r>
          </a:p>
        </p:txBody>
      </p:sp>
    </p:spTree>
    <p:extLst>
      <p:ext uri="{BB962C8B-B14F-4D97-AF65-F5344CB8AC3E}">
        <p14:creationId xmlns:p14="http://schemas.microsoft.com/office/powerpoint/2010/main" val="2944772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8F7DD-8B8A-70F8-9CBF-FA0F2DADB413}"/>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B763D5A6-B1F4-751A-469D-ADF0DF3D14B9}"/>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4.4.2 </a:t>
            </a:r>
            <a:r>
              <a:rPr lang="zh-CN" altLang="en-US" sz="3600" dirty="0">
                <a:latin typeface="Times New Roman" panose="02020603050405020304" pitchFamily="18" charset="0"/>
                <a:cs typeface="Times New Roman" panose="02020603050405020304" pitchFamily="18" charset="0"/>
              </a:rPr>
              <a:t>遥感影像波段信息分析</a:t>
            </a:r>
          </a:p>
        </p:txBody>
      </p:sp>
      <p:sp>
        <p:nvSpPr>
          <p:cNvPr id="8" name="灯片编号占位符 7">
            <a:extLst>
              <a:ext uri="{FF2B5EF4-FFF2-40B4-BE49-F238E27FC236}">
                <a16:creationId xmlns:a16="http://schemas.microsoft.com/office/drawing/2014/main" id="{154DC853-A8D4-94ED-88F4-DB7D80CF20AD}"/>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34</a:t>
            </a:fld>
            <a:endParaRPr lang="zh-CN" altLang="en-US" dirty="0">
              <a:solidFill>
                <a:schemeClr val="bg2">
                  <a:lumMod val="75000"/>
                </a:schemeClr>
              </a:solidFill>
            </a:endParaRPr>
          </a:p>
        </p:txBody>
      </p:sp>
      <p:sp>
        <p:nvSpPr>
          <p:cNvPr id="2" name="文本框 1">
            <a:extLst>
              <a:ext uri="{FF2B5EF4-FFF2-40B4-BE49-F238E27FC236}">
                <a16:creationId xmlns:a16="http://schemas.microsoft.com/office/drawing/2014/main" id="{5829153B-2E44-7EFD-3025-F982EB912CE0}"/>
              </a:ext>
            </a:extLst>
          </p:cNvPr>
          <p:cNvSpPr txBox="1"/>
          <p:nvPr/>
        </p:nvSpPr>
        <p:spPr>
          <a:xfrm>
            <a:off x="723900" y="1623166"/>
            <a:ext cx="6579859" cy="1600438"/>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Modis_RGB</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&lt;-c(r[[</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]],r[[</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]],r[[</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Modis_RGB</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plotRGB</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Modis_RGB</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stretch=</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lin</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254000" algn="just">
              <a:buNone/>
            </a:pPr>
            <a:r>
              <a:rPr lang="en-US" altLang="zh-CN" sz="1400" dirty="0">
                <a:solidFill>
                  <a:srgbClr val="8000FF"/>
                </a:solidFill>
                <a:effectLst/>
                <a:latin typeface="Consolas" panose="020B0609020204030204" pitchFamily="49" charset="0"/>
                <a:ea typeface="宋体" panose="02010600030101010101" pitchFamily="2" charset="-122"/>
              </a:rPr>
              <a:t> </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Modis_FCC</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&lt;-c(r[[</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]],r[[</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]],r[[</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Modis_FCC</a:t>
            </a:r>
            <a:endParaRPr lang="zh-CN" altLang="zh-CN" sz="1400" dirty="0">
              <a:effectLst/>
              <a:latin typeface="Times New Roman" panose="02020603050405020304" pitchFamily="18" charset="0"/>
              <a:ea typeface="宋体" panose="02010600030101010101" pitchFamily="2" charset="-122"/>
            </a:endParaRPr>
          </a:p>
          <a:p>
            <a:pPr indent="127000" algn="l"/>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plotRGB</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Modis_FCC</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stretch=</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lin</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p:txBody>
      </p:sp>
      <p:pic>
        <p:nvPicPr>
          <p:cNvPr id="3" name="图片 2">
            <a:extLst>
              <a:ext uri="{FF2B5EF4-FFF2-40B4-BE49-F238E27FC236}">
                <a16:creationId xmlns:a16="http://schemas.microsoft.com/office/drawing/2014/main" id="{078F1C89-41A7-6169-3B43-A868763AE1E4}"/>
              </a:ext>
            </a:extLst>
          </p:cNvPr>
          <p:cNvPicPr>
            <a:picLocks noChangeAspect="1"/>
          </p:cNvPicPr>
          <p:nvPr/>
        </p:nvPicPr>
        <p:blipFill>
          <a:blip r:embed="rId2" cstate="print">
            <a:extLst>
              <a:ext uri="{28A0092B-C50C-407E-A947-70E740481C1C}">
                <a14:useLocalDpi xmlns:a14="http://schemas.microsoft.com/office/drawing/2010/main" val="0"/>
              </a:ext>
            </a:extLst>
          </a:blip>
          <a:srcRect l="1729" t="1522" r="1043"/>
          <a:stretch/>
        </p:blipFill>
        <p:spPr bwMode="auto">
          <a:xfrm>
            <a:off x="1219200" y="3352800"/>
            <a:ext cx="2895600" cy="2900287"/>
          </a:xfrm>
          <a:prstGeom prst="rect">
            <a:avLst/>
          </a:prstGeom>
          <a:ln>
            <a:noFill/>
          </a:ln>
          <a:effectLst>
            <a:outerShdw blurRad="190500" algn="tl" rotWithShape="0">
              <a:srgbClr val="000000">
                <a:alpha val="70000"/>
              </a:srgbClr>
            </a:outerShdw>
          </a:effectLst>
        </p:spPr>
      </p:pic>
      <p:pic>
        <p:nvPicPr>
          <p:cNvPr id="4" name="图片 3">
            <a:extLst>
              <a:ext uri="{FF2B5EF4-FFF2-40B4-BE49-F238E27FC236}">
                <a16:creationId xmlns:a16="http://schemas.microsoft.com/office/drawing/2014/main" id="{94314C15-B5A7-065F-F51A-2F533A2D98CD}"/>
              </a:ext>
            </a:extLst>
          </p:cNvPr>
          <p:cNvPicPr>
            <a:picLocks noChangeAspect="1"/>
          </p:cNvPicPr>
          <p:nvPr/>
        </p:nvPicPr>
        <p:blipFill>
          <a:blip r:embed="rId3" cstate="print">
            <a:extLst>
              <a:ext uri="{28A0092B-C50C-407E-A947-70E740481C1C}">
                <a14:useLocalDpi xmlns:a14="http://schemas.microsoft.com/office/drawing/2010/main" val="0"/>
              </a:ext>
            </a:extLst>
          </a:blip>
          <a:srcRect l="1025" t="1480" r="1810"/>
          <a:stretch/>
        </p:blipFill>
        <p:spPr bwMode="auto">
          <a:xfrm>
            <a:off x="4914900" y="3352801"/>
            <a:ext cx="2895600" cy="2900286"/>
          </a:xfrm>
          <a:prstGeom prst="rect">
            <a:avLst/>
          </a:prstGeom>
          <a:ln>
            <a:noFill/>
          </a:ln>
          <a:effectLst>
            <a:outerShdw blurRad="190500" algn="tl" rotWithShape="0">
              <a:srgbClr val="000000">
                <a:alpha val="70000"/>
              </a:srgbClr>
            </a:outerShdw>
          </a:effectLst>
        </p:spPr>
      </p:pic>
      <p:sp>
        <p:nvSpPr>
          <p:cNvPr id="5" name="文本框 4">
            <a:extLst>
              <a:ext uri="{FF2B5EF4-FFF2-40B4-BE49-F238E27FC236}">
                <a16:creationId xmlns:a16="http://schemas.microsoft.com/office/drawing/2014/main" id="{F68B7E81-863A-20AF-05C6-5980F44EAEAC}"/>
              </a:ext>
            </a:extLst>
          </p:cNvPr>
          <p:cNvSpPr txBox="1"/>
          <p:nvPr/>
        </p:nvSpPr>
        <p:spPr>
          <a:xfrm>
            <a:off x="2125826" y="6310435"/>
            <a:ext cx="1082348" cy="307777"/>
          </a:xfrm>
          <a:prstGeom prst="rect">
            <a:avLst/>
          </a:prstGeom>
          <a:noFill/>
        </p:spPr>
        <p:txBody>
          <a:bodyPr wrap="none" rtlCol="0">
            <a:spAutoFit/>
          </a:bodyPr>
          <a:lstStyle/>
          <a:p>
            <a:r>
              <a:rPr lang="zh-CN" altLang="en-US" sz="1400" dirty="0">
                <a:latin typeface="+mn-ea"/>
                <a:ea typeface="+mn-ea"/>
              </a:rPr>
              <a:t>真彩色合成</a:t>
            </a:r>
          </a:p>
        </p:txBody>
      </p:sp>
      <p:sp>
        <p:nvSpPr>
          <p:cNvPr id="6" name="文本框 5">
            <a:extLst>
              <a:ext uri="{FF2B5EF4-FFF2-40B4-BE49-F238E27FC236}">
                <a16:creationId xmlns:a16="http://schemas.microsoft.com/office/drawing/2014/main" id="{7C2F316F-01A7-01E0-5AD1-4F8DF0800232}"/>
              </a:ext>
            </a:extLst>
          </p:cNvPr>
          <p:cNvSpPr txBox="1"/>
          <p:nvPr/>
        </p:nvSpPr>
        <p:spPr>
          <a:xfrm>
            <a:off x="5821526" y="6310435"/>
            <a:ext cx="1098378" cy="307777"/>
          </a:xfrm>
          <a:prstGeom prst="rect">
            <a:avLst/>
          </a:prstGeom>
          <a:noFill/>
        </p:spPr>
        <p:txBody>
          <a:bodyPr wrap="none" rtlCol="0">
            <a:spAutoFit/>
          </a:bodyPr>
          <a:lstStyle/>
          <a:p>
            <a:r>
              <a:rPr lang="zh-CN" altLang="en-US" sz="1400" dirty="0">
                <a:latin typeface="+mn-ea"/>
                <a:ea typeface="+mn-ea"/>
              </a:rPr>
              <a:t>假彩色合成</a:t>
            </a:r>
          </a:p>
        </p:txBody>
      </p:sp>
      <p:sp>
        <p:nvSpPr>
          <p:cNvPr id="9" name="文本框 8">
            <a:extLst>
              <a:ext uri="{FF2B5EF4-FFF2-40B4-BE49-F238E27FC236}">
                <a16:creationId xmlns:a16="http://schemas.microsoft.com/office/drawing/2014/main" id="{82FCF4C7-EBCE-B6BD-D7DE-2D3BDC27A86B}"/>
              </a:ext>
            </a:extLst>
          </p:cNvPr>
          <p:cNvSpPr txBox="1"/>
          <p:nvPr/>
        </p:nvSpPr>
        <p:spPr>
          <a:xfrm>
            <a:off x="457200" y="1219376"/>
            <a:ext cx="2412840" cy="400110"/>
          </a:xfrm>
          <a:prstGeom prst="rect">
            <a:avLst/>
          </a:prstGeom>
          <a:noFill/>
        </p:spPr>
        <p:txBody>
          <a:bodyPr wrap="none" rtlCol="0">
            <a:spAutoFit/>
          </a:bodyPr>
          <a:lstStyle/>
          <a:p>
            <a:r>
              <a:rPr lang="en-US" altLang="zh-CN" sz="2000" b="1" dirty="0">
                <a:latin typeface="+mj-lt"/>
                <a:ea typeface="+mj-ea"/>
              </a:rPr>
              <a:t>(2) </a:t>
            </a:r>
            <a:r>
              <a:rPr lang="zh-CN" altLang="en-US" sz="2000" b="1" dirty="0">
                <a:latin typeface="+mj-lt"/>
                <a:ea typeface="+mj-ea"/>
              </a:rPr>
              <a:t>多波段组合绘制</a:t>
            </a:r>
          </a:p>
        </p:txBody>
      </p:sp>
    </p:spTree>
    <p:extLst>
      <p:ext uri="{BB962C8B-B14F-4D97-AF65-F5344CB8AC3E}">
        <p14:creationId xmlns:p14="http://schemas.microsoft.com/office/powerpoint/2010/main" val="38540242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4AB3C-74D0-D69B-12F4-548E28656A4D}"/>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9E8CE9FF-D6FF-05D6-8B25-51A623E255FB}"/>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4.4.2 </a:t>
            </a:r>
            <a:r>
              <a:rPr lang="zh-CN" altLang="en-US" sz="3600" dirty="0">
                <a:latin typeface="Times New Roman" panose="02020603050405020304" pitchFamily="18" charset="0"/>
                <a:cs typeface="Times New Roman" panose="02020603050405020304" pitchFamily="18" charset="0"/>
              </a:rPr>
              <a:t>遥感影像波段信息分析</a:t>
            </a:r>
          </a:p>
        </p:txBody>
      </p:sp>
      <p:sp>
        <p:nvSpPr>
          <p:cNvPr id="8" name="灯片编号占位符 7">
            <a:extLst>
              <a:ext uri="{FF2B5EF4-FFF2-40B4-BE49-F238E27FC236}">
                <a16:creationId xmlns:a16="http://schemas.microsoft.com/office/drawing/2014/main" id="{59EA92EE-3F15-4544-3B84-A71A744E81E0}"/>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35</a:t>
            </a:fld>
            <a:endParaRPr lang="zh-CN" altLang="en-US" dirty="0">
              <a:solidFill>
                <a:schemeClr val="bg2">
                  <a:lumMod val="75000"/>
                </a:schemeClr>
              </a:solidFill>
            </a:endParaRPr>
          </a:p>
        </p:txBody>
      </p:sp>
      <p:sp>
        <p:nvSpPr>
          <p:cNvPr id="9" name="文本框 8">
            <a:extLst>
              <a:ext uri="{FF2B5EF4-FFF2-40B4-BE49-F238E27FC236}">
                <a16:creationId xmlns:a16="http://schemas.microsoft.com/office/drawing/2014/main" id="{5922CD6F-E6CE-1AF1-C8C0-8A9EF7CD7605}"/>
              </a:ext>
            </a:extLst>
          </p:cNvPr>
          <p:cNvSpPr txBox="1"/>
          <p:nvPr/>
        </p:nvSpPr>
        <p:spPr>
          <a:xfrm>
            <a:off x="457200" y="1689303"/>
            <a:ext cx="3624710" cy="400110"/>
          </a:xfrm>
          <a:prstGeom prst="rect">
            <a:avLst/>
          </a:prstGeom>
          <a:noFill/>
        </p:spPr>
        <p:txBody>
          <a:bodyPr wrap="none" rtlCol="0">
            <a:spAutoFit/>
          </a:bodyPr>
          <a:lstStyle/>
          <a:p>
            <a:r>
              <a:rPr lang="en-US" altLang="zh-CN" sz="2000" b="1" dirty="0">
                <a:latin typeface="+mj-lt"/>
                <a:ea typeface="+mj-ea"/>
              </a:rPr>
              <a:t>(3) </a:t>
            </a:r>
            <a:r>
              <a:rPr lang="zh-CN" altLang="en-US" sz="2000" b="1" dirty="0">
                <a:latin typeface="+mj-lt"/>
                <a:ea typeface="+mj-ea"/>
              </a:rPr>
              <a:t>探究不同波段之间的相关性</a:t>
            </a:r>
          </a:p>
        </p:txBody>
      </p:sp>
      <p:sp>
        <p:nvSpPr>
          <p:cNvPr id="10" name="文本框 9">
            <a:extLst>
              <a:ext uri="{FF2B5EF4-FFF2-40B4-BE49-F238E27FC236}">
                <a16:creationId xmlns:a16="http://schemas.microsoft.com/office/drawing/2014/main" id="{F1C6251F-A61A-124B-C4D7-BE70BF4F2FAE}"/>
              </a:ext>
            </a:extLst>
          </p:cNvPr>
          <p:cNvSpPr txBox="1"/>
          <p:nvPr/>
        </p:nvSpPr>
        <p:spPr>
          <a:xfrm>
            <a:off x="651032" y="2209800"/>
            <a:ext cx="7841936" cy="3003386"/>
          </a:xfrm>
          <a:prstGeom prst="rect">
            <a:avLst/>
          </a:prstGeom>
          <a:noFill/>
        </p:spPr>
        <p:txBody>
          <a:bodyPr wrap="square">
            <a:spAutoFit/>
          </a:bodyPr>
          <a:lstStyle/>
          <a:p>
            <a:pPr indent="457200" algn="just">
              <a:lnSpc>
                <a:spcPct val="150000"/>
              </a:lnSpc>
            </a:pPr>
            <a:r>
              <a:rPr lang="zh-CN" altLang="en-US" sz="1600" kern="0" dirty="0">
                <a:latin typeface="+mj-lt"/>
                <a:ea typeface="+mj-ea"/>
                <a:cs typeface="Times New Roman" panose="02020603050405020304" pitchFamily="18" charset="0"/>
              </a:rPr>
              <a:t>在对遥感影像数据的分析中，</a:t>
            </a:r>
            <a:r>
              <a:rPr lang="zh-CN" altLang="en-US" sz="1600" b="1" kern="0" dirty="0">
                <a:latin typeface="+mj-lt"/>
                <a:ea typeface="+mj-ea"/>
                <a:cs typeface="Times New Roman" panose="02020603050405020304" pitchFamily="18" charset="0"/>
              </a:rPr>
              <a:t>探究不同波段之间的相关性</a:t>
            </a:r>
            <a:r>
              <a:rPr lang="zh-CN" altLang="en-US" sz="1600" kern="0" dirty="0">
                <a:latin typeface="+mj-lt"/>
                <a:ea typeface="+mj-ea"/>
                <a:cs typeface="Times New Roman" panose="02020603050405020304" pitchFamily="18" charset="0"/>
              </a:rPr>
              <a:t>可以帮助读者</a:t>
            </a:r>
            <a:r>
              <a:rPr lang="zh-CN" altLang="en-US" sz="1600" b="1" kern="0" dirty="0">
                <a:latin typeface="+mj-lt"/>
                <a:ea typeface="+mj-ea"/>
                <a:cs typeface="Times New Roman" panose="02020603050405020304" pitchFamily="18" charset="0"/>
              </a:rPr>
              <a:t>更好地理解地表特征：</a:t>
            </a:r>
            <a:endParaRPr lang="en-US" altLang="zh-CN" sz="1600" b="1" kern="0" dirty="0">
              <a:latin typeface="+mj-lt"/>
              <a:ea typeface="+mj-ea"/>
              <a:cs typeface="Times New Roman" panose="02020603050405020304" pitchFamily="18" charset="0"/>
            </a:endParaRPr>
          </a:p>
          <a:p>
            <a:pPr marL="285750" indent="-285750" algn="just">
              <a:lnSpc>
                <a:spcPct val="150000"/>
              </a:lnSpc>
              <a:buFont typeface="Arial" panose="020B0604020202020204" pitchFamily="34" charset="0"/>
              <a:buChar char="•"/>
            </a:pPr>
            <a:r>
              <a:rPr lang="zh-CN" altLang="en-US" sz="1600" kern="0" dirty="0">
                <a:latin typeface="+mj-lt"/>
                <a:ea typeface="+mj-ea"/>
                <a:cs typeface="Times New Roman" panose="02020603050405020304" pitchFamily="18" charset="0"/>
              </a:rPr>
              <a:t>帮助筛选出最能代表不同地表特征的波段</a:t>
            </a:r>
            <a:endParaRPr lang="en-US" altLang="zh-CN" sz="1600" kern="0" dirty="0">
              <a:latin typeface="+mj-lt"/>
              <a:ea typeface="+mj-ea"/>
              <a:cs typeface="Times New Roman" panose="02020603050405020304" pitchFamily="18" charset="0"/>
            </a:endParaRPr>
          </a:p>
          <a:p>
            <a:pPr marL="285750" indent="-285750" algn="just">
              <a:lnSpc>
                <a:spcPct val="150000"/>
              </a:lnSpc>
              <a:buFont typeface="Arial" panose="020B0604020202020204" pitchFamily="34" charset="0"/>
              <a:buChar char="•"/>
            </a:pPr>
            <a:r>
              <a:rPr lang="zh-CN" altLang="en-US" sz="1600" kern="0" dirty="0">
                <a:latin typeface="+mj-lt"/>
                <a:ea typeface="+mj-ea"/>
                <a:cs typeface="Times New Roman" panose="02020603050405020304" pitchFamily="18" charset="0"/>
              </a:rPr>
              <a:t>识别数据冗余</a:t>
            </a:r>
            <a:endParaRPr lang="en-US" altLang="zh-CN" sz="1600" kern="0" dirty="0">
              <a:latin typeface="+mj-lt"/>
              <a:ea typeface="+mj-ea"/>
              <a:cs typeface="Times New Roman" panose="02020603050405020304" pitchFamily="18" charset="0"/>
            </a:endParaRPr>
          </a:p>
          <a:p>
            <a:pPr marL="285750" indent="-285750" algn="just">
              <a:lnSpc>
                <a:spcPct val="150000"/>
              </a:lnSpc>
              <a:buFont typeface="Arial" panose="020B0604020202020204" pitchFamily="34" charset="0"/>
              <a:buChar char="•"/>
            </a:pPr>
            <a:r>
              <a:rPr lang="zh-CN" altLang="en-US" sz="1600" kern="0" dirty="0">
                <a:latin typeface="+mj-lt"/>
                <a:ea typeface="+mj-ea"/>
                <a:cs typeface="Times New Roman" panose="02020603050405020304" pitchFamily="18" charset="0"/>
              </a:rPr>
              <a:t>减少数据维度</a:t>
            </a:r>
            <a:endParaRPr lang="en-US" altLang="zh-CN" sz="1600" kern="0" dirty="0">
              <a:latin typeface="+mj-lt"/>
              <a:ea typeface="+mj-ea"/>
              <a:cs typeface="Times New Roman" panose="02020603050405020304" pitchFamily="18" charset="0"/>
            </a:endParaRPr>
          </a:p>
          <a:p>
            <a:pPr marL="285750" indent="-285750" algn="just">
              <a:lnSpc>
                <a:spcPct val="150000"/>
              </a:lnSpc>
              <a:buFont typeface="Arial" panose="020B0604020202020204" pitchFamily="34" charset="0"/>
              <a:buChar char="•"/>
            </a:pPr>
            <a:r>
              <a:rPr lang="zh-CN" altLang="en-US" sz="1600" kern="0" dirty="0">
                <a:latin typeface="+mj-lt"/>
                <a:ea typeface="+mj-ea"/>
                <a:cs typeface="Times New Roman" panose="02020603050405020304" pitchFamily="18" charset="0"/>
              </a:rPr>
              <a:t>提高遥感数据处理和分析的效率</a:t>
            </a:r>
            <a:endParaRPr lang="en-US" altLang="zh-CN" sz="1600" kern="0" dirty="0">
              <a:latin typeface="+mj-lt"/>
              <a:ea typeface="+mj-ea"/>
              <a:cs typeface="Times New Roman" panose="02020603050405020304" pitchFamily="18" charset="0"/>
            </a:endParaRPr>
          </a:p>
          <a:p>
            <a:pPr marL="285750" indent="-285750" algn="just">
              <a:lnSpc>
                <a:spcPct val="150000"/>
              </a:lnSpc>
              <a:buFont typeface="Arial" panose="020B0604020202020204" pitchFamily="34" charset="0"/>
              <a:buChar char="•"/>
            </a:pPr>
            <a:r>
              <a:rPr lang="zh-CN" altLang="en-US" sz="1600" kern="0" dirty="0">
                <a:latin typeface="+mj-lt"/>
                <a:ea typeface="+mj-ea"/>
                <a:cs typeface="Times New Roman" panose="02020603050405020304" pitchFamily="18" charset="0"/>
              </a:rPr>
              <a:t>尤其在分类和目标检测等任务中，使用相关性低的波段能够提供更加互补的信息，有助于提高最终分析结果的准确性</a:t>
            </a:r>
            <a:endParaRPr lang="en-US" altLang="zh-CN" sz="1600" kern="0" dirty="0">
              <a:effectLst/>
              <a:latin typeface="+mj-lt"/>
              <a:ea typeface="+mj-ea"/>
              <a:cs typeface="Times New Roman" panose="02020603050405020304" pitchFamily="18" charset="0"/>
            </a:endParaRPr>
          </a:p>
        </p:txBody>
      </p:sp>
    </p:spTree>
    <p:extLst>
      <p:ext uri="{BB962C8B-B14F-4D97-AF65-F5344CB8AC3E}">
        <p14:creationId xmlns:p14="http://schemas.microsoft.com/office/powerpoint/2010/main" val="11558348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D5B58F-6AA5-999D-9D31-E8A60ECDB3FE}"/>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9BE80A44-E65A-FA8B-1532-782F4CA1D9D9}"/>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4.4.2 </a:t>
            </a:r>
            <a:r>
              <a:rPr lang="zh-CN" altLang="en-US" sz="3600" dirty="0">
                <a:latin typeface="Times New Roman" panose="02020603050405020304" pitchFamily="18" charset="0"/>
                <a:cs typeface="Times New Roman" panose="02020603050405020304" pitchFamily="18" charset="0"/>
              </a:rPr>
              <a:t>遥感影像波段信息分析</a:t>
            </a:r>
          </a:p>
        </p:txBody>
      </p:sp>
      <p:sp>
        <p:nvSpPr>
          <p:cNvPr id="8" name="灯片编号占位符 7">
            <a:extLst>
              <a:ext uri="{FF2B5EF4-FFF2-40B4-BE49-F238E27FC236}">
                <a16:creationId xmlns:a16="http://schemas.microsoft.com/office/drawing/2014/main" id="{4BF9F34A-9C4B-C357-B2FA-F7C5D116C061}"/>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36</a:t>
            </a:fld>
            <a:endParaRPr lang="zh-CN" altLang="en-US" dirty="0">
              <a:solidFill>
                <a:schemeClr val="bg2">
                  <a:lumMod val="75000"/>
                </a:schemeClr>
              </a:solidFill>
            </a:endParaRPr>
          </a:p>
        </p:txBody>
      </p:sp>
      <p:sp>
        <p:nvSpPr>
          <p:cNvPr id="9" name="文本框 8">
            <a:extLst>
              <a:ext uri="{FF2B5EF4-FFF2-40B4-BE49-F238E27FC236}">
                <a16:creationId xmlns:a16="http://schemas.microsoft.com/office/drawing/2014/main" id="{B97FF6DD-1CE5-C482-9383-80C95FA597DF}"/>
              </a:ext>
            </a:extLst>
          </p:cNvPr>
          <p:cNvSpPr txBox="1"/>
          <p:nvPr/>
        </p:nvSpPr>
        <p:spPr>
          <a:xfrm>
            <a:off x="457200" y="1765503"/>
            <a:ext cx="3624710" cy="400110"/>
          </a:xfrm>
          <a:prstGeom prst="rect">
            <a:avLst/>
          </a:prstGeom>
          <a:noFill/>
        </p:spPr>
        <p:txBody>
          <a:bodyPr wrap="none" rtlCol="0">
            <a:spAutoFit/>
          </a:bodyPr>
          <a:lstStyle/>
          <a:p>
            <a:r>
              <a:rPr lang="en-US" altLang="zh-CN" sz="2000" b="1" dirty="0">
                <a:latin typeface="+mj-lt"/>
                <a:ea typeface="+mj-ea"/>
              </a:rPr>
              <a:t>(3) </a:t>
            </a:r>
            <a:r>
              <a:rPr lang="zh-CN" altLang="en-US" sz="2000" b="1" dirty="0">
                <a:latin typeface="+mj-lt"/>
                <a:ea typeface="+mj-ea"/>
              </a:rPr>
              <a:t>探究不同波段之间的相关性</a:t>
            </a:r>
          </a:p>
        </p:txBody>
      </p:sp>
      <p:sp>
        <p:nvSpPr>
          <p:cNvPr id="10" name="文本框 9">
            <a:extLst>
              <a:ext uri="{FF2B5EF4-FFF2-40B4-BE49-F238E27FC236}">
                <a16:creationId xmlns:a16="http://schemas.microsoft.com/office/drawing/2014/main" id="{27047CED-189C-CE16-543E-D50346FC0143}"/>
              </a:ext>
            </a:extLst>
          </p:cNvPr>
          <p:cNvSpPr txBox="1"/>
          <p:nvPr/>
        </p:nvSpPr>
        <p:spPr>
          <a:xfrm>
            <a:off x="651032" y="2286000"/>
            <a:ext cx="7502368" cy="1289712"/>
          </a:xfrm>
          <a:prstGeom prst="rect">
            <a:avLst/>
          </a:prstGeom>
          <a:noFill/>
        </p:spPr>
        <p:txBody>
          <a:bodyPr wrap="square">
            <a:spAutoFit/>
          </a:bodyPr>
          <a:lstStyle/>
          <a:p>
            <a:pPr indent="457200" algn="just">
              <a:lnSpc>
                <a:spcPct val="150000"/>
              </a:lnSpc>
            </a:pPr>
            <a:r>
              <a:rPr lang="zh-CN" altLang="en-US" kern="0" dirty="0">
                <a:latin typeface="+mj-lt"/>
                <a:ea typeface="+mj-ea"/>
                <a:cs typeface="Times New Roman" panose="02020603050405020304" pitchFamily="18" charset="0"/>
              </a:rPr>
              <a:t>在</a:t>
            </a:r>
            <a:r>
              <a:rPr lang="en-US" altLang="zh-CN" b="1" kern="0" dirty="0">
                <a:latin typeface="+mj-lt"/>
                <a:ea typeface="+mj-ea"/>
                <a:cs typeface="Times New Roman" panose="02020603050405020304" pitchFamily="18" charset="0"/>
              </a:rPr>
              <a:t>R</a:t>
            </a:r>
            <a:r>
              <a:rPr lang="zh-CN" altLang="en-US" kern="0" dirty="0">
                <a:latin typeface="+mj-lt"/>
                <a:ea typeface="+mj-ea"/>
                <a:cs typeface="Times New Roman" panose="02020603050405020304" pitchFamily="18" charset="0"/>
              </a:rPr>
              <a:t>语言的基础函数库</a:t>
            </a:r>
            <a:r>
              <a:rPr lang="en-US" altLang="zh-CN" b="1" kern="0" dirty="0">
                <a:latin typeface="+mj-lt"/>
                <a:ea typeface="+mj-ea"/>
                <a:cs typeface="Times New Roman" panose="02020603050405020304" pitchFamily="18" charset="0"/>
              </a:rPr>
              <a:t>graphics</a:t>
            </a:r>
            <a:r>
              <a:rPr lang="zh-CN" altLang="en-US" kern="0" dirty="0">
                <a:latin typeface="+mj-lt"/>
                <a:ea typeface="+mj-ea"/>
                <a:cs typeface="Times New Roman" panose="02020603050405020304" pitchFamily="18" charset="0"/>
              </a:rPr>
              <a:t>中，提供了</a:t>
            </a:r>
            <a:r>
              <a:rPr lang="en-US" altLang="zh-CN" b="1" i="1" kern="0" dirty="0">
                <a:latin typeface="+mj-lt"/>
                <a:ea typeface="+mj-ea"/>
                <a:cs typeface="Times New Roman" panose="02020603050405020304" pitchFamily="18" charset="0"/>
              </a:rPr>
              <a:t>pairs()</a:t>
            </a:r>
            <a:r>
              <a:rPr lang="zh-CN" altLang="en-US" kern="0" dirty="0">
                <a:latin typeface="+mj-lt"/>
                <a:ea typeface="+mj-ea"/>
                <a:cs typeface="Times New Roman" panose="02020603050405020304" pitchFamily="18" charset="0"/>
              </a:rPr>
              <a:t>函数，能够绘制红光、近红外与蓝光波段之间的</a:t>
            </a:r>
            <a:r>
              <a:rPr lang="zh-CN" altLang="en-US" b="1" kern="0" dirty="0">
                <a:latin typeface="+mj-lt"/>
                <a:ea typeface="+mj-ea"/>
                <a:cs typeface="Times New Roman" panose="02020603050405020304" pitchFamily="18" charset="0"/>
              </a:rPr>
              <a:t>散点图矩阵</a:t>
            </a:r>
            <a:r>
              <a:rPr lang="zh-CN" altLang="en-US" kern="0" dirty="0">
                <a:latin typeface="+mj-lt"/>
                <a:ea typeface="+mj-ea"/>
                <a:cs typeface="Times New Roman" panose="02020603050405020304" pitchFamily="18" charset="0"/>
              </a:rPr>
              <a:t>，既可以展示三个波段各自的分布特征，也可以观察不同波段数据两两之间的相关性。</a:t>
            </a:r>
            <a:endParaRPr lang="en-US" altLang="zh-CN" kern="0" dirty="0">
              <a:effectLst/>
              <a:latin typeface="+mj-lt"/>
              <a:ea typeface="+mj-ea"/>
              <a:cs typeface="Times New Roman" panose="02020603050405020304" pitchFamily="18" charset="0"/>
            </a:endParaRPr>
          </a:p>
        </p:txBody>
      </p:sp>
      <p:sp>
        <p:nvSpPr>
          <p:cNvPr id="2" name="文本框 1">
            <a:extLst>
              <a:ext uri="{FF2B5EF4-FFF2-40B4-BE49-F238E27FC236}">
                <a16:creationId xmlns:a16="http://schemas.microsoft.com/office/drawing/2014/main" id="{956A751D-72AF-9B1A-D15F-5622039F8394}"/>
              </a:ext>
            </a:extLst>
          </p:cNvPr>
          <p:cNvSpPr txBox="1"/>
          <p:nvPr/>
        </p:nvSpPr>
        <p:spPr>
          <a:xfrm>
            <a:off x="1181101" y="3696099"/>
            <a:ext cx="6579859" cy="830997"/>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s&lt;-r[[</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6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names(s)&lt;-c(</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Red"</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"NIR"</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"Blue</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pairs(s, main = </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"Red versus NIR versus Blue"</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26205630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FA2CF-BCEA-6AB6-C6C2-57CB3DC0AE27}"/>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1F7466D7-7CB7-32CF-F580-15F5C9338BC4}"/>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4.4.2 </a:t>
            </a:r>
            <a:r>
              <a:rPr lang="zh-CN" altLang="en-US" sz="3600" dirty="0">
                <a:latin typeface="Times New Roman" panose="02020603050405020304" pitchFamily="18" charset="0"/>
                <a:cs typeface="Times New Roman" panose="02020603050405020304" pitchFamily="18" charset="0"/>
              </a:rPr>
              <a:t>遥感影像波段信息分析</a:t>
            </a:r>
          </a:p>
        </p:txBody>
      </p:sp>
      <p:sp>
        <p:nvSpPr>
          <p:cNvPr id="8" name="灯片编号占位符 7">
            <a:extLst>
              <a:ext uri="{FF2B5EF4-FFF2-40B4-BE49-F238E27FC236}">
                <a16:creationId xmlns:a16="http://schemas.microsoft.com/office/drawing/2014/main" id="{CFB26DE9-65F9-081C-1247-7ECC724AC39B}"/>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37</a:t>
            </a:fld>
            <a:endParaRPr lang="zh-CN" altLang="en-US" dirty="0">
              <a:solidFill>
                <a:schemeClr val="bg2">
                  <a:lumMod val="75000"/>
                </a:schemeClr>
              </a:solidFill>
            </a:endParaRPr>
          </a:p>
        </p:txBody>
      </p:sp>
      <p:sp>
        <p:nvSpPr>
          <p:cNvPr id="9" name="文本框 8">
            <a:extLst>
              <a:ext uri="{FF2B5EF4-FFF2-40B4-BE49-F238E27FC236}">
                <a16:creationId xmlns:a16="http://schemas.microsoft.com/office/drawing/2014/main" id="{75D77C19-1EB0-056E-AE05-3532C1D7796C}"/>
              </a:ext>
            </a:extLst>
          </p:cNvPr>
          <p:cNvSpPr txBox="1"/>
          <p:nvPr/>
        </p:nvSpPr>
        <p:spPr>
          <a:xfrm>
            <a:off x="228600" y="1732021"/>
            <a:ext cx="3624710" cy="400110"/>
          </a:xfrm>
          <a:prstGeom prst="rect">
            <a:avLst/>
          </a:prstGeom>
          <a:noFill/>
        </p:spPr>
        <p:txBody>
          <a:bodyPr wrap="none" rtlCol="0">
            <a:spAutoFit/>
          </a:bodyPr>
          <a:lstStyle/>
          <a:p>
            <a:r>
              <a:rPr lang="en-US" altLang="zh-CN" sz="2000" b="1" dirty="0">
                <a:latin typeface="+mj-lt"/>
                <a:ea typeface="+mj-ea"/>
              </a:rPr>
              <a:t>(3) </a:t>
            </a:r>
            <a:r>
              <a:rPr lang="zh-CN" altLang="en-US" sz="2000" b="1" dirty="0">
                <a:latin typeface="+mj-lt"/>
                <a:ea typeface="+mj-ea"/>
              </a:rPr>
              <a:t>探究不同波段之间的相关性</a:t>
            </a:r>
          </a:p>
        </p:txBody>
      </p:sp>
      <p:sp>
        <p:nvSpPr>
          <p:cNvPr id="10" name="文本框 9">
            <a:extLst>
              <a:ext uri="{FF2B5EF4-FFF2-40B4-BE49-F238E27FC236}">
                <a16:creationId xmlns:a16="http://schemas.microsoft.com/office/drawing/2014/main" id="{289B6FC1-EB33-BA8A-85DA-31113C5EEC7E}"/>
              </a:ext>
            </a:extLst>
          </p:cNvPr>
          <p:cNvSpPr txBox="1"/>
          <p:nvPr/>
        </p:nvSpPr>
        <p:spPr>
          <a:xfrm>
            <a:off x="415290" y="2324100"/>
            <a:ext cx="3543300" cy="3003386"/>
          </a:xfrm>
          <a:prstGeom prst="rect">
            <a:avLst/>
          </a:prstGeom>
          <a:noFill/>
        </p:spPr>
        <p:txBody>
          <a:bodyPr wrap="square">
            <a:spAutoFit/>
          </a:bodyPr>
          <a:lstStyle/>
          <a:p>
            <a:pPr indent="457200" algn="just">
              <a:lnSpc>
                <a:spcPct val="150000"/>
              </a:lnSpc>
            </a:pPr>
            <a:r>
              <a:rPr lang="zh-CN" altLang="en-US" sz="1600" kern="0" dirty="0">
                <a:latin typeface="+mj-lt"/>
                <a:ea typeface="+mj-ea"/>
                <a:cs typeface="Times New Roman" panose="02020603050405020304" pitchFamily="18" charset="0"/>
              </a:rPr>
              <a:t>在红光与近红外波段之间的散点图中，存在着一个比较明显的</a:t>
            </a:r>
            <a:r>
              <a:rPr lang="zh-CN" altLang="en-US" sz="1600" b="1" kern="0" dirty="0">
                <a:latin typeface="+mj-lt"/>
                <a:ea typeface="+mj-ea"/>
                <a:cs typeface="Times New Roman" panose="02020603050405020304" pitchFamily="18" charset="0"/>
              </a:rPr>
              <a:t>三角形的分布特征</a:t>
            </a:r>
            <a:r>
              <a:rPr lang="zh-CN" altLang="en-US" sz="1600" kern="0" dirty="0">
                <a:latin typeface="+mj-lt"/>
                <a:ea typeface="+mj-ea"/>
                <a:cs typeface="Times New Roman" panose="02020603050405020304" pitchFamily="18" charset="0"/>
              </a:rPr>
              <a:t>，由于植被在近红外波段的反射率高于红光波段，因而导致影像区域中存在较多植被时出现三角形特征。此外，红光与蓝光波段之间的</a:t>
            </a:r>
            <a:r>
              <a:rPr lang="zh-CN" altLang="en-US" sz="1600" b="1" kern="0" dirty="0">
                <a:latin typeface="+mj-lt"/>
                <a:ea typeface="+mj-ea"/>
                <a:cs typeface="Times New Roman" panose="02020603050405020304" pitchFamily="18" charset="0"/>
              </a:rPr>
              <a:t>相关性非常高</a:t>
            </a:r>
            <a:r>
              <a:rPr lang="zh-CN" altLang="en-US" sz="1600" kern="0" dirty="0">
                <a:latin typeface="+mj-lt"/>
                <a:ea typeface="+mj-ea"/>
                <a:cs typeface="Times New Roman" panose="02020603050405020304" pitchFamily="18" charset="0"/>
              </a:rPr>
              <a:t>，因此为了减少数据维度，可以仅使用其中一个波段信息。</a:t>
            </a:r>
            <a:endParaRPr lang="en-US" altLang="zh-CN" sz="1600" kern="0" dirty="0">
              <a:effectLst/>
              <a:latin typeface="+mj-lt"/>
              <a:ea typeface="+mj-ea"/>
              <a:cs typeface="Times New Roman" panose="02020603050405020304" pitchFamily="18" charset="0"/>
            </a:endParaRPr>
          </a:p>
        </p:txBody>
      </p:sp>
      <p:pic>
        <p:nvPicPr>
          <p:cNvPr id="3" name="图片 2">
            <a:extLst>
              <a:ext uri="{FF2B5EF4-FFF2-40B4-BE49-F238E27FC236}">
                <a16:creationId xmlns:a16="http://schemas.microsoft.com/office/drawing/2014/main" id="{9F5FAF8B-0A7A-0695-EEB0-0213DDF99F7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191000" y="1790700"/>
            <a:ext cx="4461510" cy="428244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5499104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BE3B4C-DF8A-10E2-0845-87B223742B78}"/>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C078128F-16EA-2B4F-9FD1-339D077A14F9}"/>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4.4.3 </a:t>
            </a:r>
            <a:r>
              <a:rPr lang="zh-CN" altLang="en-US" sz="3600" dirty="0">
                <a:latin typeface="Times New Roman" panose="02020603050405020304" pitchFamily="18" charset="0"/>
                <a:cs typeface="Times New Roman" panose="02020603050405020304" pitchFamily="18" charset="0"/>
              </a:rPr>
              <a:t>归一化植被指数计算</a:t>
            </a:r>
          </a:p>
        </p:txBody>
      </p:sp>
      <p:sp>
        <p:nvSpPr>
          <p:cNvPr id="8" name="灯片编号占位符 7">
            <a:extLst>
              <a:ext uri="{FF2B5EF4-FFF2-40B4-BE49-F238E27FC236}">
                <a16:creationId xmlns:a16="http://schemas.microsoft.com/office/drawing/2014/main" id="{CDE108AE-F28A-6E64-72F6-2DB1609CBC6F}"/>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38</a:t>
            </a:fld>
            <a:endParaRPr lang="zh-CN" altLang="en-US" dirty="0">
              <a:solidFill>
                <a:schemeClr val="bg2">
                  <a:lumMod val="75000"/>
                </a:schemeClr>
              </a:solidFill>
            </a:endParaRPr>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F6C1A882-D39A-74C1-A392-AF6C80610CCC}"/>
                  </a:ext>
                </a:extLst>
              </p:cNvPr>
              <p:cNvSpPr txBox="1"/>
              <p:nvPr/>
            </p:nvSpPr>
            <p:spPr>
              <a:xfrm>
                <a:off x="800888" y="1403977"/>
                <a:ext cx="7542222" cy="3367204"/>
              </a:xfrm>
              <a:prstGeom prst="rect">
                <a:avLst/>
              </a:prstGeom>
              <a:noFill/>
            </p:spPr>
            <p:txBody>
              <a:bodyPr wrap="square">
                <a:spAutoFit/>
              </a:bodyPr>
              <a:lstStyle/>
              <a:p>
                <a:pPr indent="457200" algn="just">
                  <a:lnSpc>
                    <a:spcPct val="150000"/>
                  </a:lnSpc>
                </a:pPr>
                <a:r>
                  <a:rPr lang="zh-CN" altLang="en-US" b="1" kern="0" dirty="0">
                    <a:latin typeface="+mj-lt"/>
                    <a:ea typeface="+mj-ea"/>
                    <a:cs typeface="Times New Roman" panose="02020603050405020304" pitchFamily="18" charset="0"/>
                  </a:rPr>
                  <a:t>归一化植被指数</a:t>
                </a:r>
                <a:r>
                  <a:rPr lang="en-US" altLang="zh-CN" kern="0" dirty="0">
                    <a:latin typeface="+mj-lt"/>
                    <a:ea typeface="+mj-ea"/>
                    <a:cs typeface="Times New Roman" panose="02020603050405020304" pitchFamily="18" charset="0"/>
                  </a:rPr>
                  <a:t>(NDVI)</a:t>
                </a:r>
                <a:r>
                  <a:rPr lang="zh-CN" altLang="en-US" kern="0" dirty="0">
                    <a:latin typeface="+mj-lt"/>
                    <a:ea typeface="+mj-ea"/>
                    <a:cs typeface="Times New Roman" panose="02020603050405020304" pitchFamily="18" charset="0"/>
                  </a:rPr>
                  <a:t>是衡量植被生长情况和健康状况的基础指标之一，计算公式为：</a:t>
                </a:r>
                <a:endParaRPr lang="en-US" altLang="zh-CN" kern="0" dirty="0">
                  <a:latin typeface="+mj-lt"/>
                  <a:ea typeface="+mj-ea"/>
                  <a:cs typeface="Times New Roman" panose="02020603050405020304" pitchFamily="18" charset="0"/>
                </a:endParaRPr>
              </a:p>
              <a:p>
                <a:pPr indent="457200" algn="just">
                  <a:lnSpc>
                    <a:spcPct val="150000"/>
                  </a:lnSpc>
                </a:pPr>
                <a:endParaRPr lang="en-US" altLang="zh-CN" kern="0" dirty="0">
                  <a:effectLst/>
                  <a:latin typeface="+mj-lt"/>
                  <a:ea typeface="+mj-ea"/>
                  <a:cs typeface="Times New Roman" panose="02020603050405020304" pitchFamily="18" charset="0"/>
                </a:endParaRPr>
              </a:p>
              <a:p>
                <a:pPr indent="457200" algn="just">
                  <a:lnSpc>
                    <a:spcPct val="150000"/>
                  </a:lnSpc>
                </a:pPr>
                <a:endParaRPr lang="en-US" altLang="zh-CN" kern="0" dirty="0">
                  <a:latin typeface="+mj-lt"/>
                  <a:ea typeface="+mj-ea"/>
                  <a:cs typeface="Times New Roman" panose="02020603050405020304" pitchFamily="18" charset="0"/>
                </a:endParaRPr>
              </a:p>
              <a:p>
                <a:pPr algn="just">
                  <a:lnSpc>
                    <a:spcPct val="150000"/>
                  </a:lnSpc>
                </a:pPr>
                <a:r>
                  <a:rPr lang="zh-CN" altLang="en-US" kern="0" dirty="0">
                    <a:latin typeface="+mj-lt"/>
                    <a:ea typeface="+mj-ea"/>
                    <a:cs typeface="Times New Roman" panose="02020603050405020304" pitchFamily="18" charset="0"/>
                  </a:rPr>
                  <a:t>其中，</a:t>
                </a:r>
                <a14:m>
                  <m:oMath xmlns:m="http://schemas.openxmlformats.org/officeDocument/2006/math">
                    <m:r>
                      <a:rPr lang="en-US" altLang="zh-CN" sz="1800" i="1" kern="0" smtClean="0">
                        <a:effectLst/>
                        <a:latin typeface="Cambria Math" panose="02040503050406030204" pitchFamily="18" charset="0"/>
                        <a:ea typeface="宋体" panose="02010600030101010101" pitchFamily="2" charset="-122"/>
                        <a:cs typeface="Times New Roman" panose="02020603050405020304" pitchFamily="18" charset="0"/>
                      </a:rPr>
                      <m:t>𝑁𝐼𝑅</m:t>
                    </m:r>
                  </m:oMath>
                </a14:m>
                <a:r>
                  <a:rPr lang="zh-CN" altLang="en-US" kern="0" dirty="0">
                    <a:latin typeface="+mj-lt"/>
                    <a:ea typeface="+mj-ea"/>
                    <a:cs typeface="Times New Roman" panose="02020603050405020304" pitchFamily="18" charset="0"/>
                  </a:rPr>
                  <a:t>表示近红外波段的反射率值，</a:t>
                </a:r>
                <a14:m>
                  <m:oMath xmlns:m="http://schemas.openxmlformats.org/officeDocument/2006/math">
                    <m:r>
                      <a:rPr lang="en-US" altLang="zh-CN" i="1">
                        <a:latin typeface="Cambria Math" panose="02040503050406030204" pitchFamily="18" charset="0"/>
                      </a:rPr>
                      <m:t>𝑅𝐸𝐷</m:t>
                    </m:r>
                  </m:oMath>
                </a14:m>
                <a:r>
                  <a:rPr lang="zh-CN" altLang="en-US" kern="0" dirty="0">
                    <a:latin typeface="+mj-lt"/>
                    <a:ea typeface="+mj-ea"/>
                    <a:cs typeface="Times New Roman" panose="02020603050405020304" pitchFamily="18" charset="0"/>
                  </a:rPr>
                  <a:t>表示红光波段的反射率值。</a:t>
                </a:r>
                <a:endParaRPr lang="en-US" altLang="zh-CN" kern="0" dirty="0">
                  <a:latin typeface="+mj-lt"/>
                  <a:ea typeface="+mj-ea"/>
                  <a:cs typeface="Times New Roman" panose="02020603050405020304" pitchFamily="18" charset="0"/>
                </a:endParaRPr>
              </a:p>
              <a:p>
                <a:pPr indent="457200" algn="just">
                  <a:lnSpc>
                    <a:spcPct val="150000"/>
                  </a:lnSpc>
                </a:pPr>
                <a:r>
                  <a:rPr lang="zh-CN" altLang="en-US" kern="0" dirty="0">
                    <a:latin typeface="+mj-lt"/>
                    <a:ea typeface="+mj-ea"/>
                    <a:cs typeface="Times New Roman" panose="02020603050405020304" pitchFamily="18" charset="0"/>
                  </a:rPr>
                  <a:t>读入遥感影像之后，先使用</a:t>
                </a:r>
                <a:r>
                  <a:rPr lang="en-US" altLang="zh-CN" b="1" i="1" kern="0" dirty="0">
                    <a:latin typeface="+mj-lt"/>
                    <a:ea typeface="+mj-ea"/>
                    <a:cs typeface="Times New Roman" panose="02020603050405020304" pitchFamily="18" charset="0"/>
                  </a:rPr>
                  <a:t>clamp()</a:t>
                </a:r>
                <a:r>
                  <a:rPr lang="zh-CN" altLang="en-US" kern="0" dirty="0">
                    <a:latin typeface="+mj-lt"/>
                    <a:ea typeface="+mj-ea"/>
                    <a:cs typeface="Times New Roman" panose="02020603050405020304" pitchFamily="18" charset="0"/>
                  </a:rPr>
                  <a:t>函数将遥感影像的值限制在</a:t>
                </a:r>
                <a:r>
                  <a:rPr lang="en-US" altLang="zh-CN" kern="0" dirty="0">
                    <a:latin typeface="+mj-lt"/>
                    <a:ea typeface="+mj-ea"/>
                    <a:cs typeface="Times New Roman" panose="02020603050405020304" pitchFamily="18" charset="0"/>
                  </a:rPr>
                  <a:t>0</a:t>
                </a:r>
                <a:r>
                  <a:rPr lang="zh-CN" altLang="en-US" kern="0" dirty="0">
                    <a:latin typeface="+mj-lt"/>
                    <a:ea typeface="+mj-ea"/>
                    <a:cs typeface="Times New Roman" panose="02020603050405020304" pitchFamily="18" charset="0"/>
                  </a:rPr>
                  <a:t>到</a:t>
                </a:r>
                <a:r>
                  <a:rPr lang="en-US" altLang="zh-CN" kern="0" dirty="0">
                    <a:latin typeface="+mj-lt"/>
                    <a:ea typeface="+mj-ea"/>
                    <a:cs typeface="Times New Roman" panose="02020603050405020304" pitchFamily="18" charset="0"/>
                  </a:rPr>
                  <a:t>1</a:t>
                </a:r>
                <a:r>
                  <a:rPr lang="zh-CN" altLang="en-US" kern="0" dirty="0">
                    <a:latin typeface="+mj-lt"/>
                    <a:ea typeface="+mj-ea"/>
                    <a:cs typeface="Times New Roman" panose="02020603050405020304" pitchFamily="18" charset="0"/>
                  </a:rPr>
                  <a:t>之间，避免可能存在的范围外的异常值的影响，接着按照公式计算</a:t>
                </a:r>
                <a:r>
                  <a:rPr lang="en-US" altLang="zh-CN" kern="0" dirty="0">
                    <a:latin typeface="+mj-lt"/>
                    <a:ea typeface="+mj-ea"/>
                    <a:cs typeface="Times New Roman" panose="02020603050405020304" pitchFamily="18" charset="0"/>
                  </a:rPr>
                  <a:t>NDVI</a:t>
                </a:r>
                <a:r>
                  <a:rPr lang="zh-CN" altLang="en-US" kern="0" dirty="0">
                    <a:latin typeface="+mj-lt"/>
                    <a:ea typeface="+mj-ea"/>
                    <a:cs typeface="Times New Roman" panose="02020603050405020304" pitchFamily="18" charset="0"/>
                  </a:rPr>
                  <a:t>，并进行可视化：</a:t>
                </a:r>
                <a:endParaRPr lang="en-US" altLang="zh-CN" kern="0" dirty="0">
                  <a:latin typeface="+mj-lt"/>
                  <a:ea typeface="+mj-ea"/>
                  <a:cs typeface="Times New Roman" panose="02020603050405020304" pitchFamily="18" charset="0"/>
                </a:endParaRPr>
              </a:p>
            </p:txBody>
          </p:sp>
        </mc:Choice>
        <mc:Fallback xmlns="">
          <p:sp>
            <p:nvSpPr>
              <p:cNvPr id="10" name="文本框 9">
                <a:extLst>
                  <a:ext uri="{FF2B5EF4-FFF2-40B4-BE49-F238E27FC236}">
                    <a16:creationId xmlns:a16="http://schemas.microsoft.com/office/drawing/2014/main" id="{F6C1A882-D39A-74C1-A392-AF6C80610CCC}"/>
                  </a:ext>
                </a:extLst>
              </p:cNvPr>
              <p:cNvSpPr txBox="1">
                <a:spLocks noRot="1" noChangeAspect="1" noMove="1" noResize="1" noEditPoints="1" noAdjustHandles="1" noChangeArrowheads="1" noChangeShapeType="1" noTextEdit="1"/>
              </p:cNvSpPr>
              <p:nvPr/>
            </p:nvSpPr>
            <p:spPr>
              <a:xfrm>
                <a:off x="800888" y="1403977"/>
                <a:ext cx="7542222" cy="3367204"/>
              </a:xfrm>
              <a:prstGeom prst="rect">
                <a:avLst/>
              </a:prstGeom>
              <a:blipFill>
                <a:blip r:embed="rId2"/>
                <a:stretch>
                  <a:fillRect l="-646" r="-646" b="-18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E0F2FE89-C9F1-93B6-9D40-C8BCF37168C9}"/>
                  </a:ext>
                </a:extLst>
              </p:cNvPr>
              <p:cNvSpPr txBox="1"/>
              <p:nvPr/>
            </p:nvSpPr>
            <p:spPr>
              <a:xfrm>
                <a:off x="800888" y="2340806"/>
                <a:ext cx="7542222" cy="66909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𝑁𝐷𝑉𝐼</m:t>
                      </m:r>
                      <m:r>
                        <a:rPr lang="zh-CN" altLang="en-US" i="0">
                          <a:latin typeface="Cambria Math" panose="02040503050406030204" pitchFamily="18" charset="0"/>
                        </a:rPr>
                        <m:t>=</m:t>
                      </m:r>
                      <m:f>
                        <m:fPr>
                          <m:ctrlPr>
                            <a:rPr lang="zh-CN" altLang="en-US" i="1">
                              <a:solidFill>
                                <a:srgbClr val="836967"/>
                              </a:solidFill>
                              <a:latin typeface="Cambria Math" panose="02040503050406030204" pitchFamily="18" charset="0"/>
                            </a:rPr>
                          </m:ctrlPr>
                        </m:fPr>
                        <m:num>
                          <m:d>
                            <m:dPr>
                              <m:ctrlPr>
                                <a:rPr lang="zh-CN" altLang="en-US" i="1">
                                  <a:solidFill>
                                    <a:srgbClr val="836967"/>
                                  </a:solidFill>
                                  <a:latin typeface="Cambria Math" panose="02040503050406030204" pitchFamily="18" charset="0"/>
                                </a:rPr>
                              </m:ctrlPr>
                            </m:dPr>
                            <m:e>
                              <m:r>
                                <a:rPr lang="zh-CN" altLang="en-US" i="1">
                                  <a:latin typeface="Cambria Math" panose="02040503050406030204" pitchFamily="18" charset="0"/>
                                </a:rPr>
                                <m:t>𝑁𝐼𝑅</m:t>
                              </m:r>
                              <m:r>
                                <a:rPr lang="zh-CN" altLang="en-US" i="0">
                                  <a:latin typeface="Cambria Math" panose="02040503050406030204" pitchFamily="18" charset="0"/>
                                </a:rPr>
                                <m:t>−</m:t>
                              </m:r>
                              <m:r>
                                <a:rPr lang="zh-CN" altLang="en-US" i="1">
                                  <a:latin typeface="Cambria Math" panose="02040503050406030204" pitchFamily="18" charset="0"/>
                                </a:rPr>
                                <m:t>𝑅𝐸𝐷</m:t>
                              </m:r>
                            </m:e>
                          </m:d>
                        </m:num>
                        <m:den>
                          <m:d>
                            <m:dPr>
                              <m:ctrlPr>
                                <a:rPr lang="zh-CN" altLang="en-US" i="1">
                                  <a:solidFill>
                                    <a:srgbClr val="836967"/>
                                  </a:solidFill>
                                  <a:latin typeface="Cambria Math" panose="02040503050406030204" pitchFamily="18" charset="0"/>
                                </a:rPr>
                              </m:ctrlPr>
                            </m:dPr>
                            <m:e>
                              <m:r>
                                <a:rPr lang="zh-CN" altLang="en-US" i="1">
                                  <a:latin typeface="Cambria Math" panose="02040503050406030204" pitchFamily="18" charset="0"/>
                                </a:rPr>
                                <m:t>𝑁𝐼𝑅</m:t>
                              </m:r>
                              <m:r>
                                <a:rPr lang="zh-CN" altLang="en-US" i="0">
                                  <a:latin typeface="Cambria Math" panose="02040503050406030204" pitchFamily="18" charset="0"/>
                                </a:rPr>
                                <m:t>+</m:t>
                              </m:r>
                              <m:r>
                                <a:rPr lang="zh-CN" altLang="en-US" i="1">
                                  <a:latin typeface="Cambria Math" panose="02040503050406030204" pitchFamily="18" charset="0"/>
                                </a:rPr>
                                <m:t>𝑅𝐸𝐷</m:t>
                              </m:r>
                            </m:e>
                          </m:d>
                        </m:den>
                      </m:f>
                    </m:oMath>
                  </m:oMathPara>
                </a14:m>
                <a:endParaRPr lang="zh-CN" altLang="en-US" dirty="0"/>
              </a:p>
            </p:txBody>
          </p:sp>
        </mc:Choice>
        <mc:Fallback xmlns="">
          <p:sp>
            <p:nvSpPr>
              <p:cNvPr id="4" name="文本框 3">
                <a:extLst>
                  <a:ext uri="{FF2B5EF4-FFF2-40B4-BE49-F238E27FC236}">
                    <a16:creationId xmlns:a16="http://schemas.microsoft.com/office/drawing/2014/main" id="{E0F2FE89-C9F1-93B6-9D40-C8BCF37168C9}"/>
                  </a:ext>
                </a:extLst>
              </p:cNvPr>
              <p:cNvSpPr txBox="1">
                <a:spLocks noRot="1" noChangeAspect="1" noMove="1" noResize="1" noEditPoints="1" noAdjustHandles="1" noChangeArrowheads="1" noChangeShapeType="1" noTextEdit="1"/>
              </p:cNvSpPr>
              <p:nvPr/>
            </p:nvSpPr>
            <p:spPr>
              <a:xfrm>
                <a:off x="800888" y="2340806"/>
                <a:ext cx="7542222" cy="669094"/>
              </a:xfrm>
              <a:prstGeom prst="rect">
                <a:avLst/>
              </a:prstGeom>
              <a:blipFill>
                <a:blip r:embed="rId3"/>
                <a:stretch>
                  <a:fillRect/>
                </a:stretch>
              </a:blipFill>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591EE79C-B8DA-477E-C360-011DABE477D6}"/>
              </a:ext>
            </a:extLst>
          </p:cNvPr>
          <p:cNvSpPr txBox="1"/>
          <p:nvPr/>
        </p:nvSpPr>
        <p:spPr>
          <a:xfrm>
            <a:off x="1181101" y="4877013"/>
            <a:ext cx="6579859" cy="830997"/>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r&lt;-clamp(r, </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ndvi</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(r[[</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 r[[</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/(r[[</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 r[[</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ndvi</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main=</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"NDVI"</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35644236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CCBF8-70FD-F1C6-4633-C12C375F7598}"/>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62791A4E-0DD0-07C9-C65D-E7895AE08369}"/>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4.4.3 </a:t>
            </a:r>
            <a:r>
              <a:rPr lang="zh-CN" altLang="en-US" sz="3600" dirty="0">
                <a:latin typeface="Times New Roman" panose="02020603050405020304" pitchFamily="18" charset="0"/>
                <a:cs typeface="Times New Roman" panose="02020603050405020304" pitchFamily="18" charset="0"/>
              </a:rPr>
              <a:t>归一化植被指数计算</a:t>
            </a:r>
          </a:p>
        </p:txBody>
      </p:sp>
      <p:sp>
        <p:nvSpPr>
          <p:cNvPr id="8" name="灯片编号占位符 7">
            <a:extLst>
              <a:ext uri="{FF2B5EF4-FFF2-40B4-BE49-F238E27FC236}">
                <a16:creationId xmlns:a16="http://schemas.microsoft.com/office/drawing/2014/main" id="{0C36699C-DE69-0BB9-11F0-55ACBAEC48D5}"/>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39</a:t>
            </a:fld>
            <a:endParaRPr lang="zh-CN" altLang="en-US" dirty="0">
              <a:solidFill>
                <a:schemeClr val="bg2">
                  <a:lumMod val="75000"/>
                </a:schemeClr>
              </a:solidFill>
            </a:endParaRPr>
          </a:p>
        </p:txBody>
      </p:sp>
      <p:sp>
        <p:nvSpPr>
          <p:cNvPr id="10" name="文本框 9">
            <a:extLst>
              <a:ext uri="{FF2B5EF4-FFF2-40B4-BE49-F238E27FC236}">
                <a16:creationId xmlns:a16="http://schemas.microsoft.com/office/drawing/2014/main" id="{F03281E8-1AF9-DB73-EE5E-F9E548C352B8}"/>
              </a:ext>
            </a:extLst>
          </p:cNvPr>
          <p:cNvSpPr txBox="1"/>
          <p:nvPr/>
        </p:nvSpPr>
        <p:spPr>
          <a:xfrm>
            <a:off x="438544" y="1403041"/>
            <a:ext cx="3866756" cy="4850046"/>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altLang="zh-CN" sz="1600" b="1" kern="0" dirty="0">
                <a:latin typeface="+mj-lt"/>
                <a:ea typeface="+mj-ea"/>
                <a:cs typeface="Times New Roman" panose="02020603050405020304" pitchFamily="18" charset="0"/>
              </a:rPr>
              <a:t>NDVI</a:t>
            </a:r>
            <a:r>
              <a:rPr lang="zh-CN" altLang="en-US" sz="1600" b="1" kern="0" dirty="0">
                <a:latin typeface="+mj-lt"/>
                <a:ea typeface="+mj-ea"/>
                <a:cs typeface="Times New Roman" panose="02020603050405020304" pitchFamily="18" charset="0"/>
              </a:rPr>
              <a:t>为正值</a:t>
            </a:r>
            <a:r>
              <a:rPr lang="zh-CN" altLang="en-US" sz="1600" kern="0" dirty="0">
                <a:latin typeface="+mj-lt"/>
                <a:ea typeface="+mj-ea"/>
                <a:cs typeface="Times New Roman" panose="02020603050405020304" pitchFamily="18" charset="0"/>
              </a:rPr>
              <a:t>：地表反射了较多的近红外光和较少的红光，通常反映出健康植被的存在，且该值越接近</a:t>
            </a:r>
            <a:r>
              <a:rPr lang="en-US" altLang="zh-CN" sz="1600" kern="0" dirty="0">
                <a:latin typeface="+mj-lt"/>
                <a:ea typeface="+mj-ea"/>
                <a:cs typeface="Times New Roman" panose="02020603050405020304" pitchFamily="18" charset="0"/>
              </a:rPr>
              <a:t>1</a:t>
            </a:r>
            <a:r>
              <a:rPr lang="zh-CN" altLang="en-US" sz="1600" kern="0" dirty="0">
                <a:latin typeface="+mj-lt"/>
                <a:ea typeface="+mj-ea"/>
                <a:cs typeface="Times New Roman" panose="02020603050405020304" pitchFamily="18" charset="0"/>
              </a:rPr>
              <a:t>，说明植被覆盖越密集、健康状况越好；</a:t>
            </a:r>
            <a:endParaRPr lang="en-US" altLang="zh-CN" sz="1600" kern="0" dirty="0">
              <a:latin typeface="+mj-lt"/>
              <a:ea typeface="+mj-ea"/>
              <a:cs typeface="Times New Roman" panose="02020603050405020304" pitchFamily="18" charset="0"/>
            </a:endParaRPr>
          </a:p>
          <a:p>
            <a:pPr marL="285750" indent="-285750" algn="just">
              <a:lnSpc>
                <a:spcPct val="150000"/>
              </a:lnSpc>
              <a:buFont typeface="Arial" panose="020B0604020202020204" pitchFamily="34" charset="0"/>
              <a:buChar char="•"/>
            </a:pPr>
            <a:r>
              <a:rPr lang="en-US" altLang="zh-CN" sz="1600" b="1" kern="0" dirty="0">
                <a:latin typeface="+mj-lt"/>
                <a:ea typeface="+mj-ea"/>
                <a:cs typeface="Times New Roman" panose="02020603050405020304" pitchFamily="18" charset="0"/>
              </a:rPr>
              <a:t>NDVI</a:t>
            </a:r>
            <a:r>
              <a:rPr lang="zh-CN" altLang="en-US" sz="1600" b="1" kern="0" dirty="0">
                <a:latin typeface="+mj-lt"/>
                <a:ea typeface="+mj-ea"/>
                <a:cs typeface="Times New Roman" panose="02020603050405020304" pitchFamily="18" charset="0"/>
              </a:rPr>
              <a:t>值接近</a:t>
            </a:r>
            <a:r>
              <a:rPr lang="en-US" altLang="zh-CN" sz="1600" b="1" kern="0" dirty="0">
                <a:latin typeface="+mj-lt"/>
                <a:ea typeface="+mj-ea"/>
                <a:cs typeface="Times New Roman" panose="02020603050405020304" pitchFamily="18" charset="0"/>
              </a:rPr>
              <a:t>0</a:t>
            </a:r>
            <a:r>
              <a:rPr lang="zh-CN" altLang="en-US" sz="1600" kern="0" dirty="0">
                <a:latin typeface="+mj-lt"/>
                <a:ea typeface="+mj-ea"/>
                <a:cs typeface="Times New Roman" panose="02020603050405020304" pitchFamily="18" charset="0"/>
              </a:rPr>
              <a:t>：地表对红光和近红外光的反射大致相同，通常对应于无植被的裸露地表、城市区域或稀疏植被</a:t>
            </a:r>
            <a:endParaRPr lang="en-US" altLang="zh-CN" sz="1600" kern="0" dirty="0">
              <a:latin typeface="+mj-lt"/>
              <a:ea typeface="+mj-ea"/>
              <a:cs typeface="Times New Roman" panose="02020603050405020304" pitchFamily="18" charset="0"/>
            </a:endParaRPr>
          </a:p>
          <a:p>
            <a:pPr marL="285750" indent="-285750" algn="just">
              <a:lnSpc>
                <a:spcPct val="150000"/>
              </a:lnSpc>
              <a:buFont typeface="Arial" panose="020B0604020202020204" pitchFamily="34" charset="0"/>
              <a:buChar char="•"/>
            </a:pPr>
            <a:r>
              <a:rPr lang="en-US" altLang="zh-CN" sz="1600" b="1" kern="0" dirty="0">
                <a:latin typeface="+mj-lt"/>
                <a:ea typeface="+mj-ea"/>
                <a:cs typeface="Times New Roman" panose="02020603050405020304" pitchFamily="18" charset="0"/>
              </a:rPr>
              <a:t>NDVI</a:t>
            </a:r>
            <a:r>
              <a:rPr lang="zh-CN" altLang="en-US" sz="1600" b="1" kern="0" dirty="0">
                <a:latin typeface="+mj-lt"/>
                <a:ea typeface="+mj-ea"/>
                <a:cs typeface="Times New Roman" panose="02020603050405020304" pitchFamily="18" charset="0"/>
              </a:rPr>
              <a:t>值为负</a:t>
            </a:r>
            <a:r>
              <a:rPr lang="zh-CN" altLang="en-US" sz="1600" kern="0" dirty="0">
                <a:latin typeface="+mj-lt"/>
                <a:ea typeface="+mj-ea"/>
                <a:cs typeface="Times New Roman" panose="02020603050405020304" pitchFamily="18" charset="0"/>
              </a:rPr>
              <a:t>：地表反射了较多的红光和较少的近红外光，通常指示水体、雪地或云层</a:t>
            </a:r>
            <a:endParaRPr lang="en-US" altLang="zh-CN" sz="1600" kern="0" dirty="0">
              <a:latin typeface="+mj-lt"/>
              <a:ea typeface="+mj-ea"/>
              <a:cs typeface="Times New Roman" panose="02020603050405020304" pitchFamily="18" charset="0"/>
            </a:endParaRPr>
          </a:p>
          <a:p>
            <a:pPr marL="285750" indent="-285750" algn="just">
              <a:lnSpc>
                <a:spcPct val="150000"/>
              </a:lnSpc>
              <a:buFont typeface="Arial" panose="020B0604020202020204" pitchFamily="34" charset="0"/>
              <a:buChar char="•"/>
            </a:pPr>
            <a:r>
              <a:rPr lang="zh-CN" altLang="en-US" sz="1600" kern="0" dirty="0">
                <a:latin typeface="+mj-lt"/>
                <a:ea typeface="+mj-ea"/>
                <a:cs typeface="Times New Roman" panose="02020603050405020304" pitchFamily="18" charset="0"/>
              </a:rPr>
              <a:t>观察右图可以发现，该影像对应区域存在着大面积的健康植被，且在影像上方区域存在着一定的水体</a:t>
            </a:r>
            <a:endParaRPr lang="en-US" altLang="zh-CN" sz="1600" kern="0" dirty="0">
              <a:latin typeface="+mj-lt"/>
              <a:ea typeface="+mj-ea"/>
              <a:cs typeface="Times New Roman" panose="02020603050405020304" pitchFamily="18" charset="0"/>
            </a:endParaRPr>
          </a:p>
        </p:txBody>
      </p:sp>
      <p:pic>
        <p:nvPicPr>
          <p:cNvPr id="2" name="图片 1">
            <a:extLst>
              <a:ext uri="{FF2B5EF4-FFF2-40B4-BE49-F238E27FC236}">
                <a16:creationId xmlns:a16="http://schemas.microsoft.com/office/drawing/2014/main" id="{D9652B7B-F6A9-73E6-E4E5-C5DDD37A7C17}"/>
              </a:ext>
            </a:extLst>
          </p:cNvPr>
          <p:cNvPicPr>
            <a:picLocks noChangeAspect="1"/>
          </p:cNvPicPr>
          <p:nvPr/>
        </p:nvPicPr>
        <p:blipFill rotWithShape="1">
          <a:blip r:embed="rId2">
            <a:extLst>
              <a:ext uri="{28A0092B-C50C-407E-A947-70E740481C1C}">
                <a14:useLocalDpi xmlns:a14="http://schemas.microsoft.com/office/drawing/2010/main" val="0"/>
              </a:ext>
            </a:extLst>
          </a:blip>
          <a:srcRect l="11523" t="7346" r="8687" b="1825"/>
          <a:stretch/>
        </p:blipFill>
        <p:spPr bwMode="auto">
          <a:xfrm>
            <a:off x="4572000" y="1828800"/>
            <a:ext cx="4206875" cy="3720465"/>
          </a:xfrm>
          <a:prstGeom prst="rect">
            <a:avLst/>
          </a:prstGeom>
          <a:ln>
            <a:noFill/>
          </a:ln>
          <a:effectLst>
            <a:outerShdw blurRad="190500" algn="tl" rotWithShape="0">
              <a:srgbClr val="000000">
                <a:alpha val="70000"/>
              </a:srgbClr>
            </a:outerShdw>
          </a:effectLst>
          <a:extLst>
            <a:ext uri="{53640926-AAD7-44D8-BBD7-CCE9431645EC}">
              <a14:shadowObscured xmlns:a14="http://schemas.microsoft.com/office/drawing/2010/main"/>
            </a:ext>
          </a:extLst>
        </p:spPr>
      </p:pic>
    </p:spTree>
    <p:extLst>
      <p:ext uri="{BB962C8B-B14F-4D97-AF65-F5344CB8AC3E}">
        <p14:creationId xmlns:p14="http://schemas.microsoft.com/office/powerpoint/2010/main" val="396177161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3F9E18-1C76-739D-CE4D-6BCA04B8A3C6}"/>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8C3CB920-08D8-5C92-B224-DB52E5410946}"/>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4.5 </a:t>
            </a:r>
            <a:r>
              <a:rPr lang="zh-CN" altLang="en-US" sz="3600" dirty="0">
                <a:latin typeface="Times New Roman" panose="02020603050405020304" pitchFamily="18" charset="0"/>
                <a:cs typeface="Times New Roman" panose="02020603050405020304" pitchFamily="18" charset="0"/>
              </a:rPr>
              <a:t>空间数据基础分析</a:t>
            </a:r>
          </a:p>
        </p:txBody>
      </p:sp>
      <p:sp>
        <p:nvSpPr>
          <p:cNvPr id="8" name="灯片编号占位符 7">
            <a:extLst>
              <a:ext uri="{FF2B5EF4-FFF2-40B4-BE49-F238E27FC236}">
                <a16:creationId xmlns:a16="http://schemas.microsoft.com/office/drawing/2014/main" id="{7DE6A153-BC65-27F8-EEAC-7687AB2300DE}"/>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40</a:t>
            </a:fld>
            <a:endParaRPr lang="zh-CN" altLang="en-US" dirty="0">
              <a:solidFill>
                <a:schemeClr val="bg2">
                  <a:lumMod val="75000"/>
                </a:schemeClr>
              </a:solidFill>
            </a:endParaRPr>
          </a:p>
        </p:txBody>
      </p:sp>
      <p:grpSp>
        <p:nvGrpSpPr>
          <p:cNvPr id="2" name="组合 1">
            <a:extLst>
              <a:ext uri="{FF2B5EF4-FFF2-40B4-BE49-F238E27FC236}">
                <a16:creationId xmlns:a16="http://schemas.microsoft.com/office/drawing/2014/main" id="{D5D5956A-76D3-41FB-E4D4-16AF8EF1F1B0}"/>
              </a:ext>
            </a:extLst>
          </p:cNvPr>
          <p:cNvGrpSpPr/>
          <p:nvPr>
            <p:custDataLst>
              <p:tags r:id="rId1"/>
            </p:custDataLst>
          </p:nvPr>
        </p:nvGrpSpPr>
        <p:grpSpPr>
          <a:xfrm>
            <a:off x="1485900" y="2561080"/>
            <a:ext cx="6626224" cy="749588"/>
            <a:chOff x="3797406" y="1425837"/>
            <a:chExt cx="6626224" cy="749588"/>
          </a:xfrm>
        </p:grpSpPr>
        <p:sp>
          <p:nvSpPr>
            <p:cNvPr id="3" name="文本框 2">
              <a:extLst>
                <a:ext uri="{FF2B5EF4-FFF2-40B4-BE49-F238E27FC236}">
                  <a16:creationId xmlns:a16="http://schemas.microsoft.com/office/drawing/2014/main" id="{15035699-DDC8-D52F-DD64-0DA4ADDB8852}"/>
                </a:ext>
              </a:extLst>
            </p:cNvPr>
            <p:cNvSpPr txBox="1"/>
            <p:nvPr>
              <p:custDataLst>
                <p:tags r:id="rId5"/>
              </p:custDataLst>
            </p:nvPr>
          </p:nvSpPr>
          <p:spPr>
            <a:xfrm>
              <a:off x="3797406" y="1621427"/>
              <a:ext cx="1107996" cy="553998"/>
            </a:xfrm>
            <a:prstGeom prst="rect">
              <a:avLst/>
            </a:prstGeom>
            <a:noFill/>
          </p:spPr>
          <p:txBody>
            <a:bodyPr wrap="none" tIns="0" bIns="0" rtlCol="0" anchor="b" anchorCtr="0">
              <a:spAutoFit/>
            </a:bodyPr>
            <a:lstStyle/>
            <a:p>
              <a:r>
                <a:rPr kumimoji="1" lang="en-US" altLang="zh-CN" sz="3600" b="1" dirty="0">
                  <a:solidFill>
                    <a:schemeClr val="accent1"/>
                  </a:solidFill>
                  <a:latin typeface="Times New Roman" panose="02020603050405020304" pitchFamily="18" charset="0"/>
                  <a:cs typeface="Times New Roman" panose="02020603050405020304" pitchFamily="18" charset="0"/>
                </a:rPr>
                <a:t>4.5.1</a:t>
              </a:r>
            </a:p>
          </p:txBody>
        </p:sp>
        <p:sp>
          <p:nvSpPr>
            <p:cNvPr id="4" name="文本占位符 27">
              <a:extLst>
                <a:ext uri="{FF2B5EF4-FFF2-40B4-BE49-F238E27FC236}">
                  <a16:creationId xmlns:a16="http://schemas.microsoft.com/office/drawing/2014/main" id="{74BB1C6C-F169-D407-474A-D18EC11A95C3}"/>
                </a:ext>
              </a:extLst>
            </p:cNvPr>
            <p:cNvSpPr txBox="1"/>
            <p:nvPr>
              <p:custDataLst>
                <p:tags r:id="rId6"/>
              </p:custDataLst>
            </p:nvPr>
          </p:nvSpPr>
          <p:spPr>
            <a:xfrm>
              <a:off x="5130905" y="1425837"/>
              <a:ext cx="5292725" cy="708025"/>
            </a:xfrm>
            <a:prstGeom prst="rect">
              <a:avLst/>
            </a:prstGeom>
          </p:spPr>
          <p:txBody>
            <a:bodyPr lIns="0" rIns="0" bIns="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chemeClr val="accent2"/>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3200" dirty="0">
                  <a:solidFill>
                    <a:schemeClr val="accent1"/>
                  </a:solidFill>
                  <a:latin typeface="Times New Roman" panose="02020603050405020304" pitchFamily="18" charset="0"/>
                  <a:cs typeface="Times New Roman" panose="02020603050405020304" pitchFamily="18" charset="0"/>
                </a:rPr>
                <a:t>Spatial*</a:t>
              </a:r>
              <a:r>
                <a:rPr lang="en-US" altLang="zh-CN" sz="3200" dirty="0" err="1">
                  <a:solidFill>
                    <a:schemeClr val="accent1"/>
                  </a:solidFill>
                  <a:latin typeface="Times New Roman" panose="02020603050405020304" pitchFamily="18" charset="0"/>
                  <a:cs typeface="Times New Roman" panose="02020603050405020304" pitchFamily="18" charset="0"/>
                </a:rPr>
                <a:t>DataFrame</a:t>
              </a:r>
              <a:r>
                <a:rPr lang="zh-CN" altLang="en-US" sz="3200" dirty="0">
                  <a:solidFill>
                    <a:schemeClr val="accent1"/>
                  </a:solidFill>
                  <a:latin typeface="Times New Roman" panose="02020603050405020304" pitchFamily="18" charset="0"/>
                  <a:cs typeface="Times New Roman" panose="02020603050405020304" pitchFamily="18" charset="0"/>
                </a:rPr>
                <a:t>对象</a:t>
              </a:r>
              <a:endParaRPr kumimoji="1" lang="zh-CN" altLang="en-US" sz="3200" dirty="0">
                <a:solidFill>
                  <a:schemeClr val="accent1"/>
                </a:solidFill>
                <a:latin typeface="Times New Roman" panose="02020603050405020304" pitchFamily="18" charset="0"/>
                <a:cs typeface="Times New Roman" panose="02020603050405020304" pitchFamily="18" charset="0"/>
              </a:endParaRPr>
            </a:p>
          </p:txBody>
        </p:sp>
      </p:grpSp>
      <p:grpSp>
        <p:nvGrpSpPr>
          <p:cNvPr id="9" name="组合 8">
            <a:extLst>
              <a:ext uri="{FF2B5EF4-FFF2-40B4-BE49-F238E27FC236}">
                <a16:creationId xmlns:a16="http://schemas.microsoft.com/office/drawing/2014/main" id="{908A5E71-9F76-DF14-CF89-00AFCF4701A4}"/>
              </a:ext>
            </a:extLst>
          </p:cNvPr>
          <p:cNvGrpSpPr/>
          <p:nvPr>
            <p:custDataLst>
              <p:tags r:id="rId2"/>
            </p:custDataLst>
          </p:nvPr>
        </p:nvGrpSpPr>
        <p:grpSpPr>
          <a:xfrm>
            <a:off x="1485900" y="3314700"/>
            <a:ext cx="6626225" cy="749588"/>
            <a:chOff x="3797406" y="2539558"/>
            <a:chExt cx="6626225" cy="749588"/>
          </a:xfrm>
        </p:grpSpPr>
        <p:sp>
          <p:nvSpPr>
            <p:cNvPr id="10" name="文本框 9">
              <a:extLst>
                <a:ext uri="{FF2B5EF4-FFF2-40B4-BE49-F238E27FC236}">
                  <a16:creationId xmlns:a16="http://schemas.microsoft.com/office/drawing/2014/main" id="{ECBA52F0-E6E7-323F-2A4D-DD62E7E670B3}"/>
                </a:ext>
              </a:extLst>
            </p:cNvPr>
            <p:cNvSpPr txBox="1"/>
            <p:nvPr>
              <p:custDataLst>
                <p:tags r:id="rId3"/>
              </p:custDataLst>
            </p:nvPr>
          </p:nvSpPr>
          <p:spPr>
            <a:xfrm>
              <a:off x="3797406" y="2735148"/>
              <a:ext cx="1107996" cy="553998"/>
            </a:xfrm>
            <a:prstGeom prst="rect">
              <a:avLst/>
            </a:prstGeom>
            <a:noFill/>
          </p:spPr>
          <p:txBody>
            <a:bodyPr wrap="none" tIns="0" bIns="0" rtlCol="0" anchor="b" anchorCtr="0">
              <a:spAutoFit/>
            </a:bodyPr>
            <a:lstStyle/>
            <a:p>
              <a:r>
                <a:rPr kumimoji="1" lang="en-US" altLang="zh-CN" sz="3600" b="1" dirty="0">
                  <a:solidFill>
                    <a:schemeClr val="accent1"/>
                  </a:solidFill>
                  <a:latin typeface="Times New Roman" panose="02020603050405020304" pitchFamily="18" charset="0"/>
                  <a:cs typeface="Times New Roman" panose="02020603050405020304" pitchFamily="18" charset="0"/>
                </a:rPr>
                <a:t>4.5.2</a:t>
              </a:r>
            </a:p>
          </p:txBody>
        </p:sp>
        <p:sp>
          <p:nvSpPr>
            <p:cNvPr id="12" name="文本占位符 27">
              <a:extLst>
                <a:ext uri="{FF2B5EF4-FFF2-40B4-BE49-F238E27FC236}">
                  <a16:creationId xmlns:a16="http://schemas.microsoft.com/office/drawing/2014/main" id="{268813A8-DB12-E4BA-1A2E-9859638A1956}"/>
                </a:ext>
              </a:extLst>
            </p:cNvPr>
            <p:cNvSpPr txBox="1"/>
            <p:nvPr>
              <p:custDataLst>
                <p:tags r:id="rId4"/>
              </p:custDataLst>
            </p:nvPr>
          </p:nvSpPr>
          <p:spPr>
            <a:xfrm>
              <a:off x="5130906" y="2539558"/>
              <a:ext cx="5292725" cy="708025"/>
            </a:xfrm>
            <a:prstGeom prst="rect">
              <a:avLst/>
            </a:prstGeom>
          </p:spPr>
          <p:txBody>
            <a:bodyPr lIns="0" rIns="0" bIns="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chemeClr val="accent2"/>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3200" dirty="0">
                  <a:solidFill>
                    <a:schemeClr val="accent1"/>
                  </a:solidFill>
                  <a:latin typeface="Times New Roman" panose="02020603050405020304" pitchFamily="18" charset="0"/>
                  <a:cs typeface="Times New Roman" panose="02020603050405020304" pitchFamily="18" charset="0"/>
                </a:rPr>
                <a:t>Simple Feature</a:t>
              </a:r>
              <a:r>
                <a:rPr lang="zh-CN" altLang="en-US" sz="3200" dirty="0">
                  <a:solidFill>
                    <a:schemeClr val="accent1"/>
                  </a:solidFill>
                  <a:latin typeface="Times New Roman" panose="02020603050405020304" pitchFamily="18" charset="0"/>
                  <a:cs typeface="Times New Roman" panose="02020603050405020304" pitchFamily="18" charset="0"/>
                </a:rPr>
                <a:t>对象</a:t>
              </a:r>
              <a:endParaRPr kumimoji="1" lang="zh-CN" altLang="en-US" sz="3200" dirty="0">
                <a:solidFill>
                  <a:schemeClr val="accent1"/>
                </a:solidFill>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41626401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CF761-5586-5141-2916-83C65FA10399}"/>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1F0A0775-77A8-3048-DB0A-09EA87AA8BD2}"/>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4.5 </a:t>
            </a:r>
            <a:r>
              <a:rPr lang="zh-CN" altLang="en-US" sz="3600" dirty="0">
                <a:latin typeface="Times New Roman" panose="02020603050405020304" pitchFamily="18" charset="0"/>
                <a:cs typeface="Times New Roman" panose="02020603050405020304" pitchFamily="18" charset="0"/>
              </a:rPr>
              <a:t>空间数据基础分析</a:t>
            </a:r>
          </a:p>
        </p:txBody>
      </p:sp>
      <p:sp>
        <p:nvSpPr>
          <p:cNvPr id="8" name="灯片编号占位符 7">
            <a:extLst>
              <a:ext uri="{FF2B5EF4-FFF2-40B4-BE49-F238E27FC236}">
                <a16:creationId xmlns:a16="http://schemas.microsoft.com/office/drawing/2014/main" id="{2A5F75DE-BD83-2922-A544-CCD6E29F157D}"/>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41</a:t>
            </a:fld>
            <a:endParaRPr lang="zh-CN" altLang="en-US" dirty="0">
              <a:solidFill>
                <a:schemeClr val="bg2">
                  <a:lumMod val="75000"/>
                </a:schemeClr>
              </a:solidFill>
            </a:endParaRPr>
          </a:p>
        </p:txBody>
      </p:sp>
      <p:sp>
        <p:nvSpPr>
          <p:cNvPr id="14" name="文本框 13">
            <a:extLst>
              <a:ext uri="{FF2B5EF4-FFF2-40B4-BE49-F238E27FC236}">
                <a16:creationId xmlns:a16="http://schemas.microsoft.com/office/drawing/2014/main" id="{00D59AC8-05A1-7E54-8006-E6CD3F0BD51B}"/>
              </a:ext>
            </a:extLst>
          </p:cNvPr>
          <p:cNvSpPr txBox="1"/>
          <p:nvPr/>
        </p:nvSpPr>
        <p:spPr>
          <a:xfrm>
            <a:off x="1104901" y="1723627"/>
            <a:ext cx="3209533" cy="400110"/>
          </a:xfrm>
          <a:prstGeom prst="rect">
            <a:avLst/>
          </a:prstGeom>
          <a:noFill/>
        </p:spPr>
        <p:txBody>
          <a:bodyPr wrap="none" rtlCol="0">
            <a:spAutoFit/>
          </a:bodyPr>
          <a:lstStyle/>
          <a:p>
            <a:r>
              <a:rPr lang="en-US" altLang="zh-CN" sz="2000" b="1" dirty="0">
                <a:latin typeface="+mj-lt"/>
                <a:ea typeface="+mj-ea"/>
              </a:rPr>
              <a:t>(1) Spatial*</a:t>
            </a:r>
            <a:r>
              <a:rPr lang="en-US" altLang="zh-CN" sz="2000" b="1" dirty="0" err="1">
                <a:latin typeface="+mj-lt"/>
                <a:ea typeface="+mj-ea"/>
              </a:rPr>
              <a:t>DataFrame</a:t>
            </a:r>
            <a:r>
              <a:rPr lang="zh-CN" altLang="en-US" sz="2000" b="1" dirty="0">
                <a:latin typeface="+mj-lt"/>
                <a:ea typeface="+mj-ea"/>
              </a:rPr>
              <a:t>对象</a:t>
            </a:r>
          </a:p>
        </p:txBody>
      </p:sp>
      <p:sp>
        <p:nvSpPr>
          <p:cNvPr id="15" name="文本框 14">
            <a:extLst>
              <a:ext uri="{FF2B5EF4-FFF2-40B4-BE49-F238E27FC236}">
                <a16:creationId xmlns:a16="http://schemas.microsoft.com/office/drawing/2014/main" id="{CBAC3630-0D7D-D349-A69B-8F16FFED9F94}"/>
              </a:ext>
            </a:extLst>
          </p:cNvPr>
          <p:cNvSpPr txBox="1"/>
          <p:nvPr/>
        </p:nvSpPr>
        <p:spPr>
          <a:xfrm>
            <a:off x="1358016" y="2195730"/>
            <a:ext cx="7064755" cy="369332"/>
          </a:xfrm>
          <a:prstGeom prst="rect">
            <a:avLst/>
          </a:prstGeom>
          <a:noFill/>
        </p:spPr>
        <p:txBody>
          <a:bodyPr wrap="none" rtlCol="0">
            <a:spAutoFit/>
          </a:bodyPr>
          <a:lstStyle/>
          <a:p>
            <a:r>
              <a:rPr lang="zh-CN" altLang="en-US" dirty="0">
                <a:latin typeface="+mj-lt"/>
                <a:ea typeface="+mj-ea"/>
              </a:rPr>
              <a:t>① </a:t>
            </a:r>
            <a:r>
              <a:rPr lang="en-US" altLang="zh-CN" b="1" i="1" dirty="0" err="1">
                <a:latin typeface="+mj-lt"/>
                <a:ea typeface="+mj-ea"/>
              </a:rPr>
              <a:t>gUnion</a:t>
            </a:r>
            <a:r>
              <a:rPr lang="zh-CN" altLang="en-US" dirty="0">
                <a:latin typeface="+mj-lt"/>
                <a:ea typeface="+mj-ea"/>
              </a:rPr>
              <a:t>函数：函数包</a:t>
            </a:r>
            <a:r>
              <a:rPr lang="en-US" altLang="zh-CN" b="1" dirty="0" err="1">
                <a:latin typeface="+mj-lt"/>
                <a:ea typeface="+mj-ea"/>
              </a:rPr>
              <a:t>rgeos</a:t>
            </a:r>
            <a:r>
              <a:rPr lang="zh-CN" altLang="en-US" dirty="0">
                <a:latin typeface="+mj-lt"/>
                <a:ea typeface="+mj-ea"/>
              </a:rPr>
              <a:t>提供，实现空间数据对象的合并</a:t>
            </a:r>
            <a:r>
              <a:rPr lang="en-US" altLang="zh-CN" dirty="0">
                <a:latin typeface="+mj-lt"/>
                <a:ea typeface="+mj-ea"/>
              </a:rPr>
              <a:t>(Union)</a:t>
            </a:r>
            <a:endParaRPr lang="zh-CN" altLang="en-US" dirty="0">
              <a:latin typeface="+mj-lt"/>
              <a:ea typeface="+mj-ea"/>
            </a:endParaRPr>
          </a:p>
        </p:txBody>
      </p:sp>
      <p:sp>
        <p:nvSpPr>
          <p:cNvPr id="16" name="文本框 15">
            <a:extLst>
              <a:ext uri="{FF2B5EF4-FFF2-40B4-BE49-F238E27FC236}">
                <a16:creationId xmlns:a16="http://schemas.microsoft.com/office/drawing/2014/main" id="{ED57BDA0-128E-264D-F265-9EF8353181C9}"/>
              </a:ext>
            </a:extLst>
          </p:cNvPr>
          <p:cNvSpPr txBox="1"/>
          <p:nvPr/>
        </p:nvSpPr>
        <p:spPr>
          <a:xfrm>
            <a:off x="1333500" y="2637055"/>
            <a:ext cx="6477000" cy="2893100"/>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WHDis1_sp &lt;-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readShapePoly</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"WHDistrict_p1.shp"</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proj4string = CRS(</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proj</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longlat</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 +datum=WGS84 +</a:t>
            </a:r>
            <a:r>
              <a:rPr lang="en-US" altLang="zh-CN" sz="14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no_defs</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WHDis2_sp &lt;-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readShapePoly</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"WHDistrict_p2.shp"</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proj4string = CRS(</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proj</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longlat</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 +datum=WGS84 +</a:t>
            </a:r>
            <a:r>
              <a:rPr lang="en-US" altLang="zh-CN" sz="14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no_defs</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plot(WHDis1_sp, border=</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"blue"</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xlim</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bbox</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WHDis_sp</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ylim</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bbox</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WHDis_sp</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plot(WHDis2_sp, border=</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red"</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,add</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library(</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rgeos</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WHDis1_sp&lt;-</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gBuffer</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(WHDis1_sp,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byid</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 </a:t>
            </a:r>
            <a:r>
              <a:rPr lang="en-US" altLang="zh-CN" sz="14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TRUE</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width = </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WHDis2_sp&lt;-</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gBuffer</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(WHDis2_sp,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byid</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 </a:t>
            </a:r>
            <a:r>
              <a:rPr lang="en-US" altLang="zh-CN" sz="14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TRUE</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width = </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WHDis_un_sp</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gUnion</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(WHDis1_sp, WHDis2_sp,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byid</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=T)</a:t>
            </a:r>
            <a:endParaRPr lang="zh-CN" altLang="zh-CN" sz="1400" dirty="0">
              <a:effectLst/>
              <a:latin typeface="Times New Roman" panose="02020603050405020304" pitchFamily="18" charset="0"/>
              <a:ea typeface="宋体" panose="02010600030101010101" pitchFamily="2" charset="-122"/>
            </a:endParaRPr>
          </a:p>
          <a:p>
            <a:pPr indent="127000" algn="l"/>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WHDis_un_sp</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border=</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"blue"</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402861512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4A5745-1906-28BB-3858-55ED92F9DF11}"/>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294E111F-822A-3085-0C57-5F05E5B91042}"/>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4.5 </a:t>
            </a:r>
            <a:r>
              <a:rPr lang="zh-CN" altLang="en-US" sz="3600" dirty="0">
                <a:latin typeface="Times New Roman" panose="02020603050405020304" pitchFamily="18" charset="0"/>
                <a:cs typeface="Times New Roman" panose="02020603050405020304" pitchFamily="18" charset="0"/>
              </a:rPr>
              <a:t>空间数据基础分析</a:t>
            </a:r>
          </a:p>
        </p:txBody>
      </p:sp>
      <p:sp>
        <p:nvSpPr>
          <p:cNvPr id="8" name="灯片编号占位符 7">
            <a:extLst>
              <a:ext uri="{FF2B5EF4-FFF2-40B4-BE49-F238E27FC236}">
                <a16:creationId xmlns:a16="http://schemas.microsoft.com/office/drawing/2014/main" id="{9A8E9D3C-35EF-0335-5071-261961E1651F}"/>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42</a:t>
            </a:fld>
            <a:endParaRPr lang="zh-CN" altLang="en-US" dirty="0">
              <a:solidFill>
                <a:schemeClr val="bg2">
                  <a:lumMod val="75000"/>
                </a:schemeClr>
              </a:solidFill>
            </a:endParaRPr>
          </a:p>
        </p:txBody>
      </p:sp>
      <p:sp>
        <p:nvSpPr>
          <p:cNvPr id="14" name="文本框 13">
            <a:extLst>
              <a:ext uri="{FF2B5EF4-FFF2-40B4-BE49-F238E27FC236}">
                <a16:creationId xmlns:a16="http://schemas.microsoft.com/office/drawing/2014/main" id="{FDF85457-682C-F1DD-98A6-94E62B0D6A33}"/>
              </a:ext>
            </a:extLst>
          </p:cNvPr>
          <p:cNvSpPr txBox="1"/>
          <p:nvPr/>
        </p:nvSpPr>
        <p:spPr>
          <a:xfrm>
            <a:off x="1104901" y="1238471"/>
            <a:ext cx="3209533" cy="400110"/>
          </a:xfrm>
          <a:prstGeom prst="rect">
            <a:avLst/>
          </a:prstGeom>
          <a:noFill/>
        </p:spPr>
        <p:txBody>
          <a:bodyPr wrap="none" rtlCol="0">
            <a:spAutoFit/>
          </a:bodyPr>
          <a:lstStyle/>
          <a:p>
            <a:r>
              <a:rPr lang="en-US" altLang="zh-CN" sz="2000" b="1" dirty="0">
                <a:latin typeface="+mj-lt"/>
                <a:ea typeface="+mj-ea"/>
              </a:rPr>
              <a:t>(1) Spatial*</a:t>
            </a:r>
            <a:r>
              <a:rPr lang="en-US" altLang="zh-CN" sz="2000" b="1" dirty="0" err="1">
                <a:latin typeface="+mj-lt"/>
                <a:ea typeface="+mj-ea"/>
              </a:rPr>
              <a:t>DataFrame</a:t>
            </a:r>
            <a:r>
              <a:rPr lang="zh-CN" altLang="en-US" sz="2000" b="1" dirty="0">
                <a:latin typeface="+mj-lt"/>
                <a:ea typeface="+mj-ea"/>
              </a:rPr>
              <a:t>对象</a:t>
            </a:r>
          </a:p>
        </p:txBody>
      </p:sp>
      <p:sp>
        <p:nvSpPr>
          <p:cNvPr id="15" name="文本框 14">
            <a:extLst>
              <a:ext uri="{FF2B5EF4-FFF2-40B4-BE49-F238E27FC236}">
                <a16:creationId xmlns:a16="http://schemas.microsoft.com/office/drawing/2014/main" id="{62D7DEF3-4AC6-2062-0769-FA8F6C6002D2}"/>
              </a:ext>
            </a:extLst>
          </p:cNvPr>
          <p:cNvSpPr txBox="1"/>
          <p:nvPr/>
        </p:nvSpPr>
        <p:spPr>
          <a:xfrm>
            <a:off x="1358016" y="1710574"/>
            <a:ext cx="7064755" cy="369332"/>
          </a:xfrm>
          <a:prstGeom prst="rect">
            <a:avLst/>
          </a:prstGeom>
          <a:noFill/>
        </p:spPr>
        <p:txBody>
          <a:bodyPr wrap="none" rtlCol="0">
            <a:spAutoFit/>
          </a:bodyPr>
          <a:lstStyle/>
          <a:p>
            <a:r>
              <a:rPr lang="zh-CN" altLang="en-US" dirty="0">
                <a:latin typeface="+mj-lt"/>
                <a:ea typeface="+mj-ea"/>
              </a:rPr>
              <a:t>① </a:t>
            </a:r>
            <a:r>
              <a:rPr lang="en-US" altLang="zh-CN" b="1" i="1" dirty="0" err="1">
                <a:latin typeface="+mj-lt"/>
                <a:ea typeface="+mj-ea"/>
              </a:rPr>
              <a:t>gUnion</a:t>
            </a:r>
            <a:r>
              <a:rPr lang="zh-CN" altLang="en-US" b="1" dirty="0">
                <a:latin typeface="+mj-lt"/>
                <a:ea typeface="+mj-ea"/>
              </a:rPr>
              <a:t>函数</a:t>
            </a:r>
            <a:r>
              <a:rPr lang="zh-CN" altLang="en-US" dirty="0">
                <a:latin typeface="+mj-lt"/>
                <a:ea typeface="+mj-ea"/>
              </a:rPr>
              <a:t>：函数包</a:t>
            </a:r>
            <a:r>
              <a:rPr lang="en-US" altLang="zh-CN" b="1" dirty="0" err="1">
                <a:latin typeface="+mj-lt"/>
                <a:ea typeface="+mj-ea"/>
              </a:rPr>
              <a:t>rgeos</a:t>
            </a:r>
            <a:r>
              <a:rPr lang="zh-CN" altLang="en-US" dirty="0">
                <a:latin typeface="+mj-lt"/>
                <a:ea typeface="+mj-ea"/>
              </a:rPr>
              <a:t>提供，实现空间数据对象的合并</a:t>
            </a:r>
            <a:r>
              <a:rPr lang="en-US" altLang="zh-CN" dirty="0">
                <a:latin typeface="+mj-lt"/>
                <a:ea typeface="+mj-ea"/>
              </a:rPr>
              <a:t>(Union)</a:t>
            </a:r>
            <a:endParaRPr lang="zh-CN" altLang="en-US" dirty="0">
              <a:latin typeface="+mj-lt"/>
              <a:ea typeface="+mj-ea"/>
            </a:endParaRPr>
          </a:p>
        </p:txBody>
      </p:sp>
      <p:pic>
        <p:nvPicPr>
          <p:cNvPr id="2" name="图片 1">
            <a:extLst>
              <a:ext uri="{FF2B5EF4-FFF2-40B4-BE49-F238E27FC236}">
                <a16:creationId xmlns:a16="http://schemas.microsoft.com/office/drawing/2014/main" id="{C7E220C6-B669-6366-BA14-5FED0C546F6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38201" y="2246596"/>
            <a:ext cx="3639820" cy="3794760"/>
          </a:xfrm>
          <a:prstGeom prst="rect">
            <a:avLst/>
          </a:prstGeom>
          <a:ln>
            <a:noFill/>
          </a:ln>
          <a:effectLst>
            <a:outerShdw blurRad="190500" algn="tl" rotWithShape="0">
              <a:srgbClr val="000000">
                <a:alpha val="70000"/>
              </a:srgbClr>
            </a:outerShdw>
          </a:effectLst>
        </p:spPr>
      </p:pic>
      <p:pic>
        <p:nvPicPr>
          <p:cNvPr id="3" name="图片 2">
            <a:extLst>
              <a:ext uri="{FF2B5EF4-FFF2-40B4-BE49-F238E27FC236}">
                <a16:creationId xmlns:a16="http://schemas.microsoft.com/office/drawing/2014/main" id="{036D4FD6-E84D-EA0E-19B0-1049790B5AC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686300" y="2248961"/>
            <a:ext cx="3568103" cy="3792395"/>
          </a:xfrm>
          <a:prstGeom prst="rect">
            <a:avLst/>
          </a:prstGeom>
          <a:ln>
            <a:noFill/>
          </a:ln>
          <a:effectLst>
            <a:outerShdw blurRad="190500" algn="tl" rotWithShape="0">
              <a:srgbClr val="000000">
                <a:alpha val="70000"/>
              </a:srgbClr>
            </a:outerShdw>
          </a:effectLst>
        </p:spPr>
      </p:pic>
      <p:sp>
        <p:nvSpPr>
          <p:cNvPr id="4" name="文本框 3">
            <a:extLst>
              <a:ext uri="{FF2B5EF4-FFF2-40B4-BE49-F238E27FC236}">
                <a16:creationId xmlns:a16="http://schemas.microsoft.com/office/drawing/2014/main" id="{1BF429B2-55F2-5BF8-52B8-8E1E71851B81}"/>
              </a:ext>
            </a:extLst>
          </p:cNvPr>
          <p:cNvSpPr txBox="1"/>
          <p:nvPr/>
        </p:nvSpPr>
        <p:spPr>
          <a:xfrm>
            <a:off x="3265392" y="6282889"/>
            <a:ext cx="2613216" cy="307777"/>
          </a:xfrm>
          <a:prstGeom prst="rect">
            <a:avLst/>
          </a:prstGeom>
          <a:noFill/>
        </p:spPr>
        <p:txBody>
          <a:bodyPr wrap="none" rtlCol="0">
            <a:spAutoFit/>
          </a:bodyPr>
          <a:lstStyle/>
          <a:p>
            <a:pPr algn="ctr"/>
            <a:r>
              <a:rPr lang="zh-CN" altLang="en-US" sz="1400" dirty="0">
                <a:latin typeface="+mj-lt"/>
                <a:ea typeface="+mj-ea"/>
              </a:rPr>
              <a:t>通过</a:t>
            </a:r>
            <a:r>
              <a:rPr lang="en-US" altLang="zh-CN" sz="1400" b="1" i="1" dirty="0" err="1">
                <a:latin typeface="+mj-lt"/>
                <a:ea typeface="+mj-ea"/>
              </a:rPr>
              <a:t>gUnion</a:t>
            </a:r>
            <a:r>
              <a:rPr lang="zh-CN" altLang="en-US" sz="1400" dirty="0">
                <a:latin typeface="+mj-lt"/>
                <a:ea typeface="+mj-ea"/>
              </a:rPr>
              <a:t>函数合并前后对比</a:t>
            </a:r>
          </a:p>
        </p:txBody>
      </p:sp>
    </p:spTree>
    <p:extLst>
      <p:ext uri="{BB962C8B-B14F-4D97-AF65-F5344CB8AC3E}">
        <p14:creationId xmlns:p14="http://schemas.microsoft.com/office/powerpoint/2010/main" val="330877354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0C87C-0B0E-364E-2232-0EEC6EEE1A2C}"/>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107CD1C0-C57D-0238-E65E-415B72AB8631}"/>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4.5 </a:t>
            </a:r>
            <a:r>
              <a:rPr lang="zh-CN" altLang="en-US" sz="3600" dirty="0">
                <a:latin typeface="Times New Roman" panose="02020603050405020304" pitchFamily="18" charset="0"/>
                <a:cs typeface="Times New Roman" panose="02020603050405020304" pitchFamily="18" charset="0"/>
              </a:rPr>
              <a:t>空间数据基础分析</a:t>
            </a:r>
          </a:p>
        </p:txBody>
      </p:sp>
      <p:sp>
        <p:nvSpPr>
          <p:cNvPr id="8" name="灯片编号占位符 7">
            <a:extLst>
              <a:ext uri="{FF2B5EF4-FFF2-40B4-BE49-F238E27FC236}">
                <a16:creationId xmlns:a16="http://schemas.microsoft.com/office/drawing/2014/main" id="{24AA8776-B40B-750E-8D80-EEE384F127B6}"/>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43</a:t>
            </a:fld>
            <a:endParaRPr lang="zh-CN" altLang="en-US" dirty="0">
              <a:solidFill>
                <a:schemeClr val="bg2">
                  <a:lumMod val="75000"/>
                </a:schemeClr>
              </a:solidFill>
            </a:endParaRPr>
          </a:p>
        </p:txBody>
      </p:sp>
      <p:sp>
        <p:nvSpPr>
          <p:cNvPr id="14" name="文本框 13">
            <a:extLst>
              <a:ext uri="{FF2B5EF4-FFF2-40B4-BE49-F238E27FC236}">
                <a16:creationId xmlns:a16="http://schemas.microsoft.com/office/drawing/2014/main" id="{FD0A2658-8B8C-FAFB-F395-F94B1A911813}"/>
              </a:ext>
            </a:extLst>
          </p:cNvPr>
          <p:cNvSpPr txBox="1"/>
          <p:nvPr/>
        </p:nvSpPr>
        <p:spPr>
          <a:xfrm>
            <a:off x="609600" y="1390486"/>
            <a:ext cx="3209533" cy="400110"/>
          </a:xfrm>
          <a:prstGeom prst="rect">
            <a:avLst/>
          </a:prstGeom>
          <a:noFill/>
        </p:spPr>
        <p:txBody>
          <a:bodyPr wrap="none" rtlCol="0">
            <a:spAutoFit/>
          </a:bodyPr>
          <a:lstStyle/>
          <a:p>
            <a:r>
              <a:rPr lang="en-US" altLang="zh-CN" sz="2000" b="1" dirty="0">
                <a:latin typeface="+mj-lt"/>
                <a:ea typeface="+mj-ea"/>
              </a:rPr>
              <a:t>(1) Spatial*</a:t>
            </a:r>
            <a:r>
              <a:rPr lang="en-US" altLang="zh-CN" sz="2000" b="1" dirty="0" err="1">
                <a:latin typeface="+mj-lt"/>
                <a:ea typeface="+mj-ea"/>
              </a:rPr>
              <a:t>DataFrame</a:t>
            </a:r>
            <a:r>
              <a:rPr lang="zh-CN" altLang="en-US" sz="2000" b="1" dirty="0">
                <a:latin typeface="+mj-lt"/>
                <a:ea typeface="+mj-ea"/>
              </a:rPr>
              <a:t>对象</a:t>
            </a:r>
          </a:p>
        </p:txBody>
      </p:sp>
      <p:sp>
        <p:nvSpPr>
          <p:cNvPr id="15" name="文本框 14">
            <a:extLst>
              <a:ext uri="{FF2B5EF4-FFF2-40B4-BE49-F238E27FC236}">
                <a16:creationId xmlns:a16="http://schemas.microsoft.com/office/drawing/2014/main" id="{97F02428-FC16-2A04-4F57-0A21E552116A}"/>
              </a:ext>
            </a:extLst>
          </p:cNvPr>
          <p:cNvSpPr txBox="1"/>
          <p:nvPr/>
        </p:nvSpPr>
        <p:spPr>
          <a:xfrm>
            <a:off x="862715" y="1862589"/>
            <a:ext cx="7481185" cy="874214"/>
          </a:xfrm>
          <a:prstGeom prst="rect">
            <a:avLst/>
          </a:prstGeom>
          <a:noFill/>
        </p:spPr>
        <p:txBody>
          <a:bodyPr wrap="square" rtlCol="0">
            <a:spAutoFit/>
          </a:bodyPr>
          <a:lstStyle/>
          <a:p>
            <a:pPr>
              <a:lnSpc>
                <a:spcPct val="150000"/>
              </a:lnSpc>
            </a:pPr>
            <a:r>
              <a:rPr lang="zh-CN" altLang="en-US" dirty="0">
                <a:latin typeface="+mj-lt"/>
                <a:ea typeface="+mj-ea"/>
              </a:rPr>
              <a:t>② </a:t>
            </a:r>
            <a:r>
              <a:rPr lang="en-US" altLang="zh-CN" b="1" i="1" dirty="0" err="1">
                <a:latin typeface="+mj-lt"/>
                <a:ea typeface="+mj-ea"/>
              </a:rPr>
              <a:t>gUnaryUnion</a:t>
            </a:r>
            <a:r>
              <a:rPr lang="zh-CN" altLang="en-US" b="1" dirty="0">
                <a:latin typeface="+mj-lt"/>
                <a:ea typeface="+mj-ea"/>
              </a:rPr>
              <a:t>函数</a:t>
            </a:r>
            <a:r>
              <a:rPr lang="zh-CN" altLang="en-US" dirty="0">
                <a:latin typeface="+mj-lt"/>
                <a:ea typeface="+mj-ea"/>
              </a:rPr>
              <a:t>：函数包</a:t>
            </a:r>
            <a:r>
              <a:rPr lang="en-US" altLang="zh-CN" b="1" dirty="0" err="1">
                <a:latin typeface="+mj-lt"/>
                <a:ea typeface="+mj-ea"/>
              </a:rPr>
              <a:t>rgeos</a:t>
            </a:r>
            <a:r>
              <a:rPr lang="zh-CN" altLang="en-US" dirty="0">
                <a:latin typeface="+mj-lt"/>
                <a:ea typeface="+mj-ea"/>
              </a:rPr>
              <a:t>提供，实现多边形数据对象中指定的若干或全部空间对象的融合</a:t>
            </a:r>
            <a:r>
              <a:rPr lang="en-US" altLang="zh-CN" dirty="0">
                <a:latin typeface="+mj-lt"/>
                <a:ea typeface="+mj-ea"/>
              </a:rPr>
              <a:t>(Merge)</a:t>
            </a:r>
            <a:endParaRPr lang="zh-CN" altLang="en-US" dirty="0">
              <a:latin typeface="+mj-lt"/>
              <a:ea typeface="+mj-ea"/>
            </a:endParaRPr>
          </a:p>
        </p:txBody>
      </p:sp>
      <p:sp>
        <p:nvSpPr>
          <p:cNvPr id="4" name="文本框 3">
            <a:extLst>
              <a:ext uri="{FF2B5EF4-FFF2-40B4-BE49-F238E27FC236}">
                <a16:creationId xmlns:a16="http://schemas.microsoft.com/office/drawing/2014/main" id="{AA318438-9B1C-4ED3-B601-CA6327DE2ED6}"/>
              </a:ext>
            </a:extLst>
          </p:cNvPr>
          <p:cNvSpPr txBox="1"/>
          <p:nvPr/>
        </p:nvSpPr>
        <p:spPr>
          <a:xfrm>
            <a:off x="4863926" y="5813449"/>
            <a:ext cx="3213274" cy="523220"/>
          </a:xfrm>
          <a:prstGeom prst="rect">
            <a:avLst/>
          </a:prstGeom>
          <a:noFill/>
        </p:spPr>
        <p:txBody>
          <a:bodyPr wrap="square" rtlCol="0">
            <a:spAutoFit/>
          </a:bodyPr>
          <a:lstStyle/>
          <a:p>
            <a:pPr algn="ctr"/>
            <a:r>
              <a:rPr lang="en-US" altLang="zh-CN" sz="1400" b="1" i="1" kern="0" dirty="0" err="1">
                <a:effectLst/>
                <a:latin typeface="+mj-lt"/>
                <a:ea typeface="+mj-ea"/>
              </a:rPr>
              <a:t>gUnaryUnion</a:t>
            </a:r>
            <a:r>
              <a:rPr lang="zh-CN" altLang="zh-CN" sz="1400" kern="0" dirty="0">
                <a:effectLst/>
                <a:latin typeface="+mj-lt"/>
                <a:ea typeface="+mj-ea"/>
                <a:cs typeface="Times New Roman" panose="02020603050405020304" pitchFamily="18" charset="0"/>
              </a:rPr>
              <a:t>函数对</a:t>
            </a:r>
            <a:r>
              <a:rPr lang="en-US" altLang="zh-CN" sz="1400" kern="0" dirty="0">
                <a:effectLst/>
                <a:latin typeface="+mj-lt"/>
                <a:ea typeface="+mj-ea"/>
              </a:rPr>
              <a:t>WHDistrict_p1</a:t>
            </a:r>
            <a:r>
              <a:rPr lang="zh-CN" altLang="zh-CN" sz="1400" kern="0" dirty="0">
                <a:effectLst/>
                <a:latin typeface="+mj-lt"/>
                <a:ea typeface="+mj-ea"/>
                <a:cs typeface="Times New Roman" panose="02020603050405020304" pitchFamily="18" charset="0"/>
              </a:rPr>
              <a:t>和</a:t>
            </a:r>
            <a:r>
              <a:rPr lang="en-US" altLang="zh-CN" sz="1400" kern="0" dirty="0">
                <a:effectLst/>
                <a:latin typeface="+mj-lt"/>
                <a:ea typeface="+mj-ea"/>
              </a:rPr>
              <a:t>WHDistrict_p2</a:t>
            </a:r>
            <a:r>
              <a:rPr lang="zh-CN" altLang="zh-CN" sz="1400" kern="0" dirty="0">
                <a:effectLst/>
                <a:latin typeface="+mj-lt"/>
                <a:ea typeface="+mj-ea"/>
                <a:cs typeface="Times New Roman" panose="02020603050405020304" pitchFamily="18" charset="0"/>
              </a:rPr>
              <a:t>数据融合结果</a:t>
            </a:r>
            <a:endParaRPr lang="zh-CN" altLang="en-US" sz="1100" dirty="0">
              <a:latin typeface="+mj-lt"/>
              <a:ea typeface="+mj-ea"/>
            </a:endParaRPr>
          </a:p>
        </p:txBody>
      </p:sp>
      <p:sp>
        <p:nvSpPr>
          <p:cNvPr id="5" name="文本框 4">
            <a:extLst>
              <a:ext uri="{FF2B5EF4-FFF2-40B4-BE49-F238E27FC236}">
                <a16:creationId xmlns:a16="http://schemas.microsoft.com/office/drawing/2014/main" id="{26FA9F4B-B59E-515A-5A7C-588CB3749516}"/>
              </a:ext>
            </a:extLst>
          </p:cNvPr>
          <p:cNvSpPr txBox="1"/>
          <p:nvPr/>
        </p:nvSpPr>
        <p:spPr>
          <a:xfrm>
            <a:off x="564079" y="3068671"/>
            <a:ext cx="4105667" cy="1754326"/>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WHDis_un_sp</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border=</a:t>
            </a:r>
            <a:r>
              <a:rPr lang="en-US" altLang="zh-CN" sz="18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"grey"</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dirty="0">
              <a:effectLst/>
              <a:latin typeface="Times New Roman" panose="02020603050405020304" pitchFamily="18" charset="0"/>
              <a:ea typeface="宋体" panose="02010600030101010101" pitchFamily="2" charset="-122"/>
            </a:endParaRPr>
          </a:p>
          <a:p>
            <a:pPr indent="127000" algn="l">
              <a:buNone/>
            </a:pP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gUnaryUnion</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(WHDis1_sp), border= </a:t>
            </a:r>
            <a:r>
              <a:rPr lang="en-US" altLang="zh-CN" sz="18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"blue"</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add=T, </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lwd</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dirty="0">
              <a:effectLst/>
              <a:latin typeface="Times New Roman" panose="02020603050405020304" pitchFamily="18" charset="0"/>
              <a:ea typeface="宋体" panose="02010600030101010101" pitchFamily="2" charset="-122"/>
            </a:endParaRPr>
          </a:p>
          <a:p>
            <a:pPr indent="127000" algn="l"/>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gUnaryUnion</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(WHDis2_sp), border= </a:t>
            </a:r>
            <a:r>
              <a:rPr lang="en-US" altLang="zh-CN" sz="18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"red"</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add=T, </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lwd</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dirty="0">
              <a:effectLst/>
              <a:latin typeface="Times New Roman" panose="02020603050405020304" pitchFamily="18" charset="0"/>
              <a:ea typeface="宋体" panose="02010600030101010101" pitchFamily="2" charset="-122"/>
            </a:endParaRPr>
          </a:p>
        </p:txBody>
      </p:sp>
      <p:pic>
        <p:nvPicPr>
          <p:cNvPr id="6" name="图片 5">
            <a:extLst>
              <a:ext uri="{FF2B5EF4-FFF2-40B4-BE49-F238E27FC236}">
                <a16:creationId xmlns:a16="http://schemas.microsoft.com/office/drawing/2014/main" id="{DACBDDB2-765C-8EC6-E354-871A37D0A50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946565" y="2656781"/>
            <a:ext cx="3004934" cy="306707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92499190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04FDE-DC19-24B3-6DF3-09A1B98CAC49}"/>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AB24BD71-69EB-7E7A-56C5-E290787A0C8D}"/>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4.5 </a:t>
            </a:r>
            <a:r>
              <a:rPr lang="zh-CN" altLang="en-US" sz="3600" dirty="0">
                <a:latin typeface="Times New Roman" panose="02020603050405020304" pitchFamily="18" charset="0"/>
                <a:cs typeface="Times New Roman" panose="02020603050405020304" pitchFamily="18" charset="0"/>
              </a:rPr>
              <a:t>空间数据基础分析</a:t>
            </a:r>
          </a:p>
        </p:txBody>
      </p:sp>
      <p:sp>
        <p:nvSpPr>
          <p:cNvPr id="8" name="灯片编号占位符 7">
            <a:extLst>
              <a:ext uri="{FF2B5EF4-FFF2-40B4-BE49-F238E27FC236}">
                <a16:creationId xmlns:a16="http://schemas.microsoft.com/office/drawing/2014/main" id="{53ABE9D3-08FD-D506-9467-72320D729D10}"/>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44</a:t>
            </a:fld>
            <a:endParaRPr lang="zh-CN" altLang="en-US" dirty="0">
              <a:solidFill>
                <a:schemeClr val="bg2">
                  <a:lumMod val="75000"/>
                </a:schemeClr>
              </a:solidFill>
            </a:endParaRPr>
          </a:p>
        </p:txBody>
      </p:sp>
      <p:sp>
        <p:nvSpPr>
          <p:cNvPr id="14" name="文本框 13">
            <a:extLst>
              <a:ext uri="{FF2B5EF4-FFF2-40B4-BE49-F238E27FC236}">
                <a16:creationId xmlns:a16="http://schemas.microsoft.com/office/drawing/2014/main" id="{974EF3E8-9E22-E7F7-2739-C815FC6D2DF4}"/>
              </a:ext>
            </a:extLst>
          </p:cNvPr>
          <p:cNvSpPr txBox="1"/>
          <p:nvPr/>
        </p:nvSpPr>
        <p:spPr>
          <a:xfrm>
            <a:off x="609600" y="1891733"/>
            <a:ext cx="3209533" cy="400110"/>
          </a:xfrm>
          <a:prstGeom prst="rect">
            <a:avLst/>
          </a:prstGeom>
          <a:noFill/>
        </p:spPr>
        <p:txBody>
          <a:bodyPr wrap="none" rtlCol="0">
            <a:spAutoFit/>
          </a:bodyPr>
          <a:lstStyle/>
          <a:p>
            <a:r>
              <a:rPr lang="en-US" altLang="zh-CN" sz="2000" b="1" dirty="0">
                <a:latin typeface="+mj-lt"/>
                <a:ea typeface="+mj-ea"/>
              </a:rPr>
              <a:t>(1) Spatial*</a:t>
            </a:r>
            <a:r>
              <a:rPr lang="en-US" altLang="zh-CN" sz="2000" b="1" dirty="0" err="1">
                <a:latin typeface="+mj-lt"/>
                <a:ea typeface="+mj-ea"/>
              </a:rPr>
              <a:t>DataFrame</a:t>
            </a:r>
            <a:r>
              <a:rPr lang="zh-CN" altLang="en-US" sz="2000" b="1" dirty="0">
                <a:latin typeface="+mj-lt"/>
                <a:ea typeface="+mj-ea"/>
              </a:rPr>
              <a:t>对象</a:t>
            </a:r>
          </a:p>
        </p:txBody>
      </p:sp>
      <p:sp>
        <p:nvSpPr>
          <p:cNvPr id="15" name="文本框 14">
            <a:extLst>
              <a:ext uri="{FF2B5EF4-FFF2-40B4-BE49-F238E27FC236}">
                <a16:creationId xmlns:a16="http://schemas.microsoft.com/office/drawing/2014/main" id="{C1C8F932-77D7-856C-1D3A-D5AA960F9CB9}"/>
              </a:ext>
            </a:extLst>
          </p:cNvPr>
          <p:cNvSpPr txBox="1"/>
          <p:nvPr/>
        </p:nvSpPr>
        <p:spPr>
          <a:xfrm>
            <a:off x="862715" y="2363836"/>
            <a:ext cx="7481185" cy="874214"/>
          </a:xfrm>
          <a:prstGeom prst="rect">
            <a:avLst/>
          </a:prstGeom>
          <a:noFill/>
        </p:spPr>
        <p:txBody>
          <a:bodyPr wrap="square" rtlCol="0">
            <a:spAutoFit/>
          </a:bodyPr>
          <a:lstStyle/>
          <a:p>
            <a:pPr>
              <a:lnSpc>
                <a:spcPct val="150000"/>
              </a:lnSpc>
            </a:pPr>
            <a:r>
              <a:rPr lang="zh-CN" altLang="en-US" dirty="0">
                <a:latin typeface="+mj-lt"/>
                <a:ea typeface="+mj-ea"/>
              </a:rPr>
              <a:t>③ </a:t>
            </a:r>
            <a:r>
              <a:rPr lang="zh-CN" altLang="en-US" b="1" dirty="0">
                <a:latin typeface="+mj-lt"/>
                <a:ea typeface="+mj-ea"/>
              </a:rPr>
              <a:t>通过属性提取数据：</a:t>
            </a:r>
            <a:r>
              <a:rPr lang="zh-CN" altLang="en-US" dirty="0">
                <a:latin typeface="+mj-lt"/>
                <a:ea typeface="+mj-ea"/>
              </a:rPr>
              <a:t>将某些特定的空间对象子集单独提取为一个新的</a:t>
            </a:r>
            <a:r>
              <a:rPr lang="en-US" altLang="zh-CN" dirty="0">
                <a:latin typeface="+mj-lt"/>
                <a:ea typeface="+mj-ea"/>
              </a:rPr>
              <a:t>Spatial*</a:t>
            </a:r>
            <a:r>
              <a:rPr lang="en-US" altLang="zh-CN" dirty="0" err="1">
                <a:latin typeface="+mj-lt"/>
                <a:ea typeface="+mj-ea"/>
              </a:rPr>
              <a:t>DataFrame</a:t>
            </a:r>
            <a:r>
              <a:rPr lang="zh-CN" altLang="en-US" dirty="0">
                <a:latin typeface="+mj-lt"/>
                <a:ea typeface="+mj-ea"/>
              </a:rPr>
              <a:t>对象</a:t>
            </a:r>
          </a:p>
        </p:txBody>
      </p:sp>
      <p:sp>
        <p:nvSpPr>
          <p:cNvPr id="5" name="文本框 4">
            <a:extLst>
              <a:ext uri="{FF2B5EF4-FFF2-40B4-BE49-F238E27FC236}">
                <a16:creationId xmlns:a16="http://schemas.microsoft.com/office/drawing/2014/main" id="{7E35AB20-552E-1418-33E3-D76DCE7B567F}"/>
              </a:ext>
            </a:extLst>
          </p:cNvPr>
          <p:cNvSpPr txBox="1"/>
          <p:nvPr/>
        </p:nvSpPr>
        <p:spPr>
          <a:xfrm>
            <a:off x="457200" y="3429000"/>
            <a:ext cx="10663434" cy="1600438"/>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WHZZQ_hs_sp</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&lt;-</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WHZZQ_sp</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WHZZQ_sp</a:t>
            </a:r>
            <a:r>
              <a:rPr lang="en-US" altLang="zh-CN" sz="14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District</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Hongshan</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WHZZQ_sp,col</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"grey"</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WHZZQ_hs_sp,col</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red"</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,add</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WHRD_tuk_sp</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WHRD_sp</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WHRD_sp</a:t>
            </a:r>
            <a:r>
              <a:rPr lang="en-US" altLang="zh-CN" sz="14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fclass</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"trunk"</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WHRD_sp</a:t>
            </a:r>
            <a:r>
              <a:rPr lang="en-US" altLang="zh-CN" sz="14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fclass</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 </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trunk_link</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WHRD_sp</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col=</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"grey"</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WHRD_tuk_sp</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col=</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"red"</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lwd</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1.5</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add=T)</a:t>
            </a:r>
            <a:endParaRPr lang="zh-CN" altLang="zh-CN" sz="14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224828159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9A82E7-0C95-5E13-62AD-B4C62976297B}"/>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36B3FA53-984B-ABB8-1F33-C18670F37D4B}"/>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4.5 </a:t>
            </a:r>
            <a:r>
              <a:rPr lang="zh-CN" altLang="en-US" sz="3600" dirty="0">
                <a:latin typeface="Times New Roman" panose="02020603050405020304" pitchFamily="18" charset="0"/>
                <a:cs typeface="Times New Roman" panose="02020603050405020304" pitchFamily="18" charset="0"/>
              </a:rPr>
              <a:t>空间数据基础分析</a:t>
            </a:r>
          </a:p>
        </p:txBody>
      </p:sp>
      <p:sp>
        <p:nvSpPr>
          <p:cNvPr id="8" name="灯片编号占位符 7">
            <a:extLst>
              <a:ext uri="{FF2B5EF4-FFF2-40B4-BE49-F238E27FC236}">
                <a16:creationId xmlns:a16="http://schemas.microsoft.com/office/drawing/2014/main" id="{014E8E2C-B0AE-7151-1E8C-E7F2ED973BBF}"/>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45</a:t>
            </a:fld>
            <a:endParaRPr lang="zh-CN" altLang="en-US" dirty="0">
              <a:solidFill>
                <a:schemeClr val="bg2">
                  <a:lumMod val="75000"/>
                </a:schemeClr>
              </a:solidFill>
            </a:endParaRPr>
          </a:p>
        </p:txBody>
      </p:sp>
      <p:sp>
        <p:nvSpPr>
          <p:cNvPr id="14" name="文本框 13">
            <a:extLst>
              <a:ext uri="{FF2B5EF4-FFF2-40B4-BE49-F238E27FC236}">
                <a16:creationId xmlns:a16="http://schemas.microsoft.com/office/drawing/2014/main" id="{AD94829E-5DCB-FC35-E0BD-61B603CCDA23}"/>
              </a:ext>
            </a:extLst>
          </p:cNvPr>
          <p:cNvSpPr txBox="1"/>
          <p:nvPr/>
        </p:nvSpPr>
        <p:spPr>
          <a:xfrm>
            <a:off x="609600" y="1330338"/>
            <a:ext cx="3209533" cy="400110"/>
          </a:xfrm>
          <a:prstGeom prst="rect">
            <a:avLst/>
          </a:prstGeom>
          <a:noFill/>
        </p:spPr>
        <p:txBody>
          <a:bodyPr wrap="none" rtlCol="0">
            <a:spAutoFit/>
          </a:bodyPr>
          <a:lstStyle/>
          <a:p>
            <a:r>
              <a:rPr lang="en-US" altLang="zh-CN" sz="2000" b="1" dirty="0">
                <a:latin typeface="+mj-lt"/>
                <a:ea typeface="+mj-ea"/>
              </a:rPr>
              <a:t>(1) Spatial*</a:t>
            </a:r>
            <a:r>
              <a:rPr lang="en-US" altLang="zh-CN" sz="2000" b="1" dirty="0" err="1">
                <a:latin typeface="+mj-lt"/>
                <a:ea typeface="+mj-ea"/>
              </a:rPr>
              <a:t>DataFrame</a:t>
            </a:r>
            <a:r>
              <a:rPr lang="zh-CN" altLang="en-US" sz="2000" b="1" dirty="0">
                <a:latin typeface="+mj-lt"/>
                <a:ea typeface="+mj-ea"/>
              </a:rPr>
              <a:t>对象</a:t>
            </a:r>
          </a:p>
        </p:txBody>
      </p:sp>
      <p:sp>
        <p:nvSpPr>
          <p:cNvPr id="15" name="文本框 14">
            <a:extLst>
              <a:ext uri="{FF2B5EF4-FFF2-40B4-BE49-F238E27FC236}">
                <a16:creationId xmlns:a16="http://schemas.microsoft.com/office/drawing/2014/main" id="{A30683A2-FDAC-2C44-042F-A64CEAF54AD0}"/>
              </a:ext>
            </a:extLst>
          </p:cNvPr>
          <p:cNvSpPr txBox="1"/>
          <p:nvPr/>
        </p:nvSpPr>
        <p:spPr>
          <a:xfrm>
            <a:off x="862715" y="1802441"/>
            <a:ext cx="7481185" cy="874214"/>
          </a:xfrm>
          <a:prstGeom prst="rect">
            <a:avLst/>
          </a:prstGeom>
          <a:noFill/>
        </p:spPr>
        <p:txBody>
          <a:bodyPr wrap="square" rtlCol="0">
            <a:spAutoFit/>
          </a:bodyPr>
          <a:lstStyle/>
          <a:p>
            <a:pPr>
              <a:lnSpc>
                <a:spcPct val="150000"/>
              </a:lnSpc>
            </a:pPr>
            <a:r>
              <a:rPr lang="zh-CN" altLang="en-US" dirty="0">
                <a:latin typeface="+mj-lt"/>
                <a:ea typeface="+mj-ea"/>
              </a:rPr>
              <a:t>③ </a:t>
            </a:r>
            <a:r>
              <a:rPr lang="zh-CN" altLang="en-US" b="1" dirty="0">
                <a:latin typeface="+mj-lt"/>
                <a:ea typeface="+mj-ea"/>
              </a:rPr>
              <a:t>通过属性提取数据：</a:t>
            </a:r>
            <a:r>
              <a:rPr lang="zh-CN" altLang="en-US" dirty="0">
                <a:latin typeface="+mj-lt"/>
                <a:ea typeface="+mj-ea"/>
              </a:rPr>
              <a:t>将某些特定的空间对象子集单独提取为一个新的</a:t>
            </a:r>
            <a:r>
              <a:rPr lang="en-US" altLang="zh-CN" dirty="0">
                <a:latin typeface="+mj-lt"/>
                <a:ea typeface="+mj-ea"/>
              </a:rPr>
              <a:t>Spatial*</a:t>
            </a:r>
            <a:r>
              <a:rPr lang="en-US" altLang="zh-CN" dirty="0" err="1">
                <a:latin typeface="+mj-lt"/>
                <a:ea typeface="+mj-ea"/>
              </a:rPr>
              <a:t>DataFrame</a:t>
            </a:r>
            <a:r>
              <a:rPr lang="zh-CN" altLang="en-US" dirty="0">
                <a:latin typeface="+mj-lt"/>
                <a:ea typeface="+mj-ea"/>
              </a:rPr>
              <a:t>对象</a:t>
            </a:r>
          </a:p>
        </p:txBody>
      </p:sp>
      <p:sp>
        <p:nvSpPr>
          <p:cNvPr id="4" name="文本框 3">
            <a:extLst>
              <a:ext uri="{FF2B5EF4-FFF2-40B4-BE49-F238E27FC236}">
                <a16:creationId xmlns:a16="http://schemas.microsoft.com/office/drawing/2014/main" id="{24583C56-1EDE-EF8A-D912-858C59D1FAAE}"/>
              </a:ext>
            </a:extLst>
          </p:cNvPr>
          <p:cNvSpPr txBox="1"/>
          <p:nvPr/>
        </p:nvSpPr>
        <p:spPr>
          <a:xfrm>
            <a:off x="4863926" y="6009789"/>
            <a:ext cx="3213274" cy="523220"/>
          </a:xfrm>
          <a:prstGeom prst="rect">
            <a:avLst/>
          </a:prstGeom>
          <a:noFill/>
        </p:spPr>
        <p:txBody>
          <a:bodyPr wrap="square" rtlCol="0">
            <a:spAutoFit/>
          </a:bodyPr>
          <a:lstStyle/>
          <a:p>
            <a:pPr algn="ctr"/>
            <a:r>
              <a:rPr lang="zh-CN" altLang="en-US" sz="1400" kern="0" dirty="0">
                <a:effectLst/>
                <a:latin typeface="+mj-lt"/>
                <a:ea typeface="+mj-ea"/>
              </a:rPr>
              <a:t>提取武汉市道路类别为</a:t>
            </a:r>
            <a:r>
              <a:rPr lang="en-US" altLang="zh-CN" sz="1400" kern="0" dirty="0">
                <a:effectLst/>
                <a:latin typeface="+mj-lt"/>
                <a:ea typeface="+mj-ea"/>
              </a:rPr>
              <a:t>trunk</a:t>
            </a:r>
            <a:r>
              <a:rPr lang="zh-CN" altLang="en-US" sz="1400" kern="0" dirty="0">
                <a:effectLst/>
                <a:latin typeface="+mj-lt"/>
                <a:ea typeface="+mj-ea"/>
              </a:rPr>
              <a:t>和</a:t>
            </a:r>
            <a:r>
              <a:rPr lang="en-US" altLang="zh-CN" sz="1400" kern="0" dirty="0" err="1">
                <a:effectLst/>
                <a:latin typeface="+mj-lt"/>
                <a:ea typeface="+mj-ea"/>
              </a:rPr>
              <a:t>trunk_link</a:t>
            </a:r>
            <a:r>
              <a:rPr lang="zh-CN" altLang="en-US" sz="1400" kern="0" dirty="0">
                <a:effectLst/>
                <a:latin typeface="+mj-lt"/>
                <a:ea typeface="+mj-ea"/>
              </a:rPr>
              <a:t>的道路数据</a:t>
            </a:r>
            <a:endParaRPr lang="zh-CN" altLang="en-US" sz="1100" dirty="0">
              <a:latin typeface="+mj-lt"/>
              <a:ea typeface="+mj-ea"/>
            </a:endParaRPr>
          </a:p>
        </p:txBody>
      </p:sp>
      <p:pic>
        <p:nvPicPr>
          <p:cNvPr id="2" name="图片 1">
            <a:extLst>
              <a:ext uri="{FF2B5EF4-FFF2-40B4-BE49-F238E27FC236}">
                <a16:creationId xmlns:a16="http://schemas.microsoft.com/office/drawing/2014/main" id="{E8F73124-943A-18A0-B4AE-F5CD598901E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81101" y="2849500"/>
            <a:ext cx="3043555" cy="2997835"/>
          </a:xfrm>
          <a:prstGeom prst="rect">
            <a:avLst/>
          </a:prstGeom>
          <a:ln>
            <a:noFill/>
          </a:ln>
          <a:effectLst>
            <a:outerShdw blurRad="190500" algn="tl" rotWithShape="0">
              <a:srgbClr val="000000">
                <a:alpha val="70000"/>
              </a:srgbClr>
            </a:outerShdw>
          </a:effectLst>
        </p:spPr>
      </p:pic>
      <p:pic>
        <p:nvPicPr>
          <p:cNvPr id="3" name="图片 2">
            <a:extLst>
              <a:ext uri="{FF2B5EF4-FFF2-40B4-BE49-F238E27FC236}">
                <a16:creationId xmlns:a16="http://schemas.microsoft.com/office/drawing/2014/main" id="{6E13D5E1-CD90-A509-F577-66C270C6646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838700" y="2839109"/>
            <a:ext cx="3096212" cy="3008226"/>
          </a:xfrm>
          <a:prstGeom prst="rect">
            <a:avLst/>
          </a:prstGeom>
          <a:ln>
            <a:noFill/>
          </a:ln>
          <a:effectLst>
            <a:outerShdw blurRad="190500" algn="tl" rotWithShape="0">
              <a:srgbClr val="000000">
                <a:alpha val="70000"/>
              </a:srgbClr>
            </a:outerShdw>
          </a:effectLst>
        </p:spPr>
      </p:pic>
      <p:sp>
        <p:nvSpPr>
          <p:cNvPr id="9" name="文本框 8">
            <a:extLst>
              <a:ext uri="{FF2B5EF4-FFF2-40B4-BE49-F238E27FC236}">
                <a16:creationId xmlns:a16="http://schemas.microsoft.com/office/drawing/2014/main" id="{4240185C-B410-8820-1D33-B3B95F32C74C}"/>
              </a:ext>
            </a:extLst>
          </p:cNvPr>
          <p:cNvSpPr txBox="1"/>
          <p:nvPr/>
        </p:nvSpPr>
        <p:spPr>
          <a:xfrm>
            <a:off x="1096241" y="6009789"/>
            <a:ext cx="3213274" cy="307777"/>
          </a:xfrm>
          <a:prstGeom prst="rect">
            <a:avLst/>
          </a:prstGeom>
          <a:noFill/>
        </p:spPr>
        <p:txBody>
          <a:bodyPr wrap="square" rtlCol="0">
            <a:spAutoFit/>
          </a:bodyPr>
          <a:lstStyle/>
          <a:p>
            <a:pPr algn="ctr"/>
            <a:r>
              <a:rPr lang="zh-CN" altLang="en-US" sz="1400" kern="0" dirty="0">
                <a:effectLst/>
                <a:latin typeface="+mj-lt"/>
                <a:ea typeface="+mj-ea"/>
              </a:rPr>
              <a:t>提取位于洪山区的住宅区点数据</a:t>
            </a:r>
            <a:endParaRPr lang="zh-CN" altLang="en-US" sz="1100" dirty="0">
              <a:latin typeface="+mj-lt"/>
              <a:ea typeface="+mj-ea"/>
            </a:endParaRPr>
          </a:p>
        </p:txBody>
      </p:sp>
    </p:spTree>
    <p:extLst>
      <p:ext uri="{BB962C8B-B14F-4D97-AF65-F5344CB8AC3E}">
        <p14:creationId xmlns:p14="http://schemas.microsoft.com/office/powerpoint/2010/main" val="72578757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F2890F-9CCF-97A7-E315-A1802B6A5C83}"/>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CFD59FB0-F03E-5EA4-145C-5B07A2899812}"/>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4.5 </a:t>
            </a:r>
            <a:r>
              <a:rPr lang="zh-CN" altLang="en-US" sz="3600" dirty="0">
                <a:latin typeface="Times New Roman" panose="02020603050405020304" pitchFamily="18" charset="0"/>
                <a:cs typeface="Times New Roman" panose="02020603050405020304" pitchFamily="18" charset="0"/>
              </a:rPr>
              <a:t>空间数据基础分析</a:t>
            </a:r>
          </a:p>
        </p:txBody>
      </p:sp>
      <p:sp>
        <p:nvSpPr>
          <p:cNvPr id="8" name="灯片编号占位符 7">
            <a:extLst>
              <a:ext uri="{FF2B5EF4-FFF2-40B4-BE49-F238E27FC236}">
                <a16:creationId xmlns:a16="http://schemas.microsoft.com/office/drawing/2014/main" id="{197D8878-0666-4CF2-862F-6F5390624FB5}"/>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46</a:t>
            </a:fld>
            <a:endParaRPr lang="zh-CN" altLang="en-US" dirty="0">
              <a:solidFill>
                <a:schemeClr val="bg2">
                  <a:lumMod val="75000"/>
                </a:schemeClr>
              </a:solidFill>
            </a:endParaRPr>
          </a:p>
        </p:txBody>
      </p:sp>
      <p:sp>
        <p:nvSpPr>
          <p:cNvPr id="14" name="文本框 13">
            <a:extLst>
              <a:ext uri="{FF2B5EF4-FFF2-40B4-BE49-F238E27FC236}">
                <a16:creationId xmlns:a16="http://schemas.microsoft.com/office/drawing/2014/main" id="{6E196ADB-9E1C-FC52-9E52-AC5E2E18CDA1}"/>
              </a:ext>
            </a:extLst>
          </p:cNvPr>
          <p:cNvSpPr txBox="1"/>
          <p:nvPr/>
        </p:nvSpPr>
        <p:spPr>
          <a:xfrm>
            <a:off x="609600" y="1789935"/>
            <a:ext cx="3209533" cy="400110"/>
          </a:xfrm>
          <a:prstGeom prst="rect">
            <a:avLst/>
          </a:prstGeom>
          <a:noFill/>
        </p:spPr>
        <p:txBody>
          <a:bodyPr wrap="none" rtlCol="0">
            <a:spAutoFit/>
          </a:bodyPr>
          <a:lstStyle/>
          <a:p>
            <a:r>
              <a:rPr lang="en-US" altLang="zh-CN" sz="2000" b="1" dirty="0">
                <a:latin typeface="+mj-lt"/>
                <a:ea typeface="+mj-ea"/>
              </a:rPr>
              <a:t>(1) Spatial*</a:t>
            </a:r>
            <a:r>
              <a:rPr lang="en-US" altLang="zh-CN" sz="2000" b="1" dirty="0" err="1">
                <a:latin typeface="+mj-lt"/>
                <a:ea typeface="+mj-ea"/>
              </a:rPr>
              <a:t>DataFrame</a:t>
            </a:r>
            <a:r>
              <a:rPr lang="zh-CN" altLang="en-US" sz="2000" b="1" dirty="0">
                <a:latin typeface="+mj-lt"/>
                <a:ea typeface="+mj-ea"/>
              </a:rPr>
              <a:t>对象</a:t>
            </a:r>
          </a:p>
        </p:txBody>
      </p:sp>
      <p:sp>
        <p:nvSpPr>
          <p:cNvPr id="15" name="文本框 14">
            <a:extLst>
              <a:ext uri="{FF2B5EF4-FFF2-40B4-BE49-F238E27FC236}">
                <a16:creationId xmlns:a16="http://schemas.microsoft.com/office/drawing/2014/main" id="{B2DFFD6B-836B-007A-415D-942A855CAF0F}"/>
              </a:ext>
            </a:extLst>
          </p:cNvPr>
          <p:cNvSpPr txBox="1"/>
          <p:nvPr/>
        </p:nvSpPr>
        <p:spPr>
          <a:xfrm>
            <a:off x="862715" y="2262038"/>
            <a:ext cx="7481185" cy="1704569"/>
          </a:xfrm>
          <a:prstGeom prst="rect">
            <a:avLst/>
          </a:prstGeom>
          <a:noFill/>
        </p:spPr>
        <p:txBody>
          <a:bodyPr wrap="square" rtlCol="0">
            <a:spAutoFit/>
          </a:bodyPr>
          <a:lstStyle/>
          <a:p>
            <a:pPr>
              <a:lnSpc>
                <a:spcPct val="150000"/>
              </a:lnSpc>
            </a:pPr>
            <a:r>
              <a:rPr lang="zh-CN" altLang="en-US" dirty="0">
                <a:latin typeface="+mj-lt"/>
                <a:ea typeface="+mj-ea"/>
              </a:rPr>
              <a:t>④ </a:t>
            </a:r>
            <a:r>
              <a:rPr lang="en-US" altLang="zh-CN" b="1" i="1" dirty="0" err="1">
                <a:latin typeface="+mj-lt"/>
                <a:ea typeface="+mj-ea"/>
              </a:rPr>
              <a:t>gBuffer</a:t>
            </a:r>
            <a:r>
              <a:rPr lang="zh-CN" altLang="en-US" b="1" dirty="0">
                <a:latin typeface="+mj-lt"/>
                <a:ea typeface="+mj-ea"/>
              </a:rPr>
              <a:t>函数：</a:t>
            </a:r>
            <a:r>
              <a:rPr lang="zh-CN" altLang="en-US" dirty="0">
                <a:latin typeface="+mj-lt"/>
                <a:ea typeface="+mj-ea"/>
              </a:rPr>
              <a:t>函数包</a:t>
            </a:r>
            <a:r>
              <a:rPr lang="en-US" altLang="zh-CN" b="1" dirty="0" err="1">
                <a:latin typeface="+mj-lt"/>
                <a:ea typeface="+mj-ea"/>
              </a:rPr>
              <a:t>rgeos</a:t>
            </a:r>
            <a:r>
              <a:rPr lang="zh-CN" altLang="en-US" dirty="0">
                <a:latin typeface="+mj-lt"/>
                <a:ea typeface="+mj-ea"/>
              </a:rPr>
              <a:t>提供，生成点、线、面对象数据的缓冲区</a:t>
            </a:r>
            <a:endParaRPr lang="en-US" altLang="zh-CN" dirty="0">
              <a:latin typeface="+mj-lt"/>
              <a:ea typeface="+mj-ea"/>
            </a:endParaRPr>
          </a:p>
          <a:p>
            <a:pPr indent="457200">
              <a:lnSpc>
                <a:spcPct val="150000"/>
              </a:lnSpc>
            </a:pPr>
            <a:r>
              <a:rPr lang="zh-CN" altLang="en-US" dirty="0">
                <a:latin typeface="+mj-lt"/>
                <a:ea typeface="+mj-ea"/>
              </a:rPr>
              <a:t>注意：为了以</a:t>
            </a:r>
            <a:r>
              <a:rPr lang="zh-CN" altLang="en-US" b="1" dirty="0">
                <a:latin typeface="+mj-lt"/>
                <a:ea typeface="+mj-ea"/>
              </a:rPr>
              <a:t>米</a:t>
            </a:r>
            <a:r>
              <a:rPr lang="zh-CN" altLang="en-US" dirty="0">
                <a:latin typeface="+mj-lt"/>
                <a:ea typeface="+mj-ea"/>
              </a:rPr>
              <a:t>为单位更精确地设置缓冲区宽度</a:t>
            </a:r>
            <a:r>
              <a:rPr lang="en-US" altLang="zh-CN" dirty="0">
                <a:latin typeface="+mj-lt"/>
                <a:ea typeface="+mj-ea"/>
              </a:rPr>
              <a:t>width</a:t>
            </a:r>
            <a:r>
              <a:rPr lang="zh-CN" altLang="en-US" dirty="0">
                <a:latin typeface="+mj-lt"/>
                <a:ea typeface="+mj-ea"/>
              </a:rPr>
              <a:t>参数，需保证数据坐标系为</a:t>
            </a:r>
            <a:r>
              <a:rPr lang="zh-CN" altLang="en-US" b="1" dirty="0">
                <a:latin typeface="+mj-lt"/>
                <a:ea typeface="+mj-ea"/>
              </a:rPr>
              <a:t>投影坐标系</a:t>
            </a:r>
            <a:r>
              <a:rPr lang="zh-CN" altLang="en-US" dirty="0">
                <a:latin typeface="+mj-lt"/>
                <a:ea typeface="+mj-ea"/>
              </a:rPr>
              <a:t>，坐标系转换可使用</a:t>
            </a:r>
            <a:r>
              <a:rPr lang="en-US" altLang="zh-CN" b="1" i="1" dirty="0" err="1">
                <a:latin typeface="+mj-lt"/>
                <a:ea typeface="+mj-ea"/>
              </a:rPr>
              <a:t>spTransform</a:t>
            </a:r>
            <a:r>
              <a:rPr lang="zh-CN" altLang="en-US" dirty="0">
                <a:latin typeface="+mj-lt"/>
                <a:ea typeface="+mj-ea"/>
              </a:rPr>
              <a:t>函数。例如，将示例数据的坐标系从</a:t>
            </a:r>
            <a:r>
              <a:rPr lang="en-US" altLang="zh-CN" dirty="0">
                <a:latin typeface="+mj-lt"/>
                <a:ea typeface="+mj-ea"/>
              </a:rPr>
              <a:t>WGS84</a:t>
            </a:r>
            <a:r>
              <a:rPr lang="zh-CN" altLang="en-US" dirty="0">
                <a:latin typeface="+mj-lt"/>
                <a:ea typeface="+mj-ea"/>
              </a:rPr>
              <a:t>转换为</a:t>
            </a:r>
            <a:r>
              <a:rPr lang="en-US" altLang="zh-CN" dirty="0">
                <a:latin typeface="+mj-lt"/>
                <a:ea typeface="+mj-ea"/>
              </a:rPr>
              <a:t>UTM</a:t>
            </a:r>
            <a:r>
              <a:rPr lang="zh-CN" altLang="en-US" dirty="0">
                <a:latin typeface="+mj-lt"/>
                <a:ea typeface="+mj-ea"/>
              </a:rPr>
              <a:t>坐标系：</a:t>
            </a:r>
          </a:p>
        </p:txBody>
      </p:sp>
      <p:sp>
        <p:nvSpPr>
          <p:cNvPr id="5" name="文本框 4">
            <a:extLst>
              <a:ext uri="{FF2B5EF4-FFF2-40B4-BE49-F238E27FC236}">
                <a16:creationId xmlns:a16="http://schemas.microsoft.com/office/drawing/2014/main" id="{E196F906-0B1F-100C-E3FC-071955C11E51}"/>
              </a:ext>
            </a:extLst>
          </p:cNvPr>
          <p:cNvSpPr txBox="1"/>
          <p:nvPr/>
        </p:nvSpPr>
        <p:spPr>
          <a:xfrm>
            <a:off x="862715" y="4038600"/>
            <a:ext cx="7671685" cy="1569660"/>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WHZZQ_sp_utm</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spTransform</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WHZZQ_hs_sp</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CRS(</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proj</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utm</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 +zone=50 +datum=WGS84 +units=m +</a:t>
            </a:r>
            <a:r>
              <a:rPr lang="en-US" altLang="zh-CN" sz="16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no_defs</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WHRD_sp_utm</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spTransform</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WHRD_tuk_sp</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CRS(</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proj</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utm</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 +zone=50 +datum=WGS84 +units=m +</a:t>
            </a:r>
            <a:r>
              <a:rPr lang="en-US" altLang="zh-CN" sz="16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no_defs</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WHDis_sp_utm &lt;-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spTransform</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WHDis_sp</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CRS(</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proj</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utm</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 +zone=50 +datum=WGS84 +units=m +</a:t>
            </a:r>
            <a:r>
              <a:rPr lang="en-US" altLang="zh-CN" sz="16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no_defs</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347863547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EBEAB4-FEC5-9134-D7A0-EB39B1C56DB9}"/>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42008D5D-4AA3-6185-BC76-36BD9F06B88A}"/>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4.5 </a:t>
            </a:r>
            <a:r>
              <a:rPr lang="zh-CN" altLang="en-US" sz="3600" dirty="0">
                <a:latin typeface="Times New Roman" panose="02020603050405020304" pitchFamily="18" charset="0"/>
                <a:cs typeface="Times New Roman" panose="02020603050405020304" pitchFamily="18" charset="0"/>
              </a:rPr>
              <a:t>空间数据基础分析</a:t>
            </a:r>
          </a:p>
        </p:txBody>
      </p:sp>
      <p:sp>
        <p:nvSpPr>
          <p:cNvPr id="8" name="灯片编号占位符 7">
            <a:extLst>
              <a:ext uri="{FF2B5EF4-FFF2-40B4-BE49-F238E27FC236}">
                <a16:creationId xmlns:a16="http://schemas.microsoft.com/office/drawing/2014/main" id="{3236084F-5905-1B99-0794-64C9356D8A5A}"/>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47</a:t>
            </a:fld>
            <a:endParaRPr lang="zh-CN" altLang="en-US" dirty="0">
              <a:solidFill>
                <a:schemeClr val="bg2">
                  <a:lumMod val="75000"/>
                </a:schemeClr>
              </a:solidFill>
            </a:endParaRPr>
          </a:p>
        </p:txBody>
      </p:sp>
      <p:sp>
        <p:nvSpPr>
          <p:cNvPr id="14" name="文本框 13">
            <a:extLst>
              <a:ext uri="{FF2B5EF4-FFF2-40B4-BE49-F238E27FC236}">
                <a16:creationId xmlns:a16="http://schemas.microsoft.com/office/drawing/2014/main" id="{6E0463F3-FD7A-93D3-D3E6-53F31C1A30A4}"/>
              </a:ext>
            </a:extLst>
          </p:cNvPr>
          <p:cNvSpPr txBox="1"/>
          <p:nvPr/>
        </p:nvSpPr>
        <p:spPr>
          <a:xfrm>
            <a:off x="609600" y="1457633"/>
            <a:ext cx="3209533" cy="400110"/>
          </a:xfrm>
          <a:prstGeom prst="rect">
            <a:avLst/>
          </a:prstGeom>
          <a:noFill/>
        </p:spPr>
        <p:txBody>
          <a:bodyPr wrap="none" rtlCol="0">
            <a:spAutoFit/>
          </a:bodyPr>
          <a:lstStyle/>
          <a:p>
            <a:r>
              <a:rPr lang="en-US" altLang="zh-CN" sz="2000" b="1" dirty="0">
                <a:latin typeface="+mj-lt"/>
                <a:ea typeface="+mj-ea"/>
              </a:rPr>
              <a:t>(1) Spatial*</a:t>
            </a:r>
            <a:r>
              <a:rPr lang="en-US" altLang="zh-CN" sz="2000" b="1" dirty="0" err="1">
                <a:latin typeface="+mj-lt"/>
                <a:ea typeface="+mj-ea"/>
              </a:rPr>
              <a:t>DataFrame</a:t>
            </a:r>
            <a:r>
              <a:rPr lang="zh-CN" altLang="en-US" sz="2000" b="1" dirty="0">
                <a:latin typeface="+mj-lt"/>
                <a:ea typeface="+mj-ea"/>
              </a:rPr>
              <a:t>对象</a:t>
            </a:r>
          </a:p>
        </p:txBody>
      </p:sp>
      <p:sp>
        <p:nvSpPr>
          <p:cNvPr id="15" name="文本框 14">
            <a:extLst>
              <a:ext uri="{FF2B5EF4-FFF2-40B4-BE49-F238E27FC236}">
                <a16:creationId xmlns:a16="http://schemas.microsoft.com/office/drawing/2014/main" id="{4D611FF9-1FB2-1198-7795-7FFDB7AE7634}"/>
              </a:ext>
            </a:extLst>
          </p:cNvPr>
          <p:cNvSpPr txBox="1"/>
          <p:nvPr/>
        </p:nvSpPr>
        <p:spPr>
          <a:xfrm>
            <a:off x="862715" y="1929736"/>
            <a:ext cx="7481185" cy="458715"/>
          </a:xfrm>
          <a:prstGeom prst="rect">
            <a:avLst/>
          </a:prstGeom>
          <a:noFill/>
        </p:spPr>
        <p:txBody>
          <a:bodyPr wrap="square" rtlCol="0">
            <a:spAutoFit/>
          </a:bodyPr>
          <a:lstStyle/>
          <a:p>
            <a:pPr>
              <a:lnSpc>
                <a:spcPct val="150000"/>
              </a:lnSpc>
            </a:pPr>
            <a:r>
              <a:rPr lang="zh-CN" altLang="en-US" dirty="0">
                <a:latin typeface="+mj-lt"/>
                <a:ea typeface="+mj-ea"/>
              </a:rPr>
              <a:t>④ </a:t>
            </a:r>
            <a:r>
              <a:rPr lang="en-US" altLang="zh-CN" b="1" i="1" dirty="0" err="1">
                <a:latin typeface="+mj-lt"/>
                <a:ea typeface="+mj-ea"/>
              </a:rPr>
              <a:t>gBuffer</a:t>
            </a:r>
            <a:r>
              <a:rPr lang="zh-CN" altLang="en-US" b="1" dirty="0">
                <a:latin typeface="+mj-lt"/>
                <a:ea typeface="+mj-ea"/>
              </a:rPr>
              <a:t>函数：</a:t>
            </a:r>
            <a:r>
              <a:rPr lang="zh-CN" altLang="en-US" dirty="0">
                <a:latin typeface="+mj-lt"/>
                <a:ea typeface="+mj-ea"/>
              </a:rPr>
              <a:t>函数包</a:t>
            </a:r>
            <a:r>
              <a:rPr lang="en-US" altLang="zh-CN" b="1" dirty="0" err="1">
                <a:latin typeface="+mj-lt"/>
                <a:ea typeface="+mj-ea"/>
              </a:rPr>
              <a:t>rgeos</a:t>
            </a:r>
            <a:r>
              <a:rPr lang="zh-CN" altLang="en-US" dirty="0">
                <a:latin typeface="+mj-lt"/>
                <a:ea typeface="+mj-ea"/>
              </a:rPr>
              <a:t>提供，生成点、线、面对象数据的缓冲区</a:t>
            </a:r>
            <a:endParaRPr lang="en-US" altLang="zh-CN" dirty="0">
              <a:latin typeface="+mj-lt"/>
              <a:ea typeface="+mj-ea"/>
            </a:endParaRPr>
          </a:p>
        </p:txBody>
      </p:sp>
      <p:sp>
        <p:nvSpPr>
          <p:cNvPr id="5" name="文本框 4">
            <a:extLst>
              <a:ext uri="{FF2B5EF4-FFF2-40B4-BE49-F238E27FC236}">
                <a16:creationId xmlns:a16="http://schemas.microsoft.com/office/drawing/2014/main" id="{0D73075E-54C2-9B24-35BA-8BA6A1E725C3}"/>
              </a:ext>
            </a:extLst>
          </p:cNvPr>
          <p:cNvSpPr txBox="1"/>
          <p:nvPr/>
        </p:nvSpPr>
        <p:spPr>
          <a:xfrm>
            <a:off x="862715" y="2617730"/>
            <a:ext cx="7671685" cy="2800767"/>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WHZZQ_hs_buf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gBuffer</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WHZZQ_sp_utm</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width=</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500</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WHZZQ_hs_buf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col=</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"green"</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WHZZQ_sp_utm</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add=T,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cex</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0.5</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WHRD_tuk_buf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gBuffer</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WHRD_sp_utm</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width=</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500</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WHRD_tuk_buf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col=</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"green"</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WHRD_sp_utm</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add=T)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WHDis_buf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gBuffer</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(WHDis_sp_utm, width=</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1000</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WHDis_buf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col=</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"green"</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plot(WHDis_sp_utm, col=</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grey"</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,add</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=T)</a:t>
            </a:r>
            <a:endParaRPr lang="zh-CN" altLang="zh-CN" sz="16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199906452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B5E49-4261-2407-B42A-A60F09BBC8B8}"/>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C07A13FC-F53A-087E-E4FB-B1A578D13093}"/>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4.5 </a:t>
            </a:r>
            <a:r>
              <a:rPr lang="zh-CN" altLang="en-US" sz="3600" dirty="0">
                <a:latin typeface="Times New Roman" panose="02020603050405020304" pitchFamily="18" charset="0"/>
                <a:cs typeface="Times New Roman" panose="02020603050405020304" pitchFamily="18" charset="0"/>
              </a:rPr>
              <a:t>空间数据基础分析</a:t>
            </a:r>
          </a:p>
        </p:txBody>
      </p:sp>
      <p:sp>
        <p:nvSpPr>
          <p:cNvPr id="8" name="灯片编号占位符 7">
            <a:extLst>
              <a:ext uri="{FF2B5EF4-FFF2-40B4-BE49-F238E27FC236}">
                <a16:creationId xmlns:a16="http://schemas.microsoft.com/office/drawing/2014/main" id="{CB3F7109-C609-7D7A-78B4-B1692A4CC69B}"/>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48</a:t>
            </a:fld>
            <a:endParaRPr lang="zh-CN" altLang="en-US" dirty="0">
              <a:solidFill>
                <a:schemeClr val="bg2">
                  <a:lumMod val="75000"/>
                </a:schemeClr>
              </a:solidFill>
            </a:endParaRPr>
          </a:p>
        </p:txBody>
      </p:sp>
      <p:sp>
        <p:nvSpPr>
          <p:cNvPr id="14" name="文本框 13">
            <a:extLst>
              <a:ext uri="{FF2B5EF4-FFF2-40B4-BE49-F238E27FC236}">
                <a16:creationId xmlns:a16="http://schemas.microsoft.com/office/drawing/2014/main" id="{0AB022A2-A5A4-685A-2DA6-0F80D4536AAB}"/>
              </a:ext>
            </a:extLst>
          </p:cNvPr>
          <p:cNvSpPr txBox="1"/>
          <p:nvPr/>
        </p:nvSpPr>
        <p:spPr>
          <a:xfrm>
            <a:off x="609600" y="1457633"/>
            <a:ext cx="3209533" cy="400110"/>
          </a:xfrm>
          <a:prstGeom prst="rect">
            <a:avLst/>
          </a:prstGeom>
          <a:noFill/>
        </p:spPr>
        <p:txBody>
          <a:bodyPr wrap="none" rtlCol="0">
            <a:spAutoFit/>
          </a:bodyPr>
          <a:lstStyle/>
          <a:p>
            <a:r>
              <a:rPr lang="en-US" altLang="zh-CN" sz="2000" b="1" dirty="0">
                <a:latin typeface="+mj-lt"/>
                <a:ea typeface="+mj-ea"/>
              </a:rPr>
              <a:t>(1) Spatial*</a:t>
            </a:r>
            <a:r>
              <a:rPr lang="en-US" altLang="zh-CN" sz="2000" b="1" dirty="0" err="1">
                <a:latin typeface="+mj-lt"/>
                <a:ea typeface="+mj-ea"/>
              </a:rPr>
              <a:t>DataFrame</a:t>
            </a:r>
            <a:r>
              <a:rPr lang="zh-CN" altLang="en-US" sz="2000" b="1" dirty="0">
                <a:latin typeface="+mj-lt"/>
                <a:ea typeface="+mj-ea"/>
              </a:rPr>
              <a:t>对象</a:t>
            </a:r>
          </a:p>
        </p:txBody>
      </p:sp>
      <p:sp>
        <p:nvSpPr>
          <p:cNvPr id="15" name="文本框 14">
            <a:extLst>
              <a:ext uri="{FF2B5EF4-FFF2-40B4-BE49-F238E27FC236}">
                <a16:creationId xmlns:a16="http://schemas.microsoft.com/office/drawing/2014/main" id="{E3D80593-2620-5427-4667-2BFA78E893A7}"/>
              </a:ext>
            </a:extLst>
          </p:cNvPr>
          <p:cNvSpPr txBox="1"/>
          <p:nvPr/>
        </p:nvSpPr>
        <p:spPr>
          <a:xfrm>
            <a:off x="862715" y="1929736"/>
            <a:ext cx="7481185" cy="458715"/>
          </a:xfrm>
          <a:prstGeom prst="rect">
            <a:avLst/>
          </a:prstGeom>
          <a:noFill/>
        </p:spPr>
        <p:txBody>
          <a:bodyPr wrap="square" rtlCol="0">
            <a:spAutoFit/>
          </a:bodyPr>
          <a:lstStyle/>
          <a:p>
            <a:pPr>
              <a:lnSpc>
                <a:spcPct val="150000"/>
              </a:lnSpc>
            </a:pPr>
            <a:r>
              <a:rPr lang="zh-CN" altLang="en-US" dirty="0">
                <a:latin typeface="+mj-lt"/>
                <a:ea typeface="+mj-ea"/>
              </a:rPr>
              <a:t>④ </a:t>
            </a:r>
            <a:r>
              <a:rPr lang="en-US" altLang="zh-CN" b="1" i="1" dirty="0" err="1">
                <a:latin typeface="+mj-lt"/>
                <a:ea typeface="+mj-ea"/>
              </a:rPr>
              <a:t>gBuffer</a:t>
            </a:r>
            <a:r>
              <a:rPr lang="zh-CN" altLang="en-US" b="1" dirty="0">
                <a:latin typeface="+mj-lt"/>
                <a:ea typeface="+mj-ea"/>
              </a:rPr>
              <a:t>函数：</a:t>
            </a:r>
            <a:r>
              <a:rPr lang="zh-CN" altLang="en-US" dirty="0">
                <a:latin typeface="+mj-lt"/>
                <a:ea typeface="+mj-ea"/>
              </a:rPr>
              <a:t>函数包</a:t>
            </a:r>
            <a:r>
              <a:rPr lang="en-US" altLang="zh-CN" b="1" dirty="0" err="1">
                <a:latin typeface="+mj-lt"/>
                <a:ea typeface="+mj-ea"/>
              </a:rPr>
              <a:t>rgeos</a:t>
            </a:r>
            <a:r>
              <a:rPr lang="zh-CN" altLang="en-US" dirty="0">
                <a:latin typeface="+mj-lt"/>
                <a:ea typeface="+mj-ea"/>
              </a:rPr>
              <a:t>提供，生成点、线、面对象数据的缓冲区</a:t>
            </a:r>
            <a:endParaRPr lang="en-US" altLang="zh-CN" dirty="0">
              <a:latin typeface="+mj-lt"/>
              <a:ea typeface="+mj-ea"/>
            </a:endParaRPr>
          </a:p>
        </p:txBody>
      </p:sp>
      <p:pic>
        <p:nvPicPr>
          <p:cNvPr id="2" name="图片 1">
            <a:extLst>
              <a:ext uri="{FF2B5EF4-FFF2-40B4-BE49-F238E27FC236}">
                <a16:creationId xmlns:a16="http://schemas.microsoft.com/office/drawing/2014/main" id="{8F27BF25-FE76-E964-BC5C-1012FE21FED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61247" y="2743200"/>
            <a:ext cx="4421505" cy="2542540"/>
          </a:xfrm>
          <a:prstGeom prst="rect">
            <a:avLst/>
          </a:prstGeom>
          <a:ln>
            <a:noFill/>
          </a:ln>
          <a:effectLst>
            <a:outerShdw blurRad="190500" algn="tl" rotWithShape="0">
              <a:srgbClr val="000000">
                <a:alpha val="70000"/>
              </a:srgbClr>
            </a:outerShdw>
          </a:effectLst>
        </p:spPr>
      </p:pic>
      <p:sp>
        <p:nvSpPr>
          <p:cNvPr id="3" name="文本框 2">
            <a:extLst>
              <a:ext uri="{FF2B5EF4-FFF2-40B4-BE49-F238E27FC236}">
                <a16:creationId xmlns:a16="http://schemas.microsoft.com/office/drawing/2014/main" id="{B4D1AF27-9876-A465-F35D-B232924A70F5}"/>
              </a:ext>
            </a:extLst>
          </p:cNvPr>
          <p:cNvSpPr txBox="1"/>
          <p:nvPr/>
        </p:nvSpPr>
        <p:spPr>
          <a:xfrm>
            <a:off x="2965362" y="5562600"/>
            <a:ext cx="3213274" cy="307777"/>
          </a:xfrm>
          <a:prstGeom prst="rect">
            <a:avLst/>
          </a:prstGeom>
          <a:noFill/>
        </p:spPr>
        <p:txBody>
          <a:bodyPr wrap="square" rtlCol="0">
            <a:spAutoFit/>
          </a:bodyPr>
          <a:lstStyle/>
          <a:p>
            <a:pPr algn="ctr"/>
            <a:r>
              <a:rPr lang="zh-CN" altLang="en-US" sz="1400" kern="0" dirty="0">
                <a:effectLst/>
                <a:latin typeface="+mj-lt"/>
                <a:ea typeface="+mj-ea"/>
              </a:rPr>
              <a:t>生成</a:t>
            </a:r>
            <a:r>
              <a:rPr lang="en-US" altLang="zh-CN" sz="1400" kern="0" dirty="0" err="1">
                <a:effectLst/>
                <a:latin typeface="+mj-lt"/>
                <a:ea typeface="+mj-ea"/>
              </a:rPr>
              <a:t>WHZZQ_hs_sp</a:t>
            </a:r>
            <a:r>
              <a:rPr lang="zh-CN" altLang="en-US" sz="1400" kern="0" dirty="0">
                <a:effectLst/>
                <a:latin typeface="+mj-lt"/>
                <a:ea typeface="+mj-ea"/>
              </a:rPr>
              <a:t>数据</a:t>
            </a:r>
            <a:r>
              <a:rPr lang="en-US" altLang="zh-CN" sz="1400" kern="0" dirty="0">
                <a:effectLst/>
                <a:latin typeface="+mj-lt"/>
                <a:ea typeface="+mj-ea"/>
              </a:rPr>
              <a:t>500</a:t>
            </a:r>
            <a:r>
              <a:rPr lang="zh-CN" altLang="en-US" sz="1400" kern="0" dirty="0">
                <a:effectLst/>
                <a:latin typeface="+mj-lt"/>
                <a:ea typeface="+mj-ea"/>
              </a:rPr>
              <a:t>米缓冲区</a:t>
            </a:r>
            <a:endParaRPr lang="zh-CN" altLang="en-US" sz="1100" dirty="0">
              <a:latin typeface="+mj-lt"/>
              <a:ea typeface="+mj-ea"/>
            </a:endParaRPr>
          </a:p>
        </p:txBody>
      </p:sp>
    </p:spTree>
    <p:extLst>
      <p:ext uri="{BB962C8B-B14F-4D97-AF65-F5344CB8AC3E}">
        <p14:creationId xmlns:p14="http://schemas.microsoft.com/office/powerpoint/2010/main" val="51072049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F7F23-4F63-E9FA-6520-72AB78F62798}"/>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B3C09639-AC32-18FC-E4DF-E628747CECB8}"/>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4.5 </a:t>
            </a:r>
            <a:r>
              <a:rPr lang="zh-CN" altLang="en-US" sz="3600" dirty="0">
                <a:latin typeface="Times New Roman" panose="02020603050405020304" pitchFamily="18" charset="0"/>
                <a:cs typeface="Times New Roman" panose="02020603050405020304" pitchFamily="18" charset="0"/>
              </a:rPr>
              <a:t>空间数据基础分析</a:t>
            </a:r>
          </a:p>
        </p:txBody>
      </p:sp>
      <p:sp>
        <p:nvSpPr>
          <p:cNvPr id="8" name="灯片编号占位符 7">
            <a:extLst>
              <a:ext uri="{FF2B5EF4-FFF2-40B4-BE49-F238E27FC236}">
                <a16:creationId xmlns:a16="http://schemas.microsoft.com/office/drawing/2014/main" id="{BBBC09F5-92B4-548E-77B7-E12B1805CB9F}"/>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49</a:t>
            </a:fld>
            <a:endParaRPr lang="zh-CN" altLang="en-US" dirty="0">
              <a:solidFill>
                <a:schemeClr val="bg2">
                  <a:lumMod val="75000"/>
                </a:schemeClr>
              </a:solidFill>
            </a:endParaRPr>
          </a:p>
        </p:txBody>
      </p:sp>
      <p:sp>
        <p:nvSpPr>
          <p:cNvPr id="14" name="文本框 13">
            <a:extLst>
              <a:ext uri="{FF2B5EF4-FFF2-40B4-BE49-F238E27FC236}">
                <a16:creationId xmlns:a16="http://schemas.microsoft.com/office/drawing/2014/main" id="{A62FEB34-3F27-22C2-1FFC-CCEEB6F43042}"/>
              </a:ext>
            </a:extLst>
          </p:cNvPr>
          <p:cNvSpPr txBox="1"/>
          <p:nvPr/>
        </p:nvSpPr>
        <p:spPr>
          <a:xfrm>
            <a:off x="609600" y="1457633"/>
            <a:ext cx="3209533" cy="400110"/>
          </a:xfrm>
          <a:prstGeom prst="rect">
            <a:avLst/>
          </a:prstGeom>
          <a:noFill/>
        </p:spPr>
        <p:txBody>
          <a:bodyPr wrap="none" rtlCol="0">
            <a:spAutoFit/>
          </a:bodyPr>
          <a:lstStyle/>
          <a:p>
            <a:r>
              <a:rPr lang="en-US" altLang="zh-CN" sz="2000" b="1" dirty="0">
                <a:latin typeface="+mj-lt"/>
                <a:ea typeface="+mj-ea"/>
              </a:rPr>
              <a:t>(1) Spatial*</a:t>
            </a:r>
            <a:r>
              <a:rPr lang="en-US" altLang="zh-CN" sz="2000" b="1" dirty="0" err="1">
                <a:latin typeface="+mj-lt"/>
                <a:ea typeface="+mj-ea"/>
              </a:rPr>
              <a:t>DataFrame</a:t>
            </a:r>
            <a:r>
              <a:rPr lang="zh-CN" altLang="en-US" sz="2000" b="1" dirty="0">
                <a:latin typeface="+mj-lt"/>
                <a:ea typeface="+mj-ea"/>
              </a:rPr>
              <a:t>对象</a:t>
            </a:r>
          </a:p>
        </p:txBody>
      </p:sp>
      <p:sp>
        <p:nvSpPr>
          <p:cNvPr id="15" name="文本框 14">
            <a:extLst>
              <a:ext uri="{FF2B5EF4-FFF2-40B4-BE49-F238E27FC236}">
                <a16:creationId xmlns:a16="http://schemas.microsoft.com/office/drawing/2014/main" id="{8CD0CCE5-4FB0-1229-20AD-D5D23ADA7B0F}"/>
              </a:ext>
            </a:extLst>
          </p:cNvPr>
          <p:cNvSpPr txBox="1"/>
          <p:nvPr/>
        </p:nvSpPr>
        <p:spPr>
          <a:xfrm>
            <a:off x="862715" y="1929736"/>
            <a:ext cx="7481185" cy="458715"/>
          </a:xfrm>
          <a:prstGeom prst="rect">
            <a:avLst/>
          </a:prstGeom>
          <a:noFill/>
        </p:spPr>
        <p:txBody>
          <a:bodyPr wrap="square" rtlCol="0">
            <a:spAutoFit/>
          </a:bodyPr>
          <a:lstStyle/>
          <a:p>
            <a:pPr>
              <a:lnSpc>
                <a:spcPct val="150000"/>
              </a:lnSpc>
            </a:pPr>
            <a:r>
              <a:rPr lang="zh-CN" altLang="en-US" dirty="0">
                <a:latin typeface="+mj-lt"/>
                <a:ea typeface="+mj-ea"/>
              </a:rPr>
              <a:t>④ </a:t>
            </a:r>
            <a:r>
              <a:rPr lang="en-US" altLang="zh-CN" b="1" i="1" dirty="0" err="1">
                <a:latin typeface="+mj-lt"/>
                <a:ea typeface="+mj-ea"/>
              </a:rPr>
              <a:t>gBuffer</a:t>
            </a:r>
            <a:r>
              <a:rPr lang="zh-CN" altLang="en-US" b="1" dirty="0">
                <a:latin typeface="+mj-lt"/>
                <a:ea typeface="+mj-ea"/>
              </a:rPr>
              <a:t>函数：</a:t>
            </a:r>
            <a:r>
              <a:rPr lang="zh-CN" altLang="en-US" dirty="0">
                <a:latin typeface="+mj-lt"/>
                <a:ea typeface="+mj-ea"/>
              </a:rPr>
              <a:t>函数包</a:t>
            </a:r>
            <a:r>
              <a:rPr lang="en-US" altLang="zh-CN" b="1" dirty="0" err="1">
                <a:latin typeface="+mj-lt"/>
                <a:ea typeface="+mj-ea"/>
              </a:rPr>
              <a:t>rgeos</a:t>
            </a:r>
            <a:r>
              <a:rPr lang="zh-CN" altLang="en-US" dirty="0">
                <a:latin typeface="+mj-lt"/>
                <a:ea typeface="+mj-ea"/>
              </a:rPr>
              <a:t>提供，生成点、线、面对象数据的缓冲区</a:t>
            </a:r>
            <a:endParaRPr lang="en-US" altLang="zh-CN" dirty="0">
              <a:latin typeface="+mj-lt"/>
              <a:ea typeface="+mj-ea"/>
            </a:endParaRPr>
          </a:p>
        </p:txBody>
      </p:sp>
      <p:sp>
        <p:nvSpPr>
          <p:cNvPr id="3" name="文本框 2">
            <a:extLst>
              <a:ext uri="{FF2B5EF4-FFF2-40B4-BE49-F238E27FC236}">
                <a16:creationId xmlns:a16="http://schemas.microsoft.com/office/drawing/2014/main" id="{8CAD89A0-7AF4-AFBC-5186-E8B2D679F638}"/>
              </a:ext>
            </a:extLst>
          </p:cNvPr>
          <p:cNvSpPr txBox="1"/>
          <p:nvPr/>
        </p:nvSpPr>
        <p:spPr>
          <a:xfrm>
            <a:off x="2965362" y="5812355"/>
            <a:ext cx="3213274" cy="307777"/>
          </a:xfrm>
          <a:prstGeom prst="rect">
            <a:avLst/>
          </a:prstGeom>
          <a:noFill/>
        </p:spPr>
        <p:txBody>
          <a:bodyPr wrap="square" rtlCol="0">
            <a:spAutoFit/>
          </a:bodyPr>
          <a:lstStyle/>
          <a:p>
            <a:pPr algn="ctr"/>
            <a:r>
              <a:rPr lang="zh-CN" altLang="en-US" sz="1400" kern="0" dirty="0">
                <a:effectLst/>
                <a:latin typeface="+mj-lt"/>
                <a:ea typeface="+mj-ea"/>
              </a:rPr>
              <a:t>生成</a:t>
            </a:r>
            <a:r>
              <a:rPr lang="en-US" altLang="zh-CN" sz="1400" kern="0" dirty="0" err="1">
                <a:effectLst/>
                <a:latin typeface="+mj-lt"/>
                <a:ea typeface="+mj-ea"/>
              </a:rPr>
              <a:t>WHRD_tuk_sp</a:t>
            </a:r>
            <a:r>
              <a:rPr lang="zh-CN" altLang="en-US" sz="1400" kern="0" dirty="0">
                <a:effectLst/>
                <a:latin typeface="+mj-lt"/>
                <a:ea typeface="+mj-ea"/>
              </a:rPr>
              <a:t>数据</a:t>
            </a:r>
            <a:r>
              <a:rPr lang="en-US" altLang="zh-CN" sz="1400" kern="0" dirty="0">
                <a:effectLst/>
                <a:latin typeface="+mj-lt"/>
                <a:ea typeface="+mj-ea"/>
              </a:rPr>
              <a:t>500</a:t>
            </a:r>
            <a:r>
              <a:rPr lang="zh-CN" altLang="en-US" sz="1400" kern="0" dirty="0">
                <a:effectLst/>
                <a:latin typeface="+mj-lt"/>
                <a:ea typeface="+mj-ea"/>
              </a:rPr>
              <a:t>米缓冲区</a:t>
            </a:r>
            <a:endParaRPr lang="zh-CN" altLang="en-US" sz="1100" dirty="0">
              <a:latin typeface="+mj-lt"/>
              <a:ea typeface="+mj-ea"/>
            </a:endParaRPr>
          </a:p>
        </p:txBody>
      </p:sp>
      <p:pic>
        <p:nvPicPr>
          <p:cNvPr id="4" name="图片 3">
            <a:extLst>
              <a:ext uri="{FF2B5EF4-FFF2-40B4-BE49-F238E27FC236}">
                <a16:creationId xmlns:a16="http://schemas.microsoft.com/office/drawing/2014/main" id="{8FFF95D0-690B-1716-00DA-12A65FD9D29C}"/>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67647" y="2667000"/>
            <a:ext cx="3608705" cy="3020695"/>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74583625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BA136-EB8E-4FBB-A01D-9AC1F61432D6}"/>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A5263E99-1CD8-3A84-E511-83FD2331C121}"/>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4.5 </a:t>
            </a:r>
            <a:r>
              <a:rPr lang="zh-CN" altLang="en-US" sz="3600" dirty="0">
                <a:latin typeface="Times New Roman" panose="02020603050405020304" pitchFamily="18" charset="0"/>
                <a:cs typeface="Times New Roman" panose="02020603050405020304" pitchFamily="18" charset="0"/>
              </a:rPr>
              <a:t>空间数据基础分析</a:t>
            </a:r>
          </a:p>
        </p:txBody>
      </p:sp>
      <p:sp>
        <p:nvSpPr>
          <p:cNvPr id="8" name="灯片编号占位符 7">
            <a:extLst>
              <a:ext uri="{FF2B5EF4-FFF2-40B4-BE49-F238E27FC236}">
                <a16:creationId xmlns:a16="http://schemas.microsoft.com/office/drawing/2014/main" id="{7BA6ACC2-8D16-481B-C325-9FFAD678F313}"/>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50</a:t>
            </a:fld>
            <a:endParaRPr lang="zh-CN" altLang="en-US" dirty="0">
              <a:solidFill>
                <a:schemeClr val="bg2">
                  <a:lumMod val="75000"/>
                </a:schemeClr>
              </a:solidFill>
            </a:endParaRPr>
          </a:p>
        </p:txBody>
      </p:sp>
      <p:sp>
        <p:nvSpPr>
          <p:cNvPr id="14" name="文本框 13">
            <a:extLst>
              <a:ext uri="{FF2B5EF4-FFF2-40B4-BE49-F238E27FC236}">
                <a16:creationId xmlns:a16="http://schemas.microsoft.com/office/drawing/2014/main" id="{E81AF67F-5CEF-E436-E1CF-EB8C5113A500}"/>
              </a:ext>
            </a:extLst>
          </p:cNvPr>
          <p:cNvSpPr txBox="1"/>
          <p:nvPr/>
        </p:nvSpPr>
        <p:spPr>
          <a:xfrm>
            <a:off x="609600" y="1457633"/>
            <a:ext cx="3209533" cy="400110"/>
          </a:xfrm>
          <a:prstGeom prst="rect">
            <a:avLst/>
          </a:prstGeom>
          <a:noFill/>
        </p:spPr>
        <p:txBody>
          <a:bodyPr wrap="none" rtlCol="0">
            <a:spAutoFit/>
          </a:bodyPr>
          <a:lstStyle/>
          <a:p>
            <a:r>
              <a:rPr lang="en-US" altLang="zh-CN" sz="2000" b="1" dirty="0">
                <a:latin typeface="+mj-lt"/>
                <a:ea typeface="+mj-ea"/>
              </a:rPr>
              <a:t>(1) Spatial*</a:t>
            </a:r>
            <a:r>
              <a:rPr lang="en-US" altLang="zh-CN" sz="2000" b="1" dirty="0" err="1">
                <a:latin typeface="+mj-lt"/>
                <a:ea typeface="+mj-ea"/>
              </a:rPr>
              <a:t>DataFrame</a:t>
            </a:r>
            <a:r>
              <a:rPr lang="zh-CN" altLang="en-US" sz="2000" b="1" dirty="0">
                <a:latin typeface="+mj-lt"/>
                <a:ea typeface="+mj-ea"/>
              </a:rPr>
              <a:t>对象</a:t>
            </a:r>
          </a:p>
        </p:txBody>
      </p:sp>
      <p:sp>
        <p:nvSpPr>
          <p:cNvPr id="15" name="文本框 14">
            <a:extLst>
              <a:ext uri="{FF2B5EF4-FFF2-40B4-BE49-F238E27FC236}">
                <a16:creationId xmlns:a16="http://schemas.microsoft.com/office/drawing/2014/main" id="{B7D24642-2C77-3EEC-55B2-72D912A5680C}"/>
              </a:ext>
            </a:extLst>
          </p:cNvPr>
          <p:cNvSpPr txBox="1"/>
          <p:nvPr/>
        </p:nvSpPr>
        <p:spPr>
          <a:xfrm>
            <a:off x="862715" y="1929736"/>
            <a:ext cx="7481185" cy="458715"/>
          </a:xfrm>
          <a:prstGeom prst="rect">
            <a:avLst/>
          </a:prstGeom>
          <a:noFill/>
        </p:spPr>
        <p:txBody>
          <a:bodyPr wrap="square" rtlCol="0">
            <a:spAutoFit/>
          </a:bodyPr>
          <a:lstStyle/>
          <a:p>
            <a:pPr>
              <a:lnSpc>
                <a:spcPct val="150000"/>
              </a:lnSpc>
            </a:pPr>
            <a:r>
              <a:rPr lang="zh-CN" altLang="en-US" dirty="0">
                <a:latin typeface="+mj-lt"/>
                <a:ea typeface="+mj-ea"/>
              </a:rPr>
              <a:t>④ </a:t>
            </a:r>
            <a:r>
              <a:rPr lang="en-US" altLang="zh-CN" b="1" i="1" dirty="0" err="1">
                <a:latin typeface="+mj-lt"/>
                <a:ea typeface="+mj-ea"/>
              </a:rPr>
              <a:t>gBuffer</a:t>
            </a:r>
            <a:r>
              <a:rPr lang="zh-CN" altLang="en-US" b="1" dirty="0">
                <a:latin typeface="+mj-lt"/>
                <a:ea typeface="+mj-ea"/>
              </a:rPr>
              <a:t>函数：</a:t>
            </a:r>
            <a:r>
              <a:rPr lang="zh-CN" altLang="en-US" dirty="0">
                <a:latin typeface="+mj-lt"/>
                <a:ea typeface="+mj-ea"/>
              </a:rPr>
              <a:t>函数包</a:t>
            </a:r>
            <a:r>
              <a:rPr lang="en-US" altLang="zh-CN" b="1" dirty="0" err="1">
                <a:latin typeface="+mj-lt"/>
                <a:ea typeface="+mj-ea"/>
              </a:rPr>
              <a:t>rgeos</a:t>
            </a:r>
            <a:r>
              <a:rPr lang="zh-CN" altLang="en-US" dirty="0">
                <a:latin typeface="+mj-lt"/>
                <a:ea typeface="+mj-ea"/>
              </a:rPr>
              <a:t>提供，生成点、线、面对象数据的缓冲区</a:t>
            </a:r>
            <a:endParaRPr lang="en-US" altLang="zh-CN" dirty="0">
              <a:latin typeface="+mj-lt"/>
              <a:ea typeface="+mj-ea"/>
            </a:endParaRPr>
          </a:p>
        </p:txBody>
      </p:sp>
      <p:sp>
        <p:nvSpPr>
          <p:cNvPr id="3" name="文本框 2">
            <a:extLst>
              <a:ext uri="{FF2B5EF4-FFF2-40B4-BE49-F238E27FC236}">
                <a16:creationId xmlns:a16="http://schemas.microsoft.com/office/drawing/2014/main" id="{BBA777A4-2C26-1473-2290-857DE663A240}"/>
              </a:ext>
            </a:extLst>
          </p:cNvPr>
          <p:cNvSpPr txBox="1"/>
          <p:nvPr/>
        </p:nvSpPr>
        <p:spPr>
          <a:xfrm>
            <a:off x="2965362" y="5960665"/>
            <a:ext cx="3213274" cy="307777"/>
          </a:xfrm>
          <a:prstGeom prst="rect">
            <a:avLst/>
          </a:prstGeom>
          <a:noFill/>
        </p:spPr>
        <p:txBody>
          <a:bodyPr wrap="square" rtlCol="0">
            <a:spAutoFit/>
          </a:bodyPr>
          <a:lstStyle/>
          <a:p>
            <a:pPr algn="ctr"/>
            <a:r>
              <a:rPr lang="zh-CN" altLang="en-US" sz="1400" kern="0" dirty="0">
                <a:effectLst/>
                <a:latin typeface="+mj-lt"/>
                <a:ea typeface="+mj-ea"/>
              </a:rPr>
              <a:t>生成</a:t>
            </a:r>
            <a:r>
              <a:rPr lang="en-US" altLang="zh-CN" sz="1400" kern="0" dirty="0" err="1">
                <a:effectLst/>
                <a:latin typeface="+mj-lt"/>
                <a:ea typeface="+mj-ea"/>
              </a:rPr>
              <a:t>WHBou_sp</a:t>
            </a:r>
            <a:r>
              <a:rPr lang="zh-CN" altLang="en-US" sz="1400" kern="0" dirty="0">
                <a:effectLst/>
                <a:latin typeface="+mj-lt"/>
                <a:ea typeface="+mj-ea"/>
              </a:rPr>
              <a:t>数据</a:t>
            </a:r>
            <a:r>
              <a:rPr lang="en-US" altLang="zh-CN" sz="1400" kern="0" dirty="0">
                <a:latin typeface="+mj-lt"/>
                <a:ea typeface="+mj-ea"/>
              </a:rPr>
              <a:t>10</a:t>
            </a:r>
            <a:r>
              <a:rPr lang="en-US" altLang="zh-CN" sz="1400" kern="0" dirty="0">
                <a:effectLst/>
                <a:latin typeface="+mj-lt"/>
                <a:ea typeface="+mj-ea"/>
              </a:rPr>
              <a:t>00</a:t>
            </a:r>
            <a:r>
              <a:rPr lang="zh-CN" altLang="en-US" sz="1400" kern="0" dirty="0">
                <a:effectLst/>
                <a:latin typeface="+mj-lt"/>
                <a:ea typeface="+mj-ea"/>
              </a:rPr>
              <a:t>米缓冲区</a:t>
            </a:r>
            <a:endParaRPr lang="zh-CN" altLang="en-US" sz="1100" dirty="0">
              <a:latin typeface="+mj-lt"/>
              <a:ea typeface="+mj-ea"/>
            </a:endParaRPr>
          </a:p>
        </p:txBody>
      </p:sp>
      <p:pic>
        <p:nvPicPr>
          <p:cNvPr id="2" name="图片 1">
            <a:extLst>
              <a:ext uri="{FF2B5EF4-FFF2-40B4-BE49-F238E27FC236}">
                <a16:creationId xmlns:a16="http://schemas.microsoft.com/office/drawing/2014/main" id="{B5193287-B7F8-CD4E-5A98-0E462268152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988288" y="2681466"/>
            <a:ext cx="3167421" cy="3140073"/>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64483044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70A80-5704-12CF-9CE5-DD375AF0CCDE}"/>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8614270A-5AA8-A044-F816-34AE08F4665F}"/>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4.5 </a:t>
            </a:r>
            <a:r>
              <a:rPr lang="zh-CN" altLang="en-US" sz="3600" dirty="0">
                <a:latin typeface="Times New Roman" panose="02020603050405020304" pitchFamily="18" charset="0"/>
                <a:cs typeface="Times New Roman" panose="02020603050405020304" pitchFamily="18" charset="0"/>
              </a:rPr>
              <a:t>空间数据基础分析</a:t>
            </a:r>
          </a:p>
        </p:txBody>
      </p:sp>
      <p:sp>
        <p:nvSpPr>
          <p:cNvPr id="8" name="灯片编号占位符 7">
            <a:extLst>
              <a:ext uri="{FF2B5EF4-FFF2-40B4-BE49-F238E27FC236}">
                <a16:creationId xmlns:a16="http://schemas.microsoft.com/office/drawing/2014/main" id="{B0E9D016-1D59-3D65-29F1-DDAB6139E2A1}"/>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51</a:t>
            </a:fld>
            <a:endParaRPr lang="zh-CN" altLang="en-US" dirty="0">
              <a:solidFill>
                <a:schemeClr val="bg2">
                  <a:lumMod val="75000"/>
                </a:schemeClr>
              </a:solidFill>
            </a:endParaRPr>
          </a:p>
        </p:txBody>
      </p:sp>
      <p:sp>
        <p:nvSpPr>
          <p:cNvPr id="14" name="文本框 13">
            <a:extLst>
              <a:ext uri="{FF2B5EF4-FFF2-40B4-BE49-F238E27FC236}">
                <a16:creationId xmlns:a16="http://schemas.microsoft.com/office/drawing/2014/main" id="{F36B67FE-0384-0708-BA15-3E82156A8264}"/>
              </a:ext>
            </a:extLst>
          </p:cNvPr>
          <p:cNvSpPr txBox="1"/>
          <p:nvPr/>
        </p:nvSpPr>
        <p:spPr>
          <a:xfrm>
            <a:off x="609600" y="1457633"/>
            <a:ext cx="3209533" cy="400110"/>
          </a:xfrm>
          <a:prstGeom prst="rect">
            <a:avLst/>
          </a:prstGeom>
          <a:noFill/>
        </p:spPr>
        <p:txBody>
          <a:bodyPr wrap="none" rtlCol="0">
            <a:spAutoFit/>
          </a:bodyPr>
          <a:lstStyle/>
          <a:p>
            <a:r>
              <a:rPr lang="en-US" altLang="zh-CN" sz="2000" b="1" dirty="0">
                <a:latin typeface="+mj-lt"/>
                <a:ea typeface="+mj-ea"/>
              </a:rPr>
              <a:t>(1) Spatial*</a:t>
            </a:r>
            <a:r>
              <a:rPr lang="en-US" altLang="zh-CN" sz="2000" b="1" dirty="0" err="1">
                <a:latin typeface="+mj-lt"/>
                <a:ea typeface="+mj-ea"/>
              </a:rPr>
              <a:t>DataFrame</a:t>
            </a:r>
            <a:r>
              <a:rPr lang="zh-CN" altLang="en-US" sz="2000" b="1" dirty="0">
                <a:latin typeface="+mj-lt"/>
                <a:ea typeface="+mj-ea"/>
              </a:rPr>
              <a:t>对象</a:t>
            </a:r>
          </a:p>
        </p:txBody>
      </p:sp>
      <p:sp>
        <p:nvSpPr>
          <p:cNvPr id="15" name="文本框 14">
            <a:extLst>
              <a:ext uri="{FF2B5EF4-FFF2-40B4-BE49-F238E27FC236}">
                <a16:creationId xmlns:a16="http://schemas.microsoft.com/office/drawing/2014/main" id="{4088B457-F9FB-A9D4-6F8F-A9D878A9EFEA}"/>
              </a:ext>
            </a:extLst>
          </p:cNvPr>
          <p:cNvSpPr txBox="1"/>
          <p:nvPr/>
        </p:nvSpPr>
        <p:spPr>
          <a:xfrm>
            <a:off x="831407" y="1929736"/>
            <a:ext cx="7481185" cy="1705210"/>
          </a:xfrm>
          <a:prstGeom prst="rect">
            <a:avLst/>
          </a:prstGeom>
          <a:noFill/>
        </p:spPr>
        <p:txBody>
          <a:bodyPr wrap="square" rtlCol="0">
            <a:spAutoFit/>
          </a:bodyPr>
          <a:lstStyle/>
          <a:p>
            <a:pPr>
              <a:lnSpc>
                <a:spcPct val="150000"/>
              </a:lnSpc>
            </a:pPr>
            <a:r>
              <a:rPr lang="zh-CN" altLang="en-US" dirty="0">
                <a:latin typeface="+mj-lt"/>
                <a:ea typeface="+mj-ea"/>
              </a:rPr>
              <a:t>⑤ </a:t>
            </a:r>
            <a:r>
              <a:rPr lang="en-US" altLang="zh-CN" b="1" i="1" dirty="0" err="1">
                <a:latin typeface="+mj-lt"/>
                <a:ea typeface="+mj-ea"/>
              </a:rPr>
              <a:t>gDelaunayTriangulation</a:t>
            </a:r>
            <a:r>
              <a:rPr lang="zh-CN" altLang="en-US" b="1" dirty="0">
                <a:latin typeface="+mj-lt"/>
                <a:ea typeface="+mj-ea"/>
              </a:rPr>
              <a:t>函数：</a:t>
            </a:r>
            <a:r>
              <a:rPr lang="zh-CN" altLang="en-US" dirty="0">
                <a:latin typeface="+mj-lt"/>
                <a:ea typeface="+mj-ea"/>
              </a:rPr>
              <a:t>函数包</a:t>
            </a:r>
            <a:r>
              <a:rPr lang="en-US" altLang="zh-CN" b="1" dirty="0" err="1">
                <a:latin typeface="+mj-lt"/>
                <a:ea typeface="+mj-ea"/>
              </a:rPr>
              <a:t>rgeos</a:t>
            </a:r>
            <a:r>
              <a:rPr lang="zh-CN" altLang="en-US" dirty="0">
                <a:latin typeface="+mj-lt"/>
                <a:ea typeface="+mj-ea"/>
              </a:rPr>
              <a:t>提供，生成空间点对象之间的德劳内三角剖分</a:t>
            </a:r>
            <a:r>
              <a:rPr lang="en-US" altLang="zh-CN" dirty="0">
                <a:latin typeface="+mj-lt"/>
                <a:ea typeface="+mj-ea"/>
              </a:rPr>
              <a:t>(Delaunay triangulation)</a:t>
            </a:r>
          </a:p>
          <a:p>
            <a:pPr indent="457200">
              <a:lnSpc>
                <a:spcPct val="150000"/>
              </a:lnSpc>
            </a:pPr>
            <a:r>
              <a:rPr lang="zh-CN" altLang="en-US" dirty="0">
                <a:latin typeface="+mj-lt"/>
                <a:ea typeface="+mj-ea"/>
              </a:rPr>
              <a:t>首先从武汉市边界数据中随机抽取</a:t>
            </a:r>
            <a:r>
              <a:rPr lang="en-US" altLang="zh-CN" dirty="0">
                <a:latin typeface="+mj-lt"/>
                <a:ea typeface="+mj-ea"/>
              </a:rPr>
              <a:t>100</a:t>
            </a:r>
            <a:r>
              <a:rPr lang="zh-CN" altLang="en-US" dirty="0">
                <a:latin typeface="+mj-lt"/>
                <a:ea typeface="+mj-ea"/>
              </a:rPr>
              <a:t>个样点，然后通过该函数生成这些点对应的德劳内三角剖分：</a:t>
            </a:r>
            <a:endParaRPr lang="en-US" altLang="zh-CN" dirty="0">
              <a:latin typeface="+mj-lt"/>
              <a:ea typeface="+mj-ea"/>
            </a:endParaRPr>
          </a:p>
        </p:txBody>
      </p:sp>
      <p:sp>
        <p:nvSpPr>
          <p:cNvPr id="4" name="文本框 3">
            <a:extLst>
              <a:ext uri="{FF2B5EF4-FFF2-40B4-BE49-F238E27FC236}">
                <a16:creationId xmlns:a16="http://schemas.microsoft.com/office/drawing/2014/main" id="{A8535CE0-AB2C-D146-2AB4-6ADAF308EF2D}"/>
              </a:ext>
            </a:extLst>
          </p:cNvPr>
          <p:cNvSpPr txBox="1"/>
          <p:nvPr/>
        </p:nvSpPr>
        <p:spPr>
          <a:xfrm>
            <a:off x="190500" y="3718238"/>
            <a:ext cx="7671685" cy="1569660"/>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set.seed</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123</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spt_rand</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spsample</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WHDis_sp</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100</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type=</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"random"</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spt_rand_dt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gDelaunayTriangulation</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spt_rand</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WHDis_sp</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col=</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"grey"</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spt_rand_dt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col=</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"green"</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add=T)</a:t>
            </a:r>
            <a:endParaRPr lang="zh-CN" altLang="zh-CN" sz="1600" dirty="0">
              <a:effectLst/>
              <a:latin typeface="Times New Roman" panose="02020603050405020304" pitchFamily="18" charset="0"/>
              <a:ea typeface="宋体" panose="02010600030101010101" pitchFamily="2" charset="-122"/>
            </a:endParaRPr>
          </a:p>
          <a:p>
            <a:pPr indent="127000" algn="l"/>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spt_rand</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col=</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"red"</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add=T)</a:t>
            </a:r>
            <a:endParaRPr lang="zh-CN" altLang="zh-CN" sz="1600" dirty="0">
              <a:effectLst/>
              <a:latin typeface="Times New Roman" panose="02020603050405020304" pitchFamily="18" charset="0"/>
              <a:ea typeface="宋体" panose="02010600030101010101" pitchFamily="2" charset="-122"/>
            </a:endParaRPr>
          </a:p>
        </p:txBody>
      </p:sp>
      <p:pic>
        <p:nvPicPr>
          <p:cNvPr id="5" name="图片 4">
            <a:extLst>
              <a:ext uri="{FF2B5EF4-FFF2-40B4-BE49-F238E27FC236}">
                <a16:creationId xmlns:a16="http://schemas.microsoft.com/office/drawing/2014/main" id="{CBE73BB1-CF41-1E6D-14B5-2C7BB1EAFB27}"/>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48400" y="3429000"/>
            <a:ext cx="2508949" cy="251079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81343032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AE958E-9983-85ED-2BD4-E6BF8FB93D7D}"/>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4D6CC217-97FC-A5B1-4E41-0A73383F3C38}"/>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4.5 </a:t>
            </a:r>
            <a:r>
              <a:rPr lang="zh-CN" altLang="en-US" sz="3600" dirty="0">
                <a:latin typeface="Times New Roman" panose="02020603050405020304" pitchFamily="18" charset="0"/>
                <a:cs typeface="Times New Roman" panose="02020603050405020304" pitchFamily="18" charset="0"/>
              </a:rPr>
              <a:t>空间数据基础分析</a:t>
            </a:r>
          </a:p>
        </p:txBody>
      </p:sp>
      <p:sp>
        <p:nvSpPr>
          <p:cNvPr id="8" name="灯片编号占位符 7">
            <a:extLst>
              <a:ext uri="{FF2B5EF4-FFF2-40B4-BE49-F238E27FC236}">
                <a16:creationId xmlns:a16="http://schemas.microsoft.com/office/drawing/2014/main" id="{9A24CD60-43DC-2482-CAE2-687BCFF6749F}"/>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52</a:t>
            </a:fld>
            <a:endParaRPr lang="zh-CN" altLang="en-US" dirty="0">
              <a:solidFill>
                <a:schemeClr val="bg2">
                  <a:lumMod val="75000"/>
                </a:schemeClr>
              </a:solidFill>
            </a:endParaRPr>
          </a:p>
        </p:txBody>
      </p:sp>
      <p:sp>
        <p:nvSpPr>
          <p:cNvPr id="14" name="文本框 13">
            <a:extLst>
              <a:ext uri="{FF2B5EF4-FFF2-40B4-BE49-F238E27FC236}">
                <a16:creationId xmlns:a16="http://schemas.microsoft.com/office/drawing/2014/main" id="{3468BCB0-0527-3EFE-E979-831D9612C1C6}"/>
              </a:ext>
            </a:extLst>
          </p:cNvPr>
          <p:cNvSpPr txBox="1"/>
          <p:nvPr/>
        </p:nvSpPr>
        <p:spPr>
          <a:xfrm>
            <a:off x="609600" y="1230576"/>
            <a:ext cx="2727221" cy="400110"/>
          </a:xfrm>
          <a:prstGeom prst="rect">
            <a:avLst/>
          </a:prstGeom>
          <a:noFill/>
        </p:spPr>
        <p:txBody>
          <a:bodyPr wrap="none" rtlCol="0">
            <a:spAutoFit/>
          </a:bodyPr>
          <a:lstStyle/>
          <a:p>
            <a:r>
              <a:rPr lang="en-US" altLang="zh-CN" sz="2000" b="1" dirty="0">
                <a:latin typeface="+mj-lt"/>
                <a:ea typeface="+mj-ea"/>
              </a:rPr>
              <a:t>(2) Simple Feature</a:t>
            </a:r>
            <a:r>
              <a:rPr lang="zh-CN" altLang="en-US" sz="2000" b="1" dirty="0">
                <a:latin typeface="+mj-lt"/>
                <a:ea typeface="+mj-ea"/>
              </a:rPr>
              <a:t>对象</a:t>
            </a:r>
          </a:p>
        </p:txBody>
      </p:sp>
      <p:sp>
        <p:nvSpPr>
          <p:cNvPr id="15" name="文本框 14">
            <a:extLst>
              <a:ext uri="{FF2B5EF4-FFF2-40B4-BE49-F238E27FC236}">
                <a16:creationId xmlns:a16="http://schemas.microsoft.com/office/drawing/2014/main" id="{7509A473-B33D-EA33-E74C-05B3F42B20BC}"/>
              </a:ext>
            </a:extLst>
          </p:cNvPr>
          <p:cNvSpPr txBox="1"/>
          <p:nvPr/>
        </p:nvSpPr>
        <p:spPr>
          <a:xfrm>
            <a:off x="1056611" y="1702679"/>
            <a:ext cx="7030778" cy="1705210"/>
          </a:xfrm>
          <a:prstGeom prst="rect">
            <a:avLst/>
          </a:prstGeom>
          <a:noFill/>
        </p:spPr>
        <p:txBody>
          <a:bodyPr wrap="square" rtlCol="0">
            <a:spAutoFit/>
          </a:bodyPr>
          <a:lstStyle/>
          <a:p>
            <a:pPr>
              <a:lnSpc>
                <a:spcPct val="150000"/>
              </a:lnSpc>
            </a:pPr>
            <a:r>
              <a:rPr lang="zh-CN" altLang="en-US" dirty="0">
                <a:latin typeface="+mj-lt"/>
                <a:ea typeface="+mn-ea"/>
              </a:rPr>
              <a:t>① </a:t>
            </a:r>
            <a:r>
              <a:rPr lang="en-US" altLang="zh-CN" b="1" i="1" dirty="0" err="1">
                <a:latin typeface="+mj-lt"/>
                <a:ea typeface="+mn-ea"/>
              </a:rPr>
              <a:t>st_union</a:t>
            </a:r>
            <a:r>
              <a:rPr lang="zh-CN" altLang="en-US" b="1" dirty="0">
                <a:latin typeface="+mj-lt"/>
                <a:ea typeface="+mn-ea"/>
              </a:rPr>
              <a:t>函数：</a:t>
            </a:r>
            <a:r>
              <a:rPr lang="zh-CN" altLang="en-US" dirty="0">
                <a:latin typeface="+mj-lt"/>
                <a:ea typeface="+mn-ea"/>
              </a:rPr>
              <a:t>函数包</a:t>
            </a:r>
            <a:r>
              <a:rPr lang="en-US" altLang="zh-CN" b="1" dirty="0">
                <a:latin typeface="+mj-lt"/>
                <a:ea typeface="+mn-ea"/>
              </a:rPr>
              <a:t>sf</a:t>
            </a:r>
            <a:r>
              <a:rPr lang="zh-CN" altLang="en-US" dirty="0">
                <a:latin typeface="+mj-lt"/>
                <a:ea typeface="+mn-ea"/>
              </a:rPr>
              <a:t>提供，实现同一个空间数据对象内不同的</a:t>
            </a:r>
            <a:r>
              <a:rPr lang="en-US" altLang="zh-CN" dirty="0">
                <a:latin typeface="+mj-lt"/>
                <a:ea typeface="+mn-ea"/>
              </a:rPr>
              <a:t>Simple Feature</a:t>
            </a:r>
            <a:r>
              <a:rPr lang="zh-CN" altLang="en-US" dirty="0">
                <a:latin typeface="+mj-lt"/>
                <a:ea typeface="+mn-ea"/>
              </a:rPr>
              <a:t>或者不同空间数据对象的合并</a:t>
            </a:r>
            <a:r>
              <a:rPr lang="en-US" altLang="zh-CN" dirty="0">
                <a:latin typeface="+mj-lt"/>
                <a:ea typeface="+mn-ea"/>
              </a:rPr>
              <a:t>(Union)</a:t>
            </a:r>
          </a:p>
          <a:p>
            <a:pPr indent="457200">
              <a:lnSpc>
                <a:spcPct val="150000"/>
              </a:lnSpc>
            </a:pPr>
            <a:r>
              <a:rPr lang="zh-CN" altLang="en-US" dirty="0">
                <a:latin typeface="+mj-lt"/>
                <a:ea typeface="+mn-ea"/>
              </a:rPr>
              <a:t>将示例数据</a:t>
            </a:r>
            <a:r>
              <a:rPr lang="en-US" altLang="zh-CN" sz="1800" kern="0" dirty="0">
                <a:effectLst/>
                <a:latin typeface="+mj-lt"/>
                <a:ea typeface="+mn-ea"/>
              </a:rPr>
              <a:t>WHDistrict_p1</a:t>
            </a:r>
            <a:r>
              <a:rPr lang="zh-CN" altLang="zh-CN" sz="1800" kern="0" dirty="0">
                <a:effectLst/>
                <a:latin typeface="+mj-lt"/>
                <a:ea typeface="+mn-ea"/>
                <a:cs typeface="Times New Roman" panose="02020603050405020304" pitchFamily="18" charset="0"/>
              </a:rPr>
              <a:t>和</a:t>
            </a:r>
            <a:r>
              <a:rPr lang="en-US" altLang="zh-CN" sz="1800" kern="0" dirty="0">
                <a:effectLst/>
                <a:latin typeface="+mj-lt"/>
                <a:ea typeface="+mn-ea"/>
              </a:rPr>
              <a:t>WHDistrict_p2</a:t>
            </a:r>
            <a:r>
              <a:rPr lang="zh-CN" altLang="en-US" sz="1800" kern="0" dirty="0">
                <a:effectLst/>
                <a:latin typeface="+mj-lt"/>
                <a:ea typeface="+mn-ea"/>
              </a:rPr>
              <a:t>放入工作目录后，使用该函数进行合并</a:t>
            </a:r>
            <a:r>
              <a:rPr lang="zh-CN" altLang="en-US" dirty="0">
                <a:latin typeface="+mj-lt"/>
                <a:ea typeface="+mn-ea"/>
              </a:rPr>
              <a:t>：</a:t>
            </a:r>
            <a:endParaRPr lang="en-US" altLang="zh-CN" dirty="0">
              <a:latin typeface="+mj-lt"/>
              <a:ea typeface="+mn-ea"/>
            </a:endParaRPr>
          </a:p>
        </p:txBody>
      </p:sp>
      <p:sp>
        <p:nvSpPr>
          <p:cNvPr id="4" name="文本框 3">
            <a:extLst>
              <a:ext uri="{FF2B5EF4-FFF2-40B4-BE49-F238E27FC236}">
                <a16:creationId xmlns:a16="http://schemas.microsoft.com/office/drawing/2014/main" id="{33F13992-99BA-1183-9E99-C3249DA38303}"/>
              </a:ext>
            </a:extLst>
          </p:cNvPr>
          <p:cNvSpPr txBox="1"/>
          <p:nvPr/>
        </p:nvSpPr>
        <p:spPr>
          <a:xfrm>
            <a:off x="1714500" y="3450112"/>
            <a:ext cx="6057900" cy="3046988"/>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WHDis1 &lt;-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read_sf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"WHDistrict_p1.shp"</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WHDis2 &lt;-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read_sf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"WHDistrict_p2.shp"</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WHDis_bbox</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st_bbox</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WHDis_sf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plot(WHDis1</a:t>
            </a:r>
            <a:r>
              <a:rPr lang="en-US" altLang="zh-CN" sz="16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geometry,border=</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"blue"</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xlim</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 c(</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WHDis_bbox</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xmin</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WHDis_bbox</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xmax</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ylim</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 c(</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WHDis_bbox</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ymin</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WHDis_bbox</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ymax</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plot(WHDis2</a:t>
            </a:r>
            <a:r>
              <a:rPr lang="en-US" altLang="zh-CN" sz="16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geometry,border=</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red"</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,add</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TRUE</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WHDis1</a:t>
            </a:r>
            <a:r>
              <a:rPr lang="en-US" altLang="zh-CN" sz="16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geometry &lt;-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st_make_valid</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(WHDis1</a:t>
            </a:r>
            <a:r>
              <a:rPr lang="en-US" altLang="zh-CN" sz="16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geometry)</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WHDis2</a:t>
            </a:r>
            <a:r>
              <a:rPr lang="en-US" altLang="zh-CN" sz="16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geometry &lt;-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st_make_valid</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(WHDis2</a:t>
            </a:r>
            <a:r>
              <a:rPr lang="en-US" altLang="zh-CN" sz="16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geometry)</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WHDis_un</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st_union</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(WHDis1,WHDis2)</a:t>
            </a:r>
            <a:endParaRPr lang="zh-CN" altLang="zh-CN" sz="1600" dirty="0">
              <a:effectLst/>
              <a:latin typeface="Times New Roman" panose="02020603050405020304" pitchFamily="18" charset="0"/>
              <a:ea typeface="宋体" panose="02010600030101010101" pitchFamily="2" charset="-122"/>
            </a:endParaRPr>
          </a:p>
          <a:p>
            <a:pPr indent="127000" algn="l"/>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WHDis_un</a:t>
            </a:r>
            <a:r>
              <a:rPr lang="en-US" altLang="zh-CN" sz="16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geometry,border</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"blue"</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349133151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A659F-D682-A99F-5823-ABB2478487C9}"/>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A5459D78-D71D-211B-0A75-A5170493764B}"/>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4.5 </a:t>
            </a:r>
            <a:r>
              <a:rPr lang="zh-CN" altLang="en-US" sz="3600" dirty="0">
                <a:latin typeface="Times New Roman" panose="02020603050405020304" pitchFamily="18" charset="0"/>
                <a:cs typeface="Times New Roman" panose="02020603050405020304" pitchFamily="18" charset="0"/>
              </a:rPr>
              <a:t>空间数据基础分析</a:t>
            </a:r>
          </a:p>
        </p:txBody>
      </p:sp>
      <p:sp>
        <p:nvSpPr>
          <p:cNvPr id="8" name="灯片编号占位符 7">
            <a:extLst>
              <a:ext uri="{FF2B5EF4-FFF2-40B4-BE49-F238E27FC236}">
                <a16:creationId xmlns:a16="http://schemas.microsoft.com/office/drawing/2014/main" id="{89FBBEDC-8800-76BD-6F93-6DF769BC10F3}"/>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53</a:t>
            </a:fld>
            <a:endParaRPr lang="zh-CN" altLang="en-US" dirty="0">
              <a:solidFill>
                <a:schemeClr val="bg2">
                  <a:lumMod val="75000"/>
                </a:schemeClr>
              </a:solidFill>
            </a:endParaRPr>
          </a:p>
        </p:txBody>
      </p:sp>
      <p:sp>
        <p:nvSpPr>
          <p:cNvPr id="14" name="文本框 13">
            <a:extLst>
              <a:ext uri="{FF2B5EF4-FFF2-40B4-BE49-F238E27FC236}">
                <a16:creationId xmlns:a16="http://schemas.microsoft.com/office/drawing/2014/main" id="{022614B5-251A-5256-C92C-F039A103CE7F}"/>
              </a:ext>
            </a:extLst>
          </p:cNvPr>
          <p:cNvSpPr txBox="1"/>
          <p:nvPr/>
        </p:nvSpPr>
        <p:spPr>
          <a:xfrm>
            <a:off x="609600" y="1230576"/>
            <a:ext cx="2727221" cy="400110"/>
          </a:xfrm>
          <a:prstGeom prst="rect">
            <a:avLst/>
          </a:prstGeom>
          <a:noFill/>
        </p:spPr>
        <p:txBody>
          <a:bodyPr wrap="none" rtlCol="0">
            <a:spAutoFit/>
          </a:bodyPr>
          <a:lstStyle/>
          <a:p>
            <a:r>
              <a:rPr lang="en-US" altLang="zh-CN" sz="2000" b="1" dirty="0">
                <a:latin typeface="+mj-lt"/>
                <a:ea typeface="+mj-ea"/>
              </a:rPr>
              <a:t>(2) Simple Feature</a:t>
            </a:r>
            <a:r>
              <a:rPr lang="zh-CN" altLang="en-US" sz="2000" b="1" dirty="0">
                <a:latin typeface="+mj-lt"/>
                <a:ea typeface="+mj-ea"/>
              </a:rPr>
              <a:t>对象</a:t>
            </a:r>
          </a:p>
        </p:txBody>
      </p:sp>
      <p:sp>
        <p:nvSpPr>
          <p:cNvPr id="15" name="文本框 14">
            <a:extLst>
              <a:ext uri="{FF2B5EF4-FFF2-40B4-BE49-F238E27FC236}">
                <a16:creationId xmlns:a16="http://schemas.microsoft.com/office/drawing/2014/main" id="{01D5638C-3499-C0D7-2451-3F0740A679BE}"/>
              </a:ext>
            </a:extLst>
          </p:cNvPr>
          <p:cNvSpPr txBox="1"/>
          <p:nvPr/>
        </p:nvSpPr>
        <p:spPr>
          <a:xfrm>
            <a:off x="1056611" y="1702679"/>
            <a:ext cx="7030778" cy="874214"/>
          </a:xfrm>
          <a:prstGeom prst="rect">
            <a:avLst/>
          </a:prstGeom>
          <a:noFill/>
        </p:spPr>
        <p:txBody>
          <a:bodyPr wrap="square" rtlCol="0">
            <a:spAutoFit/>
          </a:bodyPr>
          <a:lstStyle/>
          <a:p>
            <a:pPr>
              <a:lnSpc>
                <a:spcPct val="150000"/>
              </a:lnSpc>
            </a:pPr>
            <a:r>
              <a:rPr lang="zh-CN" altLang="en-US" dirty="0">
                <a:latin typeface="+mj-lt"/>
                <a:ea typeface="+mn-ea"/>
              </a:rPr>
              <a:t>① </a:t>
            </a:r>
            <a:r>
              <a:rPr lang="en-US" altLang="zh-CN" b="1" i="1" dirty="0" err="1">
                <a:latin typeface="+mj-lt"/>
                <a:ea typeface="+mn-ea"/>
              </a:rPr>
              <a:t>st_union</a:t>
            </a:r>
            <a:r>
              <a:rPr lang="zh-CN" altLang="en-US" b="1" dirty="0">
                <a:latin typeface="+mj-lt"/>
                <a:ea typeface="+mn-ea"/>
              </a:rPr>
              <a:t>函数：</a:t>
            </a:r>
            <a:r>
              <a:rPr lang="zh-CN" altLang="en-US" dirty="0">
                <a:latin typeface="+mj-lt"/>
                <a:ea typeface="+mn-ea"/>
              </a:rPr>
              <a:t>函数包</a:t>
            </a:r>
            <a:r>
              <a:rPr lang="en-US" altLang="zh-CN" b="1" dirty="0">
                <a:latin typeface="+mj-lt"/>
                <a:ea typeface="+mn-ea"/>
              </a:rPr>
              <a:t>sf</a:t>
            </a:r>
            <a:r>
              <a:rPr lang="zh-CN" altLang="en-US" dirty="0">
                <a:latin typeface="+mj-lt"/>
                <a:ea typeface="+mn-ea"/>
              </a:rPr>
              <a:t>提供，实现同一个空间数据对象内不同的</a:t>
            </a:r>
            <a:r>
              <a:rPr lang="en-US" altLang="zh-CN" dirty="0">
                <a:latin typeface="+mj-lt"/>
                <a:ea typeface="+mn-ea"/>
              </a:rPr>
              <a:t>Simple Feature</a:t>
            </a:r>
            <a:r>
              <a:rPr lang="zh-CN" altLang="en-US" dirty="0">
                <a:latin typeface="+mj-lt"/>
                <a:ea typeface="+mn-ea"/>
              </a:rPr>
              <a:t>或者不同空间数据对象的合并</a:t>
            </a:r>
            <a:r>
              <a:rPr lang="en-US" altLang="zh-CN" dirty="0">
                <a:latin typeface="+mj-lt"/>
                <a:ea typeface="+mn-ea"/>
              </a:rPr>
              <a:t>(Union)</a:t>
            </a:r>
          </a:p>
        </p:txBody>
      </p:sp>
      <p:pic>
        <p:nvPicPr>
          <p:cNvPr id="2" name="图片 1">
            <a:extLst>
              <a:ext uri="{FF2B5EF4-FFF2-40B4-BE49-F238E27FC236}">
                <a16:creationId xmlns:a16="http://schemas.microsoft.com/office/drawing/2014/main" id="{6C32B494-1E4B-E057-90FD-B03C01A668B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2755286"/>
            <a:ext cx="2887031" cy="3314700"/>
          </a:xfrm>
          <a:prstGeom prst="rect">
            <a:avLst/>
          </a:prstGeom>
          <a:ln>
            <a:noFill/>
          </a:ln>
          <a:effectLst>
            <a:outerShdw blurRad="190500" algn="tl" rotWithShape="0">
              <a:srgbClr val="000000">
                <a:alpha val="70000"/>
              </a:srgbClr>
            </a:outerShdw>
          </a:effectLst>
        </p:spPr>
      </p:pic>
      <p:pic>
        <p:nvPicPr>
          <p:cNvPr id="3" name="图片 2">
            <a:extLst>
              <a:ext uri="{FF2B5EF4-FFF2-40B4-BE49-F238E27FC236}">
                <a16:creationId xmlns:a16="http://schemas.microsoft.com/office/drawing/2014/main" id="{4547933C-A012-66F8-54C3-0F96920E635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809171" y="2743200"/>
            <a:ext cx="2790033" cy="3314700"/>
          </a:xfrm>
          <a:prstGeom prst="rect">
            <a:avLst/>
          </a:prstGeom>
          <a:ln>
            <a:noFill/>
          </a:ln>
          <a:effectLst>
            <a:outerShdw blurRad="190500" algn="tl" rotWithShape="0">
              <a:srgbClr val="000000">
                <a:alpha val="70000"/>
              </a:srgbClr>
            </a:outerShdw>
          </a:effectLst>
        </p:spPr>
      </p:pic>
      <p:sp>
        <p:nvSpPr>
          <p:cNvPr id="5" name="文本框 4">
            <a:extLst>
              <a:ext uri="{FF2B5EF4-FFF2-40B4-BE49-F238E27FC236}">
                <a16:creationId xmlns:a16="http://schemas.microsoft.com/office/drawing/2014/main" id="{EBC78E50-5199-A214-34CA-72DB6EF160FA}"/>
              </a:ext>
            </a:extLst>
          </p:cNvPr>
          <p:cNvSpPr txBox="1"/>
          <p:nvPr/>
        </p:nvSpPr>
        <p:spPr>
          <a:xfrm>
            <a:off x="3265392" y="6214178"/>
            <a:ext cx="2613216" cy="307777"/>
          </a:xfrm>
          <a:prstGeom prst="rect">
            <a:avLst/>
          </a:prstGeom>
          <a:noFill/>
        </p:spPr>
        <p:txBody>
          <a:bodyPr wrap="none" rtlCol="0">
            <a:spAutoFit/>
          </a:bodyPr>
          <a:lstStyle/>
          <a:p>
            <a:pPr algn="ctr"/>
            <a:r>
              <a:rPr lang="zh-CN" altLang="en-US" sz="1400" dirty="0">
                <a:latin typeface="+mj-lt"/>
                <a:ea typeface="+mj-ea"/>
              </a:rPr>
              <a:t>通过</a:t>
            </a:r>
            <a:r>
              <a:rPr lang="en-US" altLang="zh-CN" sz="1400" b="1" i="1" dirty="0" err="1">
                <a:latin typeface="+mj-lt"/>
                <a:ea typeface="+mj-ea"/>
              </a:rPr>
              <a:t>st_union</a:t>
            </a:r>
            <a:r>
              <a:rPr lang="zh-CN" altLang="en-US" sz="1400" dirty="0">
                <a:latin typeface="+mj-lt"/>
                <a:ea typeface="+mj-ea"/>
              </a:rPr>
              <a:t>函数合并前后对比</a:t>
            </a:r>
          </a:p>
        </p:txBody>
      </p:sp>
    </p:spTree>
    <p:extLst>
      <p:ext uri="{BB962C8B-B14F-4D97-AF65-F5344CB8AC3E}">
        <p14:creationId xmlns:p14="http://schemas.microsoft.com/office/powerpoint/2010/main" val="98890751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A146C-0D2B-066D-2D34-C143F1C59649}"/>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3CC2CCE9-751E-4A32-D315-1746B438045B}"/>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4.5 </a:t>
            </a:r>
            <a:r>
              <a:rPr lang="zh-CN" altLang="en-US" sz="3600" dirty="0">
                <a:latin typeface="Times New Roman" panose="02020603050405020304" pitchFamily="18" charset="0"/>
                <a:cs typeface="Times New Roman" panose="02020603050405020304" pitchFamily="18" charset="0"/>
              </a:rPr>
              <a:t>空间数据基础分析</a:t>
            </a:r>
          </a:p>
        </p:txBody>
      </p:sp>
      <p:sp>
        <p:nvSpPr>
          <p:cNvPr id="8" name="灯片编号占位符 7">
            <a:extLst>
              <a:ext uri="{FF2B5EF4-FFF2-40B4-BE49-F238E27FC236}">
                <a16:creationId xmlns:a16="http://schemas.microsoft.com/office/drawing/2014/main" id="{C9B483BC-659C-2506-5DFD-22108711D269}"/>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54</a:t>
            </a:fld>
            <a:endParaRPr lang="zh-CN" altLang="en-US" dirty="0">
              <a:solidFill>
                <a:schemeClr val="bg2">
                  <a:lumMod val="75000"/>
                </a:schemeClr>
              </a:solidFill>
            </a:endParaRPr>
          </a:p>
        </p:txBody>
      </p:sp>
      <p:sp>
        <p:nvSpPr>
          <p:cNvPr id="14" name="文本框 13">
            <a:extLst>
              <a:ext uri="{FF2B5EF4-FFF2-40B4-BE49-F238E27FC236}">
                <a16:creationId xmlns:a16="http://schemas.microsoft.com/office/drawing/2014/main" id="{CD9C9BD5-FC85-7776-FF15-CE4D0A2894A3}"/>
              </a:ext>
            </a:extLst>
          </p:cNvPr>
          <p:cNvSpPr txBox="1"/>
          <p:nvPr/>
        </p:nvSpPr>
        <p:spPr>
          <a:xfrm>
            <a:off x="609600" y="1230576"/>
            <a:ext cx="2727221" cy="400110"/>
          </a:xfrm>
          <a:prstGeom prst="rect">
            <a:avLst/>
          </a:prstGeom>
          <a:noFill/>
        </p:spPr>
        <p:txBody>
          <a:bodyPr wrap="none" rtlCol="0">
            <a:spAutoFit/>
          </a:bodyPr>
          <a:lstStyle/>
          <a:p>
            <a:r>
              <a:rPr lang="en-US" altLang="zh-CN" sz="2000" b="1" dirty="0">
                <a:latin typeface="+mj-lt"/>
                <a:ea typeface="+mj-ea"/>
              </a:rPr>
              <a:t>(2) Simple Feature</a:t>
            </a:r>
            <a:r>
              <a:rPr lang="zh-CN" altLang="en-US" sz="2000" b="1" dirty="0">
                <a:latin typeface="+mj-lt"/>
                <a:ea typeface="+mj-ea"/>
              </a:rPr>
              <a:t>对象</a:t>
            </a:r>
          </a:p>
        </p:txBody>
      </p:sp>
      <p:sp>
        <p:nvSpPr>
          <p:cNvPr id="15" name="文本框 14">
            <a:extLst>
              <a:ext uri="{FF2B5EF4-FFF2-40B4-BE49-F238E27FC236}">
                <a16:creationId xmlns:a16="http://schemas.microsoft.com/office/drawing/2014/main" id="{485834E9-657E-BF40-6DB2-11955E1F072E}"/>
              </a:ext>
            </a:extLst>
          </p:cNvPr>
          <p:cNvSpPr txBox="1"/>
          <p:nvPr/>
        </p:nvSpPr>
        <p:spPr>
          <a:xfrm>
            <a:off x="1056611" y="1702679"/>
            <a:ext cx="7030778" cy="874214"/>
          </a:xfrm>
          <a:prstGeom prst="rect">
            <a:avLst/>
          </a:prstGeom>
          <a:noFill/>
        </p:spPr>
        <p:txBody>
          <a:bodyPr wrap="square" rtlCol="0">
            <a:spAutoFit/>
          </a:bodyPr>
          <a:lstStyle/>
          <a:p>
            <a:pPr>
              <a:lnSpc>
                <a:spcPct val="150000"/>
              </a:lnSpc>
            </a:pPr>
            <a:r>
              <a:rPr lang="zh-CN" altLang="en-US" dirty="0">
                <a:latin typeface="+mj-lt"/>
                <a:ea typeface="+mn-ea"/>
              </a:rPr>
              <a:t>② </a:t>
            </a:r>
            <a:r>
              <a:rPr lang="zh-CN" altLang="en-US" b="1" dirty="0">
                <a:latin typeface="+mj-lt"/>
                <a:ea typeface="+mn-ea"/>
              </a:rPr>
              <a:t>通过属性提取数据：</a:t>
            </a:r>
            <a:r>
              <a:rPr lang="zh-CN" altLang="en-US" dirty="0">
                <a:latin typeface="+mj-lt"/>
                <a:ea typeface="+mn-ea"/>
              </a:rPr>
              <a:t>将某些特定的空间对象子集单独提取为一个新的</a:t>
            </a:r>
            <a:r>
              <a:rPr lang="en-US" altLang="zh-CN" dirty="0">
                <a:latin typeface="+mj-lt"/>
                <a:ea typeface="+mn-ea"/>
              </a:rPr>
              <a:t>Simple Feature</a:t>
            </a:r>
            <a:r>
              <a:rPr lang="zh-CN" altLang="en-US" dirty="0">
                <a:latin typeface="+mj-lt"/>
                <a:ea typeface="+mn-ea"/>
              </a:rPr>
              <a:t>对象</a:t>
            </a:r>
            <a:endParaRPr lang="en-US" altLang="zh-CN" dirty="0">
              <a:latin typeface="+mj-lt"/>
              <a:ea typeface="+mn-ea"/>
            </a:endParaRPr>
          </a:p>
        </p:txBody>
      </p:sp>
      <p:sp>
        <p:nvSpPr>
          <p:cNvPr id="4" name="文本框 3">
            <a:extLst>
              <a:ext uri="{FF2B5EF4-FFF2-40B4-BE49-F238E27FC236}">
                <a16:creationId xmlns:a16="http://schemas.microsoft.com/office/drawing/2014/main" id="{69408C3A-D76A-9B2A-F0EB-5A1A1EC5A47E}"/>
              </a:ext>
            </a:extLst>
          </p:cNvPr>
          <p:cNvSpPr txBox="1"/>
          <p:nvPr/>
        </p:nvSpPr>
        <p:spPr>
          <a:xfrm>
            <a:off x="1543050" y="2648886"/>
            <a:ext cx="6057900" cy="3139321"/>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WHZZQ_hs_sf</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WHZZQ_sf</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WHZZQ_sf</a:t>
            </a:r>
            <a:r>
              <a:rPr lang="en-US" altLang="zh-CN" sz="18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District</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Hongshan</a:t>
            </a:r>
            <a:r>
              <a:rPr lang="en-US" altLang="zh-CN" sz="18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dirty="0">
              <a:effectLst/>
              <a:latin typeface="Times New Roman" panose="02020603050405020304" pitchFamily="18" charset="0"/>
              <a:ea typeface="宋体" panose="02010600030101010101" pitchFamily="2" charset="-122"/>
            </a:endParaRPr>
          </a:p>
          <a:p>
            <a:pPr indent="127000" algn="l">
              <a:buNone/>
            </a:pP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WHZZQ_sf</a:t>
            </a:r>
            <a:r>
              <a:rPr lang="en-US" altLang="zh-CN" sz="18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geometry,col</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"grey"</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dirty="0">
              <a:effectLst/>
              <a:latin typeface="Times New Roman" panose="02020603050405020304" pitchFamily="18" charset="0"/>
              <a:ea typeface="宋体" panose="02010600030101010101" pitchFamily="2" charset="-122"/>
            </a:endParaRPr>
          </a:p>
          <a:p>
            <a:pPr indent="127000" algn="l">
              <a:buNone/>
            </a:pP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WHZZQ_hs_sf</a:t>
            </a:r>
            <a:r>
              <a:rPr lang="en-US" altLang="zh-CN" sz="18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geometry,col</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red"</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,add</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TRUE</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dirty="0">
              <a:effectLst/>
              <a:latin typeface="Times New Roman" panose="02020603050405020304" pitchFamily="18" charset="0"/>
              <a:ea typeface="宋体" panose="02010600030101010101" pitchFamily="2" charset="-122"/>
            </a:endParaRPr>
          </a:p>
          <a:p>
            <a:pPr indent="127000" algn="l">
              <a:buNone/>
            </a:pP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endParaRPr lang="zh-CN" altLang="zh-CN" sz="1800" dirty="0">
              <a:effectLst/>
              <a:latin typeface="Times New Roman" panose="02020603050405020304" pitchFamily="18" charset="0"/>
              <a:ea typeface="宋体" panose="02010600030101010101" pitchFamily="2" charset="-122"/>
            </a:endParaRPr>
          </a:p>
          <a:p>
            <a:pPr indent="127000" algn="l">
              <a:buNone/>
            </a:pP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WHRD_tuk_sf</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WHRD_sf</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WHRD_sf</a:t>
            </a:r>
            <a:r>
              <a:rPr lang="en-US" altLang="zh-CN" sz="18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fclass</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"trunk"</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WHRD_sf</a:t>
            </a:r>
            <a:r>
              <a:rPr lang="en-US" altLang="zh-CN" sz="18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fclass</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trunk_link</a:t>
            </a:r>
            <a:r>
              <a:rPr lang="en-US" altLang="zh-CN" sz="18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dirty="0">
              <a:effectLst/>
              <a:latin typeface="Times New Roman" panose="02020603050405020304" pitchFamily="18" charset="0"/>
              <a:ea typeface="宋体" panose="02010600030101010101" pitchFamily="2" charset="-122"/>
            </a:endParaRPr>
          </a:p>
          <a:p>
            <a:pPr indent="127000" algn="l">
              <a:buNone/>
            </a:pP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WHRD_sf</a:t>
            </a:r>
            <a:r>
              <a:rPr lang="en-US" altLang="zh-CN" sz="18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geometry,col</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"grey"</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dirty="0">
              <a:effectLst/>
              <a:latin typeface="Times New Roman" panose="02020603050405020304" pitchFamily="18" charset="0"/>
              <a:ea typeface="宋体" panose="02010600030101010101" pitchFamily="2" charset="-122"/>
            </a:endParaRPr>
          </a:p>
          <a:p>
            <a:pPr indent="127000" algn="l"/>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WHRD_tuk_sf</a:t>
            </a:r>
            <a:r>
              <a:rPr lang="en-US" altLang="zh-CN" sz="18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geometry,col</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"red"</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lwd</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1.5</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,add=</a:t>
            </a:r>
            <a:r>
              <a:rPr lang="en-US" altLang="zh-CN" sz="18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TRUE</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91668180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B3BBD6-03DB-B985-E9C9-1F8B78E5F7F7}"/>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86099835-2A53-3D60-6C7E-93E7724FF4A8}"/>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4.5 </a:t>
            </a:r>
            <a:r>
              <a:rPr lang="zh-CN" altLang="en-US" sz="3600" dirty="0">
                <a:latin typeface="Times New Roman" panose="02020603050405020304" pitchFamily="18" charset="0"/>
                <a:cs typeface="Times New Roman" panose="02020603050405020304" pitchFamily="18" charset="0"/>
              </a:rPr>
              <a:t>空间数据基础分析</a:t>
            </a:r>
          </a:p>
        </p:txBody>
      </p:sp>
      <p:sp>
        <p:nvSpPr>
          <p:cNvPr id="8" name="灯片编号占位符 7">
            <a:extLst>
              <a:ext uri="{FF2B5EF4-FFF2-40B4-BE49-F238E27FC236}">
                <a16:creationId xmlns:a16="http://schemas.microsoft.com/office/drawing/2014/main" id="{E5EA0CA4-7FFB-1469-06CA-D0F7C0FE7979}"/>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55</a:t>
            </a:fld>
            <a:endParaRPr lang="zh-CN" altLang="en-US" dirty="0">
              <a:solidFill>
                <a:schemeClr val="bg2">
                  <a:lumMod val="75000"/>
                </a:schemeClr>
              </a:solidFill>
            </a:endParaRPr>
          </a:p>
        </p:txBody>
      </p:sp>
      <p:sp>
        <p:nvSpPr>
          <p:cNvPr id="14" name="文本框 13">
            <a:extLst>
              <a:ext uri="{FF2B5EF4-FFF2-40B4-BE49-F238E27FC236}">
                <a16:creationId xmlns:a16="http://schemas.microsoft.com/office/drawing/2014/main" id="{74D0ECF3-B2CA-F758-005A-C9CAAD90F7C2}"/>
              </a:ext>
            </a:extLst>
          </p:cNvPr>
          <p:cNvSpPr txBox="1"/>
          <p:nvPr/>
        </p:nvSpPr>
        <p:spPr>
          <a:xfrm>
            <a:off x="609600" y="1230576"/>
            <a:ext cx="2727221" cy="400110"/>
          </a:xfrm>
          <a:prstGeom prst="rect">
            <a:avLst/>
          </a:prstGeom>
          <a:noFill/>
        </p:spPr>
        <p:txBody>
          <a:bodyPr wrap="none" rtlCol="0">
            <a:spAutoFit/>
          </a:bodyPr>
          <a:lstStyle/>
          <a:p>
            <a:r>
              <a:rPr lang="en-US" altLang="zh-CN" sz="2000" b="1" dirty="0">
                <a:latin typeface="+mj-lt"/>
                <a:ea typeface="+mj-ea"/>
              </a:rPr>
              <a:t>(2) Simple Feature</a:t>
            </a:r>
            <a:r>
              <a:rPr lang="zh-CN" altLang="en-US" sz="2000" b="1" dirty="0">
                <a:latin typeface="+mj-lt"/>
                <a:ea typeface="+mj-ea"/>
              </a:rPr>
              <a:t>对象</a:t>
            </a:r>
          </a:p>
        </p:txBody>
      </p:sp>
      <p:sp>
        <p:nvSpPr>
          <p:cNvPr id="15" name="文本框 14">
            <a:extLst>
              <a:ext uri="{FF2B5EF4-FFF2-40B4-BE49-F238E27FC236}">
                <a16:creationId xmlns:a16="http://schemas.microsoft.com/office/drawing/2014/main" id="{36BBA71C-EF75-06E6-CC99-31A5698C74CB}"/>
              </a:ext>
            </a:extLst>
          </p:cNvPr>
          <p:cNvSpPr txBox="1"/>
          <p:nvPr/>
        </p:nvSpPr>
        <p:spPr>
          <a:xfrm>
            <a:off x="1056611" y="1702679"/>
            <a:ext cx="7030778" cy="874214"/>
          </a:xfrm>
          <a:prstGeom prst="rect">
            <a:avLst/>
          </a:prstGeom>
          <a:noFill/>
        </p:spPr>
        <p:txBody>
          <a:bodyPr wrap="square" rtlCol="0">
            <a:spAutoFit/>
          </a:bodyPr>
          <a:lstStyle/>
          <a:p>
            <a:pPr>
              <a:lnSpc>
                <a:spcPct val="150000"/>
              </a:lnSpc>
            </a:pPr>
            <a:r>
              <a:rPr lang="zh-CN" altLang="en-US" dirty="0">
                <a:latin typeface="+mj-lt"/>
                <a:ea typeface="+mn-ea"/>
              </a:rPr>
              <a:t>② </a:t>
            </a:r>
            <a:r>
              <a:rPr lang="zh-CN" altLang="en-US" b="1" dirty="0">
                <a:latin typeface="+mj-lt"/>
                <a:ea typeface="+mn-ea"/>
              </a:rPr>
              <a:t>通过属性提取数据：</a:t>
            </a:r>
            <a:r>
              <a:rPr lang="zh-CN" altLang="en-US" dirty="0">
                <a:latin typeface="+mj-lt"/>
                <a:ea typeface="+mn-ea"/>
              </a:rPr>
              <a:t>将某些特定的空间对象子集单独提取为一个新的</a:t>
            </a:r>
            <a:r>
              <a:rPr lang="en-US" altLang="zh-CN" dirty="0">
                <a:latin typeface="+mj-lt"/>
                <a:ea typeface="+mn-ea"/>
              </a:rPr>
              <a:t>Simple Feature</a:t>
            </a:r>
            <a:r>
              <a:rPr lang="zh-CN" altLang="en-US" dirty="0">
                <a:latin typeface="+mj-lt"/>
                <a:ea typeface="+mn-ea"/>
              </a:rPr>
              <a:t>对象</a:t>
            </a:r>
            <a:endParaRPr lang="en-US" altLang="zh-CN" dirty="0">
              <a:latin typeface="+mj-lt"/>
              <a:ea typeface="+mn-ea"/>
            </a:endParaRPr>
          </a:p>
        </p:txBody>
      </p:sp>
      <p:pic>
        <p:nvPicPr>
          <p:cNvPr id="2" name="图片 1">
            <a:extLst>
              <a:ext uri="{FF2B5EF4-FFF2-40B4-BE49-F238E27FC236}">
                <a16:creationId xmlns:a16="http://schemas.microsoft.com/office/drawing/2014/main" id="{D88DCC68-3866-F345-5982-58E50FB8B17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33500" y="2663338"/>
            <a:ext cx="2918781" cy="3290507"/>
          </a:xfrm>
          <a:prstGeom prst="rect">
            <a:avLst/>
          </a:prstGeom>
          <a:ln>
            <a:noFill/>
          </a:ln>
          <a:effectLst>
            <a:outerShdw blurRad="190500" algn="tl" rotWithShape="0">
              <a:srgbClr val="000000">
                <a:alpha val="70000"/>
              </a:srgbClr>
            </a:outerShdw>
          </a:effectLst>
        </p:spPr>
      </p:pic>
      <p:pic>
        <p:nvPicPr>
          <p:cNvPr id="3" name="图片 2">
            <a:extLst>
              <a:ext uri="{FF2B5EF4-FFF2-40B4-BE49-F238E27FC236}">
                <a16:creationId xmlns:a16="http://schemas.microsoft.com/office/drawing/2014/main" id="{62DE4BA4-5113-0973-E5B6-5B22EDA73BD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874424" y="2663338"/>
            <a:ext cx="2936076" cy="3290508"/>
          </a:xfrm>
          <a:prstGeom prst="rect">
            <a:avLst/>
          </a:prstGeom>
          <a:ln>
            <a:noFill/>
          </a:ln>
          <a:effectLst>
            <a:outerShdw blurRad="190500" algn="tl" rotWithShape="0">
              <a:srgbClr val="000000">
                <a:alpha val="70000"/>
              </a:srgbClr>
            </a:outerShdw>
          </a:effectLst>
        </p:spPr>
      </p:pic>
      <p:sp>
        <p:nvSpPr>
          <p:cNvPr id="5" name="文本框 4">
            <a:extLst>
              <a:ext uri="{FF2B5EF4-FFF2-40B4-BE49-F238E27FC236}">
                <a16:creationId xmlns:a16="http://schemas.microsoft.com/office/drawing/2014/main" id="{C84AA94A-BC84-C0A7-A182-FD18EC087493}"/>
              </a:ext>
            </a:extLst>
          </p:cNvPr>
          <p:cNvSpPr txBox="1"/>
          <p:nvPr/>
        </p:nvSpPr>
        <p:spPr>
          <a:xfrm>
            <a:off x="4891721" y="6069067"/>
            <a:ext cx="3213274" cy="523220"/>
          </a:xfrm>
          <a:prstGeom prst="rect">
            <a:avLst/>
          </a:prstGeom>
          <a:noFill/>
        </p:spPr>
        <p:txBody>
          <a:bodyPr wrap="square" rtlCol="0">
            <a:spAutoFit/>
          </a:bodyPr>
          <a:lstStyle/>
          <a:p>
            <a:pPr algn="ctr"/>
            <a:r>
              <a:rPr lang="zh-CN" altLang="en-US" sz="1400" kern="0" dirty="0">
                <a:effectLst/>
                <a:latin typeface="+mj-lt"/>
                <a:ea typeface="+mj-ea"/>
              </a:rPr>
              <a:t>提取武汉市道路类别为</a:t>
            </a:r>
            <a:r>
              <a:rPr lang="en-US" altLang="zh-CN" sz="1400" kern="0" dirty="0">
                <a:effectLst/>
                <a:latin typeface="+mj-lt"/>
                <a:ea typeface="+mj-ea"/>
              </a:rPr>
              <a:t>trunk</a:t>
            </a:r>
            <a:r>
              <a:rPr lang="zh-CN" altLang="en-US" sz="1400" kern="0" dirty="0">
                <a:effectLst/>
                <a:latin typeface="+mj-lt"/>
                <a:ea typeface="+mj-ea"/>
              </a:rPr>
              <a:t>和</a:t>
            </a:r>
            <a:r>
              <a:rPr lang="en-US" altLang="zh-CN" sz="1400" kern="0" dirty="0" err="1">
                <a:effectLst/>
                <a:latin typeface="+mj-lt"/>
                <a:ea typeface="+mj-ea"/>
              </a:rPr>
              <a:t>trunk_link</a:t>
            </a:r>
            <a:r>
              <a:rPr lang="zh-CN" altLang="en-US" sz="1400" kern="0" dirty="0">
                <a:effectLst/>
                <a:latin typeface="+mj-lt"/>
                <a:ea typeface="+mj-ea"/>
              </a:rPr>
              <a:t>的道路数据</a:t>
            </a:r>
            <a:endParaRPr lang="zh-CN" altLang="en-US" sz="1100" dirty="0">
              <a:latin typeface="+mj-lt"/>
              <a:ea typeface="+mj-ea"/>
            </a:endParaRPr>
          </a:p>
        </p:txBody>
      </p:sp>
      <p:sp>
        <p:nvSpPr>
          <p:cNvPr id="6" name="文本框 5">
            <a:extLst>
              <a:ext uri="{FF2B5EF4-FFF2-40B4-BE49-F238E27FC236}">
                <a16:creationId xmlns:a16="http://schemas.microsoft.com/office/drawing/2014/main" id="{FA812268-E5EF-635C-3BBD-D6FBFAC36E3C}"/>
              </a:ext>
            </a:extLst>
          </p:cNvPr>
          <p:cNvSpPr txBox="1"/>
          <p:nvPr/>
        </p:nvSpPr>
        <p:spPr>
          <a:xfrm>
            <a:off x="1124036" y="6069067"/>
            <a:ext cx="3213274" cy="307777"/>
          </a:xfrm>
          <a:prstGeom prst="rect">
            <a:avLst/>
          </a:prstGeom>
          <a:noFill/>
        </p:spPr>
        <p:txBody>
          <a:bodyPr wrap="square" rtlCol="0">
            <a:spAutoFit/>
          </a:bodyPr>
          <a:lstStyle/>
          <a:p>
            <a:pPr algn="ctr"/>
            <a:r>
              <a:rPr lang="zh-CN" altLang="en-US" sz="1400" kern="0" dirty="0">
                <a:effectLst/>
                <a:latin typeface="+mj-lt"/>
                <a:ea typeface="+mj-ea"/>
              </a:rPr>
              <a:t>提取位于洪山区的住宅区点数据</a:t>
            </a:r>
            <a:endParaRPr lang="zh-CN" altLang="en-US" sz="1100" dirty="0">
              <a:latin typeface="+mj-lt"/>
              <a:ea typeface="+mj-ea"/>
            </a:endParaRPr>
          </a:p>
        </p:txBody>
      </p:sp>
    </p:spTree>
    <p:extLst>
      <p:ext uri="{BB962C8B-B14F-4D97-AF65-F5344CB8AC3E}">
        <p14:creationId xmlns:p14="http://schemas.microsoft.com/office/powerpoint/2010/main" val="15848715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CF79E-9509-0644-C952-5FB84B6CEDBF}"/>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2583AFFD-3DF0-FC21-45C1-CFB8A24130B5}"/>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4.5 </a:t>
            </a:r>
            <a:r>
              <a:rPr lang="zh-CN" altLang="en-US" sz="3600" dirty="0">
                <a:latin typeface="Times New Roman" panose="02020603050405020304" pitchFamily="18" charset="0"/>
                <a:cs typeface="Times New Roman" panose="02020603050405020304" pitchFamily="18" charset="0"/>
              </a:rPr>
              <a:t>空间数据基础分析</a:t>
            </a:r>
          </a:p>
        </p:txBody>
      </p:sp>
      <p:sp>
        <p:nvSpPr>
          <p:cNvPr id="8" name="灯片编号占位符 7">
            <a:extLst>
              <a:ext uri="{FF2B5EF4-FFF2-40B4-BE49-F238E27FC236}">
                <a16:creationId xmlns:a16="http://schemas.microsoft.com/office/drawing/2014/main" id="{3D77CBAC-CA77-C732-EAA8-F500F761A4AA}"/>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56</a:t>
            </a:fld>
            <a:endParaRPr lang="zh-CN" altLang="en-US" dirty="0">
              <a:solidFill>
                <a:schemeClr val="bg2">
                  <a:lumMod val="75000"/>
                </a:schemeClr>
              </a:solidFill>
            </a:endParaRPr>
          </a:p>
        </p:txBody>
      </p:sp>
      <p:sp>
        <p:nvSpPr>
          <p:cNvPr id="14" name="文本框 13">
            <a:extLst>
              <a:ext uri="{FF2B5EF4-FFF2-40B4-BE49-F238E27FC236}">
                <a16:creationId xmlns:a16="http://schemas.microsoft.com/office/drawing/2014/main" id="{6B318997-AA7E-C12A-F430-A4FA7E081095}"/>
              </a:ext>
            </a:extLst>
          </p:cNvPr>
          <p:cNvSpPr txBox="1"/>
          <p:nvPr/>
        </p:nvSpPr>
        <p:spPr>
          <a:xfrm>
            <a:off x="609600" y="1230576"/>
            <a:ext cx="2727221" cy="400110"/>
          </a:xfrm>
          <a:prstGeom prst="rect">
            <a:avLst/>
          </a:prstGeom>
          <a:noFill/>
        </p:spPr>
        <p:txBody>
          <a:bodyPr wrap="none" rtlCol="0">
            <a:spAutoFit/>
          </a:bodyPr>
          <a:lstStyle/>
          <a:p>
            <a:r>
              <a:rPr lang="en-US" altLang="zh-CN" sz="2000" b="1" dirty="0">
                <a:latin typeface="+mj-lt"/>
                <a:ea typeface="+mj-ea"/>
              </a:rPr>
              <a:t>(2) Simple Feature</a:t>
            </a:r>
            <a:r>
              <a:rPr lang="zh-CN" altLang="en-US" sz="2000" b="1" dirty="0">
                <a:latin typeface="+mj-lt"/>
                <a:ea typeface="+mj-ea"/>
              </a:rPr>
              <a:t>对象</a:t>
            </a:r>
          </a:p>
        </p:txBody>
      </p:sp>
      <p:sp>
        <p:nvSpPr>
          <p:cNvPr id="15" name="文本框 14">
            <a:extLst>
              <a:ext uri="{FF2B5EF4-FFF2-40B4-BE49-F238E27FC236}">
                <a16:creationId xmlns:a16="http://schemas.microsoft.com/office/drawing/2014/main" id="{2B4DB4CD-7557-BF57-BA73-BA24788D48E9}"/>
              </a:ext>
            </a:extLst>
          </p:cNvPr>
          <p:cNvSpPr txBox="1"/>
          <p:nvPr/>
        </p:nvSpPr>
        <p:spPr>
          <a:xfrm>
            <a:off x="1056611" y="1702679"/>
            <a:ext cx="7030778" cy="458715"/>
          </a:xfrm>
          <a:prstGeom prst="rect">
            <a:avLst/>
          </a:prstGeom>
          <a:noFill/>
        </p:spPr>
        <p:txBody>
          <a:bodyPr wrap="square" rtlCol="0">
            <a:spAutoFit/>
          </a:bodyPr>
          <a:lstStyle/>
          <a:p>
            <a:pPr>
              <a:lnSpc>
                <a:spcPct val="150000"/>
              </a:lnSpc>
            </a:pPr>
            <a:r>
              <a:rPr lang="zh-CN" altLang="en-US" dirty="0">
                <a:latin typeface="+mj-lt"/>
                <a:ea typeface="+mn-ea"/>
              </a:rPr>
              <a:t>③ </a:t>
            </a:r>
            <a:r>
              <a:rPr lang="en-US" altLang="zh-CN" b="1" i="1" dirty="0" err="1">
                <a:latin typeface="+mj-lt"/>
                <a:ea typeface="+mn-ea"/>
              </a:rPr>
              <a:t>st_buffer</a:t>
            </a:r>
            <a:r>
              <a:rPr lang="zh-CN" altLang="en-US" b="1" dirty="0">
                <a:latin typeface="+mj-lt"/>
                <a:ea typeface="+mn-ea"/>
              </a:rPr>
              <a:t>函数：</a:t>
            </a:r>
            <a:r>
              <a:rPr lang="zh-CN" altLang="en-US" dirty="0">
                <a:latin typeface="+mj-lt"/>
                <a:ea typeface="+mn-ea"/>
              </a:rPr>
              <a:t>函数包</a:t>
            </a:r>
            <a:r>
              <a:rPr lang="en-US" altLang="zh-CN" b="1" dirty="0">
                <a:latin typeface="+mj-lt"/>
                <a:ea typeface="+mn-ea"/>
              </a:rPr>
              <a:t>sf</a:t>
            </a:r>
            <a:r>
              <a:rPr lang="zh-CN" altLang="en-US" dirty="0">
                <a:latin typeface="+mj-lt"/>
                <a:ea typeface="+mn-ea"/>
              </a:rPr>
              <a:t>提供，生成点、线、面对象数据的缓冲区</a:t>
            </a:r>
            <a:endParaRPr lang="en-US" altLang="zh-CN" dirty="0">
              <a:latin typeface="+mj-lt"/>
              <a:ea typeface="+mn-ea"/>
            </a:endParaRPr>
          </a:p>
        </p:txBody>
      </p:sp>
      <p:sp>
        <p:nvSpPr>
          <p:cNvPr id="4" name="文本框 3">
            <a:extLst>
              <a:ext uri="{FF2B5EF4-FFF2-40B4-BE49-F238E27FC236}">
                <a16:creationId xmlns:a16="http://schemas.microsoft.com/office/drawing/2014/main" id="{5B23973C-2E9E-5915-0C5F-4EE16799C7FA}"/>
              </a:ext>
            </a:extLst>
          </p:cNvPr>
          <p:cNvSpPr txBox="1"/>
          <p:nvPr/>
        </p:nvSpPr>
        <p:spPr>
          <a:xfrm>
            <a:off x="1162050" y="2326890"/>
            <a:ext cx="7981950" cy="3416320"/>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WHZZQ_hs_buf</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st_buffer</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WHZZQ_hs_sf,dist</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 </a:t>
            </a:r>
            <a:r>
              <a:rPr lang="en-US" altLang="zh-CN" sz="18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500</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dirty="0">
              <a:effectLst/>
              <a:latin typeface="Times New Roman" panose="02020603050405020304" pitchFamily="18" charset="0"/>
              <a:ea typeface="宋体" panose="02010600030101010101" pitchFamily="2" charset="-122"/>
            </a:endParaRPr>
          </a:p>
          <a:p>
            <a:pPr indent="127000" algn="l">
              <a:buNone/>
            </a:pP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WHZZQ_hs_buf</a:t>
            </a:r>
            <a:r>
              <a:rPr lang="en-US" altLang="zh-CN" sz="18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geometry,col</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"green"</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dirty="0">
              <a:effectLst/>
              <a:latin typeface="Times New Roman" panose="02020603050405020304" pitchFamily="18" charset="0"/>
              <a:ea typeface="宋体" panose="02010600030101010101" pitchFamily="2" charset="-122"/>
            </a:endParaRPr>
          </a:p>
          <a:p>
            <a:pPr indent="127000" algn="l">
              <a:buNone/>
            </a:pP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WHZZQ_hs_sf</a:t>
            </a:r>
            <a:r>
              <a:rPr lang="en-US" altLang="zh-CN" sz="18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geometry,add</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TRUE</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,cex</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0.5</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,pch=</a:t>
            </a:r>
            <a:r>
              <a:rPr lang="en-US" altLang="zh-CN" sz="18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dirty="0">
              <a:effectLst/>
              <a:latin typeface="Times New Roman" panose="02020603050405020304" pitchFamily="18" charset="0"/>
              <a:ea typeface="宋体" panose="02010600030101010101" pitchFamily="2" charset="-122"/>
            </a:endParaRPr>
          </a:p>
          <a:p>
            <a:pPr indent="127000" algn="l">
              <a:buNone/>
            </a:pP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endParaRPr lang="zh-CN" altLang="zh-CN" sz="1800" dirty="0">
              <a:effectLst/>
              <a:latin typeface="Times New Roman" panose="02020603050405020304" pitchFamily="18" charset="0"/>
              <a:ea typeface="宋体" panose="02010600030101010101" pitchFamily="2" charset="-122"/>
            </a:endParaRPr>
          </a:p>
          <a:p>
            <a:pPr indent="127000" algn="l">
              <a:buNone/>
            </a:pP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WHRD_tuk_buf</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st_buffer</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WHRD_tuk_sf,dist</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500</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dirty="0">
              <a:effectLst/>
              <a:latin typeface="Times New Roman" panose="02020603050405020304" pitchFamily="18" charset="0"/>
              <a:ea typeface="宋体" panose="02010600030101010101" pitchFamily="2" charset="-122"/>
            </a:endParaRPr>
          </a:p>
          <a:p>
            <a:pPr indent="127000" algn="l">
              <a:buNone/>
            </a:pP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WHRD_tuk_buf</a:t>
            </a:r>
            <a:r>
              <a:rPr lang="en-US" altLang="zh-CN" sz="18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geometry,col</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"green"</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dirty="0">
              <a:effectLst/>
              <a:latin typeface="Times New Roman" panose="02020603050405020304" pitchFamily="18" charset="0"/>
              <a:ea typeface="宋体" panose="02010600030101010101" pitchFamily="2" charset="-122"/>
            </a:endParaRPr>
          </a:p>
          <a:p>
            <a:pPr indent="127000" algn="l">
              <a:buNone/>
            </a:pP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WHRD_tuk_sf</a:t>
            </a:r>
            <a:r>
              <a:rPr lang="en-US" altLang="zh-CN" sz="18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geometry,add</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TRUE</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dirty="0">
              <a:effectLst/>
              <a:latin typeface="Times New Roman" panose="02020603050405020304" pitchFamily="18" charset="0"/>
              <a:ea typeface="宋体" panose="02010600030101010101" pitchFamily="2" charset="-122"/>
            </a:endParaRPr>
          </a:p>
          <a:p>
            <a:pPr indent="127000" algn="l">
              <a:buNone/>
            </a:pP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endParaRPr lang="zh-CN" altLang="zh-CN" sz="1800" dirty="0">
              <a:effectLst/>
              <a:latin typeface="Times New Roman" panose="02020603050405020304" pitchFamily="18" charset="0"/>
              <a:ea typeface="宋体" panose="02010600030101010101" pitchFamily="2" charset="-122"/>
            </a:endParaRPr>
          </a:p>
          <a:p>
            <a:pPr indent="127000" algn="l">
              <a:buNone/>
            </a:pP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WHDis_sf</a:t>
            </a:r>
            <a:r>
              <a:rPr lang="en-US" altLang="zh-CN" sz="18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geometry</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st_make_valid</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WHDis_sf</a:t>
            </a:r>
            <a:r>
              <a:rPr lang="en-US" altLang="zh-CN" sz="18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geometry</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dirty="0">
              <a:effectLst/>
              <a:latin typeface="Times New Roman" panose="02020603050405020304" pitchFamily="18" charset="0"/>
              <a:ea typeface="宋体" panose="02010600030101010101" pitchFamily="2" charset="-122"/>
            </a:endParaRPr>
          </a:p>
          <a:p>
            <a:pPr indent="127000" algn="l">
              <a:buNone/>
            </a:pP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WHDis_buf</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st_buffer</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WHDis_sf,dist</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 </a:t>
            </a:r>
            <a:r>
              <a:rPr lang="en-US" altLang="zh-CN" sz="18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1000</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dirty="0">
              <a:effectLst/>
              <a:latin typeface="Times New Roman" panose="02020603050405020304" pitchFamily="18" charset="0"/>
              <a:ea typeface="宋体" panose="02010600030101010101" pitchFamily="2" charset="-122"/>
            </a:endParaRPr>
          </a:p>
          <a:p>
            <a:pPr indent="127000" algn="l">
              <a:buNone/>
            </a:pP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WHDis_buf</a:t>
            </a:r>
            <a:r>
              <a:rPr lang="en-US" altLang="zh-CN" sz="18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geometry,col</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"green"</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dirty="0">
              <a:effectLst/>
              <a:latin typeface="Times New Roman" panose="02020603050405020304" pitchFamily="18" charset="0"/>
              <a:ea typeface="宋体" panose="02010600030101010101" pitchFamily="2" charset="-122"/>
            </a:endParaRPr>
          </a:p>
          <a:p>
            <a:pPr indent="127000" algn="l"/>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WHDis_sf</a:t>
            </a:r>
            <a:r>
              <a:rPr lang="en-US" altLang="zh-CN" sz="18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geometry,col</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grey"</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,add</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TRUE</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131778234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AC187E-5252-32D2-04FC-2B310EE29804}"/>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1B505332-1B88-24AB-CA6C-FFD2C91315EE}"/>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4.5 </a:t>
            </a:r>
            <a:r>
              <a:rPr lang="zh-CN" altLang="en-US" sz="3600" dirty="0">
                <a:latin typeface="Times New Roman" panose="02020603050405020304" pitchFamily="18" charset="0"/>
                <a:cs typeface="Times New Roman" panose="02020603050405020304" pitchFamily="18" charset="0"/>
              </a:rPr>
              <a:t>空间数据基础分析</a:t>
            </a:r>
          </a:p>
        </p:txBody>
      </p:sp>
      <p:sp>
        <p:nvSpPr>
          <p:cNvPr id="8" name="灯片编号占位符 7">
            <a:extLst>
              <a:ext uri="{FF2B5EF4-FFF2-40B4-BE49-F238E27FC236}">
                <a16:creationId xmlns:a16="http://schemas.microsoft.com/office/drawing/2014/main" id="{CEA015BD-AAAE-0167-602E-40BFCFCD4F71}"/>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57</a:t>
            </a:fld>
            <a:endParaRPr lang="zh-CN" altLang="en-US" dirty="0">
              <a:solidFill>
                <a:schemeClr val="bg2">
                  <a:lumMod val="75000"/>
                </a:schemeClr>
              </a:solidFill>
            </a:endParaRPr>
          </a:p>
        </p:txBody>
      </p:sp>
      <p:sp>
        <p:nvSpPr>
          <p:cNvPr id="14" name="文本框 13">
            <a:extLst>
              <a:ext uri="{FF2B5EF4-FFF2-40B4-BE49-F238E27FC236}">
                <a16:creationId xmlns:a16="http://schemas.microsoft.com/office/drawing/2014/main" id="{08B5EE7F-C8C5-C6C5-E395-813E6BEB6B56}"/>
              </a:ext>
            </a:extLst>
          </p:cNvPr>
          <p:cNvSpPr txBox="1"/>
          <p:nvPr/>
        </p:nvSpPr>
        <p:spPr>
          <a:xfrm>
            <a:off x="609600" y="1230576"/>
            <a:ext cx="2727221" cy="400110"/>
          </a:xfrm>
          <a:prstGeom prst="rect">
            <a:avLst/>
          </a:prstGeom>
          <a:noFill/>
        </p:spPr>
        <p:txBody>
          <a:bodyPr wrap="none" rtlCol="0">
            <a:spAutoFit/>
          </a:bodyPr>
          <a:lstStyle/>
          <a:p>
            <a:r>
              <a:rPr lang="en-US" altLang="zh-CN" sz="2000" b="1" dirty="0">
                <a:latin typeface="+mj-lt"/>
                <a:ea typeface="+mj-ea"/>
              </a:rPr>
              <a:t>(2) Simple Feature</a:t>
            </a:r>
            <a:r>
              <a:rPr lang="zh-CN" altLang="en-US" sz="2000" b="1" dirty="0">
                <a:latin typeface="+mj-lt"/>
                <a:ea typeface="+mj-ea"/>
              </a:rPr>
              <a:t>对象</a:t>
            </a:r>
          </a:p>
        </p:txBody>
      </p:sp>
      <p:sp>
        <p:nvSpPr>
          <p:cNvPr id="15" name="文本框 14">
            <a:extLst>
              <a:ext uri="{FF2B5EF4-FFF2-40B4-BE49-F238E27FC236}">
                <a16:creationId xmlns:a16="http://schemas.microsoft.com/office/drawing/2014/main" id="{A93686E1-09AF-00AA-12EF-2E3528988043}"/>
              </a:ext>
            </a:extLst>
          </p:cNvPr>
          <p:cNvSpPr txBox="1"/>
          <p:nvPr/>
        </p:nvSpPr>
        <p:spPr>
          <a:xfrm>
            <a:off x="1056611" y="1702679"/>
            <a:ext cx="7030778" cy="458715"/>
          </a:xfrm>
          <a:prstGeom prst="rect">
            <a:avLst/>
          </a:prstGeom>
          <a:noFill/>
        </p:spPr>
        <p:txBody>
          <a:bodyPr wrap="square" rtlCol="0">
            <a:spAutoFit/>
          </a:bodyPr>
          <a:lstStyle/>
          <a:p>
            <a:pPr>
              <a:lnSpc>
                <a:spcPct val="150000"/>
              </a:lnSpc>
            </a:pPr>
            <a:r>
              <a:rPr lang="zh-CN" altLang="en-US" dirty="0">
                <a:latin typeface="+mj-lt"/>
                <a:ea typeface="+mn-ea"/>
              </a:rPr>
              <a:t>③ </a:t>
            </a:r>
            <a:r>
              <a:rPr lang="en-US" altLang="zh-CN" b="1" i="1" dirty="0" err="1">
                <a:latin typeface="+mj-lt"/>
                <a:ea typeface="+mn-ea"/>
              </a:rPr>
              <a:t>st_buffer</a:t>
            </a:r>
            <a:r>
              <a:rPr lang="zh-CN" altLang="en-US" b="1" dirty="0">
                <a:latin typeface="+mj-lt"/>
                <a:ea typeface="+mn-ea"/>
              </a:rPr>
              <a:t>函数：</a:t>
            </a:r>
            <a:r>
              <a:rPr lang="zh-CN" altLang="en-US" dirty="0">
                <a:latin typeface="+mj-lt"/>
                <a:ea typeface="+mn-ea"/>
              </a:rPr>
              <a:t>函数包</a:t>
            </a:r>
            <a:r>
              <a:rPr lang="en-US" altLang="zh-CN" b="1" dirty="0">
                <a:latin typeface="+mj-lt"/>
                <a:ea typeface="+mn-ea"/>
              </a:rPr>
              <a:t>sf</a:t>
            </a:r>
            <a:r>
              <a:rPr lang="zh-CN" altLang="en-US" dirty="0">
                <a:latin typeface="+mj-lt"/>
                <a:ea typeface="+mn-ea"/>
              </a:rPr>
              <a:t>提供，生成点、线、面对象数据的缓冲区</a:t>
            </a:r>
            <a:endParaRPr lang="en-US" altLang="zh-CN" dirty="0">
              <a:latin typeface="+mj-lt"/>
              <a:ea typeface="+mn-ea"/>
            </a:endParaRPr>
          </a:p>
        </p:txBody>
      </p:sp>
      <p:pic>
        <p:nvPicPr>
          <p:cNvPr id="2" name="图片 1">
            <a:extLst>
              <a:ext uri="{FF2B5EF4-FFF2-40B4-BE49-F238E27FC236}">
                <a16:creationId xmlns:a16="http://schemas.microsoft.com/office/drawing/2014/main" id="{B3308D05-0A7B-4877-0606-E86B39610EF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338387" y="2552700"/>
            <a:ext cx="4467225" cy="2912745"/>
          </a:xfrm>
          <a:prstGeom prst="rect">
            <a:avLst/>
          </a:prstGeom>
          <a:ln>
            <a:noFill/>
          </a:ln>
          <a:effectLst>
            <a:outerShdw blurRad="190500" algn="tl" rotWithShape="0">
              <a:srgbClr val="000000">
                <a:alpha val="70000"/>
              </a:srgbClr>
            </a:outerShdw>
          </a:effectLst>
        </p:spPr>
      </p:pic>
      <p:sp>
        <p:nvSpPr>
          <p:cNvPr id="3" name="文本框 2">
            <a:extLst>
              <a:ext uri="{FF2B5EF4-FFF2-40B4-BE49-F238E27FC236}">
                <a16:creationId xmlns:a16="http://schemas.microsoft.com/office/drawing/2014/main" id="{8DE9FC13-F7AC-5F4E-C49B-4A00C1234EF7}"/>
              </a:ext>
            </a:extLst>
          </p:cNvPr>
          <p:cNvSpPr txBox="1"/>
          <p:nvPr/>
        </p:nvSpPr>
        <p:spPr>
          <a:xfrm>
            <a:off x="2965362" y="5627424"/>
            <a:ext cx="3213274" cy="307777"/>
          </a:xfrm>
          <a:prstGeom prst="rect">
            <a:avLst/>
          </a:prstGeom>
          <a:noFill/>
        </p:spPr>
        <p:txBody>
          <a:bodyPr wrap="square" rtlCol="0">
            <a:spAutoFit/>
          </a:bodyPr>
          <a:lstStyle/>
          <a:p>
            <a:pPr algn="ctr"/>
            <a:r>
              <a:rPr lang="zh-CN" altLang="en-US" sz="1400" kern="0" dirty="0">
                <a:effectLst/>
                <a:latin typeface="+mj-lt"/>
                <a:ea typeface="+mj-ea"/>
              </a:rPr>
              <a:t>生成</a:t>
            </a:r>
            <a:r>
              <a:rPr lang="en-US" altLang="zh-CN" sz="1400" kern="0" dirty="0" err="1">
                <a:effectLst/>
                <a:latin typeface="+mj-lt"/>
                <a:ea typeface="+mj-ea"/>
              </a:rPr>
              <a:t>WHZZQ_hs_sf</a:t>
            </a:r>
            <a:r>
              <a:rPr lang="zh-CN" altLang="en-US" sz="1400" kern="0" dirty="0">
                <a:effectLst/>
                <a:latin typeface="+mj-lt"/>
                <a:ea typeface="+mj-ea"/>
              </a:rPr>
              <a:t>数据</a:t>
            </a:r>
            <a:r>
              <a:rPr lang="en-US" altLang="zh-CN" sz="1400" kern="0" dirty="0">
                <a:effectLst/>
                <a:latin typeface="+mj-lt"/>
                <a:ea typeface="+mj-ea"/>
              </a:rPr>
              <a:t>500</a:t>
            </a:r>
            <a:r>
              <a:rPr lang="zh-CN" altLang="en-US" sz="1400" kern="0" dirty="0">
                <a:effectLst/>
                <a:latin typeface="+mj-lt"/>
                <a:ea typeface="+mj-ea"/>
              </a:rPr>
              <a:t>米缓冲区</a:t>
            </a:r>
            <a:endParaRPr lang="zh-CN" altLang="en-US" sz="1100" dirty="0">
              <a:latin typeface="+mj-lt"/>
              <a:ea typeface="+mj-ea"/>
            </a:endParaRPr>
          </a:p>
        </p:txBody>
      </p:sp>
    </p:spTree>
    <p:extLst>
      <p:ext uri="{BB962C8B-B14F-4D97-AF65-F5344CB8AC3E}">
        <p14:creationId xmlns:p14="http://schemas.microsoft.com/office/powerpoint/2010/main" val="240512168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778DD7-9F09-8A25-9D8C-A5178C84E64D}"/>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6DA2EF62-A470-F9CC-6A88-E21C4DB2EE44}"/>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4.5 </a:t>
            </a:r>
            <a:r>
              <a:rPr lang="zh-CN" altLang="en-US" sz="3600" dirty="0">
                <a:latin typeface="Times New Roman" panose="02020603050405020304" pitchFamily="18" charset="0"/>
                <a:cs typeface="Times New Roman" panose="02020603050405020304" pitchFamily="18" charset="0"/>
              </a:rPr>
              <a:t>空间数据基础分析</a:t>
            </a:r>
          </a:p>
        </p:txBody>
      </p:sp>
      <p:sp>
        <p:nvSpPr>
          <p:cNvPr id="8" name="灯片编号占位符 7">
            <a:extLst>
              <a:ext uri="{FF2B5EF4-FFF2-40B4-BE49-F238E27FC236}">
                <a16:creationId xmlns:a16="http://schemas.microsoft.com/office/drawing/2014/main" id="{407968B2-1279-6A74-2292-C178F91DB668}"/>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58</a:t>
            </a:fld>
            <a:endParaRPr lang="zh-CN" altLang="en-US" dirty="0">
              <a:solidFill>
                <a:schemeClr val="bg2">
                  <a:lumMod val="75000"/>
                </a:schemeClr>
              </a:solidFill>
            </a:endParaRPr>
          </a:p>
        </p:txBody>
      </p:sp>
      <p:sp>
        <p:nvSpPr>
          <p:cNvPr id="14" name="文本框 13">
            <a:extLst>
              <a:ext uri="{FF2B5EF4-FFF2-40B4-BE49-F238E27FC236}">
                <a16:creationId xmlns:a16="http://schemas.microsoft.com/office/drawing/2014/main" id="{50ED8BEB-4E5C-11AA-F343-66B07D0FA823}"/>
              </a:ext>
            </a:extLst>
          </p:cNvPr>
          <p:cNvSpPr txBox="1"/>
          <p:nvPr/>
        </p:nvSpPr>
        <p:spPr>
          <a:xfrm>
            <a:off x="609600" y="1230576"/>
            <a:ext cx="2727221" cy="400110"/>
          </a:xfrm>
          <a:prstGeom prst="rect">
            <a:avLst/>
          </a:prstGeom>
          <a:noFill/>
        </p:spPr>
        <p:txBody>
          <a:bodyPr wrap="none" rtlCol="0">
            <a:spAutoFit/>
          </a:bodyPr>
          <a:lstStyle/>
          <a:p>
            <a:r>
              <a:rPr lang="en-US" altLang="zh-CN" sz="2000" b="1" dirty="0">
                <a:latin typeface="+mj-lt"/>
                <a:ea typeface="+mj-ea"/>
              </a:rPr>
              <a:t>(2) Simple Feature</a:t>
            </a:r>
            <a:r>
              <a:rPr lang="zh-CN" altLang="en-US" sz="2000" b="1" dirty="0">
                <a:latin typeface="+mj-lt"/>
                <a:ea typeface="+mj-ea"/>
              </a:rPr>
              <a:t>对象</a:t>
            </a:r>
          </a:p>
        </p:txBody>
      </p:sp>
      <p:sp>
        <p:nvSpPr>
          <p:cNvPr id="15" name="文本框 14">
            <a:extLst>
              <a:ext uri="{FF2B5EF4-FFF2-40B4-BE49-F238E27FC236}">
                <a16:creationId xmlns:a16="http://schemas.microsoft.com/office/drawing/2014/main" id="{639C8116-113D-8158-38C2-94C4D21729DB}"/>
              </a:ext>
            </a:extLst>
          </p:cNvPr>
          <p:cNvSpPr txBox="1"/>
          <p:nvPr/>
        </p:nvSpPr>
        <p:spPr>
          <a:xfrm>
            <a:off x="1056611" y="1702679"/>
            <a:ext cx="7030778" cy="458715"/>
          </a:xfrm>
          <a:prstGeom prst="rect">
            <a:avLst/>
          </a:prstGeom>
          <a:noFill/>
        </p:spPr>
        <p:txBody>
          <a:bodyPr wrap="square" rtlCol="0">
            <a:spAutoFit/>
          </a:bodyPr>
          <a:lstStyle/>
          <a:p>
            <a:pPr>
              <a:lnSpc>
                <a:spcPct val="150000"/>
              </a:lnSpc>
            </a:pPr>
            <a:r>
              <a:rPr lang="zh-CN" altLang="en-US" dirty="0">
                <a:latin typeface="+mj-lt"/>
                <a:ea typeface="+mn-ea"/>
              </a:rPr>
              <a:t>③ </a:t>
            </a:r>
            <a:r>
              <a:rPr lang="en-US" altLang="zh-CN" b="1" i="1" dirty="0" err="1">
                <a:latin typeface="+mj-lt"/>
                <a:ea typeface="+mn-ea"/>
              </a:rPr>
              <a:t>st_buffer</a:t>
            </a:r>
            <a:r>
              <a:rPr lang="zh-CN" altLang="en-US" b="1" dirty="0">
                <a:latin typeface="+mj-lt"/>
                <a:ea typeface="+mn-ea"/>
              </a:rPr>
              <a:t>函数：</a:t>
            </a:r>
            <a:r>
              <a:rPr lang="zh-CN" altLang="en-US" dirty="0">
                <a:latin typeface="+mj-lt"/>
                <a:ea typeface="+mn-ea"/>
              </a:rPr>
              <a:t>函数包</a:t>
            </a:r>
            <a:r>
              <a:rPr lang="en-US" altLang="zh-CN" b="1" dirty="0">
                <a:latin typeface="+mj-lt"/>
                <a:ea typeface="+mn-ea"/>
              </a:rPr>
              <a:t>sf</a:t>
            </a:r>
            <a:r>
              <a:rPr lang="zh-CN" altLang="en-US" dirty="0">
                <a:latin typeface="+mj-lt"/>
                <a:ea typeface="+mn-ea"/>
              </a:rPr>
              <a:t>提供，生成点、线、面对象数据的缓冲区</a:t>
            </a:r>
            <a:endParaRPr lang="en-US" altLang="zh-CN" dirty="0">
              <a:latin typeface="+mj-lt"/>
              <a:ea typeface="+mn-ea"/>
            </a:endParaRPr>
          </a:p>
        </p:txBody>
      </p:sp>
      <p:sp>
        <p:nvSpPr>
          <p:cNvPr id="3" name="文本框 2">
            <a:extLst>
              <a:ext uri="{FF2B5EF4-FFF2-40B4-BE49-F238E27FC236}">
                <a16:creationId xmlns:a16="http://schemas.microsoft.com/office/drawing/2014/main" id="{2F89061B-61F2-2DB4-DB06-239BEB09D519}"/>
              </a:ext>
            </a:extLst>
          </p:cNvPr>
          <p:cNvSpPr txBox="1"/>
          <p:nvPr/>
        </p:nvSpPr>
        <p:spPr>
          <a:xfrm>
            <a:off x="2965362" y="6065162"/>
            <a:ext cx="3213274" cy="307777"/>
          </a:xfrm>
          <a:prstGeom prst="rect">
            <a:avLst/>
          </a:prstGeom>
          <a:noFill/>
        </p:spPr>
        <p:txBody>
          <a:bodyPr wrap="square" rtlCol="0">
            <a:spAutoFit/>
          </a:bodyPr>
          <a:lstStyle/>
          <a:p>
            <a:pPr algn="ctr"/>
            <a:r>
              <a:rPr lang="zh-CN" altLang="en-US" sz="1400" kern="0" dirty="0">
                <a:effectLst/>
                <a:latin typeface="+mj-lt"/>
                <a:ea typeface="+mj-ea"/>
              </a:rPr>
              <a:t>生成</a:t>
            </a:r>
            <a:r>
              <a:rPr lang="en-US" altLang="zh-CN" sz="1400" kern="0" dirty="0" err="1">
                <a:effectLst/>
                <a:latin typeface="+mj-lt"/>
                <a:ea typeface="+mj-ea"/>
              </a:rPr>
              <a:t>WHZZQ_hs_sf</a:t>
            </a:r>
            <a:r>
              <a:rPr lang="zh-CN" altLang="en-US" sz="1400" kern="0" dirty="0">
                <a:effectLst/>
                <a:latin typeface="+mj-lt"/>
                <a:ea typeface="+mj-ea"/>
              </a:rPr>
              <a:t>数据</a:t>
            </a:r>
            <a:r>
              <a:rPr lang="en-US" altLang="zh-CN" sz="1400" kern="0" dirty="0">
                <a:effectLst/>
                <a:latin typeface="+mj-lt"/>
                <a:ea typeface="+mj-ea"/>
              </a:rPr>
              <a:t>500</a:t>
            </a:r>
            <a:r>
              <a:rPr lang="zh-CN" altLang="en-US" sz="1400" kern="0" dirty="0">
                <a:effectLst/>
                <a:latin typeface="+mj-lt"/>
                <a:ea typeface="+mj-ea"/>
              </a:rPr>
              <a:t>米缓冲区</a:t>
            </a:r>
            <a:endParaRPr lang="zh-CN" altLang="en-US" sz="1100" dirty="0">
              <a:latin typeface="+mj-lt"/>
              <a:ea typeface="+mj-ea"/>
            </a:endParaRPr>
          </a:p>
        </p:txBody>
      </p:sp>
      <p:pic>
        <p:nvPicPr>
          <p:cNvPr id="4" name="图片 3">
            <a:extLst>
              <a:ext uri="{FF2B5EF4-FFF2-40B4-BE49-F238E27FC236}">
                <a16:creationId xmlns:a16="http://schemas.microsoft.com/office/drawing/2014/main" id="{E8750A6E-7467-1F62-0881-47BCBAE3CA8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812732" y="2400300"/>
            <a:ext cx="3518535" cy="350139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402059769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65839-E7BC-2C99-B802-F33B8418190D}"/>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48DA5DD0-1D71-5C34-B40C-8AE0991D5420}"/>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4.5 </a:t>
            </a:r>
            <a:r>
              <a:rPr lang="zh-CN" altLang="en-US" sz="3600" dirty="0">
                <a:latin typeface="Times New Roman" panose="02020603050405020304" pitchFamily="18" charset="0"/>
                <a:cs typeface="Times New Roman" panose="02020603050405020304" pitchFamily="18" charset="0"/>
              </a:rPr>
              <a:t>空间数据基础分析</a:t>
            </a:r>
          </a:p>
        </p:txBody>
      </p:sp>
      <p:sp>
        <p:nvSpPr>
          <p:cNvPr id="8" name="灯片编号占位符 7">
            <a:extLst>
              <a:ext uri="{FF2B5EF4-FFF2-40B4-BE49-F238E27FC236}">
                <a16:creationId xmlns:a16="http://schemas.microsoft.com/office/drawing/2014/main" id="{F4281AF0-3F93-4B17-3C0E-F59F15F00EC7}"/>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59</a:t>
            </a:fld>
            <a:endParaRPr lang="zh-CN" altLang="en-US" dirty="0">
              <a:solidFill>
                <a:schemeClr val="bg2">
                  <a:lumMod val="75000"/>
                </a:schemeClr>
              </a:solidFill>
            </a:endParaRPr>
          </a:p>
        </p:txBody>
      </p:sp>
      <p:sp>
        <p:nvSpPr>
          <p:cNvPr id="14" name="文本框 13">
            <a:extLst>
              <a:ext uri="{FF2B5EF4-FFF2-40B4-BE49-F238E27FC236}">
                <a16:creationId xmlns:a16="http://schemas.microsoft.com/office/drawing/2014/main" id="{36CF4100-E275-3E6F-C69D-F5AF8862F3DC}"/>
              </a:ext>
            </a:extLst>
          </p:cNvPr>
          <p:cNvSpPr txBox="1"/>
          <p:nvPr/>
        </p:nvSpPr>
        <p:spPr>
          <a:xfrm>
            <a:off x="609600" y="1230576"/>
            <a:ext cx="2727221" cy="400110"/>
          </a:xfrm>
          <a:prstGeom prst="rect">
            <a:avLst/>
          </a:prstGeom>
          <a:noFill/>
        </p:spPr>
        <p:txBody>
          <a:bodyPr wrap="none" rtlCol="0">
            <a:spAutoFit/>
          </a:bodyPr>
          <a:lstStyle/>
          <a:p>
            <a:r>
              <a:rPr lang="en-US" altLang="zh-CN" sz="2000" b="1" dirty="0">
                <a:latin typeface="+mj-lt"/>
                <a:ea typeface="+mj-ea"/>
              </a:rPr>
              <a:t>(2) Simple Feature</a:t>
            </a:r>
            <a:r>
              <a:rPr lang="zh-CN" altLang="en-US" sz="2000" b="1" dirty="0">
                <a:latin typeface="+mj-lt"/>
                <a:ea typeface="+mj-ea"/>
              </a:rPr>
              <a:t>对象</a:t>
            </a:r>
          </a:p>
        </p:txBody>
      </p:sp>
      <p:sp>
        <p:nvSpPr>
          <p:cNvPr id="15" name="文本框 14">
            <a:extLst>
              <a:ext uri="{FF2B5EF4-FFF2-40B4-BE49-F238E27FC236}">
                <a16:creationId xmlns:a16="http://schemas.microsoft.com/office/drawing/2014/main" id="{96BFEE55-C1D6-41A6-0217-4EECC2BE17C1}"/>
              </a:ext>
            </a:extLst>
          </p:cNvPr>
          <p:cNvSpPr txBox="1"/>
          <p:nvPr/>
        </p:nvSpPr>
        <p:spPr>
          <a:xfrm>
            <a:off x="1056611" y="1702679"/>
            <a:ext cx="7030778" cy="458715"/>
          </a:xfrm>
          <a:prstGeom prst="rect">
            <a:avLst/>
          </a:prstGeom>
          <a:noFill/>
        </p:spPr>
        <p:txBody>
          <a:bodyPr wrap="square" rtlCol="0">
            <a:spAutoFit/>
          </a:bodyPr>
          <a:lstStyle/>
          <a:p>
            <a:pPr>
              <a:lnSpc>
                <a:spcPct val="150000"/>
              </a:lnSpc>
            </a:pPr>
            <a:r>
              <a:rPr lang="zh-CN" altLang="en-US" dirty="0">
                <a:latin typeface="+mj-lt"/>
                <a:ea typeface="+mn-ea"/>
              </a:rPr>
              <a:t>③ </a:t>
            </a:r>
            <a:r>
              <a:rPr lang="en-US" altLang="zh-CN" b="1" i="1" dirty="0" err="1">
                <a:latin typeface="+mj-lt"/>
                <a:ea typeface="+mn-ea"/>
              </a:rPr>
              <a:t>st_buffer</a:t>
            </a:r>
            <a:r>
              <a:rPr lang="zh-CN" altLang="en-US" b="1" dirty="0">
                <a:latin typeface="+mj-lt"/>
                <a:ea typeface="+mn-ea"/>
              </a:rPr>
              <a:t>函数：</a:t>
            </a:r>
            <a:r>
              <a:rPr lang="zh-CN" altLang="en-US" dirty="0">
                <a:latin typeface="+mj-lt"/>
                <a:ea typeface="+mn-ea"/>
              </a:rPr>
              <a:t>函数包</a:t>
            </a:r>
            <a:r>
              <a:rPr lang="en-US" altLang="zh-CN" b="1" dirty="0">
                <a:latin typeface="+mj-lt"/>
                <a:ea typeface="+mn-ea"/>
              </a:rPr>
              <a:t>sf</a:t>
            </a:r>
            <a:r>
              <a:rPr lang="zh-CN" altLang="en-US" dirty="0">
                <a:latin typeface="+mj-lt"/>
                <a:ea typeface="+mn-ea"/>
              </a:rPr>
              <a:t>提供，生成点、线、面对象数据的缓冲区</a:t>
            </a:r>
            <a:endParaRPr lang="en-US" altLang="zh-CN" dirty="0">
              <a:latin typeface="+mj-lt"/>
              <a:ea typeface="+mn-ea"/>
            </a:endParaRPr>
          </a:p>
        </p:txBody>
      </p:sp>
      <p:sp>
        <p:nvSpPr>
          <p:cNvPr id="3" name="文本框 2">
            <a:extLst>
              <a:ext uri="{FF2B5EF4-FFF2-40B4-BE49-F238E27FC236}">
                <a16:creationId xmlns:a16="http://schemas.microsoft.com/office/drawing/2014/main" id="{F8DD83ED-0526-A632-71D6-C756421690DF}"/>
              </a:ext>
            </a:extLst>
          </p:cNvPr>
          <p:cNvSpPr txBox="1"/>
          <p:nvPr/>
        </p:nvSpPr>
        <p:spPr>
          <a:xfrm>
            <a:off x="2965362" y="6185416"/>
            <a:ext cx="3213274" cy="307777"/>
          </a:xfrm>
          <a:prstGeom prst="rect">
            <a:avLst/>
          </a:prstGeom>
          <a:noFill/>
        </p:spPr>
        <p:txBody>
          <a:bodyPr wrap="square" rtlCol="0">
            <a:spAutoFit/>
          </a:bodyPr>
          <a:lstStyle/>
          <a:p>
            <a:pPr algn="ctr"/>
            <a:r>
              <a:rPr lang="zh-CN" altLang="en-US" sz="1400" kern="0" dirty="0">
                <a:effectLst/>
                <a:latin typeface="+mj-lt"/>
                <a:ea typeface="+mj-ea"/>
              </a:rPr>
              <a:t>生成</a:t>
            </a:r>
            <a:r>
              <a:rPr lang="en-US" altLang="zh-CN" sz="1400" kern="0" dirty="0" err="1">
                <a:effectLst/>
                <a:latin typeface="+mj-lt"/>
                <a:ea typeface="+mj-ea"/>
              </a:rPr>
              <a:t>WHDis_sf</a:t>
            </a:r>
            <a:r>
              <a:rPr lang="zh-CN" altLang="en-US" sz="1400" kern="0" dirty="0">
                <a:effectLst/>
                <a:latin typeface="+mj-lt"/>
                <a:ea typeface="+mj-ea"/>
              </a:rPr>
              <a:t>数据</a:t>
            </a:r>
            <a:r>
              <a:rPr lang="en-US" altLang="zh-CN" sz="1400" kern="0" dirty="0">
                <a:latin typeface="+mj-lt"/>
                <a:ea typeface="+mj-ea"/>
              </a:rPr>
              <a:t>10</a:t>
            </a:r>
            <a:r>
              <a:rPr lang="en-US" altLang="zh-CN" sz="1400" kern="0" dirty="0">
                <a:effectLst/>
                <a:latin typeface="+mj-lt"/>
                <a:ea typeface="+mj-ea"/>
              </a:rPr>
              <a:t>00</a:t>
            </a:r>
            <a:r>
              <a:rPr lang="zh-CN" altLang="en-US" sz="1400" kern="0" dirty="0">
                <a:effectLst/>
                <a:latin typeface="+mj-lt"/>
                <a:ea typeface="+mj-ea"/>
              </a:rPr>
              <a:t>米缓冲区</a:t>
            </a:r>
            <a:endParaRPr lang="zh-CN" altLang="en-US" sz="1100" dirty="0">
              <a:latin typeface="+mj-lt"/>
              <a:ea typeface="+mj-ea"/>
            </a:endParaRPr>
          </a:p>
        </p:txBody>
      </p:sp>
      <p:pic>
        <p:nvPicPr>
          <p:cNvPr id="2" name="图片 1">
            <a:extLst>
              <a:ext uri="{FF2B5EF4-FFF2-40B4-BE49-F238E27FC236}">
                <a16:creationId xmlns:a16="http://schemas.microsoft.com/office/drawing/2014/main" id="{9A56EA3F-B97B-A68D-FD01-C46FC8C976B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922829" y="2299421"/>
            <a:ext cx="3298339" cy="3789363"/>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13393954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99EE9C-00E1-EAA5-C3C7-DBDD83B3E07B}"/>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6F6C92B2-09C5-B320-3371-857B3A0AD288}"/>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4.5 </a:t>
            </a:r>
            <a:r>
              <a:rPr lang="zh-CN" altLang="en-US" sz="3600" dirty="0">
                <a:latin typeface="Times New Roman" panose="02020603050405020304" pitchFamily="18" charset="0"/>
                <a:cs typeface="Times New Roman" panose="02020603050405020304" pitchFamily="18" charset="0"/>
              </a:rPr>
              <a:t>空间数据基础分析</a:t>
            </a:r>
          </a:p>
        </p:txBody>
      </p:sp>
      <p:sp>
        <p:nvSpPr>
          <p:cNvPr id="8" name="灯片编号占位符 7">
            <a:extLst>
              <a:ext uri="{FF2B5EF4-FFF2-40B4-BE49-F238E27FC236}">
                <a16:creationId xmlns:a16="http://schemas.microsoft.com/office/drawing/2014/main" id="{62AE3729-E5AE-D912-2B23-B24968ADFFD3}"/>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60</a:t>
            </a:fld>
            <a:endParaRPr lang="zh-CN" altLang="en-US" dirty="0">
              <a:solidFill>
                <a:schemeClr val="bg2">
                  <a:lumMod val="75000"/>
                </a:schemeClr>
              </a:solidFill>
            </a:endParaRPr>
          </a:p>
        </p:txBody>
      </p:sp>
      <p:sp>
        <p:nvSpPr>
          <p:cNvPr id="14" name="文本框 13">
            <a:extLst>
              <a:ext uri="{FF2B5EF4-FFF2-40B4-BE49-F238E27FC236}">
                <a16:creationId xmlns:a16="http://schemas.microsoft.com/office/drawing/2014/main" id="{CB34A412-64C2-DD29-060A-67AFEDA439F1}"/>
              </a:ext>
            </a:extLst>
          </p:cNvPr>
          <p:cNvSpPr txBox="1"/>
          <p:nvPr/>
        </p:nvSpPr>
        <p:spPr>
          <a:xfrm>
            <a:off x="609600" y="1130612"/>
            <a:ext cx="2727221" cy="400110"/>
          </a:xfrm>
          <a:prstGeom prst="rect">
            <a:avLst/>
          </a:prstGeom>
          <a:noFill/>
        </p:spPr>
        <p:txBody>
          <a:bodyPr wrap="none" rtlCol="0">
            <a:spAutoFit/>
          </a:bodyPr>
          <a:lstStyle/>
          <a:p>
            <a:r>
              <a:rPr lang="en-US" altLang="zh-CN" sz="2000" b="1" dirty="0">
                <a:latin typeface="+mj-lt"/>
                <a:ea typeface="+mj-ea"/>
              </a:rPr>
              <a:t>(2) Simple Feature</a:t>
            </a:r>
            <a:r>
              <a:rPr lang="zh-CN" altLang="en-US" sz="2000" b="1" dirty="0">
                <a:latin typeface="+mj-lt"/>
                <a:ea typeface="+mj-ea"/>
              </a:rPr>
              <a:t>对象</a:t>
            </a:r>
          </a:p>
        </p:txBody>
      </p:sp>
      <p:sp>
        <p:nvSpPr>
          <p:cNvPr id="15" name="文本框 14">
            <a:extLst>
              <a:ext uri="{FF2B5EF4-FFF2-40B4-BE49-F238E27FC236}">
                <a16:creationId xmlns:a16="http://schemas.microsoft.com/office/drawing/2014/main" id="{928E1745-A2D2-10EA-5268-E726443EA882}"/>
              </a:ext>
            </a:extLst>
          </p:cNvPr>
          <p:cNvSpPr txBox="1"/>
          <p:nvPr/>
        </p:nvSpPr>
        <p:spPr>
          <a:xfrm>
            <a:off x="472965" y="1523628"/>
            <a:ext cx="8201690" cy="1289712"/>
          </a:xfrm>
          <a:prstGeom prst="rect">
            <a:avLst/>
          </a:prstGeom>
          <a:noFill/>
        </p:spPr>
        <p:txBody>
          <a:bodyPr wrap="square" rtlCol="0">
            <a:spAutoFit/>
          </a:bodyPr>
          <a:lstStyle/>
          <a:p>
            <a:pPr>
              <a:lnSpc>
                <a:spcPct val="150000"/>
              </a:lnSpc>
            </a:pPr>
            <a:r>
              <a:rPr lang="zh-CN" altLang="en-US" dirty="0">
                <a:latin typeface="+mj-lt"/>
                <a:ea typeface="+mn-ea"/>
              </a:rPr>
              <a:t>④ </a:t>
            </a:r>
            <a:r>
              <a:rPr lang="en-US" altLang="zh-CN" b="1" i="1" dirty="0" err="1">
                <a:latin typeface="+mj-lt"/>
                <a:ea typeface="+mn-ea"/>
              </a:rPr>
              <a:t>st_voronoi</a:t>
            </a:r>
            <a:r>
              <a:rPr lang="zh-CN" altLang="en-US" b="1" dirty="0">
                <a:latin typeface="+mj-lt"/>
                <a:ea typeface="+mn-ea"/>
              </a:rPr>
              <a:t>函数：</a:t>
            </a:r>
            <a:r>
              <a:rPr lang="zh-CN" altLang="en-US" dirty="0">
                <a:latin typeface="+mj-lt"/>
                <a:ea typeface="+mn-ea"/>
              </a:rPr>
              <a:t>函数包</a:t>
            </a:r>
            <a:r>
              <a:rPr lang="en-US" altLang="zh-CN" b="1" dirty="0">
                <a:latin typeface="+mj-lt"/>
                <a:ea typeface="+mn-ea"/>
              </a:rPr>
              <a:t>sf</a:t>
            </a:r>
            <a:r>
              <a:rPr lang="zh-CN" altLang="en-US" dirty="0">
                <a:latin typeface="+mj-lt"/>
                <a:ea typeface="+mn-ea"/>
              </a:rPr>
              <a:t>提供，生成给定点集的泰森多边形</a:t>
            </a:r>
            <a:r>
              <a:rPr lang="en-US" altLang="zh-CN" dirty="0">
                <a:latin typeface="+mj-lt"/>
                <a:ea typeface="+mn-ea"/>
              </a:rPr>
              <a:t>(Voronoi diagram)</a:t>
            </a:r>
          </a:p>
          <a:p>
            <a:pPr indent="457200">
              <a:lnSpc>
                <a:spcPct val="150000"/>
              </a:lnSpc>
            </a:pPr>
            <a:r>
              <a:rPr lang="zh-CN" altLang="en-US" dirty="0">
                <a:latin typeface="+mj-lt"/>
                <a:ea typeface="+mn-ea"/>
              </a:rPr>
              <a:t>在位于洪山区的住宅区点数据中随机抽取</a:t>
            </a:r>
            <a:r>
              <a:rPr lang="en-US" altLang="zh-CN" dirty="0">
                <a:latin typeface="+mj-lt"/>
                <a:ea typeface="+mn-ea"/>
              </a:rPr>
              <a:t>100</a:t>
            </a:r>
            <a:r>
              <a:rPr lang="zh-CN" altLang="en-US" dirty="0">
                <a:latin typeface="+mj-lt"/>
                <a:ea typeface="+mn-ea"/>
              </a:rPr>
              <a:t>个样点，然后建立所有房价点数据的外包矩形，并通过</a:t>
            </a:r>
            <a:r>
              <a:rPr lang="en-US" altLang="zh-CN" b="1" i="1" dirty="0" err="1">
                <a:latin typeface="+mj-lt"/>
                <a:ea typeface="+mn-ea"/>
              </a:rPr>
              <a:t>st_voronoi</a:t>
            </a:r>
            <a:r>
              <a:rPr lang="zh-CN" altLang="en-US" dirty="0">
                <a:latin typeface="+mj-lt"/>
                <a:ea typeface="+mn-ea"/>
              </a:rPr>
              <a:t>函数生成这些随机点的泰森多边形：</a:t>
            </a:r>
            <a:endParaRPr lang="en-US" altLang="zh-CN" dirty="0">
              <a:latin typeface="+mj-lt"/>
              <a:ea typeface="+mn-ea"/>
            </a:endParaRPr>
          </a:p>
        </p:txBody>
      </p:sp>
      <p:sp>
        <p:nvSpPr>
          <p:cNvPr id="4" name="文本框 3">
            <a:extLst>
              <a:ext uri="{FF2B5EF4-FFF2-40B4-BE49-F238E27FC236}">
                <a16:creationId xmlns:a16="http://schemas.microsoft.com/office/drawing/2014/main" id="{DBE29478-9D88-7F86-96CF-3683A6A0167E}"/>
              </a:ext>
            </a:extLst>
          </p:cNvPr>
          <p:cNvSpPr txBox="1"/>
          <p:nvPr/>
        </p:nvSpPr>
        <p:spPr>
          <a:xfrm>
            <a:off x="285750" y="2795397"/>
            <a:ext cx="8572500" cy="3503523"/>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lnSpc>
                <a:spcPts val="1425"/>
              </a:lnSpc>
              <a:buNone/>
            </a:pPr>
            <a:r>
              <a:rPr lang="en-US" altLang="zh-CN" sz="12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set.seed</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123</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200" dirty="0">
              <a:effectLst/>
              <a:latin typeface="Times New Roman" panose="02020603050405020304" pitchFamily="18" charset="0"/>
              <a:ea typeface="宋体" panose="02010600030101010101" pitchFamily="2" charset="-122"/>
            </a:endParaRPr>
          </a:p>
          <a:p>
            <a:pPr indent="127000" algn="l">
              <a:lnSpc>
                <a:spcPts val="1425"/>
              </a:lnSpc>
              <a:buNone/>
            </a:pP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point&lt;-</a:t>
            </a:r>
            <a:r>
              <a:rPr lang="en-US" altLang="zh-CN" sz="12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st_sample</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(WHZZQ_hs_sf</a:t>
            </a:r>
            <a:r>
              <a:rPr lang="en-US" altLang="zh-CN" sz="12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geometry,</a:t>
            </a:r>
            <a:r>
              <a:rPr lang="en-US" altLang="zh-CN" sz="12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100</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200" dirty="0">
              <a:effectLst/>
              <a:latin typeface="Times New Roman" panose="02020603050405020304" pitchFamily="18" charset="0"/>
              <a:ea typeface="宋体" panose="02010600030101010101" pitchFamily="2" charset="-122"/>
            </a:endParaRPr>
          </a:p>
          <a:p>
            <a:pPr indent="127000" algn="l">
              <a:lnSpc>
                <a:spcPts val="1425"/>
              </a:lnSpc>
              <a:buNone/>
            </a:pP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box&lt;-</a:t>
            </a:r>
            <a:r>
              <a:rPr lang="en-US" altLang="zh-CN" sz="12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st_bbox</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WHZZQ_hs_sf</a:t>
            </a:r>
            <a:r>
              <a:rPr lang="en-US" altLang="zh-CN" sz="12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geometry</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200" dirty="0">
              <a:effectLst/>
              <a:latin typeface="Times New Roman" panose="02020603050405020304" pitchFamily="18" charset="0"/>
              <a:ea typeface="宋体" panose="02010600030101010101" pitchFamily="2" charset="-122"/>
            </a:endParaRPr>
          </a:p>
          <a:p>
            <a:pPr indent="127000" algn="l">
              <a:lnSpc>
                <a:spcPts val="1425"/>
              </a:lnSpc>
              <a:buNone/>
            </a:pPr>
            <a:r>
              <a:rPr lang="en-US" altLang="zh-CN" sz="12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box_polygon</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&lt;-</a:t>
            </a:r>
            <a:r>
              <a:rPr lang="en-US" altLang="zh-CN" sz="12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st_polygon</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list</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rbind</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(c(box[</a:t>
            </a:r>
            <a:r>
              <a:rPr lang="en-US" altLang="zh-CN" sz="12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],box[</a:t>
            </a:r>
            <a:r>
              <a:rPr lang="en-US" altLang="zh-CN" sz="12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]),c(box[</a:t>
            </a:r>
            <a:r>
              <a:rPr lang="en-US" altLang="zh-CN" sz="12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],box[</a:t>
            </a:r>
            <a:r>
              <a:rPr lang="en-US" altLang="zh-CN" sz="12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]),c(box[</a:t>
            </a:r>
            <a:r>
              <a:rPr lang="en-US" altLang="zh-CN" sz="12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],box[</a:t>
            </a:r>
            <a:r>
              <a:rPr lang="en-US" altLang="zh-CN" sz="12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]),c(box[</a:t>
            </a:r>
            <a:r>
              <a:rPr lang="en-US" altLang="zh-CN" sz="12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],box[</a:t>
            </a:r>
            <a:r>
              <a:rPr lang="en-US" altLang="zh-CN" sz="12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]),c(box[</a:t>
            </a:r>
            <a:r>
              <a:rPr lang="en-US" altLang="zh-CN" sz="12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],box[</a:t>
            </a:r>
            <a:r>
              <a:rPr lang="en-US" altLang="zh-CN" sz="12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200" dirty="0">
              <a:effectLst/>
              <a:latin typeface="Times New Roman" panose="02020603050405020304" pitchFamily="18" charset="0"/>
              <a:ea typeface="宋体" panose="02010600030101010101" pitchFamily="2" charset="-122"/>
            </a:endParaRPr>
          </a:p>
          <a:p>
            <a:pPr indent="127000" algn="l">
              <a:lnSpc>
                <a:spcPts val="1425"/>
              </a:lnSpc>
              <a:buNone/>
            </a:pP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v&lt;-</a:t>
            </a:r>
            <a:r>
              <a:rPr lang="en-US" altLang="zh-CN" sz="12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st_voronoi</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point,box_polygon</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200" dirty="0">
              <a:effectLst/>
              <a:latin typeface="Times New Roman" panose="02020603050405020304" pitchFamily="18" charset="0"/>
              <a:ea typeface="宋体" panose="02010600030101010101" pitchFamily="2" charset="-122"/>
            </a:endParaRPr>
          </a:p>
          <a:p>
            <a:pPr indent="127000" algn="l">
              <a:lnSpc>
                <a:spcPts val="1425"/>
              </a:lnSpc>
              <a:buNone/>
            </a:pPr>
            <a:r>
              <a:rPr lang="en-US" altLang="zh-CN" sz="12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v_box</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&lt;-</a:t>
            </a:r>
            <a:r>
              <a:rPr lang="en-US" altLang="zh-CN" sz="12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st_bbox</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(v)</a:t>
            </a:r>
            <a:endParaRPr lang="zh-CN" altLang="zh-CN" sz="1200" dirty="0">
              <a:effectLst/>
              <a:latin typeface="Times New Roman" panose="02020603050405020304" pitchFamily="18" charset="0"/>
              <a:ea typeface="宋体" panose="02010600030101010101" pitchFamily="2" charset="-122"/>
            </a:endParaRPr>
          </a:p>
          <a:p>
            <a:pPr indent="127000" algn="l">
              <a:lnSpc>
                <a:spcPts val="1425"/>
              </a:lnSpc>
              <a:buNone/>
            </a:pPr>
            <a:r>
              <a:rPr lang="en-US" altLang="zh-CN" sz="12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new_v_box</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&lt;-c(</a:t>
            </a:r>
            <a:r>
              <a:rPr lang="en-US" altLang="zh-CN" sz="12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v_box</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0.25</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v_box</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v_box</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200" dirty="0">
              <a:effectLst/>
              <a:latin typeface="Times New Roman" panose="02020603050405020304" pitchFamily="18" charset="0"/>
              <a:ea typeface="宋体" panose="02010600030101010101" pitchFamily="2" charset="-122"/>
            </a:endParaRPr>
          </a:p>
          <a:p>
            <a:pPr indent="127000" algn="l">
              <a:lnSpc>
                <a:spcPts val="1425"/>
              </a:lnSpc>
              <a:buNone/>
            </a:pP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2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v_box</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0.25</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v_box</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v_box</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200" dirty="0">
              <a:effectLst/>
              <a:latin typeface="Times New Roman" panose="02020603050405020304" pitchFamily="18" charset="0"/>
              <a:ea typeface="宋体" panose="02010600030101010101" pitchFamily="2" charset="-122"/>
            </a:endParaRPr>
          </a:p>
          <a:p>
            <a:pPr indent="127000" algn="l">
              <a:lnSpc>
                <a:spcPts val="1425"/>
              </a:lnSpc>
              <a:buNone/>
            </a:pP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2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v_box</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0.25</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v_box</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v_box</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200" dirty="0">
              <a:effectLst/>
              <a:latin typeface="Times New Roman" panose="02020603050405020304" pitchFamily="18" charset="0"/>
              <a:ea typeface="宋体" panose="02010600030101010101" pitchFamily="2" charset="-122"/>
            </a:endParaRPr>
          </a:p>
          <a:p>
            <a:pPr indent="127000" algn="l">
              <a:lnSpc>
                <a:spcPts val="1425"/>
              </a:lnSpc>
              <a:buNone/>
            </a:pP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2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v_box</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0.25</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v_box</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v_box</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200" dirty="0">
              <a:effectLst/>
              <a:latin typeface="Times New Roman" panose="02020603050405020304" pitchFamily="18" charset="0"/>
              <a:ea typeface="宋体" panose="02010600030101010101" pitchFamily="2" charset="-122"/>
            </a:endParaRPr>
          </a:p>
          <a:p>
            <a:pPr indent="127000" algn="l">
              <a:lnSpc>
                <a:spcPts val="1425"/>
              </a:lnSpc>
              <a:buNone/>
            </a:pPr>
            <a:r>
              <a:rPr lang="en-US" altLang="zh-CN" sz="12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new_v_box_polygon</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&lt;-</a:t>
            </a:r>
            <a:r>
              <a:rPr lang="en-US" altLang="zh-CN" sz="12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st_polygon</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list</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rbind</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2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new_v_box</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new_v_box</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2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new_v_box</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new_v_box</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2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new_v_box</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new_v_box</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2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new_v_box</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new_v_box</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2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new_v_box</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new_v_box</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200" dirty="0">
              <a:effectLst/>
              <a:latin typeface="Times New Roman" panose="02020603050405020304" pitchFamily="18" charset="0"/>
              <a:ea typeface="宋体" panose="02010600030101010101" pitchFamily="2" charset="-122"/>
            </a:endParaRPr>
          </a:p>
          <a:p>
            <a:pPr indent="127000" algn="l">
              <a:lnSpc>
                <a:spcPts val="1425"/>
              </a:lnSpc>
              <a:buNone/>
            </a:pP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2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v,col</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,border=</a:t>
            </a:r>
            <a:r>
              <a:rPr lang="en-US" altLang="zh-CN" sz="12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"blue"</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200" dirty="0">
              <a:effectLst/>
              <a:latin typeface="Times New Roman" panose="02020603050405020304" pitchFamily="18" charset="0"/>
              <a:ea typeface="宋体" panose="02010600030101010101" pitchFamily="2" charset="-122"/>
            </a:endParaRPr>
          </a:p>
          <a:p>
            <a:pPr indent="127000" algn="l">
              <a:lnSpc>
                <a:spcPts val="1425"/>
              </a:lnSpc>
              <a:buNone/>
            </a:pPr>
            <a:r>
              <a:rPr lang="en-US" altLang="zh-CN" sz="1200" dirty="0">
                <a:solidFill>
                  <a:srgbClr val="008000"/>
                </a:solidFill>
                <a:effectLst/>
                <a:latin typeface="Consolas" panose="020B0609020204030204" pitchFamily="49" charset="0"/>
                <a:ea typeface="宋体" panose="02010600030101010101" pitchFamily="2" charset="-122"/>
                <a:cs typeface="宋体" panose="02010600030101010101" pitchFamily="2" charset="-122"/>
              </a:rPr>
              <a:t>#plot(v,col=0,border="blue",xlim=c(new_v_box[1],new_v_box[3]),ylim=c(new_v_box[2],new_v_box[4]))</a:t>
            </a:r>
            <a:endParaRPr lang="zh-CN" altLang="zh-CN" sz="1200" dirty="0">
              <a:effectLst/>
              <a:latin typeface="Times New Roman" panose="02020603050405020304" pitchFamily="18" charset="0"/>
              <a:ea typeface="宋体" panose="02010600030101010101" pitchFamily="2" charset="-122"/>
            </a:endParaRPr>
          </a:p>
          <a:p>
            <a:pPr indent="127000" algn="l">
              <a:lnSpc>
                <a:spcPts val="1425"/>
              </a:lnSpc>
              <a:buNone/>
            </a:pP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2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point,col</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red"</a:t>
            </a:r>
            <a:r>
              <a:rPr lang="en-US" altLang="zh-CN" sz="12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,add</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TRUE</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200" dirty="0">
              <a:effectLst/>
              <a:latin typeface="Times New Roman" panose="02020603050405020304" pitchFamily="18" charset="0"/>
              <a:ea typeface="宋体" panose="02010600030101010101" pitchFamily="2" charset="-122"/>
            </a:endParaRPr>
          </a:p>
          <a:p>
            <a:pPr indent="127000" algn="l">
              <a:lnSpc>
                <a:spcPts val="1425"/>
              </a:lnSpc>
            </a:pP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2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box_polygon,add</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2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TRUE</a:t>
            </a:r>
            <a:r>
              <a:rPr lang="en-US" altLang="zh-CN" sz="12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200" dirty="0">
              <a:effectLst/>
              <a:latin typeface="Times New Roman" panose="02020603050405020304" pitchFamily="18" charset="0"/>
              <a:ea typeface="宋体" panose="02010600030101010101" pitchFamily="2" charset="-122"/>
            </a:endParaRPr>
          </a:p>
        </p:txBody>
      </p:sp>
      <p:sp>
        <p:nvSpPr>
          <p:cNvPr id="5" name="矩形 4">
            <a:extLst>
              <a:ext uri="{FF2B5EF4-FFF2-40B4-BE49-F238E27FC236}">
                <a16:creationId xmlns:a16="http://schemas.microsoft.com/office/drawing/2014/main" id="{2281DFA6-1D1C-F384-4AF6-DB5933607DE0}"/>
              </a:ext>
            </a:extLst>
          </p:cNvPr>
          <p:cNvSpPr/>
          <p:nvPr/>
        </p:nvSpPr>
        <p:spPr>
          <a:xfrm>
            <a:off x="400050" y="5541613"/>
            <a:ext cx="8229600" cy="342900"/>
          </a:xfrm>
          <a:prstGeom prst="rect">
            <a:avLst/>
          </a:prstGeom>
          <a:noFill/>
          <a:ln>
            <a:solidFill>
              <a:schemeClr val="accent6"/>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C3F6A30B-8C5D-E85C-4379-9CFFCBEC7EB4}"/>
              </a:ext>
            </a:extLst>
          </p:cNvPr>
          <p:cNvSpPr txBox="1"/>
          <p:nvPr/>
        </p:nvSpPr>
        <p:spPr>
          <a:xfrm>
            <a:off x="4443775" y="5982904"/>
            <a:ext cx="3619499" cy="523220"/>
          </a:xfrm>
          <a:prstGeom prst="rect">
            <a:avLst/>
          </a:prstGeom>
          <a:noFill/>
        </p:spPr>
        <p:txBody>
          <a:bodyPr wrap="square" rtlCol="0">
            <a:spAutoFit/>
          </a:bodyPr>
          <a:lstStyle/>
          <a:p>
            <a:r>
              <a:rPr lang="zh-CN" altLang="en-US" sz="1400" dirty="0">
                <a:solidFill>
                  <a:schemeClr val="accent6"/>
                </a:solidFill>
                <a:latin typeface="+mj-lt"/>
                <a:ea typeface="+mj-ea"/>
              </a:rPr>
              <a:t>注释第一句</a:t>
            </a:r>
            <a:r>
              <a:rPr lang="en-US" altLang="zh-CN" sz="1400" dirty="0">
                <a:solidFill>
                  <a:schemeClr val="accent6"/>
                </a:solidFill>
                <a:latin typeface="+mj-lt"/>
                <a:ea typeface="+mj-ea"/>
              </a:rPr>
              <a:t>plot</a:t>
            </a:r>
            <a:r>
              <a:rPr lang="zh-CN" altLang="en-US" sz="1400" dirty="0">
                <a:solidFill>
                  <a:schemeClr val="accent6"/>
                </a:solidFill>
                <a:latin typeface="+mj-lt"/>
                <a:ea typeface="+mj-ea"/>
              </a:rPr>
              <a:t>语句，取消注释第二句</a:t>
            </a:r>
            <a:r>
              <a:rPr lang="en-US" altLang="zh-CN" sz="1400" dirty="0">
                <a:solidFill>
                  <a:schemeClr val="accent6"/>
                </a:solidFill>
                <a:latin typeface="+mj-lt"/>
                <a:ea typeface="+mj-ea"/>
              </a:rPr>
              <a:t>plot</a:t>
            </a:r>
            <a:r>
              <a:rPr lang="zh-CN" altLang="en-US" sz="1400" dirty="0">
                <a:solidFill>
                  <a:schemeClr val="accent6"/>
                </a:solidFill>
                <a:latin typeface="+mj-lt"/>
                <a:ea typeface="+mj-ea"/>
              </a:rPr>
              <a:t>语句，可修改绘制边界</a:t>
            </a:r>
          </a:p>
        </p:txBody>
      </p:sp>
    </p:spTree>
    <p:extLst>
      <p:ext uri="{BB962C8B-B14F-4D97-AF65-F5344CB8AC3E}">
        <p14:creationId xmlns:p14="http://schemas.microsoft.com/office/powerpoint/2010/main" val="428202339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DDE0F-D278-D4FE-B32E-53DA880049BF}"/>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14CDA246-771A-F837-0238-420E80D06FD0}"/>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4.5 </a:t>
            </a:r>
            <a:r>
              <a:rPr lang="zh-CN" altLang="en-US" sz="3600" dirty="0">
                <a:latin typeface="Times New Roman" panose="02020603050405020304" pitchFamily="18" charset="0"/>
                <a:cs typeface="Times New Roman" panose="02020603050405020304" pitchFamily="18" charset="0"/>
              </a:rPr>
              <a:t>空间数据基础分析</a:t>
            </a:r>
          </a:p>
        </p:txBody>
      </p:sp>
      <p:sp>
        <p:nvSpPr>
          <p:cNvPr id="8" name="灯片编号占位符 7">
            <a:extLst>
              <a:ext uri="{FF2B5EF4-FFF2-40B4-BE49-F238E27FC236}">
                <a16:creationId xmlns:a16="http://schemas.microsoft.com/office/drawing/2014/main" id="{D650BE57-8235-4337-0BB0-58635E2C5670}"/>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61</a:t>
            </a:fld>
            <a:endParaRPr lang="zh-CN" altLang="en-US" dirty="0">
              <a:solidFill>
                <a:schemeClr val="bg2">
                  <a:lumMod val="75000"/>
                </a:schemeClr>
              </a:solidFill>
            </a:endParaRPr>
          </a:p>
        </p:txBody>
      </p:sp>
      <p:sp>
        <p:nvSpPr>
          <p:cNvPr id="14" name="文本框 13">
            <a:extLst>
              <a:ext uri="{FF2B5EF4-FFF2-40B4-BE49-F238E27FC236}">
                <a16:creationId xmlns:a16="http://schemas.microsoft.com/office/drawing/2014/main" id="{C1F96967-1798-690D-CF79-ABD638BC9AB1}"/>
              </a:ext>
            </a:extLst>
          </p:cNvPr>
          <p:cNvSpPr txBox="1"/>
          <p:nvPr/>
        </p:nvSpPr>
        <p:spPr>
          <a:xfrm>
            <a:off x="609600" y="1130612"/>
            <a:ext cx="2727221" cy="400110"/>
          </a:xfrm>
          <a:prstGeom prst="rect">
            <a:avLst/>
          </a:prstGeom>
          <a:noFill/>
        </p:spPr>
        <p:txBody>
          <a:bodyPr wrap="none" rtlCol="0">
            <a:spAutoFit/>
          </a:bodyPr>
          <a:lstStyle/>
          <a:p>
            <a:r>
              <a:rPr lang="en-US" altLang="zh-CN" sz="2000" b="1" dirty="0">
                <a:latin typeface="+mj-lt"/>
                <a:ea typeface="+mj-ea"/>
              </a:rPr>
              <a:t>(2) Simple Feature</a:t>
            </a:r>
            <a:r>
              <a:rPr lang="zh-CN" altLang="en-US" sz="2000" b="1" dirty="0">
                <a:latin typeface="+mj-lt"/>
                <a:ea typeface="+mj-ea"/>
              </a:rPr>
              <a:t>对象</a:t>
            </a:r>
          </a:p>
        </p:txBody>
      </p:sp>
      <p:sp>
        <p:nvSpPr>
          <p:cNvPr id="15" name="文本框 14">
            <a:extLst>
              <a:ext uri="{FF2B5EF4-FFF2-40B4-BE49-F238E27FC236}">
                <a16:creationId xmlns:a16="http://schemas.microsoft.com/office/drawing/2014/main" id="{765DDF53-1FFA-DC5C-3121-A9850E8922E2}"/>
              </a:ext>
            </a:extLst>
          </p:cNvPr>
          <p:cNvSpPr txBox="1"/>
          <p:nvPr/>
        </p:nvSpPr>
        <p:spPr>
          <a:xfrm>
            <a:off x="472965" y="1523628"/>
            <a:ext cx="8201690" cy="1289712"/>
          </a:xfrm>
          <a:prstGeom prst="rect">
            <a:avLst/>
          </a:prstGeom>
          <a:noFill/>
        </p:spPr>
        <p:txBody>
          <a:bodyPr wrap="square" rtlCol="0">
            <a:spAutoFit/>
          </a:bodyPr>
          <a:lstStyle/>
          <a:p>
            <a:pPr>
              <a:lnSpc>
                <a:spcPct val="150000"/>
              </a:lnSpc>
            </a:pPr>
            <a:r>
              <a:rPr lang="zh-CN" altLang="en-US" dirty="0">
                <a:latin typeface="+mj-lt"/>
                <a:ea typeface="+mn-ea"/>
              </a:rPr>
              <a:t>④ </a:t>
            </a:r>
            <a:r>
              <a:rPr lang="en-US" altLang="zh-CN" b="1" i="1" dirty="0" err="1">
                <a:latin typeface="+mj-lt"/>
                <a:ea typeface="+mn-ea"/>
              </a:rPr>
              <a:t>st_voronoi</a:t>
            </a:r>
            <a:r>
              <a:rPr lang="zh-CN" altLang="en-US" b="1" dirty="0">
                <a:latin typeface="+mj-lt"/>
                <a:ea typeface="+mn-ea"/>
              </a:rPr>
              <a:t>函数：</a:t>
            </a:r>
            <a:r>
              <a:rPr lang="zh-CN" altLang="en-US" dirty="0">
                <a:latin typeface="+mj-lt"/>
                <a:ea typeface="+mn-ea"/>
              </a:rPr>
              <a:t>函数包</a:t>
            </a:r>
            <a:r>
              <a:rPr lang="en-US" altLang="zh-CN" b="1" dirty="0">
                <a:latin typeface="+mj-lt"/>
                <a:ea typeface="+mn-ea"/>
              </a:rPr>
              <a:t>sf</a:t>
            </a:r>
            <a:r>
              <a:rPr lang="zh-CN" altLang="en-US" dirty="0">
                <a:latin typeface="+mj-lt"/>
                <a:ea typeface="+mn-ea"/>
              </a:rPr>
              <a:t>提供，生成给定点集的泰森多边形</a:t>
            </a:r>
            <a:r>
              <a:rPr lang="en-US" altLang="zh-CN" dirty="0">
                <a:latin typeface="+mj-lt"/>
                <a:ea typeface="+mn-ea"/>
              </a:rPr>
              <a:t>(Voronoi diagram)</a:t>
            </a:r>
          </a:p>
          <a:p>
            <a:pPr indent="457200">
              <a:lnSpc>
                <a:spcPct val="150000"/>
              </a:lnSpc>
            </a:pPr>
            <a:r>
              <a:rPr lang="zh-CN" altLang="en-US" dirty="0">
                <a:latin typeface="+mj-lt"/>
                <a:ea typeface="+mn-ea"/>
              </a:rPr>
              <a:t>在位于洪山区的住宅区点数据中随机抽取</a:t>
            </a:r>
            <a:r>
              <a:rPr lang="en-US" altLang="zh-CN" dirty="0">
                <a:latin typeface="+mj-lt"/>
                <a:ea typeface="+mn-ea"/>
              </a:rPr>
              <a:t>100</a:t>
            </a:r>
            <a:r>
              <a:rPr lang="zh-CN" altLang="en-US" dirty="0">
                <a:latin typeface="+mj-lt"/>
                <a:ea typeface="+mn-ea"/>
              </a:rPr>
              <a:t>个样点，然后建立所有房价点数据的外包矩形，并通过</a:t>
            </a:r>
            <a:r>
              <a:rPr lang="en-US" altLang="zh-CN" b="1" i="1" dirty="0" err="1">
                <a:latin typeface="+mj-lt"/>
                <a:ea typeface="+mn-ea"/>
              </a:rPr>
              <a:t>st_voronoi</a:t>
            </a:r>
            <a:r>
              <a:rPr lang="zh-CN" altLang="en-US" dirty="0">
                <a:latin typeface="+mj-lt"/>
                <a:ea typeface="+mn-ea"/>
              </a:rPr>
              <a:t>函数生成这些随机点的泰森多边形：</a:t>
            </a:r>
            <a:endParaRPr lang="en-US" altLang="zh-CN" dirty="0">
              <a:latin typeface="+mj-lt"/>
              <a:ea typeface="+mn-ea"/>
            </a:endParaRPr>
          </a:p>
        </p:txBody>
      </p:sp>
      <p:pic>
        <p:nvPicPr>
          <p:cNvPr id="2" name="图片 1">
            <a:extLst>
              <a:ext uri="{FF2B5EF4-FFF2-40B4-BE49-F238E27FC236}">
                <a16:creationId xmlns:a16="http://schemas.microsoft.com/office/drawing/2014/main" id="{FCB0E1FC-C85C-7C4E-BDFC-C1FF0525D391}"/>
              </a:ext>
            </a:extLst>
          </p:cNvPr>
          <p:cNvPicPr>
            <a:picLocks noChangeAspect="1"/>
          </p:cNvPicPr>
          <p:nvPr/>
        </p:nvPicPr>
        <p:blipFill>
          <a:blip r:embed="rId2">
            <a:extLst>
              <a:ext uri="{28A0092B-C50C-407E-A947-70E740481C1C}">
                <a14:useLocalDpi xmlns:a14="http://schemas.microsoft.com/office/drawing/2010/main" val="0"/>
              </a:ext>
            </a:extLst>
          </a:blip>
          <a:srcRect l="2332" t="2242" r="1215" b="1598"/>
          <a:stretch/>
        </p:blipFill>
        <p:spPr bwMode="auto">
          <a:xfrm>
            <a:off x="609600" y="3005870"/>
            <a:ext cx="3505200" cy="2904064"/>
          </a:xfrm>
          <a:prstGeom prst="rect">
            <a:avLst/>
          </a:prstGeom>
          <a:ln>
            <a:noFill/>
          </a:ln>
          <a:effectLst>
            <a:outerShdw blurRad="190500" algn="tl" rotWithShape="0">
              <a:srgbClr val="000000">
                <a:alpha val="70000"/>
              </a:srgbClr>
            </a:outerShdw>
          </a:effectLst>
        </p:spPr>
      </p:pic>
      <p:pic>
        <p:nvPicPr>
          <p:cNvPr id="3" name="图片 2">
            <a:extLst>
              <a:ext uri="{FF2B5EF4-FFF2-40B4-BE49-F238E27FC236}">
                <a16:creationId xmlns:a16="http://schemas.microsoft.com/office/drawing/2014/main" id="{9C134F08-79B0-5FAE-310C-832E9F47066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43400" y="3180386"/>
            <a:ext cx="4247515" cy="2535555"/>
          </a:xfrm>
          <a:prstGeom prst="rect">
            <a:avLst/>
          </a:prstGeom>
          <a:ln>
            <a:noFill/>
          </a:ln>
          <a:effectLst>
            <a:outerShdw blurRad="190500" algn="tl" rotWithShape="0">
              <a:srgbClr val="000000">
                <a:alpha val="70000"/>
              </a:srgbClr>
            </a:outerShdw>
          </a:effectLst>
        </p:spPr>
      </p:pic>
      <p:sp>
        <p:nvSpPr>
          <p:cNvPr id="9" name="文本框 8">
            <a:extLst>
              <a:ext uri="{FF2B5EF4-FFF2-40B4-BE49-F238E27FC236}">
                <a16:creationId xmlns:a16="http://schemas.microsoft.com/office/drawing/2014/main" id="{C381A96D-2EC9-CAB3-DC7C-C724433E56C8}"/>
              </a:ext>
            </a:extLst>
          </p:cNvPr>
          <p:cNvSpPr txBox="1"/>
          <p:nvPr/>
        </p:nvSpPr>
        <p:spPr>
          <a:xfrm>
            <a:off x="2965363" y="6099198"/>
            <a:ext cx="3213274" cy="307777"/>
          </a:xfrm>
          <a:prstGeom prst="rect">
            <a:avLst/>
          </a:prstGeom>
          <a:noFill/>
        </p:spPr>
        <p:txBody>
          <a:bodyPr wrap="square" rtlCol="0">
            <a:spAutoFit/>
          </a:bodyPr>
          <a:lstStyle/>
          <a:p>
            <a:pPr algn="ctr"/>
            <a:r>
              <a:rPr lang="zh-CN" altLang="en-US" sz="1400" kern="0" dirty="0">
                <a:effectLst/>
                <a:latin typeface="+mj-lt"/>
                <a:ea typeface="+mj-ea"/>
              </a:rPr>
              <a:t>使用</a:t>
            </a:r>
            <a:r>
              <a:rPr lang="en-US" altLang="zh-CN" sz="1400" i="1" kern="0" dirty="0" err="1">
                <a:effectLst/>
                <a:latin typeface="+mj-lt"/>
                <a:ea typeface="+mj-ea"/>
              </a:rPr>
              <a:t>st_voronoi</a:t>
            </a:r>
            <a:r>
              <a:rPr lang="zh-CN" altLang="en-US" sz="1400" kern="0" dirty="0">
                <a:effectLst/>
                <a:latin typeface="+mj-lt"/>
                <a:ea typeface="+mj-ea"/>
              </a:rPr>
              <a:t>函数绘制泰森多边形</a:t>
            </a:r>
            <a:endParaRPr lang="zh-CN" altLang="en-US" sz="1100" dirty="0">
              <a:latin typeface="+mj-lt"/>
              <a:ea typeface="+mj-ea"/>
            </a:endParaRPr>
          </a:p>
        </p:txBody>
      </p:sp>
    </p:spTree>
    <p:extLst>
      <p:ext uri="{BB962C8B-B14F-4D97-AF65-F5344CB8AC3E}">
        <p14:creationId xmlns:p14="http://schemas.microsoft.com/office/powerpoint/2010/main" val="229650334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2B5F2-F047-9E18-E079-F886BB10E2A7}"/>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94E0693C-52A4-0065-12D4-F35C44272B81}"/>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4.6 </a:t>
            </a:r>
            <a:r>
              <a:rPr lang="zh-CN" altLang="en-US" sz="3600" dirty="0">
                <a:latin typeface="Times New Roman" panose="02020603050405020304" pitchFamily="18" charset="0"/>
                <a:cs typeface="Times New Roman" panose="02020603050405020304" pitchFamily="18" charset="0"/>
              </a:rPr>
              <a:t>基础空间关系分析</a:t>
            </a:r>
          </a:p>
        </p:txBody>
      </p:sp>
      <p:sp>
        <p:nvSpPr>
          <p:cNvPr id="8" name="灯片编号占位符 7">
            <a:extLst>
              <a:ext uri="{FF2B5EF4-FFF2-40B4-BE49-F238E27FC236}">
                <a16:creationId xmlns:a16="http://schemas.microsoft.com/office/drawing/2014/main" id="{8C7AC5BA-9607-EA5C-EA86-8F8066B1DEFF}"/>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62</a:t>
            </a:fld>
            <a:endParaRPr lang="zh-CN" altLang="en-US" dirty="0">
              <a:solidFill>
                <a:schemeClr val="bg2">
                  <a:lumMod val="75000"/>
                </a:schemeClr>
              </a:solidFill>
            </a:endParaRPr>
          </a:p>
        </p:txBody>
      </p:sp>
      <p:grpSp>
        <p:nvGrpSpPr>
          <p:cNvPr id="4" name="组合 3">
            <a:extLst>
              <a:ext uri="{FF2B5EF4-FFF2-40B4-BE49-F238E27FC236}">
                <a16:creationId xmlns:a16="http://schemas.microsoft.com/office/drawing/2014/main" id="{C67C99C8-B82C-BE6E-12CA-3B7C81520B7F}"/>
              </a:ext>
            </a:extLst>
          </p:cNvPr>
          <p:cNvGrpSpPr/>
          <p:nvPr>
            <p:custDataLst>
              <p:tags r:id="rId1"/>
            </p:custDataLst>
          </p:nvPr>
        </p:nvGrpSpPr>
        <p:grpSpPr>
          <a:xfrm>
            <a:off x="1485900" y="2561080"/>
            <a:ext cx="6626224" cy="749588"/>
            <a:chOff x="3797406" y="1425837"/>
            <a:chExt cx="6626224" cy="749588"/>
          </a:xfrm>
        </p:grpSpPr>
        <p:sp>
          <p:nvSpPr>
            <p:cNvPr id="5" name="文本框 4">
              <a:extLst>
                <a:ext uri="{FF2B5EF4-FFF2-40B4-BE49-F238E27FC236}">
                  <a16:creationId xmlns:a16="http://schemas.microsoft.com/office/drawing/2014/main" id="{D026BC3E-C7B4-167A-02C2-8A6B5F929B75}"/>
                </a:ext>
              </a:extLst>
            </p:cNvPr>
            <p:cNvSpPr txBox="1"/>
            <p:nvPr>
              <p:custDataLst>
                <p:tags r:id="rId5"/>
              </p:custDataLst>
            </p:nvPr>
          </p:nvSpPr>
          <p:spPr>
            <a:xfrm>
              <a:off x="3797406" y="1621427"/>
              <a:ext cx="1107996" cy="553998"/>
            </a:xfrm>
            <a:prstGeom prst="rect">
              <a:avLst/>
            </a:prstGeom>
            <a:noFill/>
          </p:spPr>
          <p:txBody>
            <a:bodyPr wrap="none" tIns="0" bIns="0" rtlCol="0" anchor="b" anchorCtr="0">
              <a:spAutoFit/>
            </a:bodyPr>
            <a:lstStyle/>
            <a:p>
              <a:r>
                <a:rPr kumimoji="1" lang="en-US" altLang="zh-CN" sz="3600" b="1" dirty="0">
                  <a:solidFill>
                    <a:schemeClr val="accent1"/>
                  </a:solidFill>
                  <a:latin typeface="Times New Roman" panose="02020603050405020304" pitchFamily="18" charset="0"/>
                  <a:cs typeface="Times New Roman" panose="02020603050405020304" pitchFamily="18" charset="0"/>
                </a:rPr>
                <a:t>4.6.1</a:t>
              </a:r>
            </a:p>
          </p:txBody>
        </p:sp>
        <p:sp>
          <p:nvSpPr>
            <p:cNvPr id="6" name="文本占位符 27">
              <a:extLst>
                <a:ext uri="{FF2B5EF4-FFF2-40B4-BE49-F238E27FC236}">
                  <a16:creationId xmlns:a16="http://schemas.microsoft.com/office/drawing/2014/main" id="{D03A1B38-CD25-58B1-5EAD-3E9F5D907E54}"/>
                </a:ext>
              </a:extLst>
            </p:cNvPr>
            <p:cNvSpPr txBox="1"/>
            <p:nvPr>
              <p:custDataLst>
                <p:tags r:id="rId6"/>
              </p:custDataLst>
            </p:nvPr>
          </p:nvSpPr>
          <p:spPr>
            <a:xfrm>
              <a:off x="5130905" y="1425837"/>
              <a:ext cx="5292725" cy="708025"/>
            </a:xfrm>
            <a:prstGeom prst="rect">
              <a:avLst/>
            </a:prstGeom>
          </p:spPr>
          <p:txBody>
            <a:bodyPr lIns="0" rIns="0" bIns="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chemeClr val="accent2"/>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3200" dirty="0">
                  <a:solidFill>
                    <a:schemeClr val="accent1"/>
                  </a:solidFill>
                  <a:latin typeface="Times New Roman" panose="02020603050405020304" pitchFamily="18" charset="0"/>
                  <a:cs typeface="Times New Roman" panose="02020603050405020304" pitchFamily="18" charset="0"/>
                </a:rPr>
                <a:t>Spatial*</a:t>
              </a:r>
              <a:r>
                <a:rPr lang="en-US" altLang="zh-CN" sz="3200" dirty="0" err="1">
                  <a:solidFill>
                    <a:schemeClr val="accent1"/>
                  </a:solidFill>
                  <a:latin typeface="Times New Roman" panose="02020603050405020304" pitchFamily="18" charset="0"/>
                  <a:cs typeface="Times New Roman" panose="02020603050405020304" pitchFamily="18" charset="0"/>
                </a:rPr>
                <a:t>DataFrame</a:t>
              </a:r>
              <a:r>
                <a:rPr lang="zh-CN" altLang="en-US" sz="3200" dirty="0">
                  <a:solidFill>
                    <a:schemeClr val="accent1"/>
                  </a:solidFill>
                  <a:latin typeface="Times New Roman" panose="02020603050405020304" pitchFamily="18" charset="0"/>
                  <a:cs typeface="Times New Roman" panose="02020603050405020304" pitchFamily="18" charset="0"/>
                </a:rPr>
                <a:t>对象</a:t>
              </a:r>
              <a:endParaRPr kumimoji="1" lang="zh-CN" altLang="en-US" sz="3200" dirty="0">
                <a:solidFill>
                  <a:schemeClr val="accent1"/>
                </a:solidFill>
                <a:latin typeface="Times New Roman" panose="02020603050405020304" pitchFamily="18" charset="0"/>
                <a:cs typeface="Times New Roman" panose="02020603050405020304" pitchFamily="18" charset="0"/>
              </a:endParaRPr>
            </a:p>
          </p:txBody>
        </p:sp>
      </p:grpSp>
      <p:grpSp>
        <p:nvGrpSpPr>
          <p:cNvPr id="11" name="组合 10">
            <a:extLst>
              <a:ext uri="{FF2B5EF4-FFF2-40B4-BE49-F238E27FC236}">
                <a16:creationId xmlns:a16="http://schemas.microsoft.com/office/drawing/2014/main" id="{E69370F0-DD0F-AE7C-4094-841D09CD1E32}"/>
              </a:ext>
            </a:extLst>
          </p:cNvPr>
          <p:cNvGrpSpPr/>
          <p:nvPr>
            <p:custDataLst>
              <p:tags r:id="rId2"/>
            </p:custDataLst>
          </p:nvPr>
        </p:nvGrpSpPr>
        <p:grpSpPr>
          <a:xfrm>
            <a:off x="1485900" y="3314700"/>
            <a:ext cx="6626225" cy="749588"/>
            <a:chOff x="3797406" y="2539558"/>
            <a:chExt cx="6626225" cy="749588"/>
          </a:xfrm>
        </p:grpSpPr>
        <p:sp>
          <p:nvSpPr>
            <p:cNvPr id="12" name="文本框 11">
              <a:extLst>
                <a:ext uri="{FF2B5EF4-FFF2-40B4-BE49-F238E27FC236}">
                  <a16:creationId xmlns:a16="http://schemas.microsoft.com/office/drawing/2014/main" id="{57C0129B-8E06-227A-2920-734CE65A7105}"/>
                </a:ext>
              </a:extLst>
            </p:cNvPr>
            <p:cNvSpPr txBox="1"/>
            <p:nvPr>
              <p:custDataLst>
                <p:tags r:id="rId3"/>
              </p:custDataLst>
            </p:nvPr>
          </p:nvSpPr>
          <p:spPr>
            <a:xfrm>
              <a:off x="3797406" y="2735148"/>
              <a:ext cx="1107996" cy="553998"/>
            </a:xfrm>
            <a:prstGeom prst="rect">
              <a:avLst/>
            </a:prstGeom>
            <a:noFill/>
          </p:spPr>
          <p:txBody>
            <a:bodyPr wrap="none" tIns="0" bIns="0" rtlCol="0" anchor="b" anchorCtr="0">
              <a:spAutoFit/>
            </a:bodyPr>
            <a:lstStyle/>
            <a:p>
              <a:r>
                <a:rPr kumimoji="1" lang="en-US" altLang="zh-CN" sz="3600" b="1" dirty="0">
                  <a:solidFill>
                    <a:schemeClr val="accent1"/>
                  </a:solidFill>
                  <a:latin typeface="Times New Roman" panose="02020603050405020304" pitchFamily="18" charset="0"/>
                  <a:cs typeface="Times New Roman" panose="02020603050405020304" pitchFamily="18" charset="0"/>
                </a:rPr>
                <a:t>4.6.2</a:t>
              </a:r>
            </a:p>
          </p:txBody>
        </p:sp>
        <p:sp>
          <p:nvSpPr>
            <p:cNvPr id="13" name="文本占位符 27">
              <a:extLst>
                <a:ext uri="{FF2B5EF4-FFF2-40B4-BE49-F238E27FC236}">
                  <a16:creationId xmlns:a16="http://schemas.microsoft.com/office/drawing/2014/main" id="{71158F2C-6E15-AA8E-1AE1-7EC806BAFE2C}"/>
                </a:ext>
              </a:extLst>
            </p:cNvPr>
            <p:cNvSpPr txBox="1"/>
            <p:nvPr>
              <p:custDataLst>
                <p:tags r:id="rId4"/>
              </p:custDataLst>
            </p:nvPr>
          </p:nvSpPr>
          <p:spPr>
            <a:xfrm>
              <a:off x="5130906" y="2539558"/>
              <a:ext cx="5292725" cy="708025"/>
            </a:xfrm>
            <a:prstGeom prst="rect">
              <a:avLst/>
            </a:prstGeom>
          </p:spPr>
          <p:txBody>
            <a:bodyPr lIns="0" rIns="0" bIns="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chemeClr val="accent2"/>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3200" dirty="0">
                  <a:solidFill>
                    <a:schemeClr val="accent1"/>
                  </a:solidFill>
                  <a:latin typeface="Times New Roman" panose="02020603050405020304" pitchFamily="18" charset="0"/>
                  <a:cs typeface="Times New Roman" panose="02020603050405020304" pitchFamily="18" charset="0"/>
                </a:rPr>
                <a:t>Simple Feature</a:t>
              </a:r>
              <a:r>
                <a:rPr lang="zh-CN" altLang="en-US" sz="3200" dirty="0">
                  <a:solidFill>
                    <a:schemeClr val="accent1"/>
                  </a:solidFill>
                  <a:latin typeface="Times New Roman" panose="02020603050405020304" pitchFamily="18" charset="0"/>
                  <a:cs typeface="Times New Roman" panose="02020603050405020304" pitchFamily="18" charset="0"/>
                </a:rPr>
                <a:t>对象</a:t>
              </a:r>
              <a:endParaRPr kumimoji="1" lang="zh-CN" altLang="en-US" sz="3200" dirty="0">
                <a:solidFill>
                  <a:schemeClr val="accent1"/>
                </a:solidFill>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365978170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7C8010-DA39-0EEA-77C1-49138F5BBE6D}"/>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6061139A-927A-0EEA-A767-8A2E49058165}"/>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4.6 </a:t>
            </a:r>
            <a:r>
              <a:rPr lang="zh-CN" altLang="en-US" sz="3600" dirty="0">
                <a:latin typeface="Times New Roman" panose="02020603050405020304" pitchFamily="18" charset="0"/>
                <a:cs typeface="Times New Roman" panose="02020603050405020304" pitchFamily="18" charset="0"/>
              </a:rPr>
              <a:t>基础空间关系分析</a:t>
            </a:r>
          </a:p>
        </p:txBody>
      </p:sp>
      <p:sp>
        <p:nvSpPr>
          <p:cNvPr id="8" name="灯片编号占位符 7">
            <a:extLst>
              <a:ext uri="{FF2B5EF4-FFF2-40B4-BE49-F238E27FC236}">
                <a16:creationId xmlns:a16="http://schemas.microsoft.com/office/drawing/2014/main" id="{0FD18493-86DA-717B-DED5-02BF2574ACF2}"/>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63</a:t>
            </a:fld>
            <a:endParaRPr lang="zh-CN" altLang="en-US" dirty="0">
              <a:solidFill>
                <a:schemeClr val="bg2">
                  <a:lumMod val="75000"/>
                </a:schemeClr>
              </a:solidFill>
            </a:endParaRPr>
          </a:p>
        </p:txBody>
      </p:sp>
      <p:sp>
        <p:nvSpPr>
          <p:cNvPr id="2" name="文本框 1">
            <a:extLst>
              <a:ext uri="{FF2B5EF4-FFF2-40B4-BE49-F238E27FC236}">
                <a16:creationId xmlns:a16="http://schemas.microsoft.com/office/drawing/2014/main" id="{02DBB34B-B8DE-471E-40C8-A735FC8E6D63}"/>
              </a:ext>
            </a:extLst>
          </p:cNvPr>
          <p:cNvSpPr txBox="1"/>
          <p:nvPr/>
        </p:nvSpPr>
        <p:spPr>
          <a:xfrm>
            <a:off x="609600" y="2508500"/>
            <a:ext cx="3209533" cy="400110"/>
          </a:xfrm>
          <a:prstGeom prst="rect">
            <a:avLst/>
          </a:prstGeom>
          <a:noFill/>
        </p:spPr>
        <p:txBody>
          <a:bodyPr wrap="none" rtlCol="0">
            <a:spAutoFit/>
          </a:bodyPr>
          <a:lstStyle/>
          <a:p>
            <a:r>
              <a:rPr lang="en-US" altLang="zh-CN" sz="2000" b="1" dirty="0">
                <a:latin typeface="+mj-lt"/>
                <a:ea typeface="+mj-ea"/>
              </a:rPr>
              <a:t>(1) Spatial*</a:t>
            </a:r>
            <a:r>
              <a:rPr lang="en-US" altLang="zh-CN" sz="2000" b="1" dirty="0" err="1">
                <a:latin typeface="+mj-lt"/>
                <a:ea typeface="+mj-ea"/>
              </a:rPr>
              <a:t>DataFrame</a:t>
            </a:r>
            <a:r>
              <a:rPr lang="zh-CN" altLang="en-US" sz="2000" b="1" dirty="0">
                <a:latin typeface="+mj-lt"/>
                <a:ea typeface="+mj-ea"/>
              </a:rPr>
              <a:t>对象</a:t>
            </a:r>
          </a:p>
        </p:txBody>
      </p:sp>
      <p:sp>
        <p:nvSpPr>
          <p:cNvPr id="3" name="文本框 2">
            <a:extLst>
              <a:ext uri="{FF2B5EF4-FFF2-40B4-BE49-F238E27FC236}">
                <a16:creationId xmlns:a16="http://schemas.microsoft.com/office/drawing/2014/main" id="{71216927-4BF5-935F-3E12-81C004EE0135}"/>
              </a:ext>
            </a:extLst>
          </p:cNvPr>
          <p:cNvSpPr txBox="1"/>
          <p:nvPr/>
        </p:nvSpPr>
        <p:spPr>
          <a:xfrm>
            <a:off x="831407" y="2908610"/>
            <a:ext cx="7481185" cy="1289712"/>
          </a:xfrm>
          <a:prstGeom prst="rect">
            <a:avLst/>
          </a:prstGeom>
          <a:noFill/>
        </p:spPr>
        <p:txBody>
          <a:bodyPr wrap="square" rtlCol="0">
            <a:spAutoFit/>
          </a:bodyPr>
          <a:lstStyle/>
          <a:p>
            <a:pPr>
              <a:lnSpc>
                <a:spcPct val="150000"/>
              </a:lnSpc>
            </a:pPr>
            <a:r>
              <a:rPr lang="zh-CN" altLang="en-US" dirty="0">
                <a:latin typeface="+mj-lt"/>
                <a:ea typeface="+mj-ea"/>
              </a:rPr>
              <a:t>① </a:t>
            </a:r>
            <a:r>
              <a:rPr lang="en-US" altLang="zh-CN" b="1" i="1" dirty="0" err="1">
                <a:latin typeface="+mj-lt"/>
                <a:ea typeface="+mj-ea"/>
              </a:rPr>
              <a:t>gDistance</a:t>
            </a:r>
            <a:r>
              <a:rPr lang="zh-CN" altLang="en-US" b="1" dirty="0">
                <a:latin typeface="+mj-lt"/>
                <a:ea typeface="+mj-ea"/>
              </a:rPr>
              <a:t>函数：</a:t>
            </a:r>
            <a:r>
              <a:rPr lang="zh-CN" altLang="en-US" dirty="0">
                <a:latin typeface="+mj-lt"/>
                <a:ea typeface="+mj-ea"/>
              </a:rPr>
              <a:t>函数包</a:t>
            </a:r>
            <a:r>
              <a:rPr lang="en-US" altLang="zh-CN" b="1" dirty="0" err="1">
                <a:latin typeface="+mj-lt"/>
                <a:ea typeface="+mj-ea"/>
              </a:rPr>
              <a:t>rgeos</a:t>
            </a:r>
            <a:r>
              <a:rPr lang="zh-CN" altLang="en-US" dirty="0">
                <a:latin typeface="+mj-lt"/>
                <a:ea typeface="+mj-ea"/>
              </a:rPr>
              <a:t>提供，用于</a:t>
            </a:r>
            <a:r>
              <a:rPr lang="zh-CN" altLang="en-US" b="1" dirty="0">
                <a:latin typeface="+mj-lt"/>
                <a:ea typeface="+mj-ea"/>
              </a:rPr>
              <a:t>计算空间对象之间的距离</a:t>
            </a:r>
            <a:endParaRPr lang="en-US" altLang="zh-CN" b="1" dirty="0">
              <a:latin typeface="+mj-lt"/>
              <a:ea typeface="+mj-ea"/>
            </a:endParaRPr>
          </a:p>
          <a:p>
            <a:pPr indent="457200">
              <a:lnSpc>
                <a:spcPct val="150000"/>
              </a:lnSpc>
            </a:pPr>
            <a:r>
              <a:rPr lang="zh-CN" altLang="en-US" dirty="0">
                <a:latin typeface="+mj-lt"/>
                <a:ea typeface="+mj-ea"/>
              </a:rPr>
              <a:t>使用投影到</a:t>
            </a:r>
            <a:r>
              <a:rPr lang="en-US" altLang="zh-CN" dirty="0">
                <a:latin typeface="+mj-lt"/>
                <a:ea typeface="+mj-ea"/>
              </a:rPr>
              <a:t>UTM</a:t>
            </a:r>
            <a:r>
              <a:rPr lang="zh-CN" altLang="en-US" dirty="0">
                <a:latin typeface="+mj-lt"/>
                <a:ea typeface="+mj-ea"/>
              </a:rPr>
              <a:t>坐标系的数据，计算</a:t>
            </a:r>
            <a:r>
              <a:rPr lang="en-US" altLang="zh-CN" dirty="0" err="1">
                <a:latin typeface="+mj-lt"/>
                <a:ea typeface="+mj-ea"/>
              </a:rPr>
              <a:t>WHZZQ_sp_utm</a:t>
            </a:r>
            <a:r>
              <a:rPr lang="zh-CN" altLang="en-US" dirty="0">
                <a:latin typeface="+mj-lt"/>
                <a:ea typeface="+mj-ea"/>
              </a:rPr>
              <a:t>数据中</a:t>
            </a:r>
            <a:r>
              <a:rPr lang="en-US" altLang="zh-CN" dirty="0">
                <a:latin typeface="+mj-lt"/>
                <a:ea typeface="+mj-ea"/>
              </a:rPr>
              <a:t>3030</a:t>
            </a:r>
            <a:r>
              <a:rPr lang="zh-CN" altLang="en-US" dirty="0">
                <a:latin typeface="+mj-lt"/>
                <a:ea typeface="+mj-ea"/>
              </a:rPr>
              <a:t>个点之间的距离矩阵：</a:t>
            </a:r>
            <a:endParaRPr lang="en-US" altLang="zh-CN" dirty="0">
              <a:latin typeface="+mj-lt"/>
              <a:ea typeface="+mj-ea"/>
            </a:endParaRPr>
          </a:p>
        </p:txBody>
      </p:sp>
      <p:sp>
        <p:nvSpPr>
          <p:cNvPr id="9" name="文本框 8">
            <a:extLst>
              <a:ext uri="{FF2B5EF4-FFF2-40B4-BE49-F238E27FC236}">
                <a16:creationId xmlns:a16="http://schemas.microsoft.com/office/drawing/2014/main" id="{CF7DCA6D-DE69-71C8-F92B-0D140C8BA00A}"/>
              </a:ext>
            </a:extLst>
          </p:cNvPr>
          <p:cNvSpPr txBox="1"/>
          <p:nvPr/>
        </p:nvSpPr>
        <p:spPr>
          <a:xfrm>
            <a:off x="1181101" y="4229100"/>
            <a:ext cx="5829299" cy="369332"/>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dmat1 &lt;- </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gDistance</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WHZZQ_sp_utm</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byid</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=T)</a:t>
            </a:r>
            <a:endParaRPr lang="zh-CN" altLang="zh-CN" sz="18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381072366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E515B0-DDF7-6311-7983-80479E877D2B}"/>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7BCB741E-6B0A-76EA-E057-37D0D4F5627D}"/>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4.6 </a:t>
            </a:r>
            <a:r>
              <a:rPr lang="zh-CN" altLang="en-US" sz="3600" dirty="0">
                <a:latin typeface="Times New Roman" panose="02020603050405020304" pitchFamily="18" charset="0"/>
                <a:cs typeface="Times New Roman" panose="02020603050405020304" pitchFamily="18" charset="0"/>
              </a:rPr>
              <a:t>基础空间关系分析</a:t>
            </a:r>
          </a:p>
        </p:txBody>
      </p:sp>
      <p:sp>
        <p:nvSpPr>
          <p:cNvPr id="8" name="灯片编号占位符 7">
            <a:extLst>
              <a:ext uri="{FF2B5EF4-FFF2-40B4-BE49-F238E27FC236}">
                <a16:creationId xmlns:a16="http://schemas.microsoft.com/office/drawing/2014/main" id="{AF29A73F-BAAA-67A2-8185-8D8A8341F5C8}"/>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64</a:t>
            </a:fld>
            <a:endParaRPr lang="zh-CN" altLang="en-US" dirty="0">
              <a:solidFill>
                <a:schemeClr val="bg2">
                  <a:lumMod val="75000"/>
                </a:schemeClr>
              </a:solidFill>
            </a:endParaRPr>
          </a:p>
        </p:txBody>
      </p:sp>
      <p:sp>
        <p:nvSpPr>
          <p:cNvPr id="2" name="文本框 1">
            <a:extLst>
              <a:ext uri="{FF2B5EF4-FFF2-40B4-BE49-F238E27FC236}">
                <a16:creationId xmlns:a16="http://schemas.microsoft.com/office/drawing/2014/main" id="{E30DCFEA-CA3F-0FDB-4F0A-3FA4665BBA97}"/>
              </a:ext>
            </a:extLst>
          </p:cNvPr>
          <p:cNvSpPr txBox="1"/>
          <p:nvPr/>
        </p:nvSpPr>
        <p:spPr>
          <a:xfrm>
            <a:off x="609600" y="1450455"/>
            <a:ext cx="3209533" cy="400110"/>
          </a:xfrm>
          <a:prstGeom prst="rect">
            <a:avLst/>
          </a:prstGeom>
          <a:noFill/>
        </p:spPr>
        <p:txBody>
          <a:bodyPr wrap="none" rtlCol="0">
            <a:spAutoFit/>
          </a:bodyPr>
          <a:lstStyle/>
          <a:p>
            <a:r>
              <a:rPr lang="en-US" altLang="zh-CN" sz="2000" b="1" dirty="0">
                <a:latin typeface="+mj-lt"/>
                <a:ea typeface="+mj-ea"/>
              </a:rPr>
              <a:t>(1) Spatial*</a:t>
            </a:r>
            <a:r>
              <a:rPr lang="en-US" altLang="zh-CN" sz="2000" b="1" dirty="0" err="1">
                <a:latin typeface="+mj-lt"/>
                <a:ea typeface="+mj-ea"/>
              </a:rPr>
              <a:t>DataFrame</a:t>
            </a:r>
            <a:r>
              <a:rPr lang="zh-CN" altLang="en-US" sz="2000" b="1" dirty="0">
                <a:latin typeface="+mj-lt"/>
                <a:ea typeface="+mj-ea"/>
              </a:rPr>
              <a:t>对象</a:t>
            </a:r>
          </a:p>
        </p:txBody>
      </p:sp>
      <p:sp>
        <p:nvSpPr>
          <p:cNvPr id="14" name="文本框 13">
            <a:extLst>
              <a:ext uri="{FF2B5EF4-FFF2-40B4-BE49-F238E27FC236}">
                <a16:creationId xmlns:a16="http://schemas.microsoft.com/office/drawing/2014/main" id="{2873EA9D-A6DA-F579-74B6-C20F26DEEC1C}"/>
              </a:ext>
            </a:extLst>
          </p:cNvPr>
          <p:cNvSpPr txBox="1"/>
          <p:nvPr/>
        </p:nvSpPr>
        <p:spPr>
          <a:xfrm>
            <a:off x="831407" y="1860813"/>
            <a:ext cx="7481185" cy="1705210"/>
          </a:xfrm>
          <a:prstGeom prst="rect">
            <a:avLst/>
          </a:prstGeom>
          <a:noFill/>
        </p:spPr>
        <p:txBody>
          <a:bodyPr wrap="square" rtlCol="0">
            <a:spAutoFit/>
          </a:bodyPr>
          <a:lstStyle/>
          <a:p>
            <a:pPr>
              <a:lnSpc>
                <a:spcPct val="150000"/>
              </a:lnSpc>
            </a:pPr>
            <a:r>
              <a:rPr lang="zh-CN" altLang="en-US" dirty="0">
                <a:latin typeface="+mn-lt"/>
                <a:ea typeface="+mn-ea"/>
              </a:rPr>
              <a:t>② </a:t>
            </a:r>
            <a:r>
              <a:rPr lang="en-US" altLang="zh-CN" b="1" i="1" dirty="0" err="1">
                <a:latin typeface="+mn-lt"/>
                <a:ea typeface="+mn-ea"/>
              </a:rPr>
              <a:t>gWithinDistance</a:t>
            </a:r>
            <a:r>
              <a:rPr lang="zh-CN" altLang="en-US" b="1" dirty="0">
                <a:latin typeface="+mn-lt"/>
                <a:ea typeface="+mn-ea"/>
              </a:rPr>
              <a:t>函数：</a:t>
            </a:r>
            <a:r>
              <a:rPr lang="zh-CN" altLang="en-US" dirty="0">
                <a:latin typeface="+mn-lt"/>
                <a:ea typeface="+mn-ea"/>
              </a:rPr>
              <a:t>函数包</a:t>
            </a:r>
            <a:r>
              <a:rPr lang="en-US" altLang="zh-CN" b="1" dirty="0" err="1">
                <a:latin typeface="+mn-lt"/>
                <a:ea typeface="+mn-ea"/>
              </a:rPr>
              <a:t>rgeos</a:t>
            </a:r>
            <a:r>
              <a:rPr lang="zh-CN" altLang="en-US" dirty="0">
                <a:latin typeface="+mn-lt"/>
                <a:ea typeface="+mn-ea"/>
              </a:rPr>
              <a:t>提供，用于</a:t>
            </a:r>
            <a:r>
              <a:rPr lang="zh-CN" altLang="en-US" b="1" dirty="0">
                <a:latin typeface="+mn-lt"/>
                <a:ea typeface="+mn-ea"/>
              </a:rPr>
              <a:t>检验对应空间对象位置是否在一定的距离阈值范围之内</a:t>
            </a:r>
            <a:r>
              <a:rPr lang="zh-CN" altLang="en-US" dirty="0">
                <a:latin typeface="+mn-lt"/>
                <a:ea typeface="+mn-ea"/>
              </a:rPr>
              <a:t>（通过参数</a:t>
            </a:r>
            <a:r>
              <a:rPr lang="en-US" altLang="zh-CN" dirty="0" err="1">
                <a:latin typeface="+mn-lt"/>
                <a:ea typeface="+mn-ea"/>
              </a:rPr>
              <a:t>dist</a:t>
            </a:r>
            <a:r>
              <a:rPr lang="zh-CN" altLang="en-US" dirty="0">
                <a:latin typeface="+mn-lt"/>
                <a:ea typeface="+mn-ea"/>
              </a:rPr>
              <a:t>设定）</a:t>
            </a:r>
            <a:endParaRPr lang="en-US" altLang="zh-CN" dirty="0">
              <a:latin typeface="+mn-lt"/>
              <a:ea typeface="+mn-ea"/>
            </a:endParaRPr>
          </a:p>
          <a:p>
            <a:pPr indent="457200">
              <a:lnSpc>
                <a:spcPct val="150000"/>
              </a:lnSpc>
            </a:pPr>
            <a:r>
              <a:rPr lang="zh-CN" altLang="en-US" dirty="0">
                <a:latin typeface="+mn-lt"/>
                <a:ea typeface="+mn-ea"/>
              </a:rPr>
              <a:t>使用投影到</a:t>
            </a:r>
            <a:r>
              <a:rPr lang="en-US" altLang="zh-CN" dirty="0">
                <a:latin typeface="+mn-lt"/>
                <a:ea typeface="+mn-ea"/>
              </a:rPr>
              <a:t>UTM</a:t>
            </a:r>
            <a:r>
              <a:rPr lang="zh-CN" altLang="en-US" dirty="0">
                <a:latin typeface="+mn-lt"/>
                <a:ea typeface="+mn-ea"/>
              </a:rPr>
              <a:t>坐标系的数据，找到距离武汉市</a:t>
            </a:r>
            <a:r>
              <a:rPr lang="en-US" altLang="zh-CN" dirty="0">
                <a:latin typeface="+mn-lt"/>
                <a:ea typeface="+mn-ea"/>
              </a:rPr>
              <a:t>trunk</a:t>
            </a:r>
            <a:r>
              <a:rPr lang="zh-CN" altLang="en-US" dirty="0">
                <a:latin typeface="+mn-lt"/>
                <a:ea typeface="+mn-ea"/>
              </a:rPr>
              <a:t>类道路不超过</a:t>
            </a:r>
            <a:r>
              <a:rPr lang="en-US" altLang="zh-CN" dirty="0">
                <a:latin typeface="+mn-lt"/>
                <a:ea typeface="+mn-ea"/>
              </a:rPr>
              <a:t>100</a:t>
            </a:r>
            <a:r>
              <a:rPr lang="zh-CN" altLang="en-US" dirty="0">
                <a:latin typeface="+mn-lt"/>
                <a:ea typeface="+mn-ea"/>
              </a:rPr>
              <a:t>米的</a:t>
            </a:r>
            <a:r>
              <a:rPr lang="en-US" altLang="zh-CN" sz="1800" kern="0" dirty="0" err="1">
                <a:effectLst/>
                <a:latin typeface="+mn-lt"/>
                <a:ea typeface="+mn-ea"/>
              </a:rPr>
              <a:t>WHZZQ_hs_sp</a:t>
            </a:r>
            <a:r>
              <a:rPr lang="zh-CN" altLang="en-US" sz="1800" kern="0" dirty="0">
                <a:effectLst/>
                <a:latin typeface="+mn-lt"/>
                <a:ea typeface="+mn-ea"/>
              </a:rPr>
              <a:t>数据点</a:t>
            </a:r>
            <a:r>
              <a:rPr lang="zh-CN" altLang="en-US" dirty="0">
                <a:latin typeface="+mn-lt"/>
                <a:ea typeface="+mn-ea"/>
              </a:rPr>
              <a:t>：</a:t>
            </a:r>
            <a:endParaRPr lang="en-US" altLang="zh-CN" dirty="0">
              <a:latin typeface="+mn-lt"/>
              <a:ea typeface="+mn-ea"/>
            </a:endParaRPr>
          </a:p>
        </p:txBody>
      </p:sp>
      <p:sp>
        <p:nvSpPr>
          <p:cNvPr id="4" name="文本框 3">
            <a:extLst>
              <a:ext uri="{FF2B5EF4-FFF2-40B4-BE49-F238E27FC236}">
                <a16:creationId xmlns:a16="http://schemas.microsoft.com/office/drawing/2014/main" id="{4C84DA63-90FF-1F68-0D28-84D2DDEEFEEF}"/>
              </a:ext>
            </a:extLst>
          </p:cNvPr>
          <p:cNvSpPr txBox="1"/>
          <p:nvPr/>
        </p:nvSpPr>
        <p:spPr>
          <a:xfrm>
            <a:off x="609600" y="3752799"/>
            <a:ext cx="8343900" cy="1569660"/>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dist100 &lt;-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gWithinDistance</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WHZZQ_sp_utm</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WHRD_sp_utm</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dist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100</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byid</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bbox_ZZQ_hs</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bbox</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WHZZQ_sp_utm</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WHRD_sp_utm,xlim</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 c(</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bbox_ZZQ_hs</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bbox_ZZQ_hs</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ylim</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 c(</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bbox_ZZQ_hs</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bbox_ZZQ_hs</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WHZZQ_sp_utm</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as.logical</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(apply(dist100, </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sum)),],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pch</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col=</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"red"</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add=T)</a:t>
            </a:r>
            <a:endParaRPr lang="zh-CN" altLang="zh-CN" sz="16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405095690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E973C-842E-73A9-D874-726D7DCF4D7D}"/>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4EEE16A8-2F0A-CF5A-45DD-9B79456B2512}"/>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4.6 </a:t>
            </a:r>
            <a:r>
              <a:rPr lang="zh-CN" altLang="en-US" sz="3600" dirty="0">
                <a:latin typeface="Times New Roman" panose="02020603050405020304" pitchFamily="18" charset="0"/>
                <a:cs typeface="Times New Roman" panose="02020603050405020304" pitchFamily="18" charset="0"/>
              </a:rPr>
              <a:t>基础空间关系分析</a:t>
            </a:r>
          </a:p>
        </p:txBody>
      </p:sp>
      <p:sp>
        <p:nvSpPr>
          <p:cNvPr id="8" name="灯片编号占位符 7">
            <a:extLst>
              <a:ext uri="{FF2B5EF4-FFF2-40B4-BE49-F238E27FC236}">
                <a16:creationId xmlns:a16="http://schemas.microsoft.com/office/drawing/2014/main" id="{6287C479-064F-5ADE-CF14-7EFC997A6510}"/>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65</a:t>
            </a:fld>
            <a:endParaRPr lang="zh-CN" altLang="en-US" dirty="0">
              <a:solidFill>
                <a:schemeClr val="bg2">
                  <a:lumMod val="75000"/>
                </a:schemeClr>
              </a:solidFill>
            </a:endParaRPr>
          </a:p>
        </p:txBody>
      </p:sp>
      <p:sp>
        <p:nvSpPr>
          <p:cNvPr id="2" name="文本框 1">
            <a:extLst>
              <a:ext uri="{FF2B5EF4-FFF2-40B4-BE49-F238E27FC236}">
                <a16:creationId xmlns:a16="http://schemas.microsoft.com/office/drawing/2014/main" id="{673A3AA1-7884-62DB-E53C-BCE6956838FB}"/>
              </a:ext>
            </a:extLst>
          </p:cNvPr>
          <p:cNvSpPr txBox="1"/>
          <p:nvPr/>
        </p:nvSpPr>
        <p:spPr>
          <a:xfrm>
            <a:off x="609600" y="1450455"/>
            <a:ext cx="3209533" cy="400110"/>
          </a:xfrm>
          <a:prstGeom prst="rect">
            <a:avLst/>
          </a:prstGeom>
          <a:noFill/>
        </p:spPr>
        <p:txBody>
          <a:bodyPr wrap="none" rtlCol="0">
            <a:spAutoFit/>
          </a:bodyPr>
          <a:lstStyle/>
          <a:p>
            <a:r>
              <a:rPr lang="en-US" altLang="zh-CN" sz="2000" b="1" dirty="0">
                <a:latin typeface="+mj-lt"/>
                <a:ea typeface="+mj-ea"/>
              </a:rPr>
              <a:t>(1) Spatial*</a:t>
            </a:r>
            <a:r>
              <a:rPr lang="en-US" altLang="zh-CN" sz="2000" b="1" dirty="0" err="1">
                <a:latin typeface="+mj-lt"/>
                <a:ea typeface="+mj-ea"/>
              </a:rPr>
              <a:t>DataFrame</a:t>
            </a:r>
            <a:r>
              <a:rPr lang="zh-CN" altLang="en-US" sz="2000" b="1" dirty="0">
                <a:latin typeface="+mj-lt"/>
                <a:ea typeface="+mj-ea"/>
              </a:rPr>
              <a:t>对象</a:t>
            </a:r>
          </a:p>
        </p:txBody>
      </p:sp>
      <p:sp>
        <p:nvSpPr>
          <p:cNvPr id="14" name="文本框 13">
            <a:extLst>
              <a:ext uri="{FF2B5EF4-FFF2-40B4-BE49-F238E27FC236}">
                <a16:creationId xmlns:a16="http://schemas.microsoft.com/office/drawing/2014/main" id="{980EE9EE-C3B0-CCB5-2A8C-1FF31C832A9D}"/>
              </a:ext>
            </a:extLst>
          </p:cNvPr>
          <p:cNvSpPr txBox="1"/>
          <p:nvPr/>
        </p:nvSpPr>
        <p:spPr>
          <a:xfrm>
            <a:off x="831407" y="1860813"/>
            <a:ext cx="7481185" cy="1705210"/>
          </a:xfrm>
          <a:prstGeom prst="rect">
            <a:avLst/>
          </a:prstGeom>
          <a:noFill/>
        </p:spPr>
        <p:txBody>
          <a:bodyPr wrap="square" rtlCol="0">
            <a:spAutoFit/>
          </a:bodyPr>
          <a:lstStyle/>
          <a:p>
            <a:pPr>
              <a:lnSpc>
                <a:spcPct val="150000"/>
              </a:lnSpc>
            </a:pPr>
            <a:r>
              <a:rPr lang="zh-CN" altLang="en-US" dirty="0">
                <a:latin typeface="+mn-lt"/>
                <a:ea typeface="+mn-ea"/>
              </a:rPr>
              <a:t>② </a:t>
            </a:r>
            <a:r>
              <a:rPr lang="en-US" altLang="zh-CN" b="1" i="1" dirty="0" err="1">
                <a:latin typeface="+mn-lt"/>
                <a:ea typeface="+mn-ea"/>
              </a:rPr>
              <a:t>gWithinDistance</a:t>
            </a:r>
            <a:r>
              <a:rPr lang="zh-CN" altLang="en-US" b="1" dirty="0">
                <a:latin typeface="+mn-lt"/>
                <a:ea typeface="+mn-ea"/>
              </a:rPr>
              <a:t>函数：</a:t>
            </a:r>
            <a:r>
              <a:rPr lang="zh-CN" altLang="en-US" dirty="0">
                <a:latin typeface="+mn-lt"/>
                <a:ea typeface="+mn-ea"/>
              </a:rPr>
              <a:t>函数包</a:t>
            </a:r>
            <a:r>
              <a:rPr lang="en-US" altLang="zh-CN" b="1" dirty="0" err="1">
                <a:latin typeface="+mn-lt"/>
                <a:ea typeface="+mn-ea"/>
              </a:rPr>
              <a:t>rgeos</a:t>
            </a:r>
            <a:r>
              <a:rPr lang="zh-CN" altLang="en-US" dirty="0">
                <a:latin typeface="+mn-lt"/>
                <a:ea typeface="+mn-ea"/>
              </a:rPr>
              <a:t>提供，用于</a:t>
            </a:r>
            <a:r>
              <a:rPr lang="zh-CN" altLang="en-US" b="1" dirty="0">
                <a:latin typeface="+mn-lt"/>
                <a:ea typeface="+mn-ea"/>
              </a:rPr>
              <a:t>检验对应空间对象位置是否在一定的距离阈值范围之内</a:t>
            </a:r>
            <a:r>
              <a:rPr lang="zh-CN" altLang="en-US" dirty="0">
                <a:latin typeface="+mn-lt"/>
                <a:ea typeface="+mn-ea"/>
              </a:rPr>
              <a:t>（通过参数</a:t>
            </a:r>
            <a:r>
              <a:rPr lang="en-US" altLang="zh-CN" dirty="0" err="1">
                <a:latin typeface="+mn-lt"/>
                <a:ea typeface="+mn-ea"/>
              </a:rPr>
              <a:t>dist</a:t>
            </a:r>
            <a:r>
              <a:rPr lang="zh-CN" altLang="en-US" dirty="0">
                <a:latin typeface="+mn-lt"/>
                <a:ea typeface="+mn-ea"/>
              </a:rPr>
              <a:t>设定）</a:t>
            </a:r>
            <a:endParaRPr lang="en-US" altLang="zh-CN" dirty="0">
              <a:latin typeface="+mn-lt"/>
              <a:ea typeface="+mn-ea"/>
            </a:endParaRPr>
          </a:p>
          <a:p>
            <a:pPr indent="457200">
              <a:lnSpc>
                <a:spcPct val="150000"/>
              </a:lnSpc>
            </a:pPr>
            <a:r>
              <a:rPr lang="zh-CN" altLang="en-US" dirty="0">
                <a:latin typeface="+mn-lt"/>
                <a:ea typeface="+mn-ea"/>
              </a:rPr>
              <a:t>使用投影到</a:t>
            </a:r>
            <a:r>
              <a:rPr lang="en-US" altLang="zh-CN" dirty="0">
                <a:latin typeface="+mn-lt"/>
                <a:ea typeface="+mn-ea"/>
              </a:rPr>
              <a:t>UTM</a:t>
            </a:r>
            <a:r>
              <a:rPr lang="zh-CN" altLang="en-US" dirty="0">
                <a:latin typeface="+mn-lt"/>
                <a:ea typeface="+mn-ea"/>
              </a:rPr>
              <a:t>坐标系的数据，找到距离武汉市</a:t>
            </a:r>
            <a:r>
              <a:rPr lang="en-US" altLang="zh-CN" dirty="0">
                <a:latin typeface="+mn-lt"/>
                <a:ea typeface="+mn-ea"/>
              </a:rPr>
              <a:t>trunk</a:t>
            </a:r>
            <a:r>
              <a:rPr lang="zh-CN" altLang="en-US" dirty="0">
                <a:latin typeface="+mn-lt"/>
                <a:ea typeface="+mn-ea"/>
              </a:rPr>
              <a:t>类道路不超过</a:t>
            </a:r>
            <a:r>
              <a:rPr lang="en-US" altLang="zh-CN" dirty="0">
                <a:latin typeface="+mn-lt"/>
                <a:ea typeface="+mn-ea"/>
              </a:rPr>
              <a:t>100</a:t>
            </a:r>
            <a:r>
              <a:rPr lang="zh-CN" altLang="en-US" dirty="0">
                <a:latin typeface="+mn-lt"/>
                <a:ea typeface="+mn-ea"/>
              </a:rPr>
              <a:t>米的</a:t>
            </a:r>
            <a:r>
              <a:rPr lang="en-US" altLang="zh-CN" sz="1800" kern="0" dirty="0" err="1">
                <a:effectLst/>
                <a:latin typeface="+mn-lt"/>
                <a:ea typeface="+mn-ea"/>
              </a:rPr>
              <a:t>WHZZQ_hs_sp</a:t>
            </a:r>
            <a:r>
              <a:rPr lang="zh-CN" altLang="en-US" sz="1800" kern="0" dirty="0">
                <a:effectLst/>
                <a:latin typeface="+mn-lt"/>
                <a:ea typeface="+mn-ea"/>
              </a:rPr>
              <a:t>数据点</a:t>
            </a:r>
            <a:r>
              <a:rPr lang="zh-CN" altLang="en-US" dirty="0">
                <a:latin typeface="+mn-lt"/>
                <a:ea typeface="+mn-ea"/>
              </a:rPr>
              <a:t>：</a:t>
            </a:r>
            <a:endParaRPr lang="en-US" altLang="zh-CN" dirty="0">
              <a:latin typeface="+mn-lt"/>
              <a:ea typeface="+mn-ea"/>
            </a:endParaRPr>
          </a:p>
        </p:txBody>
      </p:sp>
      <p:pic>
        <p:nvPicPr>
          <p:cNvPr id="3" name="图片 2">
            <a:extLst>
              <a:ext uri="{FF2B5EF4-FFF2-40B4-BE49-F238E27FC236}">
                <a16:creationId xmlns:a16="http://schemas.microsoft.com/office/drawing/2014/main" id="{5E3CFFBC-E197-63F7-A875-4EBF9116DA33}"/>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34845" y="3693539"/>
            <a:ext cx="5274310" cy="2414270"/>
          </a:xfrm>
          <a:prstGeom prst="rect">
            <a:avLst/>
          </a:prstGeom>
          <a:ln>
            <a:noFill/>
          </a:ln>
          <a:effectLst>
            <a:outerShdw blurRad="190500" algn="tl" rotWithShape="0">
              <a:srgbClr val="000000">
                <a:alpha val="70000"/>
              </a:srgbClr>
            </a:outerShdw>
          </a:effectLst>
        </p:spPr>
      </p:pic>
      <p:sp>
        <p:nvSpPr>
          <p:cNvPr id="4" name="文本框 3">
            <a:extLst>
              <a:ext uri="{FF2B5EF4-FFF2-40B4-BE49-F238E27FC236}">
                <a16:creationId xmlns:a16="http://schemas.microsoft.com/office/drawing/2014/main" id="{6ABB59AF-4466-92F5-F20A-522B0FCB2F10}"/>
              </a:ext>
            </a:extLst>
          </p:cNvPr>
          <p:cNvSpPr txBox="1"/>
          <p:nvPr/>
        </p:nvSpPr>
        <p:spPr>
          <a:xfrm>
            <a:off x="2965363" y="6235325"/>
            <a:ext cx="3213274" cy="523220"/>
          </a:xfrm>
          <a:prstGeom prst="rect">
            <a:avLst/>
          </a:prstGeom>
          <a:noFill/>
        </p:spPr>
        <p:txBody>
          <a:bodyPr wrap="square" rtlCol="0">
            <a:spAutoFit/>
          </a:bodyPr>
          <a:lstStyle/>
          <a:p>
            <a:pPr algn="ctr"/>
            <a:r>
              <a:rPr lang="zh-CN" altLang="en-US" sz="1400" kern="0" dirty="0">
                <a:effectLst/>
                <a:latin typeface="+mj-lt"/>
                <a:ea typeface="+mj-ea"/>
              </a:rPr>
              <a:t>距离武汉市</a:t>
            </a:r>
            <a:r>
              <a:rPr lang="en-US" altLang="zh-CN" sz="1400" kern="0" dirty="0">
                <a:effectLst/>
                <a:latin typeface="+mj-lt"/>
                <a:ea typeface="+mj-ea"/>
              </a:rPr>
              <a:t>trunk</a:t>
            </a:r>
            <a:r>
              <a:rPr lang="zh-CN" altLang="en-US" sz="1400" kern="0" dirty="0">
                <a:effectLst/>
                <a:latin typeface="+mj-lt"/>
                <a:ea typeface="+mj-ea"/>
              </a:rPr>
              <a:t>类道路距离不超过</a:t>
            </a:r>
            <a:r>
              <a:rPr lang="en-US" altLang="zh-CN" sz="1400" kern="0" dirty="0">
                <a:effectLst/>
                <a:latin typeface="+mj-lt"/>
                <a:ea typeface="+mj-ea"/>
              </a:rPr>
              <a:t>100</a:t>
            </a:r>
            <a:r>
              <a:rPr lang="zh-CN" altLang="en-US" sz="1400" kern="0" dirty="0">
                <a:effectLst/>
                <a:latin typeface="+mj-lt"/>
                <a:ea typeface="+mj-ea"/>
              </a:rPr>
              <a:t>米的</a:t>
            </a:r>
            <a:r>
              <a:rPr lang="en-US" altLang="zh-CN" sz="1400" kern="0" dirty="0" err="1">
                <a:effectLst/>
                <a:latin typeface="+mj-lt"/>
                <a:ea typeface="+mj-ea"/>
              </a:rPr>
              <a:t>WHZZQ_hs_sp</a:t>
            </a:r>
            <a:r>
              <a:rPr lang="zh-CN" altLang="en-US" sz="1400" kern="0" dirty="0">
                <a:effectLst/>
                <a:latin typeface="+mj-lt"/>
                <a:ea typeface="+mj-ea"/>
              </a:rPr>
              <a:t>数据点</a:t>
            </a:r>
            <a:endParaRPr lang="zh-CN" altLang="en-US" sz="1100" dirty="0">
              <a:latin typeface="+mj-lt"/>
              <a:ea typeface="+mj-ea"/>
            </a:endParaRPr>
          </a:p>
        </p:txBody>
      </p:sp>
    </p:spTree>
    <p:extLst>
      <p:ext uri="{BB962C8B-B14F-4D97-AF65-F5344CB8AC3E}">
        <p14:creationId xmlns:p14="http://schemas.microsoft.com/office/powerpoint/2010/main" val="380213507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CE953-FFD8-F0C4-4672-5A93B0DE0B51}"/>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03DD9DDD-8498-C26B-2EBE-F2B1D2CFDCB3}"/>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4.6 </a:t>
            </a:r>
            <a:r>
              <a:rPr lang="zh-CN" altLang="en-US" sz="3600" dirty="0">
                <a:latin typeface="Times New Roman" panose="02020603050405020304" pitchFamily="18" charset="0"/>
                <a:cs typeface="Times New Roman" panose="02020603050405020304" pitchFamily="18" charset="0"/>
              </a:rPr>
              <a:t>基础空间关系分析</a:t>
            </a:r>
          </a:p>
        </p:txBody>
      </p:sp>
      <p:sp>
        <p:nvSpPr>
          <p:cNvPr id="8" name="灯片编号占位符 7">
            <a:extLst>
              <a:ext uri="{FF2B5EF4-FFF2-40B4-BE49-F238E27FC236}">
                <a16:creationId xmlns:a16="http://schemas.microsoft.com/office/drawing/2014/main" id="{6B26CFAC-2A51-DBFA-C8EF-421A13A7924E}"/>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66</a:t>
            </a:fld>
            <a:endParaRPr lang="zh-CN" altLang="en-US" dirty="0">
              <a:solidFill>
                <a:schemeClr val="bg2">
                  <a:lumMod val="75000"/>
                </a:schemeClr>
              </a:solidFill>
            </a:endParaRPr>
          </a:p>
        </p:txBody>
      </p:sp>
      <p:sp>
        <p:nvSpPr>
          <p:cNvPr id="2" name="文本框 1">
            <a:extLst>
              <a:ext uri="{FF2B5EF4-FFF2-40B4-BE49-F238E27FC236}">
                <a16:creationId xmlns:a16="http://schemas.microsoft.com/office/drawing/2014/main" id="{BD648EF8-DB97-A793-7106-704D4CD09FB2}"/>
              </a:ext>
            </a:extLst>
          </p:cNvPr>
          <p:cNvSpPr txBox="1"/>
          <p:nvPr/>
        </p:nvSpPr>
        <p:spPr>
          <a:xfrm>
            <a:off x="609600" y="1320001"/>
            <a:ext cx="3209533" cy="400110"/>
          </a:xfrm>
          <a:prstGeom prst="rect">
            <a:avLst/>
          </a:prstGeom>
          <a:noFill/>
        </p:spPr>
        <p:txBody>
          <a:bodyPr wrap="none" rtlCol="0">
            <a:spAutoFit/>
          </a:bodyPr>
          <a:lstStyle/>
          <a:p>
            <a:r>
              <a:rPr lang="en-US" altLang="zh-CN" sz="2000" b="1" dirty="0">
                <a:latin typeface="+mj-lt"/>
                <a:ea typeface="+mj-ea"/>
              </a:rPr>
              <a:t>(1) Spatial*</a:t>
            </a:r>
            <a:r>
              <a:rPr lang="en-US" altLang="zh-CN" sz="2000" b="1" dirty="0" err="1">
                <a:latin typeface="+mj-lt"/>
                <a:ea typeface="+mj-ea"/>
              </a:rPr>
              <a:t>DataFrame</a:t>
            </a:r>
            <a:r>
              <a:rPr lang="zh-CN" altLang="en-US" sz="2000" b="1" dirty="0">
                <a:latin typeface="+mj-lt"/>
                <a:ea typeface="+mj-ea"/>
              </a:rPr>
              <a:t>对象</a:t>
            </a:r>
          </a:p>
        </p:txBody>
      </p:sp>
      <p:sp>
        <p:nvSpPr>
          <p:cNvPr id="14" name="文本框 13">
            <a:extLst>
              <a:ext uri="{FF2B5EF4-FFF2-40B4-BE49-F238E27FC236}">
                <a16:creationId xmlns:a16="http://schemas.microsoft.com/office/drawing/2014/main" id="{C81F6983-7639-D9FC-ADF4-29D2CAC3C567}"/>
              </a:ext>
            </a:extLst>
          </p:cNvPr>
          <p:cNvSpPr txBox="1"/>
          <p:nvPr/>
        </p:nvSpPr>
        <p:spPr>
          <a:xfrm>
            <a:off x="831407" y="1730359"/>
            <a:ext cx="7481185" cy="1705210"/>
          </a:xfrm>
          <a:prstGeom prst="rect">
            <a:avLst/>
          </a:prstGeom>
          <a:noFill/>
        </p:spPr>
        <p:txBody>
          <a:bodyPr wrap="square" rtlCol="0">
            <a:spAutoFit/>
          </a:bodyPr>
          <a:lstStyle/>
          <a:p>
            <a:pPr>
              <a:lnSpc>
                <a:spcPct val="150000"/>
              </a:lnSpc>
            </a:pPr>
            <a:r>
              <a:rPr lang="zh-CN" altLang="en-US" dirty="0">
                <a:latin typeface="+mn-lt"/>
                <a:ea typeface="+mn-ea"/>
              </a:rPr>
              <a:t>③ </a:t>
            </a:r>
            <a:r>
              <a:rPr lang="en-US" altLang="zh-CN" b="1" i="1" dirty="0" err="1">
                <a:latin typeface="+mn-lt"/>
                <a:ea typeface="+mn-ea"/>
              </a:rPr>
              <a:t>gNearestPoints</a:t>
            </a:r>
            <a:r>
              <a:rPr lang="zh-CN" altLang="en-US" b="1" dirty="0">
                <a:latin typeface="+mn-lt"/>
                <a:ea typeface="+mn-ea"/>
              </a:rPr>
              <a:t>函数：</a:t>
            </a:r>
            <a:r>
              <a:rPr lang="zh-CN" altLang="en-US" dirty="0">
                <a:latin typeface="+mn-lt"/>
                <a:ea typeface="+mn-ea"/>
              </a:rPr>
              <a:t>函数包</a:t>
            </a:r>
            <a:r>
              <a:rPr lang="en-US" altLang="zh-CN" b="1" dirty="0" err="1">
                <a:latin typeface="+mn-lt"/>
                <a:ea typeface="+mn-ea"/>
              </a:rPr>
              <a:t>rgeos</a:t>
            </a:r>
            <a:r>
              <a:rPr lang="zh-CN" altLang="en-US" dirty="0">
                <a:latin typeface="+mn-lt"/>
                <a:ea typeface="+mn-ea"/>
              </a:rPr>
              <a:t>提供，当</a:t>
            </a:r>
            <a:r>
              <a:rPr lang="en-US" altLang="zh-CN" b="1" i="1" dirty="0" err="1">
                <a:latin typeface="+mn-lt"/>
                <a:ea typeface="+mn-ea"/>
              </a:rPr>
              <a:t>gDistance</a:t>
            </a:r>
            <a:r>
              <a:rPr lang="zh-CN" altLang="en-US" dirty="0">
                <a:latin typeface="+mn-lt"/>
                <a:ea typeface="+mn-ea"/>
              </a:rPr>
              <a:t>和</a:t>
            </a:r>
            <a:r>
              <a:rPr lang="en-US" altLang="zh-CN" b="1" i="1" dirty="0" err="1">
                <a:latin typeface="+mn-lt"/>
                <a:ea typeface="+mn-ea"/>
              </a:rPr>
              <a:t>gWithinDistance</a:t>
            </a:r>
            <a:r>
              <a:rPr lang="zh-CN" altLang="en-US" dirty="0">
                <a:latin typeface="+mn-lt"/>
                <a:ea typeface="+mn-ea"/>
              </a:rPr>
              <a:t>函数中的参数</a:t>
            </a:r>
            <a:r>
              <a:rPr lang="en-US" altLang="zh-CN" dirty="0" err="1">
                <a:latin typeface="+mn-lt"/>
                <a:ea typeface="+mn-ea"/>
              </a:rPr>
              <a:t>byid</a:t>
            </a:r>
            <a:r>
              <a:rPr lang="zh-CN" altLang="en-US" dirty="0">
                <a:latin typeface="+mn-lt"/>
                <a:ea typeface="+mn-ea"/>
              </a:rPr>
              <a:t>为</a:t>
            </a:r>
            <a:r>
              <a:rPr lang="en-US" altLang="zh-CN" dirty="0">
                <a:latin typeface="+mn-lt"/>
                <a:ea typeface="+mn-ea"/>
              </a:rPr>
              <a:t>FALSE</a:t>
            </a:r>
            <a:r>
              <a:rPr lang="zh-CN" altLang="en-US" dirty="0">
                <a:latin typeface="+mn-lt"/>
                <a:ea typeface="+mn-ea"/>
              </a:rPr>
              <a:t>时，计算距离的准则为两个输入空间对象整体之间的距离，即最临近点之间的距离，此时，可以使用该函数</a:t>
            </a:r>
            <a:r>
              <a:rPr lang="zh-CN" altLang="en-US" b="1" dirty="0">
                <a:latin typeface="+mn-lt"/>
                <a:ea typeface="+mn-ea"/>
              </a:rPr>
              <a:t>查看两个空间对象之间的最临近的两个点</a:t>
            </a:r>
            <a:r>
              <a:rPr lang="zh-CN" altLang="en-US" dirty="0">
                <a:latin typeface="+mn-lt"/>
                <a:ea typeface="+mn-ea"/>
              </a:rPr>
              <a:t>。</a:t>
            </a:r>
            <a:endParaRPr lang="en-US" altLang="zh-CN" dirty="0">
              <a:latin typeface="+mn-lt"/>
              <a:ea typeface="+mn-ea"/>
            </a:endParaRPr>
          </a:p>
        </p:txBody>
      </p:sp>
      <p:sp>
        <p:nvSpPr>
          <p:cNvPr id="5" name="文本框 4">
            <a:extLst>
              <a:ext uri="{FF2B5EF4-FFF2-40B4-BE49-F238E27FC236}">
                <a16:creationId xmlns:a16="http://schemas.microsoft.com/office/drawing/2014/main" id="{C3360EC9-CA06-AE07-FDA9-765DB6574441}"/>
              </a:ext>
            </a:extLst>
          </p:cNvPr>
          <p:cNvSpPr txBox="1"/>
          <p:nvPr/>
        </p:nvSpPr>
        <p:spPr>
          <a:xfrm>
            <a:off x="400049" y="3581400"/>
            <a:ext cx="8343900" cy="2308324"/>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l1 &lt;- Line(</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cbind</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8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8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dirty="0">
              <a:effectLst/>
              <a:latin typeface="Times New Roman" panose="02020603050405020304" pitchFamily="18" charset="0"/>
              <a:ea typeface="宋体" panose="02010600030101010101" pitchFamily="2" charset="-122"/>
            </a:endParaRPr>
          </a:p>
          <a:p>
            <a:pPr indent="127000" algn="l">
              <a:buNone/>
            </a:pP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S1 = </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SpatialLines</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list</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(Lines(</a:t>
            </a:r>
            <a:r>
              <a:rPr lang="en-US" altLang="zh-CN" sz="18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list</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(l1), ID=</a:t>
            </a:r>
            <a:r>
              <a:rPr lang="en-US" altLang="zh-CN" sz="18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dirty="0">
              <a:effectLst/>
              <a:latin typeface="Times New Roman" panose="02020603050405020304" pitchFamily="18" charset="0"/>
              <a:ea typeface="宋体" panose="02010600030101010101" pitchFamily="2" charset="-122"/>
            </a:endParaRPr>
          </a:p>
          <a:p>
            <a:pPr indent="127000" algn="l">
              <a:buNone/>
            </a:pP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Poly1 = Polygon(</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cbind</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8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8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5</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dirty="0">
              <a:effectLst/>
              <a:latin typeface="Times New Roman" panose="02020603050405020304" pitchFamily="18" charset="0"/>
              <a:ea typeface="宋体" panose="02010600030101010101" pitchFamily="2" charset="-122"/>
            </a:endParaRPr>
          </a:p>
          <a:p>
            <a:pPr indent="127000" algn="l">
              <a:buNone/>
            </a:pP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Polys1 = </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SpatialPolygons</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list</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(Polygons(</a:t>
            </a:r>
            <a:r>
              <a:rPr lang="en-US" altLang="zh-CN" sz="18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list</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(Poly1), </a:t>
            </a:r>
            <a:r>
              <a:rPr lang="en-US" altLang="zh-CN" sz="18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"s1"</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dirty="0">
              <a:effectLst/>
              <a:latin typeface="Times New Roman" panose="02020603050405020304" pitchFamily="18" charset="0"/>
              <a:ea typeface="宋体" panose="02010600030101010101" pitchFamily="2" charset="-122"/>
            </a:endParaRPr>
          </a:p>
          <a:p>
            <a:pPr indent="127000" algn="l">
              <a:buNone/>
            </a:pP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plot(S1, col=</a:t>
            </a:r>
            <a:r>
              <a:rPr lang="en-US" altLang="zh-CN" sz="18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"blue"</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xlim</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8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ylim</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8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5</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dirty="0">
              <a:effectLst/>
              <a:latin typeface="Times New Roman" panose="02020603050405020304" pitchFamily="18" charset="0"/>
              <a:ea typeface="宋体" panose="02010600030101010101" pitchFamily="2" charset="-122"/>
            </a:endParaRPr>
          </a:p>
          <a:p>
            <a:pPr indent="127000" algn="l">
              <a:buNone/>
            </a:pP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plot(Polys1, add=T)</a:t>
            </a:r>
            <a:endParaRPr lang="zh-CN" altLang="zh-CN" sz="1800" dirty="0">
              <a:effectLst/>
              <a:latin typeface="Times New Roman" panose="02020603050405020304" pitchFamily="18" charset="0"/>
              <a:ea typeface="宋体" panose="02010600030101010101" pitchFamily="2" charset="-122"/>
            </a:endParaRPr>
          </a:p>
          <a:p>
            <a:pPr indent="127000" algn="l">
              <a:buNone/>
            </a:pP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gNearestPoints</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(S1, Polys1), add=</a:t>
            </a:r>
            <a:r>
              <a:rPr lang="en-US" altLang="zh-CN" sz="18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TRUE</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col=</a:t>
            </a:r>
            <a:r>
              <a:rPr lang="en-US" altLang="zh-CN" sz="18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"red"</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pch</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7</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dirty="0">
              <a:effectLst/>
              <a:latin typeface="Times New Roman" panose="02020603050405020304" pitchFamily="18" charset="0"/>
              <a:ea typeface="宋体" panose="02010600030101010101" pitchFamily="2" charset="-122"/>
            </a:endParaRPr>
          </a:p>
          <a:p>
            <a:pPr indent="127000" algn="l"/>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lines(coordinates(</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gNearestPoints</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(S1, Polys1)), col=</a:t>
            </a:r>
            <a:r>
              <a:rPr lang="en-US" altLang="zh-CN" sz="18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"red"</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lty</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206761178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6FAC9-2B53-DF20-D12B-AF72CD24EE05}"/>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B737ACDA-3459-89B2-C15D-61F9AE7A7508}"/>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4.6 </a:t>
            </a:r>
            <a:r>
              <a:rPr lang="zh-CN" altLang="en-US" sz="3600" dirty="0">
                <a:latin typeface="Times New Roman" panose="02020603050405020304" pitchFamily="18" charset="0"/>
                <a:cs typeface="Times New Roman" panose="02020603050405020304" pitchFamily="18" charset="0"/>
              </a:rPr>
              <a:t>基础空间关系分析</a:t>
            </a:r>
          </a:p>
        </p:txBody>
      </p:sp>
      <p:sp>
        <p:nvSpPr>
          <p:cNvPr id="8" name="灯片编号占位符 7">
            <a:extLst>
              <a:ext uri="{FF2B5EF4-FFF2-40B4-BE49-F238E27FC236}">
                <a16:creationId xmlns:a16="http://schemas.microsoft.com/office/drawing/2014/main" id="{94E7D323-B2F9-553F-5192-D3CC49189DB0}"/>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67</a:t>
            </a:fld>
            <a:endParaRPr lang="zh-CN" altLang="en-US" dirty="0">
              <a:solidFill>
                <a:schemeClr val="bg2">
                  <a:lumMod val="75000"/>
                </a:schemeClr>
              </a:solidFill>
            </a:endParaRPr>
          </a:p>
        </p:txBody>
      </p:sp>
      <p:sp>
        <p:nvSpPr>
          <p:cNvPr id="2" name="文本框 1">
            <a:extLst>
              <a:ext uri="{FF2B5EF4-FFF2-40B4-BE49-F238E27FC236}">
                <a16:creationId xmlns:a16="http://schemas.microsoft.com/office/drawing/2014/main" id="{9DE055A3-0834-73FD-E0AE-B767C93DC5C4}"/>
              </a:ext>
            </a:extLst>
          </p:cNvPr>
          <p:cNvSpPr txBox="1"/>
          <p:nvPr/>
        </p:nvSpPr>
        <p:spPr>
          <a:xfrm>
            <a:off x="609600" y="1320001"/>
            <a:ext cx="3209533" cy="400110"/>
          </a:xfrm>
          <a:prstGeom prst="rect">
            <a:avLst/>
          </a:prstGeom>
          <a:noFill/>
        </p:spPr>
        <p:txBody>
          <a:bodyPr wrap="none" rtlCol="0">
            <a:spAutoFit/>
          </a:bodyPr>
          <a:lstStyle/>
          <a:p>
            <a:r>
              <a:rPr lang="en-US" altLang="zh-CN" sz="2000" b="1" dirty="0">
                <a:latin typeface="+mj-lt"/>
                <a:ea typeface="+mj-ea"/>
              </a:rPr>
              <a:t>(1) Spatial*</a:t>
            </a:r>
            <a:r>
              <a:rPr lang="en-US" altLang="zh-CN" sz="2000" b="1" dirty="0" err="1">
                <a:latin typeface="+mj-lt"/>
                <a:ea typeface="+mj-ea"/>
              </a:rPr>
              <a:t>DataFrame</a:t>
            </a:r>
            <a:r>
              <a:rPr lang="zh-CN" altLang="en-US" sz="2000" b="1" dirty="0">
                <a:latin typeface="+mj-lt"/>
                <a:ea typeface="+mj-ea"/>
              </a:rPr>
              <a:t>对象</a:t>
            </a:r>
          </a:p>
        </p:txBody>
      </p:sp>
      <p:sp>
        <p:nvSpPr>
          <p:cNvPr id="14" name="文本框 13">
            <a:extLst>
              <a:ext uri="{FF2B5EF4-FFF2-40B4-BE49-F238E27FC236}">
                <a16:creationId xmlns:a16="http://schemas.microsoft.com/office/drawing/2014/main" id="{465ADC92-5C2F-B93A-EBFB-55CF84E99511}"/>
              </a:ext>
            </a:extLst>
          </p:cNvPr>
          <p:cNvSpPr txBox="1"/>
          <p:nvPr/>
        </p:nvSpPr>
        <p:spPr>
          <a:xfrm>
            <a:off x="831407" y="1730359"/>
            <a:ext cx="7481185" cy="1705210"/>
          </a:xfrm>
          <a:prstGeom prst="rect">
            <a:avLst/>
          </a:prstGeom>
          <a:noFill/>
        </p:spPr>
        <p:txBody>
          <a:bodyPr wrap="square" rtlCol="0">
            <a:spAutoFit/>
          </a:bodyPr>
          <a:lstStyle/>
          <a:p>
            <a:pPr>
              <a:lnSpc>
                <a:spcPct val="150000"/>
              </a:lnSpc>
            </a:pPr>
            <a:r>
              <a:rPr lang="zh-CN" altLang="en-US" dirty="0">
                <a:latin typeface="+mn-lt"/>
                <a:ea typeface="+mn-ea"/>
              </a:rPr>
              <a:t>③ </a:t>
            </a:r>
            <a:r>
              <a:rPr lang="en-US" altLang="zh-CN" b="1" i="1" dirty="0" err="1">
                <a:latin typeface="+mn-lt"/>
                <a:ea typeface="+mn-ea"/>
              </a:rPr>
              <a:t>gNearestPoints</a:t>
            </a:r>
            <a:r>
              <a:rPr lang="zh-CN" altLang="en-US" b="1" dirty="0">
                <a:latin typeface="+mn-lt"/>
                <a:ea typeface="+mn-ea"/>
              </a:rPr>
              <a:t>函数：</a:t>
            </a:r>
            <a:r>
              <a:rPr lang="zh-CN" altLang="en-US" dirty="0">
                <a:latin typeface="+mn-lt"/>
                <a:ea typeface="+mn-ea"/>
              </a:rPr>
              <a:t>函数包</a:t>
            </a:r>
            <a:r>
              <a:rPr lang="en-US" altLang="zh-CN" b="1" dirty="0" err="1">
                <a:latin typeface="+mn-lt"/>
                <a:ea typeface="+mn-ea"/>
              </a:rPr>
              <a:t>rgeos</a:t>
            </a:r>
            <a:r>
              <a:rPr lang="zh-CN" altLang="en-US" dirty="0">
                <a:latin typeface="+mn-lt"/>
                <a:ea typeface="+mn-ea"/>
              </a:rPr>
              <a:t>提供，当</a:t>
            </a:r>
            <a:r>
              <a:rPr lang="en-US" altLang="zh-CN" b="1" i="1" dirty="0" err="1">
                <a:latin typeface="+mn-lt"/>
                <a:ea typeface="+mn-ea"/>
              </a:rPr>
              <a:t>gDistance</a:t>
            </a:r>
            <a:r>
              <a:rPr lang="zh-CN" altLang="en-US" dirty="0">
                <a:latin typeface="+mn-lt"/>
                <a:ea typeface="+mn-ea"/>
              </a:rPr>
              <a:t>和</a:t>
            </a:r>
            <a:r>
              <a:rPr lang="en-US" altLang="zh-CN" b="1" i="1" dirty="0" err="1">
                <a:latin typeface="+mn-lt"/>
                <a:ea typeface="+mn-ea"/>
              </a:rPr>
              <a:t>gWithinDistance</a:t>
            </a:r>
            <a:r>
              <a:rPr lang="zh-CN" altLang="en-US" dirty="0">
                <a:latin typeface="+mn-lt"/>
                <a:ea typeface="+mn-ea"/>
              </a:rPr>
              <a:t>函数中的参数</a:t>
            </a:r>
            <a:r>
              <a:rPr lang="en-US" altLang="zh-CN" dirty="0" err="1">
                <a:latin typeface="+mn-lt"/>
                <a:ea typeface="+mn-ea"/>
              </a:rPr>
              <a:t>byid</a:t>
            </a:r>
            <a:r>
              <a:rPr lang="zh-CN" altLang="en-US" dirty="0">
                <a:latin typeface="+mn-lt"/>
                <a:ea typeface="+mn-ea"/>
              </a:rPr>
              <a:t>为</a:t>
            </a:r>
            <a:r>
              <a:rPr lang="en-US" altLang="zh-CN" dirty="0">
                <a:latin typeface="+mn-lt"/>
                <a:ea typeface="+mn-ea"/>
              </a:rPr>
              <a:t>FALSE</a:t>
            </a:r>
            <a:r>
              <a:rPr lang="zh-CN" altLang="en-US" dirty="0">
                <a:latin typeface="+mn-lt"/>
                <a:ea typeface="+mn-ea"/>
              </a:rPr>
              <a:t>时，计算距离的准则为两个输入空间对象整体之间的距离，即最临近点之间的距离，此时，可以使用该函数</a:t>
            </a:r>
            <a:r>
              <a:rPr lang="zh-CN" altLang="en-US" b="1" dirty="0">
                <a:latin typeface="+mn-lt"/>
                <a:ea typeface="+mn-ea"/>
              </a:rPr>
              <a:t>查看两个空间对象之间的最临近的两个点</a:t>
            </a:r>
            <a:r>
              <a:rPr lang="zh-CN" altLang="en-US" dirty="0">
                <a:latin typeface="+mn-lt"/>
                <a:ea typeface="+mn-ea"/>
              </a:rPr>
              <a:t>。</a:t>
            </a:r>
            <a:endParaRPr lang="en-US" altLang="zh-CN" dirty="0">
              <a:latin typeface="+mn-lt"/>
              <a:ea typeface="+mn-ea"/>
            </a:endParaRPr>
          </a:p>
        </p:txBody>
      </p:sp>
      <p:pic>
        <p:nvPicPr>
          <p:cNvPr id="3" name="图片 2">
            <a:extLst>
              <a:ext uri="{FF2B5EF4-FFF2-40B4-BE49-F238E27FC236}">
                <a16:creationId xmlns:a16="http://schemas.microsoft.com/office/drawing/2014/main" id="{D5F5674F-BB98-6A8C-A423-3AC589BBEED3}"/>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29805" y="3621012"/>
            <a:ext cx="2684387" cy="2632075"/>
          </a:xfrm>
          <a:prstGeom prst="rect">
            <a:avLst/>
          </a:prstGeom>
          <a:ln>
            <a:noFill/>
          </a:ln>
          <a:effectLst>
            <a:outerShdw blurRad="190500" algn="tl" rotWithShape="0">
              <a:srgbClr val="000000">
                <a:alpha val="70000"/>
              </a:srgbClr>
            </a:outerShdw>
          </a:effectLst>
        </p:spPr>
      </p:pic>
      <p:sp>
        <p:nvSpPr>
          <p:cNvPr id="4" name="文本框 3">
            <a:extLst>
              <a:ext uri="{FF2B5EF4-FFF2-40B4-BE49-F238E27FC236}">
                <a16:creationId xmlns:a16="http://schemas.microsoft.com/office/drawing/2014/main" id="{34F1A6D4-AE52-3A5A-73F5-2946CBB3F53E}"/>
              </a:ext>
            </a:extLst>
          </p:cNvPr>
          <p:cNvSpPr txBox="1"/>
          <p:nvPr/>
        </p:nvSpPr>
        <p:spPr>
          <a:xfrm>
            <a:off x="2130379" y="6361211"/>
            <a:ext cx="4883237" cy="307777"/>
          </a:xfrm>
          <a:prstGeom prst="rect">
            <a:avLst/>
          </a:prstGeom>
          <a:noFill/>
        </p:spPr>
        <p:txBody>
          <a:bodyPr wrap="square" rtlCol="0">
            <a:spAutoFit/>
          </a:bodyPr>
          <a:lstStyle/>
          <a:p>
            <a:pPr algn="ctr"/>
            <a:r>
              <a:rPr lang="en-US" altLang="zh-CN" sz="1400" i="1" kern="0" dirty="0" err="1">
                <a:effectLst/>
                <a:latin typeface="+mj-lt"/>
                <a:ea typeface="+mj-ea"/>
              </a:rPr>
              <a:t>gNearestPoints</a:t>
            </a:r>
            <a:r>
              <a:rPr lang="zh-CN" altLang="en-US" sz="1400" kern="0" dirty="0">
                <a:effectLst/>
                <a:latin typeface="+mj-lt"/>
                <a:ea typeface="+mj-ea"/>
              </a:rPr>
              <a:t>函数返回空间对象间的最临近点结果</a:t>
            </a:r>
            <a:endParaRPr lang="zh-CN" altLang="en-US" sz="1100" dirty="0">
              <a:latin typeface="+mj-lt"/>
              <a:ea typeface="+mj-ea"/>
            </a:endParaRPr>
          </a:p>
        </p:txBody>
      </p:sp>
    </p:spTree>
    <p:extLst>
      <p:ext uri="{BB962C8B-B14F-4D97-AF65-F5344CB8AC3E}">
        <p14:creationId xmlns:p14="http://schemas.microsoft.com/office/powerpoint/2010/main" val="174990058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722E0-4910-83F0-BE14-391D25E3E293}"/>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99D2FD6C-6B1C-75ED-779F-BC8418979A0C}"/>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4.6 </a:t>
            </a:r>
            <a:r>
              <a:rPr lang="zh-CN" altLang="en-US" sz="3600" dirty="0">
                <a:latin typeface="Times New Roman" panose="02020603050405020304" pitchFamily="18" charset="0"/>
                <a:cs typeface="Times New Roman" panose="02020603050405020304" pitchFamily="18" charset="0"/>
              </a:rPr>
              <a:t>基础空间关系分析</a:t>
            </a:r>
          </a:p>
        </p:txBody>
      </p:sp>
      <p:sp>
        <p:nvSpPr>
          <p:cNvPr id="8" name="灯片编号占位符 7">
            <a:extLst>
              <a:ext uri="{FF2B5EF4-FFF2-40B4-BE49-F238E27FC236}">
                <a16:creationId xmlns:a16="http://schemas.microsoft.com/office/drawing/2014/main" id="{E1089FCD-1A2B-CFD8-9EA6-5CE5B6E0F90C}"/>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68</a:t>
            </a:fld>
            <a:endParaRPr lang="zh-CN" altLang="en-US" dirty="0">
              <a:solidFill>
                <a:schemeClr val="bg2">
                  <a:lumMod val="75000"/>
                </a:schemeClr>
              </a:solidFill>
            </a:endParaRPr>
          </a:p>
        </p:txBody>
      </p:sp>
      <p:sp>
        <p:nvSpPr>
          <p:cNvPr id="2" name="文本框 1">
            <a:extLst>
              <a:ext uri="{FF2B5EF4-FFF2-40B4-BE49-F238E27FC236}">
                <a16:creationId xmlns:a16="http://schemas.microsoft.com/office/drawing/2014/main" id="{2285D570-6F22-CC56-895A-3131931EA450}"/>
              </a:ext>
            </a:extLst>
          </p:cNvPr>
          <p:cNvSpPr txBox="1"/>
          <p:nvPr/>
        </p:nvSpPr>
        <p:spPr>
          <a:xfrm>
            <a:off x="609600" y="1524140"/>
            <a:ext cx="3209533" cy="400110"/>
          </a:xfrm>
          <a:prstGeom prst="rect">
            <a:avLst/>
          </a:prstGeom>
          <a:noFill/>
        </p:spPr>
        <p:txBody>
          <a:bodyPr wrap="none" rtlCol="0">
            <a:spAutoFit/>
          </a:bodyPr>
          <a:lstStyle/>
          <a:p>
            <a:r>
              <a:rPr lang="en-US" altLang="zh-CN" sz="2000" b="1" dirty="0">
                <a:latin typeface="+mj-lt"/>
                <a:ea typeface="+mj-ea"/>
              </a:rPr>
              <a:t>(1) Spatial*</a:t>
            </a:r>
            <a:r>
              <a:rPr lang="en-US" altLang="zh-CN" sz="2000" b="1" dirty="0" err="1">
                <a:latin typeface="+mj-lt"/>
                <a:ea typeface="+mj-ea"/>
              </a:rPr>
              <a:t>DataFrame</a:t>
            </a:r>
            <a:r>
              <a:rPr lang="zh-CN" altLang="en-US" sz="2000" b="1" dirty="0">
                <a:latin typeface="+mj-lt"/>
                <a:ea typeface="+mj-ea"/>
              </a:rPr>
              <a:t>对象</a:t>
            </a:r>
          </a:p>
        </p:txBody>
      </p:sp>
      <p:sp>
        <p:nvSpPr>
          <p:cNvPr id="14" name="文本框 13">
            <a:extLst>
              <a:ext uri="{FF2B5EF4-FFF2-40B4-BE49-F238E27FC236}">
                <a16:creationId xmlns:a16="http://schemas.microsoft.com/office/drawing/2014/main" id="{2780D32B-8022-BC0C-00DF-21B2E2C01078}"/>
              </a:ext>
            </a:extLst>
          </p:cNvPr>
          <p:cNvSpPr txBox="1"/>
          <p:nvPr/>
        </p:nvSpPr>
        <p:spPr>
          <a:xfrm>
            <a:off x="831407" y="1934498"/>
            <a:ext cx="7741093" cy="1289712"/>
          </a:xfrm>
          <a:prstGeom prst="rect">
            <a:avLst/>
          </a:prstGeom>
          <a:noFill/>
        </p:spPr>
        <p:txBody>
          <a:bodyPr wrap="square" rtlCol="0">
            <a:spAutoFit/>
          </a:bodyPr>
          <a:lstStyle/>
          <a:p>
            <a:pPr>
              <a:lnSpc>
                <a:spcPct val="150000"/>
              </a:lnSpc>
            </a:pPr>
            <a:r>
              <a:rPr lang="zh-CN" altLang="en-US" dirty="0">
                <a:latin typeface="+mn-lt"/>
                <a:ea typeface="+mn-ea"/>
              </a:rPr>
              <a:t>④ </a:t>
            </a:r>
            <a:r>
              <a:rPr lang="en-US" altLang="zh-CN" b="1" i="1" dirty="0" err="1">
                <a:latin typeface="+mn-lt"/>
                <a:ea typeface="+mn-ea"/>
              </a:rPr>
              <a:t>gIntersection</a:t>
            </a:r>
            <a:r>
              <a:rPr lang="zh-CN" altLang="en-US" b="1" dirty="0">
                <a:latin typeface="+mn-lt"/>
                <a:ea typeface="+mn-ea"/>
              </a:rPr>
              <a:t>函数：</a:t>
            </a:r>
            <a:r>
              <a:rPr lang="zh-CN" altLang="en-US" dirty="0">
                <a:latin typeface="+mn-lt"/>
                <a:ea typeface="+mn-ea"/>
              </a:rPr>
              <a:t>函数包</a:t>
            </a:r>
            <a:r>
              <a:rPr lang="en-US" altLang="zh-CN" b="1" dirty="0" err="1">
                <a:latin typeface="+mn-lt"/>
                <a:ea typeface="+mn-ea"/>
              </a:rPr>
              <a:t>rgeos</a:t>
            </a:r>
            <a:r>
              <a:rPr lang="zh-CN" altLang="en-US" dirty="0">
                <a:latin typeface="+mn-lt"/>
                <a:ea typeface="+mn-ea"/>
              </a:rPr>
              <a:t>提供，空间对象几何求交函数，用于获取两个输入空间对象的公共部分，即实现</a:t>
            </a:r>
            <a:r>
              <a:rPr lang="en-US" altLang="zh-CN" dirty="0">
                <a:latin typeface="+mn-lt"/>
                <a:ea typeface="+mn-ea"/>
              </a:rPr>
              <a:t>GIS</a:t>
            </a:r>
            <a:r>
              <a:rPr lang="zh-CN" altLang="en-US" dirty="0">
                <a:latin typeface="+mn-lt"/>
                <a:ea typeface="+mn-ea"/>
              </a:rPr>
              <a:t>中常用的空间剪辑</a:t>
            </a:r>
            <a:r>
              <a:rPr lang="en-US" altLang="zh-CN" dirty="0">
                <a:latin typeface="+mn-lt"/>
                <a:ea typeface="+mn-ea"/>
              </a:rPr>
              <a:t>(Clip)</a:t>
            </a:r>
            <a:r>
              <a:rPr lang="zh-CN" altLang="en-US" dirty="0">
                <a:latin typeface="+mn-lt"/>
                <a:ea typeface="+mn-ea"/>
              </a:rPr>
              <a:t>功能</a:t>
            </a:r>
            <a:endParaRPr lang="en-US" altLang="zh-CN" dirty="0">
              <a:latin typeface="+mn-lt"/>
              <a:ea typeface="+mn-ea"/>
            </a:endParaRPr>
          </a:p>
          <a:p>
            <a:pPr indent="457200">
              <a:lnSpc>
                <a:spcPct val="150000"/>
              </a:lnSpc>
            </a:pPr>
            <a:r>
              <a:rPr lang="zh-CN" altLang="en-US" dirty="0">
                <a:latin typeface="+mn-lt"/>
                <a:ea typeface="+mn-ea"/>
              </a:rPr>
              <a:t>进行武汉市边界与上一小节中得到的三角剖分之间的求交运算：</a:t>
            </a:r>
            <a:endParaRPr lang="en-US" altLang="zh-CN" dirty="0">
              <a:latin typeface="+mn-lt"/>
              <a:ea typeface="+mn-ea"/>
            </a:endParaRPr>
          </a:p>
        </p:txBody>
      </p:sp>
      <p:sp>
        <p:nvSpPr>
          <p:cNvPr id="4" name="文本框 3">
            <a:extLst>
              <a:ext uri="{FF2B5EF4-FFF2-40B4-BE49-F238E27FC236}">
                <a16:creationId xmlns:a16="http://schemas.microsoft.com/office/drawing/2014/main" id="{EDE4DA56-B548-565C-2560-6D40AD316A38}"/>
              </a:ext>
            </a:extLst>
          </p:cNvPr>
          <p:cNvSpPr txBox="1"/>
          <p:nvPr/>
        </p:nvSpPr>
        <p:spPr>
          <a:xfrm>
            <a:off x="831407" y="3716262"/>
            <a:ext cx="7953666" cy="1569660"/>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WHDis_sp</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gBuffer</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WHDis_sp</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byid</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 </a:t>
            </a:r>
            <a:r>
              <a:rPr lang="en-US" altLang="zh-CN" sz="16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TRUE</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width = </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WHDis_dt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gIntersection</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WHDis_sp</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spt_rand_dt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WHDis_dt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col=</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"green"</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xlim</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bbox</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WHDis_sp</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ylim</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bbox</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WHDis_sp</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lwd</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WHDis_sp</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lty</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add=T)</a:t>
            </a:r>
            <a:endParaRPr lang="zh-CN" altLang="zh-CN" sz="1600" dirty="0">
              <a:effectLst/>
              <a:latin typeface="Times New Roman" panose="02020603050405020304" pitchFamily="18" charset="0"/>
              <a:ea typeface="宋体" panose="02010600030101010101" pitchFamily="2" charset="-122"/>
            </a:endParaRPr>
          </a:p>
          <a:p>
            <a:pPr indent="127000" algn="l"/>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spt_rand_dt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lty</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add=T)</a:t>
            </a:r>
            <a:endParaRPr lang="zh-CN" altLang="zh-CN" sz="16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204466745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D7CB0-F1DE-DD77-4A74-13306BF6DDD3}"/>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AB33A000-7BE0-4F7F-3A6F-A26D49303FA6}"/>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4.6 </a:t>
            </a:r>
            <a:r>
              <a:rPr lang="zh-CN" altLang="en-US" sz="3600" dirty="0">
                <a:latin typeface="Times New Roman" panose="02020603050405020304" pitchFamily="18" charset="0"/>
                <a:cs typeface="Times New Roman" panose="02020603050405020304" pitchFamily="18" charset="0"/>
              </a:rPr>
              <a:t>基础空间关系分析</a:t>
            </a:r>
          </a:p>
        </p:txBody>
      </p:sp>
      <p:sp>
        <p:nvSpPr>
          <p:cNvPr id="8" name="灯片编号占位符 7">
            <a:extLst>
              <a:ext uri="{FF2B5EF4-FFF2-40B4-BE49-F238E27FC236}">
                <a16:creationId xmlns:a16="http://schemas.microsoft.com/office/drawing/2014/main" id="{A0588613-08A2-167A-6A56-A28D95AB2C1D}"/>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69</a:t>
            </a:fld>
            <a:endParaRPr lang="zh-CN" altLang="en-US" dirty="0">
              <a:solidFill>
                <a:schemeClr val="bg2">
                  <a:lumMod val="75000"/>
                </a:schemeClr>
              </a:solidFill>
            </a:endParaRPr>
          </a:p>
        </p:txBody>
      </p:sp>
      <p:sp>
        <p:nvSpPr>
          <p:cNvPr id="2" name="文本框 1">
            <a:extLst>
              <a:ext uri="{FF2B5EF4-FFF2-40B4-BE49-F238E27FC236}">
                <a16:creationId xmlns:a16="http://schemas.microsoft.com/office/drawing/2014/main" id="{CC43BA95-7E85-AF93-EAA2-9D53E02E6FB0}"/>
              </a:ext>
            </a:extLst>
          </p:cNvPr>
          <p:cNvSpPr txBox="1"/>
          <p:nvPr/>
        </p:nvSpPr>
        <p:spPr>
          <a:xfrm>
            <a:off x="609600" y="1524140"/>
            <a:ext cx="3209533" cy="400110"/>
          </a:xfrm>
          <a:prstGeom prst="rect">
            <a:avLst/>
          </a:prstGeom>
          <a:noFill/>
        </p:spPr>
        <p:txBody>
          <a:bodyPr wrap="none" rtlCol="0">
            <a:spAutoFit/>
          </a:bodyPr>
          <a:lstStyle/>
          <a:p>
            <a:r>
              <a:rPr lang="en-US" altLang="zh-CN" sz="2000" b="1" dirty="0">
                <a:latin typeface="+mj-lt"/>
                <a:ea typeface="+mj-ea"/>
              </a:rPr>
              <a:t>(1) Spatial*</a:t>
            </a:r>
            <a:r>
              <a:rPr lang="en-US" altLang="zh-CN" sz="2000" b="1" dirty="0" err="1">
                <a:latin typeface="+mj-lt"/>
                <a:ea typeface="+mj-ea"/>
              </a:rPr>
              <a:t>DataFrame</a:t>
            </a:r>
            <a:r>
              <a:rPr lang="zh-CN" altLang="en-US" sz="2000" b="1" dirty="0">
                <a:latin typeface="+mj-lt"/>
                <a:ea typeface="+mj-ea"/>
              </a:rPr>
              <a:t>对象</a:t>
            </a:r>
          </a:p>
        </p:txBody>
      </p:sp>
      <p:sp>
        <p:nvSpPr>
          <p:cNvPr id="14" name="文本框 13">
            <a:extLst>
              <a:ext uri="{FF2B5EF4-FFF2-40B4-BE49-F238E27FC236}">
                <a16:creationId xmlns:a16="http://schemas.microsoft.com/office/drawing/2014/main" id="{33324C85-0A5E-82F3-0A3A-E7FA9CDA161B}"/>
              </a:ext>
            </a:extLst>
          </p:cNvPr>
          <p:cNvSpPr txBox="1"/>
          <p:nvPr/>
        </p:nvSpPr>
        <p:spPr>
          <a:xfrm>
            <a:off x="831407" y="1934498"/>
            <a:ext cx="7741093" cy="1289712"/>
          </a:xfrm>
          <a:prstGeom prst="rect">
            <a:avLst/>
          </a:prstGeom>
          <a:noFill/>
        </p:spPr>
        <p:txBody>
          <a:bodyPr wrap="square" rtlCol="0">
            <a:spAutoFit/>
          </a:bodyPr>
          <a:lstStyle/>
          <a:p>
            <a:pPr>
              <a:lnSpc>
                <a:spcPct val="150000"/>
              </a:lnSpc>
            </a:pPr>
            <a:r>
              <a:rPr lang="zh-CN" altLang="en-US" dirty="0">
                <a:latin typeface="+mn-lt"/>
                <a:ea typeface="+mn-ea"/>
              </a:rPr>
              <a:t>④ </a:t>
            </a:r>
            <a:r>
              <a:rPr lang="en-US" altLang="zh-CN" b="1" i="1" dirty="0" err="1">
                <a:latin typeface="+mn-lt"/>
                <a:ea typeface="+mn-ea"/>
              </a:rPr>
              <a:t>gIntersection</a:t>
            </a:r>
            <a:r>
              <a:rPr lang="zh-CN" altLang="en-US" b="1" dirty="0">
                <a:latin typeface="+mn-lt"/>
                <a:ea typeface="+mn-ea"/>
              </a:rPr>
              <a:t>函数：</a:t>
            </a:r>
            <a:r>
              <a:rPr lang="zh-CN" altLang="en-US" dirty="0">
                <a:latin typeface="+mn-lt"/>
                <a:ea typeface="+mn-ea"/>
              </a:rPr>
              <a:t>函数包</a:t>
            </a:r>
            <a:r>
              <a:rPr lang="en-US" altLang="zh-CN" b="1" dirty="0" err="1">
                <a:latin typeface="+mn-lt"/>
                <a:ea typeface="+mn-ea"/>
              </a:rPr>
              <a:t>rgeos</a:t>
            </a:r>
            <a:r>
              <a:rPr lang="zh-CN" altLang="en-US" dirty="0">
                <a:latin typeface="+mn-lt"/>
                <a:ea typeface="+mn-ea"/>
              </a:rPr>
              <a:t>提供，空间对象几何求交函数，用于获取两个输入空间对象的公共部分，即实现</a:t>
            </a:r>
            <a:r>
              <a:rPr lang="en-US" altLang="zh-CN" dirty="0">
                <a:latin typeface="+mn-lt"/>
                <a:ea typeface="+mn-ea"/>
              </a:rPr>
              <a:t>GIS</a:t>
            </a:r>
            <a:r>
              <a:rPr lang="zh-CN" altLang="en-US" dirty="0">
                <a:latin typeface="+mn-lt"/>
                <a:ea typeface="+mn-ea"/>
              </a:rPr>
              <a:t>中常用的空间剪辑</a:t>
            </a:r>
            <a:r>
              <a:rPr lang="en-US" altLang="zh-CN" dirty="0">
                <a:latin typeface="+mn-lt"/>
                <a:ea typeface="+mn-ea"/>
              </a:rPr>
              <a:t>(Clip)</a:t>
            </a:r>
            <a:r>
              <a:rPr lang="zh-CN" altLang="en-US" dirty="0">
                <a:latin typeface="+mn-lt"/>
                <a:ea typeface="+mn-ea"/>
              </a:rPr>
              <a:t>功能</a:t>
            </a:r>
            <a:endParaRPr lang="en-US" altLang="zh-CN" dirty="0">
              <a:latin typeface="+mn-lt"/>
              <a:ea typeface="+mn-ea"/>
            </a:endParaRPr>
          </a:p>
          <a:p>
            <a:pPr indent="457200">
              <a:lnSpc>
                <a:spcPct val="150000"/>
              </a:lnSpc>
            </a:pPr>
            <a:r>
              <a:rPr lang="zh-CN" altLang="en-US" dirty="0">
                <a:latin typeface="+mn-lt"/>
                <a:ea typeface="+mn-ea"/>
              </a:rPr>
              <a:t>进行武汉市边界与上一小节中得到的三角剖分之间的求交运算：</a:t>
            </a:r>
            <a:endParaRPr lang="en-US" altLang="zh-CN" dirty="0">
              <a:latin typeface="+mn-lt"/>
              <a:ea typeface="+mn-ea"/>
            </a:endParaRPr>
          </a:p>
        </p:txBody>
      </p:sp>
      <p:pic>
        <p:nvPicPr>
          <p:cNvPr id="3" name="图片 2">
            <a:extLst>
              <a:ext uri="{FF2B5EF4-FFF2-40B4-BE49-F238E27FC236}">
                <a16:creationId xmlns:a16="http://schemas.microsoft.com/office/drawing/2014/main" id="{04FCB199-A047-D0C0-96FA-5102618D6252}"/>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00400" y="3543300"/>
            <a:ext cx="2743200" cy="2764027"/>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33509739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36642-E7DE-756E-F9E1-96306AE4A1CC}"/>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09FE08A1-E623-BD1E-CC92-F72C40D95D5E}"/>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4.6 </a:t>
            </a:r>
            <a:r>
              <a:rPr lang="zh-CN" altLang="en-US" sz="3600" dirty="0">
                <a:latin typeface="Times New Roman" panose="02020603050405020304" pitchFamily="18" charset="0"/>
                <a:cs typeface="Times New Roman" panose="02020603050405020304" pitchFamily="18" charset="0"/>
              </a:rPr>
              <a:t>基础空间关系分析</a:t>
            </a:r>
          </a:p>
        </p:txBody>
      </p:sp>
      <p:sp>
        <p:nvSpPr>
          <p:cNvPr id="8" name="灯片编号占位符 7">
            <a:extLst>
              <a:ext uri="{FF2B5EF4-FFF2-40B4-BE49-F238E27FC236}">
                <a16:creationId xmlns:a16="http://schemas.microsoft.com/office/drawing/2014/main" id="{81537B99-D143-2A02-8B23-EE4E95F61948}"/>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70</a:t>
            </a:fld>
            <a:endParaRPr lang="zh-CN" altLang="en-US" dirty="0">
              <a:solidFill>
                <a:schemeClr val="bg2">
                  <a:lumMod val="75000"/>
                </a:schemeClr>
              </a:solidFill>
            </a:endParaRPr>
          </a:p>
        </p:txBody>
      </p:sp>
      <p:sp>
        <p:nvSpPr>
          <p:cNvPr id="2" name="文本框 1">
            <a:extLst>
              <a:ext uri="{FF2B5EF4-FFF2-40B4-BE49-F238E27FC236}">
                <a16:creationId xmlns:a16="http://schemas.microsoft.com/office/drawing/2014/main" id="{C77844C1-1630-04B2-810E-6B790FEDFBE8}"/>
              </a:ext>
            </a:extLst>
          </p:cNvPr>
          <p:cNvSpPr txBox="1"/>
          <p:nvPr/>
        </p:nvSpPr>
        <p:spPr>
          <a:xfrm>
            <a:off x="609600" y="1524140"/>
            <a:ext cx="3209533" cy="400110"/>
          </a:xfrm>
          <a:prstGeom prst="rect">
            <a:avLst/>
          </a:prstGeom>
          <a:noFill/>
        </p:spPr>
        <p:txBody>
          <a:bodyPr wrap="none" rtlCol="0">
            <a:spAutoFit/>
          </a:bodyPr>
          <a:lstStyle/>
          <a:p>
            <a:r>
              <a:rPr lang="en-US" altLang="zh-CN" sz="2000" b="1" dirty="0">
                <a:latin typeface="+mj-lt"/>
                <a:ea typeface="+mj-ea"/>
              </a:rPr>
              <a:t>(1) Spatial*</a:t>
            </a:r>
            <a:r>
              <a:rPr lang="en-US" altLang="zh-CN" sz="2000" b="1" dirty="0" err="1">
                <a:latin typeface="+mj-lt"/>
                <a:ea typeface="+mj-ea"/>
              </a:rPr>
              <a:t>DataFrame</a:t>
            </a:r>
            <a:r>
              <a:rPr lang="zh-CN" altLang="en-US" sz="2000" b="1" dirty="0">
                <a:latin typeface="+mj-lt"/>
                <a:ea typeface="+mj-ea"/>
              </a:rPr>
              <a:t>对象</a:t>
            </a:r>
          </a:p>
        </p:txBody>
      </p:sp>
      <p:sp>
        <p:nvSpPr>
          <p:cNvPr id="14" name="文本框 13">
            <a:extLst>
              <a:ext uri="{FF2B5EF4-FFF2-40B4-BE49-F238E27FC236}">
                <a16:creationId xmlns:a16="http://schemas.microsoft.com/office/drawing/2014/main" id="{BF8655B1-19FA-605C-0350-27F8ECD37704}"/>
              </a:ext>
            </a:extLst>
          </p:cNvPr>
          <p:cNvSpPr txBox="1"/>
          <p:nvPr/>
        </p:nvSpPr>
        <p:spPr>
          <a:xfrm>
            <a:off x="831407" y="1934498"/>
            <a:ext cx="7741093" cy="1705210"/>
          </a:xfrm>
          <a:prstGeom prst="rect">
            <a:avLst/>
          </a:prstGeom>
          <a:noFill/>
        </p:spPr>
        <p:txBody>
          <a:bodyPr wrap="square" rtlCol="0">
            <a:spAutoFit/>
          </a:bodyPr>
          <a:lstStyle/>
          <a:p>
            <a:pPr>
              <a:lnSpc>
                <a:spcPct val="150000"/>
              </a:lnSpc>
            </a:pPr>
            <a:r>
              <a:rPr lang="zh-CN" altLang="en-US" dirty="0">
                <a:latin typeface="+mn-lt"/>
                <a:ea typeface="+mn-ea"/>
              </a:rPr>
              <a:t>⑤ </a:t>
            </a:r>
            <a:r>
              <a:rPr lang="en-US" altLang="zh-CN" b="1" i="1" dirty="0" err="1">
                <a:latin typeface="+mn-lt"/>
                <a:ea typeface="+mn-ea"/>
              </a:rPr>
              <a:t>gDifference</a:t>
            </a:r>
            <a:r>
              <a:rPr lang="zh-CN" altLang="en-US" b="1" i="1" dirty="0">
                <a:latin typeface="+mn-lt"/>
                <a:ea typeface="+mn-ea"/>
              </a:rPr>
              <a:t>和</a:t>
            </a:r>
            <a:r>
              <a:rPr lang="en-US" altLang="zh-CN" b="1" i="1" dirty="0" err="1">
                <a:latin typeface="+mn-lt"/>
                <a:ea typeface="+mn-ea"/>
              </a:rPr>
              <a:t>gSymdifference</a:t>
            </a:r>
            <a:r>
              <a:rPr lang="zh-CN" altLang="en-US" b="1" dirty="0">
                <a:latin typeface="+mn-lt"/>
                <a:ea typeface="+mn-ea"/>
              </a:rPr>
              <a:t>函数：</a:t>
            </a:r>
            <a:r>
              <a:rPr lang="zh-CN" altLang="en-US" dirty="0">
                <a:latin typeface="+mn-lt"/>
                <a:ea typeface="+mn-ea"/>
              </a:rPr>
              <a:t>函数包</a:t>
            </a:r>
            <a:r>
              <a:rPr lang="en-US" altLang="zh-CN" b="1" dirty="0" err="1">
                <a:latin typeface="+mn-lt"/>
                <a:ea typeface="+mn-ea"/>
              </a:rPr>
              <a:t>rgeos</a:t>
            </a:r>
            <a:r>
              <a:rPr lang="zh-CN" altLang="en-US" dirty="0">
                <a:latin typeface="+mn-lt"/>
                <a:ea typeface="+mn-ea"/>
              </a:rPr>
              <a:t>提供，空间对象求异运算函数，实现与</a:t>
            </a:r>
            <a:r>
              <a:rPr lang="en-US" altLang="zh-CN" b="1" i="1" dirty="0" err="1">
                <a:latin typeface="+mn-lt"/>
                <a:ea typeface="+mn-ea"/>
              </a:rPr>
              <a:t>gIntersection</a:t>
            </a:r>
            <a:r>
              <a:rPr lang="zh-CN" altLang="en-US" dirty="0">
                <a:latin typeface="+mn-lt"/>
                <a:ea typeface="+mn-ea"/>
              </a:rPr>
              <a:t>函数相逆的剪辑操作。</a:t>
            </a:r>
            <a:endParaRPr lang="en-US" altLang="zh-CN" dirty="0">
              <a:latin typeface="+mn-lt"/>
              <a:ea typeface="+mn-ea"/>
            </a:endParaRPr>
          </a:p>
          <a:p>
            <a:pPr indent="457200">
              <a:lnSpc>
                <a:spcPct val="150000"/>
              </a:lnSpc>
            </a:pPr>
            <a:r>
              <a:rPr lang="zh-CN" altLang="en-US" dirty="0">
                <a:latin typeface="+mn-lt"/>
                <a:ea typeface="+mn-ea"/>
              </a:rPr>
              <a:t>将示例数据中的长江边界数据放在工作目录下，读入之后，将这部分区域从武汉市边界数据中进行剪裁：</a:t>
            </a:r>
            <a:endParaRPr lang="en-US" altLang="zh-CN" dirty="0">
              <a:latin typeface="+mn-lt"/>
              <a:ea typeface="+mn-ea"/>
            </a:endParaRPr>
          </a:p>
        </p:txBody>
      </p:sp>
      <p:sp>
        <p:nvSpPr>
          <p:cNvPr id="4" name="文本框 3">
            <a:extLst>
              <a:ext uri="{FF2B5EF4-FFF2-40B4-BE49-F238E27FC236}">
                <a16:creationId xmlns:a16="http://schemas.microsoft.com/office/drawing/2014/main" id="{BAB1934B-BDE0-3373-6C76-46F8C585E57E}"/>
              </a:ext>
            </a:extLst>
          </p:cNvPr>
          <p:cNvSpPr txBox="1"/>
          <p:nvPr/>
        </p:nvSpPr>
        <p:spPr>
          <a:xfrm>
            <a:off x="831407" y="3716262"/>
            <a:ext cx="7953666" cy="1754326"/>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8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river &lt;- </a:t>
            </a:r>
            <a:r>
              <a:rPr lang="en-US" altLang="zh-CN" sz="1800" kern="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readShapePoly</a:t>
            </a:r>
            <a:r>
              <a:rPr lang="en-US" altLang="zh-CN" sz="18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kern="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kern="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YangtzeRiver.shp</a:t>
            </a:r>
            <a:r>
              <a:rPr lang="en-US" altLang="zh-CN" sz="1800" kern="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proj4string = CRS(</a:t>
            </a:r>
            <a:r>
              <a:rPr lang="en-US" altLang="zh-CN" sz="1800" kern="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kern="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proj</a:t>
            </a:r>
            <a:r>
              <a:rPr lang="en-US" altLang="zh-CN" sz="1800" kern="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kern="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longlat</a:t>
            </a:r>
            <a:r>
              <a:rPr lang="en-US" altLang="zh-CN" sz="1800" kern="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 +datum=WGS84 +</a:t>
            </a:r>
            <a:r>
              <a:rPr lang="en-US" altLang="zh-CN" sz="1800" kern="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no_defs</a:t>
            </a:r>
            <a:r>
              <a:rPr lang="en-US" altLang="zh-CN" sz="1800" kern="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endParaRPr>
          </a:p>
          <a:p>
            <a:pPr indent="127000" algn="l">
              <a:buNone/>
            </a:pP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WHDis_dif</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gDifference</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WHDis_sp</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river, </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byid</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=T)</a:t>
            </a:r>
            <a:endParaRPr lang="zh-CN" altLang="zh-CN" sz="1800" dirty="0">
              <a:effectLst/>
              <a:latin typeface="Times New Roman" panose="02020603050405020304" pitchFamily="18" charset="0"/>
              <a:ea typeface="宋体" panose="02010600030101010101" pitchFamily="2" charset="-122"/>
            </a:endParaRPr>
          </a:p>
          <a:p>
            <a:pPr indent="127000" algn="l">
              <a:buNone/>
            </a:pP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WHDis_dif</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col=</a:t>
            </a:r>
            <a:r>
              <a:rPr lang="en-US" altLang="zh-CN" sz="18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"grey"</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dirty="0">
              <a:effectLst/>
              <a:latin typeface="Times New Roman" panose="02020603050405020304" pitchFamily="18" charset="0"/>
              <a:ea typeface="宋体" panose="02010600030101010101" pitchFamily="2" charset="-122"/>
            </a:endParaRPr>
          </a:p>
          <a:p>
            <a:pPr indent="127000" algn="l">
              <a:buNone/>
            </a:pP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WHDis_symdif</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gSymdifference</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WHDis_sp</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river)</a:t>
            </a:r>
            <a:endParaRPr lang="zh-CN" altLang="zh-CN" sz="1800" dirty="0">
              <a:effectLst/>
              <a:latin typeface="Times New Roman" panose="02020603050405020304" pitchFamily="18" charset="0"/>
              <a:ea typeface="宋体" panose="02010600030101010101" pitchFamily="2" charset="-122"/>
            </a:endParaRPr>
          </a:p>
          <a:p>
            <a:pPr indent="127000" algn="l"/>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WHDis_symdif</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 col=</a:t>
            </a:r>
            <a:r>
              <a:rPr lang="en-US" altLang="zh-CN" sz="18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"grey"</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28105699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CFB49-D445-D320-1A3B-C3C4CBE2ACF5}"/>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78F42C66-736D-52AB-3505-12C355B2B944}"/>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4.6 </a:t>
            </a:r>
            <a:r>
              <a:rPr lang="zh-CN" altLang="en-US" sz="3600" dirty="0">
                <a:latin typeface="Times New Roman" panose="02020603050405020304" pitchFamily="18" charset="0"/>
                <a:cs typeface="Times New Roman" panose="02020603050405020304" pitchFamily="18" charset="0"/>
              </a:rPr>
              <a:t>基础空间关系分析</a:t>
            </a:r>
          </a:p>
        </p:txBody>
      </p:sp>
      <p:sp>
        <p:nvSpPr>
          <p:cNvPr id="8" name="灯片编号占位符 7">
            <a:extLst>
              <a:ext uri="{FF2B5EF4-FFF2-40B4-BE49-F238E27FC236}">
                <a16:creationId xmlns:a16="http://schemas.microsoft.com/office/drawing/2014/main" id="{116DED58-E525-F39B-FDA2-9D9CD42E704D}"/>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71</a:t>
            </a:fld>
            <a:endParaRPr lang="zh-CN" altLang="en-US" dirty="0">
              <a:solidFill>
                <a:schemeClr val="bg2">
                  <a:lumMod val="75000"/>
                </a:schemeClr>
              </a:solidFill>
            </a:endParaRPr>
          </a:p>
        </p:txBody>
      </p:sp>
      <p:sp>
        <p:nvSpPr>
          <p:cNvPr id="2" name="文本框 1">
            <a:extLst>
              <a:ext uri="{FF2B5EF4-FFF2-40B4-BE49-F238E27FC236}">
                <a16:creationId xmlns:a16="http://schemas.microsoft.com/office/drawing/2014/main" id="{6A2D2A82-8296-925D-CF6F-528DCD1AEBDF}"/>
              </a:ext>
            </a:extLst>
          </p:cNvPr>
          <p:cNvSpPr txBox="1"/>
          <p:nvPr/>
        </p:nvSpPr>
        <p:spPr>
          <a:xfrm>
            <a:off x="609600" y="1524140"/>
            <a:ext cx="3209533" cy="400110"/>
          </a:xfrm>
          <a:prstGeom prst="rect">
            <a:avLst/>
          </a:prstGeom>
          <a:noFill/>
        </p:spPr>
        <p:txBody>
          <a:bodyPr wrap="none" rtlCol="0">
            <a:spAutoFit/>
          </a:bodyPr>
          <a:lstStyle/>
          <a:p>
            <a:r>
              <a:rPr lang="en-US" altLang="zh-CN" sz="2000" b="1" dirty="0">
                <a:latin typeface="+mj-lt"/>
                <a:ea typeface="+mj-ea"/>
              </a:rPr>
              <a:t>(1) Spatial*</a:t>
            </a:r>
            <a:r>
              <a:rPr lang="en-US" altLang="zh-CN" sz="2000" b="1" dirty="0" err="1">
                <a:latin typeface="+mj-lt"/>
                <a:ea typeface="+mj-ea"/>
              </a:rPr>
              <a:t>DataFrame</a:t>
            </a:r>
            <a:r>
              <a:rPr lang="zh-CN" altLang="en-US" sz="2000" b="1" dirty="0">
                <a:latin typeface="+mj-lt"/>
                <a:ea typeface="+mj-ea"/>
              </a:rPr>
              <a:t>对象</a:t>
            </a:r>
          </a:p>
        </p:txBody>
      </p:sp>
      <p:sp>
        <p:nvSpPr>
          <p:cNvPr id="14" name="文本框 13">
            <a:extLst>
              <a:ext uri="{FF2B5EF4-FFF2-40B4-BE49-F238E27FC236}">
                <a16:creationId xmlns:a16="http://schemas.microsoft.com/office/drawing/2014/main" id="{77188AA2-C3EB-5CD6-2471-26FE0F1601D4}"/>
              </a:ext>
            </a:extLst>
          </p:cNvPr>
          <p:cNvSpPr txBox="1"/>
          <p:nvPr/>
        </p:nvSpPr>
        <p:spPr>
          <a:xfrm>
            <a:off x="831407" y="1934498"/>
            <a:ext cx="7741093" cy="1705210"/>
          </a:xfrm>
          <a:prstGeom prst="rect">
            <a:avLst/>
          </a:prstGeom>
          <a:noFill/>
        </p:spPr>
        <p:txBody>
          <a:bodyPr wrap="square" rtlCol="0">
            <a:spAutoFit/>
          </a:bodyPr>
          <a:lstStyle/>
          <a:p>
            <a:pPr>
              <a:lnSpc>
                <a:spcPct val="150000"/>
              </a:lnSpc>
            </a:pPr>
            <a:r>
              <a:rPr lang="zh-CN" altLang="en-US" dirty="0">
                <a:latin typeface="+mn-lt"/>
                <a:ea typeface="+mn-ea"/>
              </a:rPr>
              <a:t>⑤ </a:t>
            </a:r>
            <a:r>
              <a:rPr lang="en-US" altLang="zh-CN" b="1" i="1" dirty="0" err="1">
                <a:latin typeface="+mn-lt"/>
                <a:ea typeface="+mn-ea"/>
              </a:rPr>
              <a:t>gDifference</a:t>
            </a:r>
            <a:r>
              <a:rPr lang="zh-CN" altLang="en-US" b="1" i="1" dirty="0">
                <a:latin typeface="+mn-lt"/>
                <a:ea typeface="+mn-ea"/>
              </a:rPr>
              <a:t>和</a:t>
            </a:r>
            <a:r>
              <a:rPr lang="en-US" altLang="zh-CN" b="1" i="1" dirty="0" err="1">
                <a:latin typeface="+mn-lt"/>
                <a:ea typeface="+mn-ea"/>
              </a:rPr>
              <a:t>gSymdifference</a:t>
            </a:r>
            <a:r>
              <a:rPr lang="zh-CN" altLang="en-US" b="1" dirty="0">
                <a:latin typeface="+mn-lt"/>
                <a:ea typeface="+mn-ea"/>
              </a:rPr>
              <a:t>函数：</a:t>
            </a:r>
            <a:r>
              <a:rPr lang="zh-CN" altLang="en-US" dirty="0">
                <a:latin typeface="+mn-lt"/>
                <a:ea typeface="+mn-ea"/>
              </a:rPr>
              <a:t>函数包</a:t>
            </a:r>
            <a:r>
              <a:rPr lang="en-US" altLang="zh-CN" b="1" dirty="0" err="1">
                <a:latin typeface="+mn-lt"/>
                <a:ea typeface="+mn-ea"/>
              </a:rPr>
              <a:t>rgeos</a:t>
            </a:r>
            <a:r>
              <a:rPr lang="zh-CN" altLang="en-US" dirty="0">
                <a:latin typeface="+mn-lt"/>
                <a:ea typeface="+mn-ea"/>
              </a:rPr>
              <a:t>提供，空间对象求异运算函数，实现与</a:t>
            </a:r>
            <a:r>
              <a:rPr lang="en-US" altLang="zh-CN" b="1" i="1" dirty="0" err="1">
                <a:latin typeface="+mn-lt"/>
                <a:ea typeface="+mn-ea"/>
              </a:rPr>
              <a:t>gIntersection</a:t>
            </a:r>
            <a:r>
              <a:rPr lang="zh-CN" altLang="en-US" dirty="0">
                <a:latin typeface="+mn-lt"/>
                <a:ea typeface="+mn-ea"/>
              </a:rPr>
              <a:t>函数相逆的剪辑操作。</a:t>
            </a:r>
            <a:endParaRPr lang="en-US" altLang="zh-CN" dirty="0">
              <a:latin typeface="+mn-lt"/>
              <a:ea typeface="+mn-ea"/>
            </a:endParaRPr>
          </a:p>
          <a:p>
            <a:pPr indent="457200">
              <a:lnSpc>
                <a:spcPct val="150000"/>
              </a:lnSpc>
            </a:pPr>
            <a:r>
              <a:rPr lang="zh-CN" altLang="en-US" dirty="0">
                <a:latin typeface="+mn-lt"/>
                <a:ea typeface="+mn-ea"/>
              </a:rPr>
              <a:t>将示例数据中的长江边界数据放在工作目录下，读入之后，将这部分区域从武汉市边界数据中进行剪裁：</a:t>
            </a:r>
            <a:endParaRPr lang="en-US" altLang="zh-CN" dirty="0">
              <a:latin typeface="+mn-lt"/>
              <a:ea typeface="+mn-ea"/>
            </a:endParaRPr>
          </a:p>
        </p:txBody>
      </p:sp>
      <p:pic>
        <p:nvPicPr>
          <p:cNvPr id="3" name="图片 2">
            <a:extLst>
              <a:ext uri="{FF2B5EF4-FFF2-40B4-BE49-F238E27FC236}">
                <a16:creationId xmlns:a16="http://schemas.microsoft.com/office/drawing/2014/main" id="{11BD2394-D596-53F5-819A-6D644DC1F249}"/>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33985" y="3712154"/>
            <a:ext cx="2404926" cy="2456924"/>
          </a:xfrm>
          <a:prstGeom prst="rect">
            <a:avLst/>
          </a:prstGeom>
          <a:ln>
            <a:noFill/>
          </a:ln>
          <a:effectLst>
            <a:outerShdw blurRad="190500" algn="tl" rotWithShape="0">
              <a:srgbClr val="000000">
                <a:alpha val="70000"/>
              </a:srgbClr>
            </a:outerShdw>
          </a:effectLst>
        </p:spPr>
      </p:pic>
      <p:pic>
        <p:nvPicPr>
          <p:cNvPr id="5" name="图片 4">
            <a:extLst>
              <a:ext uri="{FF2B5EF4-FFF2-40B4-BE49-F238E27FC236}">
                <a16:creationId xmlns:a16="http://schemas.microsoft.com/office/drawing/2014/main" id="{32D20AF1-388B-4FBF-BE33-68DFF5F7262D}"/>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00600" y="3711182"/>
            <a:ext cx="2465761" cy="2456924"/>
          </a:xfrm>
          <a:prstGeom prst="rect">
            <a:avLst/>
          </a:prstGeom>
          <a:ln>
            <a:noFill/>
          </a:ln>
          <a:effectLst>
            <a:outerShdw blurRad="190500" algn="tl" rotWithShape="0">
              <a:srgbClr val="000000">
                <a:alpha val="70000"/>
              </a:srgbClr>
            </a:outerShdw>
          </a:effectLst>
        </p:spPr>
      </p:pic>
      <p:sp>
        <p:nvSpPr>
          <p:cNvPr id="6" name="文本框 5">
            <a:extLst>
              <a:ext uri="{FF2B5EF4-FFF2-40B4-BE49-F238E27FC236}">
                <a16:creationId xmlns:a16="http://schemas.microsoft.com/office/drawing/2014/main" id="{192A7C63-250A-E382-746C-C65DBFB0FC06}"/>
              </a:ext>
            </a:extLst>
          </p:cNvPr>
          <p:cNvSpPr txBox="1"/>
          <p:nvPr/>
        </p:nvSpPr>
        <p:spPr>
          <a:xfrm>
            <a:off x="2130379" y="6281760"/>
            <a:ext cx="4883237" cy="307777"/>
          </a:xfrm>
          <a:prstGeom prst="rect">
            <a:avLst/>
          </a:prstGeom>
          <a:noFill/>
        </p:spPr>
        <p:txBody>
          <a:bodyPr wrap="square" rtlCol="0">
            <a:spAutoFit/>
          </a:bodyPr>
          <a:lstStyle/>
          <a:p>
            <a:pPr algn="ctr"/>
            <a:r>
              <a:rPr lang="zh-CN" altLang="en-US" sz="1400" kern="0" dirty="0">
                <a:effectLst/>
                <a:latin typeface="+mj-lt"/>
                <a:ea typeface="+mj-ea"/>
              </a:rPr>
              <a:t>函数</a:t>
            </a:r>
            <a:r>
              <a:rPr lang="en-US" altLang="zh-CN" sz="1400" i="1" kern="0" dirty="0" err="1">
                <a:effectLst/>
                <a:latin typeface="+mj-lt"/>
                <a:ea typeface="+mj-ea"/>
              </a:rPr>
              <a:t>gDifference</a:t>
            </a:r>
            <a:r>
              <a:rPr lang="zh-CN" altLang="en-US" sz="1400" kern="0" dirty="0">
                <a:effectLst/>
                <a:latin typeface="+mj-lt"/>
                <a:ea typeface="+mj-ea"/>
              </a:rPr>
              <a:t>与函数</a:t>
            </a:r>
            <a:r>
              <a:rPr lang="en-US" altLang="zh-CN" sz="1400" i="1" kern="0" dirty="0" err="1">
                <a:effectLst/>
                <a:latin typeface="+mj-lt"/>
                <a:ea typeface="+mj-ea"/>
              </a:rPr>
              <a:t>gSymdifference</a:t>
            </a:r>
            <a:r>
              <a:rPr lang="zh-CN" altLang="en-US" sz="1400" kern="0" dirty="0">
                <a:effectLst/>
                <a:latin typeface="+mj-lt"/>
                <a:ea typeface="+mj-ea"/>
              </a:rPr>
              <a:t>裁剪效果对比</a:t>
            </a:r>
            <a:endParaRPr lang="zh-CN" altLang="en-US" sz="1100" dirty="0">
              <a:latin typeface="+mj-lt"/>
              <a:ea typeface="+mj-ea"/>
            </a:endParaRPr>
          </a:p>
        </p:txBody>
      </p:sp>
    </p:spTree>
    <p:extLst>
      <p:ext uri="{BB962C8B-B14F-4D97-AF65-F5344CB8AC3E}">
        <p14:creationId xmlns:p14="http://schemas.microsoft.com/office/powerpoint/2010/main" val="123390481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F3368D-0239-566C-3E99-6E021C775D27}"/>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8C8916E6-1342-DCBE-9A62-10A96CFD1953}"/>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4.6 </a:t>
            </a:r>
            <a:r>
              <a:rPr lang="zh-CN" altLang="en-US" sz="3600" dirty="0">
                <a:latin typeface="Times New Roman" panose="02020603050405020304" pitchFamily="18" charset="0"/>
                <a:cs typeface="Times New Roman" panose="02020603050405020304" pitchFamily="18" charset="0"/>
              </a:rPr>
              <a:t>基础空间关系分析</a:t>
            </a:r>
          </a:p>
        </p:txBody>
      </p:sp>
      <p:sp>
        <p:nvSpPr>
          <p:cNvPr id="8" name="灯片编号占位符 7">
            <a:extLst>
              <a:ext uri="{FF2B5EF4-FFF2-40B4-BE49-F238E27FC236}">
                <a16:creationId xmlns:a16="http://schemas.microsoft.com/office/drawing/2014/main" id="{CDD48719-3ABD-4FDB-C731-A09E5C23E5B7}"/>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72</a:t>
            </a:fld>
            <a:endParaRPr lang="zh-CN" altLang="en-US" dirty="0">
              <a:solidFill>
                <a:schemeClr val="bg2">
                  <a:lumMod val="75000"/>
                </a:schemeClr>
              </a:solidFill>
            </a:endParaRPr>
          </a:p>
        </p:txBody>
      </p:sp>
      <p:sp>
        <p:nvSpPr>
          <p:cNvPr id="2" name="文本框 1">
            <a:extLst>
              <a:ext uri="{FF2B5EF4-FFF2-40B4-BE49-F238E27FC236}">
                <a16:creationId xmlns:a16="http://schemas.microsoft.com/office/drawing/2014/main" id="{7399A7A1-57A6-FC05-B8B6-BA324CA174E6}"/>
              </a:ext>
            </a:extLst>
          </p:cNvPr>
          <p:cNvSpPr txBox="1"/>
          <p:nvPr/>
        </p:nvSpPr>
        <p:spPr>
          <a:xfrm>
            <a:off x="609600" y="1257300"/>
            <a:ext cx="3209533" cy="400110"/>
          </a:xfrm>
          <a:prstGeom prst="rect">
            <a:avLst/>
          </a:prstGeom>
          <a:noFill/>
        </p:spPr>
        <p:txBody>
          <a:bodyPr wrap="none" rtlCol="0">
            <a:spAutoFit/>
          </a:bodyPr>
          <a:lstStyle/>
          <a:p>
            <a:r>
              <a:rPr lang="en-US" altLang="zh-CN" sz="2000" b="1" dirty="0">
                <a:latin typeface="+mj-lt"/>
                <a:ea typeface="+mj-ea"/>
              </a:rPr>
              <a:t>(1) Spatial*</a:t>
            </a:r>
            <a:r>
              <a:rPr lang="en-US" altLang="zh-CN" sz="2000" b="1" dirty="0" err="1">
                <a:latin typeface="+mj-lt"/>
                <a:ea typeface="+mj-ea"/>
              </a:rPr>
              <a:t>DataFrame</a:t>
            </a:r>
            <a:r>
              <a:rPr lang="zh-CN" altLang="en-US" sz="2000" b="1" dirty="0">
                <a:latin typeface="+mj-lt"/>
                <a:ea typeface="+mj-ea"/>
              </a:rPr>
              <a:t>对象</a:t>
            </a:r>
          </a:p>
        </p:txBody>
      </p:sp>
      <p:sp>
        <p:nvSpPr>
          <p:cNvPr id="14" name="文本框 13">
            <a:extLst>
              <a:ext uri="{FF2B5EF4-FFF2-40B4-BE49-F238E27FC236}">
                <a16:creationId xmlns:a16="http://schemas.microsoft.com/office/drawing/2014/main" id="{5D5E91E3-744C-453F-85D3-F9AABB0F4E2C}"/>
              </a:ext>
            </a:extLst>
          </p:cNvPr>
          <p:cNvSpPr txBox="1"/>
          <p:nvPr/>
        </p:nvSpPr>
        <p:spPr>
          <a:xfrm>
            <a:off x="625250" y="1667658"/>
            <a:ext cx="7893493" cy="2536207"/>
          </a:xfrm>
          <a:prstGeom prst="rect">
            <a:avLst/>
          </a:prstGeom>
          <a:noFill/>
        </p:spPr>
        <p:txBody>
          <a:bodyPr wrap="square" rtlCol="0">
            <a:spAutoFit/>
          </a:bodyPr>
          <a:lstStyle/>
          <a:p>
            <a:pPr>
              <a:lnSpc>
                <a:spcPct val="150000"/>
              </a:lnSpc>
            </a:pPr>
            <a:r>
              <a:rPr lang="zh-CN" altLang="en-US" dirty="0">
                <a:latin typeface="+mn-lt"/>
                <a:ea typeface="+mn-ea"/>
              </a:rPr>
              <a:t>⑥ </a:t>
            </a:r>
            <a:r>
              <a:rPr lang="zh-CN" altLang="en-US" b="1" dirty="0">
                <a:latin typeface="+mn-lt"/>
                <a:ea typeface="+mn-ea"/>
              </a:rPr>
              <a:t>更多空间关系判断函数：</a:t>
            </a:r>
            <a:r>
              <a:rPr lang="zh-CN" altLang="en-US" dirty="0">
                <a:latin typeface="+mn-lt"/>
                <a:ea typeface="+mn-ea"/>
              </a:rPr>
              <a:t>函数包</a:t>
            </a:r>
            <a:r>
              <a:rPr lang="en-US" altLang="zh-CN" b="1" dirty="0" err="1">
                <a:latin typeface="+mn-lt"/>
                <a:ea typeface="+mn-ea"/>
              </a:rPr>
              <a:t>rgeos</a:t>
            </a:r>
            <a:r>
              <a:rPr lang="zh-CN" altLang="en-US" dirty="0">
                <a:latin typeface="+mn-lt"/>
                <a:ea typeface="+mn-ea"/>
              </a:rPr>
              <a:t>提供，若对象间存在对应空间关系，则返回</a:t>
            </a:r>
            <a:r>
              <a:rPr lang="en-US" altLang="zh-CN" dirty="0">
                <a:latin typeface="+mn-lt"/>
                <a:ea typeface="+mn-ea"/>
              </a:rPr>
              <a:t>TRUE</a:t>
            </a:r>
            <a:r>
              <a:rPr lang="zh-CN" altLang="en-US" dirty="0">
                <a:latin typeface="+mn-lt"/>
                <a:ea typeface="+mn-ea"/>
              </a:rPr>
              <a:t>；否则返回值为</a:t>
            </a:r>
            <a:r>
              <a:rPr lang="en-US" altLang="zh-CN" dirty="0">
                <a:latin typeface="+mn-lt"/>
                <a:ea typeface="+mn-ea"/>
              </a:rPr>
              <a:t>FALSE</a:t>
            </a:r>
            <a:r>
              <a:rPr lang="zh-CN" altLang="en-US" dirty="0">
                <a:latin typeface="+mn-lt"/>
                <a:ea typeface="+mn-ea"/>
              </a:rPr>
              <a:t>。包括：</a:t>
            </a:r>
            <a:endParaRPr lang="en-US" altLang="zh-CN" dirty="0">
              <a:latin typeface="+mn-lt"/>
              <a:ea typeface="+mn-ea"/>
            </a:endParaRPr>
          </a:p>
          <a:p>
            <a:pPr marL="342900" indent="-342900">
              <a:lnSpc>
                <a:spcPct val="150000"/>
              </a:lnSpc>
              <a:buFont typeface="+mj-lt"/>
              <a:buAutoNum type="arabicPeriod"/>
            </a:pPr>
            <a:r>
              <a:rPr lang="zh-CN" altLang="en-US" b="1" dirty="0">
                <a:latin typeface="+mn-lt"/>
                <a:ea typeface="+mn-ea"/>
              </a:rPr>
              <a:t>包含关系</a:t>
            </a:r>
            <a:r>
              <a:rPr lang="zh-CN" altLang="en-US" dirty="0">
                <a:latin typeface="+mn-lt"/>
                <a:ea typeface="+mn-ea"/>
              </a:rPr>
              <a:t>：可用函数包括</a:t>
            </a:r>
            <a:r>
              <a:rPr lang="en-US" altLang="zh-CN" b="1" i="1" dirty="0" err="1">
                <a:latin typeface="+mn-lt"/>
                <a:ea typeface="+mn-ea"/>
              </a:rPr>
              <a:t>gContains</a:t>
            </a:r>
            <a:r>
              <a:rPr lang="zh-CN" altLang="en-US" dirty="0">
                <a:latin typeface="+mn-lt"/>
                <a:ea typeface="+mn-ea"/>
              </a:rPr>
              <a:t>、</a:t>
            </a:r>
            <a:r>
              <a:rPr lang="en-US" altLang="zh-CN" b="1" i="1" dirty="0" err="1">
                <a:latin typeface="+mn-lt"/>
                <a:ea typeface="+mn-ea"/>
              </a:rPr>
              <a:t>gContainsProperly</a:t>
            </a:r>
            <a:r>
              <a:rPr lang="zh-CN" altLang="en-US" dirty="0">
                <a:latin typeface="+mn-lt"/>
                <a:ea typeface="+mn-ea"/>
              </a:rPr>
              <a:t>、</a:t>
            </a:r>
            <a:r>
              <a:rPr lang="en-US" altLang="zh-CN" b="1" i="1" dirty="0" err="1">
                <a:latin typeface="+mn-lt"/>
                <a:ea typeface="+mn-ea"/>
              </a:rPr>
              <a:t>gCovers</a:t>
            </a:r>
            <a:r>
              <a:rPr lang="zh-CN" altLang="en-US" dirty="0">
                <a:latin typeface="+mn-lt"/>
                <a:ea typeface="+mn-ea"/>
              </a:rPr>
              <a:t>、</a:t>
            </a:r>
            <a:r>
              <a:rPr lang="en-US" altLang="zh-CN" b="1" i="1" dirty="0" err="1">
                <a:latin typeface="+mn-lt"/>
                <a:ea typeface="+mn-ea"/>
              </a:rPr>
              <a:t>gCoveredBy</a:t>
            </a:r>
            <a:r>
              <a:rPr lang="zh-CN" altLang="en-US" dirty="0">
                <a:latin typeface="+mn-lt"/>
                <a:ea typeface="+mn-ea"/>
              </a:rPr>
              <a:t>、</a:t>
            </a:r>
            <a:r>
              <a:rPr lang="en-US" altLang="zh-CN" b="1" i="1" dirty="0" err="1">
                <a:latin typeface="+mn-lt"/>
                <a:ea typeface="+mn-ea"/>
              </a:rPr>
              <a:t>gWithin</a:t>
            </a:r>
            <a:r>
              <a:rPr lang="zh-CN" altLang="en-US" dirty="0">
                <a:latin typeface="+mn-lt"/>
                <a:ea typeface="+mn-ea"/>
              </a:rPr>
              <a:t>等；</a:t>
            </a:r>
            <a:endParaRPr lang="en-US" altLang="zh-CN" dirty="0">
              <a:latin typeface="+mn-lt"/>
              <a:ea typeface="+mn-ea"/>
            </a:endParaRPr>
          </a:p>
          <a:p>
            <a:pPr marL="342900" indent="-342900">
              <a:lnSpc>
                <a:spcPct val="150000"/>
              </a:lnSpc>
              <a:buFont typeface="+mj-lt"/>
              <a:buAutoNum type="arabicPeriod"/>
            </a:pPr>
            <a:r>
              <a:rPr lang="zh-CN" altLang="en-US" b="1" dirty="0">
                <a:latin typeface="+mn-lt"/>
                <a:ea typeface="+mn-ea"/>
              </a:rPr>
              <a:t>交叠关系</a:t>
            </a:r>
            <a:r>
              <a:rPr lang="zh-CN" altLang="en-US" dirty="0">
                <a:latin typeface="+mn-lt"/>
                <a:ea typeface="+mn-ea"/>
              </a:rPr>
              <a:t>：可用函数包括</a:t>
            </a:r>
            <a:r>
              <a:rPr lang="en-US" altLang="zh-CN" b="1" i="1" dirty="0" err="1">
                <a:latin typeface="+mn-lt"/>
                <a:ea typeface="+mn-ea"/>
              </a:rPr>
              <a:t>gCrosses</a:t>
            </a:r>
            <a:r>
              <a:rPr lang="zh-CN" altLang="en-US" dirty="0">
                <a:latin typeface="+mn-lt"/>
                <a:ea typeface="+mn-ea"/>
              </a:rPr>
              <a:t>和</a:t>
            </a:r>
            <a:r>
              <a:rPr lang="en-US" altLang="zh-CN" b="1" i="1" dirty="0" err="1">
                <a:latin typeface="+mn-lt"/>
                <a:ea typeface="+mn-ea"/>
              </a:rPr>
              <a:t>gOverlaps</a:t>
            </a:r>
            <a:r>
              <a:rPr lang="zh-CN" altLang="en-US" dirty="0">
                <a:latin typeface="+mn-lt"/>
                <a:ea typeface="+mn-ea"/>
              </a:rPr>
              <a:t>；</a:t>
            </a:r>
            <a:endParaRPr lang="en-US" altLang="zh-CN" dirty="0">
              <a:latin typeface="+mn-lt"/>
              <a:ea typeface="+mn-ea"/>
            </a:endParaRPr>
          </a:p>
          <a:p>
            <a:pPr marL="342900" indent="-342900">
              <a:lnSpc>
                <a:spcPct val="150000"/>
              </a:lnSpc>
              <a:buFont typeface="+mj-lt"/>
              <a:buAutoNum type="arabicPeriod"/>
            </a:pPr>
            <a:r>
              <a:rPr lang="zh-CN" altLang="en-US" b="1" dirty="0">
                <a:latin typeface="+mn-lt"/>
                <a:ea typeface="+mn-ea"/>
              </a:rPr>
              <a:t>相遇关系</a:t>
            </a:r>
            <a:r>
              <a:rPr lang="zh-CN" altLang="en-US" dirty="0">
                <a:latin typeface="+mn-lt"/>
                <a:ea typeface="+mn-ea"/>
              </a:rPr>
              <a:t>：可用函数包括</a:t>
            </a:r>
            <a:r>
              <a:rPr lang="en-US" altLang="zh-CN" b="1" i="1" dirty="0" err="1">
                <a:latin typeface="+mn-lt"/>
                <a:ea typeface="+mn-ea"/>
              </a:rPr>
              <a:t>gTouches</a:t>
            </a:r>
            <a:endParaRPr lang="en-US" altLang="zh-CN" b="1" i="1" dirty="0">
              <a:latin typeface="+mn-lt"/>
              <a:ea typeface="+mn-ea"/>
            </a:endParaRPr>
          </a:p>
        </p:txBody>
      </p:sp>
    </p:spTree>
    <p:extLst>
      <p:ext uri="{BB962C8B-B14F-4D97-AF65-F5344CB8AC3E}">
        <p14:creationId xmlns:p14="http://schemas.microsoft.com/office/powerpoint/2010/main" val="16139999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16DB8-6EC5-0204-7DB1-D179B00810C9}"/>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5F49D96C-0DBD-25C3-923A-7CDE05552B58}"/>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4.6 </a:t>
            </a:r>
            <a:r>
              <a:rPr lang="zh-CN" altLang="en-US" sz="3600" dirty="0">
                <a:latin typeface="Times New Roman" panose="02020603050405020304" pitchFamily="18" charset="0"/>
                <a:cs typeface="Times New Roman" panose="02020603050405020304" pitchFamily="18" charset="0"/>
              </a:rPr>
              <a:t>基础空间关系分析</a:t>
            </a:r>
          </a:p>
        </p:txBody>
      </p:sp>
      <p:sp>
        <p:nvSpPr>
          <p:cNvPr id="8" name="灯片编号占位符 7">
            <a:extLst>
              <a:ext uri="{FF2B5EF4-FFF2-40B4-BE49-F238E27FC236}">
                <a16:creationId xmlns:a16="http://schemas.microsoft.com/office/drawing/2014/main" id="{5063D712-B538-C26C-53EF-97C6CF3D4D82}"/>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73</a:t>
            </a:fld>
            <a:endParaRPr lang="zh-CN" altLang="en-US" dirty="0">
              <a:solidFill>
                <a:schemeClr val="bg2">
                  <a:lumMod val="75000"/>
                </a:schemeClr>
              </a:solidFill>
            </a:endParaRPr>
          </a:p>
        </p:txBody>
      </p:sp>
      <p:sp>
        <p:nvSpPr>
          <p:cNvPr id="2" name="文本框 1">
            <a:extLst>
              <a:ext uri="{FF2B5EF4-FFF2-40B4-BE49-F238E27FC236}">
                <a16:creationId xmlns:a16="http://schemas.microsoft.com/office/drawing/2014/main" id="{BB13D6C9-55F9-B4A7-B4D1-2850428A281F}"/>
              </a:ext>
            </a:extLst>
          </p:cNvPr>
          <p:cNvSpPr txBox="1"/>
          <p:nvPr/>
        </p:nvSpPr>
        <p:spPr>
          <a:xfrm>
            <a:off x="609600" y="1257300"/>
            <a:ext cx="3209533" cy="400110"/>
          </a:xfrm>
          <a:prstGeom prst="rect">
            <a:avLst/>
          </a:prstGeom>
          <a:noFill/>
        </p:spPr>
        <p:txBody>
          <a:bodyPr wrap="none" rtlCol="0">
            <a:spAutoFit/>
          </a:bodyPr>
          <a:lstStyle/>
          <a:p>
            <a:r>
              <a:rPr lang="en-US" altLang="zh-CN" sz="2000" b="1" dirty="0">
                <a:latin typeface="+mj-lt"/>
                <a:ea typeface="+mj-ea"/>
              </a:rPr>
              <a:t>(1) Spatial*</a:t>
            </a:r>
            <a:r>
              <a:rPr lang="en-US" altLang="zh-CN" sz="2000" b="1" dirty="0" err="1">
                <a:latin typeface="+mj-lt"/>
                <a:ea typeface="+mj-ea"/>
              </a:rPr>
              <a:t>DataFrame</a:t>
            </a:r>
            <a:r>
              <a:rPr lang="zh-CN" altLang="en-US" sz="2000" b="1" dirty="0">
                <a:latin typeface="+mj-lt"/>
                <a:ea typeface="+mj-ea"/>
              </a:rPr>
              <a:t>对象</a:t>
            </a:r>
          </a:p>
        </p:txBody>
      </p:sp>
      <p:sp>
        <p:nvSpPr>
          <p:cNvPr id="14" name="文本框 13">
            <a:extLst>
              <a:ext uri="{FF2B5EF4-FFF2-40B4-BE49-F238E27FC236}">
                <a16:creationId xmlns:a16="http://schemas.microsoft.com/office/drawing/2014/main" id="{52B95229-FBA1-9B67-43A7-FD115EFCBE2D}"/>
              </a:ext>
            </a:extLst>
          </p:cNvPr>
          <p:cNvSpPr txBox="1"/>
          <p:nvPr/>
        </p:nvSpPr>
        <p:spPr>
          <a:xfrm>
            <a:off x="625250" y="1667658"/>
            <a:ext cx="7893493" cy="1705210"/>
          </a:xfrm>
          <a:prstGeom prst="rect">
            <a:avLst/>
          </a:prstGeom>
          <a:noFill/>
        </p:spPr>
        <p:txBody>
          <a:bodyPr wrap="square" rtlCol="0">
            <a:spAutoFit/>
          </a:bodyPr>
          <a:lstStyle/>
          <a:p>
            <a:pPr>
              <a:lnSpc>
                <a:spcPct val="150000"/>
              </a:lnSpc>
            </a:pPr>
            <a:r>
              <a:rPr lang="zh-CN" altLang="en-US" dirty="0">
                <a:latin typeface="+mn-lt"/>
                <a:ea typeface="+mn-ea"/>
              </a:rPr>
              <a:t>⑥ </a:t>
            </a:r>
            <a:r>
              <a:rPr lang="zh-CN" altLang="en-US" b="1" dirty="0">
                <a:latin typeface="+mn-lt"/>
                <a:ea typeface="+mn-ea"/>
              </a:rPr>
              <a:t>更多空间关系判断函数：</a:t>
            </a:r>
            <a:r>
              <a:rPr lang="zh-CN" altLang="en-US" dirty="0">
                <a:latin typeface="+mn-lt"/>
                <a:ea typeface="+mn-ea"/>
              </a:rPr>
              <a:t>函数包</a:t>
            </a:r>
            <a:r>
              <a:rPr lang="en-US" altLang="zh-CN" b="1" dirty="0" err="1">
                <a:latin typeface="+mn-lt"/>
                <a:ea typeface="+mn-ea"/>
              </a:rPr>
              <a:t>rgeos</a:t>
            </a:r>
            <a:r>
              <a:rPr lang="zh-CN" altLang="en-US" dirty="0">
                <a:latin typeface="+mn-lt"/>
                <a:ea typeface="+mn-ea"/>
              </a:rPr>
              <a:t>提供，若对象间存在对应空间关系，则返回</a:t>
            </a:r>
            <a:r>
              <a:rPr lang="en-US" altLang="zh-CN" dirty="0">
                <a:latin typeface="+mn-lt"/>
                <a:ea typeface="+mn-ea"/>
              </a:rPr>
              <a:t>TRUE</a:t>
            </a:r>
            <a:r>
              <a:rPr lang="zh-CN" altLang="en-US" dirty="0">
                <a:latin typeface="+mn-lt"/>
                <a:ea typeface="+mn-ea"/>
              </a:rPr>
              <a:t>；否则返回值为</a:t>
            </a:r>
            <a:r>
              <a:rPr lang="en-US" altLang="zh-CN" dirty="0">
                <a:latin typeface="+mn-lt"/>
                <a:ea typeface="+mn-ea"/>
              </a:rPr>
              <a:t>FALSE</a:t>
            </a:r>
            <a:r>
              <a:rPr lang="zh-CN" altLang="en-US" dirty="0">
                <a:latin typeface="+mn-lt"/>
                <a:ea typeface="+mn-ea"/>
              </a:rPr>
              <a:t>。包括：</a:t>
            </a:r>
            <a:endParaRPr lang="en-US" altLang="zh-CN" dirty="0">
              <a:latin typeface="+mn-lt"/>
              <a:ea typeface="+mn-ea"/>
            </a:endParaRPr>
          </a:p>
          <a:p>
            <a:pPr marL="342900" indent="-342900">
              <a:lnSpc>
                <a:spcPct val="150000"/>
              </a:lnSpc>
              <a:buFont typeface="+mj-lt"/>
              <a:buAutoNum type="arabicPeriod"/>
            </a:pPr>
            <a:r>
              <a:rPr lang="zh-CN" altLang="en-US" b="1" dirty="0">
                <a:latin typeface="+mn-lt"/>
                <a:ea typeface="+mn-ea"/>
              </a:rPr>
              <a:t>包含关系</a:t>
            </a:r>
            <a:r>
              <a:rPr lang="zh-CN" altLang="en-US" dirty="0">
                <a:latin typeface="+mn-lt"/>
                <a:ea typeface="+mn-ea"/>
              </a:rPr>
              <a:t>：可用函数包括</a:t>
            </a:r>
            <a:r>
              <a:rPr lang="en-US" altLang="zh-CN" b="1" i="1" dirty="0" err="1">
                <a:latin typeface="+mn-lt"/>
                <a:ea typeface="+mn-ea"/>
              </a:rPr>
              <a:t>gContains</a:t>
            </a:r>
            <a:r>
              <a:rPr lang="zh-CN" altLang="en-US" dirty="0">
                <a:latin typeface="+mn-lt"/>
                <a:ea typeface="+mn-ea"/>
              </a:rPr>
              <a:t>、</a:t>
            </a:r>
            <a:r>
              <a:rPr lang="en-US" altLang="zh-CN" b="1" i="1" dirty="0" err="1">
                <a:latin typeface="+mn-lt"/>
                <a:ea typeface="+mn-ea"/>
              </a:rPr>
              <a:t>gContainsProperly</a:t>
            </a:r>
            <a:r>
              <a:rPr lang="zh-CN" altLang="en-US" dirty="0">
                <a:latin typeface="+mn-lt"/>
                <a:ea typeface="+mn-ea"/>
              </a:rPr>
              <a:t>、</a:t>
            </a:r>
            <a:r>
              <a:rPr lang="en-US" altLang="zh-CN" b="1" i="1" dirty="0" err="1">
                <a:latin typeface="+mn-lt"/>
                <a:ea typeface="+mn-ea"/>
              </a:rPr>
              <a:t>gCovers</a:t>
            </a:r>
            <a:r>
              <a:rPr lang="zh-CN" altLang="en-US" dirty="0">
                <a:latin typeface="+mn-lt"/>
                <a:ea typeface="+mn-ea"/>
              </a:rPr>
              <a:t>、</a:t>
            </a:r>
            <a:r>
              <a:rPr lang="en-US" altLang="zh-CN" b="1" i="1" dirty="0" err="1">
                <a:latin typeface="+mn-lt"/>
                <a:ea typeface="+mn-ea"/>
              </a:rPr>
              <a:t>gCoveredBy</a:t>
            </a:r>
            <a:r>
              <a:rPr lang="zh-CN" altLang="en-US" dirty="0">
                <a:latin typeface="+mn-lt"/>
                <a:ea typeface="+mn-ea"/>
              </a:rPr>
              <a:t>、</a:t>
            </a:r>
            <a:r>
              <a:rPr lang="en-US" altLang="zh-CN" b="1" i="1" dirty="0" err="1">
                <a:latin typeface="+mn-lt"/>
                <a:ea typeface="+mn-ea"/>
              </a:rPr>
              <a:t>gWithin</a:t>
            </a:r>
            <a:r>
              <a:rPr lang="zh-CN" altLang="en-US" dirty="0">
                <a:latin typeface="+mn-lt"/>
                <a:ea typeface="+mn-ea"/>
              </a:rPr>
              <a:t>等；</a:t>
            </a:r>
            <a:endParaRPr lang="en-US" altLang="zh-CN" dirty="0">
              <a:latin typeface="+mn-lt"/>
              <a:ea typeface="+mn-ea"/>
            </a:endParaRPr>
          </a:p>
        </p:txBody>
      </p:sp>
      <p:pic>
        <p:nvPicPr>
          <p:cNvPr id="3" name="图片 2">
            <a:extLst>
              <a:ext uri="{FF2B5EF4-FFF2-40B4-BE49-F238E27FC236}">
                <a16:creationId xmlns:a16="http://schemas.microsoft.com/office/drawing/2014/main" id="{037D4BED-0CBF-1223-15A6-5278C1721D42}"/>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5405" r="2711" b="10425"/>
          <a:stretch/>
        </p:blipFill>
        <p:spPr bwMode="auto">
          <a:xfrm>
            <a:off x="2632572" y="3443714"/>
            <a:ext cx="3878848" cy="2834817"/>
          </a:xfrm>
          <a:prstGeom prst="rect">
            <a:avLst/>
          </a:prstGeom>
          <a:ln>
            <a:noFill/>
          </a:ln>
          <a:effectLst>
            <a:outerShdw blurRad="190500" algn="tl" rotWithShape="0">
              <a:srgbClr val="000000">
                <a:alpha val="70000"/>
              </a:srgbClr>
            </a:outerShdw>
          </a:effectLst>
          <a:extLst>
            <a:ext uri="{53640926-AAD7-44D8-BBD7-CCE9431645EC}">
              <a14:shadowObscured xmlns:a14="http://schemas.microsoft.com/office/drawing/2010/main"/>
            </a:ext>
          </a:extLst>
        </p:spPr>
      </p:pic>
      <p:sp>
        <p:nvSpPr>
          <p:cNvPr id="5" name="文本框 4">
            <a:extLst>
              <a:ext uri="{FF2B5EF4-FFF2-40B4-BE49-F238E27FC236}">
                <a16:creationId xmlns:a16="http://schemas.microsoft.com/office/drawing/2014/main" id="{D031A191-6CE2-F48A-6C45-885A0413989C}"/>
              </a:ext>
            </a:extLst>
          </p:cNvPr>
          <p:cNvSpPr txBox="1"/>
          <p:nvPr/>
        </p:nvSpPr>
        <p:spPr>
          <a:xfrm>
            <a:off x="858039" y="6349377"/>
            <a:ext cx="7542222" cy="307777"/>
          </a:xfrm>
          <a:prstGeom prst="rect">
            <a:avLst/>
          </a:prstGeom>
          <a:noFill/>
        </p:spPr>
        <p:txBody>
          <a:bodyPr wrap="square">
            <a:spAutoFit/>
          </a:bodyPr>
          <a:lstStyle/>
          <a:p>
            <a:pPr algn="ctr"/>
            <a:r>
              <a:rPr lang="zh-CN" altLang="zh-CN" sz="1400" kern="0" dirty="0">
                <a:effectLst/>
                <a:latin typeface="+mj-ea"/>
                <a:ea typeface="+mj-ea"/>
                <a:cs typeface="Times New Roman" panose="02020603050405020304" pitchFamily="18" charset="0"/>
              </a:rPr>
              <a:t>包含关系判断情形示意图</a:t>
            </a:r>
            <a:endParaRPr lang="zh-CN" altLang="en-US" sz="1400" dirty="0">
              <a:latin typeface="+mj-ea"/>
              <a:ea typeface="+mj-ea"/>
            </a:endParaRPr>
          </a:p>
        </p:txBody>
      </p:sp>
    </p:spTree>
    <p:extLst>
      <p:ext uri="{BB962C8B-B14F-4D97-AF65-F5344CB8AC3E}">
        <p14:creationId xmlns:p14="http://schemas.microsoft.com/office/powerpoint/2010/main" val="96380215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85D453-E498-F163-4C48-6A92ED3281D9}"/>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5BA74954-E343-DEEE-8D10-C9C8CB766B54}"/>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4.6 </a:t>
            </a:r>
            <a:r>
              <a:rPr lang="zh-CN" altLang="en-US" sz="3600" dirty="0">
                <a:latin typeface="Times New Roman" panose="02020603050405020304" pitchFamily="18" charset="0"/>
                <a:cs typeface="Times New Roman" panose="02020603050405020304" pitchFamily="18" charset="0"/>
              </a:rPr>
              <a:t>基础空间关系分析</a:t>
            </a:r>
          </a:p>
        </p:txBody>
      </p:sp>
      <p:sp>
        <p:nvSpPr>
          <p:cNvPr id="8" name="灯片编号占位符 7">
            <a:extLst>
              <a:ext uri="{FF2B5EF4-FFF2-40B4-BE49-F238E27FC236}">
                <a16:creationId xmlns:a16="http://schemas.microsoft.com/office/drawing/2014/main" id="{30A3EAD9-B97A-0167-44C1-F6A66B7C047C}"/>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74</a:t>
            </a:fld>
            <a:endParaRPr lang="zh-CN" altLang="en-US" dirty="0">
              <a:solidFill>
                <a:schemeClr val="bg2">
                  <a:lumMod val="75000"/>
                </a:schemeClr>
              </a:solidFill>
            </a:endParaRPr>
          </a:p>
        </p:txBody>
      </p:sp>
      <p:sp>
        <p:nvSpPr>
          <p:cNvPr id="2" name="文本框 1">
            <a:extLst>
              <a:ext uri="{FF2B5EF4-FFF2-40B4-BE49-F238E27FC236}">
                <a16:creationId xmlns:a16="http://schemas.microsoft.com/office/drawing/2014/main" id="{8A4EA640-4710-5048-7D92-D1AA6B36DC9C}"/>
              </a:ext>
            </a:extLst>
          </p:cNvPr>
          <p:cNvSpPr txBox="1"/>
          <p:nvPr/>
        </p:nvSpPr>
        <p:spPr>
          <a:xfrm>
            <a:off x="609600" y="1257300"/>
            <a:ext cx="3209533" cy="400110"/>
          </a:xfrm>
          <a:prstGeom prst="rect">
            <a:avLst/>
          </a:prstGeom>
          <a:noFill/>
        </p:spPr>
        <p:txBody>
          <a:bodyPr wrap="none" rtlCol="0">
            <a:spAutoFit/>
          </a:bodyPr>
          <a:lstStyle/>
          <a:p>
            <a:r>
              <a:rPr lang="en-US" altLang="zh-CN" sz="2000" b="1" dirty="0">
                <a:latin typeface="+mj-lt"/>
                <a:ea typeface="+mj-ea"/>
              </a:rPr>
              <a:t>(1) Spatial*</a:t>
            </a:r>
            <a:r>
              <a:rPr lang="en-US" altLang="zh-CN" sz="2000" b="1" dirty="0" err="1">
                <a:latin typeface="+mj-lt"/>
                <a:ea typeface="+mj-ea"/>
              </a:rPr>
              <a:t>DataFrame</a:t>
            </a:r>
            <a:r>
              <a:rPr lang="zh-CN" altLang="en-US" sz="2000" b="1" dirty="0">
                <a:latin typeface="+mj-lt"/>
                <a:ea typeface="+mj-ea"/>
              </a:rPr>
              <a:t>对象</a:t>
            </a:r>
          </a:p>
        </p:txBody>
      </p:sp>
      <p:sp>
        <p:nvSpPr>
          <p:cNvPr id="14" name="文本框 13">
            <a:extLst>
              <a:ext uri="{FF2B5EF4-FFF2-40B4-BE49-F238E27FC236}">
                <a16:creationId xmlns:a16="http://schemas.microsoft.com/office/drawing/2014/main" id="{7E1B88A1-CC2A-A7DE-B3A6-292BCA0BFEA4}"/>
              </a:ext>
            </a:extLst>
          </p:cNvPr>
          <p:cNvSpPr txBox="1"/>
          <p:nvPr/>
        </p:nvSpPr>
        <p:spPr>
          <a:xfrm>
            <a:off x="625250" y="1667658"/>
            <a:ext cx="7893493" cy="1289712"/>
          </a:xfrm>
          <a:prstGeom prst="rect">
            <a:avLst/>
          </a:prstGeom>
          <a:noFill/>
        </p:spPr>
        <p:txBody>
          <a:bodyPr wrap="square" rtlCol="0">
            <a:spAutoFit/>
          </a:bodyPr>
          <a:lstStyle/>
          <a:p>
            <a:pPr>
              <a:lnSpc>
                <a:spcPct val="150000"/>
              </a:lnSpc>
            </a:pPr>
            <a:r>
              <a:rPr lang="zh-CN" altLang="en-US" dirty="0">
                <a:latin typeface="+mn-lt"/>
                <a:ea typeface="+mn-ea"/>
              </a:rPr>
              <a:t>⑥ </a:t>
            </a:r>
            <a:r>
              <a:rPr lang="zh-CN" altLang="en-US" b="1" dirty="0">
                <a:latin typeface="+mn-lt"/>
                <a:ea typeface="+mn-ea"/>
              </a:rPr>
              <a:t>更多空间关系判断函数：</a:t>
            </a:r>
            <a:r>
              <a:rPr lang="zh-CN" altLang="en-US" dirty="0">
                <a:latin typeface="+mn-lt"/>
                <a:ea typeface="+mn-ea"/>
              </a:rPr>
              <a:t>函数包</a:t>
            </a:r>
            <a:r>
              <a:rPr lang="en-US" altLang="zh-CN" b="1" dirty="0" err="1">
                <a:latin typeface="+mn-lt"/>
                <a:ea typeface="+mn-ea"/>
              </a:rPr>
              <a:t>rgeos</a:t>
            </a:r>
            <a:r>
              <a:rPr lang="zh-CN" altLang="en-US" dirty="0">
                <a:latin typeface="+mn-lt"/>
                <a:ea typeface="+mn-ea"/>
              </a:rPr>
              <a:t>提供，若对象间存在对应空间关系，则返回</a:t>
            </a:r>
            <a:r>
              <a:rPr lang="en-US" altLang="zh-CN" dirty="0">
                <a:latin typeface="+mn-lt"/>
                <a:ea typeface="+mn-ea"/>
              </a:rPr>
              <a:t>TRUE</a:t>
            </a:r>
            <a:r>
              <a:rPr lang="zh-CN" altLang="en-US" dirty="0">
                <a:latin typeface="+mn-lt"/>
                <a:ea typeface="+mn-ea"/>
              </a:rPr>
              <a:t>；否则返回值为</a:t>
            </a:r>
            <a:r>
              <a:rPr lang="en-US" altLang="zh-CN" dirty="0">
                <a:latin typeface="+mn-lt"/>
                <a:ea typeface="+mn-ea"/>
              </a:rPr>
              <a:t>FALSE</a:t>
            </a:r>
            <a:r>
              <a:rPr lang="zh-CN" altLang="en-US" dirty="0">
                <a:latin typeface="+mn-lt"/>
                <a:ea typeface="+mn-ea"/>
              </a:rPr>
              <a:t>。包括：</a:t>
            </a:r>
            <a:endParaRPr lang="en-US" altLang="zh-CN" dirty="0">
              <a:latin typeface="+mn-lt"/>
              <a:ea typeface="+mn-ea"/>
            </a:endParaRPr>
          </a:p>
          <a:p>
            <a:pPr>
              <a:lnSpc>
                <a:spcPct val="150000"/>
              </a:lnSpc>
            </a:pPr>
            <a:r>
              <a:rPr lang="en-US" altLang="zh-CN" b="1" dirty="0">
                <a:latin typeface="+mn-lt"/>
                <a:ea typeface="+mn-ea"/>
              </a:rPr>
              <a:t>2.  </a:t>
            </a:r>
            <a:r>
              <a:rPr lang="zh-CN" altLang="en-US" b="1" dirty="0">
                <a:latin typeface="+mn-lt"/>
                <a:ea typeface="+mn-ea"/>
              </a:rPr>
              <a:t>交叠关系</a:t>
            </a:r>
            <a:r>
              <a:rPr lang="zh-CN" altLang="en-US" dirty="0">
                <a:latin typeface="+mn-lt"/>
                <a:ea typeface="+mn-ea"/>
              </a:rPr>
              <a:t>：可用函数包括</a:t>
            </a:r>
            <a:r>
              <a:rPr lang="en-US" altLang="zh-CN" b="1" i="1" dirty="0" err="1">
                <a:latin typeface="+mn-lt"/>
                <a:ea typeface="+mn-ea"/>
              </a:rPr>
              <a:t>gCrosses</a:t>
            </a:r>
            <a:r>
              <a:rPr lang="zh-CN" altLang="en-US" dirty="0">
                <a:latin typeface="+mn-lt"/>
                <a:ea typeface="+mn-ea"/>
              </a:rPr>
              <a:t>和</a:t>
            </a:r>
            <a:r>
              <a:rPr lang="en-US" altLang="zh-CN" b="1" i="1" dirty="0" err="1">
                <a:latin typeface="+mn-lt"/>
                <a:ea typeface="+mn-ea"/>
              </a:rPr>
              <a:t>gOverlaps</a:t>
            </a:r>
            <a:r>
              <a:rPr lang="zh-CN" altLang="en-US" dirty="0">
                <a:latin typeface="+mn-lt"/>
                <a:ea typeface="+mn-ea"/>
              </a:rPr>
              <a:t>；</a:t>
            </a:r>
            <a:endParaRPr lang="en-US" altLang="zh-CN" dirty="0">
              <a:latin typeface="+mn-lt"/>
              <a:ea typeface="+mn-ea"/>
            </a:endParaRPr>
          </a:p>
        </p:txBody>
      </p:sp>
      <p:pic>
        <p:nvPicPr>
          <p:cNvPr id="3" name="图片 2">
            <a:extLst>
              <a:ext uri="{FF2B5EF4-FFF2-40B4-BE49-F238E27FC236}">
                <a16:creationId xmlns:a16="http://schemas.microsoft.com/office/drawing/2014/main" id="{8CF345C8-3F4F-D2C1-FC4A-6C98007F230D}"/>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4582" b="9602"/>
          <a:stretch/>
        </p:blipFill>
        <p:spPr bwMode="auto">
          <a:xfrm>
            <a:off x="2503719" y="3086100"/>
            <a:ext cx="4136554" cy="2937742"/>
          </a:xfrm>
          <a:prstGeom prst="rect">
            <a:avLst/>
          </a:prstGeom>
          <a:ln>
            <a:noFill/>
          </a:ln>
          <a:effectLst>
            <a:outerShdw blurRad="190500" algn="tl" rotWithShape="0">
              <a:srgbClr val="000000">
                <a:alpha val="70000"/>
              </a:srgbClr>
            </a:outerShdw>
          </a:effectLst>
          <a:extLst>
            <a:ext uri="{53640926-AAD7-44D8-BBD7-CCE9431645EC}">
              <a14:shadowObscured xmlns:a14="http://schemas.microsoft.com/office/drawing/2010/main"/>
            </a:ext>
          </a:extLst>
        </p:spPr>
      </p:pic>
      <p:sp>
        <p:nvSpPr>
          <p:cNvPr id="4" name="文本框 3">
            <a:extLst>
              <a:ext uri="{FF2B5EF4-FFF2-40B4-BE49-F238E27FC236}">
                <a16:creationId xmlns:a16="http://schemas.microsoft.com/office/drawing/2014/main" id="{E46262EF-E889-B4B6-D908-958089308997}"/>
              </a:ext>
            </a:extLst>
          </p:cNvPr>
          <p:cNvSpPr txBox="1"/>
          <p:nvPr/>
        </p:nvSpPr>
        <p:spPr>
          <a:xfrm>
            <a:off x="858039" y="6152572"/>
            <a:ext cx="7542222" cy="307777"/>
          </a:xfrm>
          <a:prstGeom prst="rect">
            <a:avLst/>
          </a:prstGeom>
          <a:noFill/>
        </p:spPr>
        <p:txBody>
          <a:bodyPr wrap="square">
            <a:spAutoFit/>
          </a:bodyPr>
          <a:lstStyle/>
          <a:p>
            <a:pPr algn="ctr"/>
            <a:r>
              <a:rPr lang="zh-CN" altLang="en-US" sz="1400" kern="0" dirty="0">
                <a:effectLst/>
                <a:latin typeface="+mj-ea"/>
                <a:ea typeface="+mj-ea"/>
                <a:cs typeface="Times New Roman" panose="02020603050405020304" pitchFamily="18" charset="0"/>
              </a:rPr>
              <a:t>交叠关系判断情形示意图</a:t>
            </a:r>
            <a:endParaRPr lang="zh-CN" altLang="en-US" sz="1400" dirty="0">
              <a:latin typeface="+mj-ea"/>
              <a:ea typeface="+mj-ea"/>
            </a:endParaRPr>
          </a:p>
        </p:txBody>
      </p:sp>
    </p:spTree>
    <p:extLst>
      <p:ext uri="{BB962C8B-B14F-4D97-AF65-F5344CB8AC3E}">
        <p14:creationId xmlns:p14="http://schemas.microsoft.com/office/powerpoint/2010/main" val="26831276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69EA64-5B87-5313-FED0-B88BFDA8EEF0}"/>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706E63D2-DB46-A4F8-70C6-B1D064D6EE3D}"/>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4.6 </a:t>
            </a:r>
            <a:r>
              <a:rPr lang="zh-CN" altLang="en-US" sz="3600" dirty="0">
                <a:latin typeface="Times New Roman" panose="02020603050405020304" pitchFamily="18" charset="0"/>
                <a:cs typeface="Times New Roman" panose="02020603050405020304" pitchFamily="18" charset="0"/>
              </a:rPr>
              <a:t>基础空间关系分析</a:t>
            </a:r>
          </a:p>
        </p:txBody>
      </p:sp>
      <p:sp>
        <p:nvSpPr>
          <p:cNvPr id="8" name="灯片编号占位符 7">
            <a:extLst>
              <a:ext uri="{FF2B5EF4-FFF2-40B4-BE49-F238E27FC236}">
                <a16:creationId xmlns:a16="http://schemas.microsoft.com/office/drawing/2014/main" id="{E8ACF589-B91B-2423-01BF-55D882669AB4}"/>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75</a:t>
            </a:fld>
            <a:endParaRPr lang="zh-CN" altLang="en-US" dirty="0">
              <a:solidFill>
                <a:schemeClr val="bg2">
                  <a:lumMod val="75000"/>
                </a:schemeClr>
              </a:solidFill>
            </a:endParaRPr>
          </a:p>
        </p:txBody>
      </p:sp>
      <p:sp>
        <p:nvSpPr>
          <p:cNvPr id="2" name="文本框 1">
            <a:extLst>
              <a:ext uri="{FF2B5EF4-FFF2-40B4-BE49-F238E27FC236}">
                <a16:creationId xmlns:a16="http://schemas.microsoft.com/office/drawing/2014/main" id="{B0FA5AB2-591B-CD28-0EE6-F5D68335CEE0}"/>
              </a:ext>
            </a:extLst>
          </p:cNvPr>
          <p:cNvSpPr txBox="1"/>
          <p:nvPr/>
        </p:nvSpPr>
        <p:spPr>
          <a:xfrm>
            <a:off x="609600" y="1257300"/>
            <a:ext cx="3209533" cy="400110"/>
          </a:xfrm>
          <a:prstGeom prst="rect">
            <a:avLst/>
          </a:prstGeom>
          <a:noFill/>
        </p:spPr>
        <p:txBody>
          <a:bodyPr wrap="none" rtlCol="0">
            <a:spAutoFit/>
          </a:bodyPr>
          <a:lstStyle/>
          <a:p>
            <a:r>
              <a:rPr lang="en-US" altLang="zh-CN" sz="2000" b="1" dirty="0">
                <a:latin typeface="+mj-lt"/>
                <a:ea typeface="+mj-ea"/>
              </a:rPr>
              <a:t>(1) Spatial*</a:t>
            </a:r>
            <a:r>
              <a:rPr lang="en-US" altLang="zh-CN" sz="2000" b="1" dirty="0" err="1">
                <a:latin typeface="+mj-lt"/>
                <a:ea typeface="+mj-ea"/>
              </a:rPr>
              <a:t>DataFrame</a:t>
            </a:r>
            <a:r>
              <a:rPr lang="zh-CN" altLang="en-US" sz="2000" b="1" dirty="0">
                <a:latin typeface="+mj-lt"/>
                <a:ea typeface="+mj-ea"/>
              </a:rPr>
              <a:t>对象</a:t>
            </a:r>
          </a:p>
        </p:txBody>
      </p:sp>
      <p:sp>
        <p:nvSpPr>
          <p:cNvPr id="14" name="文本框 13">
            <a:extLst>
              <a:ext uri="{FF2B5EF4-FFF2-40B4-BE49-F238E27FC236}">
                <a16:creationId xmlns:a16="http://schemas.microsoft.com/office/drawing/2014/main" id="{C6806021-2C07-FBAE-F9E1-7DF2E7F60559}"/>
              </a:ext>
            </a:extLst>
          </p:cNvPr>
          <p:cNvSpPr txBox="1"/>
          <p:nvPr/>
        </p:nvSpPr>
        <p:spPr>
          <a:xfrm>
            <a:off x="625250" y="1667658"/>
            <a:ext cx="7893493" cy="1289712"/>
          </a:xfrm>
          <a:prstGeom prst="rect">
            <a:avLst/>
          </a:prstGeom>
          <a:noFill/>
        </p:spPr>
        <p:txBody>
          <a:bodyPr wrap="square" rtlCol="0">
            <a:spAutoFit/>
          </a:bodyPr>
          <a:lstStyle/>
          <a:p>
            <a:pPr>
              <a:lnSpc>
                <a:spcPct val="150000"/>
              </a:lnSpc>
            </a:pPr>
            <a:r>
              <a:rPr lang="zh-CN" altLang="en-US" dirty="0">
                <a:latin typeface="+mn-lt"/>
                <a:ea typeface="+mn-ea"/>
              </a:rPr>
              <a:t>⑥ </a:t>
            </a:r>
            <a:r>
              <a:rPr lang="zh-CN" altLang="en-US" b="1" dirty="0">
                <a:latin typeface="+mn-lt"/>
                <a:ea typeface="+mn-ea"/>
              </a:rPr>
              <a:t>更多空间关系判断函数：</a:t>
            </a:r>
            <a:r>
              <a:rPr lang="zh-CN" altLang="en-US" dirty="0">
                <a:latin typeface="+mn-lt"/>
                <a:ea typeface="+mn-ea"/>
              </a:rPr>
              <a:t>函数包</a:t>
            </a:r>
            <a:r>
              <a:rPr lang="en-US" altLang="zh-CN" b="1" dirty="0" err="1">
                <a:latin typeface="+mn-lt"/>
                <a:ea typeface="+mn-ea"/>
              </a:rPr>
              <a:t>rgeos</a:t>
            </a:r>
            <a:r>
              <a:rPr lang="zh-CN" altLang="en-US" dirty="0">
                <a:latin typeface="+mn-lt"/>
                <a:ea typeface="+mn-ea"/>
              </a:rPr>
              <a:t>提供，若对象间存在对应空间关系，则返回</a:t>
            </a:r>
            <a:r>
              <a:rPr lang="en-US" altLang="zh-CN" dirty="0">
                <a:latin typeface="+mn-lt"/>
                <a:ea typeface="+mn-ea"/>
              </a:rPr>
              <a:t>TRUE</a:t>
            </a:r>
            <a:r>
              <a:rPr lang="zh-CN" altLang="en-US" dirty="0">
                <a:latin typeface="+mn-lt"/>
                <a:ea typeface="+mn-ea"/>
              </a:rPr>
              <a:t>；否则返回值为</a:t>
            </a:r>
            <a:r>
              <a:rPr lang="en-US" altLang="zh-CN" dirty="0">
                <a:latin typeface="+mn-lt"/>
                <a:ea typeface="+mn-ea"/>
              </a:rPr>
              <a:t>FALSE</a:t>
            </a:r>
            <a:r>
              <a:rPr lang="zh-CN" altLang="en-US" dirty="0">
                <a:latin typeface="+mn-lt"/>
                <a:ea typeface="+mn-ea"/>
              </a:rPr>
              <a:t>。包括：</a:t>
            </a:r>
            <a:endParaRPr lang="en-US" altLang="zh-CN" dirty="0">
              <a:latin typeface="+mn-lt"/>
              <a:ea typeface="+mn-ea"/>
            </a:endParaRPr>
          </a:p>
          <a:p>
            <a:pPr>
              <a:lnSpc>
                <a:spcPct val="150000"/>
              </a:lnSpc>
            </a:pPr>
            <a:r>
              <a:rPr lang="en-US" altLang="zh-CN" b="1" dirty="0">
                <a:latin typeface="+mn-lt"/>
                <a:ea typeface="+mn-ea"/>
              </a:rPr>
              <a:t>3.  </a:t>
            </a:r>
            <a:r>
              <a:rPr lang="zh-CN" altLang="en-US" b="1" dirty="0">
                <a:latin typeface="+mn-lt"/>
                <a:ea typeface="+mn-ea"/>
              </a:rPr>
              <a:t>相遇关系</a:t>
            </a:r>
            <a:r>
              <a:rPr lang="zh-CN" altLang="en-US" dirty="0">
                <a:latin typeface="+mn-lt"/>
                <a:ea typeface="+mn-ea"/>
              </a:rPr>
              <a:t>：可用函数包括</a:t>
            </a:r>
            <a:r>
              <a:rPr lang="en-US" altLang="zh-CN" b="1" i="1" dirty="0" err="1">
                <a:latin typeface="+mn-lt"/>
                <a:ea typeface="+mn-ea"/>
              </a:rPr>
              <a:t>gTouches</a:t>
            </a:r>
            <a:endParaRPr lang="en-US" altLang="zh-CN" b="1" i="1" dirty="0">
              <a:latin typeface="+mn-lt"/>
              <a:ea typeface="+mn-ea"/>
            </a:endParaRPr>
          </a:p>
        </p:txBody>
      </p:sp>
      <p:pic>
        <p:nvPicPr>
          <p:cNvPr id="3" name="图片 2">
            <a:extLst>
              <a:ext uri="{FF2B5EF4-FFF2-40B4-BE49-F238E27FC236}">
                <a16:creationId xmlns:a16="http://schemas.microsoft.com/office/drawing/2014/main" id="{7E8BC7DD-D7AA-6B72-C5EE-ED1350C45D7B}"/>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2410" r="5662" b="10019"/>
          <a:stretch/>
        </p:blipFill>
        <p:spPr bwMode="auto">
          <a:xfrm>
            <a:off x="2413000" y="3048000"/>
            <a:ext cx="4318000" cy="2965450"/>
          </a:xfrm>
          <a:prstGeom prst="rect">
            <a:avLst/>
          </a:prstGeom>
          <a:ln>
            <a:noFill/>
          </a:ln>
          <a:effectLst>
            <a:outerShdw blurRad="190500" algn="tl" rotWithShape="0">
              <a:srgbClr val="000000">
                <a:alpha val="70000"/>
              </a:srgbClr>
            </a:outerShdw>
          </a:effectLst>
          <a:extLst>
            <a:ext uri="{53640926-AAD7-44D8-BBD7-CCE9431645EC}">
              <a14:shadowObscured xmlns:a14="http://schemas.microsoft.com/office/drawing/2010/main"/>
            </a:ext>
          </a:extLst>
        </p:spPr>
      </p:pic>
      <p:sp>
        <p:nvSpPr>
          <p:cNvPr id="4" name="文本框 3">
            <a:extLst>
              <a:ext uri="{FF2B5EF4-FFF2-40B4-BE49-F238E27FC236}">
                <a16:creationId xmlns:a16="http://schemas.microsoft.com/office/drawing/2014/main" id="{446A36B3-06DB-B958-4750-D3C3B8B71E29}"/>
              </a:ext>
            </a:extLst>
          </p:cNvPr>
          <p:cNvSpPr txBox="1"/>
          <p:nvPr/>
        </p:nvSpPr>
        <p:spPr>
          <a:xfrm>
            <a:off x="858039" y="6152572"/>
            <a:ext cx="7542222" cy="307777"/>
          </a:xfrm>
          <a:prstGeom prst="rect">
            <a:avLst/>
          </a:prstGeom>
          <a:noFill/>
        </p:spPr>
        <p:txBody>
          <a:bodyPr wrap="square">
            <a:spAutoFit/>
          </a:bodyPr>
          <a:lstStyle/>
          <a:p>
            <a:pPr algn="ctr"/>
            <a:r>
              <a:rPr lang="zh-CN" altLang="en-US" sz="1400" kern="0" dirty="0">
                <a:latin typeface="+mj-ea"/>
                <a:ea typeface="+mj-ea"/>
                <a:cs typeface="Times New Roman" panose="02020603050405020304" pitchFamily="18" charset="0"/>
              </a:rPr>
              <a:t>相遇</a:t>
            </a:r>
            <a:r>
              <a:rPr lang="zh-CN" altLang="en-US" sz="1400" kern="0" dirty="0">
                <a:effectLst/>
                <a:latin typeface="+mj-ea"/>
                <a:ea typeface="+mj-ea"/>
                <a:cs typeface="Times New Roman" panose="02020603050405020304" pitchFamily="18" charset="0"/>
              </a:rPr>
              <a:t>关系判断情形示意图</a:t>
            </a:r>
            <a:endParaRPr lang="zh-CN" altLang="en-US" sz="1400" dirty="0">
              <a:latin typeface="+mj-ea"/>
              <a:ea typeface="+mj-ea"/>
            </a:endParaRPr>
          </a:p>
        </p:txBody>
      </p:sp>
    </p:spTree>
    <p:extLst>
      <p:ext uri="{BB962C8B-B14F-4D97-AF65-F5344CB8AC3E}">
        <p14:creationId xmlns:p14="http://schemas.microsoft.com/office/powerpoint/2010/main" val="105404134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29B438-09DA-A662-4FF6-C88B812D9039}"/>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FAA8785F-998F-11C1-2F1C-4DF7E649D4ED}"/>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4.6 </a:t>
            </a:r>
            <a:r>
              <a:rPr lang="zh-CN" altLang="en-US" sz="3600" dirty="0">
                <a:latin typeface="Times New Roman" panose="02020603050405020304" pitchFamily="18" charset="0"/>
                <a:cs typeface="Times New Roman" panose="02020603050405020304" pitchFamily="18" charset="0"/>
              </a:rPr>
              <a:t>基础空间关系分析</a:t>
            </a:r>
          </a:p>
        </p:txBody>
      </p:sp>
      <p:sp>
        <p:nvSpPr>
          <p:cNvPr id="8" name="灯片编号占位符 7">
            <a:extLst>
              <a:ext uri="{FF2B5EF4-FFF2-40B4-BE49-F238E27FC236}">
                <a16:creationId xmlns:a16="http://schemas.microsoft.com/office/drawing/2014/main" id="{C4C2AD70-9A24-4EDB-81CD-9F791B93AE46}"/>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76</a:t>
            </a:fld>
            <a:endParaRPr lang="zh-CN" altLang="en-US" dirty="0">
              <a:solidFill>
                <a:schemeClr val="bg2">
                  <a:lumMod val="75000"/>
                </a:schemeClr>
              </a:solidFill>
            </a:endParaRPr>
          </a:p>
        </p:txBody>
      </p:sp>
      <p:sp>
        <p:nvSpPr>
          <p:cNvPr id="2" name="文本框 1">
            <a:extLst>
              <a:ext uri="{FF2B5EF4-FFF2-40B4-BE49-F238E27FC236}">
                <a16:creationId xmlns:a16="http://schemas.microsoft.com/office/drawing/2014/main" id="{AE548ADB-ED24-CB70-2572-D80DB515B7E7}"/>
              </a:ext>
            </a:extLst>
          </p:cNvPr>
          <p:cNvSpPr txBox="1"/>
          <p:nvPr/>
        </p:nvSpPr>
        <p:spPr>
          <a:xfrm>
            <a:off x="609600" y="2708741"/>
            <a:ext cx="2727221" cy="400110"/>
          </a:xfrm>
          <a:prstGeom prst="rect">
            <a:avLst/>
          </a:prstGeom>
          <a:noFill/>
        </p:spPr>
        <p:txBody>
          <a:bodyPr wrap="none" rtlCol="0">
            <a:spAutoFit/>
          </a:bodyPr>
          <a:lstStyle/>
          <a:p>
            <a:r>
              <a:rPr lang="en-US" altLang="zh-CN" sz="2000" b="1" dirty="0">
                <a:latin typeface="+mj-lt"/>
                <a:ea typeface="+mj-ea"/>
              </a:rPr>
              <a:t>(2) Simple Feature</a:t>
            </a:r>
            <a:r>
              <a:rPr lang="zh-CN" altLang="en-US" sz="2000" b="1" dirty="0">
                <a:latin typeface="+mj-lt"/>
                <a:ea typeface="+mj-ea"/>
              </a:rPr>
              <a:t>对象</a:t>
            </a:r>
          </a:p>
        </p:txBody>
      </p:sp>
      <p:sp>
        <p:nvSpPr>
          <p:cNvPr id="14" name="文本框 13">
            <a:extLst>
              <a:ext uri="{FF2B5EF4-FFF2-40B4-BE49-F238E27FC236}">
                <a16:creationId xmlns:a16="http://schemas.microsoft.com/office/drawing/2014/main" id="{60F3889D-1386-B067-2694-A1FF32A93DD8}"/>
              </a:ext>
            </a:extLst>
          </p:cNvPr>
          <p:cNvSpPr txBox="1"/>
          <p:nvPr/>
        </p:nvSpPr>
        <p:spPr>
          <a:xfrm>
            <a:off x="625250" y="3119099"/>
            <a:ext cx="7893493" cy="874214"/>
          </a:xfrm>
          <a:prstGeom prst="rect">
            <a:avLst/>
          </a:prstGeom>
          <a:noFill/>
        </p:spPr>
        <p:txBody>
          <a:bodyPr wrap="square" rtlCol="0">
            <a:spAutoFit/>
          </a:bodyPr>
          <a:lstStyle/>
          <a:p>
            <a:pPr>
              <a:lnSpc>
                <a:spcPct val="150000"/>
              </a:lnSpc>
            </a:pPr>
            <a:r>
              <a:rPr lang="zh-CN" altLang="en-US" dirty="0">
                <a:latin typeface="+mn-lt"/>
                <a:ea typeface="+mn-ea"/>
              </a:rPr>
              <a:t>① </a:t>
            </a:r>
            <a:r>
              <a:rPr lang="en-US" altLang="zh-CN" b="1" i="1" dirty="0" err="1">
                <a:latin typeface="+mn-lt"/>
                <a:ea typeface="+mn-ea"/>
              </a:rPr>
              <a:t>st_distance</a:t>
            </a:r>
            <a:r>
              <a:rPr lang="zh-CN" altLang="en-US" b="1" dirty="0">
                <a:latin typeface="+mn-lt"/>
                <a:ea typeface="+mn-ea"/>
              </a:rPr>
              <a:t>函数：</a:t>
            </a:r>
            <a:r>
              <a:rPr lang="zh-CN" altLang="en-US" dirty="0">
                <a:latin typeface="+mn-lt"/>
                <a:ea typeface="+mn-ea"/>
              </a:rPr>
              <a:t>函数包</a:t>
            </a:r>
            <a:r>
              <a:rPr lang="en-US" altLang="zh-CN" b="1" dirty="0">
                <a:latin typeface="+mn-lt"/>
                <a:ea typeface="+mn-ea"/>
              </a:rPr>
              <a:t>sf</a:t>
            </a:r>
            <a:r>
              <a:rPr lang="zh-CN" altLang="en-US" dirty="0">
                <a:latin typeface="+mn-lt"/>
                <a:ea typeface="+mn-ea"/>
              </a:rPr>
              <a:t>提供，用于</a:t>
            </a:r>
            <a:r>
              <a:rPr lang="zh-CN" altLang="en-US" b="1" dirty="0">
                <a:latin typeface="+mn-lt"/>
                <a:ea typeface="+mn-ea"/>
              </a:rPr>
              <a:t>计算空间对象之间的距离</a:t>
            </a:r>
            <a:endParaRPr lang="en-US" altLang="zh-CN" b="1" dirty="0">
              <a:latin typeface="+mn-lt"/>
              <a:ea typeface="+mn-ea"/>
            </a:endParaRPr>
          </a:p>
          <a:p>
            <a:pPr indent="457200">
              <a:lnSpc>
                <a:spcPct val="150000"/>
              </a:lnSpc>
            </a:pPr>
            <a:r>
              <a:rPr lang="zh-CN" altLang="en-US" dirty="0">
                <a:latin typeface="+mn-lt"/>
                <a:ea typeface="+mn-ea"/>
              </a:rPr>
              <a:t>计算</a:t>
            </a:r>
            <a:r>
              <a:rPr lang="en-US" altLang="zh-CN" dirty="0" err="1">
                <a:latin typeface="+mn-lt"/>
                <a:ea typeface="+mn-ea"/>
              </a:rPr>
              <a:t>WHZZQ_hs_sf</a:t>
            </a:r>
            <a:r>
              <a:rPr lang="zh-CN" altLang="en-US" dirty="0">
                <a:latin typeface="+mn-lt"/>
                <a:ea typeface="+mn-ea"/>
              </a:rPr>
              <a:t>数据中</a:t>
            </a:r>
            <a:r>
              <a:rPr lang="en-US" altLang="zh-CN" dirty="0">
                <a:latin typeface="+mn-lt"/>
                <a:ea typeface="+mn-ea"/>
              </a:rPr>
              <a:t>3030</a:t>
            </a:r>
            <a:r>
              <a:rPr lang="zh-CN" altLang="en-US" dirty="0">
                <a:latin typeface="+mn-lt"/>
                <a:ea typeface="+mn-ea"/>
              </a:rPr>
              <a:t>个点之间的距离矩阵：</a:t>
            </a:r>
            <a:endParaRPr lang="en-US" altLang="zh-CN" dirty="0">
              <a:latin typeface="+mn-lt"/>
              <a:ea typeface="+mn-ea"/>
            </a:endParaRPr>
          </a:p>
        </p:txBody>
      </p:sp>
      <p:sp>
        <p:nvSpPr>
          <p:cNvPr id="4" name="文本框 3">
            <a:extLst>
              <a:ext uri="{FF2B5EF4-FFF2-40B4-BE49-F238E27FC236}">
                <a16:creationId xmlns:a16="http://schemas.microsoft.com/office/drawing/2014/main" id="{D1713CDB-0ABC-D161-05CD-C54394DA0E7D}"/>
              </a:ext>
            </a:extLst>
          </p:cNvPr>
          <p:cNvSpPr txBox="1"/>
          <p:nvPr/>
        </p:nvSpPr>
        <p:spPr>
          <a:xfrm>
            <a:off x="831407" y="4076700"/>
            <a:ext cx="7953666" cy="278794"/>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lnSpc>
                <a:spcPts val="1425"/>
              </a:lnSpc>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dmat1&lt;-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st_distance</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WHZZQ_hs_sf</a:t>
            </a:r>
            <a:r>
              <a:rPr lang="en-US" altLang="zh-CN" sz="16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geometry,WHZZQ_hs_sf</a:t>
            </a:r>
            <a:r>
              <a:rPr lang="en-US" altLang="zh-CN" sz="16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geometry</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53468494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BEF506-66F4-F8D3-A2A1-C4C31DAE9215}"/>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279EE851-D010-BEDA-43D2-F8F6683E12FF}"/>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4.6 </a:t>
            </a:r>
            <a:r>
              <a:rPr lang="zh-CN" altLang="en-US" sz="3600" dirty="0">
                <a:latin typeface="Times New Roman" panose="02020603050405020304" pitchFamily="18" charset="0"/>
                <a:cs typeface="Times New Roman" panose="02020603050405020304" pitchFamily="18" charset="0"/>
              </a:rPr>
              <a:t>基础空间关系分析</a:t>
            </a:r>
          </a:p>
        </p:txBody>
      </p:sp>
      <p:sp>
        <p:nvSpPr>
          <p:cNvPr id="8" name="灯片编号占位符 7">
            <a:extLst>
              <a:ext uri="{FF2B5EF4-FFF2-40B4-BE49-F238E27FC236}">
                <a16:creationId xmlns:a16="http://schemas.microsoft.com/office/drawing/2014/main" id="{6647495A-51F5-59DD-70F9-70889884A389}"/>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77</a:t>
            </a:fld>
            <a:endParaRPr lang="zh-CN" altLang="en-US" dirty="0">
              <a:solidFill>
                <a:schemeClr val="bg2">
                  <a:lumMod val="75000"/>
                </a:schemeClr>
              </a:solidFill>
            </a:endParaRPr>
          </a:p>
        </p:txBody>
      </p:sp>
      <p:sp>
        <p:nvSpPr>
          <p:cNvPr id="2" name="文本框 1">
            <a:extLst>
              <a:ext uri="{FF2B5EF4-FFF2-40B4-BE49-F238E27FC236}">
                <a16:creationId xmlns:a16="http://schemas.microsoft.com/office/drawing/2014/main" id="{ED24E2A2-D149-0155-6F2D-807C154401DA}"/>
              </a:ext>
            </a:extLst>
          </p:cNvPr>
          <p:cNvSpPr txBox="1"/>
          <p:nvPr/>
        </p:nvSpPr>
        <p:spPr>
          <a:xfrm>
            <a:off x="609600" y="1524140"/>
            <a:ext cx="2727221" cy="400110"/>
          </a:xfrm>
          <a:prstGeom prst="rect">
            <a:avLst/>
          </a:prstGeom>
          <a:noFill/>
        </p:spPr>
        <p:txBody>
          <a:bodyPr wrap="none" rtlCol="0">
            <a:spAutoFit/>
          </a:bodyPr>
          <a:lstStyle/>
          <a:p>
            <a:r>
              <a:rPr lang="en-US" altLang="zh-CN" sz="2000" b="1" dirty="0">
                <a:latin typeface="+mj-lt"/>
                <a:ea typeface="+mj-ea"/>
              </a:rPr>
              <a:t>(2) Simple Feature</a:t>
            </a:r>
            <a:r>
              <a:rPr lang="zh-CN" altLang="en-US" sz="2000" b="1" dirty="0">
                <a:latin typeface="+mj-lt"/>
                <a:ea typeface="+mj-ea"/>
              </a:rPr>
              <a:t>对象</a:t>
            </a:r>
          </a:p>
        </p:txBody>
      </p:sp>
      <p:sp>
        <p:nvSpPr>
          <p:cNvPr id="5" name="文本框 4">
            <a:extLst>
              <a:ext uri="{FF2B5EF4-FFF2-40B4-BE49-F238E27FC236}">
                <a16:creationId xmlns:a16="http://schemas.microsoft.com/office/drawing/2014/main" id="{CD8D6F7E-33C8-1D83-2AB8-47155B2D3DEC}"/>
              </a:ext>
            </a:extLst>
          </p:cNvPr>
          <p:cNvSpPr txBox="1"/>
          <p:nvPr/>
        </p:nvSpPr>
        <p:spPr>
          <a:xfrm>
            <a:off x="618797" y="1924250"/>
            <a:ext cx="7893493" cy="1289071"/>
          </a:xfrm>
          <a:prstGeom prst="rect">
            <a:avLst/>
          </a:prstGeom>
          <a:noFill/>
        </p:spPr>
        <p:txBody>
          <a:bodyPr wrap="square" rtlCol="0">
            <a:spAutoFit/>
          </a:bodyPr>
          <a:lstStyle/>
          <a:p>
            <a:pPr>
              <a:lnSpc>
                <a:spcPct val="150000"/>
              </a:lnSpc>
            </a:pPr>
            <a:r>
              <a:rPr lang="zh-CN" altLang="en-US" dirty="0">
                <a:latin typeface="+mn-lt"/>
                <a:ea typeface="+mn-ea"/>
              </a:rPr>
              <a:t>② </a:t>
            </a:r>
            <a:r>
              <a:rPr lang="en-US" altLang="zh-CN" b="1" i="1" dirty="0" err="1">
                <a:latin typeface="+mn-lt"/>
                <a:ea typeface="+mn-ea"/>
              </a:rPr>
              <a:t>st_is_within_distance</a:t>
            </a:r>
            <a:r>
              <a:rPr lang="zh-CN" altLang="en-US" b="1" dirty="0">
                <a:latin typeface="+mn-lt"/>
                <a:ea typeface="+mn-ea"/>
              </a:rPr>
              <a:t>函数：</a:t>
            </a:r>
            <a:r>
              <a:rPr lang="zh-CN" altLang="en-US" dirty="0">
                <a:latin typeface="+mn-lt"/>
                <a:ea typeface="+mn-ea"/>
              </a:rPr>
              <a:t>函数包</a:t>
            </a:r>
            <a:r>
              <a:rPr lang="en-US" altLang="zh-CN" b="1" dirty="0">
                <a:latin typeface="+mn-lt"/>
                <a:ea typeface="+mn-ea"/>
              </a:rPr>
              <a:t>sf</a:t>
            </a:r>
            <a:r>
              <a:rPr lang="zh-CN" altLang="en-US" dirty="0">
                <a:latin typeface="+mn-lt"/>
                <a:ea typeface="+mn-ea"/>
              </a:rPr>
              <a:t>提供，用于</a:t>
            </a:r>
            <a:r>
              <a:rPr lang="zh-CN" altLang="en-US" b="1" dirty="0">
                <a:latin typeface="+mn-lt"/>
                <a:ea typeface="+mn-ea"/>
              </a:rPr>
              <a:t>检验对应空间对象位置是否在一定的距离阈值范围之内</a:t>
            </a:r>
            <a:r>
              <a:rPr lang="zh-CN" altLang="en-US" dirty="0">
                <a:latin typeface="+mn-lt"/>
                <a:ea typeface="+mn-ea"/>
              </a:rPr>
              <a:t>（通过参数</a:t>
            </a:r>
            <a:r>
              <a:rPr lang="en-US" altLang="zh-CN" dirty="0" err="1">
                <a:latin typeface="+mn-lt"/>
                <a:ea typeface="+mn-ea"/>
              </a:rPr>
              <a:t>dist</a:t>
            </a:r>
            <a:r>
              <a:rPr lang="zh-CN" altLang="en-US" dirty="0">
                <a:latin typeface="+mn-lt"/>
                <a:ea typeface="+mn-ea"/>
              </a:rPr>
              <a:t>设定）</a:t>
            </a:r>
            <a:endParaRPr lang="en-US" altLang="zh-CN" dirty="0">
              <a:latin typeface="+mn-lt"/>
              <a:ea typeface="+mn-ea"/>
            </a:endParaRPr>
          </a:p>
          <a:p>
            <a:pPr indent="457200">
              <a:lnSpc>
                <a:spcPct val="150000"/>
              </a:lnSpc>
            </a:pPr>
            <a:r>
              <a:rPr lang="zh-CN" altLang="en-US" dirty="0">
                <a:latin typeface="+mn-lt"/>
                <a:ea typeface="+mn-ea"/>
              </a:rPr>
              <a:t>提取</a:t>
            </a:r>
            <a:r>
              <a:rPr lang="en-US" altLang="zh-CN" dirty="0" err="1">
                <a:latin typeface="+mn-lt"/>
                <a:ea typeface="+mn-ea"/>
              </a:rPr>
              <a:t>WHZZQ_sf</a:t>
            </a:r>
            <a:r>
              <a:rPr lang="zh-CN" altLang="en-US" dirty="0">
                <a:latin typeface="+mn-lt"/>
                <a:ea typeface="+mn-ea"/>
              </a:rPr>
              <a:t>数据中距离武汉市</a:t>
            </a:r>
            <a:r>
              <a:rPr lang="en-US" altLang="zh-CN" dirty="0">
                <a:latin typeface="+mn-lt"/>
                <a:ea typeface="+mn-ea"/>
              </a:rPr>
              <a:t>trunk</a:t>
            </a:r>
            <a:r>
              <a:rPr lang="zh-CN" altLang="en-US" dirty="0">
                <a:latin typeface="+mn-lt"/>
                <a:ea typeface="+mn-ea"/>
              </a:rPr>
              <a:t>类道路不超过</a:t>
            </a:r>
            <a:r>
              <a:rPr lang="en-US" altLang="zh-CN" dirty="0">
                <a:latin typeface="+mn-lt"/>
                <a:ea typeface="+mn-ea"/>
              </a:rPr>
              <a:t>100</a:t>
            </a:r>
            <a:r>
              <a:rPr lang="zh-CN" altLang="en-US" dirty="0">
                <a:latin typeface="+mn-lt"/>
                <a:ea typeface="+mn-ea"/>
              </a:rPr>
              <a:t>米的点：</a:t>
            </a:r>
            <a:endParaRPr lang="en-US" altLang="zh-CN" dirty="0">
              <a:latin typeface="+mn-lt"/>
              <a:ea typeface="+mn-ea"/>
            </a:endParaRPr>
          </a:p>
        </p:txBody>
      </p:sp>
      <p:sp>
        <p:nvSpPr>
          <p:cNvPr id="9" name="文本框 8">
            <a:extLst>
              <a:ext uri="{FF2B5EF4-FFF2-40B4-BE49-F238E27FC236}">
                <a16:creationId xmlns:a16="http://schemas.microsoft.com/office/drawing/2014/main" id="{D5CCE00A-AB8E-8095-1EE1-1489630C4DB4}"/>
              </a:ext>
            </a:extLst>
          </p:cNvPr>
          <p:cNvSpPr txBox="1"/>
          <p:nvPr/>
        </p:nvSpPr>
        <p:spPr>
          <a:xfrm>
            <a:off x="652317" y="3429000"/>
            <a:ext cx="7953666" cy="1569660"/>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dist100&lt;-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st_is_within_distance</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WHZZQ_sf</a:t>
            </a:r>
            <a:r>
              <a:rPr lang="en-US" altLang="zh-CN" sz="16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geometry,WHRD_tuk_sf</a:t>
            </a:r>
            <a:r>
              <a:rPr lang="en-US" altLang="zh-CN" sz="16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geometry,dist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 </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100</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,sparse = </a:t>
            </a:r>
            <a:r>
              <a:rPr lang="en-US" altLang="zh-CN" sz="16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FALSE</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WHZZQ_100&lt;-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WHZZQ_sf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as.logical</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(apply(dist100,</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,sum)),]</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WHRD_tuk_sf</a:t>
            </a:r>
            <a:r>
              <a:rPr lang="en-US" altLang="zh-CN" sz="16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geometry,col</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"grey"</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plot(WHZZQ_100</a:t>
            </a:r>
            <a:r>
              <a:rPr lang="en-US" altLang="zh-CN" sz="16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geometry,col=</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"red"</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pch</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,add=</a:t>
            </a:r>
            <a:r>
              <a:rPr lang="en-US" altLang="zh-CN" sz="16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TRUE</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184689880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EEB0F-3328-7BCD-BCB7-B9A5EE43F6EC}"/>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B35872BE-9E54-13CE-ECB6-3109BF9D299F}"/>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4.6 </a:t>
            </a:r>
            <a:r>
              <a:rPr lang="zh-CN" altLang="en-US" sz="3600" dirty="0">
                <a:latin typeface="Times New Roman" panose="02020603050405020304" pitchFamily="18" charset="0"/>
                <a:cs typeface="Times New Roman" panose="02020603050405020304" pitchFamily="18" charset="0"/>
              </a:rPr>
              <a:t>基础空间关系分析</a:t>
            </a:r>
          </a:p>
        </p:txBody>
      </p:sp>
      <p:sp>
        <p:nvSpPr>
          <p:cNvPr id="8" name="灯片编号占位符 7">
            <a:extLst>
              <a:ext uri="{FF2B5EF4-FFF2-40B4-BE49-F238E27FC236}">
                <a16:creationId xmlns:a16="http://schemas.microsoft.com/office/drawing/2014/main" id="{C7A4E546-0A37-4E04-C47E-0BB8642A7C4F}"/>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78</a:t>
            </a:fld>
            <a:endParaRPr lang="zh-CN" altLang="en-US" dirty="0">
              <a:solidFill>
                <a:schemeClr val="bg2">
                  <a:lumMod val="75000"/>
                </a:schemeClr>
              </a:solidFill>
            </a:endParaRPr>
          </a:p>
        </p:txBody>
      </p:sp>
      <p:sp>
        <p:nvSpPr>
          <p:cNvPr id="2" name="文本框 1">
            <a:extLst>
              <a:ext uri="{FF2B5EF4-FFF2-40B4-BE49-F238E27FC236}">
                <a16:creationId xmlns:a16="http://schemas.microsoft.com/office/drawing/2014/main" id="{719AFAC8-3F19-9165-8FF4-A94E498DEC44}"/>
              </a:ext>
            </a:extLst>
          </p:cNvPr>
          <p:cNvSpPr txBox="1"/>
          <p:nvPr/>
        </p:nvSpPr>
        <p:spPr>
          <a:xfrm>
            <a:off x="609600" y="1524140"/>
            <a:ext cx="2727221" cy="400110"/>
          </a:xfrm>
          <a:prstGeom prst="rect">
            <a:avLst/>
          </a:prstGeom>
          <a:noFill/>
        </p:spPr>
        <p:txBody>
          <a:bodyPr wrap="none" rtlCol="0">
            <a:spAutoFit/>
          </a:bodyPr>
          <a:lstStyle/>
          <a:p>
            <a:r>
              <a:rPr lang="en-US" altLang="zh-CN" sz="2000" b="1" dirty="0">
                <a:latin typeface="+mj-lt"/>
                <a:ea typeface="+mj-ea"/>
              </a:rPr>
              <a:t>(2) Simple Feature</a:t>
            </a:r>
            <a:r>
              <a:rPr lang="zh-CN" altLang="en-US" sz="2000" b="1" dirty="0">
                <a:latin typeface="+mj-lt"/>
                <a:ea typeface="+mj-ea"/>
              </a:rPr>
              <a:t>对象</a:t>
            </a:r>
          </a:p>
        </p:txBody>
      </p:sp>
      <p:sp>
        <p:nvSpPr>
          <p:cNvPr id="5" name="文本框 4">
            <a:extLst>
              <a:ext uri="{FF2B5EF4-FFF2-40B4-BE49-F238E27FC236}">
                <a16:creationId xmlns:a16="http://schemas.microsoft.com/office/drawing/2014/main" id="{F4D36970-723C-9C3E-3144-256690C87784}"/>
              </a:ext>
            </a:extLst>
          </p:cNvPr>
          <p:cNvSpPr txBox="1"/>
          <p:nvPr/>
        </p:nvSpPr>
        <p:spPr>
          <a:xfrm>
            <a:off x="618797" y="1924250"/>
            <a:ext cx="7893493" cy="1289071"/>
          </a:xfrm>
          <a:prstGeom prst="rect">
            <a:avLst/>
          </a:prstGeom>
          <a:noFill/>
        </p:spPr>
        <p:txBody>
          <a:bodyPr wrap="square" rtlCol="0">
            <a:spAutoFit/>
          </a:bodyPr>
          <a:lstStyle/>
          <a:p>
            <a:pPr>
              <a:lnSpc>
                <a:spcPct val="150000"/>
              </a:lnSpc>
            </a:pPr>
            <a:r>
              <a:rPr lang="zh-CN" altLang="en-US" dirty="0">
                <a:latin typeface="+mn-lt"/>
                <a:ea typeface="+mn-ea"/>
              </a:rPr>
              <a:t>② </a:t>
            </a:r>
            <a:r>
              <a:rPr lang="en-US" altLang="zh-CN" b="1" i="1" dirty="0" err="1">
                <a:latin typeface="+mn-lt"/>
                <a:ea typeface="+mn-ea"/>
              </a:rPr>
              <a:t>st_is_within_distance</a:t>
            </a:r>
            <a:r>
              <a:rPr lang="zh-CN" altLang="en-US" b="1" dirty="0">
                <a:latin typeface="+mn-lt"/>
                <a:ea typeface="+mn-ea"/>
              </a:rPr>
              <a:t>函数：</a:t>
            </a:r>
            <a:r>
              <a:rPr lang="zh-CN" altLang="en-US" dirty="0">
                <a:latin typeface="+mn-lt"/>
                <a:ea typeface="+mn-ea"/>
              </a:rPr>
              <a:t>函数包</a:t>
            </a:r>
            <a:r>
              <a:rPr lang="en-US" altLang="zh-CN" b="1" dirty="0">
                <a:latin typeface="+mn-lt"/>
                <a:ea typeface="+mn-ea"/>
              </a:rPr>
              <a:t>sf</a:t>
            </a:r>
            <a:r>
              <a:rPr lang="zh-CN" altLang="en-US" dirty="0">
                <a:latin typeface="+mn-lt"/>
                <a:ea typeface="+mn-ea"/>
              </a:rPr>
              <a:t>提供，用于</a:t>
            </a:r>
            <a:r>
              <a:rPr lang="zh-CN" altLang="en-US" b="1" dirty="0">
                <a:latin typeface="+mn-lt"/>
                <a:ea typeface="+mn-ea"/>
              </a:rPr>
              <a:t>检验对应空间对象位置是否在一定的距离阈值范围之内</a:t>
            </a:r>
            <a:r>
              <a:rPr lang="zh-CN" altLang="en-US" dirty="0">
                <a:latin typeface="+mn-lt"/>
                <a:ea typeface="+mn-ea"/>
              </a:rPr>
              <a:t>（通过参数</a:t>
            </a:r>
            <a:r>
              <a:rPr lang="en-US" altLang="zh-CN" dirty="0" err="1">
                <a:latin typeface="+mn-lt"/>
                <a:ea typeface="+mn-ea"/>
              </a:rPr>
              <a:t>dist</a:t>
            </a:r>
            <a:r>
              <a:rPr lang="zh-CN" altLang="en-US" dirty="0">
                <a:latin typeface="+mn-lt"/>
                <a:ea typeface="+mn-ea"/>
              </a:rPr>
              <a:t>设定）</a:t>
            </a:r>
            <a:endParaRPr lang="en-US" altLang="zh-CN" dirty="0">
              <a:latin typeface="+mn-lt"/>
              <a:ea typeface="+mn-ea"/>
            </a:endParaRPr>
          </a:p>
          <a:p>
            <a:pPr indent="457200">
              <a:lnSpc>
                <a:spcPct val="150000"/>
              </a:lnSpc>
            </a:pPr>
            <a:r>
              <a:rPr lang="zh-CN" altLang="en-US" dirty="0">
                <a:latin typeface="+mn-lt"/>
                <a:ea typeface="+mn-ea"/>
              </a:rPr>
              <a:t>提取</a:t>
            </a:r>
            <a:r>
              <a:rPr lang="en-US" altLang="zh-CN" dirty="0" err="1">
                <a:latin typeface="+mn-lt"/>
                <a:ea typeface="+mn-ea"/>
              </a:rPr>
              <a:t>WHZZQ_sf</a:t>
            </a:r>
            <a:r>
              <a:rPr lang="zh-CN" altLang="en-US" dirty="0">
                <a:latin typeface="+mn-lt"/>
                <a:ea typeface="+mn-ea"/>
              </a:rPr>
              <a:t>数据中距离武汉市</a:t>
            </a:r>
            <a:r>
              <a:rPr lang="en-US" altLang="zh-CN" dirty="0">
                <a:latin typeface="+mn-lt"/>
                <a:ea typeface="+mn-ea"/>
              </a:rPr>
              <a:t>trunk</a:t>
            </a:r>
            <a:r>
              <a:rPr lang="zh-CN" altLang="en-US" dirty="0">
                <a:latin typeface="+mn-lt"/>
                <a:ea typeface="+mn-ea"/>
              </a:rPr>
              <a:t>类道路不超过</a:t>
            </a:r>
            <a:r>
              <a:rPr lang="en-US" altLang="zh-CN" dirty="0">
                <a:latin typeface="+mn-lt"/>
                <a:ea typeface="+mn-ea"/>
              </a:rPr>
              <a:t>100</a:t>
            </a:r>
            <a:r>
              <a:rPr lang="zh-CN" altLang="en-US" dirty="0">
                <a:latin typeface="+mn-lt"/>
                <a:ea typeface="+mn-ea"/>
              </a:rPr>
              <a:t>米的点：</a:t>
            </a:r>
            <a:endParaRPr lang="en-US" altLang="zh-CN" dirty="0">
              <a:latin typeface="+mn-lt"/>
              <a:ea typeface="+mn-ea"/>
            </a:endParaRPr>
          </a:p>
        </p:txBody>
      </p:sp>
      <p:pic>
        <p:nvPicPr>
          <p:cNvPr id="3" name="图片 2">
            <a:extLst>
              <a:ext uri="{FF2B5EF4-FFF2-40B4-BE49-F238E27FC236}">
                <a16:creationId xmlns:a16="http://schemas.microsoft.com/office/drawing/2014/main" id="{98B0BE90-9C0B-6768-C1B0-747B4F3B7F5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824480" y="3292256"/>
            <a:ext cx="3495040" cy="3239135"/>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8002056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0F952C-B810-F560-826C-52A6DB7D9936}"/>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F275A5F5-0BD9-DB07-CFD0-B4E621D9606A}"/>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4.6 </a:t>
            </a:r>
            <a:r>
              <a:rPr lang="zh-CN" altLang="en-US" sz="3600" dirty="0">
                <a:latin typeface="Times New Roman" panose="02020603050405020304" pitchFamily="18" charset="0"/>
                <a:cs typeface="Times New Roman" panose="02020603050405020304" pitchFamily="18" charset="0"/>
              </a:rPr>
              <a:t>基础空间关系分析</a:t>
            </a:r>
          </a:p>
        </p:txBody>
      </p:sp>
      <p:sp>
        <p:nvSpPr>
          <p:cNvPr id="8" name="灯片编号占位符 7">
            <a:extLst>
              <a:ext uri="{FF2B5EF4-FFF2-40B4-BE49-F238E27FC236}">
                <a16:creationId xmlns:a16="http://schemas.microsoft.com/office/drawing/2014/main" id="{3CB2AC59-3602-8DE2-B93C-EE7F4431AAC9}"/>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79</a:t>
            </a:fld>
            <a:endParaRPr lang="zh-CN" altLang="en-US" dirty="0">
              <a:solidFill>
                <a:schemeClr val="bg2">
                  <a:lumMod val="75000"/>
                </a:schemeClr>
              </a:solidFill>
            </a:endParaRPr>
          </a:p>
        </p:txBody>
      </p:sp>
      <p:sp>
        <p:nvSpPr>
          <p:cNvPr id="2" name="文本框 1">
            <a:extLst>
              <a:ext uri="{FF2B5EF4-FFF2-40B4-BE49-F238E27FC236}">
                <a16:creationId xmlns:a16="http://schemas.microsoft.com/office/drawing/2014/main" id="{814851B1-88E1-968B-4871-164E84D5201E}"/>
              </a:ext>
            </a:extLst>
          </p:cNvPr>
          <p:cNvSpPr txBox="1"/>
          <p:nvPr/>
        </p:nvSpPr>
        <p:spPr>
          <a:xfrm>
            <a:off x="609600" y="1524140"/>
            <a:ext cx="2727221" cy="400110"/>
          </a:xfrm>
          <a:prstGeom prst="rect">
            <a:avLst/>
          </a:prstGeom>
          <a:noFill/>
        </p:spPr>
        <p:txBody>
          <a:bodyPr wrap="none" rtlCol="0">
            <a:spAutoFit/>
          </a:bodyPr>
          <a:lstStyle/>
          <a:p>
            <a:r>
              <a:rPr lang="en-US" altLang="zh-CN" sz="2000" b="1" dirty="0">
                <a:latin typeface="+mj-lt"/>
                <a:ea typeface="+mj-ea"/>
              </a:rPr>
              <a:t>(2) Simple Feature</a:t>
            </a:r>
            <a:r>
              <a:rPr lang="zh-CN" altLang="en-US" sz="2000" b="1" dirty="0">
                <a:latin typeface="+mj-lt"/>
                <a:ea typeface="+mj-ea"/>
              </a:rPr>
              <a:t>对象</a:t>
            </a:r>
          </a:p>
        </p:txBody>
      </p:sp>
      <p:sp>
        <p:nvSpPr>
          <p:cNvPr id="5" name="文本框 4">
            <a:extLst>
              <a:ext uri="{FF2B5EF4-FFF2-40B4-BE49-F238E27FC236}">
                <a16:creationId xmlns:a16="http://schemas.microsoft.com/office/drawing/2014/main" id="{98EB3EE1-A677-C2B0-E60A-525083C4577F}"/>
              </a:ext>
            </a:extLst>
          </p:cNvPr>
          <p:cNvSpPr txBox="1"/>
          <p:nvPr/>
        </p:nvSpPr>
        <p:spPr>
          <a:xfrm>
            <a:off x="618797" y="1924250"/>
            <a:ext cx="7893493" cy="1705210"/>
          </a:xfrm>
          <a:prstGeom prst="rect">
            <a:avLst/>
          </a:prstGeom>
          <a:noFill/>
        </p:spPr>
        <p:txBody>
          <a:bodyPr wrap="square" rtlCol="0">
            <a:spAutoFit/>
          </a:bodyPr>
          <a:lstStyle/>
          <a:p>
            <a:pPr>
              <a:lnSpc>
                <a:spcPct val="150000"/>
              </a:lnSpc>
            </a:pPr>
            <a:r>
              <a:rPr lang="zh-CN" altLang="en-US" dirty="0">
                <a:latin typeface="+mn-lt"/>
                <a:ea typeface="+mn-ea"/>
              </a:rPr>
              <a:t>③ </a:t>
            </a:r>
            <a:r>
              <a:rPr lang="en-US" altLang="zh-CN" b="1" i="1" dirty="0" err="1">
                <a:latin typeface="+mn-lt"/>
                <a:ea typeface="+mn-ea"/>
              </a:rPr>
              <a:t>st_nearest_points</a:t>
            </a:r>
            <a:r>
              <a:rPr lang="zh-CN" altLang="en-US" b="1" dirty="0">
                <a:latin typeface="+mn-lt"/>
                <a:ea typeface="+mn-ea"/>
              </a:rPr>
              <a:t>函数：</a:t>
            </a:r>
            <a:r>
              <a:rPr lang="zh-CN" altLang="en-US" dirty="0">
                <a:latin typeface="+mn-lt"/>
                <a:ea typeface="+mn-ea"/>
              </a:rPr>
              <a:t>函数包</a:t>
            </a:r>
            <a:r>
              <a:rPr lang="en-US" altLang="zh-CN" b="1" dirty="0">
                <a:latin typeface="+mn-lt"/>
                <a:ea typeface="+mn-ea"/>
              </a:rPr>
              <a:t>sf</a:t>
            </a:r>
            <a:r>
              <a:rPr lang="zh-CN" altLang="en-US" dirty="0">
                <a:latin typeface="+mn-lt"/>
                <a:ea typeface="+mn-ea"/>
              </a:rPr>
              <a:t>提供，用于</a:t>
            </a:r>
            <a:r>
              <a:rPr lang="zh-CN" altLang="en-US" b="1" dirty="0">
                <a:latin typeface="+mn-lt"/>
                <a:ea typeface="+mn-ea"/>
              </a:rPr>
              <a:t>查看两个空间对象之间的最临近点</a:t>
            </a:r>
            <a:endParaRPr lang="en-US" altLang="zh-CN" b="1" dirty="0">
              <a:latin typeface="+mn-lt"/>
              <a:ea typeface="+mn-ea"/>
            </a:endParaRPr>
          </a:p>
          <a:p>
            <a:pPr indent="457200">
              <a:lnSpc>
                <a:spcPct val="150000"/>
              </a:lnSpc>
            </a:pPr>
            <a:r>
              <a:rPr lang="zh-CN" altLang="en-US" dirty="0">
                <a:latin typeface="+mn-lt"/>
                <a:ea typeface="+mn-ea"/>
              </a:rPr>
              <a:t>对于给定的线对象和多边形对象，通过该函数可返回二者之间最临近点的信息：</a:t>
            </a:r>
            <a:endParaRPr lang="en-US" altLang="zh-CN" dirty="0">
              <a:latin typeface="+mn-lt"/>
              <a:ea typeface="+mn-ea"/>
            </a:endParaRPr>
          </a:p>
        </p:txBody>
      </p:sp>
      <p:sp>
        <p:nvSpPr>
          <p:cNvPr id="4" name="文本框 3">
            <a:extLst>
              <a:ext uri="{FF2B5EF4-FFF2-40B4-BE49-F238E27FC236}">
                <a16:creationId xmlns:a16="http://schemas.microsoft.com/office/drawing/2014/main" id="{0D2400B6-DBA2-AA11-441E-8259BF8BBFBB}"/>
              </a:ext>
            </a:extLst>
          </p:cNvPr>
          <p:cNvSpPr txBox="1"/>
          <p:nvPr/>
        </p:nvSpPr>
        <p:spPr>
          <a:xfrm>
            <a:off x="876300" y="3733800"/>
            <a:ext cx="7953666" cy="2062103"/>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s1&lt;-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st_linestring</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rbind</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p1&lt;-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st_polygon</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list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rbind</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5</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n&lt;-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st_nearest_points</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(s1,p1)</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plot(s1,col=</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"blue"</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xlim</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ylim</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5</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plot(p1,add=</a:t>
            </a:r>
            <a:r>
              <a:rPr lang="en-US" altLang="zh-CN" sz="16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TRUE</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n,col</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"red"</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lty</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,add=</a:t>
            </a:r>
            <a:r>
              <a:rPr lang="en-US" altLang="zh-CN" sz="16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TRUE</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points(</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st_coordinates</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(n),</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pch</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7</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,col=</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"red"</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202672932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5BB6BA-48E6-2FB4-8836-1B2F3FE1F560}"/>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961CB0C3-64C4-2F5D-2912-040C1F39788C}"/>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4.6 </a:t>
            </a:r>
            <a:r>
              <a:rPr lang="zh-CN" altLang="en-US" sz="3600" dirty="0">
                <a:latin typeface="Times New Roman" panose="02020603050405020304" pitchFamily="18" charset="0"/>
                <a:cs typeface="Times New Roman" panose="02020603050405020304" pitchFamily="18" charset="0"/>
              </a:rPr>
              <a:t>基础空间关系分析</a:t>
            </a:r>
          </a:p>
        </p:txBody>
      </p:sp>
      <p:sp>
        <p:nvSpPr>
          <p:cNvPr id="8" name="灯片编号占位符 7">
            <a:extLst>
              <a:ext uri="{FF2B5EF4-FFF2-40B4-BE49-F238E27FC236}">
                <a16:creationId xmlns:a16="http://schemas.microsoft.com/office/drawing/2014/main" id="{85ED9AAA-38B8-ABA9-2449-3D471AD0A1CB}"/>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80</a:t>
            </a:fld>
            <a:endParaRPr lang="zh-CN" altLang="en-US" dirty="0">
              <a:solidFill>
                <a:schemeClr val="bg2">
                  <a:lumMod val="75000"/>
                </a:schemeClr>
              </a:solidFill>
            </a:endParaRPr>
          </a:p>
        </p:txBody>
      </p:sp>
      <p:sp>
        <p:nvSpPr>
          <p:cNvPr id="2" name="文本框 1">
            <a:extLst>
              <a:ext uri="{FF2B5EF4-FFF2-40B4-BE49-F238E27FC236}">
                <a16:creationId xmlns:a16="http://schemas.microsoft.com/office/drawing/2014/main" id="{AA28638C-2D8B-32B8-7BD6-82441E7FDA86}"/>
              </a:ext>
            </a:extLst>
          </p:cNvPr>
          <p:cNvSpPr txBox="1"/>
          <p:nvPr/>
        </p:nvSpPr>
        <p:spPr>
          <a:xfrm>
            <a:off x="609600" y="1524140"/>
            <a:ext cx="2727221" cy="400110"/>
          </a:xfrm>
          <a:prstGeom prst="rect">
            <a:avLst/>
          </a:prstGeom>
          <a:noFill/>
        </p:spPr>
        <p:txBody>
          <a:bodyPr wrap="none" rtlCol="0">
            <a:spAutoFit/>
          </a:bodyPr>
          <a:lstStyle/>
          <a:p>
            <a:r>
              <a:rPr lang="en-US" altLang="zh-CN" sz="2000" b="1" dirty="0">
                <a:latin typeface="+mj-lt"/>
                <a:ea typeface="+mj-ea"/>
              </a:rPr>
              <a:t>(2) Simple Feature</a:t>
            </a:r>
            <a:r>
              <a:rPr lang="zh-CN" altLang="en-US" sz="2000" b="1" dirty="0">
                <a:latin typeface="+mj-lt"/>
                <a:ea typeface="+mj-ea"/>
              </a:rPr>
              <a:t>对象</a:t>
            </a:r>
          </a:p>
        </p:txBody>
      </p:sp>
      <p:sp>
        <p:nvSpPr>
          <p:cNvPr id="5" name="文本框 4">
            <a:extLst>
              <a:ext uri="{FF2B5EF4-FFF2-40B4-BE49-F238E27FC236}">
                <a16:creationId xmlns:a16="http://schemas.microsoft.com/office/drawing/2014/main" id="{C494F67F-BB77-1F5B-A188-63E63499C3A3}"/>
              </a:ext>
            </a:extLst>
          </p:cNvPr>
          <p:cNvSpPr txBox="1"/>
          <p:nvPr/>
        </p:nvSpPr>
        <p:spPr>
          <a:xfrm>
            <a:off x="618797" y="1924250"/>
            <a:ext cx="7893493" cy="1705210"/>
          </a:xfrm>
          <a:prstGeom prst="rect">
            <a:avLst/>
          </a:prstGeom>
          <a:noFill/>
        </p:spPr>
        <p:txBody>
          <a:bodyPr wrap="square" rtlCol="0">
            <a:spAutoFit/>
          </a:bodyPr>
          <a:lstStyle/>
          <a:p>
            <a:pPr>
              <a:lnSpc>
                <a:spcPct val="150000"/>
              </a:lnSpc>
            </a:pPr>
            <a:r>
              <a:rPr lang="zh-CN" altLang="en-US" dirty="0">
                <a:latin typeface="+mn-lt"/>
                <a:ea typeface="+mn-ea"/>
              </a:rPr>
              <a:t>③ </a:t>
            </a:r>
            <a:r>
              <a:rPr lang="en-US" altLang="zh-CN" b="1" i="1" dirty="0" err="1">
                <a:latin typeface="+mn-lt"/>
                <a:ea typeface="+mn-ea"/>
              </a:rPr>
              <a:t>st_nearest_points</a:t>
            </a:r>
            <a:r>
              <a:rPr lang="zh-CN" altLang="en-US" b="1" dirty="0">
                <a:latin typeface="+mn-lt"/>
                <a:ea typeface="+mn-ea"/>
              </a:rPr>
              <a:t>函数：</a:t>
            </a:r>
            <a:r>
              <a:rPr lang="zh-CN" altLang="en-US" dirty="0">
                <a:latin typeface="+mn-lt"/>
                <a:ea typeface="+mn-ea"/>
              </a:rPr>
              <a:t>函数包</a:t>
            </a:r>
            <a:r>
              <a:rPr lang="en-US" altLang="zh-CN" b="1" dirty="0">
                <a:latin typeface="+mn-lt"/>
                <a:ea typeface="+mn-ea"/>
              </a:rPr>
              <a:t>sf</a:t>
            </a:r>
            <a:r>
              <a:rPr lang="zh-CN" altLang="en-US" dirty="0">
                <a:latin typeface="+mn-lt"/>
                <a:ea typeface="+mn-ea"/>
              </a:rPr>
              <a:t>提供，用于</a:t>
            </a:r>
            <a:r>
              <a:rPr lang="zh-CN" altLang="en-US" b="1" dirty="0">
                <a:latin typeface="+mn-lt"/>
                <a:ea typeface="+mn-ea"/>
              </a:rPr>
              <a:t>查看两个空间对象之间的最临近点</a:t>
            </a:r>
            <a:endParaRPr lang="en-US" altLang="zh-CN" b="1" dirty="0">
              <a:latin typeface="+mn-lt"/>
              <a:ea typeface="+mn-ea"/>
            </a:endParaRPr>
          </a:p>
          <a:p>
            <a:pPr indent="457200">
              <a:lnSpc>
                <a:spcPct val="150000"/>
              </a:lnSpc>
            </a:pPr>
            <a:r>
              <a:rPr lang="zh-CN" altLang="en-US" dirty="0">
                <a:latin typeface="+mn-lt"/>
                <a:ea typeface="+mn-ea"/>
              </a:rPr>
              <a:t>对于给定的线对象和多边形对象，通过该函数可返回二者之间最临近点的信息：</a:t>
            </a:r>
            <a:endParaRPr lang="en-US" altLang="zh-CN" dirty="0">
              <a:latin typeface="+mn-lt"/>
              <a:ea typeface="+mn-ea"/>
            </a:endParaRPr>
          </a:p>
        </p:txBody>
      </p:sp>
      <p:pic>
        <p:nvPicPr>
          <p:cNvPr id="3" name="图片 2">
            <a:extLst>
              <a:ext uri="{FF2B5EF4-FFF2-40B4-BE49-F238E27FC236}">
                <a16:creationId xmlns:a16="http://schemas.microsoft.com/office/drawing/2014/main" id="{7D10EBBA-7AA9-5CD4-A408-314CEAE31CD0}"/>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3056666" y="3455504"/>
            <a:ext cx="3030668" cy="297154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4751628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F34E7-4329-27B5-83BE-46F797998529}"/>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01C21935-6EE9-B8ED-50A0-C5ECC58A608D}"/>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4.6 </a:t>
            </a:r>
            <a:r>
              <a:rPr lang="zh-CN" altLang="en-US" sz="3600" dirty="0">
                <a:latin typeface="Times New Roman" panose="02020603050405020304" pitchFamily="18" charset="0"/>
                <a:cs typeface="Times New Roman" panose="02020603050405020304" pitchFamily="18" charset="0"/>
              </a:rPr>
              <a:t>基础空间关系分析</a:t>
            </a:r>
          </a:p>
        </p:txBody>
      </p:sp>
      <p:sp>
        <p:nvSpPr>
          <p:cNvPr id="8" name="灯片编号占位符 7">
            <a:extLst>
              <a:ext uri="{FF2B5EF4-FFF2-40B4-BE49-F238E27FC236}">
                <a16:creationId xmlns:a16="http://schemas.microsoft.com/office/drawing/2014/main" id="{F9E522E7-EAED-9E99-FCF9-CE3117B371D3}"/>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81</a:t>
            </a:fld>
            <a:endParaRPr lang="zh-CN" altLang="en-US" dirty="0">
              <a:solidFill>
                <a:schemeClr val="bg2">
                  <a:lumMod val="75000"/>
                </a:schemeClr>
              </a:solidFill>
            </a:endParaRPr>
          </a:p>
        </p:txBody>
      </p:sp>
      <p:sp>
        <p:nvSpPr>
          <p:cNvPr id="2" name="文本框 1">
            <a:extLst>
              <a:ext uri="{FF2B5EF4-FFF2-40B4-BE49-F238E27FC236}">
                <a16:creationId xmlns:a16="http://schemas.microsoft.com/office/drawing/2014/main" id="{831046FA-4A6A-7C65-CE94-9E0A9BA50B1A}"/>
              </a:ext>
            </a:extLst>
          </p:cNvPr>
          <p:cNvSpPr txBox="1"/>
          <p:nvPr/>
        </p:nvSpPr>
        <p:spPr>
          <a:xfrm>
            <a:off x="609600" y="1524140"/>
            <a:ext cx="2727221" cy="400110"/>
          </a:xfrm>
          <a:prstGeom prst="rect">
            <a:avLst/>
          </a:prstGeom>
          <a:noFill/>
        </p:spPr>
        <p:txBody>
          <a:bodyPr wrap="none" rtlCol="0">
            <a:spAutoFit/>
          </a:bodyPr>
          <a:lstStyle/>
          <a:p>
            <a:r>
              <a:rPr lang="en-US" altLang="zh-CN" sz="2000" b="1" dirty="0">
                <a:latin typeface="+mj-lt"/>
                <a:ea typeface="+mj-ea"/>
              </a:rPr>
              <a:t>(2) Simple Feature</a:t>
            </a:r>
            <a:r>
              <a:rPr lang="zh-CN" altLang="en-US" sz="2000" b="1" dirty="0">
                <a:latin typeface="+mj-lt"/>
                <a:ea typeface="+mj-ea"/>
              </a:rPr>
              <a:t>对象</a:t>
            </a:r>
          </a:p>
        </p:txBody>
      </p:sp>
      <p:sp>
        <p:nvSpPr>
          <p:cNvPr id="5" name="文本框 4">
            <a:extLst>
              <a:ext uri="{FF2B5EF4-FFF2-40B4-BE49-F238E27FC236}">
                <a16:creationId xmlns:a16="http://schemas.microsoft.com/office/drawing/2014/main" id="{6EEFCFE8-E7CA-491E-3676-C3D919FCFA51}"/>
              </a:ext>
            </a:extLst>
          </p:cNvPr>
          <p:cNvSpPr txBox="1"/>
          <p:nvPr/>
        </p:nvSpPr>
        <p:spPr>
          <a:xfrm>
            <a:off x="618797" y="1924250"/>
            <a:ext cx="7893493" cy="1289712"/>
          </a:xfrm>
          <a:prstGeom prst="rect">
            <a:avLst/>
          </a:prstGeom>
          <a:noFill/>
        </p:spPr>
        <p:txBody>
          <a:bodyPr wrap="square" rtlCol="0">
            <a:spAutoFit/>
          </a:bodyPr>
          <a:lstStyle/>
          <a:p>
            <a:pPr>
              <a:lnSpc>
                <a:spcPct val="150000"/>
              </a:lnSpc>
            </a:pPr>
            <a:r>
              <a:rPr lang="zh-CN" altLang="en-US" dirty="0">
                <a:latin typeface="+mn-lt"/>
                <a:ea typeface="+mn-ea"/>
              </a:rPr>
              <a:t>④ </a:t>
            </a:r>
            <a:r>
              <a:rPr lang="en-US" altLang="zh-CN" b="1" i="1" dirty="0" err="1">
                <a:latin typeface="+mn-lt"/>
                <a:ea typeface="+mn-ea"/>
              </a:rPr>
              <a:t>st_intersection</a:t>
            </a:r>
            <a:r>
              <a:rPr lang="zh-CN" altLang="en-US" b="1" dirty="0">
                <a:latin typeface="+mn-lt"/>
                <a:ea typeface="+mn-ea"/>
              </a:rPr>
              <a:t>函数：</a:t>
            </a:r>
            <a:r>
              <a:rPr lang="zh-CN" altLang="en-US" dirty="0">
                <a:latin typeface="+mn-lt"/>
                <a:ea typeface="+mn-ea"/>
              </a:rPr>
              <a:t>函数包</a:t>
            </a:r>
            <a:r>
              <a:rPr lang="en-US" altLang="zh-CN" b="1" dirty="0">
                <a:latin typeface="+mn-lt"/>
                <a:ea typeface="+mn-ea"/>
              </a:rPr>
              <a:t>sf</a:t>
            </a:r>
            <a:r>
              <a:rPr lang="zh-CN" altLang="en-US" dirty="0">
                <a:latin typeface="+mn-lt"/>
                <a:ea typeface="+mn-ea"/>
              </a:rPr>
              <a:t>提供，空间对象几何求交函数，用于获取两个空间对象的公共部分，即实现</a:t>
            </a:r>
            <a:r>
              <a:rPr lang="en-US" altLang="zh-CN" dirty="0">
                <a:latin typeface="+mn-lt"/>
                <a:ea typeface="+mn-ea"/>
              </a:rPr>
              <a:t>GIS</a:t>
            </a:r>
            <a:r>
              <a:rPr lang="zh-CN" altLang="en-US" dirty="0">
                <a:latin typeface="+mn-lt"/>
                <a:ea typeface="+mn-ea"/>
              </a:rPr>
              <a:t>中常用的空间裁剪</a:t>
            </a:r>
            <a:r>
              <a:rPr lang="en-US" altLang="zh-CN" dirty="0">
                <a:latin typeface="+mn-lt"/>
                <a:ea typeface="+mn-ea"/>
              </a:rPr>
              <a:t>(Clip)</a:t>
            </a:r>
            <a:r>
              <a:rPr lang="zh-CN" altLang="en-US" dirty="0">
                <a:latin typeface="+mn-lt"/>
                <a:ea typeface="+mn-ea"/>
              </a:rPr>
              <a:t>功能</a:t>
            </a:r>
            <a:endParaRPr lang="en-US" altLang="zh-CN" b="1" dirty="0">
              <a:latin typeface="+mn-lt"/>
              <a:ea typeface="+mn-ea"/>
            </a:endParaRPr>
          </a:p>
          <a:p>
            <a:pPr indent="457200">
              <a:lnSpc>
                <a:spcPct val="150000"/>
              </a:lnSpc>
            </a:pPr>
            <a:r>
              <a:rPr lang="zh-CN" altLang="en-US" dirty="0">
                <a:latin typeface="+mn-lt"/>
                <a:ea typeface="+mn-ea"/>
              </a:rPr>
              <a:t>利用该函数实现上节中泰森多边形与房价点外包矩形之间的求交运算：</a:t>
            </a:r>
            <a:endParaRPr lang="en-US" altLang="zh-CN" dirty="0">
              <a:latin typeface="+mn-lt"/>
              <a:ea typeface="+mn-ea"/>
            </a:endParaRPr>
          </a:p>
        </p:txBody>
      </p:sp>
      <p:sp>
        <p:nvSpPr>
          <p:cNvPr id="4" name="文本框 3">
            <a:extLst>
              <a:ext uri="{FF2B5EF4-FFF2-40B4-BE49-F238E27FC236}">
                <a16:creationId xmlns:a16="http://schemas.microsoft.com/office/drawing/2014/main" id="{DDAE5D62-213D-6E43-12DA-F5B4B22FEF98}"/>
              </a:ext>
            </a:extLst>
          </p:cNvPr>
          <p:cNvSpPr txBox="1"/>
          <p:nvPr/>
        </p:nvSpPr>
        <p:spPr>
          <a:xfrm>
            <a:off x="652317" y="3429000"/>
            <a:ext cx="7859973" cy="1323439"/>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v_envelope</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st_intersection</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st_cast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st_sfc</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(v)),</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box_polygon</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v,col</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,border=</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"grey"</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lty</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,xlim=c(</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new_v_box</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new_v_box</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ylim</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new_v_box</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new_v_box</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v_envelope,col</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green"</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,add</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TRUE</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point,col</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red"</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,add</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TRUE</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4515658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ADFEA-4D1D-BE8A-B3D2-45807B8A1F3A}"/>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431F5EEE-E571-C8E1-2D24-87DC65FF8ADC}"/>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4.6 </a:t>
            </a:r>
            <a:r>
              <a:rPr lang="zh-CN" altLang="en-US" sz="3600" dirty="0">
                <a:latin typeface="Times New Roman" panose="02020603050405020304" pitchFamily="18" charset="0"/>
                <a:cs typeface="Times New Roman" panose="02020603050405020304" pitchFamily="18" charset="0"/>
              </a:rPr>
              <a:t>基础空间关系分析</a:t>
            </a:r>
          </a:p>
        </p:txBody>
      </p:sp>
      <p:sp>
        <p:nvSpPr>
          <p:cNvPr id="8" name="灯片编号占位符 7">
            <a:extLst>
              <a:ext uri="{FF2B5EF4-FFF2-40B4-BE49-F238E27FC236}">
                <a16:creationId xmlns:a16="http://schemas.microsoft.com/office/drawing/2014/main" id="{D3359DD2-44C9-DE97-58DC-F21391E76FF5}"/>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82</a:t>
            </a:fld>
            <a:endParaRPr lang="zh-CN" altLang="en-US" dirty="0">
              <a:solidFill>
                <a:schemeClr val="bg2">
                  <a:lumMod val="75000"/>
                </a:schemeClr>
              </a:solidFill>
            </a:endParaRPr>
          </a:p>
        </p:txBody>
      </p:sp>
      <p:sp>
        <p:nvSpPr>
          <p:cNvPr id="2" name="文本框 1">
            <a:extLst>
              <a:ext uri="{FF2B5EF4-FFF2-40B4-BE49-F238E27FC236}">
                <a16:creationId xmlns:a16="http://schemas.microsoft.com/office/drawing/2014/main" id="{F79C78DB-B326-ADBE-1FD2-E957BC08A8D7}"/>
              </a:ext>
            </a:extLst>
          </p:cNvPr>
          <p:cNvSpPr txBox="1"/>
          <p:nvPr/>
        </p:nvSpPr>
        <p:spPr>
          <a:xfrm>
            <a:off x="609600" y="1524140"/>
            <a:ext cx="2727221" cy="400110"/>
          </a:xfrm>
          <a:prstGeom prst="rect">
            <a:avLst/>
          </a:prstGeom>
          <a:noFill/>
        </p:spPr>
        <p:txBody>
          <a:bodyPr wrap="none" rtlCol="0">
            <a:spAutoFit/>
          </a:bodyPr>
          <a:lstStyle/>
          <a:p>
            <a:r>
              <a:rPr lang="en-US" altLang="zh-CN" sz="2000" b="1" dirty="0">
                <a:latin typeface="+mj-lt"/>
                <a:ea typeface="+mj-ea"/>
              </a:rPr>
              <a:t>(2) Simple Feature</a:t>
            </a:r>
            <a:r>
              <a:rPr lang="zh-CN" altLang="en-US" sz="2000" b="1" dirty="0">
                <a:latin typeface="+mj-lt"/>
                <a:ea typeface="+mj-ea"/>
              </a:rPr>
              <a:t>对象</a:t>
            </a:r>
          </a:p>
        </p:txBody>
      </p:sp>
      <p:sp>
        <p:nvSpPr>
          <p:cNvPr id="5" name="文本框 4">
            <a:extLst>
              <a:ext uri="{FF2B5EF4-FFF2-40B4-BE49-F238E27FC236}">
                <a16:creationId xmlns:a16="http://schemas.microsoft.com/office/drawing/2014/main" id="{D877EDA2-7377-8435-2F1E-31ED06C008B6}"/>
              </a:ext>
            </a:extLst>
          </p:cNvPr>
          <p:cNvSpPr txBox="1"/>
          <p:nvPr/>
        </p:nvSpPr>
        <p:spPr>
          <a:xfrm>
            <a:off x="618797" y="1924250"/>
            <a:ext cx="7893493" cy="1289712"/>
          </a:xfrm>
          <a:prstGeom prst="rect">
            <a:avLst/>
          </a:prstGeom>
          <a:noFill/>
        </p:spPr>
        <p:txBody>
          <a:bodyPr wrap="square" rtlCol="0">
            <a:spAutoFit/>
          </a:bodyPr>
          <a:lstStyle/>
          <a:p>
            <a:pPr>
              <a:lnSpc>
                <a:spcPct val="150000"/>
              </a:lnSpc>
            </a:pPr>
            <a:r>
              <a:rPr lang="zh-CN" altLang="en-US" dirty="0">
                <a:latin typeface="+mn-lt"/>
                <a:ea typeface="+mn-ea"/>
              </a:rPr>
              <a:t>④ </a:t>
            </a:r>
            <a:r>
              <a:rPr lang="en-US" altLang="zh-CN" b="1" i="1" dirty="0" err="1">
                <a:latin typeface="+mn-lt"/>
                <a:ea typeface="+mn-ea"/>
              </a:rPr>
              <a:t>st_intersection</a:t>
            </a:r>
            <a:r>
              <a:rPr lang="zh-CN" altLang="en-US" b="1" dirty="0">
                <a:latin typeface="+mn-lt"/>
                <a:ea typeface="+mn-ea"/>
              </a:rPr>
              <a:t>函数：</a:t>
            </a:r>
            <a:r>
              <a:rPr lang="zh-CN" altLang="en-US" dirty="0">
                <a:latin typeface="+mn-lt"/>
                <a:ea typeface="+mn-ea"/>
              </a:rPr>
              <a:t>函数包</a:t>
            </a:r>
            <a:r>
              <a:rPr lang="en-US" altLang="zh-CN" b="1" dirty="0">
                <a:latin typeface="+mn-lt"/>
                <a:ea typeface="+mn-ea"/>
              </a:rPr>
              <a:t>sf</a:t>
            </a:r>
            <a:r>
              <a:rPr lang="zh-CN" altLang="en-US" dirty="0">
                <a:latin typeface="+mn-lt"/>
                <a:ea typeface="+mn-ea"/>
              </a:rPr>
              <a:t>提供，空间对象几何求交函数，用于获取两个空间对象的公共部分，即实现</a:t>
            </a:r>
            <a:r>
              <a:rPr lang="en-US" altLang="zh-CN" dirty="0">
                <a:latin typeface="+mn-lt"/>
                <a:ea typeface="+mn-ea"/>
              </a:rPr>
              <a:t>GIS</a:t>
            </a:r>
            <a:r>
              <a:rPr lang="zh-CN" altLang="en-US" dirty="0">
                <a:latin typeface="+mn-lt"/>
                <a:ea typeface="+mn-ea"/>
              </a:rPr>
              <a:t>中常用的空间裁剪</a:t>
            </a:r>
            <a:r>
              <a:rPr lang="en-US" altLang="zh-CN" dirty="0">
                <a:latin typeface="+mn-lt"/>
                <a:ea typeface="+mn-ea"/>
              </a:rPr>
              <a:t>(Clip)</a:t>
            </a:r>
            <a:r>
              <a:rPr lang="zh-CN" altLang="en-US" dirty="0">
                <a:latin typeface="+mn-lt"/>
                <a:ea typeface="+mn-ea"/>
              </a:rPr>
              <a:t>功能</a:t>
            </a:r>
            <a:endParaRPr lang="en-US" altLang="zh-CN" b="1" dirty="0">
              <a:latin typeface="+mn-lt"/>
              <a:ea typeface="+mn-ea"/>
            </a:endParaRPr>
          </a:p>
          <a:p>
            <a:pPr indent="457200">
              <a:lnSpc>
                <a:spcPct val="150000"/>
              </a:lnSpc>
            </a:pPr>
            <a:r>
              <a:rPr lang="zh-CN" altLang="en-US" dirty="0">
                <a:latin typeface="+mn-lt"/>
                <a:ea typeface="+mn-ea"/>
              </a:rPr>
              <a:t>利用该函数实现上节中泰森多边形与房价点外包矩形之间的求交运算：</a:t>
            </a:r>
            <a:endParaRPr lang="en-US" altLang="zh-CN" dirty="0">
              <a:latin typeface="+mn-lt"/>
              <a:ea typeface="+mn-ea"/>
            </a:endParaRPr>
          </a:p>
        </p:txBody>
      </p:sp>
      <p:pic>
        <p:nvPicPr>
          <p:cNvPr id="3" name="图片 2">
            <a:extLst>
              <a:ext uri="{FF2B5EF4-FFF2-40B4-BE49-F238E27FC236}">
                <a16:creationId xmlns:a16="http://schemas.microsoft.com/office/drawing/2014/main" id="{925FD633-3738-8E7F-7CCE-5725AC48DFA9}"/>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34845" y="3372727"/>
            <a:ext cx="5274310" cy="286512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427388367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4AE1E-B139-BD2E-A89E-D1F81878475F}"/>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52EB25C4-7206-5027-E5DB-FE40F2800EE5}"/>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4.6 </a:t>
            </a:r>
            <a:r>
              <a:rPr lang="zh-CN" altLang="en-US" sz="3600" dirty="0">
                <a:latin typeface="Times New Roman" panose="02020603050405020304" pitchFamily="18" charset="0"/>
                <a:cs typeface="Times New Roman" panose="02020603050405020304" pitchFamily="18" charset="0"/>
              </a:rPr>
              <a:t>基础空间关系分析</a:t>
            </a:r>
          </a:p>
        </p:txBody>
      </p:sp>
      <p:sp>
        <p:nvSpPr>
          <p:cNvPr id="8" name="灯片编号占位符 7">
            <a:extLst>
              <a:ext uri="{FF2B5EF4-FFF2-40B4-BE49-F238E27FC236}">
                <a16:creationId xmlns:a16="http://schemas.microsoft.com/office/drawing/2014/main" id="{0896BA8D-975F-19E5-F1DF-05E5125DE6A0}"/>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83</a:t>
            </a:fld>
            <a:endParaRPr lang="zh-CN" altLang="en-US" dirty="0">
              <a:solidFill>
                <a:schemeClr val="bg2">
                  <a:lumMod val="75000"/>
                </a:schemeClr>
              </a:solidFill>
            </a:endParaRPr>
          </a:p>
        </p:txBody>
      </p:sp>
      <p:sp>
        <p:nvSpPr>
          <p:cNvPr id="2" name="文本框 1">
            <a:extLst>
              <a:ext uri="{FF2B5EF4-FFF2-40B4-BE49-F238E27FC236}">
                <a16:creationId xmlns:a16="http://schemas.microsoft.com/office/drawing/2014/main" id="{2C8375F3-8C3E-9AC7-6BE9-140EC52C7064}"/>
              </a:ext>
            </a:extLst>
          </p:cNvPr>
          <p:cNvSpPr txBox="1"/>
          <p:nvPr/>
        </p:nvSpPr>
        <p:spPr>
          <a:xfrm>
            <a:off x="609600" y="1524140"/>
            <a:ext cx="2727221" cy="400110"/>
          </a:xfrm>
          <a:prstGeom prst="rect">
            <a:avLst/>
          </a:prstGeom>
          <a:noFill/>
        </p:spPr>
        <p:txBody>
          <a:bodyPr wrap="none" rtlCol="0">
            <a:spAutoFit/>
          </a:bodyPr>
          <a:lstStyle/>
          <a:p>
            <a:r>
              <a:rPr lang="en-US" altLang="zh-CN" sz="2000" b="1" dirty="0">
                <a:latin typeface="+mj-lt"/>
                <a:ea typeface="+mj-ea"/>
              </a:rPr>
              <a:t>(2) Simple Feature</a:t>
            </a:r>
            <a:r>
              <a:rPr lang="zh-CN" altLang="en-US" sz="2000" b="1" dirty="0">
                <a:latin typeface="+mj-lt"/>
                <a:ea typeface="+mj-ea"/>
              </a:rPr>
              <a:t>对象</a:t>
            </a:r>
          </a:p>
        </p:txBody>
      </p:sp>
      <p:sp>
        <p:nvSpPr>
          <p:cNvPr id="5" name="文本框 4">
            <a:extLst>
              <a:ext uri="{FF2B5EF4-FFF2-40B4-BE49-F238E27FC236}">
                <a16:creationId xmlns:a16="http://schemas.microsoft.com/office/drawing/2014/main" id="{367C9FB7-A739-5AC5-FAE5-169796D743BB}"/>
              </a:ext>
            </a:extLst>
          </p:cNvPr>
          <p:cNvSpPr txBox="1"/>
          <p:nvPr/>
        </p:nvSpPr>
        <p:spPr>
          <a:xfrm>
            <a:off x="618797" y="1924250"/>
            <a:ext cx="7893493" cy="1705210"/>
          </a:xfrm>
          <a:prstGeom prst="rect">
            <a:avLst/>
          </a:prstGeom>
          <a:noFill/>
        </p:spPr>
        <p:txBody>
          <a:bodyPr wrap="square" rtlCol="0">
            <a:spAutoFit/>
          </a:bodyPr>
          <a:lstStyle/>
          <a:p>
            <a:pPr>
              <a:lnSpc>
                <a:spcPct val="150000"/>
              </a:lnSpc>
            </a:pPr>
            <a:r>
              <a:rPr lang="zh-CN" altLang="en-US" dirty="0">
                <a:latin typeface="+mn-lt"/>
                <a:ea typeface="+mn-ea"/>
              </a:rPr>
              <a:t>⑤ </a:t>
            </a:r>
            <a:r>
              <a:rPr lang="en-US" altLang="zh-CN" b="1" i="1" dirty="0" err="1">
                <a:latin typeface="+mn-lt"/>
                <a:ea typeface="+mn-ea"/>
              </a:rPr>
              <a:t>st_difference</a:t>
            </a:r>
            <a:r>
              <a:rPr lang="zh-CN" altLang="en-US" b="1" dirty="0">
                <a:latin typeface="+mn-lt"/>
                <a:ea typeface="+mn-ea"/>
              </a:rPr>
              <a:t>和</a:t>
            </a:r>
            <a:r>
              <a:rPr lang="en-US" altLang="zh-CN" b="1" i="1" dirty="0" err="1">
                <a:latin typeface="+mn-lt"/>
                <a:ea typeface="+mn-ea"/>
              </a:rPr>
              <a:t>st_sym_difference</a:t>
            </a:r>
            <a:r>
              <a:rPr lang="zh-CN" altLang="en-US" b="1" dirty="0">
                <a:latin typeface="+mn-lt"/>
                <a:ea typeface="+mn-ea"/>
              </a:rPr>
              <a:t>函数：</a:t>
            </a:r>
            <a:r>
              <a:rPr lang="zh-CN" altLang="en-US" dirty="0">
                <a:latin typeface="+mn-lt"/>
                <a:ea typeface="+mn-ea"/>
              </a:rPr>
              <a:t>函数包</a:t>
            </a:r>
            <a:r>
              <a:rPr lang="en-US" altLang="zh-CN" b="1" dirty="0">
                <a:latin typeface="+mn-lt"/>
                <a:ea typeface="+mn-ea"/>
              </a:rPr>
              <a:t>sf</a:t>
            </a:r>
            <a:r>
              <a:rPr lang="zh-CN" altLang="en-US" dirty="0">
                <a:latin typeface="+mn-lt"/>
                <a:ea typeface="+mn-ea"/>
              </a:rPr>
              <a:t>提供，空间对象求异运算函数，实现与</a:t>
            </a:r>
            <a:r>
              <a:rPr lang="en-US" altLang="zh-CN" b="1" i="1" dirty="0" err="1">
                <a:latin typeface="+mn-lt"/>
                <a:ea typeface="+mn-ea"/>
              </a:rPr>
              <a:t>st_intersection</a:t>
            </a:r>
            <a:r>
              <a:rPr lang="zh-CN" altLang="en-US" dirty="0">
                <a:latin typeface="+mn-lt"/>
                <a:ea typeface="+mn-ea"/>
              </a:rPr>
              <a:t>函数相逆的操作</a:t>
            </a:r>
            <a:endParaRPr lang="en-US" altLang="zh-CN" b="1" dirty="0">
              <a:latin typeface="+mn-lt"/>
              <a:ea typeface="+mn-ea"/>
            </a:endParaRPr>
          </a:p>
          <a:p>
            <a:pPr indent="457200">
              <a:lnSpc>
                <a:spcPct val="150000"/>
              </a:lnSpc>
            </a:pPr>
            <a:r>
              <a:rPr lang="zh-CN" altLang="en-US" dirty="0">
                <a:latin typeface="+mn-lt"/>
                <a:ea typeface="+mn-ea"/>
              </a:rPr>
              <a:t>将示例数据中的长江边界数据放在工作目录下，读入之后，将这部分区域从武汉市边界数据中进行剪裁：</a:t>
            </a:r>
            <a:endParaRPr lang="en-US" altLang="zh-CN" dirty="0">
              <a:latin typeface="+mn-lt"/>
              <a:ea typeface="+mn-ea"/>
            </a:endParaRPr>
          </a:p>
        </p:txBody>
      </p:sp>
      <p:sp>
        <p:nvSpPr>
          <p:cNvPr id="4" name="文本框 3">
            <a:extLst>
              <a:ext uri="{FF2B5EF4-FFF2-40B4-BE49-F238E27FC236}">
                <a16:creationId xmlns:a16="http://schemas.microsoft.com/office/drawing/2014/main" id="{673F7838-DA46-E80E-BBA5-5B8DA0B167DD}"/>
              </a:ext>
            </a:extLst>
          </p:cNvPr>
          <p:cNvSpPr txBox="1"/>
          <p:nvPr/>
        </p:nvSpPr>
        <p:spPr>
          <a:xfrm>
            <a:off x="838200" y="3768930"/>
            <a:ext cx="7859973" cy="2092881"/>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river&lt;-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read_sf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YangtzeRiver.shp</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endPar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endParaRPr>
          </a:p>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WHDis_dif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st_difference</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WHDis_sf</a:t>
            </a:r>
            <a:r>
              <a:rPr lang="en-US" altLang="zh-CN" sz="16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geometry,river</a:t>
            </a:r>
            <a:r>
              <a:rPr lang="en-US" altLang="zh-CN" sz="16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geometry</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WHDis_dif,col</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"grey"</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254000" algn="just">
              <a:buNone/>
            </a:pPr>
            <a:r>
              <a:rPr lang="en-US" altLang="zh-CN" sz="1600" dirty="0">
                <a:solidFill>
                  <a:srgbClr val="8000FF"/>
                </a:solidFill>
                <a:effectLst/>
                <a:latin typeface="Consolas" panose="020B0609020204030204" pitchFamily="49" charset="0"/>
                <a:ea typeface="宋体" panose="02010600030101010101" pitchFamily="2" charset="-122"/>
              </a:rPr>
              <a:t> </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WHDis_symdif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st_sym_difference</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st_union</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WHDis_sf</a:t>
            </a:r>
            <a:r>
              <a:rPr lang="en-US" altLang="zh-CN" sz="16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geometry</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st_union</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river</a:t>
            </a:r>
            <a:r>
              <a:rPr lang="en-US" altLang="zh-CN" sz="16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geometry</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WHDis_symdif,col</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"grey"</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119653360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4C3BE-3D4C-7B5D-7CC1-E0A604A49A8C}"/>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F842FB4C-83A9-5B86-9FB9-01C71BD3CD13}"/>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4.6 </a:t>
            </a:r>
            <a:r>
              <a:rPr lang="zh-CN" altLang="en-US" sz="3600" dirty="0">
                <a:latin typeface="Times New Roman" panose="02020603050405020304" pitchFamily="18" charset="0"/>
                <a:cs typeface="Times New Roman" panose="02020603050405020304" pitchFamily="18" charset="0"/>
              </a:rPr>
              <a:t>基础空间关系分析</a:t>
            </a:r>
          </a:p>
        </p:txBody>
      </p:sp>
      <p:sp>
        <p:nvSpPr>
          <p:cNvPr id="8" name="灯片编号占位符 7">
            <a:extLst>
              <a:ext uri="{FF2B5EF4-FFF2-40B4-BE49-F238E27FC236}">
                <a16:creationId xmlns:a16="http://schemas.microsoft.com/office/drawing/2014/main" id="{26FBA9FE-F1B4-9633-772F-F58224721B4D}"/>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84</a:t>
            </a:fld>
            <a:endParaRPr lang="zh-CN" altLang="en-US" dirty="0">
              <a:solidFill>
                <a:schemeClr val="bg2">
                  <a:lumMod val="75000"/>
                </a:schemeClr>
              </a:solidFill>
            </a:endParaRPr>
          </a:p>
        </p:txBody>
      </p:sp>
      <p:sp>
        <p:nvSpPr>
          <p:cNvPr id="2" name="文本框 1">
            <a:extLst>
              <a:ext uri="{FF2B5EF4-FFF2-40B4-BE49-F238E27FC236}">
                <a16:creationId xmlns:a16="http://schemas.microsoft.com/office/drawing/2014/main" id="{5F13C36E-D6EB-A192-6C44-9B0B9C015931}"/>
              </a:ext>
            </a:extLst>
          </p:cNvPr>
          <p:cNvSpPr txBox="1"/>
          <p:nvPr/>
        </p:nvSpPr>
        <p:spPr>
          <a:xfrm>
            <a:off x="609600" y="1524140"/>
            <a:ext cx="2727221" cy="400110"/>
          </a:xfrm>
          <a:prstGeom prst="rect">
            <a:avLst/>
          </a:prstGeom>
          <a:noFill/>
        </p:spPr>
        <p:txBody>
          <a:bodyPr wrap="none" rtlCol="0">
            <a:spAutoFit/>
          </a:bodyPr>
          <a:lstStyle/>
          <a:p>
            <a:r>
              <a:rPr lang="en-US" altLang="zh-CN" sz="2000" b="1" dirty="0">
                <a:latin typeface="+mj-lt"/>
                <a:ea typeface="+mj-ea"/>
              </a:rPr>
              <a:t>(2) Simple Feature</a:t>
            </a:r>
            <a:r>
              <a:rPr lang="zh-CN" altLang="en-US" sz="2000" b="1" dirty="0">
                <a:latin typeface="+mj-lt"/>
                <a:ea typeface="+mj-ea"/>
              </a:rPr>
              <a:t>对象</a:t>
            </a:r>
          </a:p>
        </p:txBody>
      </p:sp>
      <p:sp>
        <p:nvSpPr>
          <p:cNvPr id="5" name="文本框 4">
            <a:extLst>
              <a:ext uri="{FF2B5EF4-FFF2-40B4-BE49-F238E27FC236}">
                <a16:creationId xmlns:a16="http://schemas.microsoft.com/office/drawing/2014/main" id="{148E22D3-6390-1A85-BC83-10E2C2CFF54F}"/>
              </a:ext>
            </a:extLst>
          </p:cNvPr>
          <p:cNvSpPr txBox="1"/>
          <p:nvPr/>
        </p:nvSpPr>
        <p:spPr>
          <a:xfrm>
            <a:off x="618797" y="1924250"/>
            <a:ext cx="7893493" cy="1705210"/>
          </a:xfrm>
          <a:prstGeom prst="rect">
            <a:avLst/>
          </a:prstGeom>
          <a:noFill/>
        </p:spPr>
        <p:txBody>
          <a:bodyPr wrap="square" rtlCol="0">
            <a:spAutoFit/>
          </a:bodyPr>
          <a:lstStyle/>
          <a:p>
            <a:pPr>
              <a:lnSpc>
                <a:spcPct val="150000"/>
              </a:lnSpc>
            </a:pPr>
            <a:r>
              <a:rPr lang="zh-CN" altLang="en-US" dirty="0">
                <a:latin typeface="+mn-lt"/>
                <a:ea typeface="+mn-ea"/>
              </a:rPr>
              <a:t>⑤ </a:t>
            </a:r>
            <a:r>
              <a:rPr lang="en-US" altLang="zh-CN" b="1" i="1" dirty="0" err="1">
                <a:latin typeface="+mn-lt"/>
                <a:ea typeface="+mn-ea"/>
              </a:rPr>
              <a:t>st_difference</a:t>
            </a:r>
            <a:r>
              <a:rPr lang="zh-CN" altLang="en-US" b="1" dirty="0">
                <a:latin typeface="+mn-lt"/>
                <a:ea typeface="+mn-ea"/>
              </a:rPr>
              <a:t>和</a:t>
            </a:r>
            <a:r>
              <a:rPr lang="en-US" altLang="zh-CN" b="1" i="1" dirty="0" err="1">
                <a:latin typeface="+mn-lt"/>
                <a:ea typeface="+mn-ea"/>
              </a:rPr>
              <a:t>st_sym_difference</a:t>
            </a:r>
            <a:r>
              <a:rPr lang="zh-CN" altLang="en-US" b="1" dirty="0">
                <a:latin typeface="+mn-lt"/>
                <a:ea typeface="+mn-ea"/>
              </a:rPr>
              <a:t>函数：</a:t>
            </a:r>
            <a:r>
              <a:rPr lang="zh-CN" altLang="en-US" dirty="0">
                <a:latin typeface="+mn-lt"/>
                <a:ea typeface="+mn-ea"/>
              </a:rPr>
              <a:t>函数包</a:t>
            </a:r>
            <a:r>
              <a:rPr lang="en-US" altLang="zh-CN" b="1" dirty="0">
                <a:latin typeface="+mn-lt"/>
                <a:ea typeface="+mn-ea"/>
              </a:rPr>
              <a:t>sf</a:t>
            </a:r>
            <a:r>
              <a:rPr lang="zh-CN" altLang="en-US" dirty="0">
                <a:latin typeface="+mn-lt"/>
                <a:ea typeface="+mn-ea"/>
              </a:rPr>
              <a:t>提供，空间对象求异运算函数，实现与</a:t>
            </a:r>
            <a:r>
              <a:rPr lang="en-US" altLang="zh-CN" b="1" i="1" dirty="0" err="1">
                <a:latin typeface="+mn-lt"/>
                <a:ea typeface="+mn-ea"/>
              </a:rPr>
              <a:t>st_intersection</a:t>
            </a:r>
            <a:r>
              <a:rPr lang="zh-CN" altLang="en-US" dirty="0">
                <a:latin typeface="+mn-lt"/>
                <a:ea typeface="+mn-ea"/>
              </a:rPr>
              <a:t>函数相逆的操作</a:t>
            </a:r>
            <a:endParaRPr lang="en-US" altLang="zh-CN" b="1" dirty="0">
              <a:latin typeface="+mn-lt"/>
              <a:ea typeface="+mn-ea"/>
            </a:endParaRPr>
          </a:p>
          <a:p>
            <a:pPr indent="457200">
              <a:lnSpc>
                <a:spcPct val="150000"/>
              </a:lnSpc>
            </a:pPr>
            <a:r>
              <a:rPr lang="zh-CN" altLang="en-US" dirty="0">
                <a:latin typeface="+mn-lt"/>
                <a:ea typeface="+mn-ea"/>
              </a:rPr>
              <a:t>将示例数据中的长江边界数据放在工作目录下，读入之后，将这部分区域从武汉市边界数据中进行剪裁：</a:t>
            </a:r>
            <a:endParaRPr lang="en-US" altLang="zh-CN" dirty="0">
              <a:latin typeface="+mn-lt"/>
              <a:ea typeface="+mn-ea"/>
            </a:endParaRPr>
          </a:p>
        </p:txBody>
      </p:sp>
      <p:pic>
        <p:nvPicPr>
          <p:cNvPr id="3" name="图片 2">
            <a:extLst>
              <a:ext uri="{FF2B5EF4-FFF2-40B4-BE49-F238E27FC236}">
                <a16:creationId xmlns:a16="http://schemas.microsoft.com/office/drawing/2014/main" id="{A6CA2CF2-B328-6526-539D-F38E2B546E0D}"/>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28365" y="3686658"/>
            <a:ext cx="2216369" cy="2620491"/>
          </a:xfrm>
          <a:prstGeom prst="rect">
            <a:avLst/>
          </a:prstGeom>
          <a:ln>
            <a:noFill/>
          </a:ln>
          <a:effectLst>
            <a:outerShdw blurRad="190500" algn="tl" rotWithShape="0">
              <a:srgbClr val="000000">
                <a:alpha val="70000"/>
              </a:srgbClr>
            </a:outerShdw>
          </a:effectLst>
        </p:spPr>
      </p:pic>
      <p:pic>
        <p:nvPicPr>
          <p:cNvPr id="6" name="图片 5">
            <a:extLst>
              <a:ext uri="{FF2B5EF4-FFF2-40B4-BE49-F238E27FC236}">
                <a16:creationId xmlns:a16="http://schemas.microsoft.com/office/drawing/2014/main" id="{4AA9D287-CCBA-21BE-97BE-205E67C9A98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38701" y="3683522"/>
            <a:ext cx="2362200" cy="2620552"/>
          </a:xfrm>
          <a:prstGeom prst="rect">
            <a:avLst/>
          </a:prstGeom>
          <a:ln>
            <a:noFill/>
          </a:ln>
          <a:effectLst>
            <a:outerShdw blurRad="190500" algn="tl" rotWithShape="0">
              <a:srgbClr val="000000">
                <a:alpha val="70000"/>
              </a:srgbClr>
            </a:outerShdw>
          </a:effectLst>
        </p:spPr>
      </p:pic>
      <p:sp>
        <p:nvSpPr>
          <p:cNvPr id="9" name="文本框 8">
            <a:extLst>
              <a:ext uri="{FF2B5EF4-FFF2-40B4-BE49-F238E27FC236}">
                <a16:creationId xmlns:a16="http://schemas.microsoft.com/office/drawing/2014/main" id="{FF8A1807-5C2A-3938-5242-0CEC893DCE63}"/>
              </a:ext>
            </a:extLst>
          </p:cNvPr>
          <p:cNvSpPr txBox="1"/>
          <p:nvPr/>
        </p:nvSpPr>
        <p:spPr>
          <a:xfrm>
            <a:off x="2130379" y="6361211"/>
            <a:ext cx="4883237" cy="307777"/>
          </a:xfrm>
          <a:prstGeom prst="rect">
            <a:avLst/>
          </a:prstGeom>
          <a:noFill/>
        </p:spPr>
        <p:txBody>
          <a:bodyPr wrap="square" rtlCol="0">
            <a:spAutoFit/>
          </a:bodyPr>
          <a:lstStyle/>
          <a:p>
            <a:pPr algn="ctr"/>
            <a:r>
              <a:rPr lang="zh-CN" altLang="en-US" sz="1400" kern="0" dirty="0">
                <a:effectLst/>
                <a:latin typeface="+mj-lt"/>
                <a:ea typeface="+mj-ea"/>
              </a:rPr>
              <a:t>函数</a:t>
            </a:r>
            <a:r>
              <a:rPr lang="en-US" altLang="zh-CN" sz="1400" i="1" kern="0" dirty="0" err="1">
                <a:effectLst/>
                <a:latin typeface="+mj-lt"/>
                <a:ea typeface="+mj-ea"/>
              </a:rPr>
              <a:t>st_difference</a:t>
            </a:r>
            <a:r>
              <a:rPr lang="zh-CN" altLang="en-US" sz="1400" kern="0" dirty="0">
                <a:effectLst/>
                <a:latin typeface="+mj-lt"/>
                <a:ea typeface="+mj-ea"/>
              </a:rPr>
              <a:t>与函数</a:t>
            </a:r>
            <a:r>
              <a:rPr lang="en-US" altLang="zh-CN" sz="1400" i="1" kern="0" dirty="0" err="1">
                <a:effectLst/>
                <a:latin typeface="+mj-lt"/>
                <a:ea typeface="+mj-ea"/>
              </a:rPr>
              <a:t>st_sym_difference</a:t>
            </a:r>
            <a:r>
              <a:rPr lang="zh-CN" altLang="en-US" sz="1400" kern="0" dirty="0">
                <a:effectLst/>
                <a:latin typeface="+mj-lt"/>
                <a:ea typeface="+mj-ea"/>
              </a:rPr>
              <a:t>裁剪效果对比</a:t>
            </a:r>
            <a:endParaRPr lang="zh-CN" altLang="en-US" sz="1100" dirty="0">
              <a:latin typeface="+mj-lt"/>
              <a:ea typeface="+mj-ea"/>
            </a:endParaRPr>
          </a:p>
        </p:txBody>
      </p:sp>
    </p:spTree>
    <p:extLst>
      <p:ext uri="{BB962C8B-B14F-4D97-AF65-F5344CB8AC3E}">
        <p14:creationId xmlns:p14="http://schemas.microsoft.com/office/powerpoint/2010/main" val="258561172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F4EE3-8127-001A-8841-4B01F521E508}"/>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87862569-89AD-AE4B-CB53-159A8191EED7}"/>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4.6 </a:t>
            </a:r>
            <a:r>
              <a:rPr lang="zh-CN" altLang="en-US" sz="3600" dirty="0">
                <a:latin typeface="Times New Roman" panose="02020603050405020304" pitchFamily="18" charset="0"/>
                <a:cs typeface="Times New Roman" panose="02020603050405020304" pitchFamily="18" charset="0"/>
              </a:rPr>
              <a:t>基础空间关系分析</a:t>
            </a:r>
          </a:p>
        </p:txBody>
      </p:sp>
      <p:sp>
        <p:nvSpPr>
          <p:cNvPr id="8" name="灯片编号占位符 7">
            <a:extLst>
              <a:ext uri="{FF2B5EF4-FFF2-40B4-BE49-F238E27FC236}">
                <a16:creationId xmlns:a16="http://schemas.microsoft.com/office/drawing/2014/main" id="{60CAA92A-0AC4-AB64-B801-CC41B3A18DC4}"/>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85</a:t>
            </a:fld>
            <a:endParaRPr lang="zh-CN" altLang="en-US" dirty="0">
              <a:solidFill>
                <a:schemeClr val="bg2">
                  <a:lumMod val="75000"/>
                </a:schemeClr>
              </a:solidFill>
            </a:endParaRPr>
          </a:p>
        </p:txBody>
      </p:sp>
      <p:sp>
        <p:nvSpPr>
          <p:cNvPr id="2" name="文本框 1">
            <a:extLst>
              <a:ext uri="{FF2B5EF4-FFF2-40B4-BE49-F238E27FC236}">
                <a16:creationId xmlns:a16="http://schemas.microsoft.com/office/drawing/2014/main" id="{41786504-F2C4-675F-35F2-1FDD948BE879}"/>
              </a:ext>
            </a:extLst>
          </p:cNvPr>
          <p:cNvSpPr txBox="1"/>
          <p:nvPr/>
        </p:nvSpPr>
        <p:spPr>
          <a:xfrm>
            <a:off x="609600" y="1524140"/>
            <a:ext cx="2727221" cy="400110"/>
          </a:xfrm>
          <a:prstGeom prst="rect">
            <a:avLst/>
          </a:prstGeom>
          <a:noFill/>
        </p:spPr>
        <p:txBody>
          <a:bodyPr wrap="none" rtlCol="0">
            <a:spAutoFit/>
          </a:bodyPr>
          <a:lstStyle/>
          <a:p>
            <a:r>
              <a:rPr lang="en-US" altLang="zh-CN" sz="2000" b="1" dirty="0">
                <a:latin typeface="+mj-lt"/>
                <a:ea typeface="+mj-ea"/>
              </a:rPr>
              <a:t>(2) Simple Feature</a:t>
            </a:r>
            <a:r>
              <a:rPr lang="zh-CN" altLang="en-US" sz="2000" b="1" dirty="0">
                <a:latin typeface="+mj-lt"/>
                <a:ea typeface="+mj-ea"/>
              </a:rPr>
              <a:t>对象</a:t>
            </a:r>
          </a:p>
        </p:txBody>
      </p:sp>
      <p:sp>
        <p:nvSpPr>
          <p:cNvPr id="5" name="文本框 4">
            <a:extLst>
              <a:ext uri="{FF2B5EF4-FFF2-40B4-BE49-F238E27FC236}">
                <a16:creationId xmlns:a16="http://schemas.microsoft.com/office/drawing/2014/main" id="{7D3F57F5-5D08-8DA1-816F-0E9A5C60117B}"/>
              </a:ext>
            </a:extLst>
          </p:cNvPr>
          <p:cNvSpPr txBox="1"/>
          <p:nvPr/>
        </p:nvSpPr>
        <p:spPr>
          <a:xfrm>
            <a:off x="618797" y="1924250"/>
            <a:ext cx="7893493" cy="3782702"/>
          </a:xfrm>
          <a:prstGeom prst="rect">
            <a:avLst/>
          </a:prstGeom>
          <a:noFill/>
        </p:spPr>
        <p:txBody>
          <a:bodyPr wrap="square" rtlCol="0">
            <a:spAutoFit/>
          </a:bodyPr>
          <a:lstStyle/>
          <a:p>
            <a:pPr>
              <a:lnSpc>
                <a:spcPct val="150000"/>
              </a:lnSpc>
            </a:pPr>
            <a:r>
              <a:rPr lang="zh-CN" altLang="en-US" dirty="0">
                <a:latin typeface="+mn-lt"/>
                <a:ea typeface="+mn-ea"/>
              </a:rPr>
              <a:t>⑥ </a:t>
            </a:r>
            <a:r>
              <a:rPr lang="zh-CN" altLang="en-US" b="1" dirty="0">
                <a:latin typeface="+mn-lt"/>
                <a:ea typeface="+mn-ea"/>
              </a:rPr>
              <a:t>空间关系判断函数：</a:t>
            </a:r>
            <a:r>
              <a:rPr lang="zh-CN" altLang="en-US" dirty="0">
                <a:latin typeface="+mn-lt"/>
                <a:ea typeface="+mn-ea"/>
              </a:rPr>
              <a:t>函数包</a:t>
            </a:r>
            <a:r>
              <a:rPr lang="en-US" altLang="zh-CN" b="1" dirty="0">
                <a:latin typeface="+mn-lt"/>
                <a:ea typeface="+mn-ea"/>
              </a:rPr>
              <a:t>sf</a:t>
            </a:r>
            <a:r>
              <a:rPr lang="zh-CN" altLang="en-US" dirty="0">
                <a:latin typeface="+mn-lt"/>
                <a:ea typeface="+mn-ea"/>
              </a:rPr>
              <a:t>提供，函数中的</a:t>
            </a:r>
            <a:r>
              <a:rPr lang="en-US" altLang="zh-CN" dirty="0">
                <a:latin typeface="+mn-lt"/>
                <a:ea typeface="+mn-ea"/>
              </a:rPr>
              <a:t>sparse</a:t>
            </a:r>
            <a:r>
              <a:rPr lang="zh-CN" altLang="en-US" dirty="0">
                <a:latin typeface="+mn-lt"/>
                <a:ea typeface="+mn-ea"/>
              </a:rPr>
              <a:t>参数为</a:t>
            </a:r>
            <a:r>
              <a:rPr lang="en-US" altLang="zh-CN" dirty="0">
                <a:latin typeface="+mn-lt"/>
                <a:ea typeface="+mn-ea"/>
              </a:rPr>
              <a:t>FALSE</a:t>
            </a:r>
            <a:r>
              <a:rPr lang="zh-CN" altLang="en-US" dirty="0">
                <a:latin typeface="+mn-lt"/>
                <a:ea typeface="+mn-ea"/>
              </a:rPr>
              <a:t>时，返回由</a:t>
            </a:r>
            <a:r>
              <a:rPr lang="en-US" altLang="zh-CN" dirty="0">
                <a:latin typeface="+mn-lt"/>
                <a:ea typeface="+mn-ea"/>
              </a:rPr>
              <a:t>TRUE/FALSE</a:t>
            </a:r>
            <a:r>
              <a:rPr lang="zh-CN" altLang="en-US" dirty="0">
                <a:latin typeface="+mn-lt"/>
                <a:ea typeface="+mn-ea"/>
              </a:rPr>
              <a:t>组成的二维矩阵，若对象间存在对应空间关系，则矩阵中对应位置为</a:t>
            </a:r>
            <a:r>
              <a:rPr lang="en-US" altLang="zh-CN" dirty="0">
                <a:latin typeface="+mn-lt"/>
                <a:ea typeface="+mn-ea"/>
              </a:rPr>
              <a:t>TRUE</a:t>
            </a:r>
            <a:r>
              <a:rPr lang="zh-CN" altLang="en-US" dirty="0">
                <a:latin typeface="+mn-lt"/>
                <a:ea typeface="+mn-ea"/>
              </a:rPr>
              <a:t>；否则返回</a:t>
            </a:r>
            <a:r>
              <a:rPr lang="en-US" altLang="zh-CN" dirty="0">
                <a:latin typeface="+mn-lt"/>
                <a:ea typeface="+mn-ea"/>
              </a:rPr>
              <a:t>FALSE</a:t>
            </a:r>
            <a:r>
              <a:rPr lang="zh-CN" altLang="en-US" dirty="0">
                <a:latin typeface="+mn-lt"/>
                <a:ea typeface="+mn-ea"/>
              </a:rPr>
              <a:t>。包括：</a:t>
            </a:r>
            <a:endParaRPr lang="en-US" altLang="zh-CN" dirty="0">
              <a:latin typeface="+mn-lt"/>
              <a:ea typeface="+mn-ea"/>
            </a:endParaRPr>
          </a:p>
          <a:p>
            <a:pPr marL="342900" indent="-342900">
              <a:lnSpc>
                <a:spcPct val="150000"/>
              </a:lnSpc>
              <a:buFont typeface="+mj-lt"/>
              <a:buAutoNum type="arabicPeriod"/>
            </a:pPr>
            <a:r>
              <a:rPr lang="zh-CN" altLang="en-US" b="1" dirty="0">
                <a:latin typeface="+mn-lt"/>
                <a:ea typeface="+mn-ea"/>
              </a:rPr>
              <a:t>包含关系</a:t>
            </a:r>
            <a:r>
              <a:rPr lang="zh-CN" altLang="en-US" dirty="0">
                <a:latin typeface="+mn-lt"/>
                <a:ea typeface="+mn-ea"/>
              </a:rPr>
              <a:t>：可用函数包括</a:t>
            </a:r>
            <a:r>
              <a:rPr lang="en-US" altLang="zh-CN" b="1" i="1" dirty="0" err="1">
                <a:latin typeface="+mn-lt"/>
                <a:ea typeface="+mn-ea"/>
              </a:rPr>
              <a:t>st_contains</a:t>
            </a:r>
            <a:r>
              <a:rPr lang="zh-CN" altLang="en-US" dirty="0">
                <a:latin typeface="+mn-lt"/>
                <a:ea typeface="+mn-ea"/>
              </a:rPr>
              <a:t>、</a:t>
            </a:r>
            <a:r>
              <a:rPr lang="en-US" altLang="zh-CN" b="1" i="1" dirty="0" err="1">
                <a:latin typeface="+mn-lt"/>
                <a:ea typeface="+mn-ea"/>
              </a:rPr>
              <a:t>st_contains_properly</a:t>
            </a:r>
            <a:r>
              <a:rPr lang="zh-CN" altLang="en-US" dirty="0">
                <a:latin typeface="+mn-lt"/>
                <a:ea typeface="+mn-ea"/>
              </a:rPr>
              <a:t>、</a:t>
            </a:r>
            <a:r>
              <a:rPr lang="en-US" altLang="zh-CN" b="1" i="1" dirty="0" err="1">
                <a:latin typeface="+mn-lt"/>
                <a:ea typeface="+mn-ea"/>
              </a:rPr>
              <a:t>st_covers</a:t>
            </a:r>
            <a:r>
              <a:rPr lang="zh-CN" altLang="en-US" dirty="0">
                <a:latin typeface="+mn-lt"/>
                <a:ea typeface="+mn-ea"/>
              </a:rPr>
              <a:t>、</a:t>
            </a:r>
            <a:r>
              <a:rPr lang="en-US" altLang="zh-CN" b="1" i="1" dirty="0" err="1">
                <a:latin typeface="+mn-lt"/>
                <a:ea typeface="+mn-ea"/>
              </a:rPr>
              <a:t>st_covered_by</a:t>
            </a:r>
            <a:r>
              <a:rPr lang="zh-CN" altLang="en-US" dirty="0">
                <a:latin typeface="+mn-lt"/>
                <a:ea typeface="+mn-ea"/>
              </a:rPr>
              <a:t>、</a:t>
            </a:r>
            <a:r>
              <a:rPr lang="en-US" altLang="zh-CN" b="1" i="1" dirty="0" err="1">
                <a:latin typeface="+mn-lt"/>
                <a:ea typeface="+mn-ea"/>
              </a:rPr>
              <a:t>st_within</a:t>
            </a:r>
            <a:r>
              <a:rPr lang="zh-CN" altLang="en-US" dirty="0">
                <a:latin typeface="+mn-lt"/>
                <a:ea typeface="+mn-ea"/>
              </a:rPr>
              <a:t>、</a:t>
            </a:r>
            <a:r>
              <a:rPr lang="en-US" altLang="zh-CN" b="1" i="1" dirty="0" err="1">
                <a:latin typeface="+mn-lt"/>
                <a:ea typeface="+mn-ea"/>
              </a:rPr>
              <a:t>st_equals</a:t>
            </a:r>
            <a:r>
              <a:rPr lang="zh-CN" altLang="en-US" dirty="0">
                <a:latin typeface="+mn-lt"/>
                <a:ea typeface="+mn-ea"/>
              </a:rPr>
              <a:t>、</a:t>
            </a:r>
            <a:r>
              <a:rPr lang="en-US" altLang="zh-CN" b="1" i="1" dirty="0" err="1">
                <a:latin typeface="+mn-lt"/>
                <a:ea typeface="+mn-ea"/>
              </a:rPr>
              <a:t>st_equals_exact</a:t>
            </a:r>
            <a:r>
              <a:rPr lang="zh-CN" altLang="en-US" dirty="0">
                <a:latin typeface="+mn-lt"/>
                <a:ea typeface="+mn-ea"/>
              </a:rPr>
              <a:t>等</a:t>
            </a:r>
            <a:endParaRPr lang="en-US" altLang="zh-CN" dirty="0">
              <a:latin typeface="+mn-lt"/>
              <a:ea typeface="+mn-ea"/>
            </a:endParaRPr>
          </a:p>
          <a:p>
            <a:pPr marL="342900" indent="-342900">
              <a:lnSpc>
                <a:spcPct val="150000"/>
              </a:lnSpc>
              <a:buFont typeface="+mj-lt"/>
              <a:buAutoNum type="arabicPeriod"/>
            </a:pPr>
            <a:r>
              <a:rPr lang="zh-CN" altLang="en-US" b="1" dirty="0">
                <a:latin typeface="+mn-lt"/>
                <a:ea typeface="+mn-ea"/>
              </a:rPr>
              <a:t>交叠关系</a:t>
            </a:r>
            <a:r>
              <a:rPr lang="zh-CN" altLang="en-US" dirty="0">
                <a:latin typeface="+mn-lt"/>
                <a:ea typeface="+mn-ea"/>
              </a:rPr>
              <a:t>：可用函数包括</a:t>
            </a:r>
            <a:r>
              <a:rPr lang="en-US" altLang="zh-CN" b="1" i="1" dirty="0" err="1">
                <a:latin typeface="+mn-lt"/>
                <a:ea typeface="+mn-ea"/>
              </a:rPr>
              <a:t>st_intersects</a:t>
            </a:r>
            <a:r>
              <a:rPr lang="zh-CN" altLang="en-US" dirty="0">
                <a:latin typeface="+mn-lt"/>
                <a:ea typeface="+mn-ea"/>
              </a:rPr>
              <a:t>、</a:t>
            </a:r>
            <a:r>
              <a:rPr lang="en-US" altLang="zh-CN" b="1" i="1" dirty="0" err="1">
                <a:latin typeface="+mn-lt"/>
                <a:ea typeface="+mn-ea"/>
              </a:rPr>
              <a:t>st_crosses</a:t>
            </a:r>
            <a:r>
              <a:rPr lang="zh-CN" altLang="en-US" dirty="0">
                <a:latin typeface="+mn-lt"/>
                <a:ea typeface="+mn-ea"/>
              </a:rPr>
              <a:t>和</a:t>
            </a:r>
            <a:r>
              <a:rPr lang="en-US" altLang="zh-CN" b="1" i="1" dirty="0" err="1">
                <a:latin typeface="+mn-lt"/>
                <a:ea typeface="+mn-ea"/>
              </a:rPr>
              <a:t>st_overlaps</a:t>
            </a:r>
            <a:endParaRPr lang="en-US" altLang="zh-CN" b="1" i="1" dirty="0">
              <a:latin typeface="+mn-lt"/>
              <a:ea typeface="+mn-ea"/>
            </a:endParaRPr>
          </a:p>
          <a:p>
            <a:pPr marL="342900" indent="-342900">
              <a:lnSpc>
                <a:spcPct val="150000"/>
              </a:lnSpc>
              <a:buFont typeface="+mj-lt"/>
              <a:buAutoNum type="arabicPeriod"/>
            </a:pPr>
            <a:r>
              <a:rPr lang="zh-CN" altLang="en-US" b="1" dirty="0">
                <a:latin typeface="+mn-lt"/>
                <a:ea typeface="+mn-ea"/>
              </a:rPr>
              <a:t>相遇关系</a:t>
            </a:r>
            <a:r>
              <a:rPr lang="zh-CN" altLang="en-US" dirty="0">
                <a:latin typeface="+mn-lt"/>
                <a:ea typeface="+mn-ea"/>
              </a:rPr>
              <a:t>：可用函数包括</a:t>
            </a:r>
            <a:r>
              <a:rPr lang="en-US" altLang="zh-CN" b="1" i="1" dirty="0" err="1">
                <a:latin typeface="+mn-lt"/>
                <a:ea typeface="+mn-ea"/>
              </a:rPr>
              <a:t>st_touches</a:t>
            </a:r>
            <a:endParaRPr lang="en-US" altLang="zh-CN" b="1" i="1" dirty="0">
              <a:latin typeface="+mn-lt"/>
              <a:ea typeface="+mn-ea"/>
            </a:endParaRPr>
          </a:p>
          <a:p>
            <a:pPr marL="342900" indent="-342900">
              <a:lnSpc>
                <a:spcPct val="150000"/>
              </a:lnSpc>
              <a:buFont typeface="+mj-lt"/>
              <a:buAutoNum type="arabicPeriod"/>
            </a:pPr>
            <a:r>
              <a:rPr lang="zh-CN" altLang="en-US" b="1" dirty="0">
                <a:latin typeface="+mn-lt"/>
                <a:ea typeface="+mn-ea"/>
              </a:rPr>
              <a:t>相离关系</a:t>
            </a:r>
            <a:r>
              <a:rPr lang="zh-CN" altLang="en-US" dirty="0">
                <a:latin typeface="+mn-lt"/>
                <a:ea typeface="+mn-ea"/>
              </a:rPr>
              <a:t>：可用函数包括</a:t>
            </a:r>
            <a:r>
              <a:rPr lang="en-US" altLang="zh-CN" b="1" i="1" dirty="0" err="1">
                <a:latin typeface="+mn-lt"/>
                <a:ea typeface="+mn-ea"/>
              </a:rPr>
              <a:t>st_disjoint</a:t>
            </a:r>
            <a:r>
              <a:rPr lang="zh-CN" altLang="en-US" dirty="0">
                <a:latin typeface="+mn-lt"/>
                <a:ea typeface="+mn-ea"/>
              </a:rPr>
              <a:t>，该函数与交叠关系中的</a:t>
            </a:r>
            <a:r>
              <a:rPr lang="en-US" altLang="zh-CN" b="1" i="1" dirty="0" err="1">
                <a:latin typeface="+mn-lt"/>
                <a:ea typeface="+mn-ea"/>
              </a:rPr>
              <a:t>st_intersects</a:t>
            </a:r>
            <a:r>
              <a:rPr lang="zh-CN" altLang="en-US" dirty="0">
                <a:latin typeface="+mn-lt"/>
                <a:ea typeface="+mn-ea"/>
              </a:rPr>
              <a:t>函数的功能相反</a:t>
            </a:r>
            <a:endParaRPr lang="en-US" altLang="zh-CN" dirty="0">
              <a:latin typeface="+mn-lt"/>
              <a:ea typeface="+mn-ea"/>
            </a:endParaRPr>
          </a:p>
        </p:txBody>
      </p:sp>
    </p:spTree>
    <p:extLst>
      <p:ext uri="{BB962C8B-B14F-4D97-AF65-F5344CB8AC3E}">
        <p14:creationId xmlns:p14="http://schemas.microsoft.com/office/powerpoint/2010/main" val="342109258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007373-70FE-AE69-2228-DE72A5FA4A7C}"/>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5371CD56-D39D-9A14-EB3B-EDDA11E28C88}"/>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4.6 </a:t>
            </a:r>
            <a:r>
              <a:rPr lang="zh-CN" altLang="en-US" sz="3600" dirty="0">
                <a:latin typeface="Times New Roman" panose="02020603050405020304" pitchFamily="18" charset="0"/>
                <a:cs typeface="Times New Roman" panose="02020603050405020304" pitchFamily="18" charset="0"/>
              </a:rPr>
              <a:t>基础空间关系分析</a:t>
            </a:r>
          </a:p>
        </p:txBody>
      </p:sp>
      <p:sp>
        <p:nvSpPr>
          <p:cNvPr id="8" name="灯片编号占位符 7">
            <a:extLst>
              <a:ext uri="{FF2B5EF4-FFF2-40B4-BE49-F238E27FC236}">
                <a16:creationId xmlns:a16="http://schemas.microsoft.com/office/drawing/2014/main" id="{550B029A-E0E4-EB4C-4346-1D5FC30C4485}"/>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86</a:t>
            </a:fld>
            <a:endParaRPr lang="zh-CN" altLang="en-US" dirty="0">
              <a:solidFill>
                <a:schemeClr val="bg2">
                  <a:lumMod val="75000"/>
                </a:schemeClr>
              </a:solidFill>
            </a:endParaRPr>
          </a:p>
        </p:txBody>
      </p:sp>
      <p:sp>
        <p:nvSpPr>
          <p:cNvPr id="2" name="文本框 1">
            <a:extLst>
              <a:ext uri="{FF2B5EF4-FFF2-40B4-BE49-F238E27FC236}">
                <a16:creationId xmlns:a16="http://schemas.microsoft.com/office/drawing/2014/main" id="{B7F86784-25C7-8A5E-EA8E-42AA8BE5C644}"/>
              </a:ext>
            </a:extLst>
          </p:cNvPr>
          <p:cNvSpPr txBox="1"/>
          <p:nvPr/>
        </p:nvSpPr>
        <p:spPr>
          <a:xfrm>
            <a:off x="609600" y="1524140"/>
            <a:ext cx="2727221" cy="400110"/>
          </a:xfrm>
          <a:prstGeom prst="rect">
            <a:avLst/>
          </a:prstGeom>
          <a:noFill/>
        </p:spPr>
        <p:txBody>
          <a:bodyPr wrap="none" rtlCol="0">
            <a:spAutoFit/>
          </a:bodyPr>
          <a:lstStyle/>
          <a:p>
            <a:r>
              <a:rPr lang="en-US" altLang="zh-CN" sz="2000" b="1" dirty="0">
                <a:latin typeface="+mj-lt"/>
                <a:ea typeface="+mj-ea"/>
              </a:rPr>
              <a:t>(2) Simple Feature</a:t>
            </a:r>
            <a:r>
              <a:rPr lang="zh-CN" altLang="en-US" sz="2000" b="1" dirty="0">
                <a:latin typeface="+mj-lt"/>
                <a:ea typeface="+mj-ea"/>
              </a:rPr>
              <a:t>对象</a:t>
            </a:r>
          </a:p>
        </p:txBody>
      </p:sp>
      <p:sp>
        <p:nvSpPr>
          <p:cNvPr id="5" name="文本框 4">
            <a:extLst>
              <a:ext uri="{FF2B5EF4-FFF2-40B4-BE49-F238E27FC236}">
                <a16:creationId xmlns:a16="http://schemas.microsoft.com/office/drawing/2014/main" id="{271D50C3-DC6A-4316-C94C-4BBB80F9B0C4}"/>
              </a:ext>
            </a:extLst>
          </p:cNvPr>
          <p:cNvSpPr txBox="1"/>
          <p:nvPr/>
        </p:nvSpPr>
        <p:spPr>
          <a:xfrm>
            <a:off x="618797" y="1924250"/>
            <a:ext cx="7893493" cy="2120709"/>
          </a:xfrm>
          <a:prstGeom prst="rect">
            <a:avLst/>
          </a:prstGeom>
          <a:noFill/>
        </p:spPr>
        <p:txBody>
          <a:bodyPr wrap="square" rtlCol="0">
            <a:spAutoFit/>
          </a:bodyPr>
          <a:lstStyle/>
          <a:p>
            <a:pPr>
              <a:lnSpc>
                <a:spcPct val="150000"/>
              </a:lnSpc>
            </a:pPr>
            <a:r>
              <a:rPr lang="zh-CN" altLang="en-US" dirty="0">
                <a:latin typeface="+mn-lt"/>
                <a:ea typeface="+mn-ea"/>
              </a:rPr>
              <a:t>⑥ </a:t>
            </a:r>
            <a:r>
              <a:rPr lang="zh-CN" altLang="en-US" b="1" dirty="0">
                <a:latin typeface="+mn-lt"/>
                <a:ea typeface="+mn-ea"/>
              </a:rPr>
              <a:t>空间关系判断函数：</a:t>
            </a:r>
            <a:r>
              <a:rPr lang="zh-CN" altLang="en-US" dirty="0">
                <a:latin typeface="+mn-lt"/>
                <a:ea typeface="+mn-ea"/>
              </a:rPr>
              <a:t>除了可以用于两个不同的空间数据对象之间的空间关系判断外，还可以用于筛选</a:t>
            </a:r>
            <a:r>
              <a:rPr lang="zh-CN" altLang="en-US" b="1" dirty="0">
                <a:latin typeface="+mn-lt"/>
                <a:ea typeface="+mn-ea"/>
              </a:rPr>
              <a:t>同一个空间数据对象中</a:t>
            </a:r>
            <a:r>
              <a:rPr lang="zh-CN" altLang="en-US" dirty="0">
                <a:latin typeface="+mn-lt"/>
                <a:ea typeface="+mn-ea"/>
              </a:rPr>
              <a:t>与某</a:t>
            </a:r>
            <a:r>
              <a:rPr lang="en-US" altLang="zh-CN" dirty="0">
                <a:latin typeface="+mn-lt"/>
                <a:ea typeface="+mn-ea"/>
              </a:rPr>
              <a:t>Simple Feature</a:t>
            </a:r>
            <a:r>
              <a:rPr lang="zh-CN" altLang="en-US" dirty="0">
                <a:latin typeface="+mn-lt"/>
                <a:ea typeface="+mn-ea"/>
              </a:rPr>
              <a:t>对象符合规定空间关系的其他</a:t>
            </a:r>
            <a:r>
              <a:rPr lang="en-US" altLang="zh-CN" dirty="0">
                <a:latin typeface="+mn-lt"/>
                <a:ea typeface="+mn-ea"/>
              </a:rPr>
              <a:t>Simple Feature</a:t>
            </a:r>
            <a:r>
              <a:rPr lang="zh-CN" altLang="en-US" dirty="0">
                <a:latin typeface="+mn-lt"/>
                <a:ea typeface="+mn-ea"/>
              </a:rPr>
              <a:t>对象。</a:t>
            </a:r>
            <a:endParaRPr lang="en-US" altLang="zh-CN" dirty="0">
              <a:latin typeface="+mn-lt"/>
              <a:ea typeface="+mn-ea"/>
            </a:endParaRPr>
          </a:p>
          <a:p>
            <a:pPr indent="457200">
              <a:lnSpc>
                <a:spcPct val="150000"/>
              </a:lnSpc>
            </a:pPr>
            <a:r>
              <a:rPr lang="zh-CN" altLang="en-US" dirty="0">
                <a:latin typeface="+mn-lt"/>
                <a:ea typeface="+mn-ea"/>
              </a:rPr>
              <a:t>根据“</a:t>
            </a:r>
            <a:r>
              <a:rPr lang="en-US" altLang="zh-CN" dirty="0">
                <a:latin typeface="+mn-lt"/>
                <a:ea typeface="+mn-ea"/>
              </a:rPr>
              <a:t>name</a:t>
            </a:r>
            <a:r>
              <a:rPr lang="zh-CN" altLang="en-US" dirty="0">
                <a:latin typeface="+mn-lt"/>
                <a:ea typeface="+mn-ea"/>
              </a:rPr>
              <a:t>”属性从武汉市边界数据中筛选出名为“</a:t>
            </a:r>
            <a:r>
              <a:rPr lang="en-US" altLang="zh-CN" dirty="0" err="1">
                <a:latin typeface="+mn-lt"/>
                <a:ea typeface="+mn-ea"/>
              </a:rPr>
              <a:t>Hongshan</a:t>
            </a:r>
            <a:r>
              <a:rPr lang="zh-CN" altLang="en-US" dirty="0">
                <a:latin typeface="+mn-lt"/>
                <a:ea typeface="+mn-ea"/>
              </a:rPr>
              <a:t>”的面数据，再根据空间关系</a:t>
            </a:r>
            <a:r>
              <a:rPr lang="en-US" altLang="zh-CN" b="1" i="1" dirty="0" err="1">
                <a:latin typeface="+mn-lt"/>
                <a:ea typeface="+mn-ea"/>
              </a:rPr>
              <a:t>st_touches</a:t>
            </a:r>
            <a:r>
              <a:rPr lang="zh-CN" altLang="en-US" dirty="0">
                <a:latin typeface="+mn-lt"/>
                <a:ea typeface="+mn-ea"/>
              </a:rPr>
              <a:t>筛选出与该面具有相遇关系的其它面数据：</a:t>
            </a:r>
            <a:endParaRPr lang="en-US" altLang="zh-CN" dirty="0">
              <a:latin typeface="+mn-lt"/>
              <a:ea typeface="+mn-ea"/>
            </a:endParaRPr>
          </a:p>
        </p:txBody>
      </p:sp>
      <p:sp>
        <p:nvSpPr>
          <p:cNvPr id="6" name="文本框 5">
            <a:extLst>
              <a:ext uri="{FF2B5EF4-FFF2-40B4-BE49-F238E27FC236}">
                <a16:creationId xmlns:a16="http://schemas.microsoft.com/office/drawing/2014/main" id="{ED1B698E-4744-5665-CFE3-0990ADEB6F2C}"/>
              </a:ext>
            </a:extLst>
          </p:cNvPr>
          <p:cNvSpPr txBox="1"/>
          <p:nvPr/>
        </p:nvSpPr>
        <p:spPr>
          <a:xfrm>
            <a:off x="838200" y="4133166"/>
            <a:ext cx="7859973" cy="1477328"/>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Hongshan</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WHDis_sf</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WHDis_sf</a:t>
            </a:r>
            <a:r>
              <a:rPr lang="en-US" altLang="zh-CN" sz="18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name</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Hongshan</a:t>
            </a:r>
            <a:r>
              <a:rPr lang="en-US" altLang="zh-CN" sz="18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dirty="0">
              <a:effectLst/>
              <a:latin typeface="Times New Roman" panose="02020603050405020304" pitchFamily="18" charset="0"/>
              <a:ea typeface="宋体" panose="02010600030101010101" pitchFamily="2" charset="-122"/>
            </a:endParaRPr>
          </a:p>
          <a:p>
            <a:pPr indent="127000" algn="l">
              <a:buNone/>
            </a:pP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Hongshan_touch</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WHDis_sf</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Hongshan,op</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st_touches</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dirty="0">
              <a:effectLst/>
              <a:latin typeface="Times New Roman" panose="02020603050405020304" pitchFamily="18" charset="0"/>
              <a:ea typeface="宋体" panose="02010600030101010101" pitchFamily="2" charset="-122"/>
            </a:endParaRPr>
          </a:p>
          <a:p>
            <a:pPr indent="127000" algn="l">
              <a:buNone/>
            </a:pP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WHDis_sf</a:t>
            </a:r>
            <a:r>
              <a:rPr lang="en-US" altLang="zh-CN" sz="18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geometry,col</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"grey"</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dirty="0">
              <a:effectLst/>
              <a:latin typeface="Times New Roman" panose="02020603050405020304" pitchFamily="18" charset="0"/>
              <a:ea typeface="宋体" panose="02010600030101010101" pitchFamily="2" charset="-122"/>
            </a:endParaRPr>
          </a:p>
          <a:p>
            <a:pPr indent="127000" algn="l">
              <a:buNone/>
            </a:pP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Hongshan_touch</a:t>
            </a:r>
            <a:r>
              <a:rPr lang="en-US" altLang="zh-CN" sz="18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geometry,col</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red"</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,add</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TRUE</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dirty="0">
              <a:effectLst/>
              <a:latin typeface="Times New Roman" panose="02020603050405020304" pitchFamily="18" charset="0"/>
              <a:ea typeface="宋体" panose="02010600030101010101" pitchFamily="2" charset="-122"/>
            </a:endParaRPr>
          </a:p>
          <a:p>
            <a:pPr indent="127000" algn="l"/>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Hongshan</a:t>
            </a:r>
            <a:r>
              <a:rPr lang="en-US" altLang="zh-CN" sz="18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geometry,col</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blue"</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,add</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TRUE</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184683813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1585B4-897B-6735-ABFA-17D476944C8D}"/>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8850D270-0F2E-D17A-BF0A-02FA4829684A}"/>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4.6 </a:t>
            </a:r>
            <a:r>
              <a:rPr lang="zh-CN" altLang="en-US" sz="3600" dirty="0">
                <a:latin typeface="Times New Roman" panose="02020603050405020304" pitchFamily="18" charset="0"/>
                <a:cs typeface="Times New Roman" panose="02020603050405020304" pitchFamily="18" charset="0"/>
              </a:rPr>
              <a:t>基础空间关系分析</a:t>
            </a:r>
          </a:p>
        </p:txBody>
      </p:sp>
      <p:sp>
        <p:nvSpPr>
          <p:cNvPr id="8" name="灯片编号占位符 7">
            <a:extLst>
              <a:ext uri="{FF2B5EF4-FFF2-40B4-BE49-F238E27FC236}">
                <a16:creationId xmlns:a16="http://schemas.microsoft.com/office/drawing/2014/main" id="{83A0F03A-1886-25AA-FA3B-9A117FD00733}"/>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87</a:t>
            </a:fld>
            <a:endParaRPr lang="zh-CN" altLang="en-US" dirty="0">
              <a:solidFill>
                <a:schemeClr val="bg2">
                  <a:lumMod val="75000"/>
                </a:schemeClr>
              </a:solidFill>
            </a:endParaRPr>
          </a:p>
        </p:txBody>
      </p:sp>
      <p:sp>
        <p:nvSpPr>
          <p:cNvPr id="2" name="文本框 1">
            <a:extLst>
              <a:ext uri="{FF2B5EF4-FFF2-40B4-BE49-F238E27FC236}">
                <a16:creationId xmlns:a16="http://schemas.microsoft.com/office/drawing/2014/main" id="{82E5D25C-3AFE-4E96-9827-932C2AFC00A2}"/>
              </a:ext>
            </a:extLst>
          </p:cNvPr>
          <p:cNvSpPr txBox="1"/>
          <p:nvPr/>
        </p:nvSpPr>
        <p:spPr>
          <a:xfrm>
            <a:off x="609600" y="1524140"/>
            <a:ext cx="2727221" cy="400110"/>
          </a:xfrm>
          <a:prstGeom prst="rect">
            <a:avLst/>
          </a:prstGeom>
          <a:noFill/>
        </p:spPr>
        <p:txBody>
          <a:bodyPr wrap="none" rtlCol="0">
            <a:spAutoFit/>
          </a:bodyPr>
          <a:lstStyle/>
          <a:p>
            <a:r>
              <a:rPr lang="en-US" altLang="zh-CN" sz="2000" b="1" dirty="0">
                <a:latin typeface="+mj-lt"/>
                <a:ea typeface="+mj-ea"/>
              </a:rPr>
              <a:t>(2) Simple Feature</a:t>
            </a:r>
            <a:r>
              <a:rPr lang="zh-CN" altLang="en-US" sz="2000" b="1" dirty="0">
                <a:latin typeface="+mj-lt"/>
                <a:ea typeface="+mj-ea"/>
              </a:rPr>
              <a:t>对象</a:t>
            </a:r>
          </a:p>
        </p:txBody>
      </p:sp>
      <p:sp>
        <p:nvSpPr>
          <p:cNvPr id="5" name="文本框 4">
            <a:extLst>
              <a:ext uri="{FF2B5EF4-FFF2-40B4-BE49-F238E27FC236}">
                <a16:creationId xmlns:a16="http://schemas.microsoft.com/office/drawing/2014/main" id="{9A7CB967-5E62-E76E-2336-35E7A2FD6352}"/>
              </a:ext>
            </a:extLst>
          </p:cNvPr>
          <p:cNvSpPr txBox="1"/>
          <p:nvPr/>
        </p:nvSpPr>
        <p:spPr>
          <a:xfrm>
            <a:off x="618797" y="1924250"/>
            <a:ext cx="7893493" cy="1289712"/>
          </a:xfrm>
          <a:prstGeom prst="rect">
            <a:avLst/>
          </a:prstGeom>
          <a:noFill/>
        </p:spPr>
        <p:txBody>
          <a:bodyPr wrap="square" rtlCol="0">
            <a:spAutoFit/>
          </a:bodyPr>
          <a:lstStyle/>
          <a:p>
            <a:pPr>
              <a:lnSpc>
                <a:spcPct val="150000"/>
              </a:lnSpc>
            </a:pPr>
            <a:r>
              <a:rPr lang="zh-CN" altLang="en-US" dirty="0">
                <a:latin typeface="+mn-lt"/>
                <a:ea typeface="+mn-ea"/>
              </a:rPr>
              <a:t>⑥ </a:t>
            </a:r>
            <a:r>
              <a:rPr lang="zh-CN" altLang="en-US" b="1" dirty="0">
                <a:latin typeface="+mn-lt"/>
                <a:ea typeface="+mn-ea"/>
              </a:rPr>
              <a:t>空间关系判断函数</a:t>
            </a:r>
            <a:endParaRPr lang="en-US" altLang="zh-CN" b="1" dirty="0">
              <a:latin typeface="+mn-lt"/>
              <a:ea typeface="+mn-ea"/>
            </a:endParaRPr>
          </a:p>
          <a:p>
            <a:pPr indent="457200">
              <a:lnSpc>
                <a:spcPct val="150000"/>
              </a:lnSpc>
            </a:pPr>
            <a:r>
              <a:rPr lang="zh-CN" altLang="en-US" dirty="0">
                <a:latin typeface="+mn-lt"/>
                <a:ea typeface="+mn-ea"/>
              </a:rPr>
              <a:t>根据“</a:t>
            </a:r>
            <a:r>
              <a:rPr lang="en-US" altLang="zh-CN" dirty="0">
                <a:latin typeface="+mn-lt"/>
                <a:ea typeface="+mn-ea"/>
              </a:rPr>
              <a:t>name</a:t>
            </a:r>
            <a:r>
              <a:rPr lang="zh-CN" altLang="en-US" dirty="0">
                <a:latin typeface="+mn-lt"/>
                <a:ea typeface="+mn-ea"/>
              </a:rPr>
              <a:t>”属性从武汉市边界数据中筛选出名为“</a:t>
            </a:r>
            <a:r>
              <a:rPr lang="en-US" altLang="zh-CN" dirty="0" err="1">
                <a:latin typeface="+mn-lt"/>
                <a:ea typeface="+mn-ea"/>
              </a:rPr>
              <a:t>Hongshan</a:t>
            </a:r>
            <a:r>
              <a:rPr lang="zh-CN" altLang="en-US" dirty="0">
                <a:latin typeface="+mn-lt"/>
                <a:ea typeface="+mn-ea"/>
              </a:rPr>
              <a:t>”的面数据，再根据空间关系</a:t>
            </a:r>
            <a:r>
              <a:rPr lang="en-US" altLang="zh-CN" b="1" i="1" dirty="0" err="1">
                <a:latin typeface="+mn-lt"/>
                <a:ea typeface="+mn-ea"/>
              </a:rPr>
              <a:t>st_touches</a:t>
            </a:r>
            <a:r>
              <a:rPr lang="zh-CN" altLang="en-US" dirty="0">
                <a:latin typeface="+mn-lt"/>
                <a:ea typeface="+mn-ea"/>
              </a:rPr>
              <a:t>筛选出与该面具有相遇关系的其它面数据：</a:t>
            </a:r>
            <a:endParaRPr lang="en-US" altLang="zh-CN" dirty="0">
              <a:latin typeface="+mn-lt"/>
              <a:ea typeface="+mn-ea"/>
            </a:endParaRPr>
          </a:p>
        </p:txBody>
      </p:sp>
      <p:pic>
        <p:nvPicPr>
          <p:cNvPr id="3" name="图片 2">
            <a:extLst>
              <a:ext uri="{FF2B5EF4-FFF2-40B4-BE49-F238E27FC236}">
                <a16:creationId xmlns:a16="http://schemas.microsoft.com/office/drawing/2014/main" id="{1AEF821F-AC81-96C2-FA59-BA5801D1FF7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249352" y="3374424"/>
            <a:ext cx="2759595" cy="3152237"/>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35710411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FC0E15-7689-1A6A-606B-9473D8F322AF}"/>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22428917-D011-3A19-EF16-72A0C82475A0}"/>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4.7 </a:t>
            </a:r>
            <a:r>
              <a:rPr lang="zh-CN" altLang="en-US" sz="3600" dirty="0">
                <a:latin typeface="Times New Roman" panose="02020603050405020304" pitchFamily="18" charset="0"/>
                <a:cs typeface="Times New Roman" panose="02020603050405020304" pitchFamily="18" charset="0"/>
              </a:rPr>
              <a:t>属性与空间关联</a:t>
            </a:r>
          </a:p>
        </p:txBody>
      </p:sp>
      <p:sp>
        <p:nvSpPr>
          <p:cNvPr id="8" name="灯片编号占位符 7">
            <a:extLst>
              <a:ext uri="{FF2B5EF4-FFF2-40B4-BE49-F238E27FC236}">
                <a16:creationId xmlns:a16="http://schemas.microsoft.com/office/drawing/2014/main" id="{4804D652-EE5A-68F4-7C6F-1CBC3DABDDB6}"/>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88</a:t>
            </a:fld>
            <a:endParaRPr lang="zh-CN" altLang="en-US" dirty="0">
              <a:solidFill>
                <a:schemeClr val="bg2">
                  <a:lumMod val="75000"/>
                </a:schemeClr>
              </a:solidFill>
            </a:endParaRPr>
          </a:p>
        </p:txBody>
      </p:sp>
      <p:sp>
        <p:nvSpPr>
          <p:cNvPr id="5" name="文本框 4">
            <a:extLst>
              <a:ext uri="{FF2B5EF4-FFF2-40B4-BE49-F238E27FC236}">
                <a16:creationId xmlns:a16="http://schemas.microsoft.com/office/drawing/2014/main" id="{C34875D3-8D42-1E0C-DE4A-20BFA6AC08A2}"/>
              </a:ext>
            </a:extLst>
          </p:cNvPr>
          <p:cNvSpPr txBox="1"/>
          <p:nvPr/>
        </p:nvSpPr>
        <p:spPr>
          <a:xfrm>
            <a:off x="618797" y="1333500"/>
            <a:ext cx="7893493" cy="3367204"/>
          </a:xfrm>
          <a:prstGeom prst="rect">
            <a:avLst/>
          </a:prstGeom>
          <a:noFill/>
        </p:spPr>
        <p:txBody>
          <a:bodyPr wrap="square" rtlCol="0">
            <a:spAutoFit/>
          </a:bodyPr>
          <a:lstStyle/>
          <a:p>
            <a:pPr indent="457200">
              <a:lnSpc>
                <a:spcPct val="150000"/>
              </a:lnSpc>
            </a:pPr>
            <a:r>
              <a:rPr lang="zh-CN" altLang="en-US" b="1" dirty="0">
                <a:latin typeface="+mn-lt"/>
                <a:ea typeface="+mn-ea"/>
              </a:rPr>
              <a:t>空间连接</a:t>
            </a:r>
            <a:r>
              <a:rPr lang="en-US" altLang="zh-CN" dirty="0">
                <a:latin typeface="+mn-lt"/>
                <a:ea typeface="+mn-ea"/>
              </a:rPr>
              <a:t>(Spatial Join)</a:t>
            </a:r>
            <a:r>
              <a:rPr lang="zh-CN" altLang="en-US" dirty="0">
                <a:latin typeface="+mn-lt"/>
                <a:ea typeface="+mn-ea"/>
              </a:rPr>
              <a:t>是一种地理信息系统</a:t>
            </a:r>
            <a:r>
              <a:rPr lang="en-US" altLang="zh-CN" dirty="0">
                <a:latin typeface="+mn-lt"/>
                <a:ea typeface="+mn-ea"/>
              </a:rPr>
              <a:t>(GIS)</a:t>
            </a:r>
            <a:r>
              <a:rPr lang="zh-CN" altLang="en-US" dirty="0">
                <a:latin typeface="+mn-lt"/>
                <a:ea typeface="+mn-ea"/>
              </a:rPr>
              <a:t>操作，用于根据地理空间关系将两个地理数据集连接在一起，这通常涉及根据两个数据集的地理位置和空间关系（如包含、相交或临近关系）来</a:t>
            </a:r>
            <a:r>
              <a:rPr lang="zh-CN" altLang="en-US" b="1" dirty="0">
                <a:latin typeface="+mn-lt"/>
                <a:ea typeface="+mn-ea"/>
              </a:rPr>
              <a:t>传递属性数据</a:t>
            </a:r>
            <a:r>
              <a:rPr lang="zh-CN" altLang="en-US" dirty="0">
                <a:latin typeface="+mn-lt"/>
                <a:ea typeface="+mn-ea"/>
              </a:rPr>
              <a:t>。</a:t>
            </a:r>
            <a:endParaRPr lang="en-US" altLang="zh-CN" dirty="0">
              <a:latin typeface="+mn-lt"/>
              <a:ea typeface="+mn-ea"/>
            </a:endParaRPr>
          </a:p>
          <a:p>
            <a:pPr indent="457200">
              <a:lnSpc>
                <a:spcPct val="150000"/>
              </a:lnSpc>
            </a:pPr>
            <a:r>
              <a:rPr lang="en-US" altLang="zh-CN" b="1" dirty="0">
                <a:latin typeface="+mn-lt"/>
                <a:ea typeface="+mn-ea"/>
              </a:rPr>
              <a:t>sf</a:t>
            </a:r>
            <a:r>
              <a:rPr lang="zh-CN" altLang="en-US" dirty="0">
                <a:latin typeface="+mn-lt"/>
                <a:ea typeface="+mn-ea"/>
              </a:rPr>
              <a:t>函数包是执行空间操作和分析的现役工具包，它提供的</a:t>
            </a:r>
            <a:r>
              <a:rPr lang="en-US" altLang="zh-CN" dirty="0">
                <a:latin typeface="+mn-lt"/>
                <a:ea typeface="+mn-ea"/>
              </a:rPr>
              <a:t>Simple Feature</a:t>
            </a:r>
            <a:r>
              <a:rPr lang="zh-CN" altLang="en-US" dirty="0">
                <a:latin typeface="+mn-lt"/>
                <a:ea typeface="+mn-ea"/>
              </a:rPr>
              <a:t>对象具备天然的</a:t>
            </a:r>
            <a:r>
              <a:rPr lang="en-US" altLang="zh-CN" dirty="0" err="1">
                <a:latin typeface="+mn-lt"/>
                <a:ea typeface="+mn-ea"/>
              </a:rPr>
              <a:t>data.frame</a:t>
            </a:r>
            <a:r>
              <a:rPr lang="zh-CN" altLang="en-US" dirty="0">
                <a:latin typeface="+mn-lt"/>
                <a:ea typeface="+mn-ea"/>
              </a:rPr>
              <a:t>对象属性，能够高效、便捷地进行连接操作。</a:t>
            </a:r>
            <a:endParaRPr lang="en-US" altLang="zh-CN" dirty="0">
              <a:latin typeface="+mn-lt"/>
              <a:ea typeface="+mn-ea"/>
            </a:endParaRPr>
          </a:p>
          <a:p>
            <a:pPr indent="457200">
              <a:lnSpc>
                <a:spcPct val="150000"/>
              </a:lnSpc>
            </a:pPr>
            <a:r>
              <a:rPr lang="zh-CN" altLang="en-US" dirty="0">
                <a:latin typeface="+mn-lt"/>
                <a:ea typeface="+mn-ea"/>
              </a:rPr>
              <a:t>选择武汉市住宅区点数据</a:t>
            </a:r>
            <a:r>
              <a:rPr lang="en-US" altLang="zh-CN" dirty="0" err="1">
                <a:latin typeface="+mn-lt"/>
                <a:ea typeface="+mn-ea"/>
              </a:rPr>
              <a:t>WHZZQ_sf</a:t>
            </a:r>
            <a:r>
              <a:rPr lang="zh-CN" altLang="en-US" dirty="0">
                <a:latin typeface="+mn-lt"/>
                <a:ea typeface="+mn-ea"/>
              </a:rPr>
              <a:t>和武汉市边界面数据</a:t>
            </a:r>
            <a:r>
              <a:rPr lang="en-US" altLang="zh-CN" dirty="0" err="1">
                <a:latin typeface="+mn-lt"/>
                <a:ea typeface="+mn-ea"/>
              </a:rPr>
              <a:t>WHDis_sf</a:t>
            </a:r>
            <a:r>
              <a:rPr lang="zh-CN" altLang="en-US" dirty="0">
                <a:latin typeface="+mn-lt"/>
                <a:ea typeface="+mn-ea"/>
              </a:rPr>
              <a:t>作为进行空间连接的示例数据。接着，使用</a:t>
            </a:r>
            <a:r>
              <a:rPr lang="en-US" altLang="zh-CN" dirty="0" err="1">
                <a:latin typeface="+mn-lt"/>
                <a:ea typeface="+mn-ea"/>
              </a:rPr>
              <a:t>st_join</a:t>
            </a:r>
            <a:r>
              <a:rPr lang="zh-CN" altLang="en-US" dirty="0">
                <a:latin typeface="+mn-lt"/>
                <a:ea typeface="+mn-ea"/>
              </a:rPr>
              <a:t>函数对二者进行空间连接，基于点的位置将面数据的属性连接到点数据集中：</a:t>
            </a:r>
            <a:endParaRPr lang="en-US" altLang="zh-CN" dirty="0">
              <a:latin typeface="+mn-lt"/>
              <a:ea typeface="+mn-ea"/>
            </a:endParaRPr>
          </a:p>
        </p:txBody>
      </p:sp>
      <p:sp>
        <p:nvSpPr>
          <p:cNvPr id="4" name="文本框 3">
            <a:extLst>
              <a:ext uri="{FF2B5EF4-FFF2-40B4-BE49-F238E27FC236}">
                <a16:creationId xmlns:a16="http://schemas.microsoft.com/office/drawing/2014/main" id="{9C639C86-7F6E-C51F-F73D-2289A32805B4}"/>
              </a:ext>
            </a:extLst>
          </p:cNvPr>
          <p:cNvSpPr txBox="1"/>
          <p:nvPr/>
        </p:nvSpPr>
        <p:spPr>
          <a:xfrm>
            <a:off x="914400" y="4800600"/>
            <a:ext cx="7859973" cy="923330"/>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joined_data</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st_join</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WHZZQ_sf</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WHDis_sf</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dirty="0">
              <a:effectLst/>
              <a:latin typeface="Times New Roman" panose="02020603050405020304" pitchFamily="18" charset="0"/>
              <a:ea typeface="宋体" panose="02010600030101010101" pitchFamily="2" charset="-122"/>
            </a:endParaRPr>
          </a:p>
          <a:p>
            <a:pPr indent="127000" algn="l">
              <a:buNone/>
            </a:pP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joined_data</a:t>
            </a:r>
            <a:endParaRPr lang="zh-CN" altLang="zh-CN" sz="1800" dirty="0">
              <a:effectLst/>
              <a:latin typeface="Times New Roman" panose="02020603050405020304" pitchFamily="18" charset="0"/>
              <a:ea typeface="宋体" panose="02010600030101010101" pitchFamily="2" charset="-122"/>
            </a:endParaRPr>
          </a:p>
          <a:p>
            <a:pPr indent="127000" algn="l"/>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summary(</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joined_data</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43090546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895863-BB46-D330-2617-CB37DD5E7073}"/>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68537D3B-FD95-7E44-D0E5-5063A49BBFF9}"/>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4.7 </a:t>
            </a:r>
            <a:r>
              <a:rPr lang="zh-CN" altLang="en-US" sz="3600" dirty="0">
                <a:latin typeface="Times New Roman" panose="02020603050405020304" pitchFamily="18" charset="0"/>
                <a:cs typeface="Times New Roman" panose="02020603050405020304" pitchFamily="18" charset="0"/>
              </a:rPr>
              <a:t>属性与空间关联</a:t>
            </a:r>
          </a:p>
        </p:txBody>
      </p:sp>
      <p:sp>
        <p:nvSpPr>
          <p:cNvPr id="8" name="灯片编号占位符 7">
            <a:extLst>
              <a:ext uri="{FF2B5EF4-FFF2-40B4-BE49-F238E27FC236}">
                <a16:creationId xmlns:a16="http://schemas.microsoft.com/office/drawing/2014/main" id="{F2963DD0-0E57-9D87-0BD5-D457DB85E508}"/>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89</a:t>
            </a:fld>
            <a:endParaRPr lang="zh-CN" altLang="en-US" dirty="0">
              <a:solidFill>
                <a:schemeClr val="bg2">
                  <a:lumMod val="75000"/>
                </a:schemeClr>
              </a:solidFill>
            </a:endParaRPr>
          </a:p>
        </p:txBody>
      </p:sp>
      <p:sp>
        <p:nvSpPr>
          <p:cNvPr id="5" name="文本框 4">
            <a:extLst>
              <a:ext uri="{FF2B5EF4-FFF2-40B4-BE49-F238E27FC236}">
                <a16:creationId xmlns:a16="http://schemas.microsoft.com/office/drawing/2014/main" id="{28AD4565-271A-C612-85BE-611527AD4180}"/>
              </a:ext>
            </a:extLst>
          </p:cNvPr>
          <p:cNvSpPr txBox="1"/>
          <p:nvPr/>
        </p:nvSpPr>
        <p:spPr>
          <a:xfrm>
            <a:off x="618797" y="1333500"/>
            <a:ext cx="7725103" cy="2536207"/>
          </a:xfrm>
          <a:prstGeom prst="rect">
            <a:avLst/>
          </a:prstGeom>
          <a:noFill/>
        </p:spPr>
        <p:txBody>
          <a:bodyPr wrap="square" rtlCol="0">
            <a:spAutoFit/>
          </a:bodyPr>
          <a:lstStyle/>
          <a:p>
            <a:pPr indent="457200" algn="just">
              <a:lnSpc>
                <a:spcPct val="150000"/>
              </a:lnSpc>
            </a:pPr>
            <a:r>
              <a:rPr lang="en-US" altLang="zh-CN" b="1" i="1" dirty="0" err="1">
                <a:latin typeface="+mn-lt"/>
                <a:ea typeface="+mn-ea"/>
              </a:rPr>
              <a:t>st_join</a:t>
            </a:r>
            <a:r>
              <a:rPr lang="zh-CN" altLang="en-US" dirty="0">
                <a:latin typeface="+mn-lt"/>
                <a:ea typeface="+mn-ea"/>
              </a:rPr>
              <a:t>函数将检查每个住宅区点的位置，并将其与包含该点的面进行连接，返回一个新的</a:t>
            </a:r>
            <a:r>
              <a:rPr lang="en-US" altLang="zh-CN" dirty="0">
                <a:latin typeface="+mn-lt"/>
                <a:ea typeface="+mn-ea"/>
              </a:rPr>
              <a:t>Simple Feature</a:t>
            </a:r>
            <a:r>
              <a:rPr lang="zh-CN" altLang="en-US" dirty="0">
                <a:latin typeface="+mn-lt"/>
                <a:ea typeface="+mn-ea"/>
              </a:rPr>
              <a:t>对象，其中包含住宅区点数据的几何和属性，以及相应的面的属性。</a:t>
            </a:r>
            <a:endParaRPr lang="en-US" altLang="zh-CN" dirty="0">
              <a:latin typeface="+mn-lt"/>
              <a:ea typeface="+mn-ea"/>
            </a:endParaRPr>
          </a:p>
          <a:p>
            <a:pPr indent="457200" algn="just">
              <a:lnSpc>
                <a:spcPct val="150000"/>
              </a:lnSpc>
            </a:pPr>
            <a:r>
              <a:rPr lang="zh-CN" altLang="en-US" dirty="0">
                <a:latin typeface="+mn-lt"/>
                <a:ea typeface="+mn-ea"/>
              </a:rPr>
              <a:t>观察下面连接得到的新的</a:t>
            </a:r>
            <a:r>
              <a:rPr lang="en-US" altLang="zh-CN" dirty="0">
                <a:latin typeface="+mn-lt"/>
                <a:ea typeface="+mn-ea"/>
              </a:rPr>
              <a:t>Simple Feature</a:t>
            </a:r>
            <a:r>
              <a:rPr lang="zh-CN" altLang="en-US" dirty="0">
                <a:latin typeface="+mn-lt"/>
                <a:ea typeface="+mn-ea"/>
              </a:rPr>
              <a:t>对象可以发现，与住宅区点数据</a:t>
            </a:r>
            <a:r>
              <a:rPr lang="en-US" altLang="zh-CN" dirty="0" err="1">
                <a:latin typeface="+mn-lt"/>
                <a:ea typeface="+mn-ea"/>
              </a:rPr>
              <a:t>WHZZQ_sf</a:t>
            </a:r>
            <a:r>
              <a:rPr lang="zh-CN" altLang="en-US" dirty="0">
                <a:latin typeface="+mn-lt"/>
                <a:ea typeface="+mn-ea"/>
              </a:rPr>
              <a:t>一样，共有</a:t>
            </a:r>
            <a:r>
              <a:rPr lang="en-US" altLang="zh-CN" dirty="0">
                <a:latin typeface="+mn-lt"/>
                <a:ea typeface="+mn-ea"/>
              </a:rPr>
              <a:t>11422</a:t>
            </a:r>
            <a:r>
              <a:rPr lang="zh-CN" altLang="en-US" dirty="0">
                <a:latin typeface="+mn-lt"/>
                <a:ea typeface="+mn-ea"/>
              </a:rPr>
              <a:t>个点，但每个点都即有</a:t>
            </a:r>
            <a:r>
              <a:rPr lang="en-US" altLang="zh-CN" dirty="0" err="1">
                <a:latin typeface="+mn-lt"/>
                <a:ea typeface="+mn-ea"/>
              </a:rPr>
              <a:t>WHZZQ_sf</a:t>
            </a:r>
            <a:r>
              <a:rPr lang="zh-CN" altLang="en-US" dirty="0">
                <a:latin typeface="+mn-lt"/>
                <a:ea typeface="+mn-ea"/>
              </a:rPr>
              <a:t>数据的属性，也包含了</a:t>
            </a:r>
            <a:r>
              <a:rPr lang="en-US" altLang="zh-CN" dirty="0" err="1">
                <a:latin typeface="+mn-lt"/>
                <a:ea typeface="+mn-ea"/>
              </a:rPr>
              <a:t>WHDis_sf</a:t>
            </a:r>
            <a:r>
              <a:rPr lang="zh-CN" altLang="en-US" dirty="0">
                <a:latin typeface="+mn-lt"/>
                <a:ea typeface="+mn-ea"/>
              </a:rPr>
              <a:t>数据的属性：</a:t>
            </a:r>
            <a:endParaRPr lang="en-US" altLang="zh-CN" dirty="0">
              <a:latin typeface="+mn-lt"/>
              <a:ea typeface="+mn-ea"/>
            </a:endParaRPr>
          </a:p>
        </p:txBody>
      </p:sp>
      <p:pic>
        <p:nvPicPr>
          <p:cNvPr id="11" name="图片 10">
            <a:extLst>
              <a:ext uri="{FF2B5EF4-FFF2-40B4-BE49-F238E27FC236}">
                <a16:creationId xmlns:a16="http://schemas.microsoft.com/office/drawing/2014/main" id="{9DC595E8-9710-B3C0-F9AE-40EEC4054D3B}"/>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11258" y="4000500"/>
            <a:ext cx="5921483" cy="2412509"/>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37185375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B1F742-EAA8-F92B-1642-2235FF8107B8}"/>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CDFECC33-5F0E-7534-4B11-0A1959C5198E}"/>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4.7 </a:t>
            </a:r>
            <a:r>
              <a:rPr lang="zh-CN" altLang="en-US" sz="3600" dirty="0">
                <a:latin typeface="Times New Roman" panose="02020603050405020304" pitchFamily="18" charset="0"/>
                <a:cs typeface="Times New Roman" panose="02020603050405020304" pitchFamily="18" charset="0"/>
              </a:rPr>
              <a:t>属性与空间关联</a:t>
            </a:r>
          </a:p>
        </p:txBody>
      </p:sp>
      <p:sp>
        <p:nvSpPr>
          <p:cNvPr id="8" name="灯片编号占位符 7">
            <a:extLst>
              <a:ext uri="{FF2B5EF4-FFF2-40B4-BE49-F238E27FC236}">
                <a16:creationId xmlns:a16="http://schemas.microsoft.com/office/drawing/2014/main" id="{4D561594-9423-E293-92F0-B4786E050D63}"/>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90</a:t>
            </a:fld>
            <a:endParaRPr lang="zh-CN" altLang="en-US" dirty="0">
              <a:solidFill>
                <a:schemeClr val="bg2">
                  <a:lumMod val="75000"/>
                </a:schemeClr>
              </a:solidFill>
            </a:endParaRPr>
          </a:p>
        </p:txBody>
      </p:sp>
      <p:sp>
        <p:nvSpPr>
          <p:cNvPr id="5" name="文本框 4">
            <a:extLst>
              <a:ext uri="{FF2B5EF4-FFF2-40B4-BE49-F238E27FC236}">
                <a16:creationId xmlns:a16="http://schemas.microsoft.com/office/drawing/2014/main" id="{CE117123-549D-A3DB-276D-558F70F2195C}"/>
              </a:ext>
            </a:extLst>
          </p:cNvPr>
          <p:cNvSpPr txBox="1"/>
          <p:nvPr/>
        </p:nvSpPr>
        <p:spPr>
          <a:xfrm>
            <a:off x="618797" y="1114477"/>
            <a:ext cx="7725103" cy="458074"/>
          </a:xfrm>
          <a:prstGeom prst="rect">
            <a:avLst/>
          </a:prstGeom>
          <a:noFill/>
        </p:spPr>
        <p:txBody>
          <a:bodyPr wrap="square" rtlCol="0">
            <a:spAutoFit/>
          </a:bodyPr>
          <a:lstStyle/>
          <a:p>
            <a:pPr indent="457200" algn="just">
              <a:lnSpc>
                <a:spcPct val="150000"/>
              </a:lnSpc>
            </a:pPr>
            <a:r>
              <a:rPr lang="zh-CN" altLang="en-US" dirty="0">
                <a:latin typeface="+mn-lt"/>
                <a:ea typeface="+mn-ea"/>
              </a:rPr>
              <a:t>使用在后续章节中会进行介绍的</a:t>
            </a:r>
            <a:r>
              <a:rPr lang="en-US" altLang="zh-CN" b="1" dirty="0">
                <a:latin typeface="+mn-lt"/>
                <a:ea typeface="+mn-ea"/>
              </a:rPr>
              <a:t>ggplot2</a:t>
            </a:r>
            <a:r>
              <a:rPr lang="zh-CN" altLang="en-US" dirty="0">
                <a:latin typeface="+mn-lt"/>
                <a:ea typeface="+mn-ea"/>
              </a:rPr>
              <a:t>函数包进行可视化：</a:t>
            </a:r>
            <a:endParaRPr lang="en-US" altLang="zh-CN" dirty="0">
              <a:latin typeface="+mn-lt"/>
              <a:ea typeface="+mn-ea"/>
            </a:endParaRPr>
          </a:p>
        </p:txBody>
      </p:sp>
      <p:sp>
        <p:nvSpPr>
          <p:cNvPr id="3" name="文本框 2">
            <a:extLst>
              <a:ext uri="{FF2B5EF4-FFF2-40B4-BE49-F238E27FC236}">
                <a16:creationId xmlns:a16="http://schemas.microsoft.com/office/drawing/2014/main" id="{B51CEB50-81FD-3370-4F8E-9F547432A848}"/>
              </a:ext>
            </a:extLst>
          </p:cNvPr>
          <p:cNvSpPr txBox="1"/>
          <p:nvPr/>
        </p:nvSpPr>
        <p:spPr>
          <a:xfrm>
            <a:off x="914400" y="1634790"/>
            <a:ext cx="7859973" cy="1600438"/>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library(ggplot2)</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ggplot</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geom_sf</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(data =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WHDis_sf</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fill = </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lightblue</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color = </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"black"</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geom_sf</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(data =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WHZZQ_sf</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color = </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"red"</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size = </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geom_sf</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(data =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joined_data</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aes</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(color =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as.factor</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(District)), size = </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labs(color = </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"Polygon ID"</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endParaRPr lang="zh-CN" altLang="zh-CN" sz="1400" dirty="0">
              <a:effectLst/>
              <a:latin typeface="Times New Roman" panose="02020603050405020304" pitchFamily="18" charset="0"/>
              <a:ea typeface="宋体" panose="02010600030101010101" pitchFamily="2" charset="-122"/>
            </a:endParaRPr>
          </a:p>
          <a:p>
            <a:pPr indent="127000" algn="l"/>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theme_minimal</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p:txBody>
      </p:sp>
      <p:pic>
        <p:nvPicPr>
          <p:cNvPr id="4" name="图片 3">
            <a:extLst>
              <a:ext uri="{FF2B5EF4-FFF2-40B4-BE49-F238E27FC236}">
                <a16:creationId xmlns:a16="http://schemas.microsoft.com/office/drawing/2014/main" id="{BA4750D5-423D-1EF9-F1E3-EFCC6AA54912}"/>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34640" y="3349625"/>
            <a:ext cx="3474720" cy="3165475"/>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55016124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1A4116-18C0-76F6-C0EB-76B32748795E}"/>
              </a:ext>
            </a:extLst>
          </p:cNvPr>
          <p:cNvSpPr>
            <a:spLocks noGrp="1"/>
          </p:cNvSpPr>
          <p:nvPr>
            <p:ph type="title"/>
          </p:nvPr>
        </p:nvSpPr>
        <p:spPr>
          <a:xfrm>
            <a:off x="971550" y="174625"/>
            <a:ext cx="6896099" cy="663575"/>
          </a:xfrm>
        </p:spPr>
        <p:txBody>
          <a:bodyPr/>
          <a:lstStyle/>
          <a:p>
            <a:r>
              <a:rPr lang="zh-CN" altLang="en-US" dirty="0"/>
              <a:t>参考教材</a:t>
            </a:r>
          </a:p>
        </p:txBody>
      </p:sp>
      <p:sp>
        <p:nvSpPr>
          <p:cNvPr id="4" name="Slide Number Placeholder 3"/>
          <p:cNvSpPr>
            <a:spLocks noGrp="1"/>
          </p:cNvSpPr>
          <p:nvPr>
            <p:ph type="sldNum" sz="quarter" idx="12"/>
          </p:nvPr>
        </p:nvSpPr>
        <p:spPr>
          <a:prstGeom prst="rect">
            <a:avLst/>
          </a:prstGeom>
        </p:spPr>
        <p:txBody>
          <a:bodyPr/>
          <a:lstStyle/>
          <a:p>
            <a:pPr>
              <a:defRPr/>
            </a:pPr>
            <a:fld id="{4169501A-70AB-40D4-B144-E9884F45072F}" type="slidenum">
              <a:rPr lang="zh-CN" altLang="en-US" smtClean="0">
                <a:solidFill>
                  <a:schemeClr val="bg1">
                    <a:lumMod val="65000"/>
                  </a:schemeClr>
                </a:solidFill>
              </a:rPr>
              <a:t>91</a:t>
            </a:fld>
            <a:endParaRPr lang="zh-CN" altLang="en-US" dirty="0">
              <a:solidFill>
                <a:schemeClr val="bg1">
                  <a:lumMod val="65000"/>
                </a:schemeClr>
              </a:solidFill>
            </a:endParaRPr>
          </a:p>
        </p:txBody>
      </p:sp>
      <p:sp>
        <p:nvSpPr>
          <p:cNvPr id="3" name="AutoShape 2" descr="https://wx.qq.com/cgi-bin/mmwebwx-bin/webwxgetmsgimg?&amp;MsgID=1011342995928164582&amp;skey=%40crypt_f86d81c0_f5935c9dae5f61551a58979cad691918"/>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pic>
        <p:nvPicPr>
          <p:cNvPr id="6" name="图片 5">
            <a:extLst>
              <a:ext uri="{FF2B5EF4-FFF2-40B4-BE49-F238E27FC236}">
                <a16:creationId xmlns:a16="http://schemas.microsoft.com/office/drawing/2014/main" id="{FD64FBEF-05A7-A185-BB75-88B38013D53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40490" y="1418579"/>
            <a:ext cx="3274810" cy="4601221"/>
          </a:xfrm>
          <a:prstGeom prst="rect">
            <a:avLst/>
          </a:prstGeom>
        </p:spPr>
      </p:pic>
      <p:pic>
        <p:nvPicPr>
          <p:cNvPr id="10" name="图片 9">
            <a:extLst>
              <a:ext uri="{FF2B5EF4-FFF2-40B4-BE49-F238E27FC236}">
                <a16:creationId xmlns:a16="http://schemas.microsoft.com/office/drawing/2014/main" id="{8A4ECE16-AA4B-8A19-EB0D-84744197EEBF}"/>
              </a:ext>
            </a:extLst>
          </p:cNvPr>
          <p:cNvPicPr>
            <a:picLocks noChangeAspect="1"/>
          </p:cNvPicPr>
          <p:nvPr/>
        </p:nvPicPr>
        <p:blipFill>
          <a:blip r:embed="rId3"/>
          <a:stretch>
            <a:fillRect/>
          </a:stretch>
        </p:blipFill>
        <p:spPr>
          <a:xfrm>
            <a:off x="876300" y="1440809"/>
            <a:ext cx="3353787" cy="4578991"/>
          </a:xfrm>
          <a:prstGeom prst="rect">
            <a:avLst/>
          </a:prstGeom>
          <a:ln>
            <a:solidFill>
              <a:srgbClr val="F9FAFC"/>
            </a:solidFill>
          </a:ln>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49.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51.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53.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55.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56.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57.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58.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59.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60.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61.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heme/theme1.xml><?xml version="1.0" encoding="utf-8"?>
<a:theme xmlns:a="http://schemas.openxmlformats.org/drawingml/2006/main" name="Office 主题​​">
  <a:themeElements>
    <a:clrScheme name="自定义 1">
      <a:dk1>
        <a:sysClr val="windowText" lastClr="000000"/>
      </a:dk1>
      <a:lt1>
        <a:sysClr val="window" lastClr="FFFFFF"/>
      </a:lt1>
      <a:dk2>
        <a:srgbClr val="44546A"/>
      </a:dk2>
      <a:lt2>
        <a:srgbClr val="E7E6E6"/>
      </a:lt2>
      <a:accent1>
        <a:srgbClr val="005390"/>
      </a:accent1>
      <a:accent2>
        <a:srgbClr val="FFC000"/>
      </a:accent2>
      <a:accent3>
        <a:srgbClr val="FFFF00"/>
      </a:accent3>
      <a:accent4>
        <a:srgbClr val="00B050"/>
      </a:accent4>
      <a:accent5>
        <a:srgbClr val="00B0F0"/>
      </a:accent5>
      <a:accent6>
        <a:srgbClr val="0070C0"/>
      </a:accent6>
      <a:hlink>
        <a:srgbClr val="7030A0"/>
      </a:hlink>
      <a:folHlink>
        <a:srgbClr val="954F72"/>
      </a:folHlink>
    </a:clrScheme>
    <a:fontScheme name="自定义 1">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931</TotalTime>
  <Words>9376</Words>
  <Application>Microsoft Office PowerPoint</Application>
  <PresentationFormat>全屏显示(4:3)</PresentationFormat>
  <Paragraphs>789</Paragraphs>
  <Slides>91</Slides>
  <Notes>2</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91</vt:i4>
      </vt:variant>
    </vt:vector>
  </HeadingPairs>
  <TitlesOfParts>
    <vt:vector size="98" baseType="lpstr">
      <vt:lpstr>Arial</vt:lpstr>
      <vt:lpstr>Calibri</vt:lpstr>
      <vt:lpstr>Cambria Math</vt:lpstr>
      <vt:lpstr>Consolas</vt:lpstr>
      <vt:lpstr>Times New Roman</vt:lpstr>
      <vt:lpstr>Wingdings</vt:lpstr>
      <vt:lpstr>Office 主题​​</vt:lpstr>
      <vt:lpstr>第四章 空间数据处理与分析基础</vt:lpstr>
      <vt:lpstr>目录</vt:lpstr>
      <vt:lpstr>4.1 章节R函数包准备</vt:lpstr>
      <vt:lpstr>4.2 属性数据编辑</vt:lpstr>
      <vt:lpstr>4.2 属性数据编辑</vt:lpstr>
      <vt:lpstr>4.2 属性数据编辑</vt:lpstr>
      <vt:lpstr>4.2 属性数据编辑</vt:lpstr>
      <vt:lpstr>4.2 属性数据编辑</vt:lpstr>
      <vt:lpstr>4.2 属性数据编辑</vt:lpstr>
      <vt:lpstr>4.2 属性数据编辑</vt:lpstr>
      <vt:lpstr>4.2 属性数据编辑</vt:lpstr>
      <vt:lpstr>4.2 属性数据编辑</vt:lpstr>
      <vt:lpstr>4.2 属性数据编辑</vt:lpstr>
      <vt:lpstr>4.2 属性数据编辑</vt:lpstr>
      <vt:lpstr>4.3 空间信息编辑</vt:lpstr>
      <vt:lpstr>4.3 空间信息编辑</vt:lpstr>
      <vt:lpstr>4.3 空间信息编辑</vt:lpstr>
      <vt:lpstr>4.3 空间信息编辑</vt:lpstr>
      <vt:lpstr>4.3 空间信息编辑</vt:lpstr>
      <vt:lpstr>4.3 空间信息编辑</vt:lpstr>
      <vt:lpstr>4.3 空间信息编辑</vt:lpstr>
      <vt:lpstr>4.3 空间信息编辑</vt:lpstr>
      <vt:lpstr>4.3 空间信息编辑</vt:lpstr>
      <vt:lpstr>4.3 空间信息编辑</vt:lpstr>
      <vt:lpstr>4.3 空间信息编辑</vt:lpstr>
      <vt:lpstr>4.4 遥感影像数据分析</vt:lpstr>
      <vt:lpstr>4.4.1 影像信息统计</vt:lpstr>
      <vt:lpstr>4.4.1 影像信息统计</vt:lpstr>
      <vt:lpstr>4.4.1 影像信息统计</vt:lpstr>
      <vt:lpstr>4.4.2 遥感影像波段信息分析</vt:lpstr>
      <vt:lpstr>4.4.2 遥感影像波段信息分析</vt:lpstr>
      <vt:lpstr>4.4.2 遥感影像波段信息分析</vt:lpstr>
      <vt:lpstr>4.4.2 遥感影像波段信息分析</vt:lpstr>
      <vt:lpstr>4.4.2 遥感影像波段信息分析</vt:lpstr>
      <vt:lpstr>4.4.2 遥感影像波段信息分析</vt:lpstr>
      <vt:lpstr>4.4.2 遥感影像波段信息分析</vt:lpstr>
      <vt:lpstr>4.4.2 遥感影像波段信息分析</vt:lpstr>
      <vt:lpstr>4.4.3 归一化植被指数计算</vt:lpstr>
      <vt:lpstr>4.4.3 归一化植被指数计算</vt:lpstr>
      <vt:lpstr>4.5 空间数据基础分析</vt:lpstr>
      <vt:lpstr>4.5 空间数据基础分析</vt:lpstr>
      <vt:lpstr>4.5 空间数据基础分析</vt:lpstr>
      <vt:lpstr>4.5 空间数据基础分析</vt:lpstr>
      <vt:lpstr>4.5 空间数据基础分析</vt:lpstr>
      <vt:lpstr>4.5 空间数据基础分析</vt:lpstr>
      <vt:lpstr>4.5 空间数据基础分析</vt:lpstr>
      <vt:lpstr>4.5 空间数据基础分析</vt:lpstr>
      <vt:lpstr>4.5 空间数据基础分析</vt:lpstr>
      <vt:lpstr>4.5 空间数据基础分析</vt:lpstr>
      <vt:lpstr>4.5 空间数据基础分析</vt:lpstr>
      <vt:lpstr>4.5 空间数据基础分析</vt:lpstr>
      <vt:lpstr>4.5 空间数据基础分析</vt:lpstr>
      <vt:lpstr>4.5 空间数据基础分析</vt:lpstr>
      <vt:lpstr>4.5 空间数据基础分析</vt:lpstr>
      <vt:lpstr>4.5 空间数据基础分析</vt:lpstr>
      <vt:lpstr>4.5 空间数据基础分析</vt:lpstr>
      <vt:lpstr>4.5 空间数据基础分析</vt:lpstr>
      <vt:lpstr>4.5 空间数据基础分析</vt:lpstr>
      <vt:lpstr>4.5 空间数据基础分析</vt:lpstr>
      <vt:lpstr>4.5 空间数据基础分析</vt:lpstr>
      <vt:lpstr>4.5 空间数据基础分析</vt:lpstr>
      <vt:lpstr>4.6 基础空间关系分析</vt:lpstr>
      <vt:lpstr>4.6 基础空间关系分析</vt:lpstr>
      <vt:lpstr>4.6 基础空间关系分析</vt:lpstr>
      <vt:lpstr>4.6 基础空间关系分析</vt:lpstr>
      <vt:lpstr>4.6 基础空间关系分析</vt:lpstr>
      <vt:lpstr>4.6 基础空间关系分析</vt:lpstr>
      <vt:lpstr>4.6 基础空间关系分析</vt:lpstr>
      <vt:lpstr>4.6 基础空间关系分析</vt:lpstr>
      <vt:lpstr>4.6 基础空间关系分析</vt:lpstr>
      <vt:lpstr>4.6 基础空间关系分析</vt:lpstr>
      <vt:lpstr>4.6 基础空间关系分析</vt:lpstr>
      <vt:lpstr>4.6 基础空间关系分析</vt:lpstr>
      <vt:lpstr>4.6 基础空间关系分析</vt:lpstr>
      <vt:lpstr>4.6 基础空间关系分析</vt:lpstr>
      <vt:lpstr>4.6 基础空间关系分析</vt:lpstr>
      <vt:lpstr>4.6 基础空间关系分析</vt:lpstr>
      <vt:lpstr>4.6 基础空间关系分析</vt:lpstr>
      <vt:lpstr>4.6 基础空间关系分析</vt:lpstr>
      <vt:lpstr>4.6 基础空间关系分析</vt:lpstr>
      <vt:lpstr>4.6 基础空间关系分析</vt:lpstr>
      <vt:lpstr>4.6 基础空间关系分析</vt:lpstr>
      <vt:lpstr>4.6 基础空间关系分析</vt:lpstr>
      <vt:lpstr>4.6 基础空间关系分析</vt:lpstr>
      <vt:lpstr>4.6 基础空间关系分析</vt:lpstr>
      <vt:lpstr>4.6 基础空间关系分析</vt:lpstr>
      <vt:lpstr>4.6 基础空间关系分析</vt:lpstr>
      <vt:lpstr>4.7 属性与空间关联</vt:lpstr>
      <vt:lpstr>4.7 属性与空间关联</vt:lpstr>
      <vt:lpstr>4.7 属性与空间关联</vt:lpstr>
      <vt:lpstr>参考教材</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Yiyun Zhang</cp:lastModifiedBy>
  <cp:revision>515</cp:revision>
  <dcterms:created xsi:type="dcterms:W3CDTF">2019-05-21T17:53:00Z</dcterms:created>
  <dcterms:modified xsi:type="dcterms:W3CDTF">2025-04-02T04:33:18Z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2052-12.1.0.18912</vt:lpwstr>
  </property>
  <property fmtid="{D5CDD505-2E9C-101B-9397-08002B2CF9AE}" pid="3" name="ICV">
    <vt:lpwstr>2BF106B6094D49028DE9D54E62957DB2_12</vt:lpwstr>
  </property>
</Properties>
</file>