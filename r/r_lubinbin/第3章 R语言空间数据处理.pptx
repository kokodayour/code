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256" r:id="rId2"/>
    <p:sldId id="600" r:id="rId3"/>
    <p:sldId id="305" r:id="rId4"/>
    <p:sldId id="331" r:id="rId5"/>
    <p:sldId id="306" r:id="rId6"/>
    <p:sldId id="835" r:id="rId7"/>
    <p:sldId id="836" r:id="rId8"/>
    <p:sldId id="837" r:id="rId9"/>
    <p:sldId id="838" r:id="rId10"/>
    <p:sldId id="839" r:id="rId11"/>
    <p:sldId id="840" r:id="rId12"/>
    <p:sldId id="841" r:id="rId13"/>
    <p:sldId id="842" r:id="rId14"/>
    <p:sldId id="843" r:id="rId15"/>
    <p:sldId id="844" r:id="rId16"/>
    <p:sldId id="845" r:id="rId17"/>
    <p:sldId id="846" r:id="rId18"/>
    <p:sldId id="847" r:id="rId19"/>
    <p:sldId id="848" r:id="rId20"/>
    <p:sldId id="849" r:id="rId21"/>
    <p:sldId id="850" r:id="rId22"/>
    <p:sldId id="852" r:id="rId23"/>
    <p:sldId id="853" r:id="rId24"/>
    <p:sldId id="854" r:id="rId25"/>
    <p:sldId id="855" r:id="rId26"/>
    <p:sldId id="856" r:id="rId27"/>
    <p:sldId id="857" r:id="rId28"/>
    <p:sldId id="859" r:id="rId29"/>
    <p:sldId id="858" r:id="rId30"/>
    <p:sldId id="860" r:id="rId31"/>
    <p:sldId id="861" r:id="rId32"/>
    <p:sldId id="862" r:id="rId33"/>
    <p:sldId id="863" r:id="rId34"/>
    <p:sldId id="864" r:id="rId35"/>
    <p:sldId id="865" r:id="rId36"/>
    <p:sldId id="866" r:id="rId37"/>
    <p:sldId id="867" r:id="rId38"/>
    <p:sldId id="868" r:id="rId39"/>
    <p:sldId id="869" r:id="rId40"/>
    <p:sldId id="870" r:id="rId41"/>
    <p:sldId id="871" r:id="rId42"/>
    <p:sldId id="872" r:id="rId43"/>
    <p:sldId id="873" r:id="rId44"/>
    <p:sldId id="874" r:id="rId45"/>
    <p:sldId id="875" r:id="rId46"/>
    <p:sldId id="876" r:id="rId47"/>
    <p:sldId id="877" r:id="rId48"/>
    <p:sldId id="878" r:id="rId49"/>
    <p:sldId id="879" r:id="rId50"/>
    <p:sldId id="880" r:id="rId51"/>
    <p:sldId id="881" r:id="rId52"/>
    <p:sldId id="882" r:id="rId53"/>
    <p:sldId id="883" r:id="rId54"/>
    <p:sldId id="884" r:id="rId55"/>
    <p:sldId id="885" r:id="rId56"/>
    <p:sldId id="886" r:id="rId57"/>
    <p:sldId id="887" r:id="rId58"/>
    <p:sldId id="888" r:id="rId59"/>
    <p:sldId id="889" r:id="rId60"/>
    <p:sldId id="890" r:id="rId61"/>
    <p:sldId id="891" r:id="rId62"/>
    <p:sldId id="624" r:id="rId6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4" userDrawn="1">
          <p15:clr>
            <a:srgbClr val="A4A3A4"/>
          </p15:clr>
        </p15:guide>
        <p15:guide id="2" pos="28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怡彤 丁" initials="怡丁" lastIdx="1" clrIdx="0">
    <p:extLst>
      <p:ext uri="{19B8F6BF-5375-455C-9EA6-DF929625EA0E}">
        <p15:presenceInfo xmlns:p15="http://schemas.microsoft.com/office/powerpoint/2012/main" userId="2f2dd4a306a755cc" providerId="Windows Live"/>
      </p:ext>
    </p:extLst>
  </p:cmAuthor>
  <p:cmAuthor id="2" name="Yiyun Zhang" initials="YZ" lastIdx="1" clrIdx="1">
    <p:extLst>
      <p:ext uri="{19B8F6BF-5375-455C-9EA6-DF929625EA0E}">
        <p15:presenceInfo xmlns:p15="http://schemas.microsoft.com/office/powerpoint/2012/main" userId="ff1f7906396e345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074996"/>
    <a:srgbClr val="2D22C0"/>
    <a:srgbClr val="160A02"/>
    <a:srgbClr val="F13B09"/>
    <a:srgbClr val="F75529"/>
    <a:srgbClr val="170401"/>
    <a:srgbClr val="170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3536" autoAdjust="0"/>
  </p:normalViewPr>
  <p:slideViewPr>
    <p:cSldViewPr showGuides="1">
      <p:cViewPr varScale="1">
        <p:scale>
          <a:sx n="101" d="100"/>
          <a:sy n="101" d="100"/>
        </p:scale>
        <p:origin x="2238" y="114"/>
      </p:cViewPr>
      <p:guideLst>
        <p:guide orient="horz" pos="2184"/>
        <p:guide pos="2856"/>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62" d="100"/>
          <a:sy n="62" d="100"/>
        </p:scale>
        <p:origin x="2299" y="58"/>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5T16:19:09.220" idx="1">
    <p:pos x="2256" y="758"/>
    <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C7DB12-D159-4442-8014-437DE5BA55C7}" type="datetimeFigureOut">
              <a:rPr lang="zh-CN" altLang="en-US" smtClean="0"/>
              <a:t>2025-04-07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B4347-C9BC-4556-8FC3-B2E0153CF99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0128E977-6F5A-48DB-ACA7-C6E15821CB3C}" type="datetimeFigureOut">
              <a:rPr lang="zh-CN" altLang="en-US"/>
              <a:t>2025-04-07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panose="020B0604020202020204" pitchFamily="34" charset="0"/>
                <a:ea typeface="宋体" panose="02010600030101010101" pitchFamily="2" charset="-122"/>
              </a:defRPr>
            </a:lvl1pPr>
          </a:lstStyle>
          <a:p>
            <a:pPr>
              <a:defRPr/>
            </a:pPr>
            <a:fld id="{5F5AD7FC-C08A-4786-B2D8-ABE422D63548}"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8FC65C-FC7A-4192-9B2D-44DFEE13D478}"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159" name="图片 15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7956"/>
            <a:ext cx="9144000" cy="2932680"/>
          </a:xfrm>
          <a:prstGeom prst="rect">
            <a:avLst/>
          </a:prstGeom>
        </p:spPr>
      </p:pic>
      <p:sp>
        <p:nvSpPr>
          <p:cNvPr id="2" name="标题 1"/>
          <p:cNvSpPr>
            <a:spLocks noGrp="1"/>
          </p:cNvSpPr>
          <p:nvPr>
            <p:ph type="ctrTitle"/>
          </p:nvPr>
        </p:nvSpPr>
        <p:spPr>
          <a:xfrm>
            <a:off x="692934" y="3924304"/>
            <a:ext cx="7772400" cy="746125"/>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4914904"/>
            <a:ext cx="6400800" cy="746125"/>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2" name="任意形状 36"/>
          <p:cNvSpPr/>
          <p:nvPr userDrawn="1"/>
        </p:nvSpPr>
        <p:spPr>
          <a:xfrm>
            <a:off x="-138132" y="-147919"/>
            <a:ext cx="9434532" cy="3238555"/>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84" name="矩形 83"/>
          <p:cNvSpPr/>
          <p:nvPr userDrawn="1"/>
        </p:nvSpPr>
        <p:spPr>
          <a:xfrm>
            <a:off x="0" y="0"/>
            <a:ext cx="9144000" cy="163286"/>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nvGrpSpPr>
          <p:cNvPr id="85" name="组合 84"/>
          <p:cNvGrpSpPr/>
          <p:nvPr userDrawn="1"/>
        </p:nvGrpSpPr>
        <p:grpSpPr>
          <a:xfrm>
            <a:off x="3962400" y="2400300"/>
            <a:ext cx="1219200" cy="1231468"/>
            <a:chOff x="6678206" y="3208602"/>
            <a:chExt cx="1219200" cy="1231468"/>
          </a:xfrm>
        </p:grpSpPr>
        <p:sp>
          <p:nvSpPr>
            <p:cNvPr id="86" name="椭圆 85"/>
            <p:cNvSpPr/>
            <p:nvPr/>
          </p:nvSpPr>
          <p:spPr>
            <a:xfrm>
              <a:off x="6683774" y="3226438"/>
              <a:ext cx="1213632" cy="1213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nvGrpSpPr>
            <p:cNvPr id="87" name="íšḻîďê"/>
            <p:cNvGrpSpPr/>
            <p:nvPr/>
          </p:nvGrpSpPr>
          <p:grpSpPr>
            <a:xfrm>
              <a:off x="6678206" y="3208602"/>
              <a:ext cx="1219200" cy="1227234"/>
              <a:chOff x="3551238" y="3067050"/>
              <a:chExt cx="722313" cy="727075"/>
            </a:xfrm>
          </p:grpSpPr>
          <p:sp>
            <p:nvSpPr>
              <p:cNvPr id="88"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9"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sz="1800"/>
              </a:p>
            </p:txBody>
          </p:sp>
          <p:sp>
            <p:nvSpPr>
              <p:cNvPr id="90"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1"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2"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3"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4"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5"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6"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7"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8"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9"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0"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1"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2"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3"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4"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5"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6"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7"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8"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9"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0"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1"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2"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3"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4"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5"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6"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7"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8"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9"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0"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1"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2"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3"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4"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5"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6"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7"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8"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9"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0"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1"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2"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3"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4"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5"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6"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7"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8"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9"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0"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1"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2"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3"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4"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5"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6"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7"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8"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9"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0"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1"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2"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3"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4"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5"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6"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7"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pic>
        <p:nvPicPr>
          <p:cNvPr id="161" name="图片 16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266702" y="268906"/>
            <a:ext cx="710933" cy="159284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5673244" y="-1"/>
            <a:ext cx="7356956" cy="6858001"/>
          </a:xfrm>
          <a:prstGeom prst="rect">
            <a:avLst/>
          </a:prstGeom>
        </p:spPr>
      </p:pic>
      <p:sp>
        <p:nvSpPr>
          <p:cNvPr id="4" name="矩形 3"/>
          <p:cNvSpPr/>
          <p:nvPr userDrawn="1"/>
        </p:nvSpPr>
        <p:spPr>
          <a:xfrm>
            <a:off x="-12646" y="0"/>
            <a:ext cx="177972"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图片占位符 8"/>
          <p:cNvSpPr>
            <a:spLocks noGrp="1"/>
          </p:cNvSpPr>
          <p:nvPr>
            <p:ph type="pic" sz="quarter" idx="15"/>
          </p:nvPr>
        </p:nvSpPr>
        <p:spPr>
          <a:xfrm flipH="1">
            <a:off x="170624" y="0"/>
            <a:ext cx="292800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dirty="0"/>
          </a:p>
        </p:txBody>
      </p:sp>
      <p:sp>
        <p:nvSpPr>
          <p:cNvPr id="6" name="任意形状 9"/>
          <p:cNvSpPr/>
          <p:nvPr userDrawn="1"/>
        </p:nvSpPr>
        <p:spPr>
          <a:xfrm flipH="1">
            <a:off x="33862" y="-98854"/>
            <a:ext cx="3064764"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B92293E-CE77-91C3-9760-2C6B5AC48399}"/>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7" name="标题 1"/>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109" name="图片 108" descr="图片包含 天空, 户外, 建筑物, 日落&#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12" name="直线连接符 3"/>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灯片编号占位符 5"/>
          <p:cNvSpPr>
            <a:spLocks noGrp="1"/>
          </p:cNvSpPr>
          <p:nvPr>
            <p:ph type="sldNum" sz="quarter" idx="12"/>
          </p:nvPr>
        </p:nvSpPr>
        <p:spPr>
          <a:xfrm>
            <a:off x="457200" y="6253087"/>
            <a:ext cx="2133600" cy="365125"/>
          </a:xfrm>
          <a:prstGeom prst="rect">
            <a:avLst/>
          </a:prstGeom>
        </p:spPr>
        <p:txBody>
          <a:bodyPr/>
          <a:lstStyle>
            <a:lvl1pPr>
              <a:defRPr/>
            </a:lvl1pPr>
          </a:lstStyle>
          <a:p>
            <a:pPr>
              <a:defRPr/>
            </a:pPr>
            <a:fld id="{6B3369F9-03CD-4B48-86A9-9EE39A82955A}" type="slidenum">
              <a:rPr lang="zh-CN" altLang="en-US"/>
              <a:t>‹#›</a:t>
            </a:fld>
            <a:endParaRPr lang="zh-CN" altLang="en-US" dirty="0"/>
          </a:p>
        </p:txBody>
      </p:sp>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5" name="图片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2" name="图片 11">
            <a:extLst>
              <a:ext uri="{FF2B5EF4-FFF2-40B4-BE49-F238E27FC236}">
                <a16:creationId xmlns:a16="http://schemas.microsoft.com/office/drawing/2014/main" id="{34760BFC-9949-C20B-E0E4-82823230169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7.jpe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proj4.org/"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692935" y="3902077"/>
            <a:ext cx="7772400" cy="746125"/>
          </a:xfrm>
        </p:spPr>
        <p:txBody>
          <a:bodyPr/>
          <a:lstStyle/>
          <a:p>
            <a:pPr eaLnBrk="1" hangingPunct="1">
              <a:lnSpc>
                <a:spcPct val="90000"/>
              </a:lnSpc>
            </a:pPr>
            <a:r>
              <a:rPr lang="zh-CN" altLang="en-US" b="1" dirty="0">
                <a:solidFill>
                  <a:srgbClr val="074996"/>
                </a:solidFill>
                <a:latin typeface="+mj-ea"/>
              </a:rPr>
              <a:t>第三章 </a:t>
            </a:r>
            <a:r>
              <a:rPr lang="en-US" altLang="zh-CN" b="1" dirty="0">
                <a:solidFill>
                  <a:srgbClr val="074996"/>
                </a:solidFill>
                <a:latin typeface="+mj-ea"/>
              </a:rPr>
              <a:t>R</a:t>
            </a:r>
            <a:r>
              <a:rPr lang="zh-CN" altLang="en-US" b="1" dirty="0">
                <a:solidFill>
                  <a:srgbClr val="074996"/>
                </a:solidFill>
                <a:latin typeface="+mj-ea"/>
              </a:rPr>
              <a:t>语言空间数据处理</a:t>
            </a:r>
          </a:p>
        </p:txBody>
      </p:sp>
      <p:sp>
        <p:nvSpPr>
          <p:cNvPr id="8" name="副标题 7"/>
          <p:cNvSpPr>
            <a:spLocks noGrp="1"/>
          </p:cNvSpPr>
          <p:nvPr>
            <p:ph type="subTitle" idx="1"/>
          </p:nvPr>
        </p:nvSpPr>
        <p:spPr>
          <a:xfrm>
            <a:off x="1371600" y="4914901"/>
            <a:ext cx="6400800" cy="1104900"/>
          </a:xfrm>
        </p:spPr>
        <p:txBody>
          <a:bodyPr/>
          <a:lstStyle/>
          <a:p>
            <a:pPr>
              <a:lnSpc>
                <a:spcPct val="150000"/>
              </a:lnSpc>
            </a:pPr>
            <a:r>
              <a:rPr lang="zh-CN" altLang="en-US" sz="1800" dirty="0">
                <a:solidFill>
                  <a:schemeClr val="tx1">
                    <a:lumMod val="75000"/>
                    <a:lumOff val="25000"/>
                  </a:schemeClr>
                </a:solidFill>
                <a:latin typeface="+mj-ea"/>
                <a:ea typeface="+mj-ea"/>
              </a:rPr>
              <a:t>卢宾宾</a:t>
            </a:r>
            <a:endParaRPr lang="en-US" altLang="zh-CN" sz="1800" dirty="0">
              <a:solidFill>
                <a:schemeClr val="tx1">
                  <a:lumMod val="75000"/>
                  <a:lumOff val="25000"/>
                </a:schemeClr>
              </a:solidFill>
              <a:latin typeface="+mj-ea"/>
              <a:ea typeface="+mj-ea"/>
            </a:endParaRPr>
          </a:p>
          <a:p>
            <a:pPr>
              <a:lnSpc>
                <a:spcPct val="150000"/>
              </a:lnSpc>
            </a:pPr>
            <a:r>
              <a:rPr lang="zh-CN" altLang="en-US" sz="1800" dirty="0">
                <a:solidFill>
                  <a:schemeClr val="tx1">
                    <a:lumMod val="75000"/>
                    <a:lumOff val="25000"/>
                  </a:schemeClr>
                </a:solidFill>
                <a:latin typeface="+mj-ea"/>
                <a:ea typeface="+mj-ea"/>
              </a:rPr>
              <a:t>武汉大学遥感信息工程学院</a:t>
            </a:r>
          </a:p>
          <a:p>
            <a:endParaRPr lang="zh-CN" altLang="en-US" dirty="0">
              <a:latin typeface="+mj-ea"/>
              <a:ea typeface="+mj-ea"/>
            </a:endParaRPr>
          </a:p>
        </p:txBody>
      </p:sp>
    </p:spTree>
  </p:cSld>
  <p:clrMapOvr>
    <a:masterClrMapping/>
  </p:clrMapOvr>
  <p:transition spd="slow" advTm="514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5"/>
          </p:nvPr>
        </p:nvPicPr>
        <p:blipFill>
          <a:blip r:embed="rId15">
            <a:extLst>
              <a:ext uri="{28A0092B-C50C-407E-A947-70E740481C1C}">
                <a14:useLocalDpi xmlns:a14="http://schemas.microsoft.com/office/drawing/2010/main" val="0"/>
              </a:ext>
            </a:extLst>
          </a:blip>
          <a:srcRect l="20087" r="20087"/>
          <a:stretch>
            <a:fillRect/>
          </a:stretch>
        </p:blipFill>
        <p:spPr/>
      </p:pic>
      <p:sp>
        <p:nvSpPr>
          <p:cNvPr id="47105" name="标题 1"/>
          <p:cNvSpPr>
            <a:spLocks noGrp="1"/>
          </p:cNvSpPr>
          <p:nvPr>
            <p:ph type="title" idx="4294967295"/>
          </p:nvPr>
        </p:nvSpPr>
        <p:spPr>
          <a:xfrm>
            <a:off x="3797406" y="342900"/>
            <a:ext cx="4889394" cy="1143000"/>
          </a:xfrm>
          <a:prstGeom prst="rect">
            <a:avLst/>
          </a:prstGeom>
        </p:spPr>
        <p:txBody>
          <a:bodyPr/>
          <a:lstStyle/>
          <a:p>
            <a:pPr algn="l"/>
            <a:r>
              <a:rPr lang="zh-CN" altLang="en-US" sz="4800" b="1" dirty="0">
                <a:solidFill>
                  <a:schemeClr val="accent1"/>
                </a:solidFill>
                <a:latin typeface="+mj-ea"/>
                <a:cs typeface="Times New Roman" panose="02020603050405020304" charset="0"/>
              </a:rPr>
              <a:t>目录</a:t>
            </a:r>
          </a:p>
        </p:txBody>
      </p:sp>
      <p:grpSp>
        <p:nvGrpSpPr>
          <p:cNvPr id="28" name="组合 27"/>
          <p:cNvGrpSpPr/>
          <p:nvPr>
            <p:custDataLst>
              <p:tags r:id="rId1"/>
            </p:custDataLst>
          </p:nvPr>
        </p:nvGrpSpPr>
        <p:grpSpPr>
          <a:xfrm>
            <a:off x="3429000" y="1981200"/>
            <a:ext cx="6334019" cy="749588"/>
            <a:chOff x="3797406" y="1425837"/>
            <a:chExt cx="6334019" cy="749588"/>
          </a:xfrm>
        </p:grpSpPr>
        <p:sp>
          <p:nvSpPr>
            <p:cNvPr id="12" name="文本框 11"/>
            <p:cNvSpPr txBox="1"/>
            <p:nvPr>
              <p:custDataLst>
                <p:tags r:id="rId10"/>
              </p:custDataLst>
            </p:nvPr>
          </p:nvSpPr>
          <p:spPr>
            <a:xfrm>
              <a:off x="3797406" y="1559872"/>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3.1</a:t>
              </a:r>
            </a:p>
          </p:txBody>
        </p:sp>
        <p:sp>
          <p:nvSpPr>
            <p:cNvPr id="13" name="文本占位符 27"/>
            <p:cNvSpPr txBox="1"/>
            <p:nvPr>
              <p:custDataLst>
                <p:tags r:id="rId11"/>
              </p:custDataLst>
            </p:nvPr>
          </p:nvSpPr>
          <p:spPr>
            <a:xfrm>
              <a:off x="4838700"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pitchFamily="18" charset="0"/>
                  <a:cs typeface="Times New Roman" panose="02020603050405020304" pitchFamily="18" charset="0"/>
                </a:rPr>
                <a:t>章节</a:t>
              </a:r>
              <a:r>
                <a:rPr lang="en-US" altLang="zh-CN" dirty="0">
                  <a:solidFill>
                    <a:schemeClr val="accent1"/>
                  </a:solidFill>
                  <a:latin typeface="Times New Roman" panose="02020603050405020304" pitchFamily="18" charset="0"/>
                  <a:cs typeface="Times New Roman" panose="02020603050405020304" pitchFamily="18" charset="0"/>
                </a:rPr>
                <a:t>R</a:t>
              </a:r>
              <a:r>
                <a:rPr lang="zh-CN" altLang="en-US" dirty="0">
                  <a:solidFill>
                    <a:schemeClr val="accent1"/>
                  </a:solidFill>
                  <a:latin typeface="Times New Roman" panose="02020603050405020304" pitchFamily="18" charset="0"/>
                  <a:cs typeface="Times New Roman" panose="02020603050405020304" pitchFamily="18" charset="0"/>
                </a:rPr>
                <a:t>函数包准备</a:t>
              </a:r>
              <a:endParaRPr kumimoji="1" lang="zh-CN" altLang="en-US" dirty="0">
                <a:solidFill>
                  <a:schemeClr val="accent1"/>
                </a:solidFill>
                <a:latin typeface="Times New Roman" panose="02020603050405020304" pitchFamily="18" charset="0"/>
                <a:cs typeface="Times New Roman" panose="02020603050405020304" pitchFamily="18" charset="0"/>
              </a:endParaRPr>
            </a:p>
          </p:txBody>
        </p:sp>
        <p:cxnSp>
          <p:nvCxnSpPr>
            <p:cNvPr id="14" name="直线连接符 13"/>
            <p:cNvCxnSpPr/>
            <p:nvPr>
              <p:custDataLst>
                <p:tags r:id="rId12"/>
              </p:custDataLst>
            </p:nvPr>
          </p:nvCxnSpPr>
          <p:spPr>
            <a:xfrm>
              <a:off x="3797406" y="2133862"/>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custDataLst>
              <p:tags r:id="rId2"/>
            </p:custDataLst>
          </p:nvPr>
        </p:nvGrpSpPr>
        <p:grpSpPr>
          <a:xfrm>
            <a:off x="3429000" y="3048000"/>
            <a:ext cx="6334019" cy="749588"/>
            <a:chOff x="3797406" y="2539558"/>
            <a:chExt cx="6334019" cy="749588"/>
          </a:xfrm>
        </p:grpSpPr>
        <p:sp>
          <p:nvSpPr>
            <p:cNvPr id="15" name="文本框 14"/>
            <p:cNvSpPr txBox="1"/>
            <p:nvPr>
              <p:custDataLst>
                <p:tags r:id="rId7"/>
              </p:custDataLst>
            </p:nvPr>
          </p:nvSpPr>
          <p:spPr>
            <a:xfrm>
              <a:off x="3797406" y="2673593"/>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3.2</a:t>
              </a:r>
            </a:p>
          </p:txBody>
        </p:sp>
        <p:sp>
          <p:nvSpPr>
            <p:cNvPr id="16" name="文本占位符 27"/>
            <p:cNvSpPr txBox="1"/>
            <p:nvPr>
              <p:custDataLst>
                <p:tags r:id="rId8"/>
              </p:custDataLst>
            </p:nvPr>
          </p:nvSpPr>
          <p:spPr>
            <a:xfrm>
              <a:off x="4838700"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1"/>
                  </a:solidFill>
                  <a:latin typeface="Times New Roman" panose="02020603050405020304" pitchFamily="18" charset="0"/>
                  <a:cs typeface="Times New Roman" panose="02020603050405020304" pitchFamily="18" charset="0"/>
                </a:rPr>
                <a:t>R</a:t>
              </a:r>
              <a:r>
                <a:rPr lang="zh-CN" altLang="en-US" dirty="0">
                  <a:solidFill>
                    <a:schemeClr val="accent1"/>
                  </a:solidFill>
                  <a:latin typeface="Times New Roman" panose="02020603050405020304" pitchFamily="18" charset="0"/>
                  <a:cs typeface="Times New Roman" panose="02020603050405020304" pitchFamily="18" charset="0"/>
                </a:rPr>
                <a:t>中空间数据基本类型</a:t>
              </a:r>
              <a:endParaRPr kumimoji="1" lang="zh-CN" altLang="en-US" dirty="0">
                <a:solidFill>
                  <a:schemeClr val="accent1"/>
                </a:solidFill>
                <a:latin typeface="Times New Roman" panose="02020603050405020304" pitchFamily="18" charset="0"/>
                <a:cs typeface="Times New Roman" panose="02020603050405020304" pitchFamily="18" charset="0"/>
              </a:endParaRPr>
            </a:p>
          </p:txBody>
        </p:sp>
        <p:cxnSp>
          <p:nvCxnSpPr>
            <p:cNvPr id="17" name="直线连接符 16"/>
            <p:cNvCxnSpPr/>
            <p:nvPr>
              <p:custDataLst>
                <p:tags r:id="rId9"/>
              </p:custDataLst>
            </p:nvPr>
          </p:nvCxnSpPr>
          <p:spPr>
            <a:xfrm>
              <a:off x="3797406" y="3247583"/>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3"/>
            </p:custDataLst>
          </p:nvPr>
        </p:nvGrpSpPr>
        <p:grpSpPr>
          <a:xfrm>
            <a:off x="3429000" y="4115419"/>
            <a:ext cx="6334019" cy="749588"/>
            <a:chOff x="3797406" y="3632531"/>
            <a:chExt cx="6334019" cy="749588"/>
          </a:xfrm>
        </p:grpSpPr>
        <p:sp>
          <p:nvSpPr>
            <p:cNvPr id="18" name="文本框 17"/>
            <p:cNvSpPr txBox="1"/>
            <p:nvPr>
              <p:custDataLst>
                <p:tags r:id="rId4"/>
              </p:custDataLst>
            </p:nvPr>
          </p:nvSpPr>
          <p:spPr>
            <a:xfrm>
              <a:off x="3797406" y="3766566"/>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3.3</a:t>
              </a:r>
            </a:p>
          </p:txBody>
        </p:sp>
        <p:sp>
          <p:nvSpPr>
            <p:cNvPr id="19" name="文本占位符 27"/>
            <p:cNvSpPr txBox="1"/>
            <p:nvPr>
              <p:custDataLst>
                <p:tags r:id="rId5"/>
              </p:custDataLst>
            </p:nvPr>
          </p:nvSpPr>
          <p:spPr>
            <a:xfrm>
              <a:off x="4838700" y="3632531"/>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pitchFamily="18" charset="0"/>
                  <a:cs typeface="Times New Roman" panose="02020603050405020304" pitchFamily="18" charset="0"/>
                </a:rPr>
                <a:t>空间数据导入导出</a:t>
              </a:r>
              <a:endParaRPr kumimoji="1" lang="zh-CN" altLang="en-US" dirty="0">
                <a:solidFill>
                  <a:schemeClr val="accent1"/>
                </a:solidFill>
                <a:latin typeface="Times New Roman" panose="02020603050405020304" pitchFamily="18" charset="0"/>
                <a:cs typeface="Times New Roman" panose="02020603050405020304" pitchFamily="18" charset="0"/>
              </a:endParaRPr>
            </a:p>
          </p:txBody>
        </p:sp>
        <p:cxnSp>
          <p:nvCxnSpPr>
            <p:cNvPr id="20" name="直线连接符 19"/>
            <p:cNvCxnSpPr/>
            <p:nvPr>
              <p:custDataLst>
                <p:tags r:id="rId6"/>
              </p:custDataLst>
            </p:nvPr>
          </p:nvCxnSpPr>
          <p:spPr>
            <a:xfrm>
              <a:off x="3797406" y="4340556"/>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3.1 </a:t>
            </a:r>
            <a:r>
              <a:rPr lang="zh-CN" altLang="en-US" sz="3600" dirty="0">
                <a:latin typeface="Times New Roman" panose="02020603050405020304" pitchFamily="18" charset="0"/>
                <a:cs typeface="Times New Roman" panose="02020603050405020304" pitchFamily="18" charset="0"/>
              </a:rPr>
              <a:t>章节</a:t>
            </a:r>
            <a:r>
              <a:rPr lang="en-US" altLang="zh-CN" sz="3600" dirty="0">
                <a:latin typeface="Times New Roman" panose="02020603050405020304" pitchFamily="18" charset="0"/>
                <a:cs typeface="Times New Roman" panose="02020603050405020304" pitchFamily="18" charset="0"/>
              </a:rPr>
              <a:t>R</a:t>
            </a:r>
            <a:r>
              <a:rPr lang="zh-CN" altLang="en-US" sz="3600" dirty="0">
                <a:latin typeface="Times New Roman" panose="02020603050405020304" pitchFamily="18" charset="0"/>
                <a:cs typeface="Times New Roman" panose="02020603050405020304" pitchFamily="18" charset="0"/>
              </a:rPr>
              <a:t>函数包准备</a:t>
            </a:r>
          </a:p>
        </p:txBody>
      </p:sp>
      <p:sp>
        <p:nvSpPr>
          <p:cNvPr id="8" name="灯片编号占位符 7"/>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3</a:t>
            </a:fld>
            <a:endParaRPr lang="zh-CN" altLang="en-US" dirty="0">
              <a:solidFill>
                <a:schemeClr val="bg2">
                  <a:lumMod val="75000"/>
                </a:schemeClr>
              </a:solidFill>
            </a:endParaRPr>
          </a:p>
        </p:txBody>
      </p:sp>
      <p:sp>
        <p:nvSpPr>
          <p:cNvPr id="9" name="矩形 8"/>
          <p:cNvSpPr/>
          <p:nvPr/>
        </p:nvSpPr>
        <p:spPr>
          <a:xfrm>
            <a:off x="6057900" y="1733818"/>
            <a:ext cx="2829240" cy="2536400"/>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加载函数包</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library(sf)</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library(terra)</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rgdal</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maptools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p:txBody>
      </p:sp>
      <p:sp>
        <p:nvSpPr>
          <p:cNvPr id="2" name="矩形 1">
            <a:extLst>
              <a:ext uri="{FF2B5EF4-FFF2-40B4-BE49-F238E27FC236}">
                <a16:creationId xmlns:a16="http://schemas.microsoft.com/office/drawing/2014/main" id="{5F90E361-B123-DB57-E52E-AF5C75C7A52A}"/>
              </a:ext>
            </a:extLst>
          </p:cNvPr>
          <p:cNvSpPr/>
          <p:nvPr/>
        </p:nvSpPr>
        <p:spPr>
          <a:xfrm>
            <a:off x="428310" y="1733818"/>
            <a:ext cx="5295900" cy="3007426"/>
          </a:xfrm>
          <a:prstGeom prst="rect">
            <a:avLst/>
          </a:prstGeom>
        </p:spPr>
        <p:txBody>
          <a:bodyPr wrap="square">
            <a:spAutoFit/>
          </a:bodyPr>
          <a:lstStyle/>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安装函数包</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("sf")</a:t>
            </a:r>
            <a:r>
              <a:rPr lang="en-US" altLang="zh-CN" sz="1600" baseline="300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1</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("terra")</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("D:/R/rgdal_1.6-7.tar.gz", repos = NULL, type = "source")</a:t>
            </a:r>
            <a:r>
              <a:rPr lang="en-US" altLang="zh-CN" sz="1600" baseline="300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2</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("D:/R/maptools_1.1-8.tar.gz", repos = NULL, type = "source")</a:t>
            </a:r>
          </a:p>
        </p:txBody>
      </p:sp>
      <p:cxnSp>
        <p:nvCxnSpPr>
          <p:cNvPr id="5" name="直接连接符 4">
            <a:extLst>
              <a:ext uri="{FF2B5EF4-FFF2-40B4-BE49-F238E27FC236}">
                <a16:creationId xmlns:a16="http://schemas.microsoft.com/office/drawing/2014/main" id="{22D9D074-C41E-6B44-21E4-BDCC7BA045D2}"/>
              </a:ext>
            </a:extLst>
          </p:cNvPr>
          <p:cNvCxnSpPr/>
          <p:nvPr/>
        </p:nvCxnSpPr>
        <p:spPr>
          <a:xfrm>
            <a:off x="495300" y="5753100"/>
            <a:ext cx="1743390" cy="0"/>
          </a:xfrm>
          <a:prstGeom prst="line">
            <a:avLst/>
          </a:prstGeom>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ED92A462-44A0-612C-F8C2-634594472390}"/>
              </a:ext>
            </a:extLst>
          </p:cNvPr>
          <p:cNvSpPr txBox="1"/>
          <p:nvPr/>
        </p:nvSpPr>
        <p:spPr>
          <a:xfrm>
            <a:off x="647700" y="5794761"/>
            <a:ext cx="5631670" cy="523220"/>
          </a:xfrm>
          <a:prstGeom prst="rect">
            <a:avLst/>
          </a:prstGeom>
          <a:noFill/>
        </p:spPr>
        <p:txBody>
          <a:bodyPr wrap="none" rtlCol="0">
            <a:spAutoFit/>
          </a:bodyPr>
          <a:lstStyle/>
          <a:p>
            <a:r>
              <a:rPr lang="en-US" altLang="zh-CN" sz="1400" baseline="30000" dirty="0">
                <a:latin typeface="+mn-lt"/>
              </a:rPr>
              <a:t>1 </a:t>
            </a:r>
            <a:r>
              <a:rPr lang="zh-CN" altLang="en-US" sz="1400" dirty="0">
                <a:latin typeface="+mn-lt"/>
              </a:rPr>
              <a:t>在安装函数包</a:t>
            </a:r>
            <a:r>
              <a:rPr lang="en-US" altLang="zh-CN" sz="1400" b="1" dirty="0">
                <a:latin typeface="+mn-lt"/>
              </a:rPr>
              <a:t>sf</a:t>
            </a:r>
            <a:r>
              <a:rPr lang="zh-CN" altLang="en-US" sz="1400" dirty="0">
                <a:latin typeface="+mn-lt"/>
              </a:rPr>
              <a:t>之前，需要提前安装对应版本的</a:t>
            </a:r>
            <a:r>
              <a:rPr lang="en-US" altLang="zh-CN" sz="1400" dirty="0" err="1">
                <a:latin typeface="+mn-lt"/>
              </a:rPr>
              <a:t>Rtools</a:t>
            </a:r>
            <a:r>
              <a:rPr lang="zh-CN" altLang="en-US" sz="1400" dirty="0">
                <a:latin typeface="+mn-lt"/>
              </a:rPr>
              <a:t>。</a:t>
            </a:r>
            <a:endParaRPr lang="en-US" altLang="zh-CN" sz="1400" dirty="0">
              <a:latin typeface="+mn-lt"/>
            </a:endParaRPr>
          </a:p>
          <a:p>
            <a:r>
              <a:rPr lang="en-US" altLang="zh-CN" sz="1400" baseline="30000" dirty="0">
                <a:latin typeface="+mn-lt"/>
              </a:rPr>
              <a:t>2 </a:t>
            </a:r>
            <a:r>
              <a:rPr lang="zh-CN" altLang="en-US" sz="1400" dirty="0">
                <a:latin typeface="+mn-lt"/>
              </a:rPr>
              <a:t>压缩包可以在</a:t>
            </a:r>
            <a:r>
              <a:rPr lang="en-US" altLang="zh-CN" sz="1400" dirty="0">
                <a:effectLst/>
                <a:latin typeface="+mn-lt"/>
                <a:ea typeface="宋体" panose="02010600030101010101" pitchFamily="2" charset="-122"/>
              </a:rPr>
              <a:t>CRAN</a:t>
            </a:r>
            <a:r>
              <a:rPr lang="zh-CN" altLang="zh-CN" sz="1400" dirty="0">
                <a:effectLst/>
                <a:latin typeface="+mn-lt"/>
                <a:ea typeface="宋体" panose="02010600030101010101" pitchFamily="2" charset="-122"/>
                <a:cs typeface="Times New Roman" panose="02020603050405020304" pitchFamily="18" charset="0"/>
              </a:rPr>
              <a:t>上</a:t>
            </a:r>
            <a:r>
              <a:rPr lang="zh-CN" altLang="en-US" sz="1400" dirty="0">
                <a:effectLst/>
                <a:latin typeface="+mn-lt"/>
                <a:ea typeface="宋体" panose="02010600030101010101" pitchFamily="2" charset="-122"/>
                <a:cs typeface="Times New Roman" panose="02020603050405020304" pitchFamily="18" charset="0"/>
              </a:rPr>
              <a:t>下载历史版本，将路径修改为实际存放路径。</a:t>
            </a:r>
            <a:endParaRPr lang="zh-CN" altLang="en-US" sz="1400" dirty="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 R</a:t>
            </a:r>
            <a:r>
              <a:rPr lang="zh-CN" altLang="en-US" sz="3600" dirty="0">
                <a:latin typeface="Times New Roman" panose="02020603050405020304" pitchFamily="18" charset="0"/>
                <a:cs typeface="Times New Roman" panose="02020603050405020304" pitchFamily="18" charset="0"/>
              </a:rPr>
              <a:t>中空间数据基本类型</a:t>
            </a:r>
          </a:p>
        </p:txBody>
      </p:sp>
      <p:sp>
        <p:nvSpPr>
          <p:cNvPr id="8" name="灯片编号占位符 7"/>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D8942907-A372-0895-5692-D4056382AFE4}"/>
              </a:ext>
            </a:extLst>
          </p:cNvPr>
          <p:cNvSpPr txBox="1"/>
          <p:nvPr/>
        </p:nvSpPr>
        <p:spPr>
          <a:xfrm>
            <a:off x="1181101" y="1943100"/>
            <a:ext cx="5992346" cy="3503523"/>
          </a:xfrm>
          <a:prstGeom prst="rect">
            <a:avLst/>
          </a:prstGeom>
          <a:noFill/>
        </p:spPr>
        <p:txBody>
          <a:bodyPr wrap="none" rtlCol="0">
            <a:spAutoFit/>
          </a:bodyPr>
          <a:lstStyle/>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3.2.1 Spatial</a:t>
            </a:r>
            <a:r>
              <a:rPr lang="zh-CN" altLang="en-US" sz="3000" b="1" dirty="0">
                <a:solidFill>
                  <a:schemeClr val="accent1"/>
                </a:solidFill>
                <a:latin typeface="Times New Roman" panose="02020603050405020304" pitchFamily="18" charset="0"/>
                <a:ea typeface="+mn-ea"/>
                <a:cs typeface="Times New Roman" panose="02020603050405020304" pitchFamily="18" charset="0"/>
              </a:rPr>
              <a:t>对象</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3.2.2 Simple Feature</a:t>
            </a:r>
            <a:r>
              <a:rPr lang="zh-CN" altLang="en-US" sz="3000" b="1" dirty="0">
                <a:solidFill>
                  <a:schemeClr val="accent1"/>
                </a:solidFill>
                <a:latin typeface="Times New Roman" panose="02020603050405020304" pitchFamily="18" charset="0"/>
                <a:ea typeface="+mn-ea"/>
                <a:cs typeface="Times New Roman" panose="02020603050405020304" pitchFamily="18" charset="0"/>
              </a:rPr>
              <a:t>对象</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3.2.3 Simple Feature</a:t>
            </a:r>
            <a:r>
              <a:rPr lang="zh-CN" altLang="en-US" sz="3000" b="1" dirty="0">
                <a:solidFill>
                  <a:schemeClr val="accent1"/>
                </a:solidFill>
                <a:latin typeface="Times New Roman" panose="02020603050405020304" pitchFamily="18" charset="0"/>
                <a:ea typeface="+mn-ea"/>
                <a:cs typeface="Times New Roman" panose="02020603050405020304" pitchFamily="18" charset="0"/>
              </a:rPr>
              <a:t>数据对象</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与</a:t>
            </a:r>
            <a:r>
              <a:rPr lang="en-US" altLang="zh-CN" sz="3000" b="1" dirty="0" err="1">
                <a:solidFill>
                  <a:schemeClr val="accent1"/>
                </a:solidFill>
                <a:latin typeface="Times New Roman" panose="02020603050405020304" pitchFamily="18" charset="0"/>
                <a:ea typeface="+mn-ea"/>
                <a:cs typeface="Times New Roman" panose="02020603050405020304" pitchFamily="18" charset="0"/>
              </a:rPr>
              <a:t>data.frame</a:t>
            </a:r>
            <a:r>
              <a:rPr lang="zh-CN" altLang="en-US" sz="3000" b="1" dirty="0">
                <a:solidFill>
                  <a:schemeClr val="accent1"/>
                </a:solidFill>
                <a:latin typeface="Times New Roman" panose="02020603050405020304" pitchFamily="18" charset="0"/>
                <a:ea typeface="+mn-ea"/>
                <a:cs typeface="Times New Roman" panose="02020603050405020304" pitchFamily="18" charset="0"/>
              </a:rPr>
              <a:t>数据的相互转化</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3.2.4 Simple Feature</a:t>
            </a:r>
            <a:r>
              <a:rPr lang="zh-CN" altLang="en-US" sz="3000" b="1" dirty="0">
                <a:solidFill>
                  <a:schemeClr val="accent1"/>
                </a:solidFill>
                <a:latin typeface="Times New Roman" panose="02020603050405020304" pitchFamily="18" charset="0"/>
                <a:ea typeface="+mn-ea"/>
                <a:cs typeface="Times New Roman" panose="02020603050405020304" pitchFamily="18" charset="0"/>
              </a:rPr>
              <a:t>数据对象</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与</a:t>
            </a:r>
            <a:r>
              <a:rPr lang="en-US" altLang="zh-CN" sz="30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000" b="1" dirty="0">
                <a:solidFill>
                  <a:schemeClr val="accent1"/>
                </a:solidFill>
                <a:latin typeface="Times New Roman" panose="02020603050405020304" pitchFamily="18" charset="0"/>
                <a:ea typeface="+mn-ea"/>
                <a:cs typeface="Times New Roman" panose="02020603050405020304" pitchFamily="18" charset="0"/>
              </a:rPr>
              <a:t>数据的相互转换</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03385" y="1276613"/>
            <a:ext cx="8337229" cy="295170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在函数包</a:t>
            </a:r>
            <a:r>
              <a:rPr lang="en-US" altLang="zh-CN" b="1" dirty="0" err="1">
                <a:latin typeface="+mj-lt"/>
                <a:ea typeface="+mj-ea"/>
                <a:sym typeface="Consolas" panose="020B0609020204030204" pitchFamily="49" charset="0"/>
              </a:rPr>
              <a:t>sp</a:t>
            </a:r>
            <a:r>
              <a:rPr lang="zh-CN" altLang="en-US" dirty="0">
                <a:latin typeface="+mj-lt"/>
                <a:ea typeface="+mj-ea"/>
                <a:sym typeface="Consolas" panose="020B0609020204030204" pitchFamily="49" charset="0"/>
              </a:rPr>
              <a:t>中，定义了一个</a:t>
            </a:r>
            <a:r>
              <a:rPr lang="zh-CN" altLang="en-US" b="1" dirty="0">
                <a:latin typeface="+mj-lt"/>
                <a:ea typeface="+mj-ea"/>
                <a:sym typeface="Consolas" panose="020B0609020204030204" pitchFamily="49" charset="0"/>
              </a:rPr>
              <a:t>空间对象基础类</a:t>
            </a:r>
            <a:r>
              <a:rPr lang="en-US" altLang="zh-CN" b="1" dirty="0">
                <a:latin typeface="+mj-lt"/>
                <a:ea typeface="+mj-ea"/>
                <a:sym typeface="Consolas" panose="020B0609020204030204" pitchFamily="49" charset="0"/>
              </a:rPr>
              <a:t>Spatial</a:t>
            </a:r>
            <a:r>
              <a:rPr lang="zh-CN" altLang="en-US" dirty="0">
                <a:latin typeface="+mj-lt"/>
                <a:ea typeface="+mj-ea"/>
                <a:sym typeface="Consolas" panose="020B0609020204030204" pitchFamily="49" charset="0"/>
              </a:rPr>
              <a:t>，由两个插槽</a:t>
            </a:r>
            <a:r>
              <a:rPr lang="en-US" altLang="zh-CN" dirty="0">
                <a:latin typeface="+mj-lt"/>
                <a:ea typeface="+mj-ea"/>
                <a:sym typeface="Consolas" panose="020B0609020204030204" pitchFamily="49" charset="0"/>
              </a:rPr>
              <a:t>(Slot)</a:t>
            </a:r>
            <a:r>
              <a:rPr lang="zh-CN" altLang="en-US" dirty="0">
                <a:latin typeface="+mj-lt"/>
                <a:ea typeface="+mj-ea"/>
                <a:sym typeface="Consolas" panose="020B0609020204030204" pitchFamily="49" charset="0"/>
              </a:rPr>
              <a:t>构成：</a:t>
            </a:r>
            <a:endParaRPr lang="en-US" altLang="zh-CN" dirty="0">
              <a:latin typeface="+mj-lt"/>
              <a:ea typeface="+mj-ea"/>
              <a:sym typeface="Consolas" panose="020B0609020204030204" pitchFamily="49" charset="0"/>
            </a:endParaRPr>
          </a:p>
          <a:p>
            <a:pPr marL="342900" indent="-342900">
              <a:lnSpc>
                <a:spcPct val="150000"/>
              </a:lnSpc>
              <a:buFont typeface="+mj-lt"/>
              <a:buAutoNum type="arabicPeriod"/>
            </a:pPr>
            <a:r>
              <a:rPr lang="en-US" altLang="zh-CN" b="1" i="1" dirty="0" err="1">
                <a:latin typeface="+mj-lt"/>
                <a:ea typeface="+mj-ea"/>
                <a:sym typeface="Consolas" panose="020B0609020204030204" pitchFamily="49" charset="0"/>
              </a:rPr>
              <a:t>bbox</a:t>
            </a:r>
            <a:r>
              <a:rPr lang="zh-CN" altLang="en-US" dirty="0">
                <a:latin typeface="+mj-lt"/>
                <a:ea typeface="+mj-ea"/>
                <a:sym typeface="Consolas" panose="020B0609020204030204" pitchFamily="49" charset="0"/>
              </a:rPr>
              <a:t>：定义了空间对象的二维边界矩形，即二维矩形中最大</a:t>
            </a:r>
            <a:r>
              <a:rPr lang="en-US" altLang="zh-CN" dirty="0">
                <a:latin typeface="+mj-lt"/>
                <a:ea typeface="+mj-ea"/>
                <a:sym typeface="Consolas" panose="020B0609020204030204" pitchFamily="49" charset="0"/>
              </a:rPr>
              <a:t>-</a:t>
            </a:r>
            <a:r>
              <a:rPr lang="zh-CN" altLang="en-US" dirty="0">
                <a:latin typeface="+mj-lt"/>
                <a:ea typeface="+mj-ea"/>
                <a:sym typeface="Consolas" panose="020B0609020204030204" pitchFamily="49" charset="0"/>
              </a:rPr>
              <a:t>最小</a:t>
            </a:r>
            <a:r>
              <a:rPr lang="en-US" altLang="zh-CN" dirty="0">
                <a:latin typeface="+mj-lt"/>
                <a:ea typeface="+mj-ea"/>
                <a:sym typeface="Consolas" panose="020B0609020204030204" pitchFamily="49" charset="0"/>
              </a:rPr>
              <a:t>x-y</a:t>
            </a:r>
            <a:r>
              <a:rPr lang="zh-CN" altLang="en-US" dirty="0">
                <a:latin typeface="+mj-lt"/>
                <a:ea typeface="+mj-ea"/>
                <a:sym typeface="Consolas" panose="020B0609020204030204" pitchFamily="49" charset="0"/>
              </a:rPr>
              <a:t>坐标</a:t>
            </a:r>
            <a:endParaRPr lang="en-US" altLang="zh-CN" dirty="0">
              <a:latin typeface="+mj-lt"/>
              <a:ea typeface="+mj-ea"/>
              <a:sym typeface="Consolas" panose="020B0609020204030204" pitchFamily="49" charset="0"/>
            </a:endParaRPr>
          </a:p>
          <a:p>
            <a:pPr marL="342900" indent="-342900">
              <a:lnSpc>
                <a:spcPct val="150000"/>
              </a:lnSpc>
              <a:buFont typeface="+mj-lt"/>
              <a:buAutoNum type="arabicPeriod"/>
            </a:pPr>
            <a:r>
              <a:rPr lang="en-US" altLang="zh-CN" b="1" i="1" dirty="0">
                <a:latin typeface="+mj-lt"/>
                <a:ea typeface="+mj-ea"/>
                <a:sym typeface="Consolas" panose="020B0609020204030204" pitchFamily="49" charset="0"/>
              </a:rPr>
              <a:t>proj4string</a:t>
            </a:r>
            <a:r>
              <a:rPr lang="zh-CN" altLang="en-US" dirty="0">
                <a:latin typeface="+mj-lt"/>
                <a:ea typeface="+mj-ea"/>
                <a:sym typeface="Consolas" panose="020B0609020204030204" pitchFamily="49" charset="0"/>
              </a:rPr>
              <a:t>：定义坐标参考系</a:t>
            </a:r>
            <a:r>
              <a:rPr lang="en-US" altLang="zh-CN" dirty="0">
                <a:latin typeface="+mj-lt"/>
                <a:ea typeface="+mj-ea"/>
                <a:sym typeface="Consolas" panose="020B0609020204030204" pitchFamily="49" charset="0"/>
              </a:rPr>
              <a:t>(Coordinate reference system, CRS)</a:t>
            </a:r>
            <a:r>
              <a:rPr lang="zh-CN" altLang="en-US" dirty="0">
                <a:latin typeface="+mj-lt"/>
                <a:ea typeface="+mj-ea"/>
                <a:sym typeface="Consolas" panose="020B0609020204030204" pitchFamily="49" charset="0"/>
              </a:rPr>
              <a:t>类的字符串（参数定义详见</a:t>
            </a:r>
            <a:r>
              <a:rPr lang="en-US" altLang="zh-CN" dirty="0">
                <a:latin typeface="+mj-lt"/>
                <a:ea typeface="+mj-ea"/>
                <a:sym typeface="Consolas" panose="020B0609020204030204" pitchFamily="49" charset="0"/>
                <a:hlinkClick r:id="rId2"/>
              </a:rPr>
              <a:t>http://proj4.org</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a:t>
            </a:r>
            <a:r>
              <a:rPr lang="en-US" altLang="zh-CN" dirty="0">
                <a:latin typeface="+mj-lt"/>
                <a:ea typeface="+mj-ea"/>
                <a:sym typeface="Consolas" panose="020B0609020204030204" pitchFamily="49" charset="0"/>
              </a:rPr>
              <a:t>Spatial</a:t>
            </a:r>
            <a:r>
              <a:rPr lang="zh-CN" altLang="en-US" dirty="0">
                <a:latin typeface="+mj-lt"/>
                <a:ea typeface="+mj-ea"/>
                <a:sym typeface="Consolas" panose="020B0609020204030204" pitchFamily="49" charset="0"/>
              </a:rPr>
              <a:t>类的基础上，分别扩展为</a:t>
            </a:r>
            <a:r>
              <a:rPr lang="zh-CN" altLang="en-US" b="1" dirty="0">
                <a:latin typeface="+mj-lt"/>
                <a:ea typeface="+mj-ea"/>
                <a:sym typeface="Consolas" panose="020B0609020204030204" pitchFamily="49" charset="0"/>
              </a:rPr>
              <a:t>点、线、面和栅格</a:t>
            </a:r>
            <a:r>
              <a:rPr lang="zh-CN" altLang="en-US" dirty="0">
                <a:latin typeface="+mj-lt"/>
                <a:ea typeface="+mj-ea"/>
                <a:sym typeface="Consolas" panose="020B0609020204030204" pitchFamily="49" charset="0"/>
              </a:rPr>
              <a:t>四种类型的空间数据对应的</a:t>
            </a:r>
            <a:r>
              <a:rPr lang="en-US" altLang="zh-CN" dirty="0" err="1">
                <a:latin typeface="+mj-lt"/>
                <a:ea typeface="+mj-ea"/>
                <a:sym typeface="Consolas" panose="020B0609020204030204" pitchFamily="49" charset="0"/>
              </a:rPr>
              <a:t>SpatialPoints</a:t>
            </a:r>
            <a:r>
              <a:rPr lang="zh-CN" altLang="en-US" dirty="0">
                <a:latin typeface="+mj-lt"/>
                <a:ea typeface="+mj-ea"/>
                <a:sym typeface="Consolas" panose="020B0609020204030204" pitchFamily="49" charset="0"/>
              </a:rPr>
              <a:t>、</a:t>
            </a:r>
            <a:r>
              <a:rPr lang="en-US" altLang="zh-CN" dirty="0" err="1">
                <a:latin typeface="+mj-lt"/>
                <a:ea typeface="+mj-ea"/>
                <a:sym typeface="Consolas" panose="020B0609020204030204" pitchFamily="49" charset="0"/>
              </a:rPr>
              <a:t>SpatialLines</a:t>
            </a:r>
            <a:r>
              <a:rPr lang="zh-CN" altLang="en-US" dirty="0">
                <a:latin typeface="+mj-lt"/>
                <a:ea typeface="+mj-ea"/>
                <a:sym typeface="Consolas" panose="020B0609020204030204" pitchFamily="49" charset="0"/>
              </a:rPr>
              <a:t>、</a:t>
            </a:r>
            <a:r>
              <a:rPr lang="en-US" altLang="zh-CN" dirty="0" err="1">
                <a:latin typeface="+mj-lt"/>
                <a:ea typeface="+mj-ea"/>
                <a:sym typeface="Consolas" panose="020B0609020204030204" pitchFamily="49" charset="0"/>
              </a:rPr>
              <a:t>SpatialPolygons</a:t>
            </a:r>
            <a:r>
              <a:rPr lang="zh-CN" altLang="en-US" dirty="0">
                <a:latin typeface="+mj-lt"/>
                <a:ea typeface="+mj-ea"/>
                <a:sym typeface="Consolas" panose="020B0609020204030204" pitchFamily="49" charset="0"/>
              </a:rPr>
              <a:t>和</a:t>
            </a:r>
            <a:r>
              <a:rPr lang="en-US" altLang="zh-CN" dirty="0" err="1">
                <a:latin typeface="+mj-lt"/>
                <a:ea typeface="+mj-ea"/>
                <a:sym typeface="Consolas" panose="020B0609020204030204" pitchFamily="49" charset="0"/>
              </a:rPr>
              <a:t>SpatialGrids</a:t>
            </a:r>
            <a:r>
              <a:rPr lang="zh-CN" altLang="en-US" dirty="0">
                <a:latin typeface="+mj-lt"/>
                <a:ea typeface="+mj-ea"/>
                <a:sym typeface="Consolas" panose="020B0609020204030204" pitchFamily="49" charset="0"/>
              </a:rPr>
              <a:t>亚类。</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查询其派生类的更多细节：</a:t>
            </a:r>
            <a:endParaRPr lang="en-US" altLang="zh-CN" dirty="0">
              <a:latin typeface="+mj-lt"/>
              <a:ea typeface="+mj-ea"/>
              <a:sym typeface="Consolas" panose="020B0609020204030204" pitchFamily="49" charset="0"/>
            </a:endParaRPr>
          </a:p>
        </p:txBody>
      </p:sp>
      <p:sp>
        <p:nvSpPr>
          <p:cNvPr id="10" name="标题 9"/>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p:cNvSpPr>
            <a:spLocks noGrp="1"/>
          </p:cNvSpPr>
          <p:nvPr>
            <p:ph type="sldNum" sz="quarter" idx="12"/>
          </p:nvPr>
        </p:nvSpPr>
        <p:spPr/>
        <p:txBody>
          <a:bodyPr/>
          <a:lstStyle/>
          <a:p>
            <a:fld id="{6B3369F9-03CD-4B48-86A9-9EE39A82955A}" type="slidenum">
              <a:rPr lang="zh-CN" altLang="en-US">
                <a:solidFill>
                  <a:schemeClr val="bg2">
                    <a:lumMod val="75000"/>
                  </a:schemeClr>
                </a:solidFill>
              </a:rPr>
              <a:t>5</a:t>
            </a:fld>
            <a:endParaRPr lang="zh-CN" altLang="en-US" dirty="0">
              <a:solidFill>
                <a:schemeClr val="bg2">
                  <a:lumMod val="75000"/>
                </a:schemeClr>
              </a:solidFill>
            </a:endParaRPr>
          </a:p>
        </p:txBody>
      </p:sp>
      <p:pic>
        <p:nvPicPr>
          <p:cNvPr id="2" name="图片 1">
            <a:extLst>
              <a:ext uri="{FF2B5EF4-FFF2-40B4-BE49-F238E27FC236}">
                <a16:creationId xmlns:a16="http://schemas.microsoft.com/office/drawing/2014/main" id="{0AA4CE4E-10D0-7600-FCB2-D27E836C5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4038600"/>
            <a:ext cx="5274310" cy="2640330"/>
          </a:xfrm>
          <a:prstGeom prst="rect">
            <a:avLst/>
          </a:prstGeom>
          <a:ln>
            <a:noFill/>
          </a:ln>
          <a:effectLst>
            <a:outerShdw blurRad="190500" algn="tl" rotWithShape="0">
              <a:srgbClr val="000000">
                <a:alpha val="70000"/>
              </a:srgbClr>
            </a:outerShdw>
          </a:effectLst>
        </p:spPr>
      </p:pic>
      <p:sp>
        <p:nvSpPr>
          <p:cNvPr id="4" name="文本框 3">
            <a:extLst>
              <a:ext uri="{FF2B5EF4-FFF2-40B4-BE49-F238E27FC236}">
                <a16:creationId xmlns:a16="http://schemas.microsoft.com/office/drawing/2014/main" id="{40D419BF-1040-77E6-2BCE-0D143EA554A0}"/>
              </a:ext>
            </a:extLst>
          </p:cNvPr>
          <p:cNvSpPr txBox="1"/>
          <p:nvPr/>
        </p:nvSpPr>
        <p:spPr>
          <a:xfrm>
            <a:off x="551188" y="4345935"/>
            <a:ext cx="2979106" cy="58477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getClass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"Spatial"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F7F9-6762-9A49-3495-0399B0A18DBC}"/>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49A50CD2-5A34-168E-C8E8-7BE6A8DBE4B2}"/>
              </a:ext>
            </a:extLst>
          </p:cNvPr>
          <p:cNvSpPr/>
          <p:nvPr/>
        </p:nvSpPr>
        <p:spPr>
          <a:xfrm>
            <a:off x="403385" y="1709627"/>
            <a:ext cx="8337229" cy="1705210"/>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通过对基础类</a:t>
            </a:r>
            <a:r>
              <a:rPr lang="en-US" altLang="zh-CN" b="1" i="1" dirty="0">
                <a:latin typeface="+mj-lt"/>
                <a:ea typeface="+mj-ea"/>
                <a:sym typeface="Consolas" panose="020B0609020204030204" pitchFamily="49" charset="0"/>
              </a:rPr>
              <a:t>Spatial</a:t>
            </a:r>
            <a:r>
              <a:rPr lang="zh-CN" altLang="en-US" dirty="0">
                <a:latin typeface="+mj-lt"/>
                <a:ea typeface="+mj-ea"/>
                <a:sym typeface="Consolas" panose="020B0609020204030204" pitchFamily="49" charset="0"/>
              </a:rPr>
              <a:t>增加用来存储和表示坐标或位置</a:t>
            </a:r>
            <a:r>
              <a:rPr lang="en-US" altLang="zh-CN" dirty="0">
                <a:latin typeface="+mj-lt"/>
                <a:ea typeface="+mj-ea"/>
                <a:sym typeface="Consolas" panose="020B0609020204030204" pitchFamily="49" charset="0"/>
              </a:rPr>
              <a:t>(coords)</a:t>
            </a:r>
            <a:r>
              <a:rPr lang="zh-CN" altLang="en-US" dirty="0">
                <a:latin typeface="+mj-lt"/>
                <a:ea typeface="+mj-ea"/>
                <a:sym typeface="Consolas" panose="020B0609020204030204" pitchFamily="49" charset="0"/>
              </a:rPr>
              <a:t>的插槽，衍生出亚类</a:t>
            </a:r>
            <a:r>
              <a:rPr lang="en-US" altLang="zh-CN" b="1" i="1" dirty="0" err="1">
                <a:latin typeface="+mj-lt"/>
                <a:ea typeface="+mj-ea"/>
                <a:sym typeface="Consolas" panose="020B0609020204030204" pitchFamily="49" charset="0"/>
              </a:rPr>
              <a:t>SpatialPoints</a:t>
            </a:r>
            <a:r>
              <a:rPr lang="zh-CN" altLang="en-US" b="1"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通过对亚类</a:t>
            </a:r>
            <a:r>
              <a:rPr lang="en-US" altLang="zh-CN" b="1" i="1" dirty="0" err="1">
                <a:latin typeface="+mj-lt"/>
                <a:ea typeface="+mj-ea"/>
                <a:sym typeface="Consolas" panose="020B0609020204030204" pitchFamily="49" charset="0"/>
              </a:rPr>
              <a:t>SpatialPoints</a:t>
            </a:r>
            <a:r>
              <a:rPr lang="zh-CN" altLang="en-US" dirty="0">
                <a:latin typeface="+mj-lt"/>
                <a:ea typeface="+mj-ea"/>
                <a:sym typeface="Consolas" panose="020B0609020204030204" pitchFamily="49" charset="0"/>
              </a:rPr>
              <a:t>增加一个</a:t>
            </a:r>
            <a:r>
              <a:rPr lang="en-US" altLang="zh-CN" dirty="0" err="1">
                <a:latin typeface="+mj-lt"/>
                <a:ea typeface="+mj-ea"/>
                <a:sym typeface="Consolas" panose="020B0609020204030204" pitchFamily="49" charset="0"/>
              </a:rPr>
              <a:t>data.frame</a:t>
            </a:r>
            <a:r>
              <a:rPr lang="zh-CN" altLang="en-US" dirty="0">
                <a:latin typeface="+mj-lt"/>
                <a:ea typeface="+mj-ea"/>
                <a:sym typeface="Consolas" panose="020B0609020204030204" pitchFamily="49" charset="0"/>
              </a:rPr>
              <a:t>对象作为属性数据</a:t>
            </a:r>
            <a:r>
              <a:rPr lang="en-US" altLang="zh-CN" dirty="0">
                <a:latin typeface="+mj-lt"/>
                <a:ea typeface="+mj-ea"/>
                <a:sym typeface="Consolas" panose="020B0609020204030204" pitchFamily="49" charset="0"/>
              </a:rPr>
              <a:t>(data)</a:t>
            </a:r>
            <a:r>
              <a:rPr lang="zh-CN" altLang="en-US" dirty="0">
                <a:latin typeface="+mj-lt"/>
                <a:ea typeface="+mj-ea"/>
                <a:sym typeface="Consolas" panose="020B0609020204030204" pitchFamily="49" charset="0"/>
              </a:rPr>
              <a:t>插槽，便派生出亚类</a:t>
            </a:r>
            <a:r>
              <a:rPr lang="en-US" altLang="zh-CN" b="1" i="1" dirty="0" err="1">
                <a:latin typeface="+mj-lt"/>
                <a:ea typeface="+mj-ea"/>
                <a:sym typeface="Consolas" panose="020B0609020204030204" pitchFamily="49" charset="0"/>
              </a:rPr>
              <a:t>SpatialPointsDataFrame</a:t>
            </a:r>
            <a:r>
              <a:rPr lang="zh-CN" altLang="en-US" b="1" dirty="0">
                <a:latin typeface="+mj-lt"/>
                <a:ea typeface="+mj-ea"/>
                <a:sym typeface="Consolas" panose="020B0609020204030204" pitchFamily="49" charset="0"/>
              </a:rPr>
              <a:t>。</a:t>
            </a:r>
            <a:endParaRPr lang="en-US" altLang="zh-CN" b="1"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02382C83-70F1-DD4D-EFE5-D19DC5DA925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EF006D5E-2CD9-6199-AAF6-C9ACDC36AA2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6</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5D816DD9-9627-F26C-FF85-078322C766E5}"/>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pic>
        <p:nvPicPr>
          <p:cNvPr id="5" name="图片 4" descr="6-3">
            <a:extLst>
              <a:ext uri="{FF2B5EF4-FFF2-40B4-BE49-F238E27FC236}">
                <a16:creationId xmlns:a16="http://schemas.microsoft.com/office/drawing/2014/main" id="{BE8B338A-8BB5-2383-877C-C7F69177C7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735815"/>
            <a:ext cx="4717471" cy="1788685"/>
          </a:xfrm>
          <a:prstGeom prst="rect">
            <a:avLst/>
          </a:prstGeom>
          <a:ln>
            <a:noFill/>
          </a:ln>
          <a:effectLst>
            <a:outerShdw blurRad="190500" algn="tl" rotWithShape="0">
              <a:srgbClr val="000000">
                <a:alpha val="70000"/>
              </a:srgbClr>
            </a:outerShdw>
          </a:effectLst>
        </p:spPr>
      </p:pic>
      <p:sp>
        <p:nvSpPr>
          <p:cNvPr id="8" name="文本框 7">
            <a:extLst>
              <a:ext uri="{FF2B5EF4-FFF2-40B4-BE49-F238E27FC236}">
                <a16:creationId xmlns:a16="http://schemas.microsoft.com/office/drawing/2014/main" id="{1CDC8AEB-EC73-B6B5-5C97-3FFE21371E46}"/>
              </a:ext>
            </a:extLst>
          </p:cNvPr>
          <p:cNvSpPr txBox="1"/>
          <p:nvPr/>
        </p:nvSpPr>
        <p:spPr>
          <a:xfrm>
            <a:off x="800100" y="4006027"/>
            <a:ext cx="2821173" cy="1077218"/>
          </a:xfrm>
          <a:prstGeom prst="rect">
            <a:avLst/>
          </a:prstGeom>
          <a:noFill/>
        </p:spPr>
        <p:txBody>
          <a:bodyPr wrap="square" rtlCol="0">
            <a:spAutoFit/>
          </a:bodyPr>
          <a:lstStyle/>
          <a:p>
            <a:pPr algn="just"/>
            <a:r>
              <a:rPr lang="zh-CN" altLang="zh-CN" sz="1600" dirty="0">
                <a:solidFill>
                  <a:schemeClr val="accent6"/>
                </a:solidFill>
                <a:effectLst/>
                <a:latin typeface="+mn-lt"/>
                <a:ea typeface="+mn-ea"/>
                <a:cs typeface="Times New Roman" panose="02020603050405020304" pitchFamily="18" charset="0"/>
              </a:rPr>
              <a:t>逻辑指示符，</a:t>
            </a:r>
            <a:r>
              <a:rPr lang="en-US" altLang="zh-CN" sz="1600" dirty="0">
                <a:solidFill>
                  <a:schemeClr val="accent6"/>
                </a:solidFill>
                <a:effectLst/>
                <a:latin typeface="+mn-lt"/>
                <a:ea typeface="+mn-ea"/>
              </a:rPr>
              <a:t>TRUE</a:t>
            </a:r>
            <a:r>
              <a:rPr lang="zh-CN" altLang="zh-CN" sz="1600" dirty="0">
                <a:solidFill>
                  <a:schemeClr val="accent6"/>
                </a:solidFill>
                <a:effectLst/>
                <a:latin typeface="+mn-lt"/>
                <a:ea typeface="+mn-ea"/>
                <a:cs typeface="Times New Roman" panose="02020603050405020304" pitchFamily="18" charset="0"/>
              </a:rPr>
              <a:t>值表示当创建</a:t>
            </a:r>
            <a:r>
              <a:rPr lang="en-US" altLang="zh-CN" sz="1600" dirty="0" err="1">
                <a:solidFill>
                  <a:schemeClr val="accent6"/>
                </a:solidFill>
                <a:effectLst/>
                <a:latin typeface="+mn-lt"/>
                <a:ea typeface="+mn-ea"/>
              </a:rPr>
              <a:t>SpatialPointsDataFrame</a:t>
            </a:r>
            <a:r>
              <a:rPr lang="zh-CN" altLang="zh-CN" sz="1600" dirty="0">
                <a:solidFill>
                  <a:schemeClr val="accent6"/>
                </a:solidFill>
                <a:effectLst/>
                <a:latin typeface="+mn-lt"/>
                <a:ea typeface="+mn-ea"/>
                <a:cs typeface="Times New Roman" panose="02020603050405020304" pitchFamily="18" charset="0"/>
              </a:rPr>
              <a:t>对象时空间点的坐标来自于属性数据</a:t>
            </a:r>
            <a:r>
              <a:rPr lang="en-US" altLang="zh-CN" sz="1600" dirty="0" err="1">
                <a:solidFill>
                  <a:schemeClr val="accent6"/>
                </a:solidFill>
                <a:effectLst/>
                <a:latin typeface="+mn-lt"/>
                <a:ea typeface="+mn-ea"/>
              </a:rPr>
              <a:t>data.frame</a:t>
            </a:r>
            <a:r>
              <a:rPr lang="zh-CN" altLang="zh-CN" sz="1600" dirty="0">
                <a:solidFill>
                  <a:schemeClr val="accent6"/>
                </a:solidFill>
                <a:effectLst/>
                <a:latin typeface="+mn-lt"/>
                <a:ea typeface="+mn-ea"/>
                <a:cs typeface="Times New Roman" panose="02020603050405020304" pitchFamily="18" charset="0"/>
              </a:rPr>
              <a:t>对象。</a:t>
            </a:r>
            <a:endParaRPr lang="zh-CN" altLang="en-US" sz="1600" dirty="0">
              <a:solidFill>
                <a:schemeClr val="accent6"/>
              </a:solidFill>
              <a:latin typeface="+mn-lt"/>
              <a:ea typeface="+mn-ea"/>
            </a:endParaRPr>
          </a:p>
        </p:txBody>
      </p:sp>
      <p:sp>
        <p:nvSpPr>
          <p:cNvPr id="9" name="矩形 8">
            <a:extLst>
              <a:ext uri="{FF2B5EF4-FFF2-40B4-BE49-F238E27FC236}">
                <a16:creationId xmlns:a16="http://schemas.microsoft.com/office/drawing/2014/main" id="{15D64B20-F86C-0B3B-2719-298C348A43C6}"/>
              </a:ext>
            </a:extLst>
          </p:cNvPr>
          <p:cNvSpPr/>
          <p:nvPr/>
        </p:nvSpPr>
        <p:spPr>
          <a:xfrm>
            <a:off x="4114800" y="4305300"/>
            <a:ext cx="1104900" cy="2286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476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E759-0B71-190A-6BF9-50F274D41D42}"/>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F7A4A756-6ABB-39DF-E6CF-03CDBE61A1F2}"/>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采用不同方式制作一个</a:t>
            </a:r>
            <a:r>
              <a:rPr lang="en-US" altLang="zh-CN" sz="1800" i="1" dirty="0" err="1">
                <a:effectLst/>
                <a:latin typeface="Times New Roman" panose="02020603050405020304" pitchFamily="18" charset="0"/>
                <a:ea typeface="宋体" panose="02010600030101010101" pitchFamily="2" charset="-122"/>
              </a:rPr>
              <a:t>SpatialPoints</a:t>
            </a:r>
            <a:r>
              <a:rPr lang="zh-CN" altLang="en-US" dirty="0">
                <a:latin typeface="+mj-lt"/>
                <a:ea typeface="+mj-ea"/>
                <a:sym typeface="Consolas" panose="020B0609020204030204" pitchFamily="49" charset="0"/>
              </a:rPr>
              <a:t>空间点数据对象：</a:t>
            </a:r>
            <a:endParaRPr lang="en-US" altLang="zh-CN" b="1"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8F074C46-3D46-B672-B727-D2CDC42A691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A2634DB2-6367-FA69-EBD6-1BC4B766B438}"/>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7</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1D7A37F5-CE10-3733-54F3-383541A0735D}"/>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sp>
        <p:nvSpPr>
          <p:cNvPr id="2" name="文本框 1">
            <a:extLst>
              <a:ext uri="{FF2B5EF4-FFF2-40B4-BE49-F238E27FC236}">
                <a16:creationId xmlns:a16="http://schemas.microsoft.com/office/drawing/2014/main" id="{5F767D8B-4717-32A6-B6C5-55FFE1418FC9}"/>
              </a:ext>
            </a:extLst>
          </p:cNvPr>
          <p:cNvSpPr txBox="1"/>
          <p:nvPr/>
        </p:nvSpPr>
        <p:spPr>
          <a:xfrm>
            <a:off x="370921" y="2235935"/>
            <a:ext cx="4546292" cy="35394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y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p>
          <a:p>
            <a:pPr indent="127000" algn="l">
              <a:buNone/>
            </a:pP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SpatialPoints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p>
          <a:p>
            <a:pPr indent="127000" algn="l">
              <a:buNone/>
            </a:pP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SpatialPoints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p>
          <a:p>
            <a:pPr indent="127000" algn="l">
              <a:buNone/>
            </a:pP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SpatialPoints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40FB3BED-CC90-1F13-BEFC-7116363DB25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614" t="6744" r="11148" b="11368"/>
          <a:stretch/>
        </p:blipFill>
        <p:spPr bwMode="auto">
          <a:xfrm>
            <a:off x="4935869" y="2286000"/>
            <a:ext cx="3810000" cy="32385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586632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D5F37-A690-4635-75E7-5999C8CE9770}"/>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0FAEE043-D087-1460-7103-45984A05FE52}"/>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在前面的基础上，尝试制作一个</a:t>
            </a:r>
            <a:r>
              <a:rPr lang="en-US" altLang="zh-CN" i="1" dirty="0" err="1">
                <a:latin typeface="+mj-lt"/>
                <a:ea typeface="+mj-ea"/>
                <a:sym typeface="Consolas" panose="020B0609020204030204" pitchFamily="49" charset="0"/>
              </a:rPr>
              <a:t>SpatialPointsDataFrame</a:t>
            </a:r>
            <a:r>
              <a:rPr lang="zh-CN" altLang="en-US" dirty="0">
                <a:latin typeface="+mj-lt"/>
                <a:ea typeface="+mj-ea"/>
                <a:sym typeface="Consolas" panose="020B0609020204030204" pitchFamily="49" charset="0"/>
              </a:rPr>
              <a:t>对象：</a:t>
            </a:r>
            <a:endParaRPr lang="en-US" altLang="zh-CN" b="1"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256D6566-D8D2-7106-F912-0EDADB358EE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40597905-3060-A234-2CB0-83897E9BE04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8</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ADE6352C-A044-5340-C413-EFD075D8304C}"/>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sp>
        <p:nvSpPr>
          <p:cNvPr id="2" name="文本框 1">
            <a:extLst>
              <a:ext uri="{FF2B5EF4-FFF2-40B4-BE49-F238E27FC236}">
                <a16:creationId xmlns:a16="http://schemas.microsoft.com/office/drawing/2014/main" id="{1366DB35-28D6-49C6-4745-4CF8F204CCC2}"/>
              </a:ext>
            </a:extLst>
          </p:cNvPr>
          <p:cNvSpPr txBox="1"/>
          <p:nvPr/>
        </p:nvSpPr>
        <p:spPr>
          <a:xfrm>
            <a:off x="403385" y="2286000"/>
            <a:ext cx="7020480" cy="10772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SpatialPointsDataFrame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data=</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Spt_df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endParaRPr lang="zh-CN" altLang="zh-CN" sz="1600" dirty="0">
              <a:effectLst/>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BD77B9D5-4882-8A4F-3121-7CE727396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56" y="3581400"/>
            <a:ext cx="5128260" cy="2293620"/>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4FC9DD10-3AFA-13DA-E4B0-FE455049B729}"/>
              </a:ext>
            </a:extLst>
          </p:cNvPr>
          <p:cNvSpPr txBox="1"/>
          <p:nvPr/>
        </p:nvSpPr>
        <p:spPr>
          <a:xfrm>
            <a:off x="1158723" y="6019800"/>
            <a:ext cx="4101925" cy="307777"/>
          </a:xfrm>
          <a:prstGeom prst="rect">
            <a:avLst/>
          </a:prstGeom>
          <a:noFill/>
        </p:spPr>
        <p:txBody>
          <a:bodyPr wrap="square">
            <a:spAutoFit/>
          </a:bodyPr>
          <a:lstStyle/>
          <a:p>
            <a:pPr algn="ctr"/>
            <a:r>
              <a:rPr lang="en-US" altLang="zh-CN" sz="1400" i="1" dirty="0" err="1">
                <a:effectLst/>
                <a:latin typeface="+mn-lt"/>
                <a:ea typeface="+mj-ea"/>
              </a:rPr>
              <a:t>SpatialPointsDataFrame</a:t>
            </a:r>
            <a:r>
              <a:rPr lang="zh-CN" altLang="zh-CN" sz="1400" dirty="0">
                <a:effectLst/>
                <a:latin typeface="+mn-lt"/>
                <a:ea typeface="+mj-ea"/>
                <a:cs typeface="Times New Roman" panose="02020603050405020304" pitchFamily="18" charset="0"/>
              </a:rPr>
              <a:t>对象的组成结构</a:t>
            </a:r>
            <a:endParaRPr lang="zh-CN" altLang="en-US" sz="1400" dirty="0">
              <a:latin typeface="+mn-lt"/>
              <a:ea typeface="+mj-ea"/>
            </a:endParaRPr>
          </a:p>
        </p:txBody>
      </p:sp>
      <p:pic>
        <p:nvPicPr>
          <p:cNvPr id="8" name="图片 7">
            <a:extLst>
              <a:ext uri="{FF2B5EF4-FFF2-40B4-BE49-F238E27FC236}">
                <a16:creationId xmlns:a16="http://schemas.microsoft.com/office/drawing/2014/main" id="{A66F2FB9-EAE1-49F6-A8DA-4C0C37B466B0}"/>
              </a:ext>
            </a:extLst>
          </p:cNvPr>
          <p:cNvPicPr>
            <a:picLocks noChangeAspect="1"/>
          </p:cNvPicPr>
          <p:nvPr/>
        </p:nvPicPr>
        <p:blipFill rotWithShape="1">
          <a:blip r:embed="rId3">
            <a:extLst>
              <a:ext uri="{28A0092B-C50C-407E-A947-70E740481C1C}">
                <a14:useLocalDpi xmlns:a14="http://schemas.microsoft.com/office/drawing/2010/main" val="0"/>
              </a:ext>
            </a:extLst>
          </a:blip>
          <a:srcRect l="2934" r="1"/>
          <a:stretch/>
        </p:blipFill>
        <p:spPr bwMode="auto">
          <a:xfrm>
            <a:off x="6362700" y="3704309"/>
            <a:ext cx="2057400" cy="2059888"/>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95B155CA-59B5-23E4-E011-C053C6CC52E6}"/>
              </a:ext>
            </a:extLst>
          </p:cNvPr>
          <p:cNvSpPr txBox="1"/>
          <p:nvPr/>
        </p:nvSpPr>
        <p:spPr>
          <a:xfrm>
            <a:off x="5456807" y="5875020"/>
            <a:ext cx="4101925" cy="523220"/>
          </a:xfrm>
          <a:prstGeom prst="rect">
            <a:avLst/>
          </a:prstGeom>
          <a:noFill/>
        </p:spPr>
        <p:txBody>
          <a:bodyPr wrap="square">
            <a:spAutoFit/>
          </a:bodyPr>
          <a:lstStyle/>
          <a:p>
            <a:pPr algn="ctr"/>
            <a:r>
              <a:rPr lang="en-US" altLang="zh-CN" sz="1400" i="1" dirty="0" err="1">
                <a:effectLst/>
                <a:latin typeface="+mn-lt"/>
                <a:ea typeface="+mj-ea"/>
              </a:rPr>
              <a:t>SpatialPointsDataFrame</a:t>
            </a:r>
            <a:endParaRPr lang="en-US" altLang="zh-CN" sz="1400" i="1" dirty="0">
              <a:effectLst/>
              <a:latin typeface="+mn-lt"/>
              <a:ea typeface="+mj-ea"/>
            </a:endParaRPr>
          </a:p>
          <a:p>
            <a:pPr algn="ctr"/>
            <a:r>
              <a:rPr lang="zh-CN" altLang="en-US" sz="1400" dirty="0">
                <a:effectLst/>
                <a:latin typeface="+mn-lt"/>
                <a:ea typeface="+mj-ea"/>
              </a:rPr>
              <a:t>对象属性数据输出</a:t>
            </a:r>
            <a:endParaRPr lang="zh-CN" altLang="en-US" sz="1400" dirty="0">
              <a:latin typeface="+mn-lt"/>
              <a:ea typeface="+mj-ea"/>
            </a:endParaRPr>
          </a:p>
        </p:txBody>
      </p:sp>
    </p:spTree>
    <p:extLst>
      <p:ext uri="{BB962C8B-B14F-4D97-AF65-F5344CB8AC3E}">
        <p14:creationId xmlns:p14="http://schemas.microsoft.com/office/powerpoint/2010/main" val="663984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3F87-6D8E-8CEA-8A34-799725449823}"/>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9C4EA201-AE7A-1AAF-9952-02D70C94CC69}"/>
              </a:ext>
            </a:extLst>
          </p:cNvPr>
          <p:cNvSpPr/>
          <p:nvPr/>
        </p:nvSpPr>
        <p:spPr>
          <a:xfrm>
            <a:off x="403385" y="1709627"/>
            <a:ext cx="8337229" cy="2120068"/>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a:t>
            </a:r>
            <a:r>
              <a:rPr lang="en-US" altLang="zh-CN" b="1" dirty="0">
                <a:latin typeface="+mj-lt"/>
                <a:ea typeface="+mj-ea"/>
                <a:sym typeface="Consolas" panose="020B0609020204030204" pitchFamily="49" charset="0"/>
              </a:rPr>
              <a:t>R</a:t>
            </a:r>
            <a:r>
              <a:rPr lang="zh-CN" altLang="en-US" dirty="0">
                <a:latin typeface="+mj-lt"/>
                <a:ea typeface="+mj-ea"/>
                <a:sym typeface="Consolas" panose="020B0609020204030204" pitchFamily="49" charset="0"/>
              </a:rPr>
              <a:t>中，基础类</a:t>
            </a:r>
            <a:r>
              <a:rPr lang="en-US" altLang="zh-CN" i="1" dirty="0">
                <a:latin typeface="+mj-lt"/>
                <a:ea typeface="+mj-ea"/>
                <a:sym typeface="Consolas" panose="020B0609020204030204" pitchFamily="49" charset="0"/>
              </a:rPr>
              <a:t>Line</a:t>
            </a:r>
            <a:r>
              <a:rPr lang="zh-CN" altLang="en-US" dirty="0">
                <a:latin typeface="+mj-lt"/>
                <a:ea typeface="+mj-ea"/>
                <a:sym typeface="Consolas" panose="020B0609020204030204" pitchFamily="49" charset="0"/>
              </a:rPr>
              <a:t>定义了线对象（实质上为折线），由一系列的二维坐标点（表示为两列的数值矩阵）顺次连接而成。由若干个</a:t>
            </a:r>
            <a:r>
              <a:rPr lang="en-US" altLang="zh-CN" i="1" dirty="0">
                <a:latin typeface="+mj-lt"/>
                <a:ea typeface="+mj-ea"/>
                <a:sym typeface="Consolas" panose="020B0609020204030204" pitchFamily="49" charset="0"/>
              </a:rPr>
              <a:t>Line</a:t>
            </a:r>
            <a:r>
              <a:rPr lang="zh-CN" altLang="en-US" dirty="0">
                <a:latin typeface="+mj-lt"/>
                <a:ea typeface="+mj-ea"/>
                <a:sym typeface="Consolas" panose="020B0609020204030204" pitchFamily="49" charset="0"/>
              </a:rPr>
              <a:t>对象与标识符</a:t>
            </a:r>
            <a:r>
              <a:rPr lang="en-US" altLang="zh-CN" dirty="0">
                <a:latin typeface="+mj-lt"/>
                <a:ea typeface="+mj-ea"/>
                <a:sym typeface="Consolas" panose="020B0609020204030204" pitchFamily="49" charset="0"/>
              </a:rPr>
              <a:t>(ID)</a:t>
            </a:r>
            <a:r>
              <a:rPr lang="zh-CN" altLang="en-US" dirty="0">
                <a:latin typeface="+mj-lt"/>
                <a:ea typeface="+mj-ea"/>
                <a:sym typeface="Consolas" panose="020B0609020204030204" pitchFamily="49" charset="0"/>
              </a:rPr>
              <a:t>共同构成线对象集合类</a:t>
            </a:r>
            <a:r>
              <a:rPr lang="en-US" altLang="zh-CN" i="1" dirty="0">
                <a:latin typeface="+mj-lt"/>
                <a:ea typeface="+mj-ea"/>
                <a:sym typeface="Consolas" panose="020B0609020204030204" pitchFamily="49" charset="0"/>
              </a:rPr>
              <a:t>Lines</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将</a:t>
            </a:r>
            <a:r>
              <a:rPr lang="en-US" altLang="zh-CN" b="1" i="1" dirty="0">
                <a:latin typeface="+mj-lt"/>
                <a:ea typeface="+mj-ea"/>
                <a:sym typeface="Consolas" panose="020B0609020204030204" pitchFamily="49" charset="0"/>
              </a:rPr>
              <a:t>Spatial</a:t>
            </a:r>
            <a:r>
              <a:rPr lang="zh-CN" altLang="en-US" dirty="0">
                <a:latin typeface="+mj-lt"/>
                <a:ea typeface="+mj-ea"/>
                <a:sym typeface="Consolas" panose="020B0609020204030204" pitchFamily="49" charset="0"/>
              </a:rPr>
              <a:t>对象与</a:t>
            </a:r>
            <a:r>
              <a:rPr lang="en-US" altLang="zh-CN" i="1" dirty="0">
                <a:latin typeface="+mj-lt"/>
                <a:ea typeface="+mj-ea"/>
                <a:sym typeface="Consolas" panose="020B0609020204030204" pitchFamily="49" charset="0"/>
              </a:rPr>
              <a:t>Lines</a:t>
            </a:r>
            <a:r>
              <a:rPr lang="zh-CN" altLang="en-US" dirty="0">
                <a:latin typeface="+mj-lt"/>
                <a:ea typeface="+mj-ea"/>
                <a:sym typeface="Consolas" panose="020B0609020204030204" pitchFamily="49" charset="0"/>
              </a:rPr>
              <a:t>对象结合在一起，便构成空间线数据亚类</a:t>
            </a:r>
            <a:r>
              <a:rPr lang="en-US" altLang="zh-CN" b="1" i="1" dirty="0" err="1">
                <a:latin typeface="+mj-lt"/>
                <a:ea typeface="+mj-ea"/>
                <a:sym typeface="Consolas" panose="020B0609020204030204" pitchFamily="49" charset="0"/>
              </a:rPr>
              <a:t>SpatialLines</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类似地，添加</a:t>
            </a:r>
            <a:r>
              <a:rPr lang="en-US" altLang="zh-CN" dirty="0" err="1">
                <a:latin typeface="+mj-lt"/>
                <a:ea typeface="+mj-ea"/>
                <a:sym typeface="Consolas" panose="020B0609020204030204" pitchFamily="49" charset="0"/>
              </a:rPr>
              <a:t>data.frame</a:t>
            </a:r>
            <a:r>
              <a:rPr lang="zh-CN" altLang="en-US" dirty="0">
                <a:latin typeface="+mj-lt"/>
                <a:ea typeface="+mj-ea"/>
                <a:sym typeface="Consolas" panose="020B0609020204030204" pitchFamily="49" charset="0"/>
              </a:rPr>
              <a:t>对象的属性数据后，构成</a:t>
            </a:r>
            <a:r>
              <a:rPr lang="en-US" altLang="zh-CN" b="1" i="1" dirty="0" err="1">
                <a:latin typeface="+mj-lt"/>
                <a:ea typeface="+mj-ea"/>
                <a:sym typeface="Consolas" panose="020B0609020204030204" pitchFamily="49" charset="0"/>
              </a:rPr>
              <a:t>SpatialLinesDataFrame</a:t>
            </a:r>
            <a:r>
              <a:rPr lang="zh-CN" altLang="en-US" dirty="0">
                <a:latin typeface="+mj-lt"/>
                <a:ea typeface="+mj-ea"/>
                <a:sym typeface="Consolas" panose="020B0609020204030204" pitchFamily="49" charset="0"/>
              </a:rPr>
              <a:t>类。</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F0D372B1-5581-4BE5-9D84-D43B3F28692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228A1B39-DE3A-405C-2A5C-2071747BAB9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9</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86F1837A-3AED-811A-BA19-96C423852B87}"/>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a:t>
            </a:r>
            <a:r>
              <a:rPr lang="zh-CN" altLang="en-US" sz="2400" b="1" dirty="0">
                <a:latin typeface="+mn-lt"/>
                <a:ea typeface="微软雅黑" panose="020B0503020204020204" pitchFamily="34" charset="-122"/>
                <a:cs typeface="+mn-ea"/>
                <a:sym typeface="Consolas" panose="020B0609020204030204" pitchFamily="49" charset="0"/>
              </a:rPr>
              <a:t>线数据</a:t>
            </a:r>
          </a:p>
        </p:txBody>
      </p:sp>
      <p:pic>
        <p:nvPicPr>
          <p:cNvPr id="4" name="图片 3" descr="6-7">
            <a:extLst>
              <a:ext uri="{FF2B5EF4-FFF2-40B4-BE49-F238E27FC236}">
                <a16:creationId xmlns:a16="http://schemas.microsoft.com/office/drawing/2014/main" id="{AC1C3B78-26CC-C7E5-AB91-F98F4E362E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0869" y="4129778"/>
            <a:ext cx="5382260" cy="158051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2956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49D6E-1DE0-B5CB-F66D-DFD458BE9D8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B9572D6C-871B-5606-0E2D-1A1D592086E6}"/>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制作空间线数据对象：</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66FA874F-5B2A-7FAA-9F83-A7167BB6171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D3D133E5-0033-BA85-5059-8EA6A047E988}"/>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10</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579299F3-9888-4D43-0482-67B05F52927C}"/>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a:t>
            </a:r>
            <a:r>
              <a:rPr lang="zh-CN" altLang="en-US" sz="2400" b="1" dirty="0">
                <a:latin typeface="+mn-lt"/>
                <a:ea typeface="微软雅黑" panose="020B0503020204020204" pitchFamily="34" charset="-122"/>
                <a:cs typeface="+mn-ea"/>
                <a:sym typeface="Consolas" panose="020B0609020204030204" pitchFamily="49" charset="0"/>
              </a:rPr>
              <a:t>线数据</a:t>
            </a:r>
          </a:p>
        </p:txBody>
      </p:sp>
      <p:sp>
        <p:nvSpPr>
          <p:cNvPr id="2" name="文本框 1">
            <a:extLst>
              <a:ext uri="{FF2B5EF4-FFF2-40B4-BE49-F238E27FC236}">
                <a16:creationId xmlns:a16="http://schemas.microsoft.com/office/drawing/2014/main" id="{087DF709-E1F3-D79E-C5BE-49D9D8BA7D8C}"/>
              </a:ext>
            </a:extLst>
          </p:cNvPr>
          <p:cNvSpPr txBox="1"/>
          <p:nvPr/>
        </p:nvSpPr>
        <p:spPr>
          <a:xfrm>
            <a:off x="403385" y="2225264"/>
            <a:ext cx="7020480" cy="304698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l1a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l2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Sl1 &lt;- Line(l1)</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Sl1a &lt;- Line(l1a)</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Sl2 &lt;- Line(l2)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 = Lines(</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(Sl1, Sl1a), ID=</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S2 = Lines(</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(Sl2), ID=</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SpatialLines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(S1,S2))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cols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SpatialLinesDataFrame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cols, match.ID = F)</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02161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04E1D-D2A2-5C07-11A6-260BB73AD44A}"/>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EDE3FE99-C003-3295-D2C8-9555FE80DB05}"/>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进一步了解</a:t>
            </a:r>
            <a:r>
              <a:rPr lang="en-US" altLang="zh-CN" i="1" dirty="0" err="1">
                <a:latin typeface="+mj-lt"/>
                <a:ea typeface="+mj-ea"/>
                <a:sym typeface="Consolas" panose="020B0609020204030204" pitchFamily="49" charset="0"/>
              </a:rPr>
              <a:t>SpatialLinesDataFrame</a:t>
            </a:r>
            <a:r>
              <a:rPr lang="zh-CN" altLang="en-US" dirty="0">
                <a:latin typeface="+mj-lt"/>
                <a:ea typeface="+mj-ea"/>
                <a:sym typeface="Consolas" panose="020B0609020204030204" pitchFamily="49" charset="0"/>
              </a:rPr>
              <a:t>对象的组成结构：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320264A0-90C2-62F0-EBA7-E3CE79CEA2B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130A96E7-D412-F7EF-C61E-B7A3040884D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11</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0A633CE6-4086-7C73-075A-41B2CE7C3857}"/>
              </a:ext>
            </a:extLst>
          </p:cNvPr>
          <p:cNvSpPr/>
          <p:nvPr/>
        </p:nvSpPr>
        <p:spPr>
          <a:xfrm>
            <a:off x="493156"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a:t>
            </a:r>
            <a:r>
              <a:rPr lang="zh-CN" altLang="en-US" sz="2400" b="1" dirty="0">
                <a:latin typeface="+mn-lt"/>
                <a:ea typeface="微软雅黑" panose="020B0503020204020204" pitchFamily="34" charset="-122"/>
                <a:cs typeface="+mn-ea"/>
                <a:sym typeface="Consolas" panose="020B0609020204030204" pitchFamily="49" charset="0"/>
              </a:rPr>
              <a:t>线数据</a:t>
            </a:r>
          </a:p>
        </p:txBody>
      </p:sp>
      <p:sp>
        <p:nvSpPr>
          <p:cNvPr id="2" name="文本框 1">
            <a:extLst>
              <a:ext uri="{FF2B5EF4-FFF2-40B4-BE49-F238E27FC236}">
                <a16:creationId xmlns:a16="http://schemas.microsoft.com/office/drawing/2014/main" id="{E402513C-D6EE-9CCA-0182-B4D347E2C747}"/>
              </a:ext>
            </a:extLst>
          </p:cNvPr>
          <p:cNvSpPr txBox="1"/>
          <p:nvPr/>
        </p:nvSpPr>
        <p:spPr>
          <a:xfrm>
            <a:off x="403385" y="2225264"/>
            <a:ext cx="7020480" cy="58477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Sl_df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82EE717-00CD-799D-B6B1-F26E744D0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 y="3072121"/>
            <a:ext cx="5274310" cy="3016885"/>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C017FD1E-C7C4-E42D-EBF5-4C12C830E93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493" t="9313" r="14604" b="8638"/>
          <a:stretch/>
        </p:blipFill>
        <p:spPr bwMode="auto">
          <a:xfrm>
            <a:off x="5986496" y="3217141"/>
            <a:ext cx="2874738" cy="2604594"/>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7" name="文本框 6">
            <a:extLst>
              <a:ext uri="{FF2B5EF4-FFF2-40B4-BE49-F238E27FC236}">
                <a16:creationId xmlns:a16="http://schemas.microsoft.com/office/drawing/2014/main" id="{16F02F51-C253-EAA0-8A6E-8BE3B7964218}"/>
              </a:ext>
            </a:extLst>
          </p:cNvPr>
          <p:cNvSpPr txBox="1"/>
          <p:nvPr/>
        </p:nvSpPr>
        <p:spPr>
          <a:xfrm>
            <a:off x="929092" y="6207323"/>
            <a:ext cx="4101925" cy="307777"/>
          </a:xfrm>
          <a:prstGeom prst="rect">
            <a:avLst/>
          </a:prstGeom>
          <a:noFill/>
        </p:spPr>
        <p:txBody>
          <a:bodyPr wrap="square">
            <a:spAutoFit/>
          </a:bodyPr>
          <a:lstStyle/>
          <a:p>
            <a:pPr algn="ctr"/>
            <a:r>
              <a:rPr lang="en-US" altLang="zh-CN" sz="1400" i="1" dirty="0" err="1">
                <a:effectLst/>
                <a:latin typeface="+mj-lt"/>
                <a:ea typeface="+mj-ea"/>
              </a:rPr>
              <a:t>SpatialLinesDataFrame</a:t>
            </a:r>
            <a:r>
              <a:rPr lang="zh-CN" altLang="zh-CN" sz="1400" dirty="0">
                <a:effectLst/>
                <a:latin typeface="+mj-lt"/>
                <a:ea typeface="+mj-ea"/>
                <a:cs typeface="Times New Roman" panose="02020603050405020304" pitchFamily="18" charset="0"/>
              </a:rPr>
              <a:t>对象的组成结构</a:t>
            </a:r>
            <a:endParaRPr lang="zh-CN" altLang="en-US" sz="1400" dirty="0">
              <a:latin typeface="+mj-lt"/>
              <a:ea typeface="+mj-ea"/>
            </a:endParaRPr>
          </a:p>
        </p:txBody>
      </p:sp>
      <p:sp>
        <p:nvSpPr>
          <p:cNvPr id="8" name="文本框 7">
            <a:extLst>
              <a:ext uri="{FF2B5EF4-FFF2-40B4-BE49-F238E27FC236}">
                <a16:creationId xmlns:a16="http://schemas.microsoft.com/office/drawing/2014/main" id="{12F29D7F-6F0E-283B-0B77-292BA7F96048}"/>
              </a:ext>
            </a:extLst>
          </p:cNvPr>
          <p:cNvSpPr txBox="1"/>
          <p:nvPr/>
        </p:nvSpPr>
        <p:spPr>
          <a:xfrm>
            <a:off x="5372902" y="6019800"/>
            <a:ext cx="4101925" cy="523220"/>
          </a:xfrm>
          <a:prstGeom prst="rect">
            <a:avLst/>
          </a:prstGeom>
          <a:noFill/>
        </p:spPr>
        <p:txBody>
          <a:bodyPr wrap="square">
            <a:spAutoFit/>
          </a:bodyPr>
          <a:lstStyle/>
          <a:p>
            <a:pPr algn="ctr"/>
            <a:r>
              <a:rPr lang="en-US" altLang="zh-CN" sz="1400" i="1" dirty="0" err="1">
                <a:effectLst/>
                <a:latin typeface="+mj-lt"/>
                <a:ea typeface="+mj-ea"/>
              </a:rPr>
              <a:t>SpatialLinesDataFrame</a:t>
            </a:r>
            <a:endParaRPr lang="en-US" altLang="zh-CN" sz="1400" i="1" dirty="0">
              <a:effectLst/>
              <a:latin typeface="+mj-lt"/>
              <a:ea typeface="+mj-ea"/>
            </a:endParaRPr>
          </a:p>
          <a:p>
            <a:pPr algn="ctr"/>
            <a:r>
              <a:rPr lang="zh-CN" altLang="en-US" sz="1400" dirty="0">
                <a:effectLst/>
                <a:latin typeface="+mj-lt"/>
                <a:ea typeface="+mj-ea"/>
              </a:rPr>
              <a:t>对象结果</a:t>
            </a:r>
            <a:endParaRPr lang="zh-CN" altLang="en-US" sz="1400" dirty="0">
              <a:latin typeface="+mj-lt"/>
              <a:ea typeface="+mj-ea"/>
            </a:endParaRPr>
          </a:p>
        </p:txBody>
      </p:sp>
    </p:spTree>
    <p:extLst>
      <p:ext uri="{BB962C8B-B14F-4D97-AF65-F5344CB8AC3E}">
        <p14:creationId xmlns:p14="http://schemas.microsoft.com/office/powerpoint/2010/main" val="2482038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ACECD-153A-C517-A3D6-26009390E257}"/>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CD0EEC4B-309F-B334-1DA7-D09AF2D3082D}"/>
              </a:ext>
            </a:extLst>
          </p:cNvPr>
          <p:cNvSpPr/>
          <p:nvPr/>
        </p:nvSpPr>
        <p:spPr>
          <a:xfrm>
            <a:off x="403385" y="1709627"/>
            <a:ext cx="8337229" cy="1705210"/>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与空间线数据对象类似，在</a:t>
            </a:r>
            <a:r>
              <a:rPr lang="en-US" altLang="zh-CN" b="1" dirty="0">
                <a:latin typeface="+mj-lt"/>
                <a:ea typeface="+mj-ea"/>
                <a:sym typeface="Consolas" panose="020B0609020204030204" pitchFamily="49" charset="0"/>
              </a:rPr>
              <a:t>R</a:t>
            </a:r>
            <a:r>
              <a:rPr lang="zh-CN" altLang="en-US" dirty="0">
                <a:latin typeface="+mj-lt"/>
                <a:ea typeface="+mj-ea"/>
                <a:sym typeface="Consolas" panose="020B0609020204030204" pitchFamily="49" charset="0"/>
              </a:rPr>
              <a:t>中可定义表达空间面（多边形）数据的亚类</a:t>
            </a:r>
            <a:r>
              <a:rPr lang="en-US" altLang="zh-CN" b="1" i="1" dirty="0" err="1">
                <a:latin typeface="+mj-lt"/>
                <a:ea typeface="+mj-ea"/>
                <a:sym typeface="Consolas" panose="020B0609020204030204" pitchFamily="49" charset="0"/>
              </a:rPr>
              <a:t>SpatialPolygons</a:t>
            </a:r>
            <a:r>
              <a:rPr lang="zh-CN" altLang="en-US" dirty="0">
                <a:latin typeface="+mj-lt"/>
                <a:ea typeface="+mj-ea"/>
                <a:sym typeface="Consolas" panose="020B0609020204030204" pitchFamily="49" charset="0"/>
              </a:rPr>
              <a:t>和</a:t>
            </a:r>
            <a:r>
              <a:rPr lang="en-US" altLang="zh-CN" b="1" i="1" dirty="0" err="1">
                <a:latin typeface="+mj-lt"/>
                <a:ea typeface="+mj-ea"/>
                <a:sym typeface="Consolas" panose="020B0609020204030204" pitchFamily="49" charset="0"/>
              </a:rPr>
              <a:t>SpatialPolygonsDataFrame</a:t>
            </a:r>
            <a:r>
              <a:rPr lang="zh-CN" altLang="en-US" dirty="0">
                <a:latin typeface="+mj-lt"/>
                <a:ea typeface="+mj-ea"/>
                <a:sym typeface="Consolas" panose="020B0609020204030204" pitchFamily="49" charset="0"/>
              </a:rPr>
              <a:t>对象。</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面状多边形数据与线数据的本质区别在于，</a:t>
            </a:r>
            <a:r>
              <a:rPr lang="zh-CN" altLang="en-US" b="1" dirty="0">
                <a:latin typeface="+mj-lt"/>
                <a:ea typeface="+mj-ea"/>
                <a:sym typeface="Consolas" panose="020B0609020204030204" pitchFamily="49" charset="0"/>
              </a:rPr>
              <a:t>多边形对象是由闭合折线构成</a:t>
            </a:r>
            <a:r>
              <a:rPr lang="zh-CN" altLang="en-US" dirty="0">
                <a:latin typeface="+mj-lt"/>
                <a:ea typeface="+mj-ea"/>
                <a:sym typeface="Consolas" panose="020B0609020204030204" pitchFamily="49" charset="0"/>
              </a:rPr>
              <a:t>，即在多边形对象的两列坐标序列矩阵中，起始点和终点的坐标是相同的。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9039E3A5-82F8-F9C5-7BF1-C28766B4BF0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91F49622-CCE7-48CB-A890-E68059901F60}"/>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12</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EB0080E9-5C59-1CE1-7854-48C8A7BADADE}"/>
              </a:ext>
            </a:extLst>
          </p:cNvPr>
          <p:cNvSpPr/>
          <p:nvPr/>
        </p:nvSpPr>
        <p:spPr>
          <a:xfrm>
            <a:off x="493157"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pic>
        <p:nvPicPr>
          <p:cNvPr id="2" name="图片 1" descr="6-10">
            <a:extLst>
              <a:ext uri="{FF2B5EF4-FFF2-40B4-BE49-F238E27FC236}">
                <a16:creationId xmlns:a16="http://schemas.microsoft.com/office/drawing/2014/main" id="{E3C16FFA-35BF-B789-718C-F155F18B0B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700" y="3733800"/>
            <a:ext cx="5619010" cy="1866900"/>
          </a:xfrm>
          <a:prstGeom prst="rect">
            <a:avLst/>
          </a:prstGeom>
          <a:ln>
            <a:noFill/>
          </a:ln>
          <a:effectLst>
            <a:outerShdw blurRad="190500" algn="tl" rotWithShape="0">
              <a:srgbClr val="000000">
                <a:alpha val="70000"/>
              </a:srgbClr>
            </a:outerShdw>
          </a:effectLst>
        </p:spPr>
      </p:pic>
      <p:sp>
        <p:nvSpPr>
          <p:cNvPr id="13" name="文本框 12">
            <a:extLst>
              <a:ext uri="{FF2B5EF4-FFF2-40B4-BE49-F238E27FC236}">
                <a16:creationId xmlns:a16="http://schemas.microsoft.com/office/drawing/2014/main" id="{15FFF80D-8319-4119-24EE-0DF657C4AF79}"/>
              </a:ext>
            </a:extLst>
          </p:cNvPr>
          <p:cNvSpPr txBox="1"/>
          <p:nvPr/>
        </p:nvSpPr>
        <p:spPr>
          <a:xfrm>
            <a:off x="6019800" y="3619500"/>
            <a:ext cx="3009900" cy="2275559"/>
          </a:xfrm>
          <a:prstGeom prst="rect">
            <a:avLst/>
          </a:prstGeom>
          <a:noFill/>
        </p:spPr>
        <p:txBody>
          <a:bodyPr wrap="square">
            <a:spAutoFit/>
          </a:bodyPr>
          <a:lstStyle/>
          <a:p>
            <a:pPr indent="304800" algn="just">
              <a:lnSpc>
                <a:spcPct val="150000"/>
              </a:lnSpc>
              <a:buNone/>
            </a:pPr>
            <a:r>
              <a:rPr lang="zh-CN" altLang="zh-CN" sz="1200" dirty="0">
                <a:effectLst/>
                <a:latin typeface="+mj-lt"/>
                <a:ea typeface="+mj-ea"/>
              </a:rPr>
              <a:t>①</a:t>
            </a:r>
            <a:r>
              <a:rPr lang="en-US" altLang="zh-CN" sz="1200" i="1" dirty="0" err="1">
                <a:effectLst/>
                <a:latin typeface="+mj-lt"/>
                <a:ea typeface="+mj-ea"/>
              </a:rPr>
              <a:t>labpt</a:t>
            </a:r>
            <a:r>
              <a:rPr lang="zh-CN" altLang="zh-CN" sz="1200" dirty="0">
                <a:effectLst/>
                <a:latin typeface="+mj-lt"/>
                <a:ea typeface="+mj-ea"/>
              </a:rPr>
              <a:t>：标签点位置，多为多边形对象的质心，针对复杂多边形对象时为面积最大的构成多边形的标签点位置；</a:t>
            </a:r>
          </a:p>
          <a:p>
            <a:pPr indent="304800" algn="just">
              <a:lnSpc>
                <a:spcPct val="150000"/>
              </a:lnSpc>
              <a:buNone/>
            </a:pPr>
            <a:r>
              <a:rPr lang="zh-CN" altLang="zh-CN" sz="1200" dirty="0">
                <a:effectLst/>
                <a:latin typeface="+mj-lt"/>
                <a:ea typeface="+mj-ea"/>
              </a:rPr>
              <a:t>②</a:t>
            </a:r>
            <a:r>
              <a:rPr lang="en-US" altLang="zh-CN" sz="1200" i="1" dirty="0">
                <a:effectLst/>
                <a:latin typeface="+mj-lt"/>
                <a:ea typeface="+mj-ea"/>
              </a:rPr>
              <a:t>area</a:t>
            </a:r>
            <a:r>
              <a:rPr lang="zh-CN" altLang="zh-CN" sz="1200" dirty="0">
                <a:effectLst/>
                <a:latin typeface="+mj-lt"/>
                <a:ea typeface="+mj-ea"/>
              </a:rPr>
              <a:t>：多边形面积；</a:t>
            </a:r>
          </a:p>
          <a:p>
            <a:pPr indent="304800" algn="just">
              <a:lnSpc>
                <a:spcPct val="150000"/>
              </a:lnSpc>
              <a:buNone/>
            </a:pPr>
            <a:r>
              <a:rPr lang="zh-CN" altLang="zh-CN" sz="1200" dirty="0">
                <a:effectLst/>
                <a:latin typeface="+mj-lt"/>
                <a:ea typeface="+mj-ea"/>
              </a:rPr>
              <a:t>③</a:t>
            </a:r>
            <a:r>
              <a:rPr lang="en-US" altLang="zh-CN" sz="1200" i="1" dirty="0">
                <a:effectLst/>
                <a:latin typeface="+mj-lt"/>
                <a:ea typeface="+mj-ea"/>
              </a:rPr>
              <a:t>hole</a:t>
            </a:r>
            <a:r>
              <a:rPr lang="zh-CN" altLang="zh-CN" sz="1200" dirty="0">
                <a:effectLst/>
                <a:latin typeface="+mj-lt"/>
                <a:ea typeface="+mj-ea"/>
              </a:rPr>
              <a:t>：多边形对象中是否包含空洞的逻辑标识符；</a:t>
            </a:r>
          </a:p>
          <a:p>
            <a:pPr indent="304800" algn="just">
              <a:lnSpc>
                <a:spcPct val="150000"/>
              </a:lnSpc>
              <a:buNone/>
            </a:pPr>
            <a:r>
              <a:rPr lang="zh-CN" altLang="zh-CN" sz="1200" dirty="0">
                <a:effectLst/>
                <a:latin typeface="+mj-lt"/>
                <a:ea typeface="+mj-ea"/>
              </a:rPr>
              <a:t>④</a:t>
            </a:r>
            <a:r>
              <a:rPr lang="en-US" altLang="zh-CN" sz="1200" i="1" dirty="0" err="1">
                <a:effectLst/>
                <a:latin typeface="+mj-lt"/>
                <a:ea typeface="+mj-ea"/>
              </a:rPr>
              <a:t>ringDir</a:t>
            </a:r>
            <a:r>
              <a:rPr lang="zh-CN" altLang="zh-CN" sz="1200" dirty="0">
                <a:effectLst/>
                <a:latin typeface="+mj-lt"/>
                <a:ea typeface="+mj-ea"/>
              </a:rPr>
              <a:t>：多边形对象坐标的方向；</a:t>
            </a:r>
          </a:p>
          <a:p>
            <a:pPr indent="304800" algn="just">
              <a:lnSpc>
                <a:spcPct val="150000"/>
              </a:lnSpc>
            </a:pPr>
            <a:r>
              <a:rPr lang="zh-CN" altLang="zh-CN" sz="1200" dirty="0">
                <a:effectLst/>
                <a:latin typeface="+mj-lt"/>
                <a:ea typeface="+mj-ea"/>
              </a:rPr>
              <a:t>⑤</a:t>
            </a:r>
            <a:r>
              <a:rPr lang="en-US" altLang="zh-CN" sz="1200" i="1" dirty="0" err="1">
                <a:effectLst/>
                <a:latin typeface="+mj-lt"/>
                <a:ea typeface="+mj-ea"/>
              </a:rPr>
              <a:t>plotOrder</a:t>
            </a:r>
            <a:r>
              <a:rPr lang="en-US" altLang="zh-CN" sz="1200" dirty="0" err="1">
                <a:effectLst/>
                <a:latin typeface="+mj-lt"/>
                <a:ea typeface="+mj-ea"/>
              </a:rPr>
              <a:t>：多边形对象的绘制顺序</a:t>
            </a:r>
            <a:endParaRPr lang="zh-CN" altLang="zh-CN" sz="1200" dirty="0">
              <a:effectLst/>
              <a:latin typeface="+mj-lt"/>
              <a:ea typeface="+mj-ea"/>
            </a:endParaRPr>
          </a:p>
        </p:txBody>
      </p:sp>
      <p:sp>
        <p:nvSpPr>
          <p:cNvPr id="15" name="矩形 14">
            <a:extLst>
              <a:ext uri="{FF2B5EF4-FFF2-40B4-BE49-F238E27FC236}">
                <a16:creationId xmlns:a16="http://schemas.microsoft.com/office/drawing/2014/main" id="{010955D0-EDC2-E548-160B-866EBBFF98DF}"/>
              </a:ext>
            </a:extLst>
          </p:cNvPr>
          <p:cNvSpPr/>
          <p:nvPr/>
        </p:nvSpPr>
        <p:spPr>
          <a:xfrm>
            <a:off x="3619500" y="4076700"/>
            <a:ext cx="2362201" cy="914400"/>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E8B8076-2F17-61E2-F785-FA1832A0F63A}"/>
              </a:ext>
            </a:extLst>
          </p:cNvPr>
          <p:cNvSpPr/>
          <p:nvPr/>
        </p:nvSpPr>
        <p:spPr>
          <a:xfrm>
            <a:off x="6057900" y="3619500"/>
            <a:ext cx="2971800" cy="2362200"/>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12274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EE543-2BDD-4EC2-B32B-B26BCBB943F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CD748323-83E9-4665-A044-5C2AC63F9FFA}"/>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制作空间面数据对象：</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3B0D8476-BEEE-8D70-9D80-7C5A87C05ED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F9464412-0CB1-A3EE-E433-46828F39660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13</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D085656D-D638-2849-AE1E-AC6619EB2925}"/>
              </a:ext>
            </a:extLst>
          </p:cNvPr>
          <p:cNvSpPr/>
          <p:nvPr/>
        </p:nvSpPr>
        <p:spPr>
          <a:xfrm>
            <a:off x="493157"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sp>
        <p:nvSpPr>
          <p:cNvPr id="2" name="文本框 1">
            <a:extLst>
              <a:ext uri="{FF2B5EF4-FFF2-40B4-BE49-F238E27FC236}">
                <a16:creationId xmlns:a16="http://schemas.microsoft.com/office/drawing/2014/main" id="{38603548-8880-108A-1B92-C34157074B52}"/>
              </a:ext>
            </a:extLst>
          </p:cNvPr>
          <p:cNvSpPr txBox="1"/>
          <p:nvPr/>
        </p:nvSpPr>
        <p:spPr>
          <a:xfrm>
            <a:off x="266700" y="2225264"/>
            <a:ext cx="9464516" cy="255454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Poly1 = Polygon(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Poly2 = Polygon(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Poly3 = Polygon(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Poly4 = Polygon(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hole =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Polys1 = Polygons(</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(Poly1),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Polys2 = Polygons(</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(Poly2),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Polys3 = Polygons(</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(Poly3, Poly4),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"s3/4"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SpatialPolygons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(Polys1,Polys2,Polys3),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SpatialPolygonsDataFrame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match.ID = F)</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262620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294C-6967-24E1-C3AD-4F03E9CFFA13}"/>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25BA339-9375-EA81-4395-5A3622826B1D}"/>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进一步了解</a:t>
            </a:r>
            <a:r>
              <a:rPr lang="en-US" altLang="zh-CN" sz="1800" i="1" dirty="0" err="1">
                <a:effectLst/>
                <a:latin typeface="Times New Roman" panose="02020603050405020304" pitchFamily="18" charset="0"/>
                <a:ea typeface="宋体" panose="02010600030101010101" pitchFamily="2" charset="-122"/>
              </a:rPr>
              <a:t>SpatialPolygonsDataFrame</a:t>
            </a:r>
            <a:r>
              <a:rPr lang="zh-CN" altLang="en-US" dirty="0">
                <a:latin typeface="+mj-lt"/>
                <a:ea typeface="+mj-ea"/>
                <a:sym typeface="Consolas" panose="020B0609020204030204" pitchFamily="49" charset="0"/>
              </a:rPr>
              <a:t>对象的组成结构：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66530F97-57D3-67AF-F728-4DB0FC5AD55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4E23B7E3-4D8A-D03E-A05E-8865AA06F86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14</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E148B638-97DC-8950-4EF3-C24613CD51D2}"/>
              </a:ext>
            </a:extLst>
          </p:cNvPr>
          <p:cNvSpPr/>
          <p:nvPr/>
        </p:nvSpPr>
        <p:spPr>
          <a:xfrm>
            <a:off x="493157" y="1208621"/>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sp>
        <p:nvSpPr>
          <p:cNvPr id="2" name="文本框 1">
            <a:extLst>
              <a:ext uri="{FF2B5EF4-FFF2-40B4-BE49-F238E27FC236}">
                <a16:creationId xmlns:a16="http://schemas.microsoft.com/office/drawing/2014/main" id="{897C2E70-3E62-E5EA-9E4A-FFDDDFACC0C7}"/>
              </a:ext>
            </a:extLst>
          </p:cNvPr>
          <p:cNvSpPr txBox="1"/>
          <p:nvPr/>
        </p:nvSpPr>
        <p:spPr>
          <a:xfrm>
            <a:off x="403385" y="2225264"/>
            <a:ext cx="7020480" cy="64633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SPoly_df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SPoly_df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pbg</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"white"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8EA20B74-5B25-2C38-20ED-63BC5A6D1759}"/>
              </a:ext>
            </a:extLst>
          </p:cNvPr>
          <p:cNvSpPr txBox="1"/>
          <p:nvPr/>
        </p:nvSpPr>
        <p:spPr>
          <a:xfrm>
            <a:off x="2621784" y="5748728"/>
            <a:ext cx="4101925" cy="307777"/>
          </a:xfrm>
          <a:prstGeom prst="rect">
            <a:avLst/>
          </a:prstGeom>
          <a:noFill/>
        </p:spPr>
        <p:txBody>
          <a:bodyPr wrap="square">
            <a:spAutoFit/>
          </a:bodyPr>
          <a:lstStyle/>
          <a:p>
            <a:pPr algn="ctr"/>
            <a:r>
              <a:rPr lang="en-US" altLang="zh-CN" sz="1400" i="1" dirty="0" err="1">
                <a:effectLst/>
                <a:latin typeface="+mj-lt"/>
                <a:ea typeface="+mj-ea"/>
              </a:rPr>
              <a:t>SpatialPolygonsDataFrame</a:t>
            </a:r>
            <a:r>
              <a:rPr lang="zh-CN" altLang="en-US" sz="1400" dirty="0">
                <a:effectLst/>
                <a:latin typeface="+mj-lt"/>
                <a:ea typeface="+mj-ea"/>
              </a:rPr>
              <a:t>对象结果</a:t>
            </a:r>
            <a:endParaRPr lang="zh-CN" altLang="en-US" sz="1400" dirty="0">
              <a:latin typeface="+mj-lt"/>
              <a:ea typeface="+mj-ea"/>
            </a:endParaRPr>
          </a:p>
        </p:txBody>
      </p:sp>
      <p:pic>
        <p:nvPicPr>
          <p:cNvPr id="6" name="图片 5">
            <a:extLst>
              <a:ext uri="{FF2B5EF4-FFF2-40B4-BE49-F238E27FC236}">
                <a16:creationId xmlns:a16="http://schemas.microsoft.com/office/drawing/2014/main" id="{0C951606-DA9B-DF8F-81B4-B9D038A46BD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4406" b="26140"/>
          <a:stretch/>
        </p:blipFill>
        <p:spPr bwMode="auto">
          <a:xfrm>
            <a:off x="2035592" y="3505200"/>
            <a:ext cx="5274310" cy="19558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96543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A032-C58A-F9D8-EDC5-39B1D82C284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28E5B61-30E4-E30B-0CAB-4A7F1957B3C6}"/>
              </a:ext>
            </a:extLst>
          </p:cNvPr>
          <p:cNvSpPr/>
          <p:nvPr/>
        </p:nvSpPr>
        <p:spPr>
          <a:xfrm>
            <a:off x="403385" y="1709627"/>
            <a:ext cx="8337229" cy="2120709"/>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栅格数据</a:t>
            </a:r>
            <a:r>
              <a:rPr lang="zh-CN" altLang="en-US" dirty="0">
                <a:latin typeface="+mj-lt"/>
                <a:ea typeface="+mj-ea"/>
                <a:sym typeface="Consolas" panose="020B0609020204030204" pitchFamily="49" charset="0"/>
              </a:rPr>
              <a:t>是与点、线、面矢量数据对应的另一基础空间数据类型，在函数包</a:t>
            </a:r>
            <a:r>
              <a:rPr lang="en-US" altLang="zh-CN" b="1" dirty="0" err="1">
                <a:latin typeface="+mj-lt"/>
                <a:ea typeface="+mj-ea"/>
                <a:sym typeface="Consolas" panose="020B0609020204030204" pitchFamily="49" charset="0"/>
              </a:rPr>
              <a:t>sp</a:t>
            </a:r>
            <a:r>
              <a:rPr lang="zh-CN" altLang="en-US" dirty="0">
                <a:latin typeface="+mj-lt"/>
                <a:ea typeface="+mj-ea"/>
                <a:sym typeface="Consolas" panose="020B0609020204030204" pitchFamily="49" charset="0"/>
              </a:rPr>
              <a:t>中被定义为</a:t>
            </a:r>
            <a:r>
              <a:rPr lang="en-US" altLang="zh-CN" b="1" i="1" dirty="0" err="1">
                <a:latin typeface="+mj-lt"/>
                <a:ea typeface="+mj-ea"/>
                <a:sym typeface="Consolas" panose="020B0609020204030204" pitchFamily="49" charset="0"/>
              </a:rPr>
              <a:t>SpatialGrids</a:t>
            </a:r>
            <a:r>
              <a:rPr lang="zh-CN" altLang="en-US" dirty="0">
                <a:latin typeface="+mj-lt"/>
                <a:ea typeface="+mj-ea"/>
                <a:sym typeface="Consolas" panose="020B0609020204030204" pitchFamily="49" charset="0"/>
              </a:rPr>
              <a:t>和</a:t>
            </a:r>
            <a:r>
              <a:rPr lang="en-US" altLang="zh-CN" b="1" i="1" dirty="0" err="1">
                <a:latin typeface="+mj-lt"/>
                <a:ea typeface="+mj-ea"/>
                <a:sym typeface="Consolas" panose="020B0609020204030204" pitchFamily="49" charset="0"/>
              </a:rPr>
              <a:t>SpatialPixels</a:t>
            </a:r>
            <a:r>
              <a:rPr lang="zh-CN" altLang="en-US" dirty="0">
                <a:latin typeface="+mj-lt"/>
                <a:ea typeface="+mj-ea"/>
                <a:sym typeface="Consolas" panose="020B0609020204030204" pitchFamily="49" charset="0"/>
              </a:rPr>
              <a:t>亚类。</a:t>
            </a:r>
            <a:endParaRPr lang="en-US" altLang="zh-CN" dirty="0">
              <a:latin typeface="+mj-lt"/>
              <a:ea typeface="+mj-ea"/>
              <a:sym typeface="Consolas" panose="020B0609020204030204" pitchFamily="49" charset="0"/>
            </a:endParaRPr>
          </a:p>
          <a:p>
            <a:pPr marL="285750" indent="-285750" algn="just">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其中，</a:t>
            </a:r>
            <a:r>
              <a:rPr lang="en-US" altLang="zh-CN" b="1" i="1" dirty="0" err="1">
                <a:latin typeface="+mj-lt"/>
                <a:ea typeface="+mj-ea"/>
                <a:sym typeface="Consolas" panose="020B0609020204030204" pitchFamily="49" charset="0"/>
              </a:rPr>
              <a:t>SpatialPixels</a:t>
            </a:r>
            <a:r>
              <a:rPr lang="zh-CN" altLang="en-US" dirty="0">
                <a:latin typeface="+mj-lt"/>
                <a:ea typeface="+mj-ea"/>
                <a:sym typeface="Consolas" panose="020B0609020204030204" pitchFamily="49" charset="0"/>
              </a:rPr>
              <a:t>派生于</a:t>
            </a:r>
            <a:r>
              <a:rPr lang="en-US" altLang="zh-CN" b="1" i="1" dirty="0" err="1">
                <a:latin typeface="+mj-lt"/>
                <a:ea typeface="+mj-ea"/>
                <a:sym typeface="Consolas" panose="020B0609020204030204" pitchFamily="49" charset="0"/>
              </a:rPr>
              <a:t>SpatialPoints</a:t>
            </a:r>
            <a:r>
              <a:rPr lang="zh-CN" altLang="en-US" dirty="0">
                <a:latin typeface="+mj-lt"/>
                <a:ea typeface="+mj-ea"/>
                <a:sym typeface="Consolas" panose="020B0609020204030204" pitchFamily="49" charset="0"/>
              </a:rPr>
              <a:t>类，</a:t>
            </a:r>
            <a:r>
              <a:rPr lang="en-US" altLang="zh-CN" b="1" i="1" dirty="0" err="1">
                <a:latin typeface="+mj-lt"/>
                <a:ea typeface="+mj-ea"/>
                <a:sym typeface="Consolas" panose="020B0609020204030204" pitchFamily="49" charset="0"/>
              </a:rPr>
              <a:t>SpatialGrids</a:t>
            </a:r>
            <a:r>
              <a:rPr lang="zh-CN" altLang="en-US" dirty="0">
                <a:latin typeface="+mj-lt"/>
                <a:ea typeface="+mj-ea"/>
                <a:sym typeface="Consolas" panose="020B0609020204030204" pitchFamily="49" charset="0"/>
              </a:rPr>
              <a:t>和</a:t>
            </a:r>
            <a:r>
              <a:rPr lang="en-US" altLang="zh-CN" b="1" i="1" dirty="0" err="1">
                <a:latin typeface="+mj-lt"/>
                <a:ea typeface="+mj-ea"/>
                <a:sym typeface="Consolas" panose="020B0609020204030204" pitchFamily="49" charset="0"/>
              </a:rPr>
              <a:t>SpatialPixels</a:t>
            </a:r>
            <a:r>
              <a:rPr lang="zh-CN" altLang="en-US" dirty="0">
                <a:latin typeface="+mj-lt"/>
                <a:ea typeface="+mj-ea"/>
                <a:sym typeface="Consolas" panose="020B0609020204030204" pitchFamily="49" charset="0"/>
              </a:rPr>
              <a:t>与</a:t>
            </a:r>
            <a:r>
              <a:rPr lang="en-US" altLang="zh-CN" b="1" i="1" dirty="0" err="1">
                <a:latin typeface="+mj-lt"/>
                <a:ea typeface="+mj-ea"/>
                <a:sym typeface="Consolas" panose="020B0609020204030204" pitchFamily="49" charset="0"/>
              </a:rPr>
              <a:t>SpatialPoints</a:t>
            </a:r>
            <a:r>
              <a:rPr lang="zh-CN" altLang="en-US" dirty="0">
                <a:latin typeface="+mj-lt"/>
                <a:ea typeface="+mj-ea"/>
                <a:sym typeface="Consolas" panose="020B0609020204030204" pitchFamily="49" charset="0"/>
              </a:rPr>
              <a:t>对象的实质区别在于，</a:t>
            </a:r>
            <a:r>
              <a:rPr lang="en-US" altLang="zh-CN" b="1" i="1" dirty="0" err="1">
                <a:latin typeface="+mj-lt"/>
                <a:ea typeface="+mj-ea"/>
                <a:sym typeface="Consolas" panose="020B0609020204030204" pitchFamily="49" charset="0"/>
              </a:rPr>
              <a:t>SpatialGrids</a:t>
            </a:r>
            <a:r>
              <a:rPr lang="zh-CN" altLang="en-US" dirty="0">
                <a:latin typeface="+mj-lt"/>
                <a:ea typeface="+mj-ea"/>
                <a:sym typeface="Consolas" panose="020B0609020204030204" pitchFamily="49" charset="0"/>
              </a:rPr>
              <a:t>利用了</a:t>
            </a:r>
            <a:r>
              <a:rPr lang="en-US" altLang="zh-CN" b="1" i="1" dirty="0" err="1">
                <a:latin typeface="+mj-lt"/>
                <a:ea typeface="+mj-ea"/>
                <a:sym typeface="Consolas" panose="020B0609020204030204" pitchFamily="49" charset="0"/>
              </a:rPr>
              <a:t>GridTopology</a:t>
            </a:r>
            <a:r>
              <a:rPr lang="zh-CN" altLang="en-US" dirty="0">
                <a:latin typeface="+mj-lt"/>
                <a:ea typeface="+mj-ea"/>
                <a:sym typeface="Consolas" panose="020B0609020204030204" pitchFamily="49" charset="0"/>
              </a:rPr>
              <a:t>对象定义任意维度下的规则格网单元。</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46C1D145-FF86-E5D9-84B3-A79D081E8A7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5EA87375-DBE8-9204-73F7-E0D0C369C06A}"/>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15</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1C655A67-DD63-F61B-67D2-181AE5DA5962}"/>
              </a:ext>
            </a:extLst>
          </p:cNvPr>
          <p:cNvSpPr/>
          <p:nvPr/>
        </p:nvSpPr>
        <p:spPr>
          <a:xfrm>
            <a:off x="339271" y="1208621"/>
            <a:ext cx="1851789"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pic>
        <p:nvPicPr>
          <p:cNvPr id="4" name="图片 3" descr="6-13">
            <a:extLst>
              <a:ext uri="{FF2B5EF4-FFF2-40B4-BE49-F238E27FC236}">
                <a16:creationId xmlns:a16="http://schemas.microsoft.com/office/drawing/2014/main" id="{E99973F2-7CB9-3DF6-B0CF-1E338964F4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3886639"/>
            <a:ext cx="4843145" cy="2748915"/>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07A68D8C-55EB-1624-4A7C-F58D9C6D7052}"/>
              </a:ext>
            </a:extLst>
          </p:cNvPr>
          <p:cNvSpPr txBox="1"/>
          <p:nvPr/>
        </p:nvSpPr>
        <p:spPr>
          <a:xfrm>
            <a:off x="5734392" y="3924300"/>
            <a:ext cx="3142907" cy="890565"/>
          </a:xfrm>
          <a:prstGeom prst="rect">
            <a:avLst/>
          </a:prstGeom>
          <a:noFill/>
        </p:spPr>
        <p:txBody>
          <a:bodyPr wrap="square">
            <a:spAutoFit/>
          </a:bodyPr>
          <a:lstStyle/>
          <a:p>
            <a:pPr indent="304800" algn="just">
              <a:lnSpc>
                <a:spcPct val="150000"/>
              </a:lnSpc>
              <a:buNone/>
            </a:pPr>
            <a:r>
              <a:rPr lang="zh-CN" altLang="en-US" sz="1200" dirty="0">
                <a:effectLst/>
                <a:latin typeface="+mj-lt"/>
                <a:ea typeface="+mj-ea"/>
              </a:rPr>
              <a:t>① </a:t>
            </a:r>
            <a:r>
              <a:rPr lang="en-US" altLang="zh-CN" sz="1200" dirty="0" err="1">
                <a:effectLst/>
                <a:latin typeface="+mj-lt"/>
                <a:ea typeface="+mj-ea"/>
              </a:rPr>
              <a:t>cellcentre.offset</a:t>
            </a:r>
            <a:r>
              <a:rPr lang="zh-CN" altLang="en-US" sz="1200" dirty="0">
                <a:effectLst/>
                <a:latin typeface="+mj-lt"/>
                <a:ea typeface="+mj-ea"/>
              </a:rPr>
              <a:t>：单元格中心坐标；</a:t>
            </a:r>
          </a:p>
          <a:p>
            <a:pPr indent="304800" algn="just">
              <a:lnSpc>
                <a:spcPct val="150000"/>
              </a:lnSpc>
              <a:buNone/>
            </a:pPr>
            <a:r>
              <a:rPr lang="zh-CN" altLang="en-US" sz="1200" dirty="0">
                <a:effectLst/>
                <a:latin typeface="+mj-lt"/>
                <a:ea typeface="+mj-ea"/>
              </a:rPr>
              <a:t>② </a:t>
            </a:r>
            <a:r>
              <a:rPr lang="en-US" altLang="zh-CN" sz="1200" dirty="0" err="1">
                <a:effectLst/>
                <a:latin typeface="+mj-lt"/>
                <a:ea typeface="+mj-ea"/>
              </a:rPr>
              <a:t>cellize</a:t>
            </a:r>
            <a:r>
              <a:rPr lang="zh-CN" altLang="en-US" sz="1200" dirty="0">
                <a:effectLst/>
                <a:latin typeface="+mj-lt"/>
                <a:ea typeface="+mj-ea"/>
              </a:rPr>
              <a:t>：每个维度下单元格大小；</a:t>
            </a:r>
          </a:p>
          <a:p>
            <a:pPr indent="304800" algn="just">
              <a:lnSpc>
                <a:spcPct val="150000"/>
              </a:lnSpc>
              <a:buNone/>
            </a:pPr>
            <a:r>
              <a:rPr lang="zh-CN" altLang="en-US" sz="1200" dirty="0">
                <a:effectLst/>
                <a:latin typeface="+mj-lt"/>
                <a:ea typeface="+mj-ea"/>
              </a:rPr>
              <a:t>③ </a:t>
            </a:r>
            <a:r>
              <a:rPr lang="en-US" altLang="zh-CN" sz="1200" dirty="0" err="1">
                <a:effectLst/>
                <a:latin typeface="+mj-lt"/>
                <a:ea typeface="+mj-ea"/>
              </a:rPr>
              <a:t>cells.dim</a:t>
            </a:r>
            <a:r>
              <a:rPr lang="zh-CN" altLang="en-US" sz="1200" dirty="0">
                <a:effectLst/>
                <a:latin typeface="+mj-lt"/>
                <a:ea typeface="+mj-ea"/>
              </a:rPr>
              <a:t>：每个维度下单元格数量</a:t>
            </a:r>
            <a:r>
              <a:rPr lang="zh-CN" altLang="en-US" sz="1200" dirty="0">
                <a:latin typeface="+mj-lt"/>
                <a:ea typeface="+mj-ea"/>
              </a:rPr>
              <a:t>。</a:t>
            </a:r>
            <a:endParaRPr lang="zh-CN" altLang="en-US" sz="1200" dirty="0">
              <a:effectLst/>
              <a:latin typeface="+mj-lt"/>
              <a:ea typeface="+mj-ea"/>
            </a:endParaRPr>
          </a:p>
        </p:txBody>
      </p:sp>
      <p:sp>
        <p:nvSpPr>
          <p:cNvPr id="6" name="矩形 5">
            <a:extLst>
              <a:ext uri="{FF2B5EF4-FFF2-40B4-BE49-F238E27FC236}">
                <a16:creationId xmlns:a16="http://schemas.microsoft.com/office/drawing/2014/main" id="{293D8166-A030-54D3-BB10-9A902A202C55}"/>
              </a:ext>
            </a:extLst>
          </p:cNvPr>
          <p:cNvSpPr/>
          <p:nvPr/>
        </p:nvSpPr>
        <p:spPr>
          <a:xfrm>
            <a:off x="6057900" y="3924300"/>
            <a:ext cx="2682714" cy="952500"/>
          </a:xfrm>
          <a:prstGeom prst="rect">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E47E524-B826-8E11-2554-CF55576E4A73}"/>
              </a:ext>
            </a:extLst>
          </p:cNvPr>
          <p:cNvSpPr/>
          <p:nvPr/>
        </p:nvSpPr>
        <p:spPr>
          <a:xfrm>
            <a:off x="4495799" y="4152901"/>
            <a:ext cx="1101907" cy="609600"/>
          </a:xfrm>
          <a:prstGeom prst="rect">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564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C3B9-4E52-CC44-3040-777DB0E15317}"/>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C5CCC792-E144-0CA2-06E6-7801D633009F}"/>
              </a:ext>
            </a:extLst>
          </p:cNvPr>
          <p:cNvSpPr/>
          <p:nvPr/>
        </p:nvSpPr>
        <p:spPr>
          <a:xfrm>
            <a:off x="403385" y="1709627"/>
            <a:ext cx="8337229"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体会</a:t>
            </a:r>
            <a:r>
              <a:rPr lang="en-US" altLang="zh-CN" i="1" dirty="0" err="1">
                <a:latin typeface="+mj-lt"/>
                <a:ea typeface="+mj-ea"/>
                <a:sym typeface="Consolas" panose="020B0609020204030204" pitchFamily="49" charset="0"/>
              </a:rPr>
              <a:t>SpatialPixelsDataFrame</a:t>
            </a:r>
            <a:r>
              <a:rPr lang="zh-CN" altLang="en-US" dirty="0">
                <a:latin typeface="+mj-lt"/>
                <a:ea typeface="+mj-ea"/>
                <a:sym typeface="Consolas" panose="020B0609020204030204" pitchFamily="49" charset="0"/>
              </a:rPr>
              <a:t>类栅格数据的构造与使用：</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AA72DC5C-B240-03C9-48E5-A057267F1B7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440E1707-6E74-122E-4AEE-FE0F1F117EBA}"/>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16</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CD85ADD7-85A0-A0CB-2E80-D61BDD658E3B}"/>
              </a:ext>
            </a:extLst>
          </p:cNvPr>
          <p:cNvSpPr/>
          <p:nvPr/>
        </p:nvSpPr>
        <p:spPr>
          <a:xfrm>
            <a:off x="339271" y="1208621"/>
            <a:ext cx="1851789"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sp>
        <p:nvSpPr>
          <p:cNvPr id="2" name="文本框 1">
            <a:extLst>
              <a:ext uri="{FF2B5EF4-FFF2-40B4-BE49-F238E27FC236}">
                <a16:creationId xmlns:a16="http://schemas.microsoft.com/office/drawing/2014/main" id="{78C05B83-248A-908E-A8D4-AF6AF1AC4F97}"/>
              </a:ext>
            </a:extLst>
          </p:cNvPr>
          <p:cNvSpPr txBox="1"/>
          <p:nvPr/>
        </p:nvSpPr>
        <p:spPr>
          <a:xfrm>
            <a:off x="343475" y="2168342"/>
            <a:ext cx="56007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(z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xc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c(rep(c(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xc+yc</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gridded(</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8B53045-C655-1ED1-9278-DF6C86E7B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509887"/>
            <a:ext cx="5274310" cy="31083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0891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2A5ED-CA2E-4D04-6FF2-2F629A113FC4}"/>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4EA527BF-3C00-C4A7-0F09-94D8FC3E0755}"/>
              </a:ext>
            </a:extLst>
          </p:cNvPr>
          <p:cNvSpPr/>
          <p:nvPr/>
        </p:nvSpPr>
        <p:spPr>
          <a:xfrm>
            <a:off x="403385" y="1709627"/>
            <a:ext cx="8626315"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针对</a:t>
            </a:r>
            <a:r>
              <a:rPr lang="en-US" altLang="zh-CN" i="1" dirty="0" err="1">
                <a:latin typeface="+mj-lt"/>
                <a:ea typeface="+mj-ea"/>
                <a:sym typeface="Consolas" panose="020B0609020204030204" pitchFamily="49" charset="0"/>
              </a:rPr>
              <a:t>SpatialPixelsDataFrame</a:t>
            </a:r>
            <a:r>
              <a:rPr lang="zh-CN" altLang="en-US" dirty="0">
                <a:latin typeface="+mj-lt"/>
                <a:ea typeface="+mj-ea"/>
                <a:sym typeface="Consolas" panose="020B0609020204030204" pitchFamily="49" charset="0"/>
              </a:rPr>
              <a:t>对象中的单元进行属性验证（如值为</a:t>
            </a:r>
            <a:r>
              <a:rPr lang="en-US" altLang="zh-CN" dirty="0">
                <a:latin typeface="+mj-lt"/>
                <a:ea typeface="+mj-ea"/>
                <a:sym typeface="Consolas" panose="020B0609020204030204" pitchFamily="49" charset="0"/>
              </a:rPr>
              <a:t>NA</a:t>
            </a:r>
            <a:r>
              <a:rPr lang="zh-CN" altLang="en-US" dirty="0">
                <a:latin typeface="+mj-lt"/>
                <a:ea typeface="+mj-ea"/>
                <a:sym typeface="Consolas" panose="020B0609020204030204" pitchFamily="49" charset="0"/>
              </a:rPr>
              <a:t>时的效果）：</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26435CCF-A0FD-8007-D152-EDF794009F4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5A702ACA-1C7E-D0DC-5B30-83ACDE6093BB}"/>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17</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BF13B844-7B23-CAFF-AE81-A44C1D8C5E30}"/>
              </a:ext>
            </a:extLst>
          </p:cNvPr>
          <p:cNvSpPr/>
          <p:nvPr/>
        </p:nvSpPr>
        <p:spPr>
          <a:xfrm>
            <a:off x="339271" y="1208621"/>
            <a:ext cx="1851789"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sp>
        <p:nvSpPr>
          <p:cNvPr id="2" name="文本框 1">
            <a:extLst>
              <a:ext uri="{FF2B5EF4-FFF2-40B4-BE49-F238E27FC236}">
                <a16:creationId xmlns:a16="http://schemas.microsoft.com/office/drawing/2014/main" id="{34D09CCB-2827-D17E-0BE3-A68C674C4E13}"/>
              </a:ext>
            </a:extLst>
          </p:cNvPr>
          <p:cNvSpPr txBox="1"/>
          <p:nvPr/>
        </p:nvSpPr>
        <p:spPr>
          <a:xfrm>
            <a:off x="685800" y="2324100"/>
            <a:ext cx="3580825"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image(</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"z"</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cc = 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z=</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"z"</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zc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as.character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(z)</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zc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[is.na(</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zc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"NA"</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text(cc[,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zc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5197297B-CA90-405B-FA38-EA15EFE9056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174" t="10444" r="12191" b="12929"/>
          <a:stretch/>
        </p:blipFill>
        <p:spPr bwMode="auto">
          <a:xfrm>
            <a:off x="4572001" y="2247900"/>
            <a:ext cx="2933700" cy="43053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64799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98DB8-187D-F002-706A-3EFCC0CBBE76}"/>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1449D41F-CBFF-6DE1-E833-1B6227EB089E}"/>
              </a:ext>
            </a:extLst>
          </p:cNvPr>
          <p:cNvSpPr/>
          <p:nvPr/>
        </p:nvSpPr>
        <p:spPr>
          <a:xfrm>
            <a:off x="403385" y="1709627"/>
            <a:ext cx="8626315"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进一步了解</a:t>
            </a:r>
            <a:r>
              <a:rPr lang="en-US" altLang="zh-CN" i="1" dirty="0" err="1">
                <a:latin typeface="+mj-lt"/>
                <a:ea typeface="+mj-ea"/>
                <a:sym typeface="Consolas" panose="020B0609020204030204" pitchFamily="49" charset="0"/>
              </a:rPr>
              <a:t>SpatialGridsDataFrame</a:t>
            </a:r>
            <a:r>
              <a:rPr lang="zh-CN" altLang="en-US" dirty="0">
                <a:latin typeface="+mj-lt"/>
                <a:ea typeface="+mj-ea"/>
                <a:sym typeface="Consolas" panose="020B0609020204030204" pitchFamily="49" charset="0"/>
              </a:rPr>
              <a:t>对象：</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470102A9-F7C7-8C9B-A458-4C6273CE79D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3.2.1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C75A54E4-0A76-3C2B-9DB6-F91BB18E5D35}"/>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18</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D1C07A58-0AA5-8DEC-473F-20E3D8DB9190}"/>
              </a:ext>
            </a:extLst>
          </p:cNvPr>
          <p:cNvSpPr/>
          <p:nvPr/>
        </p:nvSpPr>
        <p:spPr>
          <a:xfrm>
            <a:off x="339271" y="1208621"/>
            <a:ext cx="1851789"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sp>
        <p:nvSpPr>
          <p:cNvPr id="2" name="文本框 1">
            <a:extLst>
              <a:ext uri="{FF2B5EF4-FFF2-40B4-BE49-F238E27FC236}">
                <a16:creationId xmlns:a16="http://schemas.microsoft.com/office/drawing/2014/main" id="{CB62CF8C-80AB-154E-2843-1BC5A3CD92F9}"/>
              </a:ext>
            </a:extLst>
          </p:cNvPr>
          <p:cNvSpPr txBox="1"/>
          <p:nvPr/>
        </p:nvSpPr>
        <p:spPr>
          <a:xfrm>
            <a:off x="457200" y="2179098"/>
            <a:ext cx="8191500" cy="116955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GridTopology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sg_df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SpatialGridDataFrame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(grid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data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(coordinates(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sg_df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sg_df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text(coordinates(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sg_df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labels=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row.names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sg_df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p>
        </p:txBody>
      </p:sp>
      <p:pic>
        <p:nvPicPr>
          <p:cNvPr id="4" name="图片 3">
            <a:extLst>
              <a:ext uri="{FF2B5EF4-FFF2-40B4-BE49-F238E27FC236}">
                <a16:creationId xmlns:a16="http://schemas.microsoft.com/office/drawing/2014/main" id="{B20F1F32-A24D-148D-01B4-320709C8D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99" y="3509352"/>
            <a:ext cx="5274310" cy="2000885"/>
          </a:xfrm>
          <a:prstGeom prst="rect">
            <a:avLst/>
          </a:prstGeom>
          <a:ln>
            <a:noFill/>
          </a:ln>
          <a:effectLst>
            <a:outerShdw blurRad="190500" algn="tl" rotWithShape="0">
              <a:srgbClr val="000000">
                <a:alpha val="70000"/>
              </a:srgbClr>
            </a:outerShdw>
          </a:effectLst>
        </p:spPr>
      </p:pic>
      <p:pic>
        <p:nvPicPr>
          <p:cNvPr id="6" name="图片 5">
            <a:extLst>
              <a:ext uri="{FF2B5EF4-FFF2-40B4-BE49-F238E27FC236}">
                <a16:creationId xmlns:a16="http://schemas.microsoft.com/office/drawing/2014/main" id="{A07E2BF9-B4B5-A04B-E27B-DFDD95FBD025}"/>
              </a:ext>
            </a:extLst>
          </p:cNvPr>
          <p:cNvPicPr>
            <a:picLocks noChangeAspect="1"/>
          </p:cNvPicPr>
          <p:nvPr/>
        </p:nvPicPr>
        <p:blipFill>
          <a:blip r:embed="rId3" cstate="print">
            <a:extLst>
              <a:ext uri="{28A0092B-C50C-407E-A947-70E740481C1C}">
                <a14:useLocalDpi xmlns:a14="http://schemas.microsoft.com/office/drawing/2010/main" val="0"/>
              </a:ext>
            </a:extLst>
          </a:blip>
          <a:srcRect l="6124"/>
          <a:stretch/>
        </p:blipFill>
        <p:spPr>
          <a:xfrm>
            <a:off x="5753100" y="3332358"/>
            <a:ext cx="3170659" cy="2532531"/>
          </a:xfrm>
          <a:prstGeom prst="rect">
            <a:avLst/>
          </a:prstGeom>
          <a:ln>
            <a:noFill/>
          </a:ln>
          <a:effectLst>
            <a:outerShdw blurRad="190500" algn="tl" rotWithShape="0">
              <a:srgbClr val="000000">
                <a:alpha val="70000"/>
              </a:srgbClr>
            </a:outerShdw>
          </a:effectLst>
        </p:spPr>
      </p:pic>
      <p:sp>
        <p:nvSpPr>
          <p:cNvPr id="8" name="文本框 7">
            <a:extLst>
              <a:ext uri="{FF2B5EF4-FFF2-40B4-BE49-F238E27FC236}">
                <a16:creationId xmlns:a16="http://schemas.microsoft.com/office/drawing/2014/main" id="{A6B66990-7476-1C76-989D-07A99F5142CE}"/>
              </a:ext>
            </a:extLst>
          </p:cNvPr>
          <p:cNvSpPr txBox="1"/>
          <p:nvPr/>
        </p:nvSpPr>
        <p:spPr>
          <a:xfrm>
            <a:off x="1246502" y="5864889"/>
            <a:ext cx="3251304" cy="307777"/>
          </a:xfrm>
          <a:prstGeom prst="rect">
            <a:avLst/>
          </a:prstGeom>
          <a:noFill/>
        </p:spPr>
        <p:txBody>
          <a:bodyPr wrap="square">
            <a:spAutoFit/>
          </a:bodyPr>
          <a:lstStyle/>
          <a:p>
            <a:pPr algn="ctr"/>
            <a:r>
              <a:rPr lang="en-US" altLang="zh-CN" sz="1400" i="1" dirty="0" err="1">
                <a:effectLst/>
                <a:latin typeface="+mn-lt"/>
                <a:ea typeface="+mj-ea"/>
              </a:rPr>
              <a:t>SpatialGridsDataFrame</a:t>
            </a:r>
            <a:r>
              <a:rPr lang="zh-CN" altLang="zh-CN" sz="1400" dirty="0">
                <a:effectLst/>
                <a:latin typeface="+mn-lt"/>
                <a:ea typeface="+mj-ea"/>
                <a:cs typeface="Times New Roman" panose="02020603050405020304" pitchFamily="18" charset="0"/>
              </a:rPr>
              <a:t>对象的组成结构</a:t>
            </a:r>
            <a:endParaRPr lang="zh-CN" altLang="en-US" sz="1400" dirty="0">
              <a:latin typeface="+mn-lt"/>
              <a:ea typeface="+mj-ea"/>
            </a:endParaRPr>
          </a:p>
        </p:txBody>
      </p:sp>
      <p:sp>
        <p:nvSpPr>
          <p:cNvPr id="9" name="文本框 8">
            <a:extLst>
              <a:ext uri="{FF2B5EF4-FFF2-40B4-BE49-F238E27FC236}">
                <a16:creationId xmlns:a16="http://schemas.microsoft.com/office/drawing/2014/main" id="{18B182C5-827F-DE88-D0DD-FED769D4F827}"/>
              </a:ext>
            </a:extLst>
          </p:cNvPr>
          <p:cNvSpPr txBox="1"/>
          <p:nvPr/>
        </p:nvSpPr>
        <p:spPr>
          <a:xfrm>
            <a:off x="5712777" y="5864889"/>
            <a:ext cx="3251304" cy="307777"/>
          </a:xfrm>
          <a:prstGeom prst="rect">
            <a:avLst/>
          </a:prstGeom>
          <a:noFill/>
        </p:spPr>
        <p:txBody>
          <a:bodyPr wrap="square">
            <a:spAutoFit/>
          </a:bodyPr>
          <a:lstStyle/>
          <a:p>
            <a:pPr algn="ctr"/>
            <a:r>
              <a:rPr lang="en-US" altLang="zh-CN" sz="1400" i="1" dirty="0" err="1">
                <a:effectLst/>
                <a:latin typeface="+mn-lt"/>
                <a:ea typeface="+mj-ea"/>
              </a:rPr>
              <a:t>SpatialGridsDataFrame</a:t>
            </a:r>
            <a:r>
              <a:rPr lang="zh-CN" altLang="zh-CN" sz="1400" dirty="0">
                <a:effectLst/>
                <a:latin typeface="+mn-lt"/>
                <a:ea typeface="+mj-ea"/>
                <a:cs typeface="Times New Roman" panose="02020603050405020304" pitchFamily="18" charset="0"/>
              </a:rPr>
              <a:t>对象</a:t>
            </a:r>
            <a:r>
              <a:rPr lang="zh-CN" altLang="en-US" sz="1400" dirty="0">
                <a:effectLst/>
                <a:latin typeface="+mn-lt"/>
                <a:ea typeface="+mj-ea"/>
                <a:cs typeface="Times New Roman" panose="02020603050405020304" pitchFamily="18" charset="0"/>
              </a:rPr>
              <a:t>结果</a:t>
            </a:r>
            <a:endParaRPr lang="zh-CN" altLang="en-US" sz="1400" dirty="0">
              <a:latin typeface="+mn-lt"/>
              <a:ea typeface="+mj-ea"/>
            </a:endParaRPr>
          </a:p>
        </p:txBody>
      </p:sp>
    </p:spTree>
    <p:extLst>
      <p:ext uri="{BB962C8B-B14F-4D97-AF65-F5344CB8AC3E}">
        <p14:creationId xmlns:p14="http://schemas.microsoft.com/office/powerpoint/2010/main" val="2430635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7B34-3965-6E15-8D80-CB26FB0427F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14E2E115-B274-A87C-8FD3-04D10CAD1788}"/>
              </a:ext>
            </a:extLst>
          </p:cNvPr>
          <p:cNvSpPr/>
          <p:nvPr/>
        </p:nvSpPr>
        <p:spPr>
          <a:xfrm>
            <a:off x="403385" y="1600200"/>
            <a:ext cx="8337229" cy="4197559"/>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n-lt"/>
                <a:ea typeface="+mj-ea"/>
                <a:sym typeface="Consolas" panose="020B0609020204030204" pitchFamily="49" charset="0"/>
              </a:rPr>
              <a:t>函数包</a:t>
            </a:r>
            <a:r>
              <a:rPr lang="en-US" altLang="zh-CN" b="1" dirty="0">
                <a:latin typeface="+mn-lt"/>
                <a:ea typeface="+mj-ea"/>
                <a:sym typeface="Consolas" panose="020B0609020204030204" pitchFamily="49" charset="0"/>
              </a:rPr>
              <a:t>sf</a:t>
            </a:r>
            <a:r>
              <a:rPr lang="zh-CN" altLang="en-US" dirty="0">
                <a:latin typeface="+mn-lt"/>
                <a:ea typeface="+mj-ea"/>
                <a:sym typeface="Consolas" panose="020B0609020204030204" pitchFamily="49" charset="0"/>
              </a:rPr>
              <a:t>采用</a:t>
            </a:r>
            <a:r>
              <a:rPr lang="en-US" altLang="zh-CN" dirty="0">
                <a:latin typeface="+mn-lt"/>
                <a:ea typeface="+mj-ea"/>
                <a:sym typeface="Consolas" panose="020B0609020204030204" pitchFamily="49" charset="0"/>
              </a:rPr>
              <a:t>Simple Feature</a:t>
            </a:r>
            <a:r>
              <a:rPr lang="zh-CN" altLang="en-US" dirty="0">
                <a:latin typeface="+mn-lt"/>
                <a:ea typeface="+mj-ea"/>
                <a:sym typeface="Consolas" panose="020B0609020204030204" pitchFamily="49" charset="0"/>
              </a:rPr>
              <a:t>标准，将</a:t>
            </a:r>
            <a:r>
              <a:rPr lang="en-US" altLang="zh-CN" dirty="0">
                <a:latin typeface="+mn-lt"/>
                <a:ea typeface="+mj-ea"/>
                <a:sym typeface="Consolas" panose="020B0609020204030204" pitchFamily="49" charset="0"/>
              </a:rPr>
              <a:t>Simple Feature</a:t>
            </a:r>
            <a:r>
              <a:rPr lang="zh-CN" altLang="en-US" dirty="0">
                <a:latin typeface="+mn-lt"/>
                <a:ea typeface="+mj-ea"/>
                <a:sym typeface="Consolas" panose="020B0609020204030204" pitchFamily="49" charset="0"/>
              </a:rPr>
              <a:t>作为在</a:t>
            </a:r>
            <a:r>
              <a:rPr lang="en-US" altLang="zh-CN" b="1" dirty="0">
                <a:latin typeface="+mn-lt"/>
                <a:ea typeface="+mj-ea"/>
                <a:sym typeface="Consolas" panose="020B0609020204030204" pitchFamily="49" charset="0"/>
              </a:rPr>
              <a:t>R</a:t>
            </a:r>
            <a:r>
              <a:rPr lang="zh-CN" altLang="en-US" dirty="0">
                <a:latin typeface="+mn-lt"/>
                <a:ea typeface="+mj-ea"/>
                <a:sym typeface="Consolas" panose="020B0609020204030204" pitchFamily="49" charset="0"/>
              </a:rPr>
              <a:t>语言的空间对象组织方式，包括空间属性和非空间属性两个部分，其中空间属性即为地理对象的空间几何特征。</a:t>
            </a:r>
            <a:endParaRPr lang="en-US" altLang="zh-CN" dirty="0">
              <a:latin typeface="+mn-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n-lt"/>
                <a:ea typeface="+mj-ea"/>
                <a:sym typeface="Consolas" panose="020B0609020204030204" pitchFamily="49" charset="0"/>
              </a:rPr>
              <a:t>在</a:t>
            </a:r>
            <a:r>
              <a:rPr lang="en-US" altLang="zh-CN" b="1" dirty="0">
                <a:latin typeface="+mn-lt"/>
                <a:ea typeface="+mj-ea"/>
                <a:sym typeface="Consolas" panose="020B0609020204030204" pitchFamily="49" charset="0"/>
              </a:rPr>
              <a:t>sf</a:t>
            </a:r>
            <a:r>
              <a:rPr lang="zh-CN" altLang="en-US" dirty="0">
                <a:latin typeface="+mn-lt"/>
                <a:ea typeface="+mj-ea"/>
                <a:sym typeface="Consolas" panose="020B0609020204030204" pitchFamily="49" charset="0"/>
              </a:rPr>
              <a:t>函数包中，</a:t>
            </a:r>
            <a:r>
              <a:rPr lang="en-US" altLang="zh-CN" dirty="0">
                <a:latin typeface="+mn-lt"/>
                <a:ea typeface="+mj-ea"/>
                <a:sym typeface="Consolas" panose="020B0609020204030204" pitchFamily="49" charset="0"/>
              </a:rPr>
              <a:t>Simple Feature</a:t>
            </a:r>
            <a:r>
              <a:rPr lang="zh-CN" altLang="en-US" dirty="0">
                <a:latin typeface="+mn-lt"/>
                <a:ea typeface="+mj-ea"/>
                <a:sym typeface="Consolas" panose="020B0609020204030204" pitchFamily="49" charset="0"/>
              </a:rPr>
              <a:t>对象主要分为三个子类：</a:t>
            </a:r>
            <a:endParaRPr lang="en-US" altLang="zh-CN" dirty="0">
              <a:latin typeface="+mn-lt"/>
              <a:ea typeface="+mj-ea"/>
              <a:sym typeface="Consolas" panose="020B0609020204030204" pitchFamily="49" charset="0"/>
            </a:endParaRPr>
          </a:p>
          <a:p>
            <a:pPr marL="342900" indent="-342900">
              <a:lnSpc>
                <a:spcPct val="150000"/>
              </a:lnSpc>
              <a:buFont typeface="+mj-ea"/>
              <a:buAutoNum type="circleNumDbPlain"/>
            </a:pPr>
            <a:r>
              <a:rPr lang="en-US" altLang="zh-CN" b="1" dirty="0">
                <a:latin typeface="+mn-lt"/>
                <a:ea typeface="+mj-ea"/>
                <a:sym typeface="Consolas" panose="020B0609020204030204" pitchFamily="49" charset="0"/>
              </a:rPr>
              <a:t>sf(Simple Feature)</a:t>
            </a:r>
            <a:r>
              <a:rPr lang="zh-CN" altLang="en-US" dirty="0">
                <a:latin typeface="+mn-lt"/>
                <a:ea typeface="+mj-ea"/>
                <a:sym typeface="Consolas" panose="020B0609020204030204" pitchFamily="49" charset="0"/>
              </a:rPr>
              <a:t>：一个数据框</a:t>
            </a:r>
            <a:r>
              <a:rPr lang="en-US" altLang="zh-CN" dirty="0">
                <a:latin typeface="+mn-lt"/>
                <a:ea typeface="+mj-ea"/>
                <a:sym typeface="Consolas" panose="020B0609020204030204" pitchFamily="49" charset="0"/>
              </a:rPr>
              <a:t>(</a:t>
            </a:r>
            <a:r>
              <a:rPr lang="en-US" altLang="zh-CN" dirty="0" err="1">
                <a:latin typeface="+mn-lt"/>
                <a:ea typeface="+mj-ea"/>
                <a:sym typeface="Consolas" panose="020B0609020204030204" pitchFamily="49" charset="0"/>
              </a:rPr>
              <a:t>data.frame</a:t>
            </a:r>
            <a:r>
              <a:rPr lang="en-US" altLang="zh-CN"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对象，由包含一到多列非空间属性和一列空间属性</a:t>
            </a:r>
            <a:r>
              <a:rPr lang="en-US" altLang="zh-CN" dirty="0">
                <a:latin typeface="+mn-lt"/>
                <a:ea typeface="+mj-ea"/>
                <a:sym typeface="Consolas" panose="020B0609020204030204" pitchFamily="49" charset="0"/>
              </a:rPr>
              <a:t>(geometry)</a:t>
            </a:r>
            <a:r>
              <a:rPr lang="zh-CN" altLang="en-US" dirty="0">
                <a:latin typeface="+mn-lt"/>
                <a:ea typeface="+mj-ea"/>
                <a:sym typeface="Consolas" panose="020B0609020204030204" pitchFamily="49" charset="0"/>
              </a:rPr>
              <a:t>；</a:t>
            </a:r>
            <a:endParaRPr lang="en-US" altLang="zh-CN" dirty="0">
              <a:latin typeface="+mn-lt"/>
              <a:ea typeface="+mj-ea"/>
              <a:sym typeface="Consolas" panose="020B0609020204030204" pitchFamily="49" charset="0"/>
            </a:endParaRPr>
          </a:p>
          <a:p>
            <a:pPr marL="342900" indent="-342900">
              <a:lnSpc>
                <a:spcPct val="150000"/>
              </a:lnSpc>
              <a:buFont typeface="+mj-ea"/>
              <a:buAutoNum type="circleNumDbPlain"/>
            </a:pPr>
            <a:r>
              <a:rPr lang="en-US" altLang="zh-CN" b="1" dirty="0" err="1">
                <a:latin typeface="+mn-lt"/>
                <a:ea typeface="+mj-ea"/>
                <a:sym typeface="Consolas" panose="020B0609020204030204" pitchFamily="49" charset="0"/>
              </a:rPr>
              <a:t>sfc</a:t>
            </a:r>
            <a:r>
              <a:rPr lang="en-US" altLang="zh-CN" b="1" dirty="0">
                <a:latin typeface="+mn-lt"/>
                <a:ea typeface="+mj-ea"/>
                <a:sym typeface="Consolas" panose="020B0609020204030204" pitchFamily="49" charset="0"/>
              </a:rPr>
              <a:t>(Simple Feature geometry list-column)</a:t>
            </a:r>
            <a:r>
              <a:rPr lang="zh-CN" altLang="en-US" dirty="0">
                <a:latin typeface="+mn-lt"/>
                <a:ea typeface="+mj-ea"/>
                <a:sym typeface="Consolas" panose="020B0609020204030204" pitchFamily="49" charset="0"/>
              </a:rPr>
              <a:t>：一个由空间几何属性组成的列表</a:t>
            </a:r>
            <a:r>
              <a:rPr lang="en-US" altLang="zh-CN" dirty="0">
                <a:latin typeface="+mn-lt"/>
                <a:ea typeface="+mj-ea"/>
                <a:sym typeface="Consolas" panose="020B0609020204030204" pitchFamily="49" charset="0"/>
              </a:rPr>
              <a:t>(list)</a:t>
            </a:r>
            <a:r>
              <a:rPr lang="zh-CN" altLang="en-US" dirty="0">
                <a:latin typeface="+mn-lt"/>
                <a:ea typeface="+mj-ea"/>
                <a:sym typeface="Consolas" panose="020B0609020204030204" pitchFamily="49" charset="0"/>
              </a:rPr>
              <a:t>列；</a:t>
            </a:r>
            <a:endParaRPr lang="en-US" altLang="zh-CN" dirty="0">
              <a:latin typeface="+mn-lt"/>
              <a:ea typeface="+mj-ea"/>
              <a:sym typeface="Consolas" panose="020B0609020204030204" pitchFamily="49" charset="0"/>
            </a:endParaRPr>
          </a:p>
          <a:p>
            <a:pPr marL="342900" indent="-342900">
              <a:lnSpc>
                <a:spcPct val="150000"/>
              </a:lnSpc>
              <a:buFont typeface="+mj-ea"/>
              <a:buAutoNum type="circleNumDbPlain"/>
            </a:pPr>
            <a:r>
              <a:rPr lang="en-US" altLang="zh-CN" b="1" dirty="0" err="1">
                <a:latin typeface="+mn-lt"/>
                <a:ea typeface="+mj-ea"/>
              </a:rPr>
              <a:t>s</a:t>
            </a:r>
            <a:r>
              <a:rPr lang="en-US" altLang="zh-CN" sz="1800" b="1" dirty="0" err="1">
                <a:effectLst/>
                <a:latin typeface="+mn-lt"/>
                <a:ea typeface="+mj-ea"/>
              </a:rPr>
              <a:t>fg</a:t>
            </a:r>
            <a:r>
              <a:rPr lang="en-US" altLang="zh-CN" sz="1800" b="1" dirty="0">
                <a:effectLst/>
                <a:latin typeface="+mn-lt"/>
                <a:ea typeface="+mj-ea"/>
                <a:cs typeface="Times New Roman" panose="02020603050405020304" pitchFamily="18" charset="0"/>
              </a:rPr>
              <a:t>(</a:t>
            </a:r>
            <a:r>
              <a:rPr lang="en-US" altLang="zh-CN" sz="1800" b="1" dirty="0">
                <a:effectLst/>
                <a:latin typeface="+mn-lt"/>
                <a:ea typeface="+mj-ea"/>
              </a:rPr>
              <a:t>Simple Feature geometry</a:t>
            </a:r>
            <a:r>
              <a:rPr lang="en-US" altLang="zh-CN" b="1" dirty="0">
                <a:latin typeface="+mn-lt"/>
                <a:ea typeface="+mj-ea"/>
                <a:cs typeface="Times New Roman" panose="02020603050405020304" pitchFamily="18" charset="0"/>
              </a:rPr>
              <a:t>)</a:t>
            </a:r>
            <a:r>
              <a:rPr lang="en-US" altLang="zh-CN" sz="1800" dirty="0">
                <a:effectLst/>
                <a:latin typeface="+mn-lt"/>
                <a:ea typeface="+mj-ea"/>
                <a:cs typeface="Times New Roman" panose="02020603050405020304" pitchFamily="18" charset="0"/>
              </a:rPr>
              <a:t>：</a:t>
            </a:r>
            <a:r>
              <a:rPr lang="zh-CN" altLang="zh-CN" sz="1800" dirty="0">
                <a:effectLst/>
                <a:latin typeface="+mn-lt"/>
                <a:ea typeface="+mj-ea"/>
                <a:cs typeface="Times New Roman" panose="02020603050405020304" pitchFamily="18" charset="0"/>
              </a:rPr>
              <a:t>一个地理</a:t>
            </a:r>
            <a:r>
              <a:rPr lang="en-US" altLang="zh-CN" sz="1800" dirty="0" err="1">
                <a:effectLst/>
                <a:latin typeface="+mn-lt"/>
                <a:ea typeface="+mj-ea"/>
                <a:cs typeface="Times New Roman" panose="02020603050405020304" pitchFamily="18" charset="0"/>
              </a:rPr>
              <a:t>对象的空间</a:t>
            </a:r>
            <a:r>
              <a:rPr lang="zh-CN" altLang="zh-CN" sz="1800" dirty="0">
                <a:effectLst/>
                <a:latin typeface="+mn-lt"/>
                <a:ea typeface="+mj-ea"/>
                <a:cs typeface="Times New Roman" panose="02020603050405020304" pitchFamily="18" charset="0"/>
              </a:rPr>
              <a:t>几何</a:t>
            </a:r>
            <a:r>
              <a:rPr lang="en-US" altLang="zh-CN" sz="1800" dirty="0" err="1">
                <a:effectLst/>
                <a:latin typeface="+mn-lt"/>
                <a:ea typeface="+mj-ea"/>
                <a:cs typeface="Times New Roman" panose="02020603050405020304" pitchFamily="18" charset="0"/>
              </a:rPr>
              <a:t>属性</a:t>
            </a:r>
            <a:r>
              <a:rPr lang="zh-CN" altLang="en-US" sz="1800" dirty="0">
                <a:effectLst/>
                <a:latin typeface="+mn-lt"/>
                <a:ea typeface="+mj-ea"/>
                <a:cs typeface="Times New Roman" panose="02020603050405020304" pitchFamily="18" charset="0"/>
              </a:rPr>
              <a:t>。</a:t>
            </a:r>
            <a:endParaRPr lang="en-US" altLang="zh-CN" sz="1800" dirty="0">
              <a:effectLst/>
              <a:latin typeface="+mn-lt"/>
              <a:ea typeface="+mj-ea"/>
              <a:cs typeface="Times New Roman" panose="02020603050405020304" pitchFamily="18" charset="0"/>
            </a:endParaRPr>
          </a:p>
          <a:p>
            <a:pPr marL="342900" indent="-342900">
              <a:lnSpc>
                <a:spcPct val="150000"/>
              </a:lnSpc>
              <a:buFont typeface="Wingdings" panose="05000000000000000000" pitchFamily="2" charset="2"/>
              <a:buChar char="ü"/>
            </a:pPr>
            <a:r>
              <a:rPr lang="zh-CN" altLang="en-US" dirty="0">
                <a:latin typeface="+mn-lt"/>
                <a:ea typeface="+mj-ea"/>
                <a:cs typeface="Times New Roman" panose="02020603050405020304" pitchFamily="18" charset="0"/>
                <a:sym typeface="Consolas" panose="020B0609020204030204" pitchFamily="49" charset="0"/>
              </a:rPr>
              <a:t>其中，</a:t>
            </a:r>
            <a:r>
              <a:rPr lang="en-US" altLang="zh-CN" dirty="0">
                <a:latin typeface="+mn-lt"/>
                <a:ea typeface="+mj-ea"/>
                <a:cs typeface="Times New Roman" panose="02020603050405020304" pitchFamily="18" charset="0"/>
                <a:sym typeface="Consolas" panose="020B0609020204030204" pitchFamily="49" charset="0"/>
              </a:rPr>
              <a:t>sf</a:t>
            </a:r>
            <a:r>
              <a:rPr lang="zh-CN" altLang="en-US" dirty="0">
                <a:latin typeface="+mn-lt"/>
                <a:ea typeface="+mj-ea"/>
                <a:cs typeface="Times New Roman" panose="02020603050405020304" pitchFamily="18" charset="0"/>
                <a:sym typeface="Consolas" panose="020B0609020204030204" pitchFamily="49" charset="0"/>
              </a:rPr>
              <a:t>包含</a:t>
            </a:r>
            <a:r>
              <a:rPr lang="en-US" altLang="zh-CN" dirty="0" err="1">
                <a:latin typeface="+mn-lt"/>
                <a:ea typeface="+mj-ea"/>
                <a:cs typeface="Times New Roman" panose="02020603050405020304" pitchFamily="18" charset="0"/>
                <a:sym typeface="Consolas" panose="020B0609020204030204" pitchFamily="49" charset="0"/>
              </a:rPr>
              <a:t>sfc</a:t>
            </a:r>
            <a:r>
              <a:rPr lang="zh-CN" altLang="en-US" dirty="0">
                <a:latin typeface="+mn-lt"/>
                <a:ea typeface="+mj-ea"/>
                <a:cs typeface="Times New Roman" panose="02020603050405020304" pitchFamily="18" charset="0"/>
                <a:sym typeface="Consolas" panose="020B0609020204030204" pitchFamily="49" charset="0"/>
              </a:rPr>
              <a:t>对象，而</a:t>
            </a:r>
            <a:r>
              <a:rPr lang="en-US" altLang="zh-CN" dirty="0" err="1">
                <a:latin typeface="+mn-lt"/>
                <a:ea typeface="+mj-ea"/>
                <a:cs typeface="Times New Roman" panose="02020603050405020304" pitchFamily="18" charset="0"/>
                <a:sym typeface="Consolas" panose="020B0609020204030204" pitchFamily="49" charset="0"/>
              </a:rPr>
              <a:t>sfc</a:t>
            </a:r>
            <a:r>
              <a:rPr lang="zh-CN" altLang="en-US" dirty="0">
                <a:latin typeface="+mn-lt"/>
                <a:ea typeface="+mj-ea"/>
                <a:cs typeface="Times New Roman" panose="02020603050405020304" pitchFamily="18" charset="0"/>
                <a:sym typeface="Consolas" panose="020B0609020204030204" pitchFamily="49" charset="0"/>
              </a:rPr>
              <a:t>由若干个</a:t>
            </a:r>
            <a:r>
              <a:rPr lang="en-US" altLang="zh-CN" dirty="0" err="1">
                <a:latin typeface="+mn-lt"/>
                <a:ea typeface="+mj-ea"/>
                <a:cs typeface="Times New Roman" panose="02020603050405020304" pitchFamily="18" charset="0"/>
                <a:sym typeface="Consolas" panose="020B0609020204030204" pitchFamily="49" charset="0"/>
              </a:rPr>
              <a:t>sfg</a:t>
            </a:r>
            <a:r>
              <a:rPr lang="zh-CN" altLang="en-US" dirty="0">
                <a:latin typeface="+mn-lt"/>
                <a:ea typeface="+mj-ea"/>
                <a:cs typeface="Times New Roman" panose="02020603050405020304" pitchFamily="18" charset="0"/>
                <a:sym typeface="Consolas" panose="020B0609020204030204" pitchFamily="49" charset="0"/>
              </a:rPr>
              <a:t>构成。</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8A941D59-0EB0-673E-2EA0-07C52368CE1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1AF296F2-60FA-6165-1B11-EC4B851A5268}"/>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19</a:t>
            </a:fld>
            <a:endParaRPr lang="zh-CN" altLang="en-US" dirty="0">
              <a:solidFill>
                <a:schemeClr val="bg2">
                  <a:lumMod val="75000"/>
                </a:schemeClr>
              </a:solidFill>
            </a:endParaRPr>
          </a:p>
        </p:txBody>
      </p:sp>
    </p:spTree>
    <p:extLst>
      <p:ext uri="{BB962C8B-B14F-4D97-AF65-F5344CB8AC3E}">
        <p14:creationId xmlns:p14="http://schemas.microsoft.com/office/powerpoint/2010/main" val="4104142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5646-54EB-4114-72D5-29034C30F81B}"/>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299C5E5E-8135-3CE6-79C8-7A01663B9B84}"/>
              </a:ext>
            </a:extLst>
          </p:cNvPr>
          <p:cNvSpPr/>
          <p:nvPr/>
        </p:nvSpPr>
        <p:spPr>
          <a:xfrm>
            <a:off x="403385" y="1213540"/>
            <a:ext cx="8337229" cy="874214"/>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以本章提供的示例数据</a:t>
            </a:r>
            <a:r>
              <a:rPr lang="en-US" altLang="zh-CN" dirty="0" err="1">
                <a:latin typeface="+mn-lt"/>
                <a:ea typeface="+mj-ea"/>
                <a:sym typeface="Consolas" panose="020B0609020204030204" pitchFamily="49" charset="0"/>
              </a:rPr>
              <a:t>WHSWZZ_ZZQ.shp</a:t>
            </a:r>
            <a:r>
              <a:rPr lang="zh-CN" altLang="en-US" dirty="0">
                <a:latin typeface="+mn-lt"/>
                <a:ea typeface="+mj-ea"/>
                <a:sym typeface="Consolas" panose="020B0609020204030204" pitchFamily="49" charset="0"/>
              </a:rPr>
              <a:t>为例，通过以下代码的输出可以更直观地观察到</a:t>
            </a:r>
            <a:r>
              <a:rPr lang="en-US" altLang="zh-CN" dirty="0">
                <a:latin typeface="+mn-lt"/>
                <a:ea typeface="+mj-ea"/>
                <a:sym typeface="Consolas" panose="020B0609020204030204" pitchFamily="49" charset="0"/>
              </a:rPr>
              <a:t>sf</a:t>
            </a:r>
            <a:r>
              <a:rPr lang="zh-CN" altLang="en-US" dirty="0">
                <a:latin typeface="+mn-lt"/>
                <a:ea typeface="+mj-ea"/>
                <a:sym typeface="Consolas" panose="020B0609020204030204" pitchFamily="49" charset="0"/>
              </a:rPr>
              <a:t>、</a:t>
            </a:r>
            <a:r>
              <a:rPr lang="en-US" altLang="zh-CN" dirty="0" err="1">
                <a:latin typeface="+mn-lt"/>
                <a:ea typeface="+mj-ea"/>
                <a:sym typeface="Consolas" panose="020B0609020204030204" pitchFamily="49" charset="0"/>
              </a:rPr>
              <a:t>sfc</a:t>
            </a:r>
            <a:r>
              <a:rPr lang="zh-CN" altLang="en-US" dirty="0">
                <a:latin typeface="+mn-lt"/>
                <a:ea typeface="+mj-ea"/>
                <a:sym typeface="Consolas" panose="020B0609020204030204" pitchFamily="49" charset="0"/>
              </a:rPr>
              <a:t>和</a:t>
            </a:r>
            <a:r>
              <a:rPr lang="en-US" altLang="zh-CN" dirty="0" err="1">
                <a:latin typeface="+mn-lt"/>
                <a:ea typeface="+mj-ea"/>
                <a:sym typeface="Consolas" panose="020B0609020204030204" pitchFamily="49" charset="0"/>
              </a:rPr>
              <a:t>sfg</a:t>
            </a:r>
            <a:r>
              <a:rPr lang="zh-CN" altLang="en-US" dirty="0">
                <a:latin typeface="+mn-lt"/>
                <a:ea typeface="+mj-ea"/>
                <a:sym typeface="Consolas" panose="020B0609020204030204" pitchFamily="49" charset="0"/>
              </a:rPr>
              <a:t>三者之间的关系：</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5B8D1BC4-4AAD-7299-055C-332CE519D82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D66B6D23-533D-681B-28CE-36524EB5E86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20</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C077B9AF-7EAB-3F99-DD31-C5747EACE160}"/>
              </a:ext>
            </a:extLst>
          </p:cNvPr>
          <p:cNvSpPr txBox="1"/>
          <p:nvPr/>
        </p:nvSpPr>
        <p:spPr>
          <a:xfrm>
            <a:off x="723900" y="2091170"/>
            <a:ext cx="5600700" cy="95410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setwd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"E:/R_course/Chapter3/Data"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getwd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2D5FBA59-CCBA-0FE7-73B3-9A42AE1E70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40025" y="3084853"/>
            <a:ext cx="7263950" cy="1934488"/>
          </a:xfrm>
          <a:prstGeom prst="rect">
            <a:avLst/>
          </a:prstGeom>
          <a:noFill/>
          <a:ln>
            <a:noFill/>
          </a:ln>
        </p:spPr>
      </p:pic>
      <p:sp>
        <p:nvSpPr>
          <p:cNvPr id="5" name="矩形 4">
            <a:extLst>
              <a:ext uri="{FF2B5EF4-FFF2-40B4-BE49-F238E27FC236}">
                <a16:creationId xmlns:a16="http://schemas.microsoft.com/office/drawing/2014/main" id="{E489D05D-7A76-514B-28EB-C002BDCEEFBC}"/>
              </a:ext>
            </a:extLst>
          </p:cNvPr>
          <p:cNvSpPr/>
          <p:nvPr/>
        </p:nvSpPr>
        <p:spPr>
          <a:xfrm>
            <a:off x="403385" y="5061835"/>
            <a:ext cx="8435815" cy="1286250"/>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altLang="zh-CN" dirty="0">
                <a:effectLst/>
                <a:latin typeface="+mj-lt"/>
                <a:ea typeface="+mn-ea"/>
              </a:rPr>
              <a:t>sf</a:t>
            </a:r>
            <a:r>
              <a:rPr lang="zh-CN" altLang="zh-CN" dirty="0">
                <a:effectLst/>
                <a:latin typeface="+mj-lt"/>
                <a:ea typeface="+mn-ea"/>
                <a:cs typeface="Times New Roman" panose="02020603050405020304" pitchFamily="18" charset="0"/>
              </a:rPr>
              <a:t>是数据框</a:t>
            </a:r>
            <a:r>
              <a:rPr lang="en-US" altLang="zh-CN" dirty="0">
                <a:effectLst/>
                <a:latin typeface="+mj-lt"/>
                <a:ea typeface="+mn-ea"/>
                <a:cs typeface="Times New Roman" panose="02020603050405020304" pitchFamily="18" charset="0"/>
              </a:rPr>
              <a:t>(</a:t>
            </a:r>
            <a:r>
              <a:rPr lang="en-US" altLang="zh-CN" dirty="0" err="1">
                <a:effectLst/>
                <a:latin typeface="+mj-lt"/>
                <a:ea typeface="+mn-ea"/>
              </a:rPr>
              <a:t>data.frame</a:t>
            </a:r>
            <a:r>
              <a:rPr lang="en-US" altLang="zh-CN" dirty="0">
                <a:effectLst/>
                <a:latin typeface="+mj-lt"/>
                <a:ea typeface="+mn-ea"/>
                <a:cs typeface="Times New Roman" panose="02020603050405020304" pitchFamily="18" charset="0"/>
              </a:rPr>
              <a:t>)</a:t>
            </a:r>
            <a:r>
              <a:rPr lang="zh-CN" altLang="zh-CN" dirty="0">
                <a:effectLst/>
                <a:latin typeface="+mj-lt"/>
                <a:ea typeface="+mn-ea"/>
                <a:cs typeface="Times New Roman" panose="02020603050405020304" pitchFamily="18" charset="0"/>
              </a:rPr>
              <a:t>中的一行，代表一个空间对象，即一个</a:t>
            </a:r>
            <a:r>
              <a:rPr lang="en-US" altLang="zh-CN" dirty="0">
                <a:effectLst/>
                <a:latin typeface="+mj-lt"/>
                <a:ea typeface="+mn-ea"/>
              </a:rPr>
              <a:t>Simple Feature</a:t>
            </a:r>
            <a:r>
              <a:rPr lang="zh-CN" altLang="zh-CN" dirty="0">
                <a:effectLst/>
                <a:latin typeface="+mj-lt"/>
                <a:ea typeface="+mn-ea"/>
                <a:cs typeface="Times New Roman" panose="02020603050405020304" pitchFamily="18" charset="0"/>
              </a:rPr>
              <a:t>；</a:t>
            </a:r>
            <a:endParaRPr lang="en-US" altLang="zh-CN" dirty="0">
              <a:effectLst/>
              <a:latin typeface="+mj-lt"/>
              <a:ea typeface="+mn-ea"/>
              <a:cs typeface="Times New Roman" panose="02020603050405020304" pitchFamily="18" charset="0"/>
            </a:endParaRPr>
          </a:p>
          <a:p>
            <a:pPr marL="285750" indent="-285750">
              <a:lnSpc>
                <a:spcPct val="150000"/>
              </a:lnSpc>
              <a:buFont typeface="Wingdings" panose="05000000000000000000" pitchFamily="2" charset="2"/>
              <a:buChar char="ü"/>
            </a:pPr>
            <a:r>
              <a:rPr lang="en-US" altLang="zh-CN" dirty="0" err="1">
                <a:effectLst/>
                <a:latin typeface="+mj-lt"/>
                <a:ea typeface="+mn-ea"/>
              </a:rPr>
              <a:t>sfc</a:t>
            </a:r>
            <a:r>
              <a:rPr lang="zh-CN" altLang="zh-CN" dirty="0">
                <a:effectLst/>
                <a:latin typeface="+mj-lt"/>
                <a:ea typeface="+mn-ea"/>
                <a:cs typeface="Times New Roman" panose="02020603050405020304" pitchFamily="18" charset="0"/>
              </a:rPr>
              <a:t>是数据框中的</a:t>
            </a:r>
            <a:r>
              <a:rPr lang="en-US" altLang="zh-CN" dirty="0">
                <a:effectLst/>
                <a:latin typeface="+mj-lt"/>
                <a:ea typeface="+mn-ea"/>
              </a:rPr>
              <a:t>geometry</a:t>
            </a:r>
            <a:r>
              <a:rPr lang="zh-CN" altLang="zh-CN" dirty="0">
                <a:effectLst/>
                <a:latin typeface="+mj-lt"/>
                <a:ea typeface="+mn-ea"/>
                <a:cs typeface="Times New Roman" panose="02020603050405020304" pitchFamily="18" charset="0"/>
              </a:rPr>
              <a:t>列，由数据框中所有空间对象的空间几何属性构成；</a:t>
            </a:r>
            <a:endParaRPr lang="en-US" altLang="zh-CN" dirty="0">
              <a:effectLst/>
              <a:latin typeface="+mj-lt"/>
              <a:ea typeface="+mn-ea"/>
              <a:cs typeface="Times New Roman" panose="02020603050405020304" pitchFamily="18" charset="0"/>
            </a:endParaRPr>
          </a:p>
          <a:p>
            <a:pPr marL="285750" indent="-285750">
              <a:lnSpc>
                <a:spcPct val="150000"/>
              </a:lnSpc>
              <a:buFont typeface="Wingdings" panose="05000000000000000000" pitchFamily="2" charset="2"/>
              <a:buChar char="ü"/>
            </a:pPr>
            <a:r>
              <a:rPr lang="en-US" altLang="zh-CN" dirty="0" err="1">
                <a:effectLst/>
                <a:latin typeface="+mj-lt"/>
                <a:ea typeface="+mn-ea"/>
              </a:rPr>
              <a:t>sfg</a:t>
            </a:r>
            <a:r>
              <a:rPr lang="zh-CN" altLang="zh-CN" dirty="0">
                <a:effectLst/>
                <a:latin typeface="+mj-lt"/>
                <a:ea typeface="+mn-ea"/>
                <a:cs typeface="Times New Roman" panose="02020603050405020304" pitchFamily="18" charset="0"/>
              </a:rPr>
              <a:t>则是该列中的组成元素，即对应每个空间对象的空间几何属性。</a:t>
            </a:r>
            <a:endParaRPr lang="en-US" altLang="zh-CN" dirty="0">
              <a:latin typeface="+mj-lt"/>
              <a:ea typeface="+mn-ea"/>
              <a:sym typeface="Consolas" panose="020B0609020204030204" pitchFamily="49" charset="0"/>
            </a:endParaRPr>
          </a:p>
        </p:txBody>
      </p:sp>
    </p:spTree>
    <p:extLst>
      <p:ext uri="{BB962C8B-B14F-4D97-AF65-F5344CB8AC3E}">
        <p14:creationId xmlns:p14="http://schemas.microsoft.com/office/powerpoint/2010/main" val="1547395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76068-CFD8-C13E-4995-B91364C162B6}"/>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7539F0E8-3C72-4FB0-50CF-A75B91F178DB}"/>
              </a:ext>
            </a:extLst>
          </p:cNvPr>
          <p:cNvSpPr/>
          <p:nvPr/>
        </p:nvSpPr>
        <p:spPr>
          <a:xfrm>
            <a:off x="460535" y="1530680"/>
            <a:ext cx="8337229" cy="4198201"/>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在函数包</a:t>
            </a:r>
            <a:r>
              <a:rPr lang="en-US" altLang="zh-CN" dirty="0">
                <a:latin typeface="+mn-lt"/>
                <a:ea typeface="+mj-ea"/>
                <a:sym typeface="Consolas" panose="020B0609020204030204" pitchFamily="49" charset="0"/>
              </a:rPr>
              <a:t>sf</a:t>
            </a:r>
            <a:r>
              <a:rPr lang="zh-CN" altLang="en-US" dirty="0">
                <a:latin typeface="+mn-lt"/>
                <a:ea typeface="+mj-ea"/>
                <a:sym typeface="Consolas" panose="020B0609020204030204" pitchFamily="49" charset="0"/>
              </a:rPr>
              <a:t>中，</a:t>
            </a:r>
            <a:r>
              <a:rPr lang="en-US" altLang="zh-CN" b="1" dirty="0" err="1">
                <a:latin typeface="+mn-lt"/>
                <a:ea typeface="+mj-ea"/>
                <a:sym typeface="Consolas" panose="020B0609020204030204" pitchFamily="49" charset="0"/>
              </a:rPr>
              <a:t>sfg</a:t>
            </a:r>
            <a:r>
              <a:rPr lang="zh-CN" altLang="en-US" b="1" dirty="0">
                <a:latin typeface="+mn-lt"/>
                <a:ea typeface="+mj-ea"/>
                <a:sym typeface="Consolas" panose="020B0609020204030204" pitchFamily="49" charset="0"/>
              </a:rPr>
              <a:t>的存储类型</a:t>
            </a:r>
            <a:r>
              <a:rPr lang="zh-CN" altLang="en-US" dirty="0">
                <a:latin typeface="+mn-lt"/>
                <a:ea typeface="+mj-ea"/>
                <a:sym typeface="Consolas" panose="020B0609020204030204" pitchFamily="49" charset="0"/>
              </a:rPr>
              <a:t>共有</a:t>
            </a:r>
            <a:r>
              <a:rPr lang="en-US" altLang="zh-CN" dirty="0">
                <a:latin typeface="+mn-lt"/>
                <a:ea typeface="+mj-ea"/>
                <a:sym typeface="Consolas" panose="020B0609020204030204" pitchFamily="49" charset="0"/>
              </a:rPr>
              <a:t>17</a:t>
            </a:r>
            <a:r>
              <a:rPr lang="zh-CN" altLang="en-US" dirty="0">
                <a:latin typeface="+mn-lt"/>
                <a:ea typeface="+mj-ea"/>
                <a:sym typeface="Consolas" panose="020B0609020204030204" pitchFamily="49" charset="0"/>
              </a:rPr>
              <a:t>种，其中最常见的有</a:t>
            </a:r>
            <a:r>
              <a:rPr lang="en-US" altLang="zh-CN" dirty="0">
                <a:latin typeface="+mn-lt"/>
                <a:ea typeface="+mj-ea"/>
                <a:sym typeface="Consolas" panose="020B0609020204030204" pitchFamily="49" charset="0"/>
              </a:rPr>
              <a:t>7</a:t>
            </a:r>
            <a:r>
              <a:rPr lang="zh-CN" altLang="en-US" dirty="0">
                <a:latin typeface="+mn-lt"/>
                <a:ea typeface="+mj-ea"/>
                <a:sym typeface="Consolas" panose="020B0609020204030204" pitchFamily="49" charset="0"/>
              </a:rPr>
              <a:t>类，包括：</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POINT</a:t>
            </a:r>
            <a:r>
              <a:rPr lang="zh-CN" altLang="en-US" dirty="0">
                <a:latin typeface="+mn-lt"/>
                <a:ea typeface="+mj-ea"/>
                <a:sym typeface="Consolas" panose="020B0609020204030204" pitchFamily="49" charset="0"/>
              </a:rPr>
              <a:t>：点对象，由一个二维或三维的数值型向量构成；</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LINESTRING</a:t>
            </a:r>
            <a:r>
              <a:rPr lang="zh-CN" altLang="en-US" dirty="0">
                <a:latin typeface="+mn-lt"/>
                <a:ea typeface="+mj-ea"/>
                <a:sym typeface="Consolas" panose="020B0609020204030204" pitchFamily="49" charset="0"/>
              </a:rPr>
              <a:t>：线对象，由一系列的单点坐标组成的数值矩阵；</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POLYGON</a:t>
            </a:r>
            <a:r>
              <a:rPr lang="zh-CN" altLang="en-US" dirty="0">
                <a:latin typeface="+mn-lt"/>
                <a:ea typeface="+mj-ea"/>
                <a:sym typeface="Consolas" panose="020B0609020204030204" pitchFamily="49" charset="0"/>
              </a:rPr>
              <a:t>：面对象，由一系列首尾相同坐标的坐标矩阵组成的列表，注意多边形边界内部可能嵌套若干个孔洞；</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MULTIPOINT</a:t>
            </a:r>
            <a:r>
              <a:rPr lang="zh-CN" altLang="en-US" dirty="0">
                <a:latin typeface="+mn-lt"/>
                <a:ea typeface="+mj-ea"/>
                <a:sym typeface="Consolas" panose="020B0609020204030204" pitchFamily="49" charset="0"/>
              </a:rPr>
              <a:t>：复杂点对象，由多个单点构成的坐标矩阵；</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MULTISTRING</a:t>
            </a:r>
            <a:r>
              <a:rPr lang="zh-CN" altLang="en-US" dirty="0">
                <a:latin typeface="+mn-lt"/>
                <a:ea typeface="+mj-ea"/>
                <a:sym typeface="Consolas" panose="020B0609020204030204" pitchFamily="49" charset="0"/>
              </a:rPr>
              <a:t>：复杂线对象，由多个线对象坐标矩阵构成的列表；</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MULTIPOLYGON</a:t>
            </a:r>
            <a:r>
              <a:rPr lang="zh-CN" altLang="en-US" dirty="0">
                <a:latin typeface="+mn-lt"/>
                <a:ea typeface="+mj-ea"/>
                <a:sym typeface="Consolas" panose="020B0609020204030204" pitchFamily="49" charset="0"/>
              </a:rPr>
              <a:t>：复杂面对象，由多个面对象构成的列表；</a:t>
            </a:r>
            <a:endParaRPr lang="en-US" altLang="zh-CN" dirty="0">
              <a:latin typeface="+mn-lt"/>
              <a:ea typeface="+mj-ea"/>
              <a:sym typeface="Consolas" panose="020B0609020204030204" pitchFamily="49" charset="0"/>
            </a:endParaRPr>
          </a:p>
          <a:p>
            <a:pPr marL="342900" indent="-342900">
              <a:lnSpc>
                <a:spcPct val="150000"/>
              </a:lnSpc>
              <a:buFont typeface="+mj-lt"/>
              <a:buAutoNum type="arabicPeriod"/>
            </a:pPr>
            <a:r>
              <a:rPr lang="en-US" altLang="zh-CN" b="1" dirty="0">
                <a:latin typeface="+mn-lt"/>
                <a:ea typeface="+mj-ea"/>
                <a:sym typeface="Consolas" panose="020B0609020204030204" pitchFamily="49" charset="0"/>
              </a:rPr>
              <a:t>GEOMETRYCOLLECTION</a:t>
            </a:r>
            <a:r>
              <a:rPr lang="zh-CN" altLang="en-US" dirty="0">
                <a:latin typeface="+mn-lt"/>
                <a:ea typeface="+mj-ea"/>
                <a:sym typeface="Consolas" panose="020B0609020204030204" pitchFamily="49" charset="0"/>
              </a:rPr>
              <a:t>：几何对象集合，由一个或多个不同类型几何对象构成的列表</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08F8136E-F2D6-6BF7-EB68-D14AAEE0B6F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AF1CD38B-0AC7-8ECD-9AF1-9E9B8821F4D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21</a:t>
            </a:fld>
            <a:endParaRPr lang="zh-CN" altLang="en-US" dirty="0">
              <a:solidFill>
                <a:schemeClr val="bg2">
                  <a:lumMod val="75000"/>
                </a:schemeClr>
              </a:solidFill>
            </a:endParaRPr>
          </a:p>
        </p:txBody>
      </p:sp>
    </p:spTree>
    <p:extLst>
      <p:ext uri="{BB962C8B-B14F-4D97-AF65-F5344CB8AC3E}">
        <p14:creationId xmlns:p14="http://schemas.microsoft.com/office/powerpoint/2010/main" val="1238803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52E2-8F70-6196-E97A-58E99CC06392}"/>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321CD6A0-66CD-6169-AFF5-6920CDA06945}"/>
              </a:ext>
            </a:extLst>
          </p:cNvPr>
          <p:cNvSpPr/>
          <p:nvPr/>
        </p:nvSpPr>
        <p:spPr>
          <a:xfrm>
            <a:off x="403385" y="2409949"/>
            <a:ext cx="8626315" cy="295170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点数据是基础的矢量数据之一，也是其他类型矢量数据的基础构成。</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点数据是</a:t>
            </a:r>
            <a:r>
              <a:rPr lang="en-US" altLang="zh-CN" dirty="0">
                <a:latin typeface="+mj-lt"/>
                <a:ea typeface="+mj-ea"/>
                <a:sym typeface="Consolas" panose="020B0609020204030204" pitchFamily="49" charset="0"/>
              </a:rPr>
              <a:t>2</a:t>
            </a:r>
            <a:r>
              <a:rPr lang="zh-CN" altLang="en-US" dirty="0">
                <a:latin typeface="+mj-lt"/>
                <a:ea typeface="+mj-ea"/>
                <a:sym typeface="Consolas" panose="020B0609020204030204" pitchFamily="49" charset="0"/>
              </a:rPr>
              <a:t>维、</a:t>
            </a:r>
            <a:r>
              <a:rPr lang="en-US" altLang="zh-CN" dirty="0">
                <a:latin typeface="+mj-lt"/>
                <a:ea typeface="+mj-ea"/>
                <a:sym typeface="Consolas" panose="020B0609020204030204" pitchFamily="49" charset="0"/>
              </a:rPr>
              <a:t>3</a:t>
            </a:r>
            <a:r>
              <a:rPr lang="zh-CN" altLang="en-US" dirty="0">
                <a:latin typeface="+mj-lt"/>
                <a:ea typeface="+mj-ea"/>
                <a:sym typeface="Consolas" panose="020B0609020204030204" pitchFamily="49" charset="0"/>
              </a:rPr>
              <a:t>维或</a:t>
            </a:r>
            <a:r>
              <a:rPr lang="en-US" altLang="zh-CN" dirty="0">
                <a:latin typeface="+mj-lt"/>
                <a:ea typeface="+mj-ea"/>
                <a:sym typeface="Consolas" panose="020B0609020204030204" pitchFamily="49" charset="0"/>
              </a:rPr>
              <a:t>4</a:t>
            </a:r>
            <a:r>
              <a:rPr lang="zh-CN" altLang="en-US" dirty="0">
                <a:latin typeface="+mj-lt"/>
                <a:ea typeface="+mj-ea"/>
                <a:sym typeface="Consolas" panose="020B0609020204030204" pitchFamily="49" charset="0"/>
              </a:rPr>
              <a:t>维空间中的坐标，除了</a:t>
            </a:r>
            <a:r>
              <a:rPr lang="en-US" altLang="zh-CN" dirty="0">
                <a:latin typeface="+mj-lt"/>
                <a:ea typeface="+mj-ea"/>
                <a:sym typeface="Consolas" panose="020B0609020204030204" pitchFamily="49" charset="0"/>
              </a:rPr>
              <a:t>X</a:t>
            </a:r>
            <a:r>
              <a:rPr lang="zh-CN" altLang="en-US" dirty="0">
                <a:latin typeface="+mj-lt"/>
                <a:ea typeface="+mj-ea"/>
                <a:sym typeface="Consolas" panose="020B0609020204030204" pitchFamily="49" charset="0"/>
              </a:rPr>
              <a:t>和</a:t>
            </a:r>
            <a:r>
              <a:rPr lang="en-US" altLang="zh-CN" dirty="0">
                <a:latin typeface="+mj-lt"/>
                <a:ea typeface="+mj-ea"/>
                <a:sym typeface="Consolas" panose="020B0609020204030204" pitchFamily="49" charset="0"/>
              </a:rPr>
              <a:t>Y</a:t>
            </a:r>
            <a:r>
              <a:rPr lang="zh-CN" altLang="en-US" dirty="0">
                <a:latin typeface="+mj-lt"/>
                <a:ea typeface="+mj-ea"/>
                <a:sym typeface="Consolas" panose="020B0609020204030204" pitchFamily="49" charset="0"/>
              </a:rPr>
              <a:t>二维平面坐标或经纬度以外，还有另外两个可选的坐标维度：</a:t>
            </a:r>
            <a:endParaRPr lang="en-US" altLang="zh-CN" dirty="0">
              <a:latin typeface="+mj-lt"/>
              <a:ea typeface="+mj-ea"/>
              <a:sym typeface="Consolas" panose="020B0609020204030204" pitchFamily="49" charset="0"/>
            </a:endParaRPr>
          </a:p>
          <a:p>
            <a:pPr marL="342900" indent="-342900">
              <a:lnSpc>
                <a:spcPct val="150000"/>
              </a:lnSpc>
              <a:buFont typeface="+mj-ea"/>
              <a:buAutoNum type="circleNumDbPlain"/>
            </a:pPr>
            <a:r>
              <a:rPr lang="en-US" altLang="zh-CN" dirty="0">
                <a:latin typeface="+mj-lt"/>
                <a:ea typeface="+mj-ea"/>
                <a:sym typeface="Consolas" panose="020B0609020204030204" pitchFamily="49" charset="0"/>
              </a:rPr>
              <a:t>Z</a:t>
            </a:r>
            <a:r>
              <a:rPr lang="zh-CN" altLang="en-US" dirty="0">
                <a:latin typeface="+mj-lt"/>
                <a:ea typeface="+mj-ea"/>
                <a:sym typeface="Consolas" panose="020B0609020204030204" pitchFamily="49" charset="0"/>
              </a:rPr>
              <a:t>坐标：一般代表高度；</a:t>
            </a:r>
            <a:endParaRPr lang="en-US" altLang="zh-CN" dirty="0">
              <a:latin typeface="+mj-lt"/>
              <a:ea typeface="+mj-ea"/>
              <a:sym typeface="Consolas" panose="020B0609020204030204" pitchFamily="49" charset="0"/>
            </a:endParaRPr>
          </a:p>
          <a:p>
            <a:pPr marL="342900" indent="-342900">
              <a:lnSpc>
                <a:spcPct val="150000"/>
              </a:lnSpc>
              <a:buFont typeface="+mj-ea"/>
              <a:buAutoNum type="circleNumDbPlain"/>
            </a:pPr>
            <a:r>
              <a:rPr lang="en-US" altLang="zh-CN" dirty="0">
                <a:latin typeface="+mj-lt"/>
                <a:ea typeface="+mj-ea"/>
                <a:sym typeface="Consolas" panose="020B0609020204030204" pitchFamily="49" charset="0"/>
              </a:rPr>
              <a:t>M</a:t>
            </a:r>
            <a:r>
              <a:rPr lang="zh-CN" altLang="en-US" dirty="0">
                <a:latin typeface="+mj-lt"/>
                <a:ea typeface="+mj-ea"/>
                <a:sym typeface="Consolas" panose="020B0609020204030204" pitchFamily="49" charset="0"/>
              </a:rPr>
              <a:t>坐标：一般代表与空间对象相关的其他度量值，例如时间。</a:t>
            </a:r>
            <a:endParaRPr lang="en-US" altLang="zh-CN" dirty="0">
              <a:latin typeface="+mj-lt"/>
              <a:ea typeface="+mj-ea"/>
              <a:sym typeface="Consolas" panose="020B0609020204030204" pitchFamily="49" charset="0"/>
            </a:endParaRPr>
          </a:p>
          <a:p>
            <a:pPr marL="342900" indent="-34290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相应地，点数据对象的四种可能形式则分别是：</a:t>
            </a:r>
            <a:r>
              <a:rPr lang="en-US" altLang="zh-CN" dirty="0">
                <a:latin typeface="+mj-lt"/>
                <a:ea typeface="+mj-ea"/>
                <a:sym typeface="Consolas" panose="020B0609020204030204" pitchFamily="49" charset="0"/>
              </a:rPr>
              <a:t>XY</a:t>
            </a:r>
            <a:r>
              <a:rPr lang="zh-CN" altLang="en-US" dirty="0">
                <a:latin typeface="+mj-lt"/>
                <a:ea typeface="+mj-ea"/>
                <a:sym typeface="Consolas" panose="020B0609020204030204" pitchFamily="49" charset="0"/>
              </a:rPr>
              <a:t>形式的二维数据、</a:t>
            </a:r>
            <a:r>
              <a:rPr lang="en-US" altLang="zh-CN" dirty="0">
                <a:latin typeface="+mj-lt"/>
                <a:ea typeface="+mj-ea"/>
                <a:sym typeface="Consolas" panose="020B0609020204030204" pitchFamily="49" charset="0"/>
              </a:rPr>
              <a:t>XYZ</a:t>
            </a:r>
            <a:r>
              <a:rPr lang="zh-CN" altLang="en-US" dirty="0">
                <a:latin typeface="+mj-lt"/>
                <a:ea typeface="+mj-ea"/>
                <a:sym typeface="Consolas" panose="020B0609020204030204" pitchFamily="49" charset="0"/>
              </a:rPr>
              <a:t>形式的三维数据、</a:t>
            </a:r>
            <a:r>
              <a:rPr lang="en-US" altLang="zh-CN" dirty="0">
                <a:latin typeface="+mj-lt"/>
                <a:ea typeface="+mj-ea"/>
                <a:sym typeface="Consolas" panose="020B0609020204030204" pitchFamily="49" charset="0"/>
              </a:rPr>
              <a:t>XYM</a:t>
            </a:r>
            <a:r>
              <a:rPr lang="zh-CN" altLang="en-US" dirty="0">
                <a:latin typeface="+mj-lt"/>
                <a:ea typeface="+mj-ea"/>
                <a:sym typeface="Consolas" panose="020B0609020204030204" pitchFamily="49" charset="0"/>
              </a:rPr>
              <a:t>形式的三维数据以及</a:t>
            </a:r>
            <a:r>
              <a:rPr lang="en-US" altLang="zh-CN" dirty="0">
                <a:latin typeface="+mj-lt"/>
                <a:ea typeface="+mj-ea"/>
                <a:sym typeface="Consolas" panose="020B0609020204030204" pitchFamily="49" charset="0"/>
              </a:rPr>
              <a:t>XYZM</a:t>
            </a:r>
            <a:r>
              <a:rPr lang="zh-CN" altLang="en-US" dirty="0">
                <a:latin typeface="+mj-lt"/>
                <a:ea typeface="+mj-ea"/>
                <a:sym typeface="Consolas" panose="020B0609020204030204" pitchFamily="49" charset="0"/>
              </a:rPr>
              <a:t>形式的四维数据。</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75BDB8F0-F504-E32C-73B6-54598DD75A0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3A05C039-383C-941F-7709-3D4F614931F5}"/>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22</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A193683C-F83D-FE89-56BF-B6EBF9748EA1}"/>
              </a:ext>
            </a:extLst>
          </p:cNvPr>
          <p:cNvSpPr/>
          <p:nvPr/>
        </p:nvSpPr>
        <p:spPr>
          <a:xfrm>
            <a:off x="493158" y="1908943"/>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spTree>
    <p:extLst>
      <p:ext uri="{BB962C8B-B14F-4D97-AF65-F5344CB8AC3E}">
        <p14:creationId xmlns:p14="http://schemas.microsoft.com/office/powerpoint/2010/main" val="3911035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2B0B8-F393-23D7-2135-EB221BFD26A3}"/>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887DFBE1-CBE3-C7BD-6F9E-A9E6C9B973A0}"/>
              </a:ext>
            </a:extLst>
          </p:cNvPr>
          <p:cNvSpPr/>
          <p:nvPr/>
        </p:nvSpPr>
        <p:spPr>
          <a:xfrm>
            <a:off x="201692" y="2125789"/>
            <a:ext cx="8854915" cy="458715"/>
          </a:xfrm>
          <a:prstGeom prst="rect">
            <a:avLst/>
          </a:prstGeom>
        </p:spPr>
        <p:txBody>
          <a:bodyPr wrap="square">
            <a:spAutoFit/>
          </a:bodyPr>
          <a:lstStyle/>
          <a:p>
            <a:pPr indent="457200">
              <a:lnSpc>
                <a:spcPct val="150000"/>
              </a:lnSpc>
            </a:pPr>
            <a:r>
              <a:rPr lang="zh-CN" altLang="en-US" dirty="0">
                <a:latin typeface="+mj-lt"/>
                <a:ea typeface="+mj-ea"/>
                <a:sym typeface="Consolas" panose="020B0609020204030204" pitchFamily="49" charset="0"/>
              </a:rPr>
              <a:t>生成不同形式的空间点数据对象，并通过输出结果观察</a:t>
            </a:r>
            <a:r>
              <a:rPr lang="en-US" altLang="zh-CN" dirty="0">
                <a:latin typeface="+mj-lt"/>
                <a:ea typeface="+mj-ea"/>
                <a:sym typeface="Consolas" panose="020B0609020204030204" pitchFamily="49" charset="0"/>
              </a:rPr>
              <a:t>POINT</a:t>
            </a:r>
            <a:r>
              <a:rPr lang="zh-CN" altLang="en-US" dirty="0">
                <a:latin typeface="+mj-lt"/>
                <a:ea typeface="+mj-ea"/>
                <a:sym typeface="Consolas" panose="020B0609020204030204" pitchFamily="49" charset="0"/>
              </a:rPr>
              <a:t>对象的组成结构：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F71C3E54-7BF1-7140-15AC-DD451B3639C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EC11B2B6-3B27-6E1F-B65C-384A6A915F3A}"/>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23</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5D697624-802B-ABD5-6385-541188ADF88A}"/>
              </a:ext>
            </a:extLst>
          </p:cNvPr>
          <p:cNvSpPr/>
          <p:nvPr/>
        </p:nvSpPr>
        <p:spPr>
          <a:xfrm>
            <a:off x="493158" y="1654686"/>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sp>
        <p:nvSpPr>
          <p:cNvPr id="2" name="文本框 1">
            <a:extLst>
              <a:ext uri="{FF2B5EF4-FFF2-40B4-BE49-F238E27FC236}">
                <a16:creationId xmlns:a16="http://schemas.microsoft.com/office/drawing/2014/main" id="{23AD09CC-14A1-2BAF-AE08-D5AE75257D83}"/>
              </a:ext>
            </a:extLst>
          </p:cNvPr>
          <p:cNvSpPr txBox="1"/>
          <p:nvPr/>
        </p:nvSpPr>
        <p:spPr>
          <a:xfrm>
            <a:off x="571500" y="2922835"/>
            <a:ext cx="3619500" cy="206210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str(p1)</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p2&lt;-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p3&lt;-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"XYM"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str(p3)</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p4&lt;-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str(p4)</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86502BD8-4E3A-539E-04AC-94A82479B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2" y="2781300"/>
            <a:ext cx="3013839" cy="2345174"/>
          </a:xfrm>
          <a:prstGeom prst="rect">
            <a:avLst/>
          </a:prstGeom>
        </p:spPr>
      </p:pic>
      <p:sp>
        <p:nvSpPr>
          <p:cNvPr id="5" name="矩形 4">
            <a:extLst>
              <a:ext uri="{FF2B5EF4-FFF2-40B4-BE49-F238E27FC236}">
                <a16:creationId xmlns:a16="http://schemas.microsoft.com/office/drawing/2014/main" id="{467364C0-FA79-6B16-ABE9-8C27FF8E7766}"/>
              </a:ext>
            </a:extLst>
          </p:cNvPr>
          <p:cNvSpPr/>
          <p:nvPr/>
        </p:nvSpPr>
        <p:spPr>
          <a:xfrm>
            <a:off x="201692" y="5235447"/>
            <a:ext cx="8854915" cy="874214"/>
          </a:xfrm>
          <a:prstGeom prst="rect">
            <a:avLst/>
          </a:prstGeom>
        </p:spPr>
        <p:txBody>
          <a:bodyPr wrap="square">
            <a:spAutoFit/>
          </a:bodyPr>
          <a:lstStyle/>
          <a:p>
            <a:pPr indent="457200">
              <a:lnSpc>
                <a:spcPct val="150000"/>
              </a:lnSpc>
            </a:pPr>
            <a:r>
              <a:rPr lang="zh-CN" altLang="en-US" dirty="0">
                <a:latin typeface="+mj-lt"/>
                <a:ea typeface="+mj-ea"/>
                <a:sym typeface="Consolas" panose="020B0609020204030204" pitchFamily="49" charset="0"/>
              </a:rPr>
              <a:t>每一个点数据对象是一个</a:t>
            </a:r>
            <a:r>
              <a:rPr lang="zh-CN" altLang="en-US" b="1" dirty="0">
                <a:latin typeface="+mj-lt"/>
                <a:ea typeface="+mj-ea"/>
                <a:sym typeface="Consolas" panose="020B0609020204030204" pitchFamily="49" charset="0"/>
              </a:rPr>
              <a:t>数值型的向量</a:t>
            </a:r>
            <a:r>
              <a:rPr lang="zh-CN" altLang="en-US" dirty="0">
                <a:latin typeface="+mj-lt"/>
                <a:ea typeface="+mj-ea"/>
                <a:sym typeface="Consolas" panose="020B0609020204030204" pitchFamily="49" charset="0"/>
              </a:rPr>
              <a:t>，且在不指定形式为</a:t>
            </a:r>
            <a:r>
              <a:rPr lang="en-US" altLang="zh-CN" dirty="0">
                <a:latin typeface="+mj-lt"/>
                <a:ea typeface="+mj-ea"/>
                <a:sym typeface="Consolas" panose="020B0609020204030204" pitchFamily="49" charset="0"/>
              </a:rPr>
              <a:t>XYM</a:t>
            </a:r>
            <a:r>
              <a:rPr lang="zh-CN" altLang="en-US" dirty="0">
                <a:latin typeface="+mj-lt"/>
                <a:ea typeface="+mj-ea"/>
                <a:sym typeface="Consolas" panose="020B0609020204030204" pitchFamily="49" charset="0"/>
              </a:rPr>
              <a:t>的情况下，会默认生成为</a:t>
            </a:r>
            <a:r>
              <a:rPr lang="en-US" altLang="zh-CN" dirty="0">
                <a:latin typeface="+mj-lt"/>
                <a:ea typeface="+mj-ea"/>
                <a:sym typeface="Consolas" panose="020B0609020204030204" pitchFamily="49" charset="0"/>
              </a:rPr>
              <a:t>XYZ</a:t>
            </a:r>
            <a:r>
              <a:rPr lang="zh-CN" altLang="en-US" dirty="0">
                <a:latin typeface="+mj-lt"/>
                <a:ea typeface="+mj-ea"/>
                <a:sym typeface="Consolas" panose="020B0609020204030204" pitchFamily="49" charset="0"/>
              </a:rPr>
              <a:t>形式的三维数据。</a:t>
            </a:r>
            <a:endParaRPr lang="en-US" altLang="zh-CN" dirty="0">
              <a:latin typeface="+mj-lt"/>
              <a:ea typeface="+mj-ea"/>
              <a:sym typeface="Consolas" panose="020B0609020204030204" pitchFamily="49" charset="0"/>
            </a:endParaRPr>
          </a:p>
        </p:txBody>
      </p:sp>
    </p:spTree>
    <p:extLst>
      <p:ext uri="{BB962C8B-B14F-4D97-AF65-F5344CB8AC3E}">
        <p14:creationId xmlns:p14="http://schemas.microsoft.com/office/powerpoint/2010/main" val="1108067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7F6BD-9743-AD3A-ADB1-0FA096FF1F29}"/>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9F601B80-DCDB-CA4D-2806-C93362387FB5}"/>
              </a:ext>
            </a:extLst>
          </p:cNvPr>
          <p:cNvSpPr/>
          <p:nvPr/>
        </p:nvSpPr>
        <p:spPr>
          <a:xfrm>
            <a:off x="647700" y="1737454"/>
            <a:ext cx="8854915" cy="1289071"/>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在此基础上，通过建立</a:t>
            </a:r>
            <a:r>
              <a:rPr lang="zh-CN" altLang="en-US" b="1" dirty="0">
                <a:latin typeface="+mj-lt"/>
                <a:ea typeface="+mj-ea"/>
                <a:sym typeface="Consolas" panose="020B0609020204030204" pitchFamily="49" charset="0"/>
              </a:rPr>
              <a:t>由若干个点对象坐标构成的矩阵</a:t>
            </a:r>
            <a:r>
              <a:rPr lang="en-US" altLang="zh-CN" b="1" dirty="0">
                <a:latin typeface="+mj-lt"/>
                <a:ea typeface="+mj-ea"/>
                <a:sym typeface="Consolas" panose="020B0609020204030204" pitchFamily="49" charset="0"/>
              </a:rPr>
              <a:t>(matrix)</a:t>
            </a:r>
            <a:r>
              <a:rPr lang="zh-CN" altLang="en-US" dirty="0">
                <a:latin typeface="+mj-lt"/>
                <a:ea typeface="+mj-ea"/>
                <a:sym typeface="Consolas" panose="020B0609020204030204" pitchFamily="49" charset="0"/>
              </a:rPr>
              <a:t>可以生成</a:t>
            </a:r>
            <a:r>
              <a:rPr lang="en-US" altLang="zh-CN" b="1" dirty="0">
                <a:latin typeface="+mj-lt"/>
                <a:ea typeface="+mj-ea"/>
                <a:sym typeface="Consolas" panose="020B0609020204030204" pitchFamily="49" charset="0"/>
              </a:rPr>
              <a:t>MULTIPOINT</a:t>
            </a:r>
            <a:r>
              <a:rPr lang="zh-CN" altLang="en-US" dirty="0">
                <a:latin typeface="+mj-lt"/>
                <a:ea typeface="+mj-ea"/>
                <a:sym typeface="Consolas" panose="020B0609020204030204" pitchFamily="49" charset="0"/>
              </a:rPr>
              <a:t>类型的数据。</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其中该矩阵的每一行代表一个点对象，整体代表复杂的</a:t>
            </a:r>
            <a:r>
              <a:rPr lang="en-US" altLang="zh-CN" dirty="0">
                <a:latin typeface="+mj-lt"/>
                <a:ea typeface="+mj-ea"/>
                <a:sym typeface="Consolas" panose="020B0609020204030204" pitchFamily="49" charset="0"/>
              </a:rPr>
              <a:t>MULTIPOINT</a:t>
            </a:r>
            <a:r>
              <a:rPr lang="zh-CN" altLang="en-US" dirty="0">
                <a:latin typeface="+mj-lt"/>
                <a:ea typeface="+mj-ea"/>
                <a:sym typeface="Consolas" panose="020B0609020204030204" pitchFamily="49" charset="0"/>
              </a:rPr>
              <a:t>对象。</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22579179-5DA7-DF75-1776-7A595CCF0CD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347ECAA3-44CC-4305-76A3-396774D9A64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24</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787F5A4F-7099-0659-B5E6-1E1C9C9C7E87}"/>
              </a:ext>
            </a:extLst>
          </p:cNvPr>
          <p:cNvSpPr/>
          <p:nvPr/>
        </p:nvSpPr>
        <p:spPr>
          <a:xfrm>
            <a:off x="493158" y="1256984"/>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a:t>
            </a:r>
            <a:r>
              <a:rPr lang="zh-CN" altLang="en-US" sz="2400" b="1" dirty="0">
                <a:latin typeface="+mn-lt"/>
                <a:ea typeface="微软雅黑" panose="020B0503020204020204" pitchFamily="34" charset="-122"/>
                <a:cs typeface="+mn-ea"/>
                <a:sym typeface="Consolas" panose="020B0609020204030204" pitchFamily="49" charset="0"/>
              </a:rPr>
              <a:t>点数据</a:t>
            </a:r>
          </a:p>
        </p:txBody>
      </p:sp>
      <p:sp>
        <p:nvSpPr>
          <p:cNvPr id="2" name="文本框 1">
            <a:extLst>
              <a:ext uri="{FF2B5EF4-FFF2-40B4-BE49-F238E27FC236}">
                <a16:creationId xmlns:a16="http://schemas.microsoft.com/office/drawing/2014/main" id="{01E5F64D-FF6B-C292-6EC8-8FA1762580B0}"/>
              </a:ext>
            </a:extLst>
          </p:cNvPr>
          <p:cNvSpPr txBox="1"/>
          <p:nvPr/>
        </p:nvSpPr>
        <p:spPr>
          <a:xfrm>
            <a:off x="731757" y="3026525"/>
            <a:ext cx="7688343"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graphics.off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st_multipoint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1E3990BD-8C3A-CE22-AFE9-88CD3D04F0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757" y="4632468"/>
            <a:ext cx="3992643" cy="655634"/>
          </a:xfrm>
          <a:prstGeom prst="rect">
            <a:avLst/>
          </a:prstGeom>
          <a:ln>
            <a:noFill/>
          </a:ln>
          <a:effectLst>
            <a:outerShdw blurRad="190500" algn="tl" rotWithShape="0">
              <a:srgbClr val="000000">
                <a:alpha val="70000"/>
              </a:srgbClr>
            </a:outerShdw>
          </a:effectLst>
        </p:spPr>
      </p:pic>
      <p:pic>
        <p:nvPicPr>
          <p:cNvPr id="7" name="图片 6">
            <a:extLst>
              <a:ext uri="{FF2B5EF4-FFF2-40B4-BE49-F238E27FC236}">
                <a16:creationId xmlns:a16="http://schemas.microsoft.com/office/drawing/2014/main" id="{A11E741E-C24F-2E2F-B2A3-6294DCC5832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216" t="8350" r="16771" b="12010"/>
          <a:stretch/>
        </p:blipFill>
        <p:spPr bwMode="auto">
          <a:xfrm>
            <a:off x="5562600" y="3831098"/>
            <a:ext cx="2392004" cy="21971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EB40C98F-191E-B7A1-205E-242C145C937B}"/>
              </a:ext>
            </a:extLst>
          </p:cNvPr>
          <p:cNvSpPr txBox="1"/>
          <p:nvPr/>
        </p:nvSpPr>
        <p:spPr>
          <a:xfrm>
            <a:off x="1337428" y="5416717"/>
            <a:ext cx="2781299" cy="307777"/>
          </a:xfrm>
          <a:prstGeom prst="rect">
            <a:avLst/>
          </a:prstGeom>
          <a:noFill/>
        </p:spPr>
        <p:txBody>
          <a:bodyPr wrap="square">
            <a:spAutoFit/>
          </a:bodyPr>
          <a:lstStyle/>
          <a:p>
            <a:pPr algn="ctr"/>
            <a:r>
              <a:rPr lang="en-US" altLang="zh-CN" sz="1400" dirty="0" err="1">
                <a:effectLst/>
                <a:latin typeface="+mj-lt"/>
                <a:ea typeface="+mj-ea"/>
              </a:rPr>
              <a:t>MULTIPOINT</a:t>
            </a:r>
            <a:r>
              <a:rPr lang="en-US" altLang="zh-CN" sz="1400" dirty="0" err="1">
                <a:effectLst/>
                <a:latin typeface="+mj-lt"/>
                <a:ea typeface="+mj-ea"/>
                <a:cs typeface="Times New Roman" panose="02020603050405020304" pitchFamily="18" charset="0"/>
              </a:rPr>
              <a:t>的组成结构</a:t>
            </a:r>
            <a:endParaRPr lang="zh-CN" altLang="en-US" sz="1400" dirty="0">
              <a:latin typeface="+mj-lt"/>
              <a:ea typeface="+mj-ea"/>
            </a:endParaRPr>
          </a:p>
        </p:txBody>
      </p:sp>
      <p:sp>
        <p:nvSpPr>
          <p:cNvPr id="13" name="文本框 12">
            <a:extLst>
              <a:ext uri="{FF2B5EF4-FFF2-40B4-BE49-F238E27FC236}">
                <a16:creationId xmlns:a16="http://schemas.microsoft.com/office/drawing/2014/main" id="{92EFCED6-6BCE-720A-14FB-CE97C3102F77}"/>
              </a:ext>
            </a:extLst>
          </p:cNvPr>
          <p:cNvSpPr txBox="1"/>
          <p:nvPr/>
        </p:nvSpPr>
        <p:spPr>
          <a:xfrm>
            <a:off x="5367952" y="6127872"/>
            <a:ext cx="2781299" cy="307777"/>
          </a:xfrm>
          <a:prstGeom prst="rect">
            <a:avLst/>
          </a:prstGeom>
          <a:noFill/>
        </p:spPr>
        <p:txBody>
          <a:bodyPr wrap="square">
            <a:spAutoFit/>
          </a:bodyPr>
          <a:lstStyle/>
          <a:p>
            <a:pPr algn="ctr"/>
            <a:r>
              <a:rPr lang="zh-CN" altLang="en-US" sz="1400" dirty="0">
                <a:effectLst/>
                <a:latin typeface="+mj-lt"/>
                <a:ea typeface="+mj-ea"/>
              </a:rPr>
              <a:t>生成的</a:t>
            </a:r>
            <a:r>
              <a:rPr lang="en-US" altLang="zh-CN" sz="1400" dirty="0">
                <a:effectLst/>
                <a:latin typeface="+mj-lt"/>
                <a:ea typeface="+mj-ea"/>
              </a:rPr>
              <a:t>NULTIPOINT</a:t>
            </a:r>
            <a:r>
              <a:rPr lang="zh-CN" altLang="en-US" sz="1400" dirty="0">
                <a:effectLst/>
                <a:latin typeface="+mj-lt"/>
                <a:ea typeface="+mj-ea"/>
              </a:rPr>
              <a:t>结果</a:t>
            </a:r>
            <a:endParaRPr lang="zh-CN" altLang="en-US" sz="1400" dirty="0">
              <a:latin typeface="+mj-lt"/>
              <a:ea typeface="+mj-ea"/>
            </a:endParaRPr>
          </a:p>
        </p:txBody>
      </p:sp>
    </p:spTree>
    <p:extLst>
      <p:ext uri="{BB962C8B-B14F-4D97-AF65-F5344CB8AC3E}">
        <p14:creationId xmlns:p14="http://schemas.microsoft.com/office/powerpoint/2010/main" val="3778092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32B9-566E-2519-F988-EE5417162522}"/>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CB6FFA5-9470-10A8-6151-96AA95D83B9E}"/>
              </a:ext>
            </a:extLst>
          </p:cNvPr>
          <p:cNvSpPr/>
          <p:nvPr/>
        </p:nvSpPr>
        <p:spPr>
          <a:xfrm>
            <a:off x="258842" y="2045169"/>
            <a:ext cx="8626315" cy="1704569"/>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与</a:t>
            </a:r>
            <a:r>
              <a:rPr lang="en-US" altLang="zh-CN" dirty="0">
                <a:latin typeface="+mj-lt"/>
                <a:ea typeface="+mj-ea"/>
                <a:sym typeface="Consolas" panose="020B0609020204030204" pitchFamily="49" charset="0"/>
              </a:rPr>
              <a:t>MULTIPOINT</a:t>
            </a:r>
            <a:r>
              <a:rPr lang="zh-CN" altLang="en-US" dirty="0">
                <a:latin typeface="+mj-lt"/>
                <a:ea typeface="+mj-ea"/>
                <a:sym typeface="Consolas" panose="020B0609020204030204" pitchFamily="49" charset="0"/>
              </a:rPr>
              <a:t>对象类似，每一个</a:t>
            </a:r>
            <a:r>
              <a:rPr lang="zh-CN" altLang="en-US" b="1" dirty="0">
                <a:latin typeface="+mj-lt"/>
                <a:ea typeface="+mj-ea"/>
                <a:sym typeface="Consolas" panose="020B0609020204030204" pitchFamily="49" charset="0"/>
              </a:rPr>
              <a:t>线数据</a:t>
            </a:r>
            <a:r>
              <a:rPr lang="en-US" altLang="zh-CN" b="1" dirty="0">
                <a:latin typeface="+mj-lt"/>
                <a:ea typeface="+mj-ea"/>
                <a:sym typeface="Consolas" panose="020B0609020204030204" pitchFamily="49" charset="0"/>
              </a:rPr>
              <a:t>(LINESTRING)</a:t>
            </a:r>
            <a:r>
              <a:rPr lang="zh-CN" altLang="en-US" dirty="0">
                <a:latin typeface="+mj-lt"/>
                <a:ea typeface="+mj-ea"/>
                <a:sym typeface="Consolas" panose="020B0609020204030204" pitchFamily="49" charset="0"/>
              </a:rPr>
              <a:t>对象也是</a:t>
            </a:r>
            <a:r>
              <a:rPr lang="zh-CN" altLang="en-US" b="1" dirty="0">
                <a:latin typeface="+mj-lt"/>
                <a:ea typeface="+mj-ea"/>
                <a:sym typeface="Consolas" panose="020B0609020204030204" pitchFamily="49" charset="0"/>
              </a:rPr>
              <a:t>单点数据构成的矩阵</a:t>
            </a:r>
            <a:r>
              <a:rPr lang="en-US" altLang="zh-CN" b="1" dirty="0">
                <a:latin typeface="+mj-lt"/>
                <a:ea typeface="+mj-ea"/>
                <a:sym typeface="Consolas" panose="020B0609020204030204" pitchFamily="49" charset="0"/>
              </a:rPr>
              <a:t>(matrix)</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复杂线数据</a:t>
            </a:r>
            <a:r>
              <a:rPr lang="en-US" altLang="zh-CN" b="1" dirty="0">
                <a:latin typeface="+mj-lt"/>
                <a:ea typeface="+mj-ea"/>
                <a:sym typeface="Consolas" panose="020B0609020204030204" pitchFamily="49" charset="0"/>
              </a:rPr>
              <a:t>(MULTISTRING)</a:t>
            </a:r>
            <a:r>
              <a:rPr lang="zh-CN" altLang="en-US" dirty="0">
                <a:latin typeface="+mj-lt"/>
                <a:ea typeface="+mj-ea"/>
                <a:sym typeface="Consolas" panose="020B0609020204030204" pitchFamily="49" charset="0"/>
              </a:rPr>
              <a:t>对象则是线数据对象构成的</a:t>
            </a:r>
            <a:r>
              <a:rPr lang="zh-CN" altLang="en-US" b="1" dirty="0">
                <a:latin typeface="+mj-lt"/>
                <a:ea typeface="+mj-ea"/>
                <a:sym typeface="Consolas" panose="020B0609020204030204" pitchFamily="49" charset="0"/>
              </a:rPr>
              <a:t>列表</a:t>
            </a:r>
            <a:r>
              <a:rPr lang="en-US" altLang="zh-CN" b="1" dirty="0">
                <a:latin typeface="+mj-lt"/>
                <a:ea typeface="+mj-ea"/>
                <a:sym typeface="Consolas" panose="020B0609020204030204" pitchFamily="49" charset="0"/>
              </a:rPr>
              <a:t>(list)</a:t>
            </a:r>
            <a:r>
              <a:rPr lang="zh-CN" altLang="en-US" b="1" dirty="0">
                <a:latin typeface="+mj-lt"/>
                <a:ea typeface="+mj-ea"/>
                <a:sym typeface="Consolas" panose="020B0609020204030204" pitchFamily="49" charset="0"/>
              </a:rPr>
              <a:t>。</a:t>
            </a:r>
            <a:endParaRPr lang="en-US" altLang="zh-CN" b="1"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生成线数据和复杂线数据：</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5C3985FD-62CC-1DB5-CE1F-A8B04069ACB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8D6C8211-6F88-100F-D55B-E10CDCDFF53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25</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5C44E5A8-82A0-DB0D-847F-C54278E0DBC4}"/>
              </a:ext>
            </a:extLst>
          </p:cNvPr>
          <p:cNvSpPr/>
          <p:nvPr/>
        </p:nvSpPr>
        <p:spPr>
          <a:xfrm>
            <a:off x="348615" y="1544163"/>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a:t>
            </a:r>
            <a:r>
              <a:rPr lang="zh-CN" altLang="en-US" sz="2400" b="1" dirty="0">
                <a:latin typeface="+mn-lt"/>
                <a:ea typeface="微软雅黑" panose="020B0503020204020204" pitchFamily="34" charset="-122"/>
                <a:cs typeface="+mn-ea"/>
                <a:sym typeface="Consolas" panose="020B0609020204030204" pitchFamily="49" charset="0"/>
              </a:rPr>
              <a:t>线数据</a:t>
            </a:r>
          </a:p>
        </p:txBody>
      </p:sp>
      <p:sp>
        <p:nvSpPr>
          <p:cNvPr id="2" name="文本框 1">
            <a:extLst>
              <a:ext uri="{FF2B5EF4-FFF2-40B4-BE49-F238E27FC236}">
                <a16:creationId xmlns:a16="http://schemas.microsoft.com/office/drawing/2014/main" id="{03D9FC1B-3B50-1EF0-BBAE-DD64170BDC3B}"/>
              </a:ext>
            </a:extLst>
          </p:cNvPr>
          <p:cNvSpPr txBox="1"/>
          <p:nvPr/>
        </p:nvSpPr>
        <p:spPr>
          <a:xfrm>
            <a:off x="457200" y="3960546"/>
            <a:ext cx="7688343"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st_linestring</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s2&lt;-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s3&lt;-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mls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st_multilinestring</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(s1,s2,s3))</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18191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090F4-8989-30F6-3825-C63FBFE46B8A}"/>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B10B18D6-9281-1019-CFA8-0A6BDF9B03A1}"/>
              </a:ext>
            </a:extLst>
          </p:cNvPr>
          <p:cNvSpPr/>
          <p:nvPr/>
        </p:nvSpPr>
        <p:spPr>
          <a:xfrm>
            <a:off x="258842" y="1792225"/>
            <a:ext cx="8626315"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进一步了解</a:t>
            </a:r>
            <a:r>
              <a:rPr lang="en-US" altLang="zh-CN" dirty="0">
                <a:latin typeface="+mj-lt"/>
                <a:ea typeface="+mj-ea"/>
                <a:sym typeface="Consolas" panose="020B0609020204030204" pitchFamily="49" charset="0"/>
              </a:rPr>
              <a:t>LINESTRING</a:t>
            </a:r>
            <a:r>
              <a:rPr lang="zh-CN" altLang="en-US" dirty="0">
                <a:latin typeface="+mj-lt"/>
                <a:ea typeface="+mj-ea"/>
                <a:sym typeface="Consolas" panose="020B0609020204030204" pitchFamily="49" charset="0"/>
              </a:rPr>
              <a:t>和</a:t>
            </a:r>
            <a:r>
              <a:rPr lang="en-US" altLang="zh-CN" dirty="0">
                <a:latin typeface="+mj-lt"/>
                <a:ea typeface="+mj-ea"/>
                <a:sym typeface="Consolas" panose="020B0609020204030204" pitchFamily="49" charset="0"/>
              </a:rPr>
              <a:t>MULTISTRNG</a:t>
            </a:r>
            <a:r>
              <a:rPr lang="zh-CN" altLang="en-US" dirty="0">
                <a:latin typeface="+mj-lt"/>
                <a:ea typeface="+mj-ea"/>
                <a:sym typeface="Consolas" panose="020B0609020204030204" pitchFamily="49" charset="0"/>
              </a:rPr>
              <a:t>数据对象的组成结构：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F7AC5D4B-474C-6BC3-13AF-0F98A701051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FE34C079-8CB6-0071-3EEB-E18C2793E73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26</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E9A110A9-6EDC-668B-E6FB-7CC4786185CA}"/>
              </a:ext>
            </a:extLst>
          </p:cNvPr>
          <p:cNvSpPr/>
          <p:nvPr/>
        </p:nvSpPr>
        <p:spPr>
          <a:xfrm>
            <a:off x="348615" y="1291219"/>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a:t>
            </a:r>
            <a:r>
              <a:rPr lang="zh-CN" altLang="en-US" sz="2400" b="1" dirty="0">
                <a:latin typeface="+mn-lt"/>
                <a:ea typeface="微软雅黑" panose="020B0503020204020204" pitchFamily="34" charset="-122"/>
                <a:cs typeface="+mn-ea"/>
                <a:sym typeface="Consolas" panose="020B0609020204030204" pitchFamily="49" charset="0"/>
              </a:rPr>
              <a:t>线数据</a:t>
            </a:r>
          </a:p>
        </p:txBody>
      </p:sp>
      <p:sp>
        <p:nvSpPr>
          <p:cNvPr id="2" name="文本框 1">
            <a:extLst>
              <a:ext uri="{FF2B5EF4-FFF2-40B4-BE49-F238E27FC236}">
                <a16:creationId xmlns:a16="http://schemas.microsoft.com/office/drawing/2014/main" id="{77A1F400-E8BF-1B92-6FFC-B2F452F5843A}"/>
              </a:ext>
            </a:extLst>
          </p:cNvPr>
          <p:cNvSpPr txBox="1"/>
          <p:nvPr/>
        </p:nvSpPr>
        <p:spPr>
          <a:xfrm>
            <a:off x="396214" y="2326672"/>
            <a:ext cx="7688343"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str(ls)</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mls</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mls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mls,col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71B73F0F-23A4-DDBC-685A-37B790A42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14" y="3845977"/>
            <a:ext cx="4876800" cy="1720804"/>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F83A0552-FEED-3786-7402-E0AB4F368DF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114" t="16239" r="3202" b="19307"/>
          <a:stretch/>
        </p:blipFill>
        <p:spPr bwMode="auto">
          <a:xfrm>
            <a:off x="5724621" y="3848100"/>
            <a:ext cx="3006874" cy="16764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8" name="文本框 7">
            <a:extLst>
              <a:ext uri="{FF2B5EF4-FFF2-40B4-BE49-F238E27FC236}">
                <a16:creationId xmlns:a16="http://schemas.microsoft.com/office/drawing/2014/main" id="{7C8B6044-B3B6-8D83-BA8D-890912E8B0BE}"/>
              </a:ext>
            </a:extLst>
          </p:cNvPr>
          <p:cNvSpPr txBox="1"/>
          <p:nvPr/>
        </p:nvSpPr>
        <p:spPr>
          <a:xfrm>
            <a:off x="574101" y="5638800"/>
            <a:ext cx="4521025" cy="307777"/>
          </a:xfrm>
          <a:prstGeom prst="rect">
            <a:avLst/>
          </a:prstGeom>
          <a:noFill/>
        </p:spPr>
        <p:txBody>
          <a:bodyPr wrap="square">
            <a:spAutoFit/>
          </a:bodyPr>
          <a:lstStyle/>
          <a:p>
            <a:pPr algn="ctr"/>
            <a:r>
              <a:rPr lang="en-US" altLang="zh-CN" sz="1400" dirty="0" err="1">
                <a:effectLst/>
                <a:latin typeface="+mn-lt"/>
                <a:ea typeface="+mn-ea"/>
              </a:rPr>
              <a:t>LINESTRING</a:t>
            </a:r>
            <a:r>
              <a:rPr lang="en-US" altLang="zh-CN" sz="1400" dirty="0" err="1">
                <a:effectLst/>
                <a:latin typeface="+mn-lt"/>
                <a:ea typeface="+mn-ea"/>
                <a:cs typeface="Times New Roman" panose="02020603050405020304" pitchFamily="18" charset="0"/>
              </a:rPr>
              <a:t>和</a:t>
            </a:r>
            <a:r>
              <a:rPr lang="en-US" altLang="zh-CN" sz="1400" dirty="0" err="1">
                <a:effectLst/>
                <a:latin typeface="+mn-lt"/>
                <a:ea typeface="+mn-ea"/>
              </a:rPr>
              <a:t>MULTISTRING</a:t>
            </a:r>
            <a:r>
              <a:rPr lang="en-US" altLang="zh-CN" sz="1400" dirty="0" err="1">
                <a:effectLst/>
                <a:latin typeface="+mn-lt"/>
                <a:ea typeface="+mn-ea"/>
                <a:cs typeface="Times New Roman" panose="02020603050405020304" pitchFamily="18" charset="0"/>
              </a:rPr>
              <a:t>的组成结构</a:t>
            </a:r>
            <a:endParaRPr lang="zh-CN" altLang="en-US" sz="1400" dirty="0">
              <a:latin typeface="+mn-lt"/>
              <a:ea typeface="+mn-ea"/>
            </a:endParaRPr>
          </a:p>
        </p:txBody>
      </p:sp>
      <p:sp>
        <p:nvSpPr>
          <p:cNvPr id="9" name="文本框 8">
            <a:extLst>
              <a:ext uri="{FF2B5EF4-FFF2-40B4-BE49-F238E27FC236}">
                <a16:creationId xmlns:a16="http://schemas.microsoft.com/office/drawing/2014/main" id="{23D48166-0220-BE4F-C4A9-C0CF4EA77D98}"/>
              </a:ext>
            </a:extLst>
          </p:cNvPr>
          <p:cNvSpPr txBox="1"/>
          <p:nvPr/>
        </p:nvSpPr>
        <p:spPr>
          <a:xfrm>
            <a:off x="4967545" y="5638800"/>
            <a:ext cx="4521025" cy="307777"/>
          </a:xfrm>
          <a:prstGeom prst="rect">
            <a:avLst/>
          </a:prstGeom>
          <a:noFill/>
        </p:spPr>
        <p:txBody>
          <a:bodyPr wrap="square">
            <a:spAutoFit/>
          </a:bodyPr>
          <a:lstStyle/>
          <a:p>
            <a:pPr algn="ctr"/>
            <a:r>
              <a:rPr lang="zh-CN" altLang="en-US" sz="1400" dirty="0">
                <a:effectLst/>
                <a:latin typeface="+mn-lt"/>
                <a:ea typeface="+mn-ea"/>
              </a:rPr>
              <a:t>生成的</a:t>
            </a:r>
            <a:r>
              <a:rPr lang="en-US" altLang="zh-CN" sz="1400" dirty="0">
                <a:effectLst/>
                <a:latin typeface="+mn-lt"/>
                <a:ea typeface="+mn-ea"/>
              </a:rPr>
              <a:t>LINESTRING</a:t>
            </a:r>
            <a:r>
              <a:rPr lang="zh-CN" altLang="en-US" sz="1400" dirty="0">
                <a:effectLst/>
                <a:latin typeface="+mn-lt"/>
                <a:ea typeface="+mn-ea"/>
              </a:rPr>
              <a:t>结果</a:t>
            </a:r>
            <a:endParaRPr lang="zh-CN" altLang="en-US" sz="1400" dirty="0">
              <a:latin typeface="+mn-lt"/>
              <a:ea typeface="+mn-ea"/>
            </a:endParaRPr>
          </a:p>
        </p:txBody>
      </p:sp>
    </p:spTree>
    <p:extLst>
      <p:ext uri="{BB962C8B-B14F-4D97-AF65-F5344CB8AC3E}">
        <p14:creationId xmlns:p14="http://schemas.microsoft.com/office/powerpoint/2010/main" val="2242600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2434-95D6-F1AE-2B29-33799FF5F09A}"/>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71F4103-6FA9-03BF-E2D7-325CDEC8DCE9}"/>
              </a:ext>
            </a:extLst>
          </p:cNvPr>
          <p:cNvSpPr/>
          <p:nvPr/>
        </p:nvSpPr>
        <p:spPr>
          <a:xfrm>
            <a:off x="563642" y="2554396"/>
            <a:ext cx="8016715" cy="2536207"/>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面数据</a:t>
            </a:r>
            <a:r>
              <a:rPr lang="en-US" altLang="zh-CN" b="1" dirty="0">
                <a:latin typeface="+mj-lt"/>
                <a:ea typeface="+mj-ea"/>
                <a:sym typeface="Consolas" panose="020B0609020204030204" pitchFamily="49" charset="0"/>
              </a:rPr>
              <a:t>(POLYGON)</a:t>
            </a:r>
            <a:r>
              <a:rPr lang="zh-CN" altLang="en-US" b="1" dirty="0">
                <a:latin typeface="+mj-lt"/>
                <a:ea typeface="+mj-ea"/>
                <a:sym typeface="Consolas" panose="020B0609020204030204" pitchFamily="49" charset="0"/>
              </a:rPr>
              <a:t>对象</a:t>
            </a:r>
            <a:r>
              <a:rPr lang="zh-CN" altLang="en-US" dirty="0">
                <a:latin typeface="+mj-lt"/>
                <a:ea typeface="+mj-ea"/>
                <a:sym typeface="Consolas" panose="020B0609020204030204" pitchFamily="49" charset="0"/>
              </a:rPr>
              <a:t>主要由</a:t>
            </a:r>
            <a:r>
              <a:rPr lang="zh-CN" altLang="en-US" b="1" dirty="0">
                <a:latin typeface="+mj-lt"/>
                <a:ea typeface="+mj-ea"/>
                <a:sym typeface="Consolas" panose="020B0609020204030204" pitchFamily="49" charset="0"/>
              </a:rPr>
              <a:t>首尾相连的多边形边界</a:t>
            </a:r>
            <a:r>
              <a:rPr lang="zh-CN" altLang="en-US" dirty="0">
                <a:latin typeface="+mj-lt"/>
                <a:ea typeface="+mj-ea"/>
                <a:sym typeface="Consolas" panose="020B0609020204030204" pitchFamily="49" charset="0"/>
              </a:rPr>
              <a:t>构成，部分情况下可能还有若干个内部的</a:t>
            </a:r>
            <a:r>
              <a:rPr lang="zh-CN" altLang="en-US" b="1" dirty="0">
                <a:latin typeface="+mj-lt"/>
                <a:ea typeface="+mj-ea"/>
                <a:sym typeface="Consolas" panose="020B0609020204030204" pitchFamily="49" charset="0"/>
              </a:rPr>
              <a:t>孔洞</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外层多边形和内部孔洞结构与线数据对象类似，都是点坐标序列构成的矩阵</a:t>
            </a:r>
            <a:r>
              <a:rPr lang="en-US" altLang="zh-CN" dirty="0">
                <a:latin typeface="+mj-lt"/>
                <a:ea typeface="+mj-ea"/>
                <a:sym typeface="Consolas" panose="020B0609020204030204" pitchFamily="49" charset="0"/>
              </a:rPr>
              <a:t>(matrix)</a:t>
            </a:r>
            <a:r>
              <a:rPr lang="zh-CN" altLang="en-US" dirty="0">
                <a:latin typeface="+mj-lt"/>
                <a:ea typeface="+mj-ea"/>
                <a:sym typeface="Consolas" panose="020B0609020204030204" pitchFamily="49" charset="0"/>
              </a:rPr>
              <a:t>，但要求起始点和终点相同，即边界闭合。</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en-US" altLang="zh-CN" dirty="0">
                <a:latin typeface="+mj-lt"/>
                <a:ea typeface="+mj-ea"/>
                <a:sym typeface="Consolas" panose="020B0609020204030204" pitchFamily="49" charset="0"/>
              </a:rPr>
              <a:t>POLYGON</a:t>
            </a:r>
            <a:r>
              <a:rPr lang="zh-CN" altLang="en-US" dirty="0">
                <a:latin typeface="+mj-lt"/>
                <a:ea typeface="+mj-ea"/>
                <a:sym typeface="Consolas" panose="020B0609020204030204" pitchFamily="49" charset="0"/>
              </a:rPr>
              <a:t>数据是</a:t>
            </a:r>
            <a:r>
              <a:rPr lang="zh-CN" altLang="en-US" b="1" dirty="0">
                <a:latin typeface="+mj-lt"/>
                <a:ea typeface="+mj-ea"/>
                <a:sym typeface="Consolas" panose="020B0609020204030204" pitchFamily="49" charset="0"/>
              </a:rPr>
              <a:t>外层多边形和内部孔洞构成的列表</a:t>
            </a:r>
            <a:r>
              <a:rPr lang="en-US" altLang="zh-CN" b="1" dirty="0">
                <a:latin typeface="+mj-lt"/>
                <a:ea typeface="+mj-ea"/>
                <a:sym typeface="Consolas" panose="020B0609020204030204" pitchFamily="49" charset="0"/>
              </a:rPr>
              <a:t>(list)</a:t>
            </a:r>
            <a:r>
              <a:rPr lang="zh-CN" altLang="en-US" dirty="0">
                <a:latin typeface="+mj-lt"/>
                <a:ea typeface="+mj-ea"/>
                <a:sym typeface="Consolas" panose="020B0609020204030204" pitchFamily="49" charset="0"/>
              </a:rPr>
              <a:t>，而</a:t>
            </a:r>
            <a:r>
              <a:rPr lang="zh-CN" altLang="en-US" b="1" dirty="0">
                <a:latin typeface="+mj-lt"/>
                <a:ea typeface="+mj-ea"/>
                <a:sym typeface="Consolas" panose="020B0609020204030204" pitchFamily="49" charset="0"/>
              </a:rPr>
              <a:t>复杂面数据</a:t>
            </a:r>
            <a:r>
              <a:rPr lang="en-US" altLang="zh-CN" b="1" dirty="0">
                <a:latin typeface="+mj-lt"/>
                <a:ea typeface="+mj-ea"/>
                <a:sym typeface="Consolas" panose="020B0609020204030204" pitchFamily="49" charset="0"/>
              </a:rPr>
              <a:t>(MULTIPOLYGON)</a:t>
            </a:r>
            <a:r>
              <a:rPr lang="zh-CN" altLang="en-US" b="1" dirty="0">
                <a:latin typeface="+mj-lt"/>
                <a:ea typeface="+mj-ea"/>
                <a:sym typeface="Consolas" panose="020B0609020204030204" pitchFamily="49" charset="0"/>
              </a:rPr>
              <a:t>数据</a:t>
            </a:r>
            <a:r>
              <a:rPr lang="zh-CN" altLang="en-US" dirty="0">
                <a:latin typeface="+mj-lt"/>
                <a:ea typeface="+mj-ea"/>
                <a:sym typeface="Consolas" panose="020B0609020204030204" pitchFamily="49" charset="0"/>
              </a:rPr>
              <a:t>则是</a:t>
            </a:r>
            <a:r>
              <a:rPr lang="zh-CN" altLang="en-US" b="1" dirty="0">
                <a:latin typeface="+mj-lt"/>
                <a:ea typeface="+mj-ea"/>
                <a:sym typeface="Consolas" panose="020B0609020204030204" pitchFamily="49" charset="0"/>
              </a:rPr>
              <a:t>若干个</a:t>
            </a:r>
            <a:r>
              <a:rPr lang="en-US" altLang="zh-CN" b="1" dirty="0">
                <a:latin typeface="+mj-lt"/>
                <a:ea typeface="+mj-ea"/>
                <a:sym typeface="Consolas" panose="020B0609020204030204" pitchFamily="49" charset="0"/>
              </a:rPr>
              <a:t>POLYGON</a:t>
            </a:r>
            <a:r>
              <a:rPr lang="zh-CN" altLang="en-US" b="1" dirty="0">
                <a:latin typeface="+mj-lt"/>
                <a:ea typeface="+mj-ea"/>
                <a:sym typeface="Consolas" panose="020B0609020204030204" pitchFamily="49" charset="0"/>
              </a:rPr>
              <a:t>数据构成的列表</a:t>
            </a:r>
            <a:r>
              <a:rPr lang="en-US" altLang="zh-CN" b="1" dirty="0">
                <a:latin typeface="+mj-lt"/>
                <a:ea typeface="+mj-ea"/>
                <a:sym typeface="Consolas" panose="020B0609020204030204" pitchFamily="49" charset="0"/>
              </a:rPr>
              <a:t>(list)</a:t>
            </a:r>
            <a:r>
              <a:rPr lang="zh-CN" altLang="en-US" dirty="0">
                <a:latin typeface="+mj-lt"/>
                <a:ea typeface="+mj-ea"/>
                <a:sym typeface="Consolas" panose="020B0609020204030204" pitchFamily="49" charset="0"/>
              </a:rPr>
              <a:t>。</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6A9AF970-F80A-7C74-4296-EBB6CB2C062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77ED3334-F7F9-A59E-4354-8911AC361F3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27</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BD5617F1-3987-2090-B51A-170774E88251}"/>
              </a:ext>
            </a:extLst>
          </p:cNvPr>
          <p:cNvSpPr/>
          <p:nvPr/>
        </p:nvSpPr>
        <p:spPr>
          <a:xfrm>
            <a:off x="493159" y="1866900"/>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spTree>
    <p:extLst>
      <p:ext uri="{BB962C8B-B14F-4D97-AF65-F5344CB8AC3E}">
        <p14:creationId xmlns:p14="http://schemas.microsoft.com/office/powerpoint/2010/main" val="1137856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703A6-9042-5790-41FF-F05B4AC434E4}"/>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04C04EB6-B97C-0F66-8CEB-F4CEF891F5E8}"/>
              </a:ext>
            </a:extLst>
          </p:cNvPr>
          <p:cNvSpPr/>
          <p:nvPr/>
        </p:nvSpPr>
        <p:spPr>
          <a:xfrm>
            <a:off x="403385" y="1767398"/>
            <a:ext cx="8626315"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生成一般的面数据和带孔洞的面数据以及复杂面数据对象：</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E989490A-A359-E9DD-23E7-9E0C12570411}"/>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07E03BF6-D9C4-023D-6541-A59EC701FCA5}"/>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28</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1F1A9796-D579-39DF-C38F-80E9ACDFC180}"/>
              </a:ext>
            </a:extLst>
          </p:cNvPr>
          <p:cNvSpPr/>
          <p:nvPr/>
        </p:nvSpPr>
        <p:spPr>
          <a:xfrm>
            <a:off x="493159" y="1269633"/>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sp>
        <p:nvSpPr>
          <p:cNvPr id="2" name="文本框 1">
            <a:extLst>
              <a:ext uri="{FF2B5EF4-FFF2-40B4-BE49-F238E27FC236}">
                <a16:creationId xmlns:a16="http://schemas.microsoft.com/office/drawing/2014/main" id="{B286DD3A-B946-9B47-1822-C36C24996E46}"/>
              </a:ext>
            </a:extLst>
          </p:cNvPr>
          <p:cNvSpPr txBox="1"/>
          <p:nvPr/>
        </p:nvSpPr>
        <p:spPr>
          <a:xfrm>
            <a:off x="571500" y="2380501"/>
            <a:ext cx="8645849" cy="28007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st_polygon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254000" algn="just">
              <a:buNone/>
            </a:pPr>
            <a:r>
              <a:rPr lang="en-US" altLang="zh-CN" sz="1600" dirty="0">
                <a:solidFill>
                  <a:srgbClr val="8000FF"/>
                </a:solidFill>
                <a:effectLst/>
                <a:latin typeface="Consolas" panose="020B0609020204030204" pitchFamily="49" charset="0"/>
                <a:ea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p2&lt;-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p3&lt;-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st_polygon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(p1,p2,p3))</a:t>
            </a:r>
            <a:endParaRPr lang="zh-CN" altLang="zh-CN" sz="1600" dirty="0">
              <a:effectLst/>
              <a:latin typeface="Times New Roman" panose="02020603050405020304" pitchFamily="18" charset="0"/>
              <a:ea typeface="宋体" panose="02010600030101010101" pitchFamily="2" charset="-122"/>
            </a:endParaRPr>
          </a:p>
          <a:p>
            <a:pPr indent="254000" algn="just">
              <a:buNone/>
            </a:pPr>
            <a:r>
              <a:rPr lang="en-US" altLang="zh-CN" sz="1600" dirty="0">
                <a:solidFill>
                  <a:srgbClr val="8000FF"/>
                </a:solidFill>
                <a:effectLst/>
                <a:latin typeface="Consolas" panose="020B0609020204030204" pitchFamily="49" charset="0"/>
                <a:ea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p4&lt;-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p5&lt;-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p6&lt;-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st_multipolygon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(p1,p2,p3),</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(p4,p5),</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(p6)))</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86901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2EAD-B7CA-6E8D-D60F-24D63C527221}"/>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510ECB6-7DF9-0ED1-D4CE-4D2A071B0B5A}"/>
              </a:ext>
            </a:extLst>
          </p:cNvPr>
          <p:cNvSpPr/>
          <p:nvPr/>
        </p:nvSpPr>
        <p:spPr>
          <a:xfrm>
            <a:off x="403385" y="1767398"/>
            <a:ext cx="8626315" cy="458715"/>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进一步了解</a:t>
            </a:r>
            <a:r>
              <a:rPr lang="en-US" altLang="zh-CN" dirty="0">
                <a:latin typeface="+mj-lt"/>
                <a:ea typeface="+mj-ea"/>
                <a:sym typeface="Consolas" panose="020B0609020204030204" pitchFamily="49" charset="0"/>
              </a:rPr>
              <a:t>POLYGON</a:t>
            </a:r>
            <a:r>
              <a:rPr lang="zh-CN" altLang="en-US" dirty="0">
                <a:latin typeface="+mj-lt"/>
                <a:ea typeface="+mj-ea"/>
                <a:sym typeface="Consolas" panose="020B0609020204030204" pitchFamily="49" charset="0"/>
              </a:rPr>
              <a:t>和</a:t>
            </a:r>
            <a:r>
              <a:rPr lang="en-US" altLang="zh-CN" dirty="0">
                <a:latin typeface="+mj-lt"/>
                <a:ea typeface="+mj-ea"/>
                <a:sym typeface="Consolas" panose="020B0609020204030204" pitchFamily="49" charset="0"/>
              </a:rPr>
              <a:t>MULTIPOLYGON</a:t>
            </a:r>
            <a:r>
              <a:rPr lang="zh-CN" altLang="en-US" dirty="0">
                <a:latin typeface="+mj-lt"/>
                <a:ea typeface="+mj-ea"/>
                <a:sym typeface="Consolas" panose="020B0609020204030204" pitchFamily="49" charset="0"/>
              </a:rPr>
              <a:t>数据的组成结构：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3C3C76E2-C8A3-5DFD-D9CF-0174B37C967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A3ABFEC8-8D7B-5032-D2D5-FF07F217687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29</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F1F6F97E-8D58-BDAE-87C4-98CCB5ADA0B9}"/>
              </a:ext>
            </a:extLst>
          </p:cNvPr>
          <p:cNvSpPr/>
          <p:nvPr/>
        </p:nvSpPr>
        <p:spPr>
          <a:xfrm>
            <a:off x="493159" y="1269633"/>
            <a:ext cx="1544012" cy="497765"/>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(3) </a:t>
            </a:r>
            <a:r>
              <a:rPr lang="zh-CN" altLang="en-US" sz="2400" b="1" dirty="0">
                <a:latin typeface="+mn-lt"/>
                <a:ea typeface="微软雅黑" panose="020B0503020204020204" pitchFamily="34" charset="-122"/>
                <a:cs typeface="+mn-ea"/>
                <a:sym typeface="Consolas" panose="020B0609020204030204" pitchFamily="49" charset="0"/>
              </a:rPr>
              <a:t>面数据</a:t>
            </a:r>
          </a:p>
        </p:txBody>
      </p:sp>
      <p:sp>
        <p:nvSpPr>
          <p:cNvPr id="2" name="文本框 1">
            <a:extLst>
              <a:ext uri="{FF2B5EF4-FFF2-40B4-BE49-F238E27FC236}">
                <a16:creationId xmlns:a16="http://schemas.microsoft.com/office/drawing/2014/main" id="{90DBB61E-5364-0C2F-9626-BD4583432995}"/>
              </a:ext>
            </a:extLst>
          </p:cNvPr>
          <p:cNvSpPr txBox="1"/>
          <p:nvPr/>
        </p:nvSpPr>
        <p:spPr>
          <a:xfrm>
            <a:off x="647700" y="2210320"/>
            <a:ext cx="3162300" cy="160043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str(pol)</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mpol</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mpol,col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E4A1D69-BF4C-D50D-A88C-41B7DDDBF0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09900" y="3415074"/>
            <a:ext cx="5867400" cy="2605222"/>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4DACE41E-EB97-925A-A7D9-05ADC0F5BC21}"/>
              </a:ext>
            </a:extLst>
          </p:cNvPr>
          <p:cNvPicPr>
            <a:picLocks noChangeAspect="1"/>
          </p:cNvPicPr>
          <p:nvPr/>
        </p:nvPicPr>
        <p:blipFill>
          <a:blip r:embed="rId3" cstate="print">
            <a:extLst>
              <a:ext uri="{28A0092B-C50C-407E-A947-70E740481C1C}">
                <a14:useLocalDpi xmlns:a14="http://schemas.microsoft.com/office/drawing/2010/main" val="0"/>
              </a:ext>
            </a:extLst>
          </a:blip>
          <a:srcRect l="22550" t="10459" r="17180" b="12429"/>
          <a:stretch/>
        </p:blipFill>
        <p:spPr>
          <a:xfrm>
            <a:off x="571500" y="3988803"/>
            <a:ext cx="2040169" cy="1957237"/>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5F97B002-D7E6-33D2-A7D5-B4C08B9AF623}"/>
              </a:ext>
            </a:extLst>
          </p:cNvPr>
          <p:cNvSpPr txBox="1"/>
          <p:nvPr/>
        </p:nvSpPr>
        <p:spPr>
          <a:xfrm>
            <a:off x="3911687" y="6122614"/>
            <a:ext cx="4063825" cy="307777"/>
          </a:xfrm>
          <a:prstGeom prst="rect">
            <a:avLst/>
          </a:prstGeom>
          <a:noFill/>
        </p:spPr>
        <p:txBody>
          <a:bodyPr wrap="square">
            <a:spAutoFit/>
          </a:bodyPr>
          <a:lstStyle/>
          <a:p>
            <a:pPr algn="ctr"/>
            <a:r>
              <a:rPr lang="en-US" altLang="zh-CN" sz="1400" dirty="0" err="1">
                <a:effectLst/>
                <a:latin typeface="+mj-lt"/>
                <a:ea typeface="+mj-ea"/>
              </a:rPr>
              <a:t>POLYGON</a:t>
            </a:r>
            <a:r>
              <a:rPr lang="en-US" altLang="zh-CN" sz="1400" dirty="0" err="1">
                <a:effectLst/>
                <a:latin typeface="+mj-lt"/>
                <a:ea typeface="+mj-ea"/>
                <a:cs typeface="Times New Roman" panose="02020603050405020304" pitchFamily="18" charset="0"/>
              </a:rPr>
              <a:t>和</a:t>
            </a:r>
            <a:r>
              <a:rPr lang="en-US" altLang="zh-CN" sz="1400" dirty="0" err="1">
                <a:effectLst/>
                <a:latin typeface="+mj-lt"/>
                <a:ea typeface="+mj-ea"/>
              </a:rPr>
              <a:t>MULTIPOLYGON</a:t>
            </a:r>
            <a:r>
              <a:rPr lang="en-US" altLang="zh-CN" sz="1400" dirty="0" err="1">
                <a:effectLst/>
                <a:latin typeface="+mj-lt"/>
                <a:ea typeface="+mj-ea"/>
                <a:cs typeface="Times New Roman" panose="02020603050405020304" pitchFamily="18" charset="0"/>
              </a:rPr>
              <a:t>的组成结构</a:t>
            </a:r>
            <a:endParaRPr lang="zh-CN" altLang="en-US" sz="1400" dirty="0">
              <a:latin typeface="+mj-lt"/>
              <a:ea typeface="+mj-ea"/>
            </a:endParaRPr>
          </a:p>
        </p:txBody>
      </p:sp>
      <p:sp>
        <p:nvSpPr>
          <p:cNvPr id="8" name="文本框 7">
            <a:extLst>
              <a:ext uri="{FF2B5EF4-FFF2-40B4-BE49-F238E27FC236}">
                <a16:creationId xmlns:a16="http://schemas.microsoft.com/office/drawing/2014/main" id="{51B10537-9380-1508-41C3-05AFF1D6BDB5}"/>
              </a:ext>
            </a:extLst>
          </p:cNvPr>
          <p:cNvSpPr txBox="1"/>
          <p:nvPr/>
        </p:nvSpPr>
        <p:spPr>
          <a:xfrm>
            <a:off x="524784" y="6044452"/>
            <a:ext cx="2133600" cy="307777"/>
          </a:xfrm>
          <a:prstGeom prst="rect">
            <a:avLst/>
          </a:prstGeom>
          <a:noFill/>
        </p:spPr>
        <p:txBody>
          <a:bodyPr wrap="square">
            <a:spAutoFit/>
          </a:bodyPr>
          <a:lstStyle/>
          <a:p>
            <a:pPr algn="ctr"/>
            <a:r>
              <a:rPr lang="zh-CN" altLang="en-US" sz="1400" dirty="0">
                <a:effectLst/>
                <a:latin typeface="+mj-lt"/>
                <a:ea typeface="+mj-ea"/>
              </a:rPr>
              <a:t>生成的面数据绘制结果</a:t>
            </a:r>
            <a:endParaRPr lang="zh-CN" altLang="en-US" sz="1400" dirty="0">
              <a:latin typeface="+mj-lt"/>
              <a:ea typeface="+mj-ea"/>
            </a:endParaRPr>
          </a:p>
        </p:txBody>
      </p:sp>
    </p:spTree>
    <p:extLst>
      <p:ext uri="{BB962C8B-B14F-4D97-AF65-F5344CB8AC3E}">
        <p14:creationId xmlns:p14="http://schemas.microsoft.com/office/powerpoint/2010/main" val="2445651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5D2DA-59EE-629F-18A7-8E22E838E38C}"/>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86BF9A54-311A-C07F-CF74-4E6CBC4CA791}"/>
              </a:ext>
            </a:extLst>
          </p:cNvPr>
          <p:cNvSpPr/>
          <p:nvPr/>
        </p:nvSpPr>
        <p:spPr>
          <a:xfrm>
            <a:off x="114300" y="1866900"/>
            <a:ext cx="8801100" cy="1289712"/>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几何对象集合</a:t>
            </a:r>
            <a:r>
              <a:rPr lang="en-US" altLang="zh-CN" b="1" dirty="0">
                <a:latin typeface="+mj-lt"/>
                <a:ea typeface="+mj-ea"/>
                <a:sym typeface="Consolas" panose="020B0609020204030204" pitchFamily="49" charset="0"/>
              </a:rPr>
              <a:t>(GEOMETRYCOLLECTION)</a:t>
            </a:r>
            <a:r>
              <a:rPr lang="zh-CN" altLang="en-US" dirty="0">
                <a:latin typeface="+mj-lt"/>
                <a:ea typeface="+mj-ea"/>
                <a:sym typeface="Consolas" panose="020B0609020204030204" pitchFamily="49" charset="0"/>
              </a:rPr>
              <a:t>数据指的是</a:t>
            </a:r>
            <a:r>
              <a:rPr lang="zh-CN" altLang="en-US" b="1" dirty="0">
                <a:latin typeface="+mj-lt"/>
                <a:ea typeface="+mj-ea"/>
                <a:sym typeface="Consolas" panose="020B0609020204030204" pitchFamily="49" charset="0"/>
              </a:rPr>
              <a:t>点数据、线数据或面数据等多种不同类型数据的集合</a:t>
            </a:r>
            <a:r>
              <a:rPr lang="zh-CN" altLang="en-US" dirty="0">
                <a:latin typeface="+mj-lt"/>
                <a:ea typeface="+mj-ea"/>
                <a:sym typeface="Consolas" panose="020B0609020204030204" pitchFamily="49" charset="0"/>
              </a:rPr>
              <a:t>，在</a:t>
            </a:r>
            <a:r>
              <a:rPr lang="en-US" altLang="zh-CN" b="1" dirty="0">
                <a:latin typeface="+mj-lt"/>
                <a:ea typeface="+mj-ea"/>
                <a:sym typeface="Consolas" panose="020B0609020204030204" pitchFamily="49" charset="0"/>
              </a:rPr>
              <a:t>R</a:t>
            </a:r>
            <a:r>
              <a:rPr lang="zh-CN" altLang="en-US" dirty="0">
                <a:latin typeface="+mj-lt"/>
                <a:ea typeface="+mj-ea"/>
                <a:sym typeface="Consolas" panose="020B0609020204030204" pitchFamily="49" charset="0"/>
              </a:rPr>
              <a:t>语言中由对应不同类型数据的</a:t>
            </a:r>
            <a:r>
              <a:rPr lang="zh-CN" altLang="en-US" b="1" dirty="0">
                <a:latin typeface="+mj-lt"/>
                <a:ea typeface="+mj-ea"/>
                <a:sym typeface="Consolas" panose="020B0609020204030204" pitchFamily="49" charset="0"/>
              </a:rPr>
              <a:t>列表</a:t>
            </a:r>
            <a:r>
              <a:rPr lang="en-US" altLang="zh-CN" b="1" dirty="0">
                <a:latin typeface="+mj-lt"/>
                <a:ea typeface="+mj-ea"/>
                <a:sym typeface="Consolas" panose="020B0609020204030204" pitchFamily="49" charset="0"/>
              </a:rPr>
              <a:t>(list)</a:t>
            </a:r>
            <a:r>
              <a:rPr lang="zh-CN" altLang="en-US" b="1" dirty="0">
                <a:latin typeface="+mj-lt"/>
                <a:ea typeface="+mj-ea"/>
                <a:sym typeface="Consolas" panose="020B0609020204030204" pitchFamily="49" charset="0"/>
              </a:rPr>
              <a:t>对象</a:t>
            </a:r>
            <a:r>
              <a:rPr lang="zh-CN" altLang="en-US" dirty="0">
                <a:latin typeface="+mj-lt"/>
                <a:ea typeface="+mj-ea"/>
                <a:sym typeface="Consolas" panose="020B0609020204030204" pitchFamily="49" charset="0"/>
              </a:rPr>
              <a:t>表示。</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生成由点数据、面数据和线数据共同构成的几何对象集合，并查看其组成结构：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E1059F83-5AB7-03E5-9268-57524B56D72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024F8078-0731-54B7-99E8-DA3A2D71967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30</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D052DE79-286A-E9E2-CF11-60C1D86734DA}"/>
              </a:ext>
            </a:extLst>
          </p:cNvPr>
          <p:cNvSpPr/>
          <p:nvPr/>
        </p:nvSpPr>
        <p:spPr>
          <a:xfrm>
            <a:off x="319851" y="1277612"/>
            <a:ext cx="2708756" cy="497765"/>
          </a:xfrm>
          <a:prstGeom prst="rect">
            <a:avLst/>
          </a:prstGeom>
        </p:spPr>
        <p:txBody>
          <a:bodyPr wrap="squar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几何对象集合</a:t>
            </a:r>
          </a:p>
        </p:txBody>
      </p:sp>
      <p:sp>
        <p:nvSpPr>
          <p:cNvPr id="2" name="文本框 1">
            <a:extLst>
              <a:ext uri="{FF2B5EF4-FFF2-40B4-BE49-F238E27FC236}">
                <a16:creationId xmlns:a16="http://schemas.microsoft.com/office/drawing/2014/main" id="{950A439B-032A-A579-55C7-0ABCE3EFD028}"/>
              </a:ext>
            </a:extLst>
          </p:cNvPr>
          <p:cNvSpPr txBox="1"/>
          <p:nvPr/>
        </p:nvSpPr>
        <p:spPr>
          <a:xfrm>
            <a:off x="457200" y="3150578"/>
            <a:ext cx="8645849" cy="310854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4.6</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3.6</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3.9</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st_multipoint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p2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p3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p4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p5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st_multipolygon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(p1,p2),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(p3,p4),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(p5)))</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st_linestring</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st_geometrycollection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mp,mpol,ls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gc</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gc,col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70502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3BDFC-F4D8-F852-2A11-BAD0787D631F}"/>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BC42024D-9FFB-125C-0E96-E7826684CD59}"/>
              </a:ext>
            </a:extLst>
          </p:cNvPr>
          <p:cNvSpPr/>
          <p:nvPr/>
        </p:nvSpPr>
        <p:spPr>
          <a:xfrm>
            <a:off x="114300" y="1866900"/>
            <a:ext cx="8801100" cy="1289712"/>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几何对象集合</a:t>
            </a:r>
            <a:r>
              <a:rPr lang="en-US" altLang="zh-CN" b="1" dirty="0">
                <a:latin typeface="+mj-lt"/>
                <a:ea typeface="+mj-ea"/>
                <a:sym typeface="Consolas" panose="020B0609020204030204" pitchFamily="49" charset="0"/>
              </a:rPr>
              <a:t>(GEOMETRYCOLLECTION)</a:t>
            </a:r>
            <a:r>
              <a:rPr lang="zh-CN" altLang="en-US" dirty="0">
                <a:latin typeface="+mj-lt"/>
                <a:ea typeface="+mj-ea"/>
                <a:sym typeface="Consolas" panose="020B0609020204030204" pitchFamily="49" charset="0"/>
              </a:rPr>
              <a:t>数据指的是</a:t>
            </a:r>
            <a:r>
              <a:rPr lang="zh-CN" altLang="en-US" b="1" dirty="0">
                <a:latin typeface="+mj-lt"/>
                <a:ea typeface="+mj-ea"/>
                <a:sym typeface="Consolas" panose="020B0609020204030204" pitchFamily="49" charset="0"/>
              </a:rPr>
              <a:t>点数据、线数据或面数据等多种不同类型数据的集合</a:t>
            </a:r>
            <a:r>
              <a:rPr lang="zh-CN" altLang="en-US" dirty="0">
                <a:latin typeface="+mj-lt"/>
                <a:ea typeface="+mj-ea"/>
                <a:sym typeface="Consolas" panose="020B0609020204030204" pitchFamily="49" charset="0"/>
              </a:rPr>
              <a:t>，在</a:t>
            </a:r>
            <a:r>
              <a:rPr lang="en-US" altLang="zh-CN" b="1" dirty="0">
                <a:latin typeface="+mj-lt"/>
                <a:ea typeface="+mj-ea"/>
                <a:sym typeface="Consolas" panose="020B0609020204030204" pitchFamily="49" charset="0"/>
              </a:rPr>
              <a:t>R</a:t>
            </a:r>
            <a:r>
              <a:rPr lang="zh-CN" altLang="en-US" dirty="0">
                <a:latin typeface="+mj-lt"/>
                <a:ea typeface="+mj-ea"/>
                <a:sym typeface="Consolas" panose="020B0609020204030204" pitchFamily="49" charset="0"/>
              </a:rPr>
              <a:t>语言中由对应不同类型数据的</a:t>
            </a:r>
            <a:r>
              <a:rPr lang="zh-CN" altLang="en-US" b="1" dirty="0">
                <a:latin typeface="+mj-lt"/>
                <a:ea typeface="+mj-ea"/>
                <a:sym typeface="Consolas" panose="020B0609020204030204" pitchFamily="49" charset="0"/>
              </a:rPr>
              <a:t>列表</a:t>
            </a:r>
            <a:r>
              <a:rPr lang="en-US" altLang="zh-CN" b="1" dirty="0">
                <a:latin typeface="+mj-lt"/>
                <a:ea typeface="+mj-ea"/>
                <a:sym typeface="Consolas" panose="020B0609020204030204" pitchFamily="49" charset="0"/>
              </a:rPr>
              <a:t>(list)</a:t>
            </a:r>
            <a:r>
              <a:rPr lang="zh-CN" altLang="en-US" b="1" dirty="0">
                <a:latin typeface="+mj-lt"/>
                <a:ea typeface="+mj-ea"/>
                <a:sym typeface="Consolas" panose="020B0609020204030204" pitchFamily="49" charset="0"/>
              </a:rPr>
              <a:t>对象</a:t>
            </a:r>
            <a:r>
              <a:rPr lang="zh-CN" altLang="en-US" dirty="0">
                <a:latin typeface="+mj-lt"/>
                <a:ea typeface="+mj-ea"/>
                <a:sym typeface="Consolas" panose="020B0609020204030204" pitchFamily="49" charset="0"/>
              </a:rPr>
              <a:t>表示。</a:t>
            </a:r>
            <a:endParaRPr lang="en-US" altLang="zh-CN" dirty="0">
              <a:latin typeface="+mj-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生成由点数据、面数据和线数据共同构成的几何对象集合，并查看其组成结构：</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250793E1-BCA0-846D-2B1C-2B4D015643F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DD8BC8BF-4284-FB3B-1B26-A24819D85C51}"/>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31</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17535C32-C976-1FE6-5C08-2531D80C343C}"/>
              </a:ext>
            </a:extLst>
          </p:cNvPr>
          <p:cNvSpPr/>
          <p:nvPr/>
        </p:nvSpPr>
        <p:spPr>
          <a:xfrm>
            <a:off x="319851" y="1277612"/>
            <a:ext cx="2708756" cy="497765"/>
          </a:xfrm>
          <a:prstGeom prst="rect">
            <a:avLst/>
          </a:prstGeom>
        </p:spPr>
        <p:txBody>
          <a:bodyPr wrap="squar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(4) </a:t>
            </a:r>
            <a:r>
              <a:rPr lang="zh-CN" altLang="en-US" sz="2400" b="1" dirty="0">
                <a:latin typeface="+mn-lt"/>
                <a:ea typeface="微软雅黑" panose="020B0503020204020204" pitchFamily="34" charset="-122"/>
                <a:cs typeface="+mn-ea"/>
                <a:sym typeface="Consolas" panose="020B0609020204030204" pitchFamily="49" charset="0"/>
              </a:rPr>
              <a:t>几何对象集合</a:t>
            </a:r>
          </a:p>
        </p:txBody>
      </p:sp>
      <p:pic>
        <p:nvPicPr>
          <p:cNvPr id="4" name="图片 3">
            <a:extLst>
              <a:ext uri="{FF2B5EF4-FFF2-40B4-BE49-F238E27FC236}">
                <a16:creationId xmlns:a16="http://schemas.microsoft.com/office/drawing/2014/main" id="{647C4CA2-A871-1EF1-6DA2-76434C5E74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 y="3661161"/>
            <a:ext cx="6054344" cy="1708570"/>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16F18438-3D28-EF28-D52F-5E2D4064AE4E}"/>
              </a:ext>
            </a:extLst>
          </p:cNvPr>
          <p:cNvPicPr>
            <a:picLocks noChangeAspect="1"/>
          </p:cNvPicPr>
          <p:nvPr/>
        </p:nvPicPr>
        <p:blipFill>
          <a:blip r:embed="rId3" cstate="print">
            <a:extLst>
              <a:ext uri="{28A0092B-C50C-407E-A947-70E740481C1C}">
                <a14:useLocalDpi xmlns:a14="http://schemas.microsoft.com/office/drawing/2010/main" val="0"/>
              </a:ext>
            </a:extLst>
          </a:blip>
          <a:srcRect l="26883" t="10501" r="20383" b="13390"/>
          <a:stretch/>
        </p:blipFill>
        <p:spPr>
          <a:xfrm>
            <a:off x="6535050" y="3227449"/>
            <a:ext cx="2380350" cy="2575994"/>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25169013-0212-25E8-0C6E-DB92D8D4C0ED}"/>
              </a:ext>
            </a:extLst>
          </p:cNvPr>
          <p:cNvSpPr txBox="1"/>
          <p:nvPr/>
        </p:nvSpPr>
        <p:spPr>
          <a:xfrm>
            <a:off x="1338159" y="5503631"/>
            <a:ext cx="3759025" cy="307777"/>
          </a:xfrm>
          <a:prstGeom prst="rect">
            <a:avLst/>
          </a:prstGeom>
          <a:noFill/>
        </p:spPr>
        <p:txBody>
          <a:bodyPr wrap="square">
            <a:spAutoFit/>
          </a:bodyPr>
          <a:lstStyle/>
          <a:p>
            <a:pPr algn="ctr"/>
            <a:r>
              <a:rPr lang="en-US" altLang="zh-CN" sz="1400" dirty="0" err="1">
                <a:effectLst/>
                <a:latin typeface="+mj-lt"/>
                <a:ea typeface="+mj-ea"/>
              </a:rPr>
              <a:t>GEOMETRYCOLLECTION</a:t>
            </a:r>
            <a:r>
              <a:rPr lang="en-US" altLang="zh-CN" sz="1400" dirty="0" err="1">
                <a:effectLst/>
                <a:latin typeface="+mj-lt"/>
                <a:ea typeface="+mj-ea"/>
                <a:cs typeface="Times New Roman" panose="02020603050405020304" pitchFamily="18" charset="0"/>
              </a:rPr>
              <a:t>数据的组成结构</a:t>
            </a:r>
            <a:endParaRPr lang="zh-CN" altLang="en-US" sz="1400" dirty="0">
              <a:latin typeface="+mj-lt"/>
              <a:ea typeface="+mj-ea"/>
            </a:endParaRPr>
          </a:p>
        </p:txBody>
      </p:sp>
      <p:sp>
        <p:nvSpPr>
          <p:cNvPr id="8" name="文本框 7">
            <a:extLst>
              <a:ext uri="{FF2B5EF4-FFF2-40B4-BE49-F238E27FC236}">
                <a16:creationId xmlns:a16="http://schemas.microsoft.com/office/drawing/2014/main" id="{A800EA62-03A4-C810-08C1-A5F415DC0729}"/>
              </a:ext>
            </a:extLst>
          </p:cNvPr>
          <p:cNvSpPr txBox="1"/>
          <p:nvPr/>
        </p:nvSpPr>
        <p:spPr>
          <a:xfrm>
            <a:off x="5845712" y="5874280"/>
            <a:ext cx="3759025" cy="523220"/>
          </a:xfrm>
          <a:prstGeom prst="rect">
            <a:avLst/>
          </a:prstGeom>
          <a:noFill/>
        </p:spPr>
        <p:txBody>
          <a:bodyPr wrap="square">
            <a:spAutoFit/>
          </a:bodyPr>
          <a:lstStyle/>
          <a:p>
            <a:pPr algn="ctr"/>
            <a:r>
              <a:rPr lang="en-US" altLang="zh-CN" sz="1400" dirty="0">
                <a:effectLst/>
                <a:latin typeface="+mj-lt"/>
                <a:ea typeface="+mj-ea"/>
              </a:rPr>
              <a:t>GEOMETRYCOLLECTION</a:t>
            </a:r>
          </a:p>
          <a:p>
            <a:pPr algn="ctr"/>
            <a:r>
              <a:rPr lang="zh-CN" altLang="en-US" sz="1400" dirty="0">
                <a:effectLst/>
                <a:latin typeface="+mj-lt"/>
                <a:ea typeface="+mj-ea"/>
              </a:rPr>
              <a:t>数据绘制结果</a:t>
            </a:r>
            <a:endParaRPr lang="zh-CN" altLang="en-US" sz="1400" dirty="0">
              <a:latin typeface="+mj-lt"/>
              <a:ea typeface="+mj-ea"/>
            </a:endParaRPr>
          </a:p>
        </p:txBody>
      </p:sp>
    </p:spTree>
    <p:extLst>
      <p:ext uri="{BB962C8B-B14F-4D97-AF65-F5344CB8AC3E}">
        <p14:creationId xmlns:p14="http://schemas.microsoft.com/office/powerpoint/2010/main" val="1579121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79F4-04BC-DA5A-84D0-F3E499F06CDC}"/>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25E44D0D-47F7-E899-4D76-2D95585DF403}"/>
              </a:ext>
            </a:extLst>
          </p:cNvPr>
          <p:cNvSpPr/>
          <p:nvPr/>
        </p:nvSpPr>
        <p:spPr>
          <a:xfrm>
            <a:off x="600075" y="1793770"/>
            <a:ext cx="8058150" cy="1705210"/>
          </a:xfrm>
          <a:prstGeom prst="rect">
            <a:avLst/>
          </a:prstGeom>
        </p:spPr>
        <p:txBody>
          <a:bodyPr wrap="square">
            <a:spAutoFit/>
          </a:bodyPr>
          <a:lstStyle/>
          <a:p>
            <a:pPr indent="457200">
              <a:lnSpc>
                <a:spcPct val="150000"/>
              </a:lnSpc>
            </a:pPr>
            <a:r>
              <a:rPr lang="zh-CN" altLang="en-US" b="1" dirty="0">
                <a:latin typeface="+mj-lt"/>
                <a:ea typeface="+mj-ea"/>
                <a:sym typeface="Consolas" panose="020B0609020204030204" pitchFamily="49" charset="0"/>
              </a:rPr>
              <a:t>栅格数据</a:t>
            </a:r>
            <a:r>
              <a:rPr lang="zh-CN" altLang="en-US" dirty="0">
                <a:latin typeface="+mj-lt"/>
                <a:ea typeface="+mj-ea"/>
                <a:sym typeface="Consolas" panose="020B0609020204030204" pitchFamily="49" charset="0"/>
              </a:rPr>
              <a:t>是与点、线、面等矢量数据相对应的另一基础空间数据类型，特指</a:t>
            </a:r>
            <a:r>
              <a:rPr lang="zh-CN" altLang="en-US" b="1" dirty="0">
                <a:latin typeface="+mj-lt"/>
                <a:ea typeface="+mj-ea"/>
                <a:sym typeface="Consolas" panose="020B0609020204030204" pitchFamily="49" charset="0"/>
              </a:rPr>
              <a:t>将空间分割成有规律的网格</a:t>
            </a:r>
            <a:r>
              <a:rPr lang="zh-CN" altLang="en-US" dirty="0">
                <a:latin typeface="+mj-lt"/>
                <a:ea typeface="+mj-ea"/>
                <a:sym typeface="Consolas" panose="020B0609020204030204" pitchFamily="49" charset="0"/>
              </a:rPr>
              <a:t>，每一个网格称为一个单元，并在各单元上赋予相应的属性值来表示地理实体的一种数据形式，</a:t>
            </a:r>
            <a:r>
              <a:rPr lang="zh-CN" altLang="en-US" b="1" dirty="0">
                <a:latin typeface="+mj-lt"/>
                <a:ea typeface="+mj-ea"/>
                <a:sym typeface="Consolas" panose="020B0609020204030204" pitchFamily="49" charset="0"/>
              </a:rPr>
              <a:t>影像数据</a:t>
            </a:r>
            <a:r>
              <a:rPr lang="zh-CN" altLang="en-US" dirty="0">
                <a:latin typeface="+mj-lt"/>
                <a:ea typeface="+mj-ea"/>
                <a:sym typeface="Consolas" panose="020B0609020204030204" pitchFamily="49" charset="0"/>
              </a:rPr>
              <a:t>是常见的一种典型栅格数据。</a:t>
            </a:r>
            <a:endParaRPr lang="en-US" altLang="zh-CN"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539F7B98-7C9A-5CB0-8C19-9BEBB64DB95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0C874A41-0240-932E-CBA2-9C5C7865A00D}"/>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32</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6B5E2039-36C9-E42A-3BCF-3F417E6B7A67}"/>
              </a:ext>
            </a:extLst>
          </p:cNvPr>
          <p:cNvSpPr/>
          <p:nvPr/>
        </p:nvSpPr>
        <p:spPr>
          <a:xfrm>
            <a:off x="319851" y="1277612"/>
            <a:ext cx="2708756"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(5)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pic>
        <p:nvPicPr>
          <p:cNvPr id="1026" name="Picture 2" descr="ArcMap 1 矢量数据和栅格数据 - 走看看">
            <a:extLst>
              <a:ext uri="{FF2B5EF4-FFF2-40B4-BE49-F238E27FC236}">
                <a16:creationId xmlns:a16="http://schemas.microsoft.com/office/drawing/2014/main" id="{15BF09D8-EF7C-CBBF-D09E-0E8CCB1C5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3753311"/>
            <a:ext cx="5429250" cy="210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308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15ECA-3DA2-A1D8-FBF0-BC2865E2C77B}"/>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B2E48BA-7F67-7F62-2B75-5D0172DADCB1}"/>
              </a:ext>
            </a:extLst>
          </p:cNvPr>
          <p:cNvSpPr/>
          <p:nvPr/>
        </p:nvSpPr>
        <p:spPr>
          <a:xfrm>
            <a:off x="114300" y="1866900"/>
            <a:ext cx="8801100" cy="4198201"/>
          </a:xfrm>
          <a:prstGeom prst="rect">
            <a:avLst/>
          </a:prstGeom>
        </p:spPr>
        <p:txBody>
          <a:bodyPr wrap="square">
            <a:spAutoFit/>
          </a:bodyPr>
          <a:lstStyle/>
          <a:p>
            <a:pPr marL="285750" indent="457200">
              <a:lnSpc>
                <a:spcPct val="150000"/>
              </a:lnSpc>
            </a:pPr>
            <a:r>
              <a:rPr lang="zh-CN" altLang="en-US" dirty="0">
                <a:latin typeface="+mj-lt"/>
                <a:ea typeface="+mj-ea"/>
                <a:sym typeface="Consolas" panose="020B0609020204030204" pitchFamily="49" charset="0"/>
              </a:rPr>
              <a:t>在函数包</a:t>
            </a:r>
            <a:r>
              <a:rPr lang="en-US" altLang="zh-CN" b="1" dirty="0">
                <a:latin typeface="+mj-lt"/>
                <a:ea typeface="+mj-ea"/>
                <a:sym typeface="Consolas" panose="020B0609020204030204" pitchFamily="49" charset="0"/>
              </a:rPr>
              <a:t>terra</a:t>
            </a:r>
            <a:r>
              <a:rPr lang="zh-CN" altLang="en-US" dirty="0">
                <a:latin typeface="+mj-lt"/>
                <a:ea typeface="+mj-ea"/>
                <a:sym typeface="Consolas" panose="020B0609020204030204" pitchFamily="49" charset="0"/>
              </a:rPr>
              <a:t>中栅格数据被定义为</a:t>
            </a:r>
            <a:r>
              <a:rPr lang="en-US" altLang="zh-CN" b="1" i="1" dirty="0" err="1">
                <a:latin typeface="+mj-lt"/>
                <a:ea typeface="+mj-ea"/>
                <a:sym typeface="Consolas" panose="020B0609020204030204" pitchFamily="49" charset="0"/>
              </a:rPr>
              <a:t>SpatRaster</a:t>
            </a:r>
            <a:r>
              <a:rPr lang="zh-CN" altLang="en-US" dirty="0">
                <a:latin typeface="+mj-lt"/>
                <a:ea typeface="+mj-ea"/>
                <a:sym typeface="Consolas" panose="020B0609020204030204" pitchFamily="49" charset="0"/>
              </a:rPr>
              <a:t>类，该类数据的组成结构中主要有以下八个参数：</a:t>
            </a:r>
            <a:endParaRPr lang="en-US" altLang="zh-CN" dirty="0">
              <a:latin typeface="+mj-lt"/>
              <a:ea typeface="+mj-ea"/>
              <a:sym typeface="Consolas" panose="020B0609020204030204" pitchFamily="49" charset="0"/>
            </a:endParaRPr>
          </a:p>
          <a:p>
            <a:pPr marL="342900" indent="457200">
              <a:lnSpc>
                <a:spcPct val="150000"/>
              </a:lnSpc>
              <a:buFont typeface="+mj-ea"/>
              <a:buAutoNum type="circleNumDbPlain"/>
            </a:pPr>
            <a:r>
              <a:rPr lang="en-US" altLang="zh-CN" sz="1800" dirty="0">
                <a:latin typeface="+mj-lt"/>
                <a:ea typeface="+mj-ea"/>
                <a:sym typeface="Consolas" panose="020B0609020204030204" pitchFamily="49" charset="0"/>
              </a:rPr>
              <a:t>class</a:t>
            </a:r>
            <a:r>
              <a:rPr lang="zh-CN" altLang="en-US" sz="1800" dirty="0">
                <a:latin typeface="+mj-lt"/>
                <a:ea typeface="+mj-ea"/>
                <a:sym typeface="Consolas" panose="020B0609020204030204" pitchFamily="49" charset="0"/>
              </a:rPr>
              <a:t>：数据类型标识；</a:t>
            </a:r>
            <a:endParaRPr lang="en-US" altLang="zh-CN" sz="1800" dirty="0">
              <a:latin typeface="+mj-lt"/>
              <a:ea typeface="+mj-ea"/>
              <a:sym typeface="Consolas" panose="020B0609020204030204" pitchFamily="49" charset="0"/>
            </a:endParaRPr>
          </a:p>
          <a:p>
            <a:pPr marL="342900" indent="457200">
              <a:lnSpc>
                <a:spcPct val="150000"/>
              </a:lnSpc>
              <a:buFont typeface="+mj-ea"/>
              <a:buAutoNum type="circleNumDbPlain"/>
            </a:pPr>
            <a:r>
              <a:rPr lang="en-US" altLang="zh-CN" sz="1800" dirty="0">
                <a:latin typeface="+mj-lt"/>
                <a:ea typeface="+mj-ea"/>
                <a:sym typeface="Consolas" panose="020B0609020204030204" pitchFamily="49" charset="0"/>
              </a:rPr>
              <a:t>dimensions</a:t>
            </a:r>
            <a:r>
              <a:rPr lang="zh-CN" altLang="en-US" sz="1800" dirty="0">
                <a:latin typeface="+mj-lt"/>
                <a:ea typeface="+mj-ea"/>
                <a:sym typeface="Consolas" panose="020B0609020204030204" pitchFamily="49" charset="0"/>
              </a:rPr>
              <a:t>：网格的行数、列数以及层数；</a:t>
            </a:r>
            <a:endParaRPr lang="en-US" altLang="zh-CN" sz="1800" dirty="0">
              <a:latin typeface="+mj-lt"/>
              <a:ea typeface="+mj-ea"/>
              <a:sym typeface="Consolas" panose="020B0609020204030204" pitchFamily="49" charset="0"/>
            </a:endParaRPr>
          </a:p>
          <a:p>
            <a:pPr marL="342900" indent="457200">
              <a:lnSpc>
                <a:spcPct val="150000"/>
              </a:lnSpc>
              <a:buFont typeface="+mj-ea"/>
              <a:buAutoNum type="circleNumDbPlain"/>
            </a:pPr>
            <a:r>
              <a:rPr lang="en-US" altLang="zh-CN" sz="1800" dirty="0">
                <a:latin typeface="+mj-lt"/>
                <a:ea typeface="+mj-ea"/>
                <a:sym typeface="Consolas" panose="020B0609020204030204" pitchFamily="49" charset="0"/>
              </a:rPr>
              <a:t>resolution</a:t>
            </a:r>
            <a:r>
              <a:rPr lang="zh-CN" altLang="en-US" sz="1800" dirty="0">
                <a:latin typeface="+mj-lt"/>
                <a:ea typeface="+mj-ea"/>
                <a:sym typeface="Consolas" panose="020B0609020204030204" pitchFamily="49" charset="0"/>
              </a:rPr>
              <a:t>：分辨率，可以理解为每个单元的大小；</a:t>
            </a:r>
            <a:endParaRPr lang="en-US" altLang="zh-CN" sz="1800" dirty="0">
              <a:latin typeface="+mj-lt"/>
              <a:ea typeface="+mj-ea"/>
              <a:sym typeface="Consolas" panose="020B0609020204030204" pitchFamily="49" charset="0"/>
            </a:endParaRPr>
          </a:p>
          <a:p>
            <a:pPr marL="342900" indent="457200">
              <a:lnSpc>
                <a:spcPct val="150000"/>
              </a:lnSpc>
              <a:buFont typeface="+mj-ea"/>
              <a:buAutoNum type="circleNumDbPlain"/>
            </a:pPr>
            <a:r>
              <a:rPr lang="en-US" altLang="zh-CN" sz="1800" dirty="0">
                <a:latin typeface="+mj-lt"/>
                <a:ea typeface="+mj-ea"/>
                <a:sym typeface="Consolas" panose="020B0609020204030204" pitchFamily="49" charset="0"/>
              </a:rPr>
              <a:t>extent</a:t>
            </a:r>
            <a:r>
              <a:rPr lang="zh-CN" altLang="en-US" sz="1800" dirty="0">
                <a:latin typeface="+mj-lt"/>
                <a:ea typeface="+mj-ea"/>
                <a:sym typeface="Consolas" panose="020B0609020204030204" pitchFamily="49" charset="0"/>
              </a:rPr>
              <a:t>：数据范围，由</a:t>
            </a:r>
            <a:r>
              <a:rPr lang="en-US" altLang="zh-CN" sz="1800" dirty="0" err="1">
                <a:latin typeface="+mj-lt"/>
                <a:ea typeface="+mj-ea"/>
                <a:sym typeface="Consolas" panose="020B0609020204030204" pitchFamily="49" charset="0"/>
              </a:rPr>
              <a:t>xmin</a:t>
            </a:r>
            <a:r>
              <a:rPr lang="en-US" altLang="zh-CN" sz="1800" dirty="0">
                <a:latin typeface="+mj-lt"/>
                <a:ea typeface="+mj-ea"/>
                <a:sym typeface="Consolas" panose="020B0609020204030204" pitchFamily="49" charset="0"/>
              </a:rPr>
              <a:t>, </a:t>
            </a:r>
            <a:r>
              <a:rPr lang="en-US" altLang="zh-CN" sz="1800" dirty="0" err="1">
                <a:latin typeface="+mj-lt"/>
                <a:ea typeface="+mj-ea"/>
                <a:sym typeface="Consolas" panose="020B0609020204030204" pitchFamily="49" charset="0"/>
              </a:rPr>
              <a:t>xmax</a:t>
            </a:r>
            <a:r>
              <a:rPr lang="en-US" altLang="zh-CN" sz="1800" dirty="0">
                <a:latin typeface="+mj-lt"/>
                <a:ea typeface="+mj-ea"/>
                <a:sym typeface="Consolas" panose="020B0609020204030204" pitchFamily="49" charset="0"/>
              </a:rPr>
              <a:t>, </a:t>
            </a:r>
            <a:r>
              <a:rPr lang="en-US" altLang="zh-CN" sz="1800" dirty="0" err="1">
                <a:latin typeface="+mj-lt"/>
                <a:ea typeface="+mj-ea"/>
                <a:sym typeface="Consolas" panose="020B0609020204030204" pitchFamily="49" charset="0"/>
              </a:rPr>
              <a:t>ymin</a:t>
            </a:r>
            <a:r>
              <a:rPr lang="en-US" altLang="zh-CN" sz="1800" dirty="0">
                <a:latin typeface="+mj-lt"/>
                <a:ea typeface="+mj-ea"/>
                <a:sym typeface="Consolas" panose="020B0609020204030204" pitchFamily="49" charset="0"/>
              </a:rPr>
              <a:t>, </a:t>
            </a:r>
            <a:r>
              <a:rPr lang="en-US" altLang="zh-CN" sz="1800" dirty="0" err="1">
                <a:latin typeface="+mj-lt"/>
                <a:ea typeface="+mj-ea"/>
                <a:sym typeface="Consolas" panose="020B0609020204030204" pitchFamily="49" charset="0"/>
              </a:rPr>
              <a:t>ymax</a:t>
            </a:r>
            <a:r>
              <a:rPr lang="zh-CN" altLang="en-US" sz="1800" dirty="0">
                <a:latin typeface="+mj-lt"/>
                <a:ea typeface="+mj-ea"/>
                <a:sym typeface="Consolas" panose="020B0609020204030204" pitchFamily="49" charset="0"/>
              </a:rPr>
              <a:t>组成；</a:t>
            </a:r>
            <a:endParaRPr lang="en-US" altLang="zh-CN" sz="1800" dirty="0">
              <a:latin typeface="+mj-lt"/>
              <a:ea typeface="+mj-ea"/>
              <a:sym typeface="Consolas" panose="020B0609020204030204" pitchFamily="49" charset="0"/>
            </a:endParaRPr>
          </a:p>
          <a:p>
            <a:pPr marL="342900" indent="457200">
              <a:lnSpc>
                <a:spcPct val="150000"/>
              </a:lnSpc>
              <a:buAutoNum type="circleNumDbPlain" startAt="5"/>
            </a:pPr>
            <a:r>
              <a:rPr lang="en-US" altLang="zh-CN" sz="1800" dirty="0">
                <a:latin typeface="+mj-lt"/>
                <a:ea typeface="+mj-ea"/>
                <a:sym typeface="Consolas" panose="020B0609020204030204" pitchFamily="49" charset="0"/>
              </a:rPr>
              <a:t>coord. ref.</a:t>
            </a:r>
            <a:r>
              <a:rPr lang="zh-CN" altLang="en-US" sz="1800" dirty="0">
                <a:latin typeface="+mj-lt"/>
                <a:ea typeface="+mj-ea"/>
                <a:sym typeface="Consolas" panose="020B0609020204030204" pitchFamily="49" charset="0"/>
              </a:rPr>
              <a:t>：坐标参考系</a:t>
            </a:r>
            <a:r>
              <a:rPr lang="en-US" altLang="zh-CN" sz="1800" dirty="0">
                <a:latin typeface="+mj-lt"/>
                <a:ea typeface="+mj-ea"/>
                <a:sym typeface="Consolas" panose="020B0609020204030204" pitchFamily="49" charset="0"/>
              </a:rPr>
              <a:t>CRS</a:t>
            </a:r>
            <a:r>
              <a:rPr lang="zh-CN" altLang="en-US" sz="1800" dirty="0">
                <a:latin typeface="+mj-lt"/>
                <a:ea typeface="+mj-ea"/>
                <a:sym typeface="Consolas" panose="020B0609020204030204" pitchFamily="49" charset="0"/>
              </a:rPr>
              <a:t>；</a:t>
            </a:r>
            <a:endParaRPr lang="en-US" altLang="zh-CN" sz="1800" dirty="0">
              <a:latin typeface="+mj-lt"/>
              <a:ea typeface="+mj-ea"/>
              <a:sym typeface="Consolas" panose="020B0609020204030204" pitchFamily="49" charset="0"/>
            </a:endParaRPr>
          </a:p>
          <a:p>
            <a:pPr marL="342900" indent="457200">
              <a:lnSpc>
                <a:spcPct val="150000"/>
              </a:lnSpc>
              <a:buAutoNum type="circleNumDbPlain" startAt="5"/>
            </a:pPr>
            <a:r>
              <a:rPr lang="en-US" altLang="zh-CN" sz="1800" dirty="0">
                <a:latin typeface="+mj-lt"/>
                <a:ea typeface="+mj-ea"/>
                <a:sym typeface="Consolas" panose="020B0609020204030204" pitchFamily="49" charset="0"/>
              </a:rPr>
              <a:t>names</a:t>
            </a:r>
            <a:r>
              <a:rPr lang="zh-CN" altLang="en-US" sz="1800" dirty="0">
                <a:latin typeface="+mj-lt"/>
                <a:ea typeface="+mj-ea"/>
                <a:sym typeface="Consolas" panose="020B0609020204030204" pitchFamily="49" charset="0"/>
              </a:rPr>
              <a:t>：每一层的层名；</a:t>
            </a:r>
            <a:endParaRPr lang="en-US" altLang="zh-CN" sz="1800" dirty="0">
              <a:latin typeface="+mj-lt"/>
              <a:ea typeface="+mj-ea"/>
              <a:sym typeface="Consolas" panose="020B0609020204030204" pitchFamily="49" charset="0"/>
            </a:endParaRPr>
          </a:p>
          <a:p>
            <a:pPr marL="342900" indent="457200">
              <a:lnSpc>
                <a:spcPct val="150000"/>
              </a:lnSpc>
              <a:buAutoNum type="circleNumDbPlain" startAt="5"/>
            </a:pPr>
            <a:r>
              <a:rPr lang="en-US" altLang="zh-CN" sz="1800" dirty="0">
                <a:latin typeface="+mj-lt"/>
                <a:ea typeface="+mj-ea"/>
                <a:sym typeface="Consolas" panose="020B0609020204030204" pitchFamily="49" charset="0"/>
              </a:rPr>
              <a:t>min value</a:t>
            </a:r>
            <a:r>
              <a:rPr lang="zh-CN" altLang="en-US" sz="1800" dirty="0">
                <a:latin typeface="+mj-lt"/>
                <a:ea typeface="+mj-ea"/>
                <a:sym typeface="Consolas" panose="020B0609020204030204" pitchFamily="49" charset="0"/>
              </a:rPr>
              <a:t>：所有单元属性值中最小的属性值；</a:t>
            </a:r>
            <a:endParaRPr lang="en-US" altLang="zh-CN" sz="1800" dirty="0">
              <a:latin typeface="+mj-lt"/>
              <a:ea typeface="+mj-ea"/>
              <a:sym typeface="Consolas" panose="020B0609020204030204" pitchFamily="49" charset="0"/>
            </a:endParaRPr>
          </a:p>
          <a:p>
            <a:pPr marL="342900" indent="457200">
              <a:lnSpc>
                <a:spcPct val="150000"/>
              </a:lnSpc>
              <a:buAutoNum type="circleNumDbPlain" startAt="5"/>
            </a:pPr>
            <a:r>
              <a:rPr lang="en-US" altLang="zh-CN" sz="1800" dirty="0">
                <a:latin typeface="+mj-lt"/>
                <a:ea typeface="+mj-ea"/>
                <a:sym typeface="Consolas" panose="020B0609020204030204" pitchFamily="49" charset="0"/>
              </a:rPr>
              <a:t>max value</a:t>
            </a:r>
            <a:r>
              <a:rPr lang="zh-CN" altLang="en-US" sz="1800" dirty="0">
                <a:latin typeface="+mj-lt"/>
                <a:ea typeface="+mj-ea"/>
                <a:sym typeface="Consolas" panose="020B0609020204030204" pitchFamily="49" charset="0"/>
              </a:rPr>
              <a:t>：所有单元属性值中最大的属性值。</a:t>
            </a:r>
            <a:endParaRPr lang="en-US" altLang="zh-CN" sz="1800"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EBBA2D4D-D7AA-7AE4-60CE-28F8490C562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8F85A3C0-5036-BEFD-4128-D35FBE53FBE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33</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5E4C1A56-9009-44A0-6383-7BB2C9EC0B3B}"/>
              </a:ext>
            </a:extLst>
          </p:cNvPr>
          <p:cNvSpPr/>
          <p:nvPr/>
        </p:nvSpPr>
        <p:spPr>
          <a:xfrm>
            <a:off x="319851" y="1277612"/>
            <a:ext cx="2708756"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(5)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spTree>
    <p:extLst>
      <p:ext uri="{BB962C8B-B14F-4D97-AF65-F5344CB8AC3E}">
        <p14:creationId xmlns:p14="http://schemas.microsoft.com/office/powerpoint/2010/main" val="516277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9EF2-7B27-D837-B6D0-AFF877CC57BB}"/>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7E8C6409-835F-BB2A-230C-A47892BC22CD}"/>
              </a:ext>
            </a:extLst>
          </p:cNvPr>
          <p:cNvSpPr/>
          <p:nvPr/>
        </p:nvSpPr>
        <p:spPr>
          <a:xfrm>
            <a:off x="0" y="1866900"/>
            <a:ext cx="9029700" cy="874214"/>
          </a:xfrm>
          <a:prstGeom prst="rect">
            <a:avLst/>
          </a:prstGeom>
        </p:spPr>
        <p:txBody>
          <a:bodyPr wrap="square">
            <a:spAutoFit/>
          </a:bodyPr>
          <a:lstStyle/>
          <a:p>
            <a:pPr marL="285750" indent="457200">
              <a:lnSpc>
                <a:spcPct val="150000"/>
              </a:lnSpc>
            </a:pPr>
            <a:r>
              <a:rPr lang="zh-CN" altLang="en-US" dirty="0">
                <a:latin typeface="+mj-lt"/>
                <a:ea typeface="+mj-ea"/>
                <a:sym typeface="Consolas" panose="020B0609020204030204" pitchFamily="49" charset="0"/>
              </a:rPr>
              <a:t>创建一个</a:t>
            </a:r>
            <a:r>
              <a:rPr lang="en-US" altLang="zh-CN" dirty="0">
                <a:latin typeface="+mj-lt"/>
                <a:ea typeface="+mj-ea"/>
                <a:sym typeface="Consolas" panose="020B0609020204030204" pitchFamily="49" charset="0"/>
              </a:rPr>
              <a:t>5</a:t>
            </a:r>
            <a:r>
              <a:rPr lang="zh-CN" altLang="en-US" dirty="0">
                <a:latin typeface="+mj-lt"/>
                <a:ea typeface="+mj-ea"/>
                <a:sym typeface="Consolas" panose="020B0609020204030204" pitchFamily="49" charset="0"/>
              </a:rPr>
              <a:t>行</a:t>
            </a:r>
            <a:r>
              <a:rPr lang="en-US" altLang="zh-CN" dirty="0">
                <a:latin typeface="+mj-lt"/>
                <a:ea typeface="+mj-ea"/>
                <a:sym typeface="Consolas" panose="020B0609020204030204" pitchFamily="49" charset="0"/>
              </a:rPr>
              <a:t>5</a:t>
            </a:r>
            <a:r>
              <a:rPr lang="zh-CN" altLang="en-US" dirty="0">
                <a:latin typeface="+mj-lt"/>
                <a:ea typeface="+mj-ea"/>
                <a:sym typeface="Consolas" panose="020B0609020204030204" pitchFamily="49" charset="0"/>
              </a:rPr>
              <a:t>列、空间范围从</a:t>
            </a:r>
            <a:r>
              <a:rPr lang="en-US" altLang="zh-CN" dirty="0">
                <a:latin typeface="+mj-lt"/>
                <a:ea typeface="+mj-ea"/>
                <a:sym typeface="Consolas" panose="020B0609020204030204" pitchFamily="49" charset="0"/>
              </a:rPr>
              <a:t>(0,0)</a:t>
            </a:r>
            <a:r>
              <a:rPr lang="zh-CN" altLang="en-US" dirty="0">
                <a:latin typeface="+mj-lt"/>
                <a:ea typeface="+mj-ea"/>
                <a:sym typeface="Consolas" panose="020B0609020204030204" pitchFamily="49" charset="0"/>
              </a:rPr>
              <a:t>到</a:t>
            </a:r>
            <a:r>
              <a:rPr lang="en-US" altLang="zh-CN" dirty="0">
                <a:latin typeface="+mj-lt"/>
                <a:ea typeface="+mj-ea"/>
                <a:sym typeface="Consolas" panose="020B0609020204030204" pitchFamily="49" charset="0"/>
              </a:rPr>
              <a:t>(5,5)</a:t>
            </a:r>
            <a:r>
              <a:rPr lang="zh-CN" altLang="en-US" dirty="0">
                <a:latin typeface="+mj-lt"/>
                <a:ea typeface="+mj-ea"/>
                <a:sym typeface="Consolas" panose="020B0609020204030204" pitchFamily="49" charset="0"/>
              </a:rPr>
              <a:t>的栅格对象，并将所有像元值设置为</a:t>
            </a:r>
            <a:r>
              <a:rPr lang="en-US" altLang="zh-CN" dirty="0">
                <a:latin typeface="+mj-lt"/>
                <a:ea typeface="+mj-ea"/>
                <a:sym typeface="Consolas" panose="020B0609020204030204" pitchFamily="49" charset="0"/>
              </a:rPr>
              <a:t>1</a:t>
            </a:r>
            <a:r>
              <a:rPr lang="zh-CN" altLang="en-US" dirty="0">
                <a:latin typeface="+mj-lt"/>
                <a:ea typeface="+mj-ea"/>
                <a:sym typeface="Consolas" panose="020B0609020204030204" pitchFamily="49" charset="0"/>
              </a:rPr>
              <a:t>，接着修改不同位置像元的像元值，然后查看该栅格数据并进行绘制：</a:t>
            </a:r>
            <a:endParaRPr lang="en-US" altLang="zh-CN" sz="1800"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0C5DE6D0-018A-80B3-ABA7-93F415FF972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B8DC128F-ABA3-365F-8123-E849ECBC3E4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34</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E6D1A0C9-46CD-3E80-1C6E-A3336D0BBEF9}"/>
              </a:ext>
            </a:extLst>
          </p:cNvPr>
          <p:cNvSpPr/>
          <p:nvPr/>
        </p:nvSpPr>
        <p:spPr>
          <a:xfrm>
            <a:off x="319851" y="1277612"/>
            <a:ext cx="2708756"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(5) </a:t>
            </a:r>
            <a:r>
              <a:rPr lang="zh-CN" altLang="en-US" sz="2400" b="1" dirty="0">
                <a:latin typeface="+mn-lt"/>
                <a:ea typeface="微软雅黑" panose="020B0503020204020204" pitchFamily="34" charset="-122"/>
                <a:cs typeface="+mn-ea"/>
                <a:sym typeface="Consolas" panose="020B0609020204030204" pitchFamily="49" charset="0"/>
              </a:rPr>
              <a:t>栅格数据</a:t>
            </a:r>
          </a:p>
        </p:txBody>
      </p:sp>
      <p:sp>
        <p:nvSpPr>
          <p:cNvPr id="2" name="文本框 1">
            <a:extLst>
              <a:ext uri="{FF2B5EF4-FFF2-40B4-BE49-F238E27FC236}">
                <a16:creationId xmlns:a16="http://schemas.microsoft.com/office/drawing/2014/main" id="{C3C9AD33-309E-86AB-4577-FD0AC8E14699}"/>
              </a:ext>
            </a:extLst>
          </p:cNvPr>
          <p:cNvSpPr txBox="1"/>
          <p:nvPr/>
        </p:nvSpPr>
        <p:spPr>
          <a:xfrm>
            <a:off x="609600" y="2832637"/>
            <a:ext cx="8645849" cy="203132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graphics.off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rast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nrows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ncols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xmin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xmax</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ymax</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values(r)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endParaRPr lang="zh-CN" altLang="zh-CN" sz="1400" dirty="0">
              <a:effectLst/>
              <a:latin typeface="Times New Roman" panose="02020603050405020304" pitchFamily="18" charset="0"/>
              <a:ea typeface="宋体" panose="02010600030101010101" pitchFamily="2" charset="-122"/>
            </a:endParaRPr>
          </a:p>
          <a:p>
            <a:pPr indent="254000" algn="just">
              <a:buNone/>
            </a:pPr>
            <a:r>
              <a:rPr lang="en-US" altLang="zh-CN" sz="1400" dirty="0">
                <a:solidFill>
                  <a:srgbClr val="8000FF"/>
                </a:solidFill>
                <a:effectLst/>
                <a:latin typeface="Consolas" panose="020B0609020204030204" pitchFamily="49" charset="0"/>
                <a:ea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values(r)[c(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values(r)[c(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17</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19</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values(r)[c(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plot(r)</a:t>
            </a:r>
            <a:endParaRPr lang="zh-CN" altLang="zh-CN" sz="14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FBD4FB9D-503E-1D22-4468-5CD7D55E1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564" y="4888690"/>
            <a:ext cx="3606146" cy="1277768"/>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269E0CEA-F379-E143-2DEA-7C8EFBAA18F9}"/>
              </a:ext>
            </a:extLst>
          </p:cNvPr>
          <p:cNvPicPr>
            <a:picLocks noChangeAspect="1"/>
          </p:cNvPicPr>
          <p:nvPr/>
        </p:nvPicPr>
        <p:blipFill>
          <a:blip r:embed="rId3" cstate="print">
            <a:extLst>
              <a:ext uri="{28A0092B-C50C-407E-A947-70E740481C1C}">
                <a14:useLocalDpi xmlns:a14="http://schemas.microsoft.com/office/drawing/2010/main" val="0"/>
              </a:ext>
            </a:extLst>
          </a:blip>
          <a:srcRect l="8103" t="3757" r="11714"/>
          <a:stretch/>
        </p:blipFill>
        <p:spPr>
          <a:xfrm>
            <a:off x="5530056" y="3589715"/>
            <a:ext cx="2863047" cy="2576743"/>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28EEB267-ADC0-9631-CB6E-B3F98E055C01}"/>
              </a:ext>
            </a:extLst>
          </p:cNvPr>
          <p:cNvSpPr txBox="1"/>
          <p:nvPr/>
        </p:nvSpPr>
        <p:spPr>
          <a:xfrm>
            <a:off x="1433113" y="6252299"/>
            <a:ext cx="2863047" cy="307777"/>
          </a:xfrm>
          <a:prstGeom prst="rect">
            <a:avLst/>
          </a:prstGeom>
          <a:noFill/>
        </p:spPr>
        <p:txBody>
          <a:bodyPr wrap="square">
            <a:spAutoFit/>
          </a:bodyPr>
          <a:lstStyle/>
          <a:p>
            <a:pPr algn="ctr"/>
            <a:r>
              <a:rPr lang="en-US" altLang="zh-CN" sz="1400" dirty="0" err="1">
                <a:effectLst/>
                <a:latin typeface="+mj-lt"/>
                <a:ea typeface="+mj-ea"/>
              </a:rPr>
              <a:t>SpatRaster</a:t>
            </a:r>
            <a:r>
              <a:rPr lang="en-US" altLang="zh-CN" sz="1400" dirty="0" err="1">
                <a:effectLst/>
                <a:latin typeface="+mj-lt"/>
                <a:ea typeface="+mj-ea"/>
                <a:cs typeface="Times New Roman" panose="02020603050405020304" pitchFamily="18" charset="0"/>
              </a:rPr>
              <a:t>对象的组成结构</a:t>
            </a:r>
            <a:endParaRPr lang="zh-CN" altLang="en-US" sz="1400" dirty="0">
              <a:latin typeface="+mj-lt"/>
              <a:ea typeface="+mj-ea"/>
            </a:endParaRPr>
          </a:p>
        </p:txBody>
      </p:sp>
      <p:sp>
        <p:nvSpPr>
          <p:cNvPr id="8" name="文本框 7">
            <a:extLst>
              <a:ext uri="{FF2B5EF4-FFF2-40B4-BE49-F238E27FC236}">
                <a16:creationId xmlns:a16="http://schemas.microsoft.com/office/drawing/2014/main" id="{ADE97B18-D968-12BF-0DC8-57836E5AB642}"/>
              </a:ext>
            </a:extLst>
          </p:cNvPr>
          <p:cNvSpPr txBox="1"/>
          <p:nvPr/>
        </p:nvSpPr>
        <p:spPr>
          <a:xfrm>
            <a:off x="5562600" y="6252298"/>
            <a:ext cx="2863047" cy="307777"/>
          </a:xfrm>
          <a:prstGeom prst="rect">
            <a:avLst/>
          </a:prstGeom>
          <a:noFill/>
        </p:spPr>
        <p:txBody>
          <a:bodyPr wrap="square">
            <a:spAutoFit/>
          </a:bodyPr>
          <a:lstStyle/>
          <a:p>
            <a:pPr algn="ctr"/>
            <a:r>
              <a:rPr lang="en-US" altLang="zh-CN" sz="1400" dirty="0" err="1">
                <a:effectLst/>
                <a:latin typeface="+mj-lt"/>
                <a:ea typeface="+mj-ea"/>
              </a:rPr>
              <a:t>SpatRaster</a:t>
            </a:r>
            <a:r>
              <a:rPr lang="zh-CN" altLang="en-US" sz="1400" dirty="0">
                <a:effectLst/>
                <a:latin typeface="+mj-lt"/>
                <a:ea typeface="+mj-ea"/>
              </a:rPr>
              <a:t>对象绘制结果</a:t>
            </a:r>
            <a:endParaRPr lang="zh-CN" altLang="en-US" sz="1400" dirty="0">
              <a:latin typeface="+mj-lt"/>
              <a:ea typeface="+mj-ea"/>
            </a:endParaRPr>
          </a:p>
        </p:txBody>
      </p:sp>
    </p:spTree>
    <p:extLst>
      <p:ext uri="{BB962C8B-B14F-4D97-AF65-F5344CB8AC3E}">
        <p14:creationId xmlns:p14="http://schemas.microsoft.com/office/powerpoint/2010/main" val="431363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DBDE-4082-444E-214E-D14A044B88B7}"/>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73F4DFC8-D784-3E99-894B-946BA95388FB}"/>
              </a:ext>
            </a:extLst>
          </p:cNvPr>
          <p:cNvSpPr/>
          <p:nvPr/>
        </p:nvSpPr>
        <p:spPr>
          <a:xfrm>
            <a:off x="316434" y="2117622"/>
            <a:ext cx="8496300" cy="3366563"/>
          </a:xfrm>
          <a:prstGeom prst="rect">
            <a:avLst/>
          </a:prstGeom>
        </p:spPr>
        <p:txBody>
          <a:bodyPr wrap="square">
            <a:spAutoFit/>
          </a:bodyPr>
          <a:lstStyle/>
          <a:p>
            <a:pPr marL="571500" indent="-285750">
              <a:lnSpc>
                <a:spcPct val="150000"/>
              </a:lnSpc>
              <a:buFont typeface="Wingdings" panose="05000000000000000000" pitchFamily="2" charset="2"/>
              <a:buChar char="ü"/>
            </a:pPr>
            <a:r>
              <a:rPr lang="zh-CN" altLang="en-US" b="1" dirty="0">
                <a:latin typeface="+mj-lt"/>
                <a:ea typeface="+mj-ea"/>
                <a:sym typeface="Consolas" panose="020B0609020204030204" pitchFamily="49" charset="0"/>
              </a:rPr>
              <a:t>坐标系的确定</a:t>
            </a:r>
            <a:r>
              <a:rPr lang="zh-CN" altLang="en-US" dirty="0">
                <a:latin typeface="+mj-lt"/>
                <a:ea typeface="+mj-ea"/>
                <a:sym typeface="Consolas" panose="020B0609020204030204" pitchFamily="49" charset="0"/>
              </a:rPr>
              <a:t>是制图和空间分析等操作过程的核心，正确的坐标系能确保地理数据的准确性和一致性，以便在地图上正确地显示和分析地理位置。</a:t>
            </a:r>
            <a:endParaRPr lang="en-US" altLang="zh-CN" dirty="0">
              <a:latin typeface="+mj-lt"/>
              <a:ea typeface="+mj-ea"/>
              <a:sym typeface="Consolas" panose="020B0609020204030204" pitchFamily="49" charset="0"/>
            </a:endParaRPr>
          </a:p>
          <a:p>
            <a:pPr marL="57150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一般而言，</a:t>
            </a:r>
            <a:r>
              <a:rPr lang="zh-CN" altLang="en-US" sz="1800" b="1" dirty="0">
                <a:latin typeface="+mj-lt"/>
                <a:ea typeface="+mj-ea"/>
                <a:sym typeface="Consolas" panose="020B0609020204030204" pitchFamily="49" charset="0"/>
              </a:rPr>
              <a:t>坐标系的表示方法</a:t>
            </a:r>
            <a:r>
              <a:rPr lang="zh-CN" altLang="en-US" sz="1800" dirty="0">
                <a:latin typeface="+mj-lt"/>
                <a:ea typeface="+mj-ea"/>
                <a:sym typeface="Consolas" panose="020B0609020204030204" pitchFamily="49" charset="0"/>
              </a:rPr>
              <a:t>有两种：</a:t>
            </a:r>
            <a:endParaRPr lang="en-US" altLang="zh-CN" sz="1800" dirty="0">
              <a:latin typeface="+mj-lt"/>
              <a:ea typeface="+mj-ea"/>
              <a:sym typeface="Consolas" panose="020B0609020204030204" pitchFamily="49" charset="0"/>
            </a:endParaRPr>
          </a:p>
          <a:p>
            <a:pPr marL="628650" indent="-342900">
              <a:lnSpc>
                <a:spcPct val="150000"/>
              </a:lnSpc>
              <a:buFont typeface="+mj-ea"/>
              <a:buAutoNum type="circleNumDbPlain"/>
            </a:pPr>
            <a:r>
              <a:rPr lang="en-US" altLang="zh-CN" sz="1800" b="1" dirty="0">
                <a:latin typeface="+mj-lt"/>
                <a:ea typeface="+mj-ea"/>
                <a:sym typeface="Consolas" panose="020B0609020204030204" pitchFamily="49" charset="0"/>
              </a:rPr>
              <a:t>Proj4</a:t>
            </a:r>
            <a:r>
              <a:rPr lang="zh-CN" altLang="en-US" dirty="0">
                <a:latin typeface="+mj-lt"/>
                <a:ea typeface="+mj-ea"/>
                <a:sym typeface="Consolas" panose="020B0609020204030204" pitchFamily="49" charset="0"/>
              </a:rPr>
              <a:t>：</a:t>
            </a:r>
            <a:r>
              <a:rPr lang="zh-CN" altLang="en-US" sz="1800" dirty="0">
                <a:latin typeface="+mj-lt"/>
                <a:ea typeface="+mj-ea"/>
                <a:sym typeface="Consolas" panose="020B0609020204030204" pitchFamily="49" charset="0"/>
              </a:rPr>
              <a:t>由一长串字符串表示</a:t>
            </a:r>
            <a:endParaRPr lang="en-US" altLang="zh-CN" sz="1800" dirty="0">
              <a:latin typeface="+mj-lt"/>
              <a:ea typeface="+mj-ea"/>
              <a:sym typeface="Consolas" panose="020B0609020204030204" pitchFamily="49" charset="0"/>
            </a:endParaRPr>
          </a:p>
          <a:p>
            <a:pPr marL="285750" indent="457200">
              <a:lnSpc>
                <a:spcPct val="150000"/>
              </a:lnSpc>
            </a:pPr>
            <a:r>
              <a:rPr lang="zh-CN" altLang="en-US" dirty="0">
                <a:latin typeface="+mj-lt"/>
                <a:ea typeface="+mj-ea"/>
                <a:sym typeface="Consolas" panose="020B0609020204030204" pitchFamily="49" charset="0"/>
              </a:rPr>
              <a:t>例如，查看示例数据</a:t>
            </a:r>
            <a:r>
              <a:rPr lang="en-US" altLang="zh-CN" dirty="0">
                <a:latin typeface="+mj-lt"/>
                <a:ea typeface="+mj-ea"/>
                <a:sym typeface="Consolas" panose="020B0609020204030204" pitchFamily="49" charset="0"/>
              </a:rPr>
              <a:t>WHZZQ</a:t>
            </a:r>
            <a:r>
              <a:rPr lang="zh-CN" altLang="en-US" dirty="0">
                <a:latin typeface="+mj-lt"/>
                <a:ea typeface="+mj-ea"/>
                <a:sym typeface="Consolas" panose="020B0609020204030204" pitchFamily="49" charset="0"/>
              </a:rPr>
              <a:t>用</a:t>
            </a:r>
            <a:r>
              <a:rPr lang="en-US" altLang="zh-CN" dirty="0">
                <a:latin typeface="+mj-lt"/>
                <a:ea typeface="+mj-ea"/>
                <a:sym typeface="Consolas" panose="020B0609020204030204" pitchFamily="49" charset="0"/>
              </a:rPr>
              <a:t>Proj4</a:t>
            </a:r>
            <a:r>
              <a:rPr lang="zh-CN" altLang="en-US" dirty="0">
                <a:latin typeface="+mj-lt"/>
                <a:ea typeface="+mj-ea"/>
                <a:sym typeface="Consolas" panose="020B0609020204030204" pitchFamily="49" charset="0"/>
              </a:rPr>
              <a:t>表示的坐标系：</a:t>
            </a:r>
            <a:endParaRPr lang="en-US" altLang="zh-CN" dirty="0">
              <a:latin typeface="+mj-lt"/>
              <a:ea typeface="+mj-ea"/>
              <a:sym typeface="Consolas" panose="020B0609020204030204" pitchFamily="49" charset="0"/>
            </a:endParaRPr>
          </a:p>
          <a:p>
            <a:pPr marL="285750" indent="457200">
              <a:lnSpc>
                <a:spcPct val="150000"/>
              </a:lnSpc>
            </a:pPr>
            <a:endParaRPr lang="en-US" altLang="zh-CN" sz="1800" dirty="0">
              <a:latin typeface="+mj-lt"/>
              <a:ea typeface="+mj-ea"/>
              <a:sym typeface="Consolas" panose="020B0609020204030204" pitchFamily="49" charset="0"/>
            </a:endParaRPr>
          </a:p>
          <a:p>
            <a:pPr marL="628650" indent="-342900">
              <a:lnSpc>
                <a:spcPct val="150000"/>
              </a:lnSpc>
              <a:buAutoNum type="circleNumDbPlain" startAt="2"/>
            </a:pPr>
            <a:r>
              <a:rPr lang="en-US" altLang="zh-CN" sz="1800" b="1" dirty="0">
                <a:latin typeface="+mj-lt"/>
                <a:ea typeface="+mj-ea"/>
                <a:sym typeface="Consolas" panose="020B0609020204030204" pitchFamily="49" charset="0"/>
              </a:rPr>
              <a:t>EPSG</a:t>
            </a:r>
            <a:r>
              <a:rPr lang="zh-CN" altLang="en-US" dirty="0">
                <a:latin typeface="+mj-lt"/>
                <a:ea typeface="+mj-ea"/>
                <a:sym typeface="Consolas" panose="020B0609020204030204" pitchFamily="49" charset="0"/>
              </a:rPr>
              <a:t>：</a:t>
            </a:r>
            <a:r>
              <a:rPr lang="zh-CN" altLang="en-US" sz="1800" dirty="0">
                <a:latin typeface="+mj-lt"/>
                <a:ea typeface="+mj-ea"/>
                <a:sym typeface="Consolas" panose="020B0609020204030204" pitchFamily="49" charset="0"/>
              </a:rPr>
              <a:t>由数字编码组成，相较于第一种方法更加简洁和方便</a:t>
            </a:r>
            <a:endParaRPr lang="en-US" altLang="zh-CN" sz="1800" dirty="0">
              <a:latin typeface="+mj-lt"/>
              <a:ea typeface="+mj-ea"/>
              <a:sym typeface="Consolas" panose="020B0609020204030204" pitchFamily="49" charset="0"/>
            </a:endParaRPr>
          </a:p>
          <a:p>
            <a:pPr marL="285750" indent="457200">
              <a:lnSpc>
                <a:spcPct val="150000"/>
              </a:lnSpc>
            </a:pPr>
            <a:r>
              <a:rPr lang="zh-CN" altLang="en-US" sz="1800" dirty="0">
                <a:latin typeface="+mj-lt"/>
                <a:ea typeface="+mj-ea"/>
                <a:sym typeface="Consolas" panose="020B0609020204030204" pitchFamily="49" charset="0"/>
              </a:rPr>
              <a:t>例如，</a:t>
            </a:r>
            <a:r>
              <a:rPr lang="en-US" altLang="zh-CN" sz="1800" dirty="0">
                <a:latin typeface="+mj-lt"/>
                <a:ea typeface="+mj-ea"/>
                <a:sym typeface="Consolas" panose="020B0609020204030204" pitchFamily="49" charset="0"/>
              </a:rPr>
              <a:t>WGS84</a:t>
            </a:r>
            <a:r>
              <a:rPr lang="zh-CN" altLang="en-US" sz="1800" dirty="0">
                <a:latin typeface="+mj-lt"/>
                <a:ea typeface="+mj-ea"/>
                <a:sym typeface="Consolas" panose="020B0609020204030204" pitchFamily="49" charset="0"/>
              </a:rPr>
              <a:t>坐标系的</a:t>
            </a:r>
            <a:r>
              <a:rPr lang="en-US" altLang="zh-CN" sz="1800" dirty="0">
                <a:latin typeface="+mj-lt"/>
                <a:ea typeface="+mj-ea"/>
                <a:sym typeface="Consolas" panose="020B0609020204030204" pitchFamily="49" charset="0"/>
              </a:rPr>
              <a:t>EPSG</a:t>
            </a:r>
            <a:r>
              <a:rPr lang="zh-CN" altLang="en-US" sz="1800" dirty="0">
                <a:latin typeface="+mj-lt"/>
                <a:ea typeface="+mj-ea"/>
                <a:sym typeface="Consolas" panose="020B0609020204030204" pitchFamily="49" charset="0"/>
              </a:rPr>
              <a:t>编码为</a:t>
            </a:r>
            <a:r>
              <a:rPr lang="en-US" altLang="zh-CN" sz="1800" dirty="0">
                <a:latin typeface="+mj-lt"/>
                <a:ea typeface="+mj-ea"/>
                <a:sym typeface="Consolas" panose="020B0609020204030204" pitchFamily="49" charset="0"/>
              </a:rPr>
              <a:t>4326</a:t>
            </a:r>
          </a:p>
        </p:txBody>
      </p:sp>
      <p:sp>
        <p:nvSpPr>
          <p:cNvPr id="10" name="标题 9">
            <a:extLst>
              <a:ext uri="{FF2B5EF4-FFF2-40B4-BE49-F238E27FC236}">
                <a16:creationId xmlns:a16="http://schemas.microsoft.com/office/drawing/2014/main" id="{5900A2E2-2D71-A877-2C81-56F1EE837D4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B05D3F06-BDC0-9824-65E7-B3D6BFFDEA0F}"/>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35</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3B3C8FB1-76E7-1DB5-6738-76912669116D}"/>
              </a:ext>
            </a:extLst>
          </p:cNvPr>
          <p:cNvSpPr/>
          <p:nvPr/>
        </p:nvSpPr>
        <p:spPr>
          <a:xfrm>
            <a:off x="319850" y="1484289"/>
            <a:ext cx="3718749"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(6) </a:t>
            </a:r>
            <a:r>
              <a:rPr lang="zh-CN" altLang="en-US" sz="2400" b="1" dirty="0">
                <a:latin typeface="+mn-lt"/>
                <a:ea typeface="微软雅黑" panose="020B0503020204020204" pitchFamily="34" charset="-122"/>
                <a:cs typeface="+mn-ea"/>
                <a:sym typeface="Consolas" panose="020B0609020204030204" pitchFamily="49" charset="0"/>
              </a:rPr>
              <a:t>定义坐标参考系</a:t>
            </a:r>
          </a:p>
        </p:txBody>
      </p:sp>
      <p:sp>
        <p:nvSpPr>
          <p:cNvPr id="2" name="文本框 1">
            <a:extLst>
              <a:ext uri="{FF2B5EF4-FFF2-40B4-BE49-F238E27FC236}">
                <a16:creationId xmlns:a16="http://schemas.microsoft.com/office/drawing/2014/main" id="{0779D565-42AB-AB19-BC15-F5D2C1B8AE05}"/>
              </a:ext>
            </a:extLst>
          </p:cNvPr>
          <p:cNvSpPr txBox="1"/>
          <p:nvPr/>
        </p:nvSpPr>
        <p:spPr>
          <a:xfrm>
            <a:off x="964135" y="4251222"/>
            <a:ext cx="7341666" cy="30777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st_crs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proj4string</a:t>
            </a:r>
            <a:endParaRPr lang="zh-CN" altLang="zh-CN" sz="1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732846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8C38B-94F2-34C9-8C53-03FD43A654A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FF24D36B-CFCD-AC45-68BF-A8AC013AD20D}"/>
              </a:ext>
            </a:extLst>
          </p:cNvPr>
          <p:cNvSpPr/>
          <p:nvPr/>
        </p:nvSpPr>
        <p:spPr>
          <a:xfrm>
            <a:off x="316434" y="2117622"/>
            <a:ext cx="8256066" cy="2951064"/>
          </a:xfrm>
          <a:prstGeom prst="rect">
            <a:avLst/>
          </a:prstGeom>
        </p:spPr>
        <p:txBody>
          <a:bodyPr wrap="square">
            <a:spAutoFit/>
          </a:bodyPr>
          <a:lstStyle/>
          <a:p>
            <a:pPr marL="571500" indent="-285750">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在生成各种类型的</a:t>
            </a:r>
            <a:r>
              <a:rPr lang="en-US" altLang="zh-CN" dirty="0" err="1">
                <a:latin typeface="+mj-lt"/>
                <a:ea typeface="+mj-ea"/>
                <a:sym typeface="Consolas" panose="020B0609020204030204" pitchFamily="49" charset="0"/>
              </a:rPr>
              <a:t>sfg</a:t>
            </a:r>
            <a:r>
              <a:rPr lang="zh-CN" altLang="en-US" dirty="0">
                <a:latin typeface="+mj-lt"/>
                <a:ea typeface="+mj-ea"/>
                <a:sym typeface="Consolas" panose="020B0609020204030204" pitchFamily="49" charset="0"/>
              </a:rPr>
              <a:t>对象的基础上，可以通过</a:t>
            </a:r>
            <a:r>
              <a:rPr lang="en-US" altLang="zh-CN" b="1" i="1" dirty="0" err="1">
                <a:latin typeface="+mj-lt"/>
                <a:ea typeface="+mj-ea"/>
                <a:sym typeface="Consolas" panose="020B0609020204030204" pitchFamily="49" charset="0"/>
              </a:rPr>
              <a:t>st_sfc</a:t>
            </a:r>
            <a:r>
              <a:rPr lang="zh-CN" altLang="en-US" dirty="0">
                <a:latin typeface="+mj-lt"/>
                <a:ea typeface="+mj-ea"/>
                <a:sym typeface="Consolas" panose="020B0609020204030204" pitchFamily="49" charset="0"/>
              </a:rPr>
              <a:t>函数以及</a:t>
            </a:r>
            <a:r>
              <a:rPr lang="en-US" altLang="zh-CN" b="1" i="1" dirty="0" err="1">
                <a:latin typeface="+mj-lt"/>
                <a:ea typeface="+mj-ea"/>
                <a:sym typeface="Consolas" panose="020B0609020204030204" pitchFamily="49" charset="0"/>
              </a:rPr>
              <a:t>st_sf</a:t>
            </a:r>
            <a:r>
              <a:rPr lang="zh-CN" altLang="en-US" dirty="0">
                <a:latin typeface="+mj-lt"/>
                <a:ea typeface="+mj-ea"/>
                <a:sym typeface="Consolas" panose="020B0609020204030204" pitchFamily="49" charset="0"/>
              </a:rPr>
              <a:t>函数生成对应的</a:t>
            </a:r>
            <a:r>
              <a:rPr lang="en-US" altLang="zh-CN" dirty="0" err="1">
                <a:latin typeface="+mj-lt"/>
                <a:ea typeface="+mj-ea"/>
                <a:sym typeface="Consolas" panose="020B0609020204030204" pitchFamily="49" charset="0"/>
              </a:rPr>
              <a:t>sfc</a:t>
            </a:r>
            <a:r>
              <a:rPr lang="zh-CN" altLang="en-US" dirty="0">
                <a:latin typeface="+mj-lt"/>
                <a:ea typeface="+mj-ea"/>
                <a:sym typeface="Consolas" panose="020B0609020204030204" pitchFamily="49" charset="0"/>
              </a:rPr>
              <a:t>和</a:t>
            </a:r>
            <a:r>
              <a:rPr lang="en-US" altLang="zh-CN" dirty="0">
                <a:latin typeface="+mj-lt"/>
                <a:ea typeface="+mj-ea"/>
                <a:sym typeface="Consolas" panose="020B0609020204030204" pitchFamily="49" charset="0"/>
              </a:rPr>
              <a:t>sf</a:t>
            </a:r>
            <a:r>
              <a:rPr lang="zh-CN" altLang="en-US" dirty="0">
                <a:latin typeface="+mj-lt"/>
                <a:ea typeface="+mj-ea"/>
                <a:sym typeface="Consolas" panose="020B0609020204030204" pitchFamily="49" charset="0"/>
              </a:rPr>
              <a:t>对象。</a:t>
            </a:r>
            <a:endParaRPr lang="en-US" altLang="zh-CN" dirty="0">
              <a:latin typeface="+mj-lt"/>
              <a:ea typeface="+mj-ea"/>
              <a:sym typeface="Consolas" panose="020B0609020204030204" pitchFamily="49" charset="0"/>
            </a:endParaRPr>
          </a:p>
          <a:p>
            <a:pPr marL="571500" indent="-285750" algn="just">
              <a:lnSpc>
                <a:spcPct val="150000"/>
              </a:lnSpc>
              <a:buFont typeface="Wingdings" panose="05000000000000000000" pitchFamily="2" charset="2"/>
              <a:buChar char="ü"/>
            </a:pPr>
            <a:r>
              <a:rPr lang="zh-CN" altLang="en-US" sz="1800" dirty="0">
                <a:latin typeface="+mj-lt"/>
                <a:ea typeface="+mj-ea"/>
                <a:sym typeface="Consolas" panose="020B0609020204030204" pitchFamily="49" charset="0"/>
              </a:rPr>
              <a:t>使用</a:t>
            </a:r>
            <a:r>
              <a:rPr lang="en-US" altLang="zh-CN" sz="1800" b="1" i="1" dirty="0" err="1">
                <a:latin typeface="+mj-lt"/>
                <a:ea typeface="+mj-ea"/>
                <a:sym typeface="Consolas" panose="020B0609020204030204" pitchFamily="49" charset="0"/>
              </a:rPr>
              <a:t>st_crs</a:t>
            </a:r>
            <a:r>
              <a:rPr lang="zh-CN" altLang="en-US" sz="1800" dirty="0">
                <a:latin typeface="+mj-lt"/>
                <a:ea typeface="+mj-ea"/>
                <a:sym typeface="Consolas" panose="020B0609020204030204" pitchFamily="49" charset="0"/>
              </a:rPr>
              <a:t>函数能查看</a:t>
            </a:r>
            <a:r>
              <a:rPr lang="en-US" altLang="zh-CN" sz="1800" dirty="0">
                <a:latin typeface="+mj-lt"/>
                <a:ea typeface="+mj-ea"/>
                <a:sym typeface="Consolas" panose="020B0609020204030204" pitchFamily="49" charset="0"/>
              </a:rPr>
              <a:t>sf</a:t>
            </a:r>
            <a:r>
              <a:rPr lang="zh-CN" altLang="en-US" sz="1800" dirty="0">
                <a:latin typeface="+mj-lt"/>
                <a:ea typeface="+mj-ea"/>
                <a:sym typeface="Consolas" panose="020B0609020204030204" pitchFamily="49" charset="0"/>
              </a:rPr>
              <a:t>对象的坐标系，但直接生成的</a:t>
            </a:r>
            <a:r>
              <a:rPr lang="en-US" altLang="zh-CN" sz="1800" dirty="0">
                <a:latin typeface="+mj-lt"/>
                <a:ea typeface="+mj-ea"/>
                <a:sym typeface="Consolas" panose="020B0609020204030204" pitchFamily="49" charset="0"/>
              </a:rPr>
              <a:t>sf</a:t>
            </a:r>
            <a:r>
              <a:rPr lang="zh-CN" altLang="en-US" sz="1800" dirty="0">
                <a:latin typeface="+mj-lt"/>
                <a:ea typeface="+mj-ea"/>
                <a:sym typeface="Consolas" panose="020B0609020204030204" pitchFamily="49" charset="0"/>
              </a:rPr>
              <a:t>数据对象一般是未定义坐标系的，需要对其坐标系进行特殊赋值：</a:t>
            </a:r>
            <a:endParaRPr lang="en-US" altLang="zh-CN" sz="1800" dirty="0">
              <a:latin typeface="+mj-lt"/>
              <a:ea typeface="+mj-ea"/>
              <a:sym typeface="Consolas" panose="020B0609020204030204" pitchFamily="49" charset="0"/>
            </a:endParaRPr>
          </a:p>
          <a:p>
            <a:pPr marL="628650" indent="-342900">
              <a:lnSpc>
                <a:spcPct val="150000"/>
              </a:lnSpc>
              <a:buFont typeface="+mj-ea"/>
              <a:buAutoNum type="circleNumDbPlain"/>
            </a:pPr>
            <a:r>
              <a:rPr lang="zh-CN" altLang="en-US" sz="1800" dirty="0">
                <a:latin typeface="+mj-lt"/>
                <a:ea typeface="+mj-ea"/>
                <a:sym typeface="Consolas" panose="020B0609020204030204" pitchFamily="49" charset="0"/>
              </a:rPr>
              <a:t>在</a:t>
            </a:r>
            <a:r>
              <a:rPr lang="en-US" altLang="zh-CN" sz="1800" b="1" i="1" dirty="0" err="1">
                <a:latin typeface="+mj-lt"/>
                <a:ea typeface="+mj-ea"/>
                <a:sym typeface="Consolas" panose="020B0609020204030204" pitchFamily="49" charset="0"/>
              </a:rPr>
              <a:t>st_sfc</a:t>
            </a:r>
            <a:r>
              <a:rPr lang="zh-CN" altLang="en-US" sz="1800" dirty="0">
                <a:latin typeface="+mj-lt"/>
                <a:ea typeface="+mj-ea"/>
                <a:sym typeface="Consolas" panose="020B0609020204030204" pitchFamily="49" charset="0"/>
              </a:rPr>
              <a:t>函数或者</a:t>
            </a:r>
            <a:r>
              <a:rPr lang="en-US" altLang="zh-CN" sz="1800" b="1" i="1" dirty="0" err="1">
                <a:latin typeface="+mj-lt"/>
                <a:ea typeface="+mj-ea"/>
                <a:sym typeface="Consolas" panose="020B0609020204030204" pitchFamily="49" charset="0"/>
              </a:rPr>
              <a:t>st_sf</a:t>
            </a:r>
            <a:r>
              <a:rPr lang="zh-CN" altLang="en-US" sz="1800" dirty="0">
                <a:latin typeface="+mj-lt"/>
                <a:ea typeface="+mj-ea"/>
                <a:sym typeface="Consolas" panose="020B0609020204030204" pitchFamily="49" charset="0"/>
              </a:rPr>
              <a:t>函数中指定参数</a:t>
            </a:r>
            <a:r>
              <a:rPr lang="en-US" altLang="zh-CN" sz="1800" dirty="0" err="1">
                <a:latin typeface="+mj-lt"/>
                <a:ea typeface="+mj-ea"/>
                <a:sym typeface="Consolas" panose="020B0609020204030204" pitchFamily="49" charset="0"/>
              </a:rPr>
              <a:t>crs</a:t>
            </a:r>
            <a:endParaRPr lang="en-US" altLang="zh-CN" sz="1800" dirty="0">
              <a:latin typeface="+mj-lt"/>
              <a:ea typeface="+mj-ea"/>
              <a:sym typeface="Consolas" panose="020B0609020204030204" pitchFamily="49" charset="0"/>
            </a:endParaRPr>
          </a:p>
          <a:p>
            <a:pPr marL="628650" indent="-342900">
              <a:lnSpc>
                <a:spcPct val="150000"/>
              </a:lnSpc>
              <a:buFont typeface="+mj-ea"/>
              <a:buAutoNum type="circleNumDbPlain"/>
            </a:pPr>
            <a:r>
              <a:rPr lang="zh-CN" altLang="en-US" sz="1800" dirty="0">
                <a:latin typeface="+mj-lt"/>
                <a:ea typeface="+mj-ea"/>
                <a:sym typeface="Consolas" panose="020B0609020204030204" pitchFamily="49" charset="0"/>
              </a:rPr>
              <a:t>使用</a:t>
            </a:r>
            <a:r>
              <a:rPr lang="en-US" altLang="zh-CN" sz="1800" b="1" i="1" dirty="0" err="1">
                <a:latin typeface="+mj-lt"/>
                <a:ea typeface="+mj-ea"/>
                <a:sym typeface="Consolas" panose="020B0609020204030204" pitchFamily="49" charset="0"/>
              </a:rPr>
              <a:t>st_set_crs</a:t>
            </a:r>
            <a:r>
              <a:rPr lang="zh-CN" altLang="en-US" sz="1800" dirty="0">
                <a:latin typeface="+mj-lt"/>
                <a:ea typeface="+mj-ea"/>
                <a:sym typeface="Consolas" panose="020B0609020204030204" pitchFamily="49" charset="0"/>
              </a:rPr>
              <a:t>函数为</a:t>
            </a:r>
            <a:r>
              <a:rPr lang="en-US" altLang="zh-CN" sz="1800" dirty="0">
                <a:latin typeface="+mj-lt"/>
                <a:ea typeface="+mj-ea"/>
                <a:sym typeface="Consolas" panose="020B0609020204030204" pitchFamily="49" charset="0"/>
              </a:rPr>
              <a:t>sf</a:t>
            </a:r>
            <a:r>
              <a:rPr lang="zh-CN" altLang="en-US" sz="1800" dirty="0">
                <a:latin typeface="+mj-lt"/>
                <a:ea typeface="+mj-ea"/>
                <a:sym typeface="Consolas" panose="020B0609020204030204" pitchFamily="49" charset="0"/>
              </a:rPr>
              <a:t>对象指定坐标系</a:t>
            </a:r>
            <a:endParaRPr lang="en-US" altLang="zh-CN" sz="1800" dirty="0">
              <a:latin typeface="+mj-lt"/>
              <a:ea typeface="+mj-ea"/>
              <a:sym typeface="Consolas" panose="020B0609020204030204" pitchFamily="49" charset="0"/>
            </a:endParaRPr>
          </a:p>
          <a:p>
            <a:pPr marL="628650" indent="-342900">
              <a:lnSpc>
                <a:spcPct val="150000"/>
              </a:lnSpc>
              <a:buFont typeface="+mj-ea"/>
              <a:buAutoNum type="circleNumDbPlain"/>
            </a:pPr>
            <a:r>
              <a:rPr lang="zh-CN" altLang="en-US" sz="1800" dirty="0">
                <a:latin typeface="+mj-lt"/>
                <a:ea typeface="+mj-ea"/>
                <a:sym typeface="Consolas" panose="020B0609020204030204" pitchFamily="49" charset="0"/>
              </a:rPr>
              <a:t>如果数据本身有坐标系，则可以使用</a:t>
            </a:r>
            <a:r>
              <a:rPr lang="en-US" altLang="zh-CN" sz="1800" b="1" i="1" dirty="0" err="1">
                <a:latin typeface="+mj-lt"/>
                <a:ea typeface="+mj-ea"/>
                <a:sym typeface="Consolas" panose="020B0609020204030204" pitchFamily="49" charset="0"/>
              </a:rPr>
              <a:t>st_transform</a:t>
            </a:r>
            <a:r>
              <a:rPr lang="zh-CN" altLang="en-US" sz="1800" dirty="0">
                <a:latin typeface="+mj-lt"/>
                <a:ea typeface="+mj-ea"/>
                <a:sym typeface="Consolas" panose="020B0609020204030204" pitchFamily="49" charset="0"/>
              </a:rPr>
              <a:t>函数进行坐标系的转换</a:t>
            </a:r>
            <a:endParaRPr lang="en-US" altLang="zh-CN" sz="1800"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C2E303D8-4FAE-5DFF-4778-B851D49E142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4FF8C5FF-1208-E53E-7AD5-32EB6165776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36</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9AC7208F-2B03-070E-A8AE-48D1EC52F5D9}"/>
              </a:ext>
            </a:extLst>
          </p:cNvPr>
          <p:cNvSpPr/>
          <p:nvPr/>
        </p:nvSpPr>
        <p:spPr>
          <a:xfrm>
            <a:off x="319850" y="1484289"/>
            <a:ext cx="3718749"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(6) </a:t>
            </a:r>
            <a:r>
              <a:rPr lang="zh-CN" altLang="en-US" sz="2400" b="1" dirty="0">
                <a:latin typeface="+mn-lt"/>
                <a:ea typeface="微软雅黑" panose="020B0503020204020204" pitchFamily="34" charset="-122"/>
                <a:cs typeface="+mn-ea"/>
                <a:sym typeface="Consolas" panose="020B0609020204030204" pitchFamily="49" charset="0"/>
              </a:rPr>
              <a:t>定义坐标参考系</a:t>
            </a:r>
          </a:p>
        </p:txBody>
      </p:sp>
    </p:spTree>
    <p:extLst>
      <p:ext uri="{BB962C8B-B14F-4D97-AF65-F5344CB8AC3E}">
        <p14:creationId xmlns:p14="http://schemas.microsoft.com/office/powerpoint/2010/main" val="727597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CC1A-C7B5-869E-A20E-42D51E51B860}"/>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0ADB9159-F892-09A1-AD6F-1A52E885DF32}"/>
              </a:ext>
            </a:extLst>
          </p:cNvPr>
          <p:cNvSpPr/>
          <p:nvPr/>
        </p:nvSpPr>
        <p:spPr>
          <a:xfrm>
            <a:off x="316434" y="2117622"/>
            <a:ext cx="8256066" cy="874214"/>
          </a:xfrm>
          <a:prstGeom prst="rect">
            <a:avLst/>
          </a:prstGeom>
        </p:spPr>
        <p:txBody>
          <a:bodyPr wrap="square">
            <a:spAutoFit/>
          </a:bodyPr>
          <a:lstStyle/>
          <a:p>
            <a:pPr marL="285750" indent="457200">
              <a:lnSpc>
                <a:spcPct val="150000"/>
              </a:lnSpc>
            </a:pPr>
            <a:r>
              <a:rPr lang="zh-CN" altLang="en-US" dirty="0">
                <a:latin typeface="+mj-lt"/>
                <a:ea typeface="+mj-ea"/>
                <a:sym typeface="Consolas" panose="020B0609020204030204" pitchFamily="49" charset="0"/>
              </a:rPr>
              <a:t>生成</a:t>
            </a:r>
            <a:r>
              <a:rPr lang="en-US" altLang="zh-CN" dirty="0" err="1">
                <a:latin typeface="+mj-lt"/>
                <a:ea typeface="+mj-ea"/>
                <a:sym typeface="Consolas" panose="020B0609020204030204" pitchFamily="49" charset="0"/>
              </a:rPr>
              <a:t>sfg</a:t>
            </a:r>
            <a:r>
              <a:rPr lang="zh-CN" altLang="en-US" dirty="0">
                <a:latin typeface="+mj-lt"/>
                <a:ea typeface="+mj-ea"/>
                <a:sym typeface="Consolas" panose="020B0609020204030204" pitchFamily="49" charset="0"/>
              </a:rPr>
              <a:t>对象和对应的</a:t>
            </a:r>
            <a:r>
              <a:rPr lang="en-US" altLang="zh-CN" dirty="0" err="1">
                <a:latin typeface="+mj-lt"/>
                <a:ea typeface="+mj-ea"/>
                <a:sym typeface="Consolas" panose="020B0609020204030204" pitchFamily="49" charset="0"/>
              </a:rPr>
              <a:t>sfc</a:t>
            </a:r>
            <a:r>
              <a:rPr lang="zh-CN" altLang="en-US" dirty="0">
                <a:latin typeface="+mj-lt"/>
                <a:ea typeface="+mj-ea"/>
                <a:sym typeface="Consolas" panose="020B0609020204030204" pitchFamily="49" charset="0"/>
              </a:rPr>
              <a:t>对象，并将最终构成的</a:t>
            </a:r>
            <a:r>
              <a:rPr lang="en-US" altLang="zh-CN" dirty="0">
                <a:latin typeface="+mj-lt"/>
                <a:ea typeface="+mj-ea"/>
                <a:sym typeface="Consolas" panose="020B0609020204030204" pitchFamily="49" charset="0"/>
              </a:rPr>
              <a:t>sf</a:t>
            </a:r>
            <a:r>
              <a:rPr lang="zh-CN" altLang="en-US" dirty="0">
                <a:latin typeface="+mj-lt"/>
                <a:ea typeface="+mj-ea"/>
                <a:sym typeface="Consolas" panose="020B0609020204030204" pitchFamily="49" charset="0"/>
              </a:rPr>
              <a:t>数据对象坐标系赋值为</a:t>
            </a:r>
            <a:r>
              <a:rPr lang="en-US" altLang="zh-CN" dirty="0">
                <a:latin typeface="+mj-lt"/>
                <a:ea typeface="+mj-ea"/>
                <a:sym typeface="Consolas" panose="020B0609020204030204" pitchFamily="49" charset="0"/>
              </a:rPr>
              <a:t>WGS84</a:t>
            </a:r>
            <a:r>
              <a:rPr lang="zh-CN" altLang="en-US" dirty="0">
                <a:latin typeface="+mj-lt"/>
                <a:ea typeface="+mj-ea"/>
                <a:sym typeface="Consolas" panose="020B0609020204030204" pitchFamily="49" charset="0"/>
              </a:rPr>
              <a:t>坐标系：</a:t>
            </a:r>
            <a:endParaRPr lang="en-US" altLang="zh-CN" sz="1800" dirty="0">
              <a:latin typeface="+mj-lt"/>
              <a:ea typeface="+mj-ea"/>
              <a:sym typeface="Consolas" panose="020B0609020204030204" pitchFamily="49" charset="0"/>
            </a:endParaRPr>
          </a:p>
        </p:txBody>
      </p:sp>
      <p:sp>
        <p:nvSpPr>
          <p:cNvPr id="10" name="标题 9">
            <a:extLst>
              <a:ext uri="{FF2B5EF4-FFF2-40B4-BE49-F238E27FC236}">
                <a16:creationId xmlns:a16="http://schemas.microsoft.com/office/drawing/2014/main" id="{66E785D6-0F4E-085F-2CB1-8545D1DC5C0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3.2.2 </a:t>
            </a:r>
            <a:r>
              <a:rPr lang="en-US" altLang="zh-CN" sz="36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600" b="1" dirty="0">
                <a:solidFill>
                  <a:schemeClr val="accent1"/>
                </a:solidFill>
                <a:latin typeface="Times New Roman" panose="02020603050405020304" pitchFamily="18" charset="0"/>
                <a:ea typeface="+mn-ea"/>
                <a:cs typeface="Times New Roman" panose="02020603050405020304" pitchFamily="18" charset="0"/>
              </a:rPr>
              <a:t>对象</a:t>
            </a:r>
            <a:endParaRPr lang="zh-CN" altLang="en-US" sz="36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BAF2B8ED-104B-1956-ADFD-A767E12B5A4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37</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33072DC3-54A5-F0AA-C510-EFA94C846434}"/>
              </a:ext>
            </a:extLst>
          </p:cNvPr>
          <p:cNvSpPr/>
          <p:nvPr/>
        </p:nvSpPr>
        <p:spPr>
          <a:xfrm>
            <a:off x="319850" y="1484289"/>
            <a:ext cx="3718749"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(6) </a:t>
            </a:r>
            <a:r>
              <a:rPr lang="zh-CN" altLang="en-US" sz="2400" b="1" dirty="0">
                <a:latin typeface="+mn-lt"/>
                <a:ea typeface="微软雅黑" panose="020B0503020204020204" pitchFamily="34" charset="-122"/>
                <a:cs typeface="+mn-ea"/>
                <a:sym typeface="Consolas" panose="020B0609020204030204" pitchFamily="49" charset="0"/>
              </a:rPr>
              <a:t>定义坐标参考系</a:t>
            </a:r>
          </a:p>
        </p:txBody>
      </p:sp>
      <p:sp>
        <p:nvSpPr>
          <p:cNvPr id="2" name="文本框 1">
            <a:extLst>
              <a:ext uri="{FF2B5EF4-FFF2-40B4-BE49-F238E27FC236}">
                <a16:creationId xmlns:a16="http://schemas.microsoft.com/office/drawing/2014/main" id="{5822D76A-B684-432C-90DA-E23A80D321F9}"/>
              </a:ext>
            </a:extLst>
          </p:cNvPr>
          <p:cNvSpPr txBox="1"/>
          <p:nvPr/>
        </p:nvSpPr>
        <p:spPr>
          <a:xfrm>
            <a:off x="958317" y="2996040"/>
            <a:ext cx="7341666" cy="286232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p_sfc</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st_sfc</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id&lt;-c(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(id=</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id,geometry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p_sfc,crs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4326</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p_sf</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617739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E6556-C954-CEAA-0A00-FD0B6DCB97A1}"/>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FCBB80C4-73EE-3890-FB9F-E72B1AF42965}"/>
              </a:ext>
            </a:extLst>
          </p:cNvPr>
          <p:cNvSpPr/>
          <p:nvPr/>
        </p:nvSpPr>
        <p:spPr>
          <a:xfrm>
            <a:off x="190500" y="1392700"/>
            <a:ext cx="8496300" cy="1705210"/>
          </a:xfrm>
          <a:prstGeom prst="rect">
            <a:avLst/>
          </a:prstGeom>
        </p:spPr>
        <p:txBody>
          <a:bodyPr wrap="square">
            <a:spAutoFit/>
          </a:bodyPr>
          <a:lstStyle/>
          <a:p>
            <a:pPr marL="571500" indent="-285750">
              <a:lnSpc>
                <a:spcPct val="150000"/>
              </a:lnSpc>
              <a:buFont typeface="Wingdings" panose="05000000000000000000" pitchFamily="2" charset="2"/>
              <a:buChar char="ü"/>
            </a:pPr>
            <a:r>
              <a:rPr lang="zh-CN" altLang="zh-CN" sz="1800" dirty="0">
                <a:effectLst/>
                <a:latin typeface="+mn-lt"/>
                <a:ea typeface="+mn-ea"/>
                <a:cs typeface="Times New Roman" panose="02020603050405020304" pitchFamily="18" charset="0"/>
              </a:rPr>
              <a:t>针对</a:t>
            </a:r>
            <a:r>
              <a:rPr lang="en-US" altLang="zh-CN" sz="1800" dirty="0">
                <a:effectLst/>
                <a:latin typeface="+mn-lt"/>
                <a:ea typeface="+mn-ea"/>
              </a:rPr>
              <a:t>sf</a:t>
            </a:r>
            <a:r>
              <a:rPr lang="zh-CN" altLang="zh-CN" sz="1800" dirty="0">
                <a:effectLst/>
                <a:latin typeface="+mn-lt"/>
                <a:ea typeface="+mn-ea"/>
                <a:cs typeface="Times New Roman" panose="02020603050405020304" pitchFamily="18" charset="0"/>
              </a:rPr>
              <a:t>对象，可以使用</a:t>
            </a:r>
            <a:r>
              <a:rPr lang="en-US" altLang="zh-CN" sz="1800" b="1" i="1" dirty="0" err="1">
                <a:effectLst/>
                <a:latin typeface="+mn-lt"/>
                <a:ea typeface="+mn-ea"/>
              </a:rPr>
              <a:t>as.data.frame</a:t>
            </a:r>
            <a:r>
              <a:rPr lang="zh-CN" altLang="zh-CN" sz="1800" dirty="0">
                <a:effectLst/>
                <a:latin typeface="+mn-lt"/>
                <a:ea typeface="+mn-ea"/>
                <a:cs typeface="Times New Roman" panose="02020603050405020304" pitchFamily="18" charset="0"/>
              </a:rPr>
              <a:t>函数将</a:t>
            </a:r>
            <a:r>
              <a:rPr lang="en-US" altLang="zh-CN" sz="1800" dirty="0">
                <a:effectLst/>
                <a:latin typeface="+mn-lt"/>
                <a:ea typeface="+mn-ea"/>
              </a:rPr>
              <a:t>Simple Feature</a:t>
            </a:r>
            <a:r>
              <a:rPr lang="zh-CN" altLang="zh-CN" sz="1800" dirty="0">
                <a:effectLst/>
                <a:latin typeface="+mn-lt"/>
                <a:ea typeface="+mn-ea"/>
                <a:cs typeface="Times New Roman" panose="02020603050405020304" pitchFamily="18" charset="0"/>
              </a:rPr>
              <a:t>对象转换成</a:t>
            </a:r>
            <a:r>
              <a:rPr lang="en-US" altLang="zh-CN" sz="1800" dirty="0" err="1">
                <a:effectLst/>
                <a:latin typeface="+mn-lt"/>
                <a:ea typeface="+mn-ea"/>
              </a:rPr>
              <a:t>data.frame</a:t>
            </a:r>
            <a:r>
              <a:rPr lang="zh-CN" altLang="zh-CN" sz="1800" dirty="0">
                <a:effectLst/>
                <a:latin typeface="+mn-lt"/>
                <a:ea typeface="+mn-ea"/>
                <a:cs typeface="Times New Roman" panose="02020603050405020304" pitchFamily="18" charset="0"/>
              </a:rPr>
              <a:t>对象</a:t>
            </a:r>
            <a:r>
              <a:rPr lang="zh-CN" altLang="en-US" sz="1800" dirty="0">
                <a:effectLst/>
                <a:latin typeface="+mn-lt"/>
                <a:ea typeface="+mn-ea"/>
                <a:cs typeface="Times New Roman" panose="02020603050405020304" pitchFamily="18" charset="0"/>
              </a:rPr>
              <a:t>。</a:t>
            </a:r>
            <a:endParaRPr lang="en-US" altLang="zh-CN" dirty="0">
              <a:effectLst/>
              <a:latin typeface="+mn-lt"/>
              <a:ea typeface="+mn-ea"/>
              <a:cs typeface="Times New Roman" panose="02020603050405020304" pitchFamily="18" charset="0"/>
              <a:sym typeface="Consolas" panose="020B0609020204030204" pitchFamily="49" charset="0"/>
            </a:endParaRPr>
          </a:p>
          <a:p>
            <a:pPr marL="571500" indent="-285750">
              <a:lnSpc>
                <a:spcPct val="150000"/>
              </a:lnSpc>
              <a:buFont typeface="Wingdings" panose="05000000000000000000" pitchFamily="2" charset="2"/>
              <a:buChar char="ü"/>
            </a:pPr>
            <a:r>
              <a:rPr lang="zh-CN" altLang="en-US" sz="1800" dirty="0">
                <a:effectLst/>
                <a:latin typeface="+mn-lt"/>
                <a:ea typeface="+mn-ea"/>
                <a:cs typeface="Times New Roman" panose="02020603050405020304" pitchFamily="18" charset="0"/>
              </a:rPr>
              <a:t>在前面小节代码的基础上，</a:t>
            </a:r>
            <a:r>
              <a:rPr lang="zh-CN" altLang="zh-CN" sz="1800" dirty="0">
                <a:effectLst/>
                <a:latin typeface="+mn-lt"/>
                <a:ea typeface="+mn-ea"/>
                <a:cs typeface="Times New Roman" panose="02020603050405020304" pitchFamily="18" charset="0"/>
              </a:rPr>
              <a:t>通过</a:t>
            </a:r>
            <a:r>
              <a:rPr lang="zh-CN" altLang="en-US" sz="1800" dirty="0">
                <a:effectLst/>
                <a:latin typeface="+mn-lt"/>
                <a:ea typeface="+mn-ea"/>
                <a:cs typeface="Times New Roman" panose="02020603050405020304" pitchFamily="18" charset="0"/>
              </a:rPr>
              <a:t>以下代码的</a:t>
            </a:r>
            <a:r>
              <a:rPr lang="zh-CN" altLang="zh-CN" sz="1800" dirty="0">
                <a:effectLst/>
                <a:latin typeface="+mn-lt"/>
                <a:ea typeface="+mn-ea"/>
                <a:cs typeface="Times New Roman" panose="02020603050405020304" pitchFamily="18" charset="0"/>
              </a:rPr>
              <a:t>输出结果观察</a:t>
            </a:r>
            <a:r>
              <a:rPr lang="en-US" altLang="zh-CN" sz="1800" dirty="0">
                <a:effectLst/>
                <a:latin typeface="+mn-lt"/>
                <a:ea typeface="+mn-ea"/>
              </a:rPr>
              <a:t>Simple Feature</a:t>
            </a:r>
            <a:r>
              <a:rPr lang="zh-CN" altLang="zh-CN" sz="1800" dirty="0">
                <a:effectLst/>
                <a:latin typeface="+mn-lt"/>
                <a:ea typeface="+mn-ea"/>
                <a:cs typeface="Times New Roman" panose="02020603050405020304" pitchFamily="18" charset="0"/>
              </a:rPr>
              <a:t>和</a:t>
            </a:r>
            <a:r>
              <a:rPr lang="en-US" altLang="zh-CN" sz="1800" dirty="0" err="1">
                <a:effectLst/>
                <a:latin typeface="+mn-lt"/>
                <a:ea typeface="+mn-ea"/>
              </a:rPr>
              <a:t>data.frame</a:t>
            </a:r>
            <a:r>
              <a:rPr lang="zh-CN" altLang="zh-CN" sz="1800" dirty="0">
                <a:effectLst/>
                <a:latin typeface="+mn-lt"/>
                <a:ea typeface="+mn-ea"/>
                <a:cs typeface="Times New Roman" panose="02020603050405020304" pitchFamily="18" charset="0"/>
              </a:rPr>
              <a:t>之间的区别和联系</a:t>
            </a:r>
            <a:r>
              <a:rPr lang="zh-CN" altLang="en-US" sz="1800" dirty="0">
                <a:latin typeface="+mn-lt"/>
                <a:ea typeface="+mn-ea"/>
                <a:cs typeface="Times New Roman" panose="02020603050405020304" pitchFamily="18" charset="0"/>
                <a:sym typeface="Consolas" panose="020B0609020204030204" pitchFamily="49" charset="0"/>
              </a:rPr>
              <a:t>：</a:t>
            </a:r>
            <a:endParaRPr lang="en-US" altLang="zh-CN" sz="1800" dirty="0">
              <a:effectLst/>
              <a:latin typeface="+mn-lt"/>
              <a:ea typeface="+mn-ea"/>
              <a:cs typeface="Times New Roman" panose="02020603050405020304" pitchFamily="18" charset="0"/>
            </a:endParaRPr>
          </a:p>
        </p:txBody>
      </p:sp>
      <p:sp>
        <p:nvSpPr>
          <p:cNvPr id="10" name="标题 9">
            <a:extLst>
              <a:ext uri="{FF2B5EF4-FFF2-40B4-BE49-F238E27FC236}">
                <a16:creationId xmlns:a16="http://schemas.microsoft.com/office/drawing/2014/main" id="{3D2DB98E-7BE0-328F-7D92-37C8E3D1A5F3}"/>
              </a:ext>
            </a:extLst>
          </p:cNvPr>
          <p:cNvSpPr>
            <a:spLocks noGrp="1"/>
          </p:cNvSpPr>
          <p:nvPr>
            <p:ph type="title"/>
          </p:nvPr>
        </p:nvSpPr>
        <p:spPr>
          <a:xfrm>
            <a:off x="1066800" y="0"/>
            <a:ext cx="6896099" cy="663575"/>
          </a:xfrm>
        </p:spPr>
        <p:txBody>
          <a:bodyPr/>
          <a:lstStyle/>
          <a:p>
            <a:pPr algn="l"/>
            <a:r>
              <a:rPr lang="en-US" altLang="zh-CN" sz="3200" dirty="0">
                <a:latin typeface="Times New Roman" panose="02020603050405020304" pitchFamily="18" charset="0"/>
                <a:cs typeface="Times New Roman" panose="02020603050405020304" pitchFamily="18" charset="0"/>
              </a:rPr>
              <a:t>3.2.3 </a:t>
            </a:r>
            <a:r>
              <a:rPr lang="en-US" altLang="zh-CN" sz="32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数据对象与</a:t>
            </a:r>
            <a:r>
              <a:rPr lang="en-US" altLang="zh-CN" sz="3200" b="1" dirty="0" err="1">
                <a:solidFill>
                  <a:schemeClr val="accent1"/>
                </a:solidFill>
                <a:latin typeface="Times New Roman" panose="02020603050405020304" pitchFamily="18" charset="0"/>
                <a:ea typeface="+mn-ea"/>
                <a:cs typeface="Times New Roman" panose="02020603050405020304" pitchFamily="18" charset="0"/>
              </a:rPr>
              <a:t>data.frame</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数据的相互转化</a:t>
            </a:r>
            <a:endParaRPr lang="zh-CN" altLang="en-US" sz="32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E1B5D6AD-6D93-EB24-7907-C463AE328F32}"/>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38</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24928EDA-DB15-4171-933C-659D9C1FB141}"/>
              </a:ext>
            </a:extLst>
          </p:cNvPr>
          <p:cNvSpPr txBox="1"/>
          <p:nvPr/>
        </p:nvSpPr>
        <p:spPr>
          <a:xfrm>
            <a:off x="762000" y="3105834"/>
            <a:ext cx="7341666" cy="58477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p_df</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13A6C01E-48EE-59B6-4FBE-79A1FC871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3667524"/>
            <a:ext cx="4175760" cy="28956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95337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9D1A4-0F47-608F-C4B9-B878EEB13CD0}"/>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CD4AF49C-6FDC-E8FC-18BB-9400F6D4D78E}"/>
              </a:ext>
            </a:extLst>
          </p:cNvPr>
          <p:cNvSpPr/>
          <p:nvPr/>
        </p:nvSpPr>
        <p:spPr>
          <a:xfrm>
            <a:off x="190500" y="1524000"/>
            <a:ext cx="8420100" cy="3367204"/>
          </a:xfrm>
          <a:prstGeom prst="rect">
            <a:avLst/>
          </a:prstGeom>
        </p:spPr>
        <p:txBody>
          <a:bodyPr wrap="square">
            <a:spAutoFit/>
          </a:bodyPr>
          <a:lstStyle/>
          <a:p>
            <a:pPr marL="571500" indent="-285750" algn="just">
              <a:lnSpc>
                <a:spcPct val="150000"/>
              </a:lnSpc>
              <a:buFont typeface="Wingdings" panose="05000000000000000000" pitchFamily="2" charset="2"/>
              <a:buChar char="ü"/>
            </a:pPr>
            <a:r>
              <a:rPr lang="zh-CN" altLang="en-US" sz="1800" dirty="0">
                <a:effectLst/>
                <a:latin typeface="+mj-lt"/>
                <a:ea typeface="+mj-ea"/>
                <a:cs typeface="Times New Roman" panose="02020603050405020304" pitchFamily="18" charset="0"/>
              </a:rPr>
              <a:t>在</a:t>
            </a:r>
            <a:r>
              <a:rPr lang="en-US" altLang="zh-CN" sz="1800" b="1" dirty="0">
                <a:effectLst/>
                <a:latin typeface="+mj-lt"/>
                <a:ea typeface="+mj-ea"/>
                <a:cs typeface="Times New Roman" panose="02020603050405020304" pitchFamily="18" charset="0"/>
              </a:rPr>
              <a:t>R</a:t>
            </a:r>
            <a:r>
              <a:rPr lang="zh-CN" altLang="en-US" sz="1800" dirty="0">
                <a:effectLst/>
                <a:latin typeface="+mj-lt"/>
                <a:ea typeface="+mj-ea"/>
                <a:cs typeface="Times New Roman" panose="02020603050405020304" pitchFamily="18" charset="0"/>
              </a:rPr>
              <a:t>语言处理空间数据的过程中，</a:t>
            </a:r>
            <a:r>
              <a:rPr lang="en-US" altLang="zh-CN" sz="1800" b="1" dirty="0">
                <a:effectLst/>
                <a:latin typeface="+mj-lt"/>
                <a:ea typeface="+mj-ea"/>
                <a:cs typeface="Times New Roman" panose="02020603050405020304" pitchFamily="18" charset="0"/>
              </a:rPr>
              <a:t>Simple Feature</a:t>
            </a:r>
            <a:r>
              <a:rPr lang="en-US" altLang="zh-CN" b="1" dirty="0">
                <a:latin typeface="+mj-lt"/>
                <a:ea typeface="+mj-ea"/>
                <a:cs typeface="Times New Roman" panose="02020603050405020304" pitchFamily="18" charset="0"/>
              </a:rPr>
              <a:t>(</a:t>
            </a:r>
            <a:r>
              <a:rPr lang="en-US" altLang="zh-CN" sz="1800" b="1" dirty="0">
                <a:effectLst/>
                <a:latin typeface="+mj-lt"/>
                <a:ea typeface="+mj-ea"/>
                <a:cs typeface="Times New Roman" panose="02020603050405020304" pitchFamily="18" charset="0"/>
              </a:rPr>
              <a:t>sf</a:t>
            </a:r>
            <a:r>
              <a:rPr lang="en-US" altLang="zh-CN" b="1" dirty="0">
                <a:latin typeface="+mj-lt"/>
                <a:ea typeface="+mj-ea"/>
                <a:cs typeface="Times New Roman" panose="02020603050405020304" pitchFamily="18" charset="0"/>
              </a:rPr>
              <a:t>)</a:t>
            </a:r>
            <a:r>
              <a:rPr lang="zh-CN" altLang="en-US" sz="1800" b="1" dirty="0">
                <a:effectLst/>
                <a:latin typeface="+mj-lt"/>
                <a:ea typeface="+mj-ea"/>
                <a:cs typeface="Times New Roman" panose="02020603050405020304" pitchFamily="18" charset="0"/>
              </a:rPr>
              <a:t>数据对象</a:t>
            </a:r>
            <a:r>
              <a:rPr lang="zh-CN" altLang="en-US" sz="1800" dirty="0">
                <a:effectLst/>
                <a:latin typeface="+mj-lt"/>
                <a:ea typeface="+mj-ea"/>
                <a:cs typeface="Times New Roman" panose="02020603050405020304" pitchFamily="18" charset="0"/>
              </a:rPr>
              <a:t>和</a:t>
            </a:r>
            <a:r>
              <a:rPr lang="en-US" altLang="zh-CN" sz="1800" b="1" dirty="0">
                <a:effectLst/>
                <a:latin typeface="+mj-lt"/>
                <a:ea typeface="+mj-ea"/>
                <a:cs typeface="Times New Roman" panose="02020603050405020304" pitchFamily="18" charset="0"/>
              </a:rPr>
              <a:t>Spatial</a:t>
            </a:r>
            <a:r>
              <a:rPr lang="en-US" altLang="zh-CN" b="1" dirty="0">
                <a:latin typeface="+mj-lt"/>
                <a:ea typeface="+mj-ea"/>
                <a:cs typeface="Times New Roman" panose="02020603050405020304" pitchFamily="18" charset="0"/>
              </a:rPr>
              <a:t>(</a:t>
            </a:r>
            <a:r>
              <a:rPr lang="en-US" altLang="zh-CN" sz="1800" b="1" dirty="0" err="1">
                <a:effectLst/>
                <a:latin typeface="+mj-lt"/>
                <a:ea typeface="+mj-ea"/>
                <a:cs typeface="Times New Roman" panose="02020603050405020304" pitchFamily="18" charset="0"/>
              </a:rPr>
              <a:t>sp</a:t>
            </a:r>
            <a:r>
              <a:rPr lang="en-US" altLang="zh-CN" b="1" dirty="0">
                <a:latin typeface="+mj-lt"/>
                <a:ea typeface="+mj-ea"/>
                <a:cs typeface="Times New Roman" panose="02020603050405020304" pitchFamily="18" charset="0"/>
              </a:rPr>
              <a:t>)</a:t>
            </a:r>
            <a:r>
              <a:rPr lang="zh-CN" altLang="en-US" sz="1800" b="1" dirty="0">
                <a:effectLst/>
                <a:latin typeface="+mj-lt"/>
                <a:ea typeface="+mj-ea"/>
                <a:cs typeface="Times New Roman" panose="02020603050405020304" pitchFamily="18" charset="0"/>
              </a:rPr>
              <a:t>数据对象</a:t>
            </a:r>
            <a:r>
              <a:rPr lang="zh-CN" altLang="en-US" sz="1800" dirty="0">
                <a:effectLst/>
                <a:latin typeface="+mj-lt"/>
                <a:ea typeface="+mj-ea"/>
                <a:cs typeface="Times New Roman" panose="02020603050405020304" pitchFamily="18" charset="0"/>
              </a:rPr>
              <a:t>都是比较常用的数据对象类型，处理这两种数据对象的主要工具分别为</a:t>
            </a:r>
            <a:r>
              <a:rPr lang="en-US" altLang="zh-CN" sz="1800" b="1" dirty="0">
                <a:effectLst/>
                <a:latin typeface="+mj-lt"/>
                <a:ea typeface="+mj-ea"/>
                <a:cs typeface="Times New Roman" panose="02020603050405020304" pitchFamily="18" charset="0"/>
              </a:rPr>
              <a:t>sf</a:t>
            </a:r>
            <a:r>
              <a:rPr lang="zh-CN" altLang="en-US" sz="1800" dirty="0">
                <a:effectLst/>
                <a:latin typeface="+mj-lt"/>
                <a:ea typeface="+mj-ea"/>
                <a:cs typeface="Times New Roman" panose="02020603050405020304" pitchFamily="18" charset="0"/>
              </a:rPr>
              <a:t>函数包和</a:t>
            </a:r>
            <a:r>
              <a:rPr lang="en-US" altLang="zh-CN" sz="1800" b="1" dirty="0" err="1">
                <a:effectLst/>
                <a:latin typeface="+mj-lt"/>
                <a:ea typeface="+mj-ea"/>
                <a:cs typeface="Times New Roman" panose="02020603050405020304" pitchFamily="18" charset="0"/>
              </a:rPr>
              <a:t>sp</a:t>
            </a:r>
            <a:r>
              <a:rPr lang="zh-CN" altLang="en-US" sz="1800" dirty="0">
                <a:effectLst/>
                <a:latin typeface="+mj-lt"/>
                <a:ea typeface="+mj-ea"/>
                <a:cs typeface="Times New Roman" panose="02020603050405020304" pitchFamily="18" charset="0"/>
              </a:rPr>
              <a:t>函数包。</a:t>
            </a:r>
            <a:endParaRPr lang="en-US" altLang="zh-CN" sz="1800" dirty="0">
              <a:effectLst/>
              <a:latin typeface="+mj-lt"/>
              <a:ea typeface="+mj-ea"/>
              <a:cs typeface="Times New Roman" panose="02020603050405020304" pitchFamily="18" charset="0"/>
            </a:endParaRPr>
          </a:p>
          <a:p>
            <a:pPr marL="571500" indent="-285750" algn="just">
              <a:lnSpc>
                <a:spcPct val="150000"/>
              </a:lnSpc>
              <a:buFont typeface="Wingdings" panose="05000000000000000000" pitchFamily="2" charset="2"/>
              <a:buChar char="ü"/>
            </a:pPr>
            <a:r>
              <a:rPr lang="zh-CN" altLang="en-US" dirty="0">
                <a:effectLst/>
                <a:latin typeface="+mj-lt"/>
                <a:ea typeface="+mj-ea"/>
                <a:cs typeface="Times New Roman" panose="02020603050405020304" pitchFamily="18" charset="0"/>
              </a:rPr>
              <a:t>两种数据对象的相互转换</a:t>
            </a:r>
            <a:r>
              <a:rPr lang="zh-CN" altLang="en-US" dirty="0">
                <a:latin typeface="+mj-lt"/>
                <a:ea typeface="+mj-ea"/>
                <a:cs typeface="Times New Roman" panose="02020603050405020304" pitchFamily="18" charset="0"/>
                <a:sym typeface="Consolas" panose="020B0609020204030204" pitchFamily="49" charset="0"/>
              </a:rPr>
              <a:t>：</a:t>
            </a:r>
            <a:endParaRPr lang="en-US" altLang="zh-CN" dirty="0">
              <a:latin typeface="+mj-lt"/>
              <a:ea typeface="+mj-ea"/>
              <a:cs typeface="Times New Roman" panose="02020603050405020304" pitchFamily="18" charset="0"/>
              <a:sym typeface="Consolas" panose="020B0609020204030204" pitchFamily="49" charset="0"/>
            </a:endParaRPr>
          </a:p>
          <a:p>
            <a:pPr marL="571500" indent="-285750" algn="just">
              <a:lnSpc>
                <a:spcPct val="150000"/>
              </a:lnSpc>
              <a:buFont typeface="Wingdings" panose="05000000000000000000" pitchFamily="2" charset="2"/>
              <a:buChar char="l"/>
            </a:pPr>
            <a:r>
              <a:rPr lang="en-US" altLang="zh-CN" sz="1800" dirty="0">
                <a:effectLst/>
                <a:latin typeface="+mj-lt"/>
                <a:ea typeface="+mj-ea"/>
              </a:rPr>
              <a:t>Spatial</a:t>
            </a:r>
            <a:r>
              <a:rPr lang="zh-CN" altLang="zh-CN" sz="1800" dirty="0">
                <a:effectLst/>
                <a:latin typeface="+mj-lt"/>
                <a:ea typeface="+mj-ea"/>
                <a:cs typeface="Times New Roman" panose="02020603050405020304" pitchFamily="18" charset="0"/>
              </a:rPr>
              <a:t>对象</a:t>
            </a:r>
            <a:r>
              <a:rPr lang="zh-CN" altLang="en-US" dirty="0">
                <a:latin typeface="+mj-lt"/>
                <a:ea typeface="+mj-ea"/>
                <a:cs typeface="Times New Roman" panose="02020603050405020304" pitchFamily="18" charset="0"/>
              </a:rPr>
              <a:t>→</a:t>
            </a:r>
            <a:r>
              <a:rPr lang="en-US" altLang="zh-CN" sz="1800" dirty="0">
                <a:effectLst/>
                <a:latin typeface="+mj-lt"/>
                <a:ea typeface="+mj-ea"/>
              </a:rPr>
              <a:t>Simple Feature</a:t>
            </a:r>
            <a:r>
              <a:rPr lang="zh-CN" altLang="zh-CN" sz="1800" dirty="0">
                <a:effectLst/>
                <a:latin typeface="+mj-lt"/>
                <a:ea typeface="+mj-ea"/>
                <a:cs typeface="Times New Roman" panose="02020603050405020304" pitchFamily="18" charset="0"/>
              </a:rPr>
              <a:t>对象</a:t>
            </a:r>
            <a:r>
              <a:rPr lang="zh-CN" altLang="en-US" sz="1800" dirty="0">
                <a:effectLst/>
                <a:latin typeface="+mj-lt"/>
                <a:ea typeface="+mj-ea"/>
                <a:cs typeface="Times New Roman" panose="02020603050405020304" pitchFamily="18" charset="0"/>
              </a:rPr>
              <a:t>：</a:t>
            </a:r>
            <a:r>
              <a:rPr lang="en-US" altLang="zh-CN" sz="1800" b="1" dirty="0">
                <a:effectLst/>
                <a:latin typeface="+mj-lt"/>
                <a:ea typeface="+mj-ea"/>
                <a:cs typeface="Times New Roman" panose="02020603050405020304" pitchFamily="18" charset="0"/>
              </a:rPr>
              <a:t>sf</a:t>
            </a:r>
            <a:r>
              <a:rPr lang="zh-CN" altLang="en-US" sz="1800" dirty="0">
                <a:effectLst/>
                <a:latin typeface="+mj-lt"/>
                <a:ea typeface="+mj-ea"/>
                <a:cs typeface="Times New Roman" panose="02020603050405020304" pitchFamily="18" charset="0"/>
              </a:rPr>
              <a:t>包中的</a:t>
            </a:r>
            <a:r>
              <a:rPr lang="en-US" altLang="zh-CN" sz="1800" b="1" i="1" dirty="0" err="1">
                <a:effectLst/>
                <a:latin typeface="+mj-lt"/>
                <a:ea typeface="+mj-ea"/>
                <a:cs typeface="Times New Roman" panose="02020603050405020304" pitchFamily="18" charset="0"/>
              </a:rPr>
              <a:t>st_as_sf</a:t>
            </a:r>
            <a:r>
              <a:rPr lang="zh-CN" altLang="en-US" sz="1800" dirty="0">
                <a:effectLst/>
                <a:latin typeface="+mj-lt"/>
                <a:ea typeface="+mj-ea"/>
                <a:cs typeface="Times New Roman" panose="02020603050405020304" pitchFamily="18" charset="0"/>
              </a:rPr>
              <a:t>函数</a:t>
            </a:r>
            <a:endParaRPr lang="en-US" altLang="zh-CN" sz="1800" dirty="0">
              <a:effectLst/>
              <a:latin typeface="+mj-lt"/>
              <a:ea typeface="+mj-ea"/>
              <a:cs typeface="Times New Roman" panose="02020603050405020304" pitchFamily="18" charset="0"/>
            </a:endParaRPr>
          </a:p>
          <a:p>
            <a:pPr marL="571500" indent="-285750" algn="just">
              <a:lnSpc>
                <a:spcPct val="150000"/>
              </a:lnSpc>
              <a:buFont typeface="Wingdings" panose="05000000000000000000" pitchFamily="2" charset="2"/>
              <a:buChar char="l"/>
            </a:pPr>
            <a:r>
              <a:rPr lang="en-US" altLang="zh-CN" sz="1800" dirty="0">
                <a:effectLst/>
                <a:latin typeface="+mj-lt"/>
                <a:ea typeface="+mj-ea"/>
              </a:rPr>
              <a:t>Simple Feature</a:t>
            </a:r>
            <a:r>
              <a:rPr lang="zh-CN" altLang="zh-CN" sz="1800" dirty="0">
                <a:effectLst/>
                <a:latin typeface="+mj-lt"/>
                <a:ea typeface="+mj-ea"/>
                <a:cs typeface="Times New Roman" panose="02020603050405020304" pitchFamily="18" charset="0"/>
              </a:rPr>
              <a:t>对象</a:t>
            </a:r>
            <a:r>
              <a:rPr lang="zh-CN" altLang="en-US" dirty="0">
                <a:latin typeface="+mj-lt"/>
                <a:ea typeface="+mj-ea"/>
                <a:cs typeface="Times New Roman" panose="02020603050405020304" pitchFamily="18" charset="0"/>
              </a:rPr>
              <a:t>→</a:t>
            </a:r>
            <a:r>
              <a:rPr lang="en-US" altLang="zh-CN" dirty="0">
                <a:latin typeface="+mj-lt"/>
                <a:ea typeface="+mj-ea"/>
                <a:cs typeface="Times New Roman" panose="02020603050405020304" pitchFamily="18" charset="0"/>
              </a:rPr>
              <a:t>Spatial</a:t>
            </a:r>
            <a:r>
              <a:rPr lang="zh-CN" altLang="zh-CN" sz="1800" dirty="0">
                <a:effectLst/>
                <a:latin typeface="+mj-lt"/>
                <a:ea typeface="+mj-ea"/>
                <a:cs typeface="Times New Roman" panose="02020603050405020304" pitchFamily="18" charset="0"/>
              </a:rPr>
              <a:t>对象</a:t>
            </a:r>
            <a:r>
              <a:rPr lang="zh-CN" altLang="en-US" sz="1800" dirty="0">
                <a:effectLst/>
                <a:latin typeface="+mj-lt"/>
                <a:ea typeface="+mj-ea"/>
                <a:cs typeface="Times New Roman" panose="02020603050405020304" pitchFamily="18" charset="0"/>
              </a:rPr>
              <a:t>：</a:t>
            </a:r>
            <a:r>
              <a:rPr lang="en-US" altLang="zh-CN" sz="1800" b="1" i="1" dirty="0">
                <a:effectLst/>
                <a:latin typeface="+mj-lt"/>
                <a:ea typeface="+mj-ea"/>
                <a:cs typeface="Times New Roman" panose="02020603050405020304" pitchFamily="18" charset="0"/>
              </a:rPr>
              <a:t>as</a:t>
            </a:r>
            <a:r>
              <a:rPr lang="zh-CN" altLang="en-US" sz="1800" dirty="0">
                <a:effectLst/>
                <a:latin typeface="+mj-lt"/>
                <a:ea typeface="+mj-ea"/>
                <a:cs typeface="Times New Roman" panose="02020603050405020304" pitchFamily="18" charset="0"/>
              </a:rPr>
              <a:t>函数</a:t>
            </a:r>
            <a:endParaRPr lang="en-US" altLang="zh-CN" sz="1800" dirty="0">
              <a:effectLst/>
              <a:latin typeface="+mj-lt"/>
              <a:ea typeface="+mj-ea"/>
              <a:cs typeface="Times New Roman" panose="02020603050405020304" pitchFamily="18" charset="0"/>
            </a:endParaRPr>
          </a:p>
          <a:p>
            <a:pPr marL="571500" indent="-285750" algn="just">
              <a:lnSpc>
                <a:spcPct val="150000"/>
              </a:lnSpc>
              <a:buFont typeface="Wingdings" panose="05000000000000000000" pitchFamily="2" charset="2"/>
              <a:buChar char="ü"/>
            </a:pPr>
            <a:r>
              <a:rPr lang="zh-CN" altLang="en-US" dirty="0">
                <a:effectLst/>
                <a:latin typeface="+mj-lt"/>
                <a:ea typeface="+mj-ea"/>
                <a:cs typeface="Times New Roman" panose="02020603050405020304" pitchFamily="18" charset="0"/>
              </a:rPr>
              <a:t>以前面展示的武汉市商务住宅数据为例，实现</a:t>
            </a:r>
            <a:r>
              <a:rPr lang="en-US" altLang="zh-CN" dirty="0">
                <a:effectLst/>
                <a:latin typeface="+mj-lt"/>
                <a:ea typeface="+mj-ea"/>
                <a:cs typeface="Times New Roman" panose="02020603050405020304" pitchFamily="18" charset="0"/>
              </a:rPr>
              <a:t>Simple Feature</a:t>
            </a:r>
            <a:r>
              <a:rPr lang="zh-CN" altLang="en-US" dirty="0">
                <a:effectLst/>
                <a:latin typeface="+mj-lt"/>
                <a:ea typeface="+mj-ea"/>
                <a:cs typeface="Times New Roman" panose="02020603050405020304" pitchFamily="18" charset="0"/>
              </a:rPr>
              <a:t>和</a:t>
            </a:r>
            <a:r>
              <a:rPr lang="en-US" altLang="zh-CN" dirty="0">
                <a:effectLst/>
                <a:latin typeface="+mj-lt"/>
                <a:ea typeface="+mj-ea"/>
                <a:cs typeface="Times New Roman" panose="02020603050405020304" pitchFamily="18" charset="0"/>
              </a:rPr>
              <a:t>Spatial</a:t>
            </a:r>
            <a:r>
              <a:rPr lang="zh-CN" altLang="en-US" dirty="0">
                <a:effectLst/>
                <a:latin typeface="+mj-lt"/>
                <a:ea typeface="+mj-ea"/>
                <a:cs typeface="Times New Roman" panose="02020603050405020304" pitchFamily="18" charset="0"/>
              </a:rPr>
              <a:t>两种数据对象之间的相互转换</a:t>
            </a:r>
            <a:r>
              <a:rPr lang="zh-CN" altLang="en-US" dirty="0">
                <a:latin typeface="+mj-lt"/>
                <a:ea typeface="+mj-ea"/>
                <a:cs typeface="Times New Roman" panose="02020603050405020304" pitchFamily="18" charset="0"/>
              </a:rPr>
              <a:t>：</a:t>
            </a:r>
            <a:endParaRPr lang="en-US" altLang="zh-CN" dirty="0">
              <a:effectLst/>
              <a:latin typeface="+mj-lt"/>
              <a:ea typeface="+mj-ea"/>
              <a:cs typeface="Times New Roman" panose="02020603050405020304" pitchFamily="18" charset="0"/>
            </a:endParaRPr>
          </a:p>
        </p:txBody>
      </p:sp>
      <p:sp>
        <p:nvSpPr>
          <p:cNvPr id="10" name="标题 9">
            <a:extLst>
              <a:ext uri="{FF2B5EF4-FFF2-40B4-BE49-F238E27FC236}">
                <a16:creationId xmlns:a16="http://schemas.microsoft.com/office/drawing/2014/main" id="{F0056861-9072-E9D5-15AD-43D8E6C9DFD1}"/>
              </a:ext>
            </a:extLst>
          </p:cNvPr>
          <p:cNvSpPr>
            <a:spLocks noGrp="1"/>
          </p:cNvSpPr>
          <p:nvPr>
            <p:ph type="title"/>
          </p:nvPr>
        </p:nvSpPr>
        <p:spPr>
          <a:xfrm>
            <a:off x="1066800" y="0"/>
            <a:ext cx="6896099" cy="663575"/>
          </a:xfrm>
        </p:spPr>
        <p:txBody>
          <a:bodyPr/>
          <a:lstStyle/>
          <a:p>
            <a:pPr algn="l"/>
            <a:r>
              <a:rPr lang="en-US" altLang="zh-CN" sz="3200" dirty="0">
                <a:latin typeface="Times New Roman" panose="02020603050405020304" pitchFamily="18" charset="0"/>
                <a:cs typeface="Times New Roman" panose="02020603050405020304" pitchFamily="18" charset="0"/>
              </a:rPr>
              <a:t>3.2.4 </a:t>
            </a:r>
            <a:r>
              <a:rPr lang="en-US" altLang="zh-CN" sz="32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a:t>
            </a:r>
            <a:r>
              <a:rPr lang="zh-CN" altLang="en-US" sz="3200" dirty="0">
                <a:latin typeface="Times New Roman" panose="02020603050405020304" pitchFamily="18" charset="0"/>
                <a:ea typeface="+mn-ea"/>
                <a:cs typeface="Times New Roman" panose="02020603050405020304" pitchFamily="18" charset="0"/>
              </a:rPr>
              <a:t>对象</a:t>
            </a:r>
            <a:r>
              <a:rPr lang="zh-CN" altLang="en-US" sz="3200" b="1" dirty="0">
                <a:solidFill>
                  <a:schemeClr val="accent1"/>
                </a:solidFill>
                <a:latin typeface="Times New Roman" panose="02020603050405020304" pitchFamily="18" charset="0"/>
                <a:ea typeface="+mn-ea"/>
                <a:cs typeface="Times New Roman" panose="02020603050405020304" pitchFamily="18" charset="0"/>
              </a:rPr>
              <a:t>与</a:t>
            </a:r>
            <a:r>
              <a:rPr lang="en-US" altLang="zh-CN" sz="32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数据的相互转换</a:t>
            </a:r>
            <a:endParaRPr lang="zh-CN" altLang="en-US" sz="32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B3BB02C8-4FEB-3829-994D-27BF05E47BC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39</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9E37F43A-7EF3-6B1D-7D90-EB0137696519}"/>
              </a:ext>
            </a:extLst>
          </p:cNvPr>
          <p:cNvSpPr txBox="1"/>
          <p:nvPr/>
        </p:nvSpPr>
        <p:spPr>
          <a:xfrm>
            <a:off x="844016" y="4891204"/>
            <a:ext cx="7341666" cy="10772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"Spatial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st_as_sf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08136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2493-072A-0781-147B-DE2B265FFBB8}"/>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3FD2A03-1120-C36C-DE2B-EA221339C286}"/>
              </a:ext>
            </a:extLst>
          </p:cNvPr>
          <p:cNvSpPr/>
          <p:nvPr/>
        </p:nvSpPr>
        <p:spPr>
          <a:xfrm>
            <a:off x="190500" y="1641080"/>
            <a:ext cx="8420100" cy="4613058"/>
          </a:xfrm>
          <a:prstGeom prst="rect">
            <a:avLst/>
          </a:prstGeom>
        </p:spPr>
        <p:txBody>
          <a:bodyPr wrap="square">
            <a:spAutoFit/>
          </a:bodyPr>
          <a:lstStyle/>
          <a:p>
            <a:pPr marL="628650" indent="-342900" algn="just">
              <a:lnSpc>
                <a:spcPct val="150000"/>
              </a:lnSpc>
              <a:buFont typeface="+mj-lt"/>
              <a:buAutoNum type="arabicPeriod"/>
            </a:pPr>
            <a:r>
              <a:rPr lang="zh-CN" altLang="en-US" sz="1800" dirty="0">
                <a:effectLst/>
                <a:latin typeface="+mj-lt"/>
                <a:ea typeface="+mj-ea"/>
                <a:cs typeface="Times New Roman" panose="02020603050405020304" pitchFamily="18" charset="0"/>
              </a:rPr>
              <a:t>如果需要增加</a:t>
            </a:r>
            <a:r>
              <a:rPr lang="en-US" altLang="zh-CN" sz="1800" dirty="0" err="1">
                <a:effectLst/>
                <a:latin typeface="+mj-lt"/>
                <a:ea typeface="+mj-ea"/>
                <a:cs typeface="Times New Roman" panose="02020603050405020304" pitchFamily="18" charset="0"/>
              </a:rPr>
              <a:t>sfg</a:t>
            </a:r>
            <a:r>
              <a:rPr lang="zh-CN" altLang="en-US" sz="1800" dirty="0">
                <a:effectLst/>
                <a:latin typeface="+mj-lt"/>
                <a:ea typeface="+mj-ea"/>
                <a:cs typeface="Times New Roman" panose="02020603050405020304" pitchFamily="18" charset="0"/>
              </a:rPr>
              <a:t>数据对应的属性数据部分，即数据框</a:t>
            </a:r>
            <a:r>
              <a:rPr lang="en-US" altLang="zh-CN" sz="1800" dirty="0">
                <a:effectLst/>
                <a:latin typeface="+mj-lt"/>
                <a:ea typeface="+mj-ea"/>
                <a:cs typeface="Times New Roman" panose="02020603050405020304" pitchFamily="18" charset="0"/>
              </a:rPr>
              <a:t>(</a:t>
            </a:r>
            <a:r>
              <a:rPr lang="en-US" altLang="zh-CN" sz="1800" dirty="0" err="1">
                <a:effectLst/>
                <a:latin typeface="+mj-lt"/>
                <a:ea typeface="+mj-ea"/>
                <a:cs typeface="Times New Roman" panose="02020603050405020304" pitchFamily="18" charset="0"/>
              </a:rPr>
              <a:t>data.frame</a:t>
            </a:r>
            <a:r>
              <a:rPr lang="en-US" altLang="zh-CN" dirty="0">
                <a:latin typeface="+mj-lt"/>
                <a:ea typeface="+mj-ea"/>
                <a:cs typeface="Times New Roman" panose="02020603050405020304" pitchFamily="18" charset="0"/>
              </a:rPr>
              <a:t>)</a:t>
            </a:r>
            <a:r>
              <a:rPr lang="zh-CN" altLang="en-US" sz="1800" dirty="0">
                <a:effectLst/>
                <a:latin typeface="+mj-lt"/>
                <a:ea typeface="+mj-ea"/>
                <a:cs typeface="Times New Roman" panose="02020603050405020304" pitchFamily="18" charset="0"/>
              </a:rPr>
              <a:t>对象部分，也可采用</a:t>
            </a:r>
            <a:r>
              <a:rPr lang="en-US" altLang="zh-CN" sz="1800" b="1" i="1" dirty="0" err="1">
                <a:effectLst/>
                <a:latin typeface="+mj-lt"/>
                <a:ea typeface="+mj-ea"/>
                <a:cs typeface="Times New Roman" panose="02020603050405020304" pitchFamily="18" charset="0"/>
              </a:rPr>
              <a:t>st_as_sf</a:t>
            </a:r>
            <a:r>
              <a:rPr lang="zh-CN" altLang="en-US" sz="1800" dirty="0">
                <a:effectLst/>
                <a:latin typeface="+mj-lt"/>
                <a:ea typeface="+mj-ea"/>
                <a:cs typeface="Times New Roman" panose="02020603050405020304" pitchFamily="18" charset="0"/>
              </a:rPr>
              <a:t>函数进行操作：</a:t>
            </a:r>
            <a:endParaRPr lang="en-US" altLang="zh-CN" sz="1800" dirty="0">
              <a:effectLst/>
              <a:latin typeface="+mj-lt"/>
              <a:ea typeface="+mj-ea"/>
              <a:cs typeface="Times New Roman" panose="02020603050405020304" pitchFamily="18" charset="0"/>
            </a:endParaRPr>
          </a:p>
          <a:p>
            <a:pPr marL="628650" indent="-342900" algn="just">
              <a:lnSpc>
                <a:spcPct val="150000"/>
              </a:lnSpc>
              <a:buFont typeface="+mj-lt"/>
              <a:buAutoNum type="arabicPeriod"/>
            </a:pPr>
            <a:endParaRPr lang="en-US" altLang="zh-CN" dirty="0">
              <a:latin typeface="+mj-lt"/>
              <a:ea typeface="+mj-ea"/>
              <a:cs typeface="Times New Roman" panose="02020603050405020304" pitchFamily="18" charset="0"/>
            </a:endParaRPr>
          </a:p>
          <a:p>
            <a:pPr marL="628650" indent="-342900" algn="just">
              <a:lnSpc>
                <a:spcPct val="150000"/>
              </a:lnSpc>
              <a:buFont typeface="+mj-lt"/>
              <a:buAutoNum type="arabicPeriod"/>
            </a:pPr>
            <a:endParaRPr lang="en-US" altLang="zh-CN" dirty="0">
              <a:effectLst/>
              <a:latin typeface="+mj-lt"/>
              <a:ea typeface="+mj-ea"/>
              <a:cs typeface="Times New Roman" panose="02020603050405020304" pitchFamily="18" charset="0"/>
            </a:endParaRPr>
          </a:p>
          <a:p>
            <a:pPr marL="628650" indent="-342900" algn="just">
              <a:lnSpc>
                <a:spcPct val="150000"/>
              </a:lnSpc>
              <a:buFont typeface="+mj-lt"/>
              <a:buAutoNum type="arabicPeriod"/>
            </a:pPr>
            <a:endParaRPr lang="en-US" altLang="zh-CN" dirty="0">
              <a:latin typeface="+mj-lt"/>
              <a:ea typeface="+mj-ea"/>
              <a:cs typeface="Times New Roman" panose="02020603050405020304" pitchFamily="18" charset="0"/>
            </a:endParaRPr>
          </a:p>
          <a:p>
            <a:pPr marL="628650" indent="-342900" algn="just">
              <a:lnSpc>
                <a:spcPct val="150000"/>
              </a:lnSpc>
              <a:buFont typeface="+mj-lt"/>
              <a:buAutoNum type="arabicPeriod"/>
            </a:pPr>
            <a:endParaRPr lang="en-US" altLang="zh-CN" dirty="0">
              <a:effectLst/>
              <a:latin typeface="+mj-lt"/>
              <a:ea typeface="+mj-ea"/>
              <a:cs typeface="Times New Roman" panose="02020603050405020304" pitchFamily="18" charset="0"/>
            </a:endParaRPr>
          </a:p>
          <a:p>
            <a:pPr marL="628650" indent="-342900" algn="just">
              <a:lnSpc>
                <a:spcPct val="150000"/>
              </a:lnSpc>
              <a:buFont typeface="+mj-lt"/>
              <a:buAutoNum type="arabicPeriod"/>
            </a:pPr>
            <a:endParaRPr lang="en-US" altLang="zh-CN" dirty="0">
              <a:latin typeface="+mj-lt"/>
              <a:ea typeface="+mj-ea"/>
              <a:cs typeface="Times New Roman" panose="02020603050405020304" pitchFamily="18" charset="0"/>
            </a:endParaRPr>
          </a:p>
          <a:p>
            <a:pPr marL="628650" indent="-342900" algn="just">
              <a:lnSpc>
                <a:spcPct val="150000"/>
              </a:lnSpc>
              <a:buFont typeface="+mj-lt"/>
              <a:buAutoNum type="arabicPeriod"/>
            </a:pPr>
            <a:r>
              <a:rPr lang="zh-CN" altLang="en-US" dirty="0">
                <a:effectLst/>
                <a:latin typeface="+mj-lt"/>
                <a:ea typeface="+mj-ea"/>
                <a:cs typeface="Times New Roman" panose="02020603050405020304" pitchFamily="18" charset="0"/>
              </a:rPr>
              <a:t>虽然本节提供了</a:t>
            </a:r>
            <a:r>
              <a:rPr lang="en-US" altLang="zh-CN" dirty="0">
                <a:effectLst/>
                <a:latin typeface="+mj-lt"/>
                <a:ea typeface="+mj-ea"/>
                <a:cs typeface="Times New Roman" panose="02020603050405020304" pitchFamily="18" charset="0"/>
              </a:rPr>
              <a:t>Simple Feature</a:t>
            </a:r>
            <a:r>
              <a:rPr lang="zh-CN" altLang="en-US" dirty="0">
                <a:effectLst/>
                <a:latin typeface="+mj-lt"/>
                <a:ea typeface="+mj-ea"/>
                <a:cs typeface="Times New Roman" panose="02020603050405020304" pitchFamily="18" charset="0"/>
              </a:rPr>
              <a:t>数据与</a:t>
            </a:r>
            <a:r>
              <a:rPr lang="en-US" altLang="zh-CN" dirty="0">
                <a:effectLst/>
                <a:latin typeface="+mj-lt"/>
                <a:ea typeface="+mj-ea"/>
                <a:cs typeface="Times New Roman" panose="02020603050405020304" pitchFamily="18" charset="0"/>
              </a:rPr>
              <a:t>Spatial</a:t>
            </a:r>
            <a:r>
              <a:rPr lang="zh-CN" altLang="en-US" dirty="0">
                <a:effectLst/>
                <a:latin typeface="+mj-lt"/>
                <a:ea typeface="+mj-ea"/>
                <a:cs typeface="Times New Roman" panose="02020603050405020304" pitchFamily="18" charset="0"/>
              </a:rPr>
              <a:t>对象数据的相互转换的方法，但</a:t>
            </a:r>
            <a:r>
              <a:rPr lang="zh-CN" altLang="en-US" b="1" dirty="0">
                <a:effectLst/>
                <a:latin typeface="+mj-lt"/>
                <a:ea typeface="+mj-ea"/>
                <a:cs typeface="Times New Roman" panose="02020603050405020304" pitchFamily="18" charset="0"/>
              </a:rPr>
              <a:t>并不推荐进行频繁、直接的数据转换</a:t>
            </a:r>
            <a:r>
              <a:rPr lang="zh-CN" altLang="en-US" dirty="0">
                <a:effectLst/>
                <a:latin typeface="+mj-lt"/>
                <a:ea typeface="+mj-ea"/>
                <a:cs typeface="Times New Roman" panose="02020603050405020304" pitchFamily="18" charset="0"/>
              </a:rPr>
              <a:t>，尤其当数据大小或体量较大时，这种直接转换方式效率较低，甚至可能出现节点堆叠溢出等错误，在实际应用中请谨慎对待。</a:t>
            </a:r>
            <a:endParaRPr lang="en-US" altLang="zh-CN" dirty="0">
              <a:effectLst/>
              <a:latin typeface="+mj-lt"/>
              <a:ea typeface="+mj-ea"/>
              <a:cs typeface="Times New Roman" panose="02020603050405020304" pitchFamily="18" charset="0"/>
            </a:endParaRPr>
          </a:p>
        </p:txBody>
      </p:sp>
      <p:sp>
        <p:nvSpPr>
          <p:cNvPr id="10" name="标题 9">
            <a:extLst>
              <a:ext uri="{FF2B5EF4-FFF2-40B4-BE49-F238E27FC236}">
                <a16:creationId xmlns:a16="http://schemas.microsoft.com/office/drawing/2014/main" id="{BAA16598-86DB-A116-A07D-435C3918FDB6}"/>
              </a:ext>
            </a:extLst>
          </p:cNvPr>
          <p:cNvSpPr>
            <a:spLocks noGrp="1"/>
          </p:cNvSpPr>
          <p:nvPr>
            <p:ph type="title"/>
          </p:nvPr>
        </p:nvSpPr>
        <p:spPr>
          <a:xfrm>
            <a:off x="1066800" y="0"/>
            <a:ext cx="6896099" cy="663575"/>
          </a:xfrm>
        </p:spPr>
        <p:txBody>
          <a:bodyPr/>
          <a:lstStyle/>
          <a:p>
            <a:pPr algn="l"/>
            <a:r>
              <a:rPr lang="en-US" altLang="zh-CN" sz="3200" dirty="0">
                <a:latin typeface="Times New Roman" panose="02020603050405020304" pitchFamily="18" charset="0"/>
                <a:cs typeface="Times New Roman" panose="02020603050405020304" pitchFamily="18" charset="0"/>
              </a:rPr>
              <a:t>3.2.4 </a:t>
            </a:r>
            <a:r>
              <a:rPr lang="en-US" altLang="zh-CN" sz="3200" b="1" dirty="0">
                <a:solidFill>
                  <a:schemeClr val="accent1"/>
                </a:solidFill>
                <a:latin typeface="Times New Roman" panose="02020603050405020304" pitchFamily="18" charset="0"/>
                <a:ea typeface="+mn-ea"/>
                <a:cs typeface="Times New Roman" panose="02020603050405020304" pitchFamily="18" charset="0"/>
              </a:rPr>
              <a:t>Simple Feature</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a:t>
            </a:r>
            <a:r>
              <a:rPr lang="zh-CN" altLang="en-US" sz="3200" dirty="0">
                <a:latin typeface="Times New Roman" panose="02020603050405020304" pitchFamily="18" charset="0"/>
                <a:ea typeface="+mn-ea"/>
                <a:cs typeface="Times New Roman" panose="02020603050405020304" pitchFamily="18" charset="0"/>
              </a:rPr>
              <a:t>对象</a:t>
            </a:r>
            <a:r>
              <a:rPr lang="zh-CN" altLang="en-US" sz="3200" b="1" dirty="0">
                <a:solidFill>
                  <a:schemeClr val="accent1"/>
                </a:solidFill>
                <a:latin typeface="Times New Roman" panose="02020603050405020304" pitchFamily="18" charset="0"/>
                <a:ea typeface="+mn-ea"/>
                <a:cs typeface="Times New Roman" panose="02020603050405020304" pitchFamily="18" charset="0"/>
              </a:rPr>
              <a:t>与</a:t>
            </a:r>
            <a:r>
              <a:rPr lang="en-US" altLang="zh-CN" sz="3200" b="1" dirty="0">
                <a:solidFill>
                  <a:schemeClr val="accent1"/>
                </a:solidFill>
                <a:latin typeface="Times New Roman" panose="02020603050405020304" pitchFamily="18" charset="0"/>
                <a:ea typeface="+mn-ea"/>
                <a:cs typeface="Times New Roman" panose="02020603050405020304" pitchFamily="18" charset="0"/>
              </a:rPr>
              <a:t>Spatial</a:t>
            </a:r>
            <a:r>
              <a:rPr lang="zh-CN" altLang="en-US" sz="3200" b="1" dirty="0">
                <a:solidFill>
                  <a:schemeClr val="accent1"/>
                </a:solidFill>
                <a:latin typeface="Times New Roman" panose="02020603050405020304" pitchFamily="18" charset="0"/>
                <a:ea typeface="+mn-ea"/>
                <a:cs typeface="Times New Roman" panose="02020603050405020304" pitchFamily="18" charset="0"/>
              </a:rPr>
              <a:t>数据的相互转换</a:t>
            </a:r>
            <a:endParaRPr lang="zh-CN" altLang="en-US" sz="3200" dirty="0">
              <a:latin typeface="Times New Roman" panose="02020603050405020304" pitchFamily="18" charset="0"/>
              <a:cs typeface="Times New Roman" panose="02020603050405020304" pitchFamily="18" charset="0"/>
            </a:endParaRPr>
          </a:p>
        </p:txBody>
      </p:sp>
      <p:sp>
        <p:nvSpPr>
          <p:cNvPr id="12" name="灯片编号占位符 11">
            <a:extLst>
              <a:ext uri="{FF2B5EF4-FFF2-40B4-BE49-F238E27FC236}">
                <a16:creationId xmlns:a16="http://schemas.microsoft.com/office/drawing/2014/main" id="{043DF203-5E1D-7916-70AA-CFA8FE96FEB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40</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7B5A752E-2E1F-6070-3552-E55CFBFA5A2B}"/>
              </a:ext>
            </a:extLst>
          </p:cNvPr>
          <p:cNvSpPr txBox="1"/>
          <p:nvPr/>
        </p:nvSpPr>
        <p:spPr>
          <a:xfrm>
            <a:off x="844016" y="2600162"/>
            <a:ext cx="7341666" cy="181588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pt1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pt2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st_point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sf_pt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(pt1, pt2)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sf_pt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sf_pt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st_as_sf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sf_pt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E5CB6D34-8B76-D0F1-CCAC-E41FAAC24F96}"/>
              </a:ext>
            </a:extLst>
          </p:cNvPr>
          <p:cNvSpPr txBox="1"/>
          <p:nvPr/>
        </p:nvSpPr>
        <p:spPr>
          <a:xfrm>
            <a:off x="462981" y="1240970"/>
            <a:ext cx="1467068" cy="400110"/>
          </a:xfrm>
          <a:prstGeom prst="rect">
            <a:avLst/>
          </a:prstGeom>
          <a:noFill/>
        </p:spPr>
        <p:txBody>
          <a:bodyPr wrap="none" rtlCol="0">
            <a:spAutoFit/>
          </a:bodyPr>
          <a:lstStyle/>
          <a:p>
            <a:r>
              <a:rPr lang="zh-CN" altLang="en-US" sz="2000" b="1" dirty="0">
                <a:latin typeface="+mn-ea"/>
                <a:ea typeface="+mn-ea"/>
              </a:rPr>
              <a:t>补充说明：</a:t>
            </a:r>
          </a:p>
        </p:txBody>
      </p:sp>
    </p:spTree>
    <p:extLst>
      <p:ext uri="{BB962C8B-B14F-4D97-AF65-F5344CB8AC3E}">
        <p14:creationId xmlns:p14="http://schemas.microsoft.com/office/powerpoint/2010/main" val="41740111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59CAF-2471-6363-6BF2-4290B69E87C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07E8CA7B-E57B-D80F-B5AD-8024B4DA6FE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 </a:t>
            </a:r>
            <a:r>
              <a:rPr lang="zh-CN" altLang="en-US" sz="3600" dirty="0">
                <a:latin typeface="Times New Roman" panose="02020603050405020304" pitchFamily="18" charset="0"/>
                <a:cs typeface="Times New Roman" panose="02020603050405020304" pitchFamily="18" charset="0"/>
              </a:rPr>
              <a:t>空间数据导入导出</a:t>
            </a:r>
          </a:p>
        </p:txBody>
      </p:sp>
      <p:sp>
        <p:nvSpPr>
          <p:cNvPr id="8" name="灯片编号占位符 7">
            <a:extLst>
              <a:ext uri="{FF2B5EF4-FFF2-40B4-BE49-F238E27FC236}">
                <a16:creationId xmlns:a16="http://schemas.microsoft.com/office/drawing/2014/main" id="{EE77E180-14A1-8DA3-07C2-C27E5729954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41</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94273E88-A078-54ED-8FB7-3C84C6EE5D84}"/>
              </a:ext>
            </a:extLst>
          </p:cNvPr>
          <p:cNvSpPr txBox="1"/>
          <p:nvPr/>
        </p:nvSpPr>
        <p:spPr>
          <a:xfrm>
            <a:off x="1181101" y="2095500"/>
            <a:ext cx="4897495" cy="2323713"/>
          </a:xfrm>
          <a:prstGeom prst="rect">
            <a:avLst/>
          </a:prstGeom>
          <a:noFill/>
        </p:spPr>
        <p:txBody>
          <a:bodyPr wrap="none" rtlCol="0">
            <a:spAutoFit/>
          </a:bodyPr>
          <a:lstStyle/>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3.3.1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矢量数据导入</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3.3.2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矢量数据导出</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3.3.3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遥感影像导入导出方法</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3000" b="1" dirty="0">
                <a:solidFill>
                  <a:schemeClr val="accent1"/>
                </a:solidFill>
                <a:latin typeface="Times New Roman" panose="02020603050405020304" pitchFamily="18" charset="0"/>
                <a:ea typeface="+mn-ea"/>
                <a:cs typeface="Times New Roman" panose="02020603050405020304" pitchFamily="18" charset="0"/>
              </a:rPr>
              <a:t>3.3.4 </a:t>
            </a:r>
            <a:r>
              <a:rPr lang="zh-CN" altLang="en-US" sz="3000" b="1" dirty="0">
                <a:solidFill>
                  <a:schemeClr val="accent1"/>
                </a:solidFill>
                <a:latin typeface="Times New Roman" panose="02020603050405020304" pitchFamily="18" charset="0"/>
                <a:ea typeface="+mn-ea"/>
                <a:cs typeface="Times New Roman" panose="02020603050405020304" pitchFamily="18" charset="0"/>
              </a:rPr>
              <a:t>其它导入导出方法</a:t>
            </a:r>
            <a:endParaRPr lang="en-US" altLang="zh-CN" sz="3000" b="1" dirty="0">
              <a:solidFill>
                <a:schemeClr val="accent1"/>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44006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B5FB-6B42-9FB9-8652-954C33DD85D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B755141-660D-199A-9934-04C3786304F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342F4BCD-D5CE-BACC-1965-978878EB56A2}"/>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42</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F34E2A70-303C-AFA6-523B-629233F329DE}"/>
              </a:ext>
            </a:extLst>
          </p:cNvPr>
          <p:cNvSpPr/>
          <p:nvPr/>
        </p:nvSpPr>
        <p:spPr>
          <a:xfrm>
            <a:off x="38100" y="1775377"/>
            <a:ext cx="8839200" cy="4480714"/>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函数包</a:t>
            </a:r>
            <a:r>
              <a:rPr lang="en-US" altLang="zh-CN" sz="1600" b="1" dirty="0" err="1">
                <a:latin typeface="+mj-lt"/>
                <a:ea typeface="+mj-ea"/>
                <a:sym typeface="Consolas" panose="020B0609020204030204" pitchFamily="49" charset="0"/>
              </a:rPr>
              <a:t>maptools</a:t>
            </a:r>
            <a:r>
              <a:rPr lang="zh-CN" altLang="en-US" sz="1600" dirty="0">
                <a:latin typeface="+mj-lt"/>
                <a:ea typeface="+mj-ea"/>
                <a:sym typeface="Consolas" panose="020B0609020204030204" pitchFamily="49" charset="0"/>
              </a:rPr>
              <a:t>提供了一系列的空间数据导入功能，通过这些函数，</a:t>
            </a:r>
            <a:r>
              <a:rPr lang="en-US" altLang="zh-CN" sz="1600" b="1" dirty="0" err="1">
                <a:latin typeface="+mj-lt"/>
                <a:ea typeface="+mj-ea"/>
                <a:sym typeface="Consolas" panose="020B0609020204030204" pitchFamily="49" charset="0"/>
              </a:rPr>
              <a:t>maptools</a:t>
            </a:r>
            <a:r>
              <a:rPr lang="zh-CN" altLang="en-US" sz="1600" dirty="0">
                <a:latin typeface="+mj-lt"/>
                <a:ea typeface="+mj-ea"/>
                <a:sym typeface="Consolas" panose="020B0609020204030204" pitchFamily="49" charset="0"/>
              </a:rPr>
              <a:t>包构建了</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格式数据的便捷读取方式，自动在</a:t>
            </a:r>
            <a:r>
              <a:rPr lang="en-US" altLang="zh-CN" sz="1600" b="1" dirty="0">
                <a:latin typeface="+mj-lt"/>
                <a:ea typeface="+mj-ea"/>
                <a:sym typeface="Consolas" panose="020B0609020204030204" pitchFamily="49" charset="0"/>
              </a:rPr>
              <a:t>R</a:t>
            </a:r>
            <a:r>
              <a:rPr lang="zh-CN" altLang="en-US" sz="1600" dirty="0">
                <a:latin typeface="+mj-lt"/>
                <a:ea typeface="+mj-ea"/>
                <a:sym typeface="Consolas" panose="020B0609020204030204" pitchFamily="49" charset="0"/>
              </a:rPr>
              <a:t>当前工作空间</a:t>
            </a:r>
            <a:r>
              <a:rPr lang="en-US" altLang="zh-CN" sz="1600" dirty="0">
                <a:latin typeface="+mj-lt"/>
                <a:ea typeface="+mj-ea"/>
                <a:sym typeface="Consolas" panose="020B0609020204030204" pitchFamily="49" charset="0"/>
              </a:rPr>
              <a:t>(Workspace)</a:t>
            </a:r>
            <a:r>
              <a:rPr lang="zh-CN" altLang="en-US" sz="1600" dirty="0">
                <a:latin typeface="+mj-lt"/>
                <a:ea typeface="+mj-ea"/>
                <a:sym typeface="Consolas" panose="020B0609020204030204" pitchFamily="49" charset="0"/>
              </a:rPr>
              <a:t>中生成对应类型的</a:t>
            </a:r>
            <a:r>
              <a:rPr lang="en-US" altLang="zh-CN" sz="1600" b="1" dirty="0">
                <a:latin typeface="+mj-lt"/>
                <a:ea typeface="+mj-ea"/>
                <a:sym typeface="Consolas" panose="020B0609020204030204" pitchFamily="49" charset="0"/>
              </a:rPr>
              <a:t>Spatial*</a:t>
            </a:r>
            <a:r>
              <a:rPr lang="en-US" altLang="zh-CN" sz="1600" b="1" dirty="0" err="1">
                <a:latin typeface="+mj-lt"/>
                <a:ea typeface="+mj-ea"/>
                <a:sym typeface="Consolas" panose="020B0609020204030204" pitchFamily="49" charset="0"/>
              </a:rPr>
              <a:t>DataFrame</a:t>
            </a:r>
            <a:r>
              <a:rPr lang="zh-CN" altLang="en-US" sz="1600" b="1" dirty="0">
                <a:latin typeface="+mj-lt"/>
                <a:ea typeface="+mj-ea"/>
                <a:sym typeface="Consolas" panose="020B0609020204030204" pitchFamily="49" charset="0"/>
              </a:rPr>
              <a:t>对象</a:t>
            </a:r>
            <a:r>
              <a:rPr lang="zh-CN" altLang="en-US" sz="1600" dirty="0">
                <a:latin typeface="+mj-lt"/>
                <a:ea typeface="+mj-ea"/>
                <a:sym typeface="Consolas" panose="020B0609020204030204" pitchFamily="49" charset="0"/>
              </a:rPr>
              <a:t>。主要函数如下：</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readShapePoints</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proj4string, verbose, repair)</a:t>
            </a:r>
            <a:r>
              <a:rPr lang="zh-CN" altLang="en-US" sz="1600" dirty="0">
                <a:latin typeface="+mj-lt"/>
                <a:ea typeface="+mj-ea"/>
                <a:sym typeface="Consolas" panose="020B0609020204030204" pitchFamily="49" charset="0"/>
              </a:rPr>
              <a:t>：读取点数据，将数据对象导入为</a:t>
            </a:r>
            <a:r>
              <a:rPr lang="en-US" altLang="zh-CN" sz="1600" dirty="0" err="1">
                <a:latin typeface="+mj-lt"/>
                <a:ea typeface="+mj-ea"/>
                <a:sym typeface="Consolas" panose="020B0609020204030204" pitchFamily="49" charset="0"/>
              </a:rPr>
              <a:t>SpatialPointsDataFrame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readShapeLines</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proj4string, verbose, repair, </a:t>
            </a:r>
            <a:r>
              <a:rPr lang="en-US" altLang="zh-CN" sz="1600" b="1" i="1" dirty="0" err="1">
                <a:latin typeface="+mj-lt"/>
                <a:ea typeface="+mj-ea"/>
                <a:sym typeface="Consolas" panose="020B0609020204030204" pitchFamily="49" charset="0"/>
              </a:rPr>
              <a:t>delete_null_obj</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：读取线数据，将数据对象导入为</a:t>
            </a:r>
            <a:r>
              <a:rPr lang="en-US" altLang="zh-CN" sz="1600" dirty="0" err="1">
                <a:latin typeface="+mj-lt"/>
                <a:ea typeface="+mj-ea"/>
                <a:sym typeface="Consolas" panose="020B0609020204030204" pitchFamily="49" charset="0"/>
              </a:rPr>
              <a:t>SpatialLinesDataFrame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readShapePoly</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IDvar</a:t>
            </a:r>
            <a:r>
              <a:rPr lang="en-US" altLang="zh-CN" sz="1600" b="1" i="1" dirty="0">
                <a:latin typeface="+mj-lt"/>
                <a:ea typeface="+mj-ea"/>
                <a:sym typeface="Consolas" panose="020B0609020204030204" pitchFamily="49" charset="0"/>
              </a:rPr>
              <a:t>, proj4string, verbose, repair, </a:t>
            </a:r>
            <a:r>
              <a:rPr lang="en-US" altLang="zh-CN" sz="1600" b="1" i="1" dirty="0" err="1">
                <a:latin typeface="+mj-lt"/>
                <a:ea typeface="+mj-ea"/>
                <a:sym typeface="Consolas" panose="020B0609020204030204" pitchFamily="49" charset="0"/>
              </a:rPr>
              <a:t>force_ring</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delete_null_obj</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retrieve_ABS_null</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：读取多边形数据，将数据对象导入为</a:t>
            </a:r>
            <a:r>
              <a:rPr lang="en-US" altLang="zh-CN" sz="1600" i="1" dirty="0" err="1">
                <a:latin typeface="+mj-lt"/>
                <a:ea typeface="+mj-ea"/>
                <a:sym typeface="Consolas" panose="020B0609020204030204" pitchFamily="49" charset="0"/>
              </a:rPr>
              <a:t>SpatialPolygonsDataFrame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readShapeSpatial</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proj4string, verbose, repair, </a:t>
            </a:r>
            <a:r>
              <a:rPr lang="en-US" altLang="zh-CN" sz="1600" b="1" i="1" dirty="0" err="1">
                <a:latin typeface="+mj-lt"/>
                <a:ea typeface="+mj-ea"/>
                <a:sym typeface="Consolas" panose="020B0609020204030204" pitchFamily="49" charset="0"/>
              </a:rPr>
              <a:t>IDvar</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force_ring</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delete_null_obj</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retrieve_ABS_null</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：读取空间数据的通用函数，将对应类型的空间数据导入对应的</a:t>
            </a:r>
            <a:r>
              <a:rPr lang="en-US" altLang="zh-CN" sz="1600" dirty="0">
                <a:latin typeface="+mj-lt"/>
                <a:ea typeface="+mj-ea"/>
                <a:sym typeface="Consolas" panose="020B0609020204030204" pitchFamily="49" charset="0"/>
              </a:rPr>
              <a:t>Spatial*</a:t>
            </a:r>
            <a:r>
              <a:rPr lang="en-US" altLang="zh-CN" sz="1600" dirty="0" err="1">
                <a:latin typeface="+mj-lt"/>
                <a:ea typeface="+mj-ea"/>
                <a:sym typeface="Consolas" panose="020B0609020204030204" pitchFamily="49" charset="0"/>
              </a:rPr>
              <a:t>DataFrame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p:txBody>
      </p:sp>
      <p:sp>
        <p:nvSpPr>
          <p:cNvPr id="4" name="矩形 3">
            <a:extLst>
              <a:ext uri="{FF2B5EF4-FFF2-40B4-BE49-F238E27FC236}">
                <a16:creationId xmlns:a16="http://schemas.microsoft.com/office/drawing/2014/main" id="{DBB7708F-AEFA-57B5-AD43-85941B38093D}"/>
              </a:ext>
            </a:extLst>
          </p:cNvPr>
          <p:cNvSpPr/>
          <p:nvPr/>
        </p:nvSpPr>
        <p:spPr>
          <a:xfrm>
            <a:off x="319850" y="127761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spTree>
    <p:extLst>
      <p:ext uri="{BB962C8B-B14F-4D97-AF65-F5344CB8AC3E}">
        <p14:creationId xmlns:p14="http://schemas.microsoft.com/office/powerpoint/2010/main" val="3160446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74046-BB5E-B71D-8F42-A3F25C4E617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672F379-1D1C-E70E-CF69-58AE0241396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C1267FA5-0110-27D9-A462-5E9D2C8CBAE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43</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F77866D9-F5EF-F31A-2CCB-0333D34A5240}"/>
              </a:ext>
            </a:extLst>
          </p:cNvPr>
          <p:cNvSpPr/>
          <p:nvPr/>
        </p:nvSpPr>
        <p:spPr>
          <a:xfrm>
            <a:off x="319850" y="1104900"/>
            <a:ext cx="44426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2" name="表格 1">
            <a:extLst>
              <a:ext uri="{FF2B5EF4-FFF2-40B4-BE49-F238E27FC236}">
                <a16:creationId xmlns:a16="http://schemas.microsoft.com/office/drawing/2014/main" id="{1ED2E1DF-1602-3E97-3953-FD6EC50792AE}"/>
              </a:ext>
            </a:extLst>
          </p:cNvPr>
          <p:cNvGraphicFramePr>
            <a:graphicFrameLocks noGrp="1"/>
          </p:cNvGraphicFramePr>
          <p:nvPr>
            <p:extLst>
              <p:ext uri="{D42A27DB-BD31-4B8C-83A1-F6EECF244321}">
                <p14:modId xmlns:p14="http://schemas.microsoft.com/office/powerpoint/2010/main" val="2542526726"/>
              </p:ext>
            </p:extLst>
          </p:nvPr>
        </p:nvGraphicFramePr>
        <p:xfrm>
          <a:off x="457200" y="1603191"/>
          <a:ext cx="8305800" cy="4498476"/>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3181191198"/>
                    </a:ext>
                  </a:extLst>
                </a:gridCol>
                <a:gridCol w="6286500">
                  <a:extLst>
                    <a:ext uri="{9D8B030D-6E8A-4147-A177-3AD203B41FA5}">
                      <a16:colId xmlns:a16="http://schemas.microsoft.com/office/drawing/2014/main" val="3103788485"/>
                    </a:ext>
                  </a:extLst>
                </a:gridCol>
              </a:tblGrid>
              <a:tr h="400719">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328528821"/>
                  </a:ext>
                </a:extLst>
              </a:tr>
              <a:tr h="400719">
                <a:tc>
                  <a:txBody>
                    <a:bodyPr/>
                    <a:lstStyle/>
                    <a:p>
                      <a:pPr algn="ctr"/>
                      <a:r>
                        <a:rPr lang="en-US" altLang="zh-CN" sz="1600" dirty="0" err="1"/>
                        <a:t>fn</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字符串型参数；表示</a:t>
                      </a:r>
                      <a:r>
                        <a:rPr lang="en-US" altLang="zh-CN" sz="1600" kern="1200" dirty="0">
                          <a:solidFill>
                            <a:schemeClr val="dk1"/>
                          </a:solidFill>
                          <a:effectLst/>
                          <a:latin typeface="+mn-lt"/>
                          <a:ea typeface="+mn-ea"/>
                          <a:cs typeface="+mn-cs"/>
                        </a:rPr>
                        <a:t>ESRI shapefile</a:t>
                      </a:r>
                      <a:r>
                        <a:rPr lang="zh-CN" altLang="zh-CN" sz="1600" kern="1200" dirty="0">
                          <a:solidFill>
                            <a:schemeClr val="dk1"/>
                          </a:solidFill>
                          <a:effectLst/>
                          <a:latin typeface="+mn-lt"/>
                          <a:ea typeface="+mn-ea"/>
                          <a:cs typeface="+mn-cs"/>
                        </a:rPr>
                        <a:t>格式数据名称</a:t>
                      </a:r>
                      <a:r>
                        <a:rPr lang="en-US" altLang="zh-CN"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无扩展名</a:t>
                      </a:r>
                      <a:r>
                        <a:rPr lang="en-US" altLang="zh-CN" sz="1600" kern="1200" dirty="0">
                          <a:solidFill>
                            <a:schemeClr val="dk1"/>
                          </a:solidFill>
                          <a:effectLst/>
                          <a:latin typeface="+mn-lt"/>
                          <a:ea typeface="+mn-ea"/>
                          <a:cs typeface="+mn-cs"/>
                        </a:rPr>
                        <a:t>)</a:t>
                      </a:r>
                      <a:endParaRPr lang="zh-CN" altLang="en-US" sz="1600" dirty="0"/>
                    </a:p>
                  </a:txBody>
                  <a:tcPr anchor="ctr"/>
                </a:tc>
                <a:extLst>
                  <a:ext uri="{0D108BD9-81ED-4DB2-BD59-A6C34878D82A}">
                    <a16:rowId xmlns:a16="http://schemas.microsoft.com/office/drawing/2014/main" val="947896367"/>
                  </a:ext>
                </a:extLst>
              </a:tr>
              <a:tr h="400719">
                <a:tc>
                  <a:txBody>
                    <a:bodyPr/>
                    <a:lstStyle/>
                    <a:p>
                      <a:pPr algn="ctr"/>
                      <a:r>
                        <a:rPr lang="en-US" altLang="zh-CN" sz="1600" dirty="0"/>
                        <a:t>proj4string</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字符串型参数；有效的坐标参考系</a:t>
                      </a:r>
                      <a:r>
                        <a:rPr lang="en-US" altLang="zh-CN" sz="1600" kern="1200" dirty="0">
                          <a:solidFill>
                            <a:schemeClr val="dk1"/>
                          </a:solidFill>
                          <a:effectLst/>
                          <a:latin typeface="+mn-lt"/>
                          <a:ea typeface="+mn-ea"/>
                          <a:cs typeface="+mn-cs"/>
                        </a:rPr>
                        <a:t>CRS</a:t>
                      </a:r>
                      <a:r>
                        <a:rPr lang="zh-CN" altLang="zh-CN" sz="1600" kern="1200" dirty="0">
                          <a:solidFill>
                            <a:schemeClr val="dk1"/>
                          </a:solidFill>
                          <a:effectLst/>
                          <a:latin typeface="+mn-lt"/>
                          <a:ea typeface="+mn-ea"/>
                          <a:cs typeface="+mn-cs"/>
                        </a:rPr>
                        <a:t>类字符串</a:t>
                      </a:r>
                      <a:endParaRPr lang="zh-CN" altLang="en-US" sz="1600" dirty="0"/>
                    </a:p>
                  </a:txBody>
                  <a:tcPr anchor="ctr"/>
                </a:tc>
                <a:extLst>
                  <a:ext uri="{0D108BD9-81ED-4DB2-BD59-A6C34878D82A}">
                    <a16:rowId xmlns:a16="http://schemas.microsoft.com/office/drawing/2014/main" val="3799352518"/>
                  </a:ext>
                </a:extLst>
              </a:tr>
              <a:tr h="400719">
                <a:tc>
                  <a:txBody>
                    <a:bodyPr/>
                    <a:lstStyle/>
                    <a:p>
                      <a:pPr algn="ctr"/>
                      <a:r>
                        <a:rPr lang="en-US" altLang="zh-CN" sz="1600" dirty="0"/>
                        <a:t>verbose</a:t>
                      </a:r>
                      <a:endParaRPr lang="zh-CN" altLang="en-US" sz="1600" dirty="0"/>
                    </a:p>
                  </a:txBody>
                  <a:tcPr anchor="ctr"/>
                </a:tc>
                <a:tc>
                  <a:txBody>
                    <a:bodyPr/>
                    <a:lstStyle/>
                    <a:p>
                      <a:pPr algn="ctr"/>
                      <a:r>
                        <a:rPr lang="zh-CN" altLang="en-US" sz="1600" dirty="0"/>
                        <a:t>逻辑型参数；若为</a:t>
                      </a:r>
                      <a:r>
                        <a:rPr lang="en-US" altLang="zh-CN" sz="1600" dirty="0"/>
                        <a:t>TRUE</a:t>
                      </a:r>
                      <a:r>
                        <a:rPr lang="zh-CN" altLang="en-US" sz="1600" dirty="0"/>
                        <a:t>，则会自动返回</a:t>
                      </a:r>
                      <a:r>
                        <a:rPr lang="en-US" altLang="zh-CN" sz="1600" dirty="0"/>
                        <a:t>shapefile</a:t>
                      </a:r>
                      <a:r>
                        <a:rPr lang="zh-CN" altLang="en-US" sz="1600" dirty="0"/>
                        <a:t>格式数据类型和对象数量</a:t>
                      </a:r>
                    </a:p>
                  </a:txBody>
                  <a:tcPr anchor="ctr"/>
                </a:tc>
                <a:extLst>
                  <a:ext uri="{0D108BD9-81ED-4DB2-BD59-A6C34878D82A}">
                    <a16:rowId xmlns:a16="http://schemas.microsoft.com/office/drawing/2014/main" val="1567372025"/>
                  </a:ext>
                </a:extLst>
              </a:tr>
              <a:tr h="400719">
                <a:tc>
                  <a:txBody>
                    <a:bodyPr/>
                    <a:lstStyle/>
                    <a:p>
                      <a:pPr algn="ctr"/>
                      <a:r>
                        <a:rPr lang="en-US" altLang="zh-CN" sz="1600" dirty="0"/>
                        <a:t>repair</a:t>
                      </a:r>
                      <a:endParaRPr lang="zh-CN" altLang="en-US" sz="1600" dirty="0"/>
                    </a:p>
                  </a:txBody>
                  <a:tcPr anchor="ctr"/>
                </a:tc>
                <a:tc>
                  <a:txBody>
                    <a:bodyPr/>
                    <a:lstStyle/>
                    <a:p>
                      <a:pPr algn="ctr"/>
                      <a:r>
                        <a:rPr lang="zh-CN" altLang="en-US" sz="1600" dirty="0"/>
                        <a:t>逻辑型参数；若为</a:t>
                      </a:r>
                      <a:r>
                        <a:rPr lang="en-US" altLang="zh-CN" sz="1600" dirty="0"/>
                        <a:t>TRUE</a:t>
                      </a:r>
                      <a:r>
                        <a:rPr lang="zh-CN" altLang="en-US" sz="1600" dirty="0"/>
                        <a:t>，则会修复*</a:t>
                      </a:r>
                      <a:r>
                        <a:rPr lang="en-US" altLang="zh-CN" sz="1600" dirty="0"/>
                        <a:t>.</a:t>
                      </a:r>
                      <a:r>
                        <a:rPr lang="en-US" altLang="zh-CN" sz="1600" dirty="0" err="1"/>
                        <a:t>shx</a:t>
                      </a:r>
                      <a:r>
                        <a:rPr lang="zh-CN" altLang="en-US" sz="1600" dirty="0"/>
                        <a:t>文件中的数值</a:t>
                      </a:r>
                    </a:p>
                  </a:txBody>
                  <a:tcPr anchor="ctr"/>
                </a:tc>
                <a:extLst>
                  <a:ext uri="{0D108BD9-81ED-4DB2-BD59-A6C34878D82A}">
                    <a16:rowId xmlns:a16="http://schemas.microsoft.com/office/drawing/2014/main" val="2118024201"/>
                  </a:ext>
                </a:extLst>
              </a:tr>
              <a:tr h="400719">
                <a:tc>
                  <a:txBody>
                    <a:bodyPr/>
                    <a:lstStyle/>
                    <a:p>
                      <a:pPr algn="ctr"/>
                      <a:r>
                        <a:rPr lang="en-US" altLang="zh-CN" sz="1600" dirty="0" err="1"/>
                        <a:t>IDvar</a:t>
                      </a:r>
                      <a:endParaRPr lang="zh-CN" altLang="en-US" sz="1600" dirty="0"/>
                    </a:p>
                  </a:txBody>
                  <a:tcPr anchor="ctr"/>
                </a:tc>
                <a:tc>
                  <a:txBody>
                    <a:bodyPr/>
                    <a:lstStyle/>
                    <a:p>
                      <a:pPr algn="ctr"/>
                      <a:r>
                        <a:rPr lang="zh-CN" altLang="en-US" sz="1600" dirty="0"/>
                        <a:t>字符串型参数；只针对</a:t>
                      </a:r>
                      <a:r>
                        <a:rPr lang="en-US" altLang="zh-CN" sz="1600" dirty="0" err="1"/>
                        <a:t>readShapePoly</a:t>
                      </a:r>
                      <a:r>
                        <a:rPr lang="zh-CN" altLang="en-US" sz="1600" dirty="0"/>
                        <a:t>函数，表示*</a:t>
                      </a:r>
                      <a:r>
                        <a:rPr lang="en-US" altLang="zh-CN" sz="1600" dirty="0"/>
                        <a:t>.</a:t>
                      </a:r>
                      <a:r>
                        <a:rPr lang="en-US" altLang="zh-CN" sz="1600" dirty="0" err="1"/>
                        <a:t>dbf</a:t>
                      </a:r>
                      <a:r>
                        <a:rPr lang="zh-CN" altLang="en-US" sz="1600" dirty="0"/>
                        <a:t>文件中代表对象</a:t>
                      </a:r>
                      <a:r>
                        <a:rPr lang="en-US" altLang="zh-CN" sz="1600" dirty="0"/>
                        <a:t>ID</a:t>
                      </a:r>
                      <a:r>
                        <a:rPr lang="zh-CN" altLang="en-US" sz="1600" dirty="0"/>
                        <a:t>的列名称</a:t>
                      </a:r>
                    </a:p>
                  </a:txBody>
                  <a:tcPr anchor="ctr"/>
                </a:tc>
                <a:extLst>
                  <a:ext uri="{0D108BD9-81ED-4DB2-BD59-A6C34878D82A}">
                    <a16:rowId xmlns:a16="http://schemas.microsoft.com/office/drawing/2014/main" val="2756115735"/>
                  </a:ext>
                </a:extLst>
              </a:tr>
              <a:tr h="400719">
                <a:tc>
                  <a:txBody>
                    <a:bodyPr/>
                    <a:lstStyle/>
                    <a:p>
                      <a:pPr algn="ctr"/>
                      <a:r>
                        <a:rPr lang="en-US" altLang="zh-CN" sz="1600" dirty="0" err="1"/>
                        <a:t>force_ring</a:t>
                      </a:r>
                      <a:endParaRPr lang="zh-CN" altLang="en-US" sz="1600" dirty="0"/>
                    </a:p>
                  </a:txBody>
                  <a:tcPr anchor="ctr"/>
                </a:tc>
                <a:tc>
                  <a:txBody>
                    <a:bodyPr/>
                    <a:lstStyle/>
                    <a:p>
                      <a:pPr algn="ctr"/>
                      <a:r>
                        <a:rPr lang="zh-CN" altLang="en-US" sz="1600" dirty="0"/>
                        <a:t>逻辑型参数；只针对</a:t>
                      </a:r>
                      <a:r>
                        <a:rPr lang="en-US" altLang="zh-CN" sz="1600" dirty="0" err="1"/>
                        <a:t>readShapePoly</a:t>
                      </a:r>
                      <a:r>
                        <a:rPr lang="zh-CN" altLang="en-US" sz="1600" dirty="0"/>
                        <a:t>函数，若为</a:t>
                      </a:r>
                      <a:r>
                        <a:rPr lang="en-US" altLang="zh-CN" sz="1600" dirty="0"/>
                        <a:t>TRUE</a:t>
                      </a:r>
                      <a:r>
                        <a:rPr lang="zh-CN" altLang="en-US" sz="1600" dirty="0"/>
                        <a:t>，则针对非闭合的多边形进行强制闭合操作</a:t>
                      </a:r>
                    </a:p>
                  </a:txBody>
                  <a:tcPr anchor="ctr"/>
                </a:tc>
                <a:extLst>
                  <a:ext uri="{0D108BD9-81ED-4DB2-BD59-A6C34878D82A}">
                    <a16:rowId xmlns:a16="http://schemas.microsoft.com/office/drawing/2014/main" val="872916634"/>
                  </a:ext>
                </a:extLst>
              </a:tr>
              <a:tr h="400719">
                <a:tc>
                  <a:txBody>
                    <a:bodyPr/>
                    <a:lstStyle/>
                    <a:p>
                      <a:pPr algn="ctr"/>
                      <a:r>
                        <a:rPr lang="en-US" altLang="zh-CN" sz="1600" dirty="0" err="1"/>
                        <a:t>delete_null_obj</a:t>
                      </a:r>
                      <a:endParaRPr lang="zh-CN" altLang="en-US" sz="1600" dirty="0"/>
                    </a:p>
                  </a:txBody>
                  <a:tcPr anchor="ctr"/>
                </a:tc>
                <a:tc>
                  <a:txBody>
                    <a:bodyPr/>
                    <a:lstStyle/>
                    <a:p>
                      <a:pPr algn="ctr"/>
                      <a:r>
                        <a:rPr lang="zh-CN" altLang="en-US" sz="1600" dirty="0"/>
                        <a:t>逻辑型参数；若为</a:t>
                      </a:r>
                      <a:r>
                        <a:rPr lang="en-US" altLang="zh-CN" sz="1600" dirty="0"/>
                        <a:t>TRUE</a:t>
                      </a:r>
                      <a:r>
                        <a:rPr lang="zh-CN" altLang="en-US" sz="1600" dirty="0"/>
                        <a:t>，则自动移除为空的几何对象和属性表</a:t>
                      </a:r>
                      <a:r>
                        <a:rPr lang="en-US" altLang="zh-CN" sz="1600" dirty="0"/>
                        <a:t>(Data Frame)</a:t>
                      </a:r>
                      <a:r>
                        <a:rPr lang="zh-CN" altLang="en-US" sz="1600" dirty="0"/>
                        <a:t>中的对应行</a:t>
                      </a:r>
                    </a:p>
                  </a:txBody>
                  <a:tcPr anchor="ctr"/>
                </a:tc>
                <a:extLst>
                  <a:ext uri="{0D108BD9-81ED-4DB2-BD59-A6C34878D82A}">
                    <a16:rowId xmlns:a16="http://schemas.microsoft.com/office/drawing/2014/main" val="2521408670"/>
                  </a:ext>
                </a:extLst>
              </a:tr>
              <a:tr h="400719">
                <a:tc>
                  <a:txBody>
                    <a:bodyPr/>
                    <a:lstStyle/>
                    <a:p>
                      <a:pPr algn="ctr"/>
                      <a:r>
                        <a:rPr lang="en-US" altLang="zh-CN" sz="1600" dirty="0" err="1"/>
                        <a:t>retrieve_ABS_null</a:t>
                      </a:r>
                      <a:endParaRPr lang="zh-CN" altLang="en-US" sz="1600" dirty="0"/>
                    </a:p>
                  </a:txBody>
                  <a:tcPr anchor="ctr"/>
                </a:tc>
                <a:tc>
                  <a:txBody>
                    <a:bodyPr/>
                    <a:lstStyle/>
                    <a:p>
                      <a:pPr algn="ctr"/>
                      <a:r>
                        <a:rPr lang="zh-CN" altLang="en-US" sz="1600" dirty="0"/>
                        <a:t>逻辑型参数；若为</a:t>
                      </a:r>
                      <a:r>
                        <a:rPr lang="en-US" altLang="zh-CN" sz="1600" dirty="0"/>
                        <a:t>TRUE</a:t>
                      </a:r>
                      <a:r>
                        <a:rPr lang="zh-CN" altLang="en-US" sz="1600" dirty="0"/>
                        <a:t>并且</a:t>
                      </a:r>
                      <a:r>
                        <a:rPr lang="en-US" altLang="zh-CN" sz="1600" dirty="0" err="1"/>
                        <a:t>delete_null_obj</a:t>
                      </a:r>
                      <a:r>
                        <a:rPr lang="zh-CN" altLang="en-US" sz="1600" dirty="0"/>
                        <a:t>同时为</a:t>
                      </a:r>
                      <a:r>
                        <a:rPr lang="en-US" altLang="zh-CN" sz="1600" dirty="0"/>
                        <a:t>TRUE</a:t>
                      </a:r>
                      <a:r>
                        <a:rPr lang="zh-CN" altLang="en-US" sz="1600" dirty="0"/>
                        <a:t>，则所有为空的几何对象替换为</a:t>
                      </a:r>
                      <a:r>
                        <a:rPr lang="en-US" altLang="zh-CN" sz="1600" dirty="0"/>
                        <a:t>ABS</a:t>
                      </a:r>
                      <a:endParaRPr lang="zh-CN" altLang="en-US" sz="1600" dirty="0"/>
                    </a:p>
                  </a:txBody>
                  <a:tcPr anchor="ctr"/>
                </a:tc>
                <a:extLst>
                  <a:ext uri="{0D108BD9-81ED-4DB2-BD59-A6C34878D82A}">
                    <a16:rowId xmlns:a16="http://schemas.microsoft.com/office/drawing/2014/main" val="2105619219"/>
                  </a:ext>
                </a:extLst>
              </a:tr>
            </a:tbl>
          </a:graphicData>
        </a:graphic>
      </p:graphicFrame>
      <p:sp>
        <p:nvSpPr>
          <p:cNvPr id="6" name="文本框 5">
            <a:extLst>
              <a:ext uri="{FF2B5EF4-FFF2-40B4-BE49-F238E27FC236}">
                <a16:creationId xmlns:a16="http://schemas.microsoft.com/office/drawing/2014/main" id="{B9A85F87-4583-D825-E62F-46BD26B38D26}"/>
              </a:ext>
            </a:extLst>
          </p:cNvPr>
          <p:cNvSpPr txBox="1"/>
          <p:nvPr/>
        </p:nvSpPr>
        <p:spPr>
          <a:xfrm>
            <a:off x="800889" y="6207323"/>
            <a:ext cx="7542222" cy="307777"/>
          </a:xfrm>
          <a:prstGeom prst="rect">
            <a:avLst/>
          </a:prstGeom>
          <a:noFill/>
        </p:spPr>
        <p:txBody>
          <a:bodyPr wrap="square">
            <a:spAutoFit/>
          </a:bodyPr>
          <a:lstStyle/>
          <a:p>
            <a:pPr algn="ctr"/>
            <a:r>
              <a:rPr lang="zh-CN" altLang="zh-CN" sz="1400" dirty="0">
                <a:effectLst/>
                <a:latin typeface="+mn-lt"/>
                <a:ea typeface="+mn-ea"/>
                <a:cs typeface="Times New Roman" panose="02020603050405020304" pitchFamily="18" charset="0"/>
              </a:rPr>
              <a:t>函数包</a:t>
            </a:r>
            <a:r>
              <a:rPr lang="en-US" altLang="zh-CN" sz="1400" b="1" dirty="0" err="1">
                <a:effectLst/>
                <a:latin typeface="+mn-lt"/>
                <a:ea typeface="+mn-ea"/>
              </a:rPr>
              <a:t>maptools</a:t>
            </a:r>
            <a:r>
              <a:rPr lang="zh-CN" altLang="zh-CN" sz="1400" dirty="0">
                <a:effectLst/>
                <a:latin typeface="+mn-lt"/>
                <a:ea typeface="+mn-ea"/>
                <a:cs typeface="Times New Roman" panose="02020603050405020304" pitchFamily="18" charset="0"/>
              </a:rPr>
              <a:t>中空间数据读取函数参数表</a:t>
            </a:r>
            <a:endParaRPr lang="zh-CN" altLang="en-US" sz="1400" dirty="0">
              <a:latin typeface="+mn-lt"/>
              <a:ea typeface="+mn-ea"/>
            </a:endParaRPr>
          </a:p>
        </p:txBody>
      </p:sp>
    </p:spTree>
    <p:extLst>
      <p:ext uri="{BB962C8B-B14F-4D97-AF65-F5344CB8AC3E}">
        <p14:creationId xmlns:p14="http://schemas.microsoft.com/office/powerpoint/2010/main" val="2064427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32CDC-A449-8E0A-2822-610E51767E6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596C554-8008-31D6-2C29-5F3111BDF19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4ACA2F8B-1041-F5EA-D858-4B8D0A7BF8D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44</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CC7BDE1D-3532-5EF4-308B-1E88120ADE57}"/>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3" name="矩形 2">
            <a:extLst>
              <a:ext uri="{FF2B5EF4-FFF2-40B4-BE49-F238E27FC236}">
                <a16:creationId xmlns:a16="http://schemas.microsoft.com/office/drawing/2014/main" id="{0FA863B3-D47F-7423-5A98-8EEF38221DA4}"/>
              </a:ext>
            </a:extLst>
          </p:cNvPr>
          <p:cNvSpPr/>
          <p:nvPr/>
        </p:nvSpPr>
        <p:spPr>
          <a:xfrm>
            <a:off x="114300" y="1700302"/>
            <a:ext cx="8528583" cy="1289712"/>
          </a:xfrm>
          <a:prstGeom prst="rect">
            <a:avLst/>
          </a:prstGeom>
        </p:spPr>
        <p:txBody>
          <a:bodyPr wrap="square">
            <a:spAutoFit/>
          </a:bodyPr>
          <a:lstStyle/>
          <a:p>
            <a:pPr marL="285750" indent="457200" algn="just">
              <a:lnSpc>
                <a:spcPct val="150000"/>
              </a:lnSpc>
            </a:pPr>
            <a:r>
              <a:rPr lang="zh-CN" altLang="zh-CN" sz="1800" dirty="0">
                <a:effectLst/>
                <a:latin typeface="+mj-lt"/>
                <a:ea typeface="+mj-ea"/>
                <a:cs typeface="Times New Roman" panose="02020603050405020304" pitchFamily="18" charset="0"/>
              </a:rPr>
              <a:t>将</a:t>
            </a:r>
            <a:r>
              <a:rPr lang="zh-CN" altLang="en-US" sz="1800" dirty="0">
                <a:effectLst/>
                <a:latin typeface="+mj-lt"/>
                <a:ea typeface="+mj-ea"/>
                <a:cs typeface="Times New Roman" panose="02020603050405020304" pitchFamily="18" charset="0"/>
              </a:rPr>
              <a:t>示例数据中的</a:t>
            </a:r>
            <a:r>
              <a:rPr lang="en-US" altLang="zh-CN" sz="1800" dirty="0">
                <a:effectLst/>
                <a:latin typeface="+mj-lt"/>
                <a:ea typeface="+mj-ea"/>
              </a:rPr>
              <a:t>WHSWZZ_ZZQ</a:t>
            </a:r>
            <a:r>
              <a:rPr lang="zh-CN" altLang="zh-CN" sz="1800" dirty="0">
                <a:effectLst/>
                <a:latin typeface="+mj-lt"/>
                <a:ea typeface="+mj-ea"/>
                <a:cs typeface="Times New Roman" panose="02020603050405020304" pitchFamily="18" charset="0"/>
              </a:rPr>
              <a:t>（点数据）、</a:t>
            </a:r>
            <a:r>
              <a:rPr lang="en-US" altLang="zh-CN" sz="1800" dirty="0">
                <a:effectLst/>
                <a:latin typeface="+mj-lt"/>
                <a:ea typeface="+mj-ea"/>
              </a:rPr>
              <a:t>WHRD</a:t>
            </a:r>
            <a:r>
              <a:rPr lang="zh-CN" altLang="zh-CN" sz="1800" dirty="0">
                <a:effectLst/>
                <a:latin typeface="+mj-lt"/>
                <a:ea typeface="+mj-ea"/>
                <a:cs typeface="Times New Roman" panose="02020603050405020304" pitchFamily="18" charset="0"/>
              </a:rPr>
              <a:t>（线数据）和</a:t>
            </a:r>
            <a:r>
              <a:rPr lang="en-US" altLang="zh-CN" sz="1800" dirty="0" err="1">
                <a:effectLst/>
                <a:latin typeface="+mj-lt"/>
                <a:ea typeface="+mj-ea"/>
              </a:rPr>
              <a:t>WHDistrict</a:t>
            </a:r>
            <a:r>
              <a:rPr lang="zh-CN" altLang="zh-CN" sz="1800" dirty="0">
                <a:effectLst/>
                <a:latin typeface="+mj-lt"/>
                <a:ea typeface="+mj-ea"/>
                <a:cs typeface="Times New Roman" panose="02020603050405020304" pitchFamily="18" charset="0"/>
              </a:rPr>
              <a:t>（面数据）复制到</a:t>
            </a:r>
            <a:r>
              <a:rPr lang="zh-CN" altLang="en-US" sz="1800" dirty="0">
                <a:effectLst/>
                <a:latin typeface="+mj-lt"/>
                <a:ea typeface="+mj-ea"/>
                <a:cs typeface="Times New Roman" panose="02020603050405020304" pitchFamily="18" charset="0"/>
              </a:rPr>
              <a:t>工作目录</a:t>
            </a:r>
            <a:r>
              <a:rPr lang="zh-CN" altLang="zh-CN" sz="1800" dirty="0">
                <a:effectLst/>
                <a:latin typeface="+mj-lt"/>
                <a:ea typeface="+mj-ea"/>
                <a:cs typeface="Times New Roman" panose="02020603050405020304" pitchFamily="18" charset="0"/>
              </a:rPr>
              <a:t>下</a:t>
            </a:r>
            <a:r>
              <a:rPr lang="zh-CN" altLang="en-US" sz="1800" dirty="0">
                <a:effectLst/>
                <a:latin typeface="+mj-lt"/>
                <a:ea typeface="+mj-ea"/>
                <a:cs typeface="Times New Roman" panose="02020603050405020304" pitchFamily="18" charset="0"/>
              </a:rPr>
              <a:t>，运行下面的代码，观察点数据、线数据和面数据读取为</a:t>
            </a:r>
            <a:r>
              <a:rPr lang="en-US" altLang="zh-CN" sz="1800" dirty="0">
                <a:effectLst/>
                <a:latin typeface="+mj-lt"/>
                <a:ea typeface="+mj-ea"/>
                <a:cs typeface="Times New Roman" panose="02020603050405020304" pitchFamily="18" charset="0"/>
              </a:rPr>
              <a:t>Spatial*</a:t>
            </a:r>
            <a:r>
              <a:rPr lang="en-US" altLang="zh-CN" sz="1800" dirty="0" err="1">
                <a:effectLst/>
                <a:latin typeface="+mj-lt"/>
                <a:ea typeface="+mj-ea"/>
                <a:cs typeface="Times New Roman" panose="02020603050405020304" pitchFamily="18" charset="0"/>
              </a:rPr>
              <a:t>DataFrame</a:t>
            </a:r>
            <a:r>
              <a:rPr lang="zh-CN" altLang="en-US" sz="1800" dirty="0">
                <a:effectLst/>
                <a:latin typeface="+mj-lt"/>
                <a:ea typeface="+mj-ea"/>
                <a:cs typeface="Times New Roman" panose="02020603050405020304" pitchFamily="18" charset="0"/>
              </a:rPr>
              <a:t>对象数据对象的情形</a:t>
            </a:r>
            <a:r>
              <a:rPr lang="zh-CN" altLang="en-US" dirty="0">
                <a:latin typeface="+mj-lt"/>
                <a:ea typeface="+mj-ea"/>
                <a:cs typeface="Times New Roman" panose="02020603050405020304" pitchFamily="18" charset="0"/>
              </a:rPr>
              <a:t>：</a:t>
            </a:r>
            <a:endParaRPr lang="en-US" altLang="zh-CN" sz="1600" dirty="0">
              <a:latin typeface="+mj-lt"/>
              <a:ea typeface="+mj-ea"/>
              <a:sym typeface="Consolas" panose="020B0609020204030204" pitchFamily="49" charset="0"/>
            </a:endParaRPr>
          </a:p>
        </p:txBody>
      </p:sp>
      <p:sp>
        <p:nvSpPr>
          <p:cNvPr id="5" name="文本框 4">
            <a:extLst>
              <a:ext uri="{FF2B5EF4-FFF2-40B4-BE49-F238E27FC236}">
                <a16:creationId xmlns:a16="http://schemas.microsoft.com/office/drawing/2014/main" id="{D6F4104E-05E4-5625-C661-17B7F6F0A25A}"/>
              </a:ext>
            </a:extLst>
          </p:cNvPr>
          <p:cNvSpPr txBox="1"/>
          <p:nvPr/>
        </p:nvSpPr>
        <p:spPr>
          <a:xfrm>
            <a:off x="653517" y="3067279"/>
            <a:ext cx="7341666" cy="310854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readShapePoints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readShapeLines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WHRD.shp</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WHDistrict.shp</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677092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94751-933B-63B3-EAE3-0EA378CEB48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45691B2-FDCE-B733-B2D2-335535CBAE3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D7E20A83-447A-C749-2CEF-36D152129E4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45</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13C86B37-E25C-8E8C-AD6F-061AC3EBD188}"/>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pic>
        <p:nvPicPr>
          <p:cNvPr id="2" name="图片 1">
            <a:extLst>
              <a:ext uri="{FF2B5EF4-FFF2-40B4-BE49-F238E27FC236}">
                <a16:creationId xmlns:a16="http://schemas.microsoft.com/office/drawing/2014/main" id="{7BDB3F7B-7FBD-F983-E4BB-9B25A2171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00" y="2133600"/>
            <a:ext cx="4235450" cy="2804795"/>
          </a:xfrm>
          <a:prstGeom prst="rect">
            <a:avLst/>
          </a:prstGeom>
        </p:spPr>
      </p:pic>
      <p:pic>
        <p:nvPicPr>
          <p:cNvPr id="6" name="图片 5">
            <a:extLst>
              <a:ext uri="{FF2B5EF4-FFF2-40B4-BE49-F238E27FC236}">
                <a16:creationId xmlns:a16="http://schemas.microsoft.com/office/drawing/2014/main" id="{8294E98F-175F-A9A7-4239-2152808B6F4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375" b="13876"/>
          <a:stretch/>
        </p:blipFill>
        <p:spPr bwMode="auto">
          <a:xfrm>
            <a:off x="4762500" y="1562100"/>
            <a:ext cx="4133850" cy="4120515"/>
          </a:xfrm>
          <a:prstGeom prst="rect">
            <a:avLst/>
          </a:prstGeom>
          <a:ln>
            <a:noFill/>
          </a:ln>
          <a:extLst>
            <a:ext uri="{53640926-AAD7-44D8-BBD7-CCE9431645EC}">
              <a14:shadowObscured xmlns:a14="http://schemas.microsoft.com/office/drawing/2010/main"/>
            </a:ext>
          </a:extLst>
        </p:spPr>
      </p:pic>
      <p:sp>
        <p:nvSpPr>
          <p:cNvPr id="10" name="文本框 9">
            <a:extLst>
              <a:ext uri="{FF2B5EF4-FFF2-40B4-BE49-F238E27FC236}">
                <a16:creationId xmlns:a16="http://schemas.microsoft.com/office/drawing/2014/main" id="{041EE6FF-2AD7-A3FD-E4D1-331C47D4A817}"/>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空间点数据导入</a:t>
            </a:r>
            <a:endParaRPr lang="zh-CN" altLang="en-US" sz="1400" dirty="0">
              <a:latin typeface="+mn-ea"/>
              <a:ea typeface="+mn-ea"/>
            </a:endParaRPr>
          </a:p>
        </p:txBody>
      </p:sp>
    </p:spTree>
    <p:extLst>
      <p:ext uri="{BB962C8B-B14F-4D97-AF65-F5344CB8AC3E}">
        <p14:creationId xmlns:p14="http://schemas.microsoft.com/office/powerpoint/2010/main" val="1188453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D06A-4A4A-0C3C-A78F-CA39CD9F991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AC09729-8F28-53FF-85C5-E242F3FF2FA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EBE843DA-3B7D-A91B-772A-6F447450975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46</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BE854475-0332-1B01-1EF0-CC0DA54B5431}"/>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10" name="文本框 9">
            <a:extLst>
              <a:ext uri="{FF2B5EF4-FFF2-40B4-BE49-F238E27FC236}">
                <a16:creationId xmlns:a16="http://schemas.microsoft.com/office/drawing/2014/main" id="{3DEE1FE3-A56E-351B-AB87-EFBC89904E19}"/>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a:t>
            </a:r>
            <a:r>
              <a:rPr lang="zh-CN" altLang="en-US" sz="1400" dirty="0">
                <a:latin typeface="+mn-ea"/>
                <a:ea typeface="+mn-ea"/>
                <a:cs typeface="Times New Roman" panose="02020603050405020304" pitchFamily="18" charset="0"/>
              </a:rPr>
              <a:t>线</a:t>
            </a:r>
            <a:r>
              <a:rPr lang="zh-CN" altLang="zh-CN" sz="1400" dirty="0">
                <a:effectLst/>
                <a:latin typeface="+mn-ea"/>
                <a:ea typeface="+mn-ea"/>
                <a:cs typeface="Times New Roman" panose="02020603050405020304" pitchFamily="18" charset="0"/>
              </a:rPr>
              <a:t>数据导入</a:t>
            </a:r>
            <a:endParaRPr lang="zh-CN" altLang="en-US" sz="1400" dirty="0">
              <a:latin typeface="+mn-ea"/>
              <a:ea typeface="+mn-ea"/>
            </a:endParaRPr>
          </a:p>
        </p:txBody>
      </p:sp>
      <p:pic>
        <p:nvPicPr>
          <p:cNvPr id="3" name="图片 2">
            <a:extLst>
              <a:ext uri="{FF2B5EF4-FFF2-40B4-BE49-F238E27FC236}">
                <a16:creationId xmlns:a16="http://schemas.microsoft.com/office/drawing/2014/main" id="{7E2ADDC4-E9B7-DB14-4A1D-04B03003F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902" y="2036708"/>
            <a:ext cx="4341795" cy="2784583"/>
          </a:xfrm>
          <a:prstGeom prst="rect">
            <a:avLst/>
          </a:prstGeom>
        </p:spPr>
      </p:pic>
      <p:pic>
        <p:nvPicPr>
          <p:cNvPr id="5" name="图片 4">
            <a:extLst>
              <a:ext uri="{FF2B5EF4-FFF2-40B4-BE49-F238E27FC236}">
                <a16:creationId xmlns:a16="http://schemas.microsoft.com/office/drawing/2014/main" id="{435BBE1C-D136-6809-8BC0-563D9F761F3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3271" b="14507"/>
          <a:stretch/>
        </p:blipFill>
        <p:spPr bwMode="auto">
          <a:xfrm>
            <a:off x="4876800" y="1374216"/>
            <a:ext cx="4267200" cy="41097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41407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D804-AB92-5531-374C-54FDA62DFF06}"/>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954F4E9-AA6C-5A86-A316-2EC8C752CB5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A977947A-CB76-7FDB-FA19-80A8C94234A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47</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7677966B-866C-15D1-A26F-2E54CC87EAAD}"/>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10" name="文本框 9">
            <a:extLst>
              <a:ext uri="{FF2B5EF4-FFF2-40B4-BE49-F238E27FC236}">
                <a16:creationId xmlns:a16="http://schemas.microsoft.com/office/drawing/2014/main" id="{E75DC62E-639C-E6FD-FB68-1586935D321E}"/>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a:t>
            </a:r>
            <a:r>
              <a:rPr lang="zh-CN" altLang="en-US" sz="1400" dirty="0">
                <a:effectLst/>
                <a:latin typeface="+mn-ea"/>
                <a:ea typeface="+mn-ea"/>
                <a:cs typeface="Times New Roman" panose="02020603050405020304" pitchFamily="18" charset="0"/>
              </a:rPr>
              <a:t>面</a:t>
            </a:r>
            <a:r>
              <a:rPr lang="zh-CN" altLang="zh-CN" sz="1400" dirty="0">
                <a:effectLst/>
                <a:latin typeface="+mn-ea"/>
                <a:ea typeface="+mn-ea"/>
                <a:cs typeface="Times New Roman" panose="02020603050405020304" pitchFamily="18" charset="0"/>
              </a:rPr>
              <a:t>数据导入</a:t>
            </a:r>
            <a:endParaRPr lang="zh-CN" altLang="en-US" sz="1400" dirty="0">
              <a:latin typeface="+mn-ea"/>
              <a:ea typeface="+mn-ea"/>
            </a:endParaRPr>
          </a:p>
        </p:txBody>
      </p:sp>
      <p:pic>
        <p:nvPicPr>
          <p:cNvPr id="2" name="图片 1">
            <a:extLst>
              <a:ext uri="{FF2B5EF4-FFF2-40B4-BE49-F238E27FC236}">
                <a16:creationId xmlns:a16="http://schemas.microsoft.com/office/drawing/2014/main" id="{FA3507BE-6AAF-1016-391D-9EDC90AB6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362" y="2354907"/>
            <a:ext cx="5274310" cy="2546350"/>
          </a:xfrm>
          <a:prstGeom prst="rect">
            <a:avLst/>
          </a:prstGeom>
        </p:spPr>
      </p:pic>
      <p:pic>
        <p:nvPicPr>
          <p:cNvPr id="6" name="图片 5">
            <a:extLst>
              <a:ext uri="{FF2B5EF4-FFF2-40B4-BE49-F238E27FC236}">
                <a16:creationId xmlns:a16="http://schemas.microsoft.com/office/drawing/2014/main" id="{744CF7CD-8534-D35E-CE48-C8E80AB9BC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017" t="12639" b="14237"/>
          <a:stretch/>
        </p:blipFill>
        <p:spPr bwMode="auto">
          <a:xfrm>
            <a:off x="5448300" y="1618307"/>
            <a:ext cx="3626476" cy="40195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9784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6546C-0C16-4827-D5C9-852415A993B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8EE6802-6E12-F0A9-9B47-4C32E7CD41A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4D2494F7-650A-07BA-0D29-79970E7A541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48</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C037909A-18CA-C7E6-3734-F03D06CB1181}"/>
              </a:ext>
            </a:extLst>
          </p:cNvPr>
          <p:cNvSpPr/>
          <p:nvPr/>
        </p:nvSpPr>
        <p:spPr>
          <a:xfrm>
            <a:off x="457200" y="2019580"/>
            <a:ext cx="7772400" cy="4111382"/>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函数包</a:t>
            </a:r>
            <a:r>
              <a:rPr lang="en-US" altLang="zh-CN" sz="1600" b="1" dirty="0">
                <a:latin typeface="+mj-lt"/>
                <a:ea typeface="+mj-ea"/>
                <a:sym typeface="Consolas" panose="020B0609020204030204" pitchFamily="49" charset="0"/>
              </a:rPr>
              <a:t>sf</a:t>
            </a:r>
            <a:r>
              <a:rPr lang="zh-CN" altLang="en-US" sz="1600" dirty="0">
                <a:latin typeface="+mj-lt"/>
                <a:ea typeface="+mj-ea"/>
                <a:sym typeface="Consolas" panose="020B0609020204030204" pitchFamily="49" charset="0"/>
              </a:rPr>
              <a:t>提供了一系列的空间数据导入功能，通过这些参数，函数包</a:t>
            </a:r>
            <a:r>
              <a:rPr lang="en-US" altLang="zh-CN" sz="1600" b="1" dirty="0">
                <a:latin typeface="+mj-lt"/>
                <a:ea typeface="+mj-ea"/>
                <a:sym typeface="Consolas" panose="020B0609020204030204" pitchFamily="49" charset="0"/>
              </a:rPr>
              <a:t>sf</a:t>
            </a:r>
            <a:r>
              <a:rPr lang="zh-CN" altLang="en-US" sz="1600" dirty="0">
                <a:latin typeface="+mj-lt"/>
                <a:ea typeface="+mj-ea"/>
                <a:sym typeface="Consolas" panose="020B0609020204030204" pitchFamily="49" charset="0"/>
              </a:rPr>
              <a:t>构建了</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格式数据的便捷读取方式，自动在</a:t>
            </a:r>
            <a:r>
              <a:rPr lang="en-US" altLang="zh-CN" sz="1600" b="1" dirty="0">
                <a:latin typeface="+mj-lt"/>
                <a:ea typeface="+mj-ea"/>
                <a:sym typeface="Consolas" panose="020B0609020204030204" pitchFamily="49" charset="0"/>
              </a:rPr>
              <a:t>R</a:t>
            </a:r>
            <a:r>
              <a:rPr lang="zh-CN" altLang="en-US" sz="1600" dirty="0">
                <a:latin typeface="+mj-lt"/>
                <a:ea typeface="+mj-ea"/>
                <a:sym typeface="Consolas" panose="020B0609020204030204" pitchFamily="49" charset="0"/>
              </a:rPr>
              <a:t>当前工作空间</a:t>
            </a:r>
            <a:r>
              <a:rPr lang="en-US" altLang="zh-CN" sz="1600" dirty="0">
                <a:latin typeface="+mj-lt"/>
                <a:ea typeface="+mj-ea"/>
                <a:sym typeface="Consolas" panose="020B0609020204030204" pitchFamily="49" charset="0"/>
              </a:rPr>
              <a:t>(Workspace)</a:t>
            </a:r>
            <a:r>
              <a:rPr lang="zh-CN" altLang="en-US" sz="1600" dirty="0">
                <a:latin typeface="+mj-lt"/>
                <a:ea typeface="+mj-ea"/>
                <a:sym typeface="Consolas" panose="020B0609020204030204" pitchFamily="49" charset="0"/>
              </a:rPr>
              <a:t>中生成对应类型的</a:t>
            </a:r>
            <a:r>
              <a:rPr lang="en-US" altLang="zh-CN" sz="1600" b="1" dirty="0">
                <a:latin typeface="+mj-lt"/>
                <a:ea typeface="+mj-ea"/>
                <a:sym typeface="Consolas" panose="020B0609020204030204" pitchFamily="49" charset="0"/>
              </a:rPr>
              <a:t>Simple Feature</a:t>
            </a:r>
            <a:r>
              <a:rPr lang="zh-CN" altLang="en-US" sz="1600" b="1" dirty="0">
                <a:latin typeface="+mj-lt"/>
                <a:ea typeface="+mj-ea"/>
                <a:sym typeface="Consolas" panose="020B0609020204030204" pitchFamily="49" charset="0"/>
              </a:rPr>
              <a:t>对象</a:t>
            </a:r>
            <a:r>
              <a:rPr lang="zh-CN" altLang="en-US" sz="1600" dirty="0">
                <a:latin typeface="+mj-lt"/>
                <a:ea typeface="+mj-ea"/>
                <a:sym typeface="Consolas" panose="020B0609020204030204" pitchFamily="49" charset="0"/>
              </a:rPr>
              <a:t>。主要函数如下：</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st_read</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dsn</a:t>
            </a:r>
            <a:r>
              <a:rPr lang="en-US" altLang="zh-CN" sz="1600" b="1" i="1" dirty="0">
                <a:latin typeface="+mj-lt"/>
                <a:ea typeface="+mj-ea"/>
                <a:sym typeface="Consolas" panose="020B0609020204030204" pitchFamily="49" charset="0"/>
              </a:rPr>
              <a:t>, layer, query, options, quiet, </a:t>
            </a:r>
            <a:r>
              <a:rPr lang="en-US" altLang="zh-CN" sz="1600" b="1" i="1" dirty="0" err="1">
                <a:latin typeface="+mj-lt"/>
                <a:ea typeface="+mj-ea"/>
                <a:sym typeface="Consolas" panose="020B0609020204030204" pitchFamily="49" charset="0"/>
              </a:rPr>
              <a:t>geometry_column</a:t>
            </a:r>
            <a:r>
              <a:rPr lang="en-US" altLang="zh-CN" sz="1600" b="1" i="1" dirty="0">
                <a:latin typeface="+mj-lt"/>
                <a:ea typeface="+mj-ea"/>
                <a:sym typeface="Consolas" panose="020B0609020204030204" pitchFamily="49" charset="0"/>
              </a:rPr>
              <a:t>, type, promote_to_multi,stringsAsFactors,int64_as_string,check_ring_dir,fid_column_name, drivers, </a:t>
            </a:r>
            <a:r>
              <a:rPr lang="en-US" altLang="zh-CN" sz="1600" b="1" i="1" dirty="0" err="1">
                <a:latin typeface="+mj-lt"/>
                <a:ea typeface="+mj-ea"/>
                <a:sym typeface="Consolas" panose="020B0609020204030204" pitchFamily="49" charset="0"/>
              </a:rPr>
              <a:t>wkt_filter</a:t>
            </a:r>
            <a:r>
              <a:rPr lang="en-US" altLang="zh-CN" sz="1600" b="1" i="1" dirty="0">
                <a:latin typeface="+mj-lt"/>
                <a:ea typeface="+mj-ea"/>
                <a:sym typeface="Consolas" panose="020B0609020204030204" pitchFamily="49" charset="0"/>
              </a:rPr>
              <a:t>, optional, </a:t>
            </a:r>
            <a:r>
              <a:rPr lang="en-US" altLang="zh-CN" sz="1600" b="1" i="1" dirty="0" err="1">
                <a:latin typeface="+mj-lt"/>
                <a:ea typeface="+mj-ea"/>
                <a:sym typeface="Consolas" panose="020B0609020204030204" pitchFamily="49" charset="0"/>
              </a:rPr>
              <a:t>use_stream</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：从文件中读取数据，并导入为</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st_read</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dsn</a:t>
            </a:r>
            <a:r>
              <a:rPr lang="en-US" altLang="zh-CN" sz="1600" b="1" i="1" dirty="0">
                <a:latin typeface="+mj-lt"/>
                <a:ea typeface="+mj-ea"/>
                <a:sym typeface="Consolas" panose="020B0609020204030204" pitchFamily="49" charset="0"/>
              </a:rPr>
              <a:t>, layer, query, EWKB, quiet, </a:t>
            </a:r>
            <a:r>
              <a:rPr lang="en-US" altLang="zh-CN" sz="1600" b="1" i="1" dirty="0" err="1">
                <a:latin typeface="+mj-lt"/>
                <a:ea typeface="+mj-ea"/>
                <a:sym typeface="Consolas" panose="020B0609020204030204" pitchFamily="49" charset="0"/>
              </a:rPr>
              <a:t>as_tibble</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geometry_column</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：从数据库中读取数据，并导入为</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read_sf</a:t>
            </a:r>
            <a:r>
              <a:rPr lang="en-US" altLang="zh-CN" sz="1600" b="1" i="1" dirty="0">
                <a:latin typeface="+mj-lt"/>
                <a:ea typeface="+mj-ea"/>
                <a:sym typeface="Consolas" panose="020B0609020204030204" pitchFamily="49" charset="0"/>
              </a:rPr>
              <a:t>(</a:t>
            </a:r>
            <a:r>
              <a:rPr lang="en-US" altLang="zh-CN" sz="1600" b="1" i="1" dirty="0" err="1">
                <a:latin typeface="+mj-lt"/>
                <a:ea typeface="+mj-ea"/>
                <a:sym typeface="Consolas" panose="020B0609020204030204" pitchFamily="49" charset="0"/>
              </a:rPr>
              <a:t>dsn</a:t>
            </a:r>
            <a:r>
              <a:rPr lang="en-US" altLang="zh-CN" sz="1600" b="1" i="1" dirty="0">
                <a:latin typeface="+mj-lt"/>
                <a:ea typeface="+mj-ea"/>
                <a:sym typeface="Consolas" panose="020B0609020204030204" pitchFamily="49" charset="0"/>
              </a:rPr>
              <a:t>, layer, quiet, </a:t>
            </a:r>
            <a:r>
              <a:rPr lang="en-US" altLang="zh-CN" sz="1600" b="1" i="1" dirty="0" err="1">
                <a:latin typeface="+mj-lt"/>
                <a:ea typeface="+mj-ea"/>
                <a:sym typeface="Consolas" panose="020B0609020204030204" pitchFamily="49" charset="0"/>
              </a:rPr>
              <a:t>stringsAsFactors</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as_tibble</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：从文件或数据库中读取数据，并导入为</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a:t>
            </a:r>
            <a:endParaRPr lang="en-US" altLang="zh-CN" sz="1600" dirty="0">
              <a:latin typeface="+mj-lt"/>
              <a:ea typeface="+mj-ea"/>
              <a:sym typeface="Consolas" panose="020B0609020204030204" pitchFamily="49" charset="0"/>
            </a:endParaRPr>
          </a:p>
        </p:txBody>
      </p:sp>
      <p:sp>
        <p:nvSpPr>
          <p:cNvPr id="4" name="矩形 3">
            <a:extLst>
              <a:ext uri="{FF2B5EF4-FFF2-40B4-BE49-F238E27FC236}">
                <a16:creationId xmlns:a16="http://schemas.microsoft.com/office/drawing/2014/main" id="{39071DE1-55C3-5FB9-8569-A5D3EE2B56D3}"/>
              </a:ext>
            </a:extLst>
          </p:cNvPr>
          <p:cNvSpPr/>
          <p:nvPr/>
        </p:nvSpPr>
        <p:spPr>
          <a:xfrm>
            <a:off x="457200" y="1369499"/>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spTree>
    <p:extLst>
      <p:ext uri="{BB962C8B-B14F-4D97-AF65-F5344CB8AC3E}">
        <p14:creationId xmlns:p14="http://schemas.microsoft.com/office/powerpoint/2010/main" val="22632800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A030-40BF-24AD-CC69-C685DEC998B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5D5301A-150E-6FCA-16B0-C96C29DAB2B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52DA57B1-EC1E-DE38-39FC-382B480CC26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49</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955CB1A8-8E7C-A90D-DDE5-251487D43C83}"/>
              </a:ext>
            </a:extLst>
          </p:cNvPr>
          <p:cNvSpPr/>
          <p:nvPr/>
        </p:nvSpPr>
        <p:spPr>
          <a:xfrm>
            <a:off x="319850" y="1208584"/>
            <a:ext cx="44426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2" name="表格 1">
            <a:extLst>
              <a:ext uri="{FF2B5EF4-FFF2-40B4-BE49-F238E27FC236}">
                <a16:creationId xmlns:a16="http://schemas.microsoft.com/office/drawing/2014/main" id="{7F42AE68-DB36-4275-98FC-32EC9EF6B408}"/>
              </a:ext>
            </a:extLst>
          </p:cNvPr>
          <p:cNvGraphicFramePr>
            <a:graphicFrameLocks noGrp="1"/>
          </p:cNvGraphicFramePr>
          <p:nvPr>
            <p:extLst>
              <p:ext uri="{D42A27DB-BD31-4B8C-83A1-F6EECF244321}">
                <p14:modId xmlns:p14="http://schemas.microsoft.com/office/powerpoint/2010/main" val="1852279203"/>
              </p:ext>
            </p:extLst>
          </p:nvPr>
        </p:nvGraphicFramePr>
        <p:xfrm>
          <a:off x="457200" y="1828800"/>
          <a:ext cx="8305800" cy="400719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3181191198"/>
                    </a:ext>
                  </a:extLst>
                </a:gridCol>
                <a:gridCol w="6286500">
                  <a:extLst>
                    <a:ext uri="{9D8B030D-6E8A-4147-A177-3AD203B41FA5}">
                      <a16:colId xmlns:a16="http://schemas.microsoft.com/office/drawing/2014/main" val="3103788485"/>
                    </a:ext>
                  </a:extLst>
                </a:gridCol>
              </a:tblGrid>
              <a:tr h="400719">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328528821"/>
                  </a:ext>
                </a:extLst>
              </a:tr>
              <a:tr h="400719">
                <a:tc>
                  <a:txBody>
                    <a:bodyPr/>
                    <a:lstStyle/>
                    <a:p>
                      <a:pPr algn="ctr"/>
                      <a:r>
                        <a:rPr lang="en-US" altLang="zh-CN" sz="1600" dirty="0" err="1"/>
                        <a:t>dsn</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字符型参数；表示数据源名称，可以是文件路径、数据库连接等</a:t>
                      </a:r>
                      <a:endParaRPr lang="zh-CN" altLang="en-US" sz="1600" dirty="0"/>
                    </a:p>
                  </a:txBody>
                  <a:tcPr anchor="ctr"/>
                </a:tc>
                <a:extLst>
                  <a:ext uri="{0D108BD9-81ED-4DB2-BD59-A6C34878D82A}">
                    <a16:rowId xmlns:a16="http://schemas.microsoft.com/office/drawing/2014/main" val="947896367"/>
                  </a:ext>
                </a:extLst>
              </a:tr>
              <a:tr h="400719">
                <a:tc>
                  <a:txBody>
                    <a:bodyPr/>
                    <a:lstStyle/>
                    <a:p>
                      <a:pPr algn="ctr"/>
                      <a:r>
                        <a:rPr lang="en-US" altLang="zh-CN" sz="1600" dirty="0"/>
                        <a:t>layer</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字符型参数；对于文件数据源，指定数据层的名称或索引</a:t>
                      </a:r>
                      <a:endParaRPr lang="zh-CN" altLang="en-US" sz="1600" dirty="0"/>
                    </a:p>
                  </a:txBody>
                  <a:tcPr anchor="ctr"/>
                </a:tc>
                <a:extLst>
                  <a:ext uri="{0D108BD9-81ED-4DB2-BD59-A6C34878D82A}">
                    <a16:rowId xmlns:a16="http://schemas.microsoft.com/office/drawing/2014/main" val="3799352518"/>
                  </a:ext>
                </a:extLst>
              </a:tr>
              <a:tr h="400719">
                <a:tc>
                  <a:txBody>
                    <a:bodyPr/>
                    <a:lstStyle/>
                    <a:p>
                      <a:pPr algn="ctr"/>
                      <a:r>
                        <a:rPr lang="en-US" altLang="zh-CN" sz="1600" dirty="0"/>
                        <a:t>query</a:t>
                      </a:r>
                      <a:endParaRPr lang="zh-CN" altLang="en-US" sz="1600" dirty="0"/>
                    </a:p>
                  </a:txBody>
                  <a:tcPr anchor="ctr"/>
                </a:tc>
                <a:tc>
                  <a:txBody>
                    <a:bodyPr/>
                    <a:lstStyle/>
                    <a:p>
                      <a:pPr algn="ctr"/>
                      <a:r>
                        <a:rPr lang="zh-CN" altLang="en-US" sz="1600" dirty="0"/>
                        <a:t>字符型参数；对于数据库数据源，指定</a:t>
                      </a:r>
                      <a:r>
                        <a:rPr lang="en-US" altLang="zh-CN" sz="1600" dirty="0"/>
                        <a:t>SQL</a:t>
                      </a:r>
                      <a:r>
                        <a:rPr lang="zh-CN" altLang="en-US" sz="1600" dirty="0"/>
                        <a:t>查询语句</a:t>
                      </a:r>
                    </a:p>
                  </a:txBody>
                  <a:tcPr anchor="ctr"/>
                </a:tc>
                <a:extLst>
                  <a:ext uri="{0D108BD9-81ED-4DB2-BD59-A6C34878D82A}">
                    <a16:rowId xmlns:a16="http://schemas.microsoft.com/office/drawing/2014/main" val="1567372025"/>
                  </a:ext>
                </a:extLst>
              </a:tr>
              <a:tr h="400719">
                <a:tc>
                  <a:txBody>
                    <a:bodyPr/>
                    <a:lstStyle/>
                    <a:p>
                      <a:pPr algn="ctr"/>
                      <a:r>
                        <a:rPr lang="en-US" altLang="zh-CN" sz="1600" dirty="0"/>
                        <a:t>options</a:t>
                      </a:r>
                      <a:endParaRPr lang="zh-CN" altLang="en-US" sz="1600" dirty="0"/>
                    </a:p>
                  </a:txBody>
                  <a:tcPr anchor="ctr"/>
                </a:tc>
                <a:tc>
                  <a:txBody>
                    <a:bodyPr/>
                    <a:lstStyle/>
                    <a:p>
                      <a:pPr algn="ctr"/>
                      <a:r>
                        <a:rPr lang="zh-CN" altLang="en-US" sz="1600" dirty="0"/>
                        <a:t>字符型参数；针对特定驱动程序的选项</a:t>
                      </a:r>
                    </a:p>
                  </a:txBody>
                  <a:tcPr anchor="ctr"/>
                </a:tc>
                <a:extLst>
                  <a:ext uri="{0D108BD9-81ED-4DB2-BD59-A6C34878D82A}">
                    <a16:rowId xmlns:a16="http://schemas.microsoft.com/office/drawing/2014/main" val="2118024201"/>
                  </a:ext>
                </a:extLst>
              </a:tr>
              <a:tr h="400719">
                <a:tc>
                  <a:txBody>
                    <a:bodyPr/>
                    <a:lstStyle/>
                    <a:p>
                      <a:pPr algn="ctr"/>
                      <a:r>
                        <a:rPr lang="en-US" altLang="zh-CN" sz="1600" dirty="0"/>
                        <a:t>quiet</a:t>
                      </a:r>
                      <a:endParaRPr lang="zh-CN" altLang="en-US" sz="1600" dirty="0"/>
                    </a:p>
                  </a:txBody>
                  <a:tcPr anchor="ctr"/>
                </a:tc>
                <a:tc>
                  <a:txBody>
                    <a:bodyPr/>
                    <a:lstStyle/>
                    <a:p>
                      <a:pPr algn="ctr"/>
                      <a:r>
                        <a:rPr lang="zh-CN" altLang="en-US" sz="1600" dirty="0"/>
                        <a:t>逻辑型参数；指定是否在读取时禁止输出信息</a:t>
                      </a:r>
                    </a:p>
                  </a:txBody>
                  <a:tcPr anchor="ctr"/>
                </a:tc>
                <a:extLst>
                  <a:ext uri="{0D108BD9-81ED-4DB2-BD59-A6C34878D82A}">
                    <a16:rowId xmlns:a16="http://schemas.microsoft.com/office/drawing/2014/main" val="2756115735"/>
                  </a:ext>
                </a:extLst>
              </a:tr>
              <a:tr h="400719">
                <a:tc>
                  <a:txBody>
                    <a:bodyPr/>
                    <a:lstStyle/>
                    <a:p>
                      <a:pPr algn="ctr"/>
                      <a:r>
                        <a:rPr lang="en-US" altLang="zh-CN" sz="1600" dirty="0" err="1"/>
                        <a:t>geometry_column</a:t>
                      </a:r>
                      <a:endParaRPr lang="zh-CN" altLang="en-US" sz="1600" dirty="0"/>
                    </a:p>
                  </a:txBody>
                  <a:tcPr anchor="ctr"/>
                </a:tc>
                <a:tc>
                  <a:txBody>
                    <a:bodyPr/>
                    <a:lstStyle/>
                    <a:p>
                      <a:pPr algn="ctr"/>
                      <a:r>
                        <a:rPr lang="zh-CN" altLang="en-US" sz="1600" dirty="0"/>
                        <a:t>整数或字符型参数；指定包含几何信息的列的位置或名称</a:t>
                      </a:r>
                    </a:p>
                  </a:txBody>
                  <a:tcPr anchor="ctr"/>
                </a:tc>
                <a:extLst>
                  <a:ext uri="{0D108BD9-81ED-4DB2-BD59-A6C34878D82A}">
                    <a16:rowId xmlns:a16="http://schemas.microsoft.com/office/drawing/2014/main" val="872916634"/>
                  </a:ext>
                </a:extLst>
              </a:tr>
              <a:tr h="400719">
                <a:tc>
                  <a:txBody>
                    <a:bodyPr/>
                    <a:lstStyle/>
                    <a:p>
                      <a:pPr algn="ctr"/>
                      <a:r>
                        <a:rPr lang="en-US" altLang="zh-CN" sz="1600" dirty="0"/>
                        <a:t>type</a:t>
                      </a:r>
                      <a:endParaRPr lang="zh-CN" altLang="en-US" sz="1600" dirty="0"/>
                    </a:p>
                  </a:txBody>
                  <a:tcPr anchor="ctr"/>
                </a:tc>
                <a:tc>
                  <a:txBody>
                    <a:bodyPr/>
                    <a:lstStyle/>
                    <a:p>
                      <a:pPr algn="ctr"/>
                      <a:r>
                        <a:rPr lang="zh-CN" altLang="en-US" sz="1600" dirty="0"/>
                        <a:t>整数型参数；指定要读取的几何类型，</a:t>
                      </a:r>
                      <a:r>
                        <a:rPr lang="en-US" altLang="zh-CN" sz="1600" dirty="0"/>
                        <a:t>0</a:t>
                      </a:r>
                      <a:r>
                        <a:rPr lang="zh-CN" altLang="en-US" sz="1600" dirty="0"/>
                        <a:t>表示全部类型</a:t>
                      </a:r>
                    </a:p>
                  </a:txBody>
                  <a:tcPr anchor="ctr"/>
                </a:tc>
                <a:extLst>
                  <a:ext uri="{0D108BD9-81ED-4DB2-BD59-A6C34878D82A}">
                    <a16:rowId xmlns:a16="http://schemas.microsoft.com/office/drawing/2014/main" val="2521408670"/>
                  </a:ext>
                </a:extLst>
              </a:tr>
              <a:tr h="400719">
                <a:tc>
                  <a:txBody>
                    <a:bodyPr/>
                    <a:lstStyle/>
                    <a:p>
                      <a:pPr algn="ctr"/>
                      <a:r>
                        <a:rPr lang="en-US" altLang="zh-CN" sz="1600" dirty="0" err="1"/>
                        <a:t>promote_to_multi</a:t>
                      </a:r>
                      <a:endParaRPr lang="zh-CN" altLang="en-US" sz="1600" dirty="0"/>
                    </a:p>
                  </a:txBody>
                  <a:tcPr anchor="ctr"/>
                </a:tc>
                <a:tc>
                  <a:txBody>
                    <a:bodyPr/>
                    <a:lstStyle/>
                    <a:p>
                      <a:pPr algn="ctr"/>
                      <a:r>
                        <a:rPr lang="zh-CN" altLang="en-US" sz="1600" dirty="0"/>
                        <a:t>逻辑型参数；指定是否将单一几何对象提升为多几何对象</a:t>
                      </a:r>
                    </a:p>
                  </a:txBody>
                  <a:tcPr anchor="ctr"/>
                </a:tc>
                <a:extLst>
                  <a:ext uri="{0D108BD9-81ED-4DB2-BD59-A6C34878D82A}">
                    <a16:rowId xmlns:a16="http://schemas.microsoft.com/office/drawing/2014/main" val="2105619219"/>
                  </a:ext>
                </a:extLst>
              </a:tr>
              <a:tr h="400719">
                <a:tc>
                  <a:txBody>
                    <a:bodyPr/>
                    <a:lstStyle/>
                    <a:p>
                      <a:pPr algn="ctr"/>
                      <a:r>
                        <a:rPr lang="en-US" altLang="zh-CN" sz="1600" dirty="0" err="1"/>
                        <a:t>stringsAsFactors</a:t>
                      </a:r>
                      <a:endParaRPr lang="zh-CN" altLang="en-US" sz="1600" dirty="0"/>
                    </a:p>
                  </a:txBody>
                  <a:tcPr anchor="ctr"/>
                </a:tc>
                <a:tc>
                  <a:txBody>
                    <a:bodyPr/>
                    <a:lstStyle/>
                    <a:p>
                      <a:pPr algn="ctr"/>
                      <a:r>
                        <a:rPr lang="zh-CN" altLang="en-US" sz="1600" dirty="0"/>
                        <a:t>逻辑型参数；指定是否将字符列转换为</a:t>
                      </a:r>
                      <a:r>
                        <a:rPr lang="en-US" altLang="zh-CN" sz="1600" dirty="0"/>
                        <a:t>factors</a:t>
                      </a:r>
                      <a:endParaRPr lang="zh-CN" altLang="en-US" sz="1600" dirty="0"/>
                    </a:p>
                  </a:txBody>
                  <a:tcPr anchor="ctr"/>
                </a:tc>
                <a:extLst>
                  <a:ext uri="{0D108BD9-81ED-4DB2-BD59-A6C34878D82A}">
                    <a16:rowId xmlns:a16="http://schemas.microsoft.com/office/drawing/2014/main" val="1623708039"/>
                  </a:ext>
                </a:extLst>
              </a:tr>
            </a:tbl>
          </a:graphicData>
        </a:graphic>
      </p:graphicFrame>
      <p:sp>
        <p:nvSpPr>
          <p:cNvPr id="6" name="文本框 5">
            <a:extLst>
              <a:ext uri="{FF2B5EF4-FFF2-40B4-BE49-F238E27FC236}">
                <a16:creationId xmlns:a16="http://schemas.microsoft.com/office/drawing/2014/main" id="{35E51241-59AC-9AA3-4B18-1E88D2F02F0A}"/>
              </a:ext>
            </a:extLst>
          </p:cNvPr>
          <p:cNvSpPr txBox="1"/>
          <p:nvPr/>
        </p:nvSpPr>
        <p:spPr>
          <a:xfrm>
            <a:off x="800889" y="5980996"/>
            <a:ext cx="7542222" cy="307777"/>
          </a:xfrm>
          <a:prstGeom prst="rect">
            <a:avLst/>
          </a:prstGeom>
          <a:noFill/>
        </p:spPr>
        <p:txBody>
          <a:bodyPr wrap="square">
            <a:spAutoFit/>
          </a:bodyPr>
          <a:lstStyle/>
          <a:p>
            <a:pPr algn="ctr"/>
            <a:r>
              <a:rPr lang="zh-CN" altLang="zh-CN" sz="1400" dirty="0">
                <a:effectLst/>
                <a:latin typeface="+mn-lt"/>
                <a:ea typeface="+mn-ea"/>
                <a:cs typeface="Times New Roman" panose="02020603050405020304" pitchFamily="18" charset="0"/>
              </a:rPr>
              <a:t>函数包</a:t>
            </a:r>
            <a:r>
              <a:rPr lang="en-US" altLang="zh-CN" sz="1400" b="1" dirty="0">
                <a:effectLst/>
                <a:latin typeface="+mn-lt"/>
                <a:ea typeface="+mn-ea"/>
              </a:rPr>
              <a:t>sf</a:t>
            </a:r>
            <a:r>
              <a:rPr lang="zh-CN" altLang="zh-CN" sz="1400" dirty="0">
                <a:effectLst/>
                <a:latin typeface="+mn-lt"/>
                <a:ea typeface="+mn-ea"/>
                <a:cs typeface="Times New Roman" panose="02020603050405020304" pitchFamily="18" charset="0"/>
              </a:rPr>
              <a:t>中空间数据读取函数参数表</a:t>
            </a:r>
            <a:endParaRPr lang="zh-CN" altLang="en-US" sz="1400" dirty="0">
              <a:latin typeface="+mn-lt"/>
              <a:ea typeface="+mn-ea"/>
            </a:endParaRPr>
          </a:p>
        </p:txBody>
      </p:sp>
    </p:spTree>
    <p:extLst>
      <p:ext uri="{BB962C8B-B14F-4D97-AF65-F5344CB8AC3E}">
        <p14:creationId xmlns:p14="http://schemas.microsoft.com/office/powerpoint/2010/main" val="367625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CE17-759D-7FBC-5680-DCD2ECD8A45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A91BAE7E-4941-D120-5612-D00622A273F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708FD070-D49C-13D5-D401-0F70D3B6692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50</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56C36984-1DD7-6D0A-D038-E0AE026D26F5}"/>
              </a:ext>
            </a:extLst>
          </p:cNvPr>
          <p:cNvSpPr/>
          <p:nvPr/>
        </p:nvSpPr>
        <p:spPr>
          <a:xfrm>
            <a:off x="319850" y="1208584"/>
            <a:ext cx="44426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2" name="表格 1">
            <a:extLst>
              <a:ext uri="{FF2B5EF4-FFF2-40B4-BE49-F238E27FC236}">
                <a16:creationId xmlns:a16="http://schemas.microsoft.com/office/drawing/2014/main" id="{0B0DCDE4-7DE9-EC16-1C33-CF8F8913BBD3}"/>
              </a:ext>
            </a:extLst>
          </p:cNvPr>
          <p:cNvGraphicFramePr>
            <a:graphicFrameLocks noGrp="1"/>
          </p:cNvGraphicFramePr>
          <p:nvPr>
            <p:extLst>
              <p:ext uri="{D42A27DB-BD31-4B8C-83A1-F6EECF244321}">
                <p14:modId xmlns:p14="http://schemas.microsoft.com/office/powerpoint/2010/main" val="4121918942"/>
              </p:ext>
            </p:extLst>
          </p:nvPr>
        </p:nvGraphicFramePr>
        <p:xfrm>
          <a:off x="457200" y="1828800"/>
          <a:ext cx="8305800" cy="4185591"/>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3181191198"/>
                    </a:ext>
                  </a:extLst>
                </a:gridCol>
                <a:gridCol w="6286500">
                  <a:extLst>
                    <a:ext uri="{9D8B030D-6E8A-4147-A177-3AD203B41FA5}">
                      <a16:colId xmlns:a16="http://schemas.microsoft.com/office/drawing/2014/main" val="3103788485"/>
                    </a:ext>
                  </a:extLst>
                </a:gridCol>
              </a:tblGrid>
              <a:tr h="400719">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328528821"/>
                  </a:ext>
                </a:extLst>
              </a:tr>
              <a:tr h="400719">
                <a:tc>
                  <a:txBody>
                    <a:bodyPr/>
                    <a:lstStyle/>
                    <a:p>
                      <a:pPr algn="ctr"/>
                      <a:r>
                        <a:rPr lang="en-US" altLang="zh-CN" sz="1600" dirty="0"/>
                        <a:t>int64_as_string</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逻辑型参数；指定是否将</a:t>
                      </a:r>
                      <a:r>
                        <a:rPr lang="en-US" altLang="zh-CN" sz="1600" kern="1200" dirty="0">
                          <a:solidFill>
                            <a:schemeClr val="dk1"/>
                          </a:solidFill>
                          <a:effectLst/>
                          <a:latin typeface="+mn-lt"/>
                          <a:ea typeface="+mn-ea"/>
                          <a:cs typeface="+mn-cs"/>
                        </a:rPr>
                        <a:t>64</a:t>
                      </a:r>
                      <a:r>
                        <a:rPr lang="zh-CN" altLang="en-US" sz="1600" kern="1200" dirty="0">
                          <a:solidFill>
                            <a:schemeClr val="dk1"/>
                          </a:solidFill>
                          <a:effectLst/>
                          <a:latin typeface="+mn-lt"/>
                          <a:ea typeface="+mn-ea"/>
                          <a:cs typeface="+mn-cs"/>
                        </a:rPr>
                        <a:t>位整数列读取为字符型</a:t>
                      </a:r>
                      <a:endParaRPr lang="zh-CN" altLang="en-US" sz="1600" dirty="0"/>
                    </a:p>
                  </a:txBody>
                  <a:tcPr anchor="ctr"/>
                </a:tc>
                <a:extLst>
                  <a:ext uri="{0D108BD9-81ED-4DB2-BD59-A6C34878D82A}">
                    <a16:rowId xmlns:a16="http://schemas.microsoft.com/office/drawing/2014/main" val="947896367"/>
                  </a:ext>
                </a:extLst>
              </a:tr>
              <a:tr h="400719">
                <a:tc>
                  <a:txBody>
                    <a:bodyPr/>
                    <a:lstStyle/>
                    <a:p>
                      <a:pPr algn="ctr"/>
                      <a:r>
                        <a:rPr lang="en-US" altLang="zh-CN" sz="1600" dirty="0" err="1"/>
                        <a:t>check_ring_dir</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逻辑型参数；指定是否检查环的方向</a:t>
                      </a:r>
                      <a:endParaRPr lang="zh-CN" altLang="en-US" sz="1600" dirty="0"/>
                    </a:p>
                  </a:txBody>
                  <a:tcPr anchor="ctr"/>
                </a:tc>
                <a:extLst>
                  <a:ext uri="{0D108BD9-81ED-4DB2-BD59-A6C34878D82A}">
                    <a16:rowId xmlns:a16="http://schemas.microsoft.com/office/drawing/2014/main" val="3799352518"/>
                  </a:ext>
                </a:extLst>
              </a:tr>
              <a:tr h="400719">
                <a:tc>
                  <a:txBody>
                    <a:bodyPr/>
                    <a:lstStyle/>
                    <a:p>
                      <a:pPr algn="ctr"/>
                      <a:r>
                        <a:rPr lang="en-US" altLang="zh-CN" sz="1600" dirty="0" err="1"/>
                        <a:t>fid_column_name</a:t>
                      </a:r>
                      <a:endParaRPr lang="zh-CN" altLang="en-US" sz="1600" dirty="0"/>
                    </a:p>
                  </a:txBody>
                  <a:tcPr anchor="ctr"/>
                </a:tc>
                <a:tc>
                  <a:txBody>
                    <a:bodyPr/>
                    <a:lstStyle/>
                    <a:p>
                      <a:pPr algn="ctr"/>
                      <a:r>
                        <a:rPr lang="zh-CN" altLang="en-US" sz="1600" dirty="0"/>
                        <a:t>字符型参数；指定要用作</a:t>
                      </a:r>
                      <a:r>
                        <a:rPr lang="en-US" altLang="zh-CN" sz="1600" dirty="0"/>
                        <a:t>Feature ID</a:t>
                      </a:r>
                      <a:r>
                        <a:rPr lang="zh-CN" altLang="en-US" sz="1600" dirty="0"/>
                        <a:t>的列名</a:t>
                      </a:r>
                    </a:p>
                  </a:txBody>
                  <a:tcPr anchor="ctr"/>
                </a:tc>
                <a:extLst>
                  <a:ext uri="{0D108BD9-81ED-4DB2-BD59-A6C34878D82A}">
                    <a16:rowId xmlns:a16="http://schemas.microsoft.com/office/drawing/2014/main" val="1567372025"/>
                  </a:ext>
                </a:extLst>
              </a:tr>
              <a:tr h="400719">
                <a:tc>
                  <a:txBody>
                    <a:bodyPr/>
                    <a:lstStyle/>
                    <a:p>
                      <a:pPr algn="ctr"/>
                      <a:r>
                        <a:rPr lang="en-US" altLang="zh-CN" sz="1600" dirty="0"/>
                        <a:t>drivers</a:t>
                      </a:r>
                      <a:endParaRPr lang="zh-CN" altLang="en-US" sz="1600" dirty="0"/>
                    </a:p>
                  </a:txBody>
                  <a:tcPr anchor="ctr"/>
                </a:tc>
                <a:tc>
                  <a:txBody>
                    <a:bodyPr/>
                    <a:lstStyle/>
                    <a:p>
                      <a:pPr algn="ctr"/>
                      <a:r>
                        <a:rPr lang="zh-CN" altLang="en-US" sz="1600" dirty="0"/>
                        <a:t>字符型参数；指定要尝试的驱动程序</a:t>
                      </a:r>
                    </a:p>
                  </a:txBody>
                  <a:tcPr anchor="ctr"/>
                </a:tc>
                <a:extLst>
                  <a:ext uri="{0D108BD9-81ED-4DB2-BD59-A6C34878D82A}">
                    <a16:rowId xmlns:a16="http://schemas.microsoft.com/office/drawing/2014/main" val="2118024201"/>
                  </a:ext>
                </a:extLst>
              </a:tr>
              <a:tr h="400719">
                <a:tc>
                  <a:txBody>
                    <a:bodyPr/>
                    <a:lstStyle/>
                    <a:p>
                      <a:pPr algn="ctr"/>
                      <a:r>
                        <a:rPr lang="en-US" altLang="zh-CN" sz="1600" dirty="0" err="1"/>
                        <a:t>wkt_filter</a:t>
                      </a:r>
                      <a:endParaRPr lang="zh-CN" altLang="en-US" sz="1600" dirty="0"/>
                    </a:p>
                  </a:txBody>
                  <a:tcPr anchor="ctr"/>
                </a:tc>
                <a:tc>
                  <a:txBody>
                    <a:bodyPr/>
                    <a:lstStyle/>
                    <a:p>
                      <a:pPr algn="ctr"/>
                      <a:r>
                        <a:rPr lang="zh-CN" altLang="en-US" sz="1600" dirty="0"/>
                        <a:t>字符型参数；包含要读取的</a:t>
                      </a:r>
                      <a:r>
                        <a:rPr lang="en-US" altLang="zh-CN" sz="1600" dirty="0"/>
                        <a:t>WKT(Well-Known Text)</a:t>
                      </a:r>
                      <a:r>
                        <a:rPr lang="zh-CN" altLang="en-US" sz="1600" dirty="0"/>
                        <a:t>几何类型</a:t>
                      </a:r>
                    </a:p>
                  </a:txBody>
                  <a:tcPr anchor="ctr"/>
                </a:tc>
                <a:extLst>
                  <a:ext uri="{0D108BD9-81ED-4DB2-BD59-A6C34878D82A}">
                    <a16:rowId xmlns:a16="http://schemas.microsoft.com/office/drawing/2014/main" val="2756115735"/>
                  </a:ext>
                </a:extLst>
              </a:tr>
              <a:tr h="400719">
                <a:tc>
                  <a:txBody>
                    <a:bodyPr/>
                    <a:lstStyle/>
                    <a:p>
                      <a:pPr algn="ctr"/>
                      <a:r>
                        <a:rPr lang="en-US" altLang="zh-CN" sz="1600" dirty="0"/>
                        <a:t>optional</a:t>
                      </a:r>
                      <a:endParaRPr lang="zh-CN" altLang="en-US" sz="1600" dirty="0"/>
                    </a:p>
                  </a:txBody>
                  <a:tcPr anchor="ctr"/>
                </a:tc>
                <a:tc>
                  <a:txBody>
                    <a:bodyPr/>
                    <a:lstStyle/>
                    <a:p>
                      <a:pPr algn="ctr"/>
                      <a:r>
                        <a:rPr lang="zh-CN" altLang="en-US" sz="1600" dirty="0"/>
                        <a:t>逻辑型参数；指定是否将缺失数据视为警告而不是错误</a:t>
                      </a:r>
                    </a:p>
                  </a:txBody>
                  <a:tcPr anchor="ctr"/>
                </a:tc>
                <a:extLst>
                  <a:ext uri="{0D108BD9-81ED-4DB2-BD59-A6C34878D82A}">
                    <a16:rowId xmlns:a16="http://schemas.microsoft.com/office/drawing/2014/main" val="872916634"/>
                  </a:ext>
                </a:extLst>
              </a:tr>
              <a:tr h="400719">
                <a:tc>
                  <a:txBody>
                    <a:bodyPr/>
                    <a:lstStyle/>
                    <a:p>
                      <a:pPr algn="ctr"/>
                      <a:r>
                        <a:rPr lang="en-US" altLang="zh-CN" sz="1600" dirty="0" err="1"/>
                        <a:t>use_stream</a:t>
                      </a:r>
                      <a:endParaRPr lang="zh-CN" altLang="en-US" sz="1600" dirty="0"/>
                    </a:p>
                  </a:txBody>
                  <a:tcPr anchor="ctr"/>
                </a:tc>
                <a:tc>
                  <a:txBody>
                    <a:bodyPr/>
                    <a:lstStyle/>
                    <a:p>
                      <a:pPr algn="ctr"/>
                      <a:r>
                        <a:rPr lang="zh-CN" altLang="en-US" sz="1600" dirty="0"/>
                        <a:t>逻辑型参数；指定是否使用数据流读取</a:t>
                      </a:r>
                    </a:p>
                  </a:txBody>
                  <a:tcPr anchor="ctr"/>
                </a:tc>
                <a:extLst>
                  <a:ext uri="{0D108BD9-81ED-4DB2-BD59-A6C34878D82A}">
                    <a16:rowId xmlns:a16="http://schemas.microsoft.com/office/drawing/2014/main" val="2521408670"/>
                  </a:ext>
                </a:extLst>
              </a:tr>
              <a:tr h="400719">
                <a:tc>
                  <a:txBody>
                    <a:bodyPr/>
                    <a:lstStyle/>
                    <a:p>
                      <a:pPr algn="ctr"/>
                      <a:r>
                        <a:rPr lang="en-US" altLang="zh-CN" sz="1600" dirty="0"/>
                        <a:t>EWKB</a:t>
                      </a:r>
                      <a:endParaRPr lang="zh-CN" altLang="en-US" sz="1600" dirty="0"/>
                    </a:p>
                  </a:txBody>
                  <a:tcPr anchor="ctr"/>
                </a:tc>
                <a:tc>
                  <a:txBody>
                    <a:bodyPr/>
                    <a:lstStyle/>
                    <a:p>
                      <a:pPr algn="ctr"/>
                      <a:r>
                        <a:rPr lang="zh-CN" altLang="en-US" sz="1600" dirty="0"/>
                        <a:t>逻辑型参数；指定是否使用扩展的</a:t>
                      </a:r>
                      <a:r>
                        <a:rPr lang="en-US" altLang="zh-CN" sz="1600" dirty="0"/>
                        <a:t>Well-Known Binary(EWKB)</a:t>
                      </a:r>
                      <a:r>
                        <a:rPr lang="zh-CN" altLang="en-US" sz="1600" dirty="0"/>
                        <a:t>格式，默认为</a:t>
                      </a:r>
                      <a:r>
                        <a:rPr lang="en-US" altLang="zh-CN" sz="1600" dirty="0"/>
                        <a:t>TRUE</a:t>
                      </a:r>
                      <a:endParaRPr lang="zh-CN" altLang="en-US" sz="1600" dirty="0"/>
                    </a:p>
                  </a:txBody>
                  <a:tcPr anchor="ctr"/>
                </a:tc>
                <a:extLst>
                  <a:ext uri="{0D108BD9-81ED-4DB2-BD59-A6C34878D82A}">
                    <a16:rowId xmlns:a16="http://schemas.microsoft.com/office/drawing/2014/main" val="2105619219"/>
                  </a:ext>
                </a:extLst>
              </a:tr>
              <a:tr h="400719">
                <a:tc>
                  <a:txBody>
                    <a:bodyPr/>
                    <a:lstStyle/>
                    <a:p>
                      <a:pPr algn="ctr"/>
                      <a:r>
                        <a:rPr lang="en-US" altLang="zh-CN" sz="1600" dirty="0" err="1"/>
                        <a:t>as_tibble</a:t>
                      </a:r>
                      <a:endParaRPr lang="zh-CN" altLang="en-US" sz="1600" dirty="0"/>
                    </a:p>
                  </a:txBody>
                  <a:tcPr anchor="ctr"/>
                </a:tc>
                <a:tc>
                  <a:txBody>
                    <a:bodyPr/>
                    <a:lstStyle/>
                    <a:p>
                      <a:pPr algn="ctr"/>
                      <a:r>
                        <a:rPr lang="zh-CN" altLang="en-US" sz="1600" dirty="0"/>
                        <a:t>逻辑型参数；执行是否返回</a:t>
                      </a:r>
                      <a:r>
                        <a:rPr lang="en-US" altLang="zh-CN" sz="1600" dirty="0" err="1"/>
                        <a:t>tibble</a:t>
                      </a:r>
                      <a:r>
                        <a:rPr lang="zh-CN" altLang="en-US" sz="1600" dirty="0"/>
                        <a:t>对象，默认为</a:t>
                      </a:r>
                      <a:r>
                        <a:rPr lang="en-US" altLang="zh-CN" sz="1600" dirty="0"/>
                        <a:t>FALSE</a:t>
                      </a:r>
                      <a:endParaRPr lang="zh-CN" altLang="en-US" sz="1600" dirty="0"/>
                    </a:p>
                  </a:txBody>
                  <a:tcPr anchor="ctr"/>
                </a:tc>
                <a:extLst>
                  <a:ext uri="{0D108BD9-81ED-4DB2-BD59-A6C34878D82A}">
                    <a16:rowId xmlns:a16="http://schemas.microsoft.com/office/drawing/2014/main" val="1623708039"/>
                  </a:ext>
                </a:extLst>
              </a:tr>
            </a:tbl>
          </a:graphicData>
        </a:graphic>
      </p:graphicFrame>
      <p:sp>
        <p:nvSpPr>
          <p:cNvPr id="6" name="文本框 5">
            <a:extLst>
              <a:ext uri="{FF2B5EF4-FFF2-40B4-BE49-F238E27FC236}">
                <a16:creationId xmlns:a16="http://schemas.microsoft.com/office/drawing/2014/main" id="{60E13BD9-F62E-1C7C-6D27-0E112ADD7C9B}"/>
              </a:ext>
            </a:extLst>
          </p:cNvPr>
          <p:cNvSpPr txBox="1"/>
          <p:nvPr/>
        </p:nvSpPr>
        <p:spPr>
          <a:xfrm>
            <a:off x="800889" y="6099198"/>
            <a:ext cx="7542222" cy="307777"/>
          </a:xfrm>
          <a:prstGeom prst="rect">
            <a:avLst/>
          </a:prstGeom>
          <a:noFill/>
        </p:spPr>
        <p:txBody>
          <a:bodyPr wrap="square">
            <a:spAutoFit/>
          </a:bodyPr>
          <a:lstStyle/>
          <a:p>
            <a:pPr algn="ctr"/>
            <a:r>
              <a:rPr lang="zh-CN" altLang="zh-CN" sz="1400" dirty="0">
                <a:effectLst/>
                <a:latin typeface="+mn-lt"/>
                <a:ea typeface="+mn-ea"/>
                <a:cs typeface="Times New Roman" panose="02020603050405020304" pitchFamily="18" charset="0"/>
              </a:rPr>
              <a:t>函数包</a:t>
            </a:r>
            <a:r>
              <a:rPr lang="en-US" altLang="zh-CN" sz="1400" b="1" dirty="0">
                <a:effectLst/>
                <a:latin typeface="+mn-lt"/>
                <a:ea typeface="+mn-ea"/>
              </a:rPr>
              <a:t>sf</a:t>
            </a:r>
            <a:r>
              <a:rPr lang="zh-CN" altLang="zh-CN" sz="1400" dirty="0">
                <a:effectLst/>
                <a:latin typeface="+mn-lt"/>
                <a:ea typeface="+mn-ea"/>
                <a:cs typeface="Times New Roman" panose="02020603050405020304" pitchFamily="18" charset="0"/>
              </a:rPr>
              <a:t>中空间数据读取函数参数表</a:t>
            </a:r>
            <a:r>
              <a:rPr lang="zh-CN" altLang="en-US" sz="1400" dirty="0">
                <a:effectLst/>
                <a:latin typeface="+mn-lt"/>
                <a:ea typeface="+mn-ea"/>
                <a:cs typeface="Times New Roman" panose="02020603050405020304" pitchFamily="18" charset="0"/>
              </a:rPr>
              <a:t>（续表）</a:t>
            </a:r>
            <a:endParaRPr lang="zh-CN" altLang="en-US" sz="1400" dirty="0">
              <a:latin typeface="+mn-lt"/>
              <a:ea typeface="+mn-ea"/>
            </a:endParaRPr>
          </a:p>
        </p:txBody>
      </p:sp>
    </p:spTree>
    <p:extLst>
      <p:ext uri="{BB962C8B-B14F-4D97-AF65-F5344CB8AC3E}">
        <p14:creationId xmlns:p14="http://schemas.microsoft.com/office/powerpoint/2010/main" val="21987501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3FB6-63CA-E5C4-35CB-120E885C221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28303AA-4079-9E98-7B9F-90403E34727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DD04DAE7-B604-F2F5-DBBB-86F8977CCB0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51</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C9970CDC-0307-A5A7-6BB2-097C77BB91A7}"/>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3" name="矩形 2">
            <a:extLst>
              <a:ext uri="{FF2B5EF4-FFF2-40B4-BE49-F238E27FC236}">
                <a16:creationId xmlns:a16="http://schemas.microsoft.com/office/drawing/2014/main" id="{39796284-9326-FCD8-5BFB-D70C438D5116}"/>
              </a:ext>
            </a:extLst>
          </p:cNvPr>
          <p:cNvSpPr/>
          <p:nvPr/>
        </p:nvSpPr>
        <p:spPr>
          <a:xfrm>
            <a:off x="114300" y="1700302"/>
            <a:ext cx="8528583" cy="1289712"/>
          </a:xfrm>
          <a:prstGeom prst="rect">
            <a:avLst/>
          </a:prstGeom>
        </p:spPr>
        <p:txBody>
          <a:bodyPr wrap="square">
            <a:spAutoFit/>
          </a:bodyPr>
          <a:lstStyle/>
          <a:p>
            <a:pPr marL="285750" indent="457200" algn="just">
              <a:lnSpc>
                <a:spcPct val="150000"/>
              </a:lnSpc>
            </a:pPr>
            <a:r>
              <a:rPr lang="zh-CN" altLang="zh-CN" sz="1800" dirty="0">
                <a:effectLst/>
                <a:latin typeface="+mj-lt"/>
                <a:ea typeface="+mj-ea"/>
                <a:cs typeface="Times New Roman" panose="02020603050405020304" pitchFamily="18" charset="0"/>
              </a:rPr>
              <a:t>将</a:t>
            </a:r>
            <a:r>
              <a:rPr lang="zh-CN" altLang="en-US" sz="1800" dirty="0">
                <a:effectLst/>
                <a:latin typeface="+mj-lt"/>
                <a:ea typeface="+mj-ea"/>
                <a:cs typeface="Times New Roman" panose="02020603050405020304" pitchFamily="18" charset="0"/>
              </a:rPr>
              <a:t>示例数据中的</a:t>
            </a:r>
            <a:r>
              <a:rPr lang="en-US" altLang="zh-CN" sz="1800" dirty="0">
                <a:effectLst/>
                <a:latin typeface="+mj-lt"/>
                <a:ea typeface="+mj-ea"/>
              </a:rPr>
              <a:t>WHSWZZ_ZZQ</a:t>
            </a:r>
            <a:r>
              <a:rPr lang="zh-CN" altLang="zh-CN" sz="1800" dirty="0">
                <a:effectLst/>
                <a:latin typeface="+mj-lt"/>
                <a:ea typeface="+mj-ea"/>
                <a:cs typeface="Times New Roman" panose="02020603050405020304" pitchFamily="18" charset="0"/>
              </a:rPr>
              <a:t>（点数据）、</a:t>
            </a:r>
            <a:r>
              <a:rPr lang="en-US" altLang="zh-CN" sz="1800" dirty="0">
                <a:effectLst/>
                <a:latin typeface="+mj-lt"/>
                <a:ea typeface="+mj-ea"/>
              </a:rPr>
              <a:t>WHRD</a:t>
            </a:r>
            <a:r>
              <a:rPr lang="zh-CN" altLang="zh-CN" sz="1800" dirty="0">
                <a:effectLst/>
                <a:latin typeface="+mj-lt"/>
                <a:ea typeface="+mj-ea"/>
                <a:cs typeface="Times New Roman" panose="02020603050405020304" pitchFamily="18" charset="0"/>
              </a:rPr>
              <a:t>（线数据）和</a:t>
            </a:r>
            <a:r>
              <a:rPr lang="en-US" altLang="zh-CN" sz="1800" dirty="0" err="1">
                <a:effectLst/>
                <a:latin typeface="+mj-lt"/>
                <a:ea typeface="+mj-ea"/>
              </a:rPr>
              <a:t>WHDistrict</a:t>
            </a:r>
            <a:r>
              <a:rPr lang="zh-CN" altLang="zh-CN" sz="1800" dirty="0">
                <a:effectLst/>
                <a:latin typeface="+mj-lt"/>
                <a:ea typeface="+mj-ea"/>
                <a:cs typeface="Times New Roman" panose="02020603050405020304" pitchFamily="18" charset="0"/>
              </a:rPr>
              <a:t>（面数据）复制到</a:t>
            </a:r>
            <a:r>
              <a:rPr lang="zh-CN" altLang="en-US" sz="1800" dirty="0">
                <a:effectLst/>
                <a:latin typeface="+mj-lt"/>
                <a:ea typeface="+mj-ea"/>
                <a:cs typeface="Times New Roman" panose="02020603050405020304" pitchFamily="18" charset="0"/>
              </a:rPr>
              <a:t>工作目录</a:t>
            </a:r>
            <a:r>
              <a:rPr lang="zh-CN" altLang="zh-CN" sz="1800" dirty="0">
                <a:effectLst/>
                <a:latin typeface="+mj-lt"/>
                <a:ea typeface="+mj-ea"/>
                <a:cs typeface="Times New Roman" panose="02020603050405020304" pitchFamily="18" charset="0"/>
              </a:rPr>
              <a:t>下</a:t>
            </a:r>
            <a:r>
              <a:rPr lang="zh-CN" altLang="en-US" sz="1800" dirty="0">
                <a:effectLst/>
                <a:latin typeface="+mj-lt"/>
                <a:ea typeface="+mj-ea"/>
                <a:cs typeface="Times New Roman" panose="02020603050405020304" pitchFamily="18" charset="0"/>
              </a:rPr>
              <a:t>，运行下面的代码，观察点数据、线数据和面数据读取为</a:t>
            </a:r>
            <a:r>
              <a:rPr lang="en-US" altLang="zh-CN" sz="1800" dirty="0">
                <a:effectLst/>
                <a:latin typeface="+mj-lt"/>
                <a:ea typeface="+mj-ea"/>
                <a:cs typeface="Times New Roman" panose="02020603050405020304" pitchFamily="18" charset="0"/>
              </a:rPr>
              <a:t>Simple Feature</a:t>
            </a:r>
            <a:r>
              <a:rPr lang="zh-CN" altLang="en-US" sz="1800" dirty="0">
                <a:effectLst/>
                <a:latin typeface="+mj-lt"/>
                <a:ea typeface="+mj-ea"/>
                <a:cs typeface="Times New Roman" panose="02020603050405020304" pitchFamily="18" charset="0"/>
              </a:rPr>
              <a:t>对象数据对象的情形</a:t>
            </a:r>
            <a:r>
              <a:rPr lang="zh-CN" altLang="en-US" dirty="0">
                <a:latin typeface="+mj-lt"/>
                <a:ea typeface="+mj-ea"/>
                <a:cs typeface="Times New Roman" panose="02020603050405020304" pitchFamily="18" charset="0"/>
              </a:rPr>
              <a:t>：</a:t>
            </a:r>
            <a:endParaRPr lang="en-US" altLang="zh-CN" sz="1600" dirty="0">
              <a:latin typeface="+mj-lt"/>
              <a:ea typeface="+mj-ea"/>
              <a:sym typeface="Consolas" panose="020B0609020204030204" pitchFamily="49" charset="0"/>
            </a:endParaRPr>
          </a:p>
        </p:txBody>
      </p:sp>
      <p:sp>
        <p:nvSpPr>
          <p:cNvPr id="5" name="文本框 4">
            <a:extLst>
              <a:ext uri="{FF2B5EF4-FFF2-40B4-BE49-F238E27FC236}">
                <a16:creationId xmlns:a16="http://schemas.microsoft.com/office/drawing/2014/main" id="{98ED098D-0AEF-A2B6-44DD-C0541DF8E259}"/>
              </a:ext>
            </a:extLst>
          </p:cNvPr>
          <p:cNvSpPr txBox="1"/>
          <p:nvPr/>
        </p:nvSpPr>
        <p:spPr>
          <a:xfrm>
            <a:off x="653517" y="3067279"/>
            <a:ext cx="7341666" cy="28007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geometry,pch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763A41F4-AF05-051F-4F88-25C701562A53}"/>
              </a:ext>
            </a:extLst>
          </p:cNvPr>
          <p:cNvSpPr txBox="1"/>
          <p:nvPr/>
        </p:nvSpPr>
        <p:spPr>
          <a:xfrm>
            <a:off x="5943600" y="3867987"/>
            <a:ext cx="2628900" cy="1169551"/>
          </a:xfrm>
          <a:prstGeom prst="rect">
            <a:avLst/>
          </a:prstGeom>
          <a:noFill/>
        </p:spPr>
        <p:txBody>
          <a:bodyPr wrap="square" rtlCol="0">
            <a:spAutoFit/>
          </a:bodyPr>
          <a:lstStyle/>
          <a:p>
            <a:pPr algn="just"/>
            <a:r>
              <a:rPr lang="en-US" altLang="zh-CN" sz="1400" dirty="0">
                <a:effectLst/>
                <a:latin typeface="+mj-lt"/>
                <a:ea typeface="+mn-ea"/>
                <a:cs typeface="Times New Roman" panose="02020603050405020304" pitchFamily="18" charset="0"/>
              </a:rPr>
              <a:t>*</a:t>
            </a:r>
            <a:r>
              <a:rPr lang="zh-CN" altLang="zh-CN" sz="1400" dirty="0">
                <a:effectLst/>
                <a:latin typeface="+mj-lt"/>
                <a:ea typeface="+mn-ea"/>
                <a:cs typeface="Times New Roman" panose="02020603050405020304" pitchFamily="18" charset="0"/>
              </a:rPr>
              <a:t>注意</a:t>
            </a:r>
            <a:r>
              <a:rPr lang="zh-CN" altLang="en-US" sz="1400" dirty="0">
                <a:latin typeface="+mj-lt"/>
                <a:ea typeface="+mn-ea"/>
                <a:cs typeface="Times New Roman" panose="02020603050405020304" pitchFamily="18" charset="0"/>
              </a:rPr>
              <a:t>，</a:t>
            </a:r>
            <a:r>
              <a:rPr lang="zh-CN" altLang="zh-CN" sz="1400" dirty="0">
                <a:effectLst/>
                <a:latin typeface="+mj-lt"/>
                <a:ea typeface="+mn-ea"/>
                <a:cs typeface="Times New Roman" panose="02020603050405020304" pitchFamily="18" charset="0"/>
              </a:rPr>
              <a:t>使用</a:t>
            </a:r>
            <a:r>
              <a:rPr lang="en-US" altLang="zh-CN" sz="1400" i="1" dirty="0">
                <a:effectLst/>
                <a:latin typeface="+mj-lt"/>
                <a:ea typeface="+mn-ea"/>
              </a:rPr>
              <a:t>plot</a:t>
            </a:r>
            <a:r>
              <a:rPr lang="zh-CN" altLang="zh-CN" sz="1400" dirty="0">
                <a:effectLst/>
                <a:latin typeface="+mj-lt"/>
                <a:ea typeface="+mn-ea"/>
                <a:cs typeface="Times New Roman" panose="02020603050405020304" pitchFamily="18" charset="0"/>
              </a:rPr>
              <a:t>函数对</a:t>
            </a:r>
            <a:r>
              <a:rPr lang="en-US" altLang="zh-CN" sz="1400" dirty="0">
                <a:effectLst/>
                <a:latin typeface="+mj-lt"/>
                <a:ea typeface="+mn-ea"/>
              </a:rPr>
              <a:t>Simple Feature</a:t>
            </a:r>
            <a:r>
              <a:rPr lang="zh-CN" altLang="zh-CN" sz="1400" dirty="0">
                <a:effectLst/>
                <a:latin typeface="+mj-lt"/>
                <a:ea typeface="+mn-ea"/>
                <a:cs typeface="Times New Roman" panose="02020603050405020304" pitchFamily="18" charset="0"/>
              </a:rPr>
              <a:t>进行绘制时，需通过</a:t>
            </a:r>
            <a:r>
              <a:rPr lang="zh-CN" altLang="zh-CN" sz="1400" b="1" dirty="0">
                <a:effectLst/>
                <a:latin typeface="+mj-lt"/>
                <a:ea typeface="+mn-ea"/>
                <a:cs typeface="Times New Roman" panose="02020603050405020304" pitchFamily="18" charset="0"/>
              </a:rPr>
              <a:t>“</a:t>
            </a:r>
            <a:r>
              <a:rPr lang="en-US" altLang="zh-CN" sz="1400" b="1" dirty="0">
                <a:effectLst/>
                <a:latin typeface="+mj-lt"/>
                <a:ea typeface="+mn-ea"/>
              </a:rPr>
              <a:t>$geometry</a:t>
            </a:r>
            <a:r>
              <a:rPr lang="zh-CN" altLang="zh-CN" sz="1400" b="1" dirty="0">
                <a:effectLst/>
                <a:latin typeface="+mj-lt"/>
                <a:ea typeface="+mn-ea"/>
                <a:cs typeface="Times New Roman" panose="02020603050405020304" pitchFamily="18" charset="0"/>
              </a:rPr>
              <a:t>”</a:t>
            </a:r>
            <a:r>
              <a:rPr lang="zh-CN" altLang="zh-CN" sz="1400" dirty="0">
                <a:effectLst/>
                <a:latin typeface="+mj-lt"/>
                <a:ea typeface="+mn-ea"/>
                <a:cs typeface="Times New Roman" panose="02020603050405020304" pitchFamily="18" charset="0"/>
              </a:rPr>
              <a:t>指定对空间属性进行绘制，否则默认会绘制所有属性。</a:t>
            </a:r>
            <a:endParaRPr lang="zh-CN" altLang="en-US" sz="1400" dirty="0">
              <a:latin typeface="+mj-lt"/>
              <a:ea typeface="+mn-ea"/>
            </a:endParaRPr>
          </a:p>
        </p:txBody>
      </p:sp>
    </p:spTree>
    <p:extLst>
      <p:ext uri="{BB962C8B-B14F-4D97-AF65-F5344CB8AC3E}">
        <p14:creationId xmlns:p14="http://schemas.microsoft.com/office/powerpoint/2010/main" val="14134338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81A3-AA86-CD17-B08F-540AD7C333A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EABA2CD-1C07-D742-7146-6F217C18F63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5D742CFF-1E94-FEB9-F6A4-94754E0FF20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52</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6B0823F1-7F08-97A3-1349-BBBBDBF8A36E}"/>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pic>
        <p:nvPicPr>
          <p:cNvPr id="6" name="图片 5">
            <a:extLst>
              <a:ext uri="{FF2B5EF4-FFF2-40B4-BE49-F238E27FC236}">
                <a16:creationId xmlns:a16="http://schemas.microsoft.com/office/drawing/2014/main" id="{34FCF171-5C9B-1CD2-9230-1D50640B4F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190" y="2971800"/>
            <a:ext cx="5274310" cy="1562735"/>
          </a:xfrm>
          <a:prstGeom prst="rect">
            <a:avLst/>
          </a:prstGeom>
        </p:spPr>
      </p:pic>
      <p:pic>
        <p:nvPicPr>
          <p:cNvPr id="9" name="图片 8">
            <a:extLst>
              <a:ext uri="{FF2B5EF4-FFF2-40B4-BE49-F238E27FC236}">
                <a16:creationId xmlns:a16="http://schemas.microsoft.com/office/drawing/2014/main" id="{994A0660-17AA-2D40-FE72-FAEA02C54E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939" t="12999" r="4100" b="14689"/>
          <a:stretch/>
        </p:blipFill>
        <p:spPr bwMode="auto">
          <a:xfrm>
            <a:off x="5510500" y="1717907"/>
            <a:ext cx="3314700" cy="3762375"/>
          </a:xfrm>
          <a:prstGeom prst="rect">
            <a:avLst/>
          </a:prstGeom>
          <a:ln>
            <a:noFill/>
          </a:ln>
          <a:extLst>
            <a:ext uri="{53640926-AAD7-44D8-BBD7-CCE9431645EC}">
              <a14:shadowObscured xmlns:a14="http://schemas.microsoft.com/office/drawing/2010/main"/>
            </a:ext>
          </a:extLst>
        </p:spPr>
      </p:pic>
      <p:sp>
        <p:nvSpPr>
          <p:cNvPr id="10" name="文本框 9">
            <a:extLst>
              <a:ext uri="{FF2B5EF4-FFF2-40B4-BE49-F238E27FC236}">
                <a16:creationId xmlns:a16="http://schemas.microsoft.com/office/drawing/2014/main" id="{FD9290A7-ABBF-CCAE-5C9B-A9C58C9B36F3}"/>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空间点数据导入</a:t>
            </a:r>
            <a:endParaRPr lang="zh-CN" altLang="en-US" sz="1400" dirty="0">
              <a:latin typeface="+mn-ea"/>
              <a:ea typeface="+mn-ea"/>
            </a:endParaRPr>
          </a:p>
        </p:txBody>
      </p:sp>
    </p:spTree>
    <p:extLst>
      <p:ext uri="{BB962C8B-B14F-4D97-AF65-F5344CB8AC3E}">
        <p14:creationId xmlns:p14="http://schemas.microsoft.com/office/powerpoint/2010/main" val="24611373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3241-82D7-21B8-C9F2-F7403DBC220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E06F705-1B85-9BBE-8F25-0DF8A0FDFD2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54F900F8-204F-7F3C-DDF7-F3BE2C9417A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53</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3A691E76-7B9C-7DA6-F059-CFE2422F78A5}"/>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10" name="文本框 9">
            <a:extLst>
              <a:ext uri="{FF2B5EF4-FFF2-40B4-BE49-F238E27FC236}">
                <a16:creationId xmlns:a16="http://schemas.microsoft.com/office/drawing/2014/main" id="{A31E1852-C590-C4CA-67AC-FB95DDFECF81}"/>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a:t>
            </a:r>
            <a:r>
              <a:rPr lang="zh-CN" altLang="en-US" sz="1400" dirty="0">
                <a:effectLst/>
                <a:latin typeface="+mn-ea"/>
                <a:ea typeface="+mn-ea"/>
                <a:cs typeface="Times New Roman" panose="02020603050405020304" pitchFamily="18" charset="0"/>
              </a:rPr>
              <a:t>线</a:t>
            </a:r>
            <a:r>
              <a:rPr lang="zh-CN" altLang="zh-CN" sz="1400" dirty="0">
                <a:effectLst/>
                <a:latin typeface="+mn-ea"/>
                <a:ea typeface="+mn-ea"/>
                <a:cs typeface="Times New Roman" panose="02020603050405020304" pitchFamily="18" charset="0"/>
              </a:rPr>
              <a:t>数据导入</a:t>
            </a:r>
            <a:endParaRPr lang="zh-CN" altLang="en-US" sz="1400" dirty="0">
              <a:latin typeface="+mn-ea"/>
              <a:ea typeface="+mn-ea"/>
            </a:endParaRPr>
          </a:p>
        </p:txBody>
      </p:sp>
      <p:pic>
        <p:nvPicPr>
          <p:cNvPr id="2" name="图片 1">
            <a:extLst>
              <a:ext uri="{FF2B5EF4-FFF2-40B4-BE49-F238E27FC236}">
                <a16:creationId xmlns:a16="http://schemas.microsoft.com/office/drawing/2014/main" id="{193A3EDA-07EE-EC13-4461-BB3057D72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6047"/>
            <a:ext cx="5274310" cy="1525905"/>
          </a:xfrm>
          <a:prstGeom prst="rect">
            <a:avLst/>
          </a:prstGeom>
        </p:spPr>
      </p:pic>
      <p:pic>
        <p:nvPicPr>
          <p:cNvPr id="3" name="图片 2">
            <a:extLst>
              <a:ext uri="{FF2B5EF4-FFF2-40B4-BE49-F238E27FC236}">
                <a16:creationId xmlns:a16="http://schemas.microsoft.com/office/drawing/2014/main" id="{504E6356-F853-E4DE-65B9-6B800A3038C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437" t="13994" r="6657" b="16042"/>
          <a:stretch/>
        </p:blipFill>
        <p:spPr bwMode="auto">
          <a:xfrm>
            <a:off x="5638800" y="1512886"/>
            <a:ext cx="3322911" cy="38322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639902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1AEB-EEE5-C614-7ECD-E27A84DE468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79F356B-D317-C095-8E54-15AE5C3F0BF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3.3.1 </a:t>
            </a:r>
            <a:r>
              <a:rPr lang="zh-CN" altLang="en-US" sz="3600" dirty="0">
                <a:latin typeface="Times New Roman" panose="02020603050405020304" pitchFamily="18" charset="0"/>
                <a:cs typeface="Times New Roman" panose="02020603050405020304" pitchFamily="18" charset="0"/>
              </a:rPr>
              <a:t>矢量数据导入</a:t>
            </a:r>
          </a:p>
        </p:txBody>
      </p:sp>
      <p:sp>
        <p:nvSpPr>
          <p:cNvPr id="8" name="灯片编号占位符 7">
            <a:extLst>
              <a:ext uri="{FF2B5EF4-FFF2-40B4-BE49-F238E27FC236}">
                <a16:creationId xmlns:a16="http://schemas.microsoft.com/office/drawing/2014/main" id="{6576E95F-B391-8E85-090D-06CD295A1967}"/>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54</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77E4AD44-96D2-0DD2-3C11-DE86C354D090}"/>
              </a:ext>
            </a:extLst>
          </p:cNvPr>
          <p:cNvSpPr/>
          <p:nvPr/>
        </p:nvSpPr>
        <p:spPr>
          <a:xfrm>
            <a:off x="319850" y="122014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10" name="文本框 9">
            <a:extLst>
              <a:ext uri="{FF2B5EF4-FFF2-40B4-BE49-F238E27FC236}">
                <a16:creationId xmlns:a16="http://schemas.microsoft.com/office/drawing/2014/main" id="{AFA949E4-6007-353F-1908-0417276BAC03}"/>
              </a:ext>
            </a:extLst>
          </p:cNvPr>
          <p:cNvSpPr txBox="1"/>
          <p:nvPr/>
        </p:nvSpPr>
        <p:spPr>
          <a:xfrm>
            <a:off x="800889" y="5483969"/>
            <a:ext cx="7542222"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a:t>
            </a:r>
            <a:r>
              <a:rPr lang="zh-CN" altLang="en-US" sz="1400" dirty="0">
                <a:latin typeface="+mn-ea"/>
                <a:ea typeface="+mn-ea"/>
                <a:cs typeface="Times New Roman" panose="02020603050405020304" pitchFamily="18" charset="0"/>
              </a:rPr>
              <a:t>面</a:t>
            </a:r>
            <a:r>
              <a:rPr lang="zh-CN" altLang="zh-CN" sz="1400" dirty="0">
                <a:effectLst/>
                <a:latin typeface="+mn-ea"/>
                <a:ea typeface="+mn-ea"/>
                <a:cs typeface="Times New Roman" panose="02020603050405020304" pitchFamily="18" charset="0"/>
              </a:rPr>
              <a:t>数据导入</a:t>
            </a:r>
            <a:endParaRPr lang="zh-CN" altLang="en-US" sz="1400" dirty="0">
              <a:latin typeface="+mn-ea"/>
              <a:ea typeface="+mn-ea"/>
            </a:endParaRPr>
          </a:p>
        </p:txBody>
      </p:sp>
      <p:pic>
        <p:nvPicPr>
          <p:cNvPr id="5" name="图片 4">
            <a:extLst>
              <a:ext uri="{FF2B5EF4-FFF2-40B4-BE49-F238E27FC236}">
                <a16:creationId xmlns:a16="http://schemas.microsoft.com/office/drawing/2014/main" id="{16AFE48B-17A9-9D1A-D1E2-B663AEF69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2871618"/>
            <a:ext cx="5274310" cy="1464945"/>
          </a:xfrm>
          <a:prstGeom prst="rect">
            <a:avLst/>
          </a:prstGeom>
        </p:spPr>
      </p:pic>
      <p:pic>
        <p:nvPicPr>
          <p:cNvPr id="6" name="图片 5">
            <a:extLst>
              <a:ext uri="{FF2B5EF4-FFF2-40B4-BE49-F238E27FC236}">
                <a16:creationId xmlns:a16="http://schemas.microsoft.com/office/drawing/2014/main" id="{CF7FD779-415E-5361-1E0D-F5BF6EE522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270" t="12910" r="5935" b="14236"/>
          <a:stretch/>
        </p:blipFill>
        <p:spPr bwMode="auto">
          <a:xfrm>
            <a:off x="5562600" y="1385887"/>
            <a:ext cx="3524180" cy="40862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87054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5B993-7EDD-B0AE-C021-7048472F98D4}"/>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B382D77-131E-845B-1911-9370DD45B7F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3.3.2 </a:t>
            </a:r>
            <a:r>
              <a:rPr lang="zh-CN" altLang="en-US" sz="3600" dirty="0">
                <a:latin typeface="Times New Roman" panose="02020603050405020304" pitchFamily="18" charset="0"/>
                <a:cs typeface="Times New Roman" panose="02020603050405020304" pitchFamily="18" charset="0"/>
              </a:rPr>
              <a:t>矢量数据导出</a:t>
            </a:r>
          </a:p>
        </p:txBody>
      </p:sp>
      <p:sp>
        <p:nvSpPr>
          <p:cNvPr id="8" name="灯片编号占位符 7">
            <a:extLst>
              <a:ext uri="{FF2B5EF4-FFF2-40B4-BE49-F238E27FC236}">
                <a16:creationId xmlns:a16="http://schemas.microsoft.com/office/drawing/2014/main" id="{9BFD4914-A746-8C9B-435D-C7E41EA29A74}"/>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55</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1601773A-EF9C-AEB8-BADF-7979B6E600D6}"/>
              </a:ext>
            </a:extLst>
          </p:cNvPr>
          <p:cNvSpPr/>
          <p:nvPr/>
        </p:nvSpPr>
        <p:spPr>
          <a:xfrm>
            <a:off x="38100" y="1775377"/>
            <a:ext cx="8839200" cy="3003386"/>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函数包</a:t>
            </a:r>
            <a:r>
              <a:rPr lang="en-US" altLang="zh-CN" sz="1600" b="1" dirty="0" err="1">
                <a:latin typeface="+mj-lt"/>
                <a:ea typeface="+mj-ea"/>
                <a:sym typeface="Consolas" panose="020B0609020204030204" pitchFamily="49" charset="0"/>
              </a:rPr>
              <a:t>maptools</a:t>
            </a:r>
            <a:r>
              <a:rPr lang="zh-CN" altLang="en-US" sz="1600" dirty="0">
                <a:latin typeface="+mj-lt"/>
                <a:ea typeface="+mj-ea"/>
                <a:sym typeface="Consolas" panose="020B0609020204030204" pitchFamily="49" charset="0"/>
              </a:rPr>
              <a:t>提供空间数据导入功能的同时，也提供了对应的空间数据导出工具，即将</a:t>
            </a:r>
            <a:r>
              <a:rPr lang="en-US" altLang="zh-CN" sz="1600" dirty="0">
                <a:latin typeface="+mj-lt"/>
                <a:ea typeface="+mj-ea"/>
                <a:sym typeface="Consolas" panose="020B0609020204030204" pitchFamily="49" charset="0"/>
              </a:rPr>
              <a:t>Spatial*</a:t>
            </a:r>
            <a:r>
              <a:rPr lang="en-US" altLang="zh-CN" sz="1600" dirty="0" err="1">
                <a:latin typeface="+mj-lt"/>
                <a:ea typeface="+mj-ea"/>
                <a:sym typeface="Consolas" panose="020B0609020204030204" pitchFamily="49" charset="0"/>
              </a:rPr>
              <a:t>DataFrame</a:t>
            </a:r>
            <a:r>
              <a:rPr lang="zh-CN" altLang="en-US" sz="1600" dirty="0">
                <a:latin typeface="+mj-lt"/>
                <a:ea typeface="+mj-ea"/>
                <a:sym typeface="Consolas" panose="020B0609020204030204" pitchFamily="49" charset="0"/>
              </a:rPr>
              <a:t>对象重新写出为</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格式的文件，相关函数如下：</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writePointsShape</a:t>
            </a:r>
            <a:r>
              <a:rPr lang="en-US" altLang="zh-CN" sz="1600" b="1" i="1" dirty="0">
                <a:latin typeface="+mj-lt"/>
                <a:ea typeface="+mj-ea"/>
                <a:sym typeface="Consolas" panose="020B0609020204030204" pitchFamily="49" charset="0"/>
              </a:rPr>
              <a:t>(x, </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factor2char, </a:t>
            </a:r>
            <a:r>
              <a:rPr lang="en-US" altLang="zh-CN" sz="1600" b="1" i="1" dirty="0" err="1">
                <a:latin typeface="+mj-lt"/>
                <a:ea typeface="+mj-ea"/>
                <a:sym typeface="Consolas" panose="020B0609020204030204" pitchFamily="49" charset="0"/>
              </a:rPr>
              <a:t>max_nchar</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SpatialPointsDataFrame</a:t>
            </a:r>
            <a:r>
              <a:rPr lang="zh-CN" altLang="en-US" sz="1600" dirty="0">
                <a:latin typeface="+mj-lt"/>
                <a:ea typeface="+mj-ea"/>
                <a:sym typeface="Consolas" panose="020B0609020204030204" pitchFamily="49" charset="0"/>
              </a:rPr>
              <a:t>对象写入</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文件函数；</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writeLinesShape</a:t>
            </a:r>
            <a:r>
              <a:rPr lang="en-US" altLang="zh-CN" sz="1600" b="1" i="1" dirty="0">
                <a:latin typeface="+mj-lt"/>
                <a:ea typeface="+mj-ea"/>
                <a:sym typeface="Consolas" panose="020B0609020204030204" pitchFamily="49" charset="0"/>
              </a:rPr>
              <a:t> (x, </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factor2char, </a:t>
            </a:r>
            <a:r>
              <a:rPr lang="en-US" altLang="zh-CN" sz="1600" b="1" i="1" dirty="0" err="1">
                <a:latin typeface="+mj-lt"/>
                <a:ea typeface="+mj-ea"/>
                <a:sym typeface="Consolas" panose="020B0609020204030204" pitchFamily="49" charset="0"/>
              </a:rPr>
              <a:t>max_nchar</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SpatialLinesDataFrame</a:t>
            </a:r>
            <a:r>
              <a:rPr lang="zh-CN" altLang="en-US" sz="1600" dirty="0">
                <a:latin typeface="+mj-lt"/>
                <a:ea typeface="+mj-ea"/>
                <a:sym typeface="Consolas" panose="020B0609020204030204" pitchFamily="49" charset="0"/>
              </a:rPr>
              <a:t>对象写入</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文件函数；</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writePolyShape</a:t>
            </a:r>
            <a:r>
              <a:rPr lang="en-US" altLang="zh-CN" sz="1600" b="1" i="1" dirty="0">
                <a:latin typeface="+mj-lt"/>
                <a:ea typeface="+mj-ea"/>
                <a:sym typeface="Consolas" panose="020B0609020204030204" pitchFamily="49" charset="0"/>
              </a:rPr>
              <a:t>(x, </a:t>
            </a:r>
            <a:r>
              <a:rPr lang="en-US" altLang="zh-CN" sz="1600" b="1" i="1" dirty="0" err="1">
                <a:latin typeface="+mj-lt"/>
                <a:ea typeface="+mj-ea"/>
                <a:sym typeface="Consolas" panose="020B0609020204030204" pitchFamily="49" charset="0"/>
              </a:rPr>
              <a:t>fn</a:t>
            </a:r>
            <a:r>
              <a:rPr lang="en-US" altLang="zh-CN" sz="1600" b="1" i="1" dirty="0">
                <a:latin typeface="+mj-lt"/>
                <a:ea typeface="+mj-ea"/>
                <a:sym typeface="Consolas" panose="020B0609020204030204" pitchFamily="49" charset="0"/>
              </a:rPr>
              <a:t>, factor2char, </a:t>
            </a:r>
            <a:r>
              <a:rPr lang="en-US" altLang="zh-CN" sz="1600" b="1" i="1" dirty="0" err="1">
                <a:latin typeface="+mj-lt"/>
                <a:ea typeface="+mj-ea"/>
                <a:sym typeface="Consolas" panose="020B0609020204030204" pitchFamily="49" charset="0"/>
              </a:rPr>
              <a:t>max_nchar</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SpatialPolygonsDataFrame</a:t>
            </a:r>
            <a:r>
              <a:rPr lang="zh-CN" altLang="en-US" sz="1600" dirty="0">
                <a:latin typeface="+mj-lt"/>
                <a:ea typeface="+mj-ea"/>
                <a:sym typeface="Consolas" panose="020B0609020204030204" pitchFamily="49" charset="0"/>
              </a:rPr>
              <a:t>对象数据写入</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文件函数</a:t>
            </a:r>
            <a:endParaRPr lang="en-US" altLang="zh-CN" sz="1600" dirty="0">
              <a:latin typeface="+mj-lt"/>
              <a:ea typeface="+mj-ea"/>
              <a:sym typeface="Consolas" panose="020B0609020204030204" pitchFamily="49" charset="0"/>
            </a:endParaRPr>
          </a:p>
        </p:txBody>
      </p:sp>
      <p:sp>
        <p:nvSpPr>
          <p:cNvPr id="3" name="矩形 2">
            <a:extLst>
              <a:ext uri="{FF2B5EF4-FFF2-40B4-BE49-F238E27FC236}">
                <a16:creationId xmlns:a16="http://schemas.microsoft.com/office/drawing/2014/main" id="{43E2982B-FB66-2FDA-CCBE-201C4DF96BA2}"/>
              </a:ext>
            </a:extLst>
          </p:cNvPr>
          <p:cNvSpPr/>
          <p:nvPr/>
        </p:nvSpPr>
        <p:spPr>
          <a:xfrm>
            <a:off x="319850" y="127761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9" name="表格 8">
            <a:extLst>
              <a:ext uri="{FF2B5EF4-FFF2-40B4-BE49-F238E27FC236}">
                <a16:creationId xmlns:a16="http://schemas.microsoft.com/office/drawing/2014/main" id="{93EDDD47-2B59-F889-C03B-BCDF2E9E6141}"/>
              </a:ext>
            </a:extLst>
          </p:cNvPr>
          <p:cNvGraphicFramePr>
            <a:graphicFrameLocks noGrp="1"/>
          </p:cNvGraphicFramePr>
          <p:nvPr>
            <p:extLst>
              <p:ext uri="{D42A27DB-BD31-4B8C-83A1-F6EECF244321}">
                <p14:modId xmlns:p14="http://schemas.microsoft.com/office/powerpoint/2010/main" val="378519052"/>
              </p:ext>
            </p:extLst>
          </p:nvPr>
        </p:nvGraphicFramePr>
        <p:xfrm>
          <a:off x="914400" y="4838708"/>
          <a:ext cx="7277100" cy="169164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3488268813"/>
                    </a:ext>
                  </a:extLst>
                </a:gridCol>
                <a:gridCol w="5295900">
                  <a:extLst>
                    <a:ext uri="{9D8B030D-6E8A-4147-A177-3AD203B41FA5}">
                      <a16:colId xmlns:a16="http://schemas.microsoft.com/office/drawing/2014/main" val="2861954031"/>
                    </a:ext>
                  </a:extLst>
                </a:gridCol>
              </a:tblGrid>
              <a:tr h="370840">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256688576"/>
                  </a:ext>
                </a:extLst>
              </a:tr>
              <a:tr h="370840">
                <a:tc>
                  <a:txBody>
                    <a:bodyPr/>
                    <a:lstStyle/>
                    <a:p>
                      <a:pPr algn="ctr"/>
                      <a:r>
                        <a:rPr lang="en-US" altLang="zh-CN" sz="1600" dirty="0"/>
                        <a:t>x</a:t>
                      </a:r>
                      <a:endParaRPr lang="zh-CN" altLang="en-US" sz="1600" dirty="0"/>
                    </a:p>
                  </a:txBody>
                  <a:tcPr anchor="ctr"/>
                </a:tc>
                <a:tc>
                  <a:txBody>
                    <a:bodyPr/>
                    <a:lstStyle/>
                    <a:p>
                      <a:pPr algn="ctr"/>
                      <a:r>
                        <a:rPr lang="en-US" altLang="zh-CN" sz="1600" dirty="0"/>
                        <a:t>Spatial*</a:t>
                      </a:r>
                      <a:r>
                        <a:rPr lang="en-US" altLang="zh-CN" sz="1600" dirty="0" err="1"/>
                        <a:t>DataFrame</a:t>
                      </a:r>
                      <a:r>
                        <a:rPr lang="zh-CN" altLang="en-US" sz="1600" dirty="0"/>
                        <a:t>对象</a:t>
                      </a:r>
                    </a:p>
                  </a:txBody>
                  <a:tcPr anchor="ctr"/>
                </a:tc>
                <a:extLst>
                  <a:ext uri="{0D108BD9-81ED-4DB2-BD59-A6C34878D82A}">
                    <a16:rowId xmlns:a16="http://schemas.microsoft.com/office/drawing/2014/main" val="1440876489"/>
                  </a:ext>
                </a:extLst>
              </a:tr>
              <a:tr h="370840">
                <a:tc>
                  <a:txBody>
                    <a:bodyPr/>
                    <a:lstStyle/>
                    <a:p>
                      <a:pPr algn="ctr"/>
                      <a:r>
                        <a:rPr lang="en-US" altLang="zh-CN" sz="1600" dirty="0"/>
                        <a:t>factor2char</a:t>
                      </a:r>
                      <a:endParaRPr lang="zh-CN" altLang="en-US" sz="1600" dirty="0"/>
                    </a:p>
                  </a:txBody>
                  <a:tcPr anchor="ctr"/>
                </a:tc>
                <a:tc>
                  <a:txBody>
                    <a:bodyPr/>
                    <a:lstStyle/>
                    <a:p>
                      <a:pPr algn="ctr"/>
                      <a:r>
                        <a:rPr lang="zh-CN" altLang="en-US" sz="1600" dirty="0"/>
                        <a:t>逻辑型参数；若为</a:t>
                      </a:r>
                      <a:r>
                        <a:rPr lang="en-US" altLang="zh-CN" sz="1600" dirty="0"/>
                        <a:t>TRUE</a:t>
                      </a:r>
                      <a:r>
                        <a:rPr lang="zh-CN" altLang="en-US" sz="1600" dirty="0"/>
                        <a:t>，则在写入的</a:t>
                      </a:r>
                      <a:r>
                        <a:rPr lang="en-US" altLang="zh-CN" sz="1600" dirty="0"/>
                        <a:t>shapefile</a:t>
                      </a:r>
                      <a:r>
                        <a:rPr lang="zh-CN" altLang="en-US" sz="1600" dirty="0"/>
                        <a:t>格式数据中将所有</a:t>
                      </a:r>
                      <a:r>
                        <a:rPr lang="en-US" altLang="zh-CN" sz="1600" dirty="0"/>
                        <a:t>factor</a:t>
                      </a:r>
                      <a:r>
                        <a:rPr lang="zh-CN" altLang="en-US" sz="1600" dirty="0"/>
                        <a:t>类型的列强制转化为</a:t>
                      </a:r>
                      <a:r>
                        <a:rPr lang="en-US" altLang="zh-CN" sz="1600" dirty="0"/>
                        <a:t>character</a:t>
                      </a:r>
                      <a:r>
                        <a:rPr lang="zh-CN" altLang="en-US" sz="1600" dirty="0"/>
                        <a:t>类型</a:t>
                      </a:r>
                    </a:p>
                  </a:txBody>
                  <a:tcPr anchor="ctr"/>
                </a:tc>
                <a:extLst>
                  <a:ext uri="{0D108BD9-81ED-4DB2-BD59-A6C34878D82A}">
                    <a16:rowId xmlns:a16="http://schemas.microsoft.com/office/drawing/2014/main" val="3950900700"/>
                  </a:ext>
                </a:extLst>
              </a:tr>
              <a:tr h="370840">
                <a:tc>
                  <a:txBody>
                    <a:bodyPr/>
                    <a:lstStyle/>
                    <a:p>
                      <a:pPr algn="ctr"/>
                      <a:r>
                        <a:rPr lang="en-US" altLang="zh-CN" sz="1600" dirty="0" err="1"/>
                        <a:t>max_nchar</a:t>
                      </a:r>
                      <a:endParaRPr lang="zh-CN" altLang="en-US" sz="1600" dirty="0"/>
                    </a:p>
                  </a:txBody>
                  <a:tcPr anchor="ctr"/>
                </a:tc>
                <a:tc>
                  <a:txBody>
                    <a:bodyPr/>
                    <a:lstStyle/>
                    <a:p>
                      <a:pPr algn="ctr"/>
                      <a:r>
                        <a:rPr lang="zh-CN" altLang="en-US" sz="1600" dirty="0"/>
                        <a:t>在写入属性数据的过程中，所允许的字符串最大长度</a:t>
                      </a:r>
                    </a:p>
                  </a:txBody>
                  <a:tcPr anchor="ctr"/>
                </a:tc>
                <a:extLst>
                  <a:ext uri="{0D108BD9-81ED-4DB2-BD59-A6C34878D82A}">
                    <a16:rowId xmlns:a16="http://schemas.microsoft.com/office/drawing/2014/main" val="3404291713"/>
                  </a:ext>
                </a:extLst>
              </a:tr>
            </a:tbl>
          </a:graphicData>
        </a:graphic>
      </p:graphicFrame>
    </p:spTree>
    <p:extLst>
      <p:ext uri="{BB962C8B-B14F-4D97-AF65-F5344CB8AC3E}">
        <p14:creationId xmlns:p14="http://schemas.microsoft.com/office/powerpoint/2010/main" val="4926221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E20E-ED7F-2FD8-7FB8-9F3957CB893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99C1A31-9C32-E561-F89C-1B9276FCE79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3.3.2 </a:t>
            </a:r>
            <a:r>
              <a:rPr lang="zh-CN" altLang="en-US" sz="3600" dirty="0">
                <a:latin typeface="Times New Roman" panose="02020603050405020304" pitchFamily="18" charset="0"/>
                <a:cs typeface="Times New Roman" panose="02020603050405020304" pitchFamily="18" charset="0"/>
              </a:rPr>
              <a:t>矢量数据导出</a:t>
            </a:r>
          </a:p>
        </p:txBody>
      </p:sp>
      <p:sp>
        <p:nvSpPr>
          <p:cNvPr id="8" name="灯片编号占位符 7">
            <a:extLst>
              <a:ext uri="{FF2B5EF4-FFF2-40B4-BE49-F238E27FC236}">
                <a16:creationId xmlns:a16="http://schemas.microsoft.com/office/drawing/2014/main" id="{21C9A9E0-393D-B339-6328-FDA6DC7A90C2}"/>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56</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AA910F11-82E6-99D8-14CB-FAC4985EBA5E}"/>
              </a:ext>
            </a:extLst>
          </p:cNvPr>
          <p:cNvSpPr/>
          <p:nvPr/>
        </p:nvSpPr>
        <p:spPr>
          <a:xfrm>
            <a:off x="38100" y="2019300"/>
            <a:ext cx="8839200" cy="3372718"/>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针对前面小节中导入的空间数据对象，利用下面代码重新将</a:t>
            </a:r>
            <a:r>
              <a:rPr lang="en-US" altLang="zh-CN" sz="1600" dirty="0">
                <a:latin typeface="+mj-lt"/>
                <a:ea typeface="+mj-ea"/>
                <a:sym typeface="Consolas" panose="020B0609020204030204" pitchFamily="49" charset="0"/>
              </a:rPr>
              <a:t>Spatial*</a:t>
            </a:r>
            <a:r>
              <a:rPr lang="en-US" altLang="zh-CN" sz="1600" dirty="0" err="1">
                <a:latin typeface="+mj-lt"/>
                <a:ea typeface="+mj-ea"/>
                <a:sym typeface="Consolas" panose="020B0609020204030204" pitchFamily="49" charset="0"/>
              </a:rPr>
              <a:t>DataFrame</a:t>
            </a:r>
            <a:r>
              <a:rPr lang="zh-CN" altLang="en-US" sz="1600" dirty="0">
                <a:latin typeface="+mj-lt"/>
                <a:ea typeface="+mj-ea"/>
                <a:sym typeface="Consolas" panose="020B0609020204030204" pitchFamily="49" charset="0"/>
              </a:rPr>
              <a:t>对象写为新的</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文件：</a:t>
            </a: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r>
              <a:rPr lang="zh-CN" altLang="en-US" sz="1600" dirty="0">
                <a:latin typeface="+mj-lt"/>
                <a:ea typeface="+mj-ea"/>
                <a:sym typeface="Consolas" panose="020B0609020204030204" pitchFamily="49" charset="0"/>
              </a:rPr>
              <a:t>在当前的工作目录下，可以找到名称分别为</a:t>
            </a:r>
            <a:r>
              <a:rPr lang="en-US" altLang="zh-CN" sz="1600" dirty="0" err="1">
                <a:latin typeface="+mj-lt"/>
                <a:ea typeface="+mj-ea"/>
                <a:sym typeface="Consolas" panose="020B0609020204030204" pitchFamily="49" charset="0"/>
              </a:rPr>
              <a:t>WHZZQ_sp_w</a:t>
            </a:r>
            <a:r>
              <a:rPr lang="zh-CN" altLang="en-US"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WHRD_sp_w</a:t>
            </a:r>
            <a:r>
              <a:rPr lang="zh-CN" altLang="en-US" sz="1600" dirty="0">
                <a:latin typeface="+mj-lt"/>
                <a:ea typeface="+mj-ea"/>
                <a:sym typeface="Consolas" panose="020B0609020204030204" pitchFamily="49" charset="0"/>
              </a:rPr>
              <a:t>和</a:t>
            </a:r>
            <a:r>
              <a:rPr lang="en-US" altLang="zh-CN" sz="1600" dirty="0" err="1">
                <a:latin typeface="+mj-lt"/>
                <a:ea typeface="+mj-ea"/>
                <a:sym typeface="Consolas" panose="020B0609020204030204" pitchFamily="49" charset="0"/>
              </a:rPr>
              <a:t>WHDistrict_sp_w</a:t>
            </a:r>
            <a:r>
              <a:rPr lang="zh-CN" altLang="en-US" sz="1600" dirty="0">
                <a:latin typeface="+mj-lt"/>
                <a:ea typeface="+mj-ea"/>
                <a:sym typeface="Consolas" panose="020B0609020204030204" pitchFamily="49" charset="0"/>
              </a:rPr>
              <a:t>的数据文件。但是仔细观察这三个数据文件之后，会发现生成的空间数据文件缺少空间参考文件（*</a:t>
            </a:r>
            <a:r>
              <a:rPr lang="en-US" altLang="zh-CN"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prj</a:t>
            </a:r>
            <a:r>
              <a:rPr lang="zh-CN" altLang="en-US" sz="1600" dirty="0">
                <a:latin typeface="+mj-lt"/>
                <a:ea typeface="+mj-ea"/>
                <a:sym typeface="Consolas" panose="020B0609020204030204" pitchFamily="49" charset="0"/>
              </a:rPr>
              <a:t>）。因此，在写入了空间数据之后，需要对数据文件进行重新赋值空间坐标参考系信息。</a:t>
            </a:r>
            <a:endParaRPr lang="en-US" altLang="zh-CN" sz="1600" dirty="0">
              <a:latin typeface="+mj-lt"/>
              <a:ea typeface="+mj-ea"/>
              <a:sym typeface="Consolas" panose="020B0609020204030204" pitchFamily="49" charset="0"/>
            </a:endParaRPr>
          </a:p>
        </p:txBody>
      </p:sp>
      <p:sp>
        <p:nvSpPr>
          <p:cNvPr id="3" name="矩形 2">
            <a:extLst>
              <a:ext uri="{FF2B5EF4-FFF2-40B4-BE49-F238E27FC236}">
                <a16:creationId xmlns:a16="http://schemas.microsoft.com/office/drawing/2014/main" id="{B9C5E4BF-CF0C-9094-B366-F77C5AC541B1}"/>
              </a:ext>
            </a:extLst>
          </p:cNvPr>
          <p:cNvSpPr/>
          <p:nvPr/>
        </p:nvSpPr>
        <p:spPr>
          <a:xfrm>
            <a:off x="319850" y="1521535"/>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(1) Spatial*</a:t>
            </a:r>
            <a:r>
              <a:rPr lang="en-US" altLang="zh-CN" sz="2400" b="1" dirty="0" err="1">
                <a:latin typeface="+mn-lt"/>
                <a:ea typeface="微软雅黑" panose="020B0503020204020204" pitchFamily="34" charset="-122"/>
                <a:cs typeface="+mn-ea"/>
                <a:sym typeface="Consolas" panose="020B0609020204030204" pitchFamily="49" charset="0"/>
              </a:rPr>
              <a:t>DataFrame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4" name="文本框 3">
            <a:extLst>
              <a:ext uri="{FF2B5EF4-FFF2-40B4-BE49-F238E27FC236}">
                <a16:creationId xmlns:a16="http://schemas.microsoft.com/office/drawing/2014/main" id="{4B03F054-9F39-6DCA-2BAB-9990316EA376}"/>
              </a:ext>
            </a:extLst>
          </p:cNvPr>
          <p:cNvSpPr txBox="1"/>
          <p:nvPr/>
        </p:nvSpPr>
        <p:spPr>
          <a:xfrm>
            <a:off x="609600" y="2908848"/>
            <a:ext cx="7341666"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writePointsShape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WHZZQ_sp_w.shp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writeLinesShape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WHRD_sp_w.shp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writePolyShape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WHDistrict_sp_w.shp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23918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6D691-DD58-0D6E-CE01-B498E029F5E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0157CBF-1F44-DD66-F109-312463B482E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3.3.2 </a:t>
            </a:r>
            <a:r>
              <a:rPr lang="zh-CN" altLang="en-US" sz="3600" dirty="0">
                <a:latin typeface="Times New Roman" panose="02020603050405020304" pitchFamily="18" charset="0"/>
                <a:cs typeface="Times New Roman" panose="02020603050405020304" pitchFamily="18" charset="0"/>
              </a:rPr>
              <a:t>矢量数据导出</a:t>
            </a:r>
          </a:p>
        </p:txBody>
      </p:sp>
      <p:sp>
        <p:nvSpPr>
          <p:cNvPr id="8" name="灯片编号占位符 7">
            <a:extLst>
              <a:ext uri="{FF2B5EF4-FFF2-40B4-BE49-F238E27FC236}">
                <a16:creationId xmlns:a16="http://schemas.microsoft.com/office/drawing/2014/main" id="{AD3C3473-17B9-491B-2B67-E49C6195013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57</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047BD38A-BA04-B0E5-8C44-5F8011D0135D}"/>
              </a:ext>
            </a:extLst>
          </p:cNvPr>
          <p:cNvSpPr/>
          <p:nvPr/>
        </p:nvSpPr>
        <p:spPr>
          <a:xfrm>
            <a:off x="38100" y="1775377"/>
            <a:ext cx="8839200" cy="2264723"/>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函数包</a:t>
            </a:r>
            <a:r>
              <a:rPr lang="en-US" altLang="zh-CN" sz="1600" b="1" dirty="0">
                <a:latin typeface="+mj-lt"/>
                <a:ea typeface="+mj-ea"/>
                <a:sym typeface="Consolas" panose="020B0609020204030204" pitchFamily="49" charset="0"/>
              </a:rPr>
              <a:t>sf</a:t>
            </a:r>
            <a:r>
              <a:rPr lang="zh-CN" altLang="en-US" sz="1600" dirty="0">
                <a:latin typeface="+mj-lt"/>
                <a:ea typeface="+mj-ea"/>
                <a:sym typeface="Consolas" panose="020B0609020204030204" pitchFamily="49" charset="0"/>
              </a:rPr>
              <a:t>提供空间数据导入功能的同时，也提供了对应的空间数据导出工具，即将</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对象重新写为</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格式的文件，相关函数如下：</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st_write</a:t>
            </a:r>
            <a:r>
              <a:rPr lang="en-US" altLang="zh-CN" sz="1600" b="1" i="1" dirty="0">
                <a:latin typeface="+mj-lt"/>
                <a:ea typeface="+mj-ea"/>
                <a:sym typeface="Consolas" panose="020B0609020204030204" pitchFamily="49" charset="0"/>
              </a:rPr>
              <a:t>(obj, </a:t>
            </a:r>
            <a:r>
              <a:rPr lang="en-US" altLang="zh-CN" sz="1600" b="1" i="1" dirty="0" err="1">
                <a:latin typeface="+mj-lt"/>
                <a:ea typeface="+mj-ea"/>
                <a:sym typeface="Consolas" panose="020B0609020204030204" pitchFamily="49" charset="0"/>
              </a:rPr>
              <a:t>dsn</a:t>
            </a:r>
            <a:r>
              <a:rPr lang="en-US" altLang="zh-CN" sz="1600" b="1" i="1" dirty="0">
                <a:latin typeface="+mj-lt"/>
                <a:ea typeface="+mj-ea"/>
                <a:sym typeface="Consolas" panose="020B0609020204030204" pitchFamily="49" charset="0"/>
              </a:rPr>
              <a:t>, layer, driver, </a:t>
            </a:r>
            <a:r>
              <a:rPr lang="en-US" altLang="zh-CN" sz="1600" b="1" i="1" dirty="0" err="1">
                <a:latin typeface="+mj-lt"/>
                <a:ea typeface="+mj-ea"/>
                <a:sym typeface="Consolas" panose="020B0609020204030204" pitchFamily="49" charset="0"/>
              </a:rPr>
              <a:t>dataset_options</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layer_options</a:t>
            </a:r>
            <a:r>
              <a:rPr lang="en-US" altLang="zh-CN" sz="1600" b="1" i="1" dirty="0">
                <a:latin typeface="+mj-lt"/>
                <a:ea typeface="+mj-ea"/>
                <a:sym typeface="Consolas" panose="020B0609020204030204" pitchFamily="49" charset="0"/>
              </a:rPr>
              <a:t>, quiet, </a:t>
            </a:r>
            <a:r>
              <a:rPr lang="en-US" altLang="zh-CN" sz="1600" b="1" i="1" dirty="0" err="1">
                <a:latin typeface="+mj-lt"/>
                <a:ea typeface="+mj-ea"/>
                <a:sym typeface="Consolas" panose="020B0609020204030204" pitchFamily="49" charset="0"/>
              </a:rPr>
              <a:t>factorsAsCharacter</a:t>
            </a:r>
            <a:r>
              <a:rPr lang="en-US" altLang="zh-CN" sz="1600" b="1" i="1" dirty="0">
                <a:latin typeface="+mj-lt"/>
                <a:ea typeface="+mj-ea"/>
                <a:sym typeface="Consolas" panose="020B0609020204030204" pitchFamily="49" charset="0"/>
              </a:rPr>
              <a:t>, append, </a:t>
            </a:r>
            <a:r>
              <a:rPr lang="en-US" altLang="zh-CN" sz="1600" b="1" i="1" dirty="0" err="1">
                <a:latin typeface="+mj-lt"/>
                <a:ea typeface="+mj-ea"/>
                <a:sym typeface="Consolas" panose="020B0609020204030204" pitchFamily="49" charset="0"/>
              </a:rPr>
              <a:t>delete_dsn</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delete_layer</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fid_column_name</a:t>
            </a:r>
            <a:r>
              <a:rPr lang="en-US" altLang="zh-CN" sz="1600" b="1" i="1" dirty="0">
                <a:latin typeface="+mj-lt"/>
                <a:ea typeface="+mj-ea"/>
                <a:sym typeface="Consolas" panose="020B0609020204030204" pitchFamily="49" charset="0"/>
              </a:rPr>
              <a:t>, </a:t>
            </a:r>
            <a:r>
              <a:rPr lang="en-US" altLang="zh-CN" sz="1600" b="1" i="1" dirty="0" err="1">
                <a:latin typeface="+mj-lt"/>
                <a:ea typeface="+mj-ea"/>
                <a:sym typeface="Consolas" panose="020B0609020204030204" pitchFamily="49" charset="0"/>
              </a:rPr>
              <a:t>config_options</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：将</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对象写入</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文件</a:t>
            </a:r>
            <a:endParaRPr lang="en-US" altLang="zh-CN" sz="1600" dirty="0">
              <a:latin typeface="+mj-lt"/>
              <a:ea typeface="+mj-ea"/>
              <a:sym typeface="Consolas" panose="020B0609020204030204" pitchFamily="49" charset="0"/>
            </a:endParaRPr>
          </a:p>
          <a:p>
            <a:pPr marL="628650" indent="-342900" algn="just">
              <a:lnSpc>
                <a:spcPct val="150000"/>
              </a:lnSpc>
              <a:buFont typeface="+mj-ea"/>
              <a:buAutoNum type="circleNumDbPlain"/>
            </a:pPr>
            <a:r>
              <a:rPr lang="en-US" altLang="zh-CN" sz="1600" b="1" i="1" dirty="0" err="1">
                <a:latin typeface="+mj-lt"/>
                <a:ea typeface="+mj-ea"/>
                <a:sym typeface="Consolas" panose="020B0609020204030204" pitchFamily="49" charset="0"/>
              </a:rPr>
              <a:t>write_sf</a:t>
            </a:r>
            <a:r>
              <a:rPr lang="en-US" altLang="zh-CN" sz="1600" b="1" i="1" dirty="0">
                <a:latin typeface="+mj-lt"/>
                <a:ea typeface="+mj-ea"/>
                <a:sym typeface="Consolas" panose="020B0609020204030204" pitchFamily="49" charset="0"/>
              </a:rPr>
              <a:t>(obj, </a:t>
            </a:r>
            <a:r>
              <a:rPr lang="en-US" altLang="zh-CN" sz="1600" b="1" i="1" dirty="0" err="1">
                <a:latin typeface="+mj-lt"/>
                <a:ea typeface="+mj-ea"/>
                <a:sym typeface="Consolas" panose="020B0609020204030204" pitchFamily="49" charset="0"/>
              </a:rPr>
              <a:t>dsn</a:t>
            </a:r>
            <a:r>
              <a:rPr lang="en-US" altLang="zh-CN" sz="1600" b="1" i="1" dirty="0">
                <a:latin typeface="+mj-lt"/>
                <a:ea typeface="+mj-ea"/>
                <a:sym typeface="Consolas" panose="020B0609020204030204" pitchFamily="49" charset="0"/>
              </a:rPr>
              <a:t>, layer, quiet, append, </a:t>
            </a:r>
            <a:r>
              <a:rPr lang="en-US" altLang="zh-CN" sz="1600" b="1" i="1" dirty="0" err="1">
                <a:latin typeface="+mj-lt"/>
                <a:ea typeface="+mj-ea"/>
                <a:sym typeface="Consolas" panose="020B0609020204030204" pitchFamily="49" charset="0"/>
              </a:rPr>
              <a:t>delete_layer</a:t>
            </a:r>
            <a:r>
              <a:rPr lang="en-US" altLang="zh-CN" sz="1600" b="1" i="1" dirty="0">
                <a:latin typeface="+mj-lt"/>
                <a:ea typeface="+mj-ea"/>
                <a:sym typeface="Consolas" panose="020B0609020204030204" pitchFamily="49" charset="0"/>
              </a:rPr>
              <a:t>)</a:t>
            </a:r>
            <a:r>
              <a:rPr lang="zh-CN" altLang="en-US" sz="1600" dirty="0">
                <a:latin typeface="+mj-lt"/>
                <a:ea typeface="+mj-ea"/>
                <a:sym typeface="Consolas" panose="020B0609020204030204" pitchFamily="49" charset="0"/>
              </a:rPr>
              <a:t>：将</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对象写入</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文件</a:t>
            </a:r>
            <a:endParaRPr lang="en-US" altLang="zh-CN" sz="1600" dirty="0">
              <a:latin typeface="+mj-lt"/>
              <a:ea typeface="+mj-ea"/>
              <a:sym typeface="Consolas" panose="020B0609020204030204" pitchFamily="49" charset="0"/>
            </a:endParaRPr>
          </a:p>
        </p:txBody>
      </p:sp>
      <p:sp>
        <p:nvSpPr>
          <p:cNvPr id="3" name="矩形 2">
            <a:extLst>
              <a:ext uri="{FF2B5EF4-FFF2-40B4-BE49-F238E27FC236}">
                <a16:creationId xmlns:a16="http://schemas.microsoft.com/office/drawing/2014/main" id="{F59A2892-E4E9-A540-0DC1-A41665E964BE}"/>
              </a:ext>
            </a:extLst>
          </p:cNvPr>
          <p:cNvSpPr/>
          <p:nvPr/>
        </p:nvSpPr>
        <p:spPr>
          <a:xfrm>
            <a:off x="319850" y="127761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9" name="表格 8">
            <a:extLst>
              <a:ext uri="{FF2B5EF4-FFF2-40B4-BE49-F238E27FC236}">
                <a16:creationId xmlns:a16="http://schemas.microsoft.com/office/drawing/2014/main" id="{CEB8DBA2-06D1-1771-9548-DEEB8CBFBC44}"/>
              </a:ext>
            </a:extLst>
          </p:cNvPr>
          <p:cNvGraphicFramePr>
            <a:graphicFrameLocks noGrp="1"/>
          </p:cNvGraphicFramePr>
          <p:nvPr>
            <p:extLst>
              <p:ext uri="{D42A27DB-BD31-4B8C-83A1-F6EECF244321}">
                <p14:modId xmlns:p14="http://schemas.microsoft.com/office/powerpoint/2010/main" val="4220649987"/>
              </p:ext>
            </p:extLst>
          </p:nvPr>
        </p:nvGraphicFramePr>
        <p:xfrm>
          <a:off x="914400" y="4152900"/>
          <a:ext cx="7277100" cy="222504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3488268813"/>
                    </a:ext>
                  </a:extLst>
                </a:gridCol>
                <a:gridCol w="5295900">
                  <a:extLst>
                    <a:ext uri="{9D8B030D-6E8A-4147-A177-3AD203B41FA5}">
                      <a16:colId xmlns:a16="http://schemas.microsoft.com/office/drawing/2014/main" val="2861954031"/>
                    </a:ext>
                  </a:extLst>
                </a:gridCol>
              </a:tblGrid>
              <a:tr h="370840">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256688576"/>
                  </a:ext>
                </a:extLst>
              </a:tr>
              <a:tr h="370840">
                <a:tc>
                  <a:txBody>
                    <a:bodyPr/>
                    <a:lstStyle/>
                    <a:p>
                      <a:pPr algn="ctr"/>
                      <a:r>
                        <a:rPr lang="en-US" altLang="zh-CN" sz="1600" dirty="0"/>
                        <a:t>obj</a:t>
                      </a:r>
                      <a:endParaRPr lang="zh-CN" altLang="en-US" sz="1600" dirty="0"/>
                    </a:p>
                  </a:txBody>
                  <a:tcPr anchor="ctr"/>
                </a:tc>
                <a:tc>
                  <a:txBody>
                    <a:bodyPr/>
                    <a:lstStyle/>
                    <a:p>
                      <a:pPr algn="ctr"/>
                      <a:r>
                        <a:rPr lang="en-US" altLang="zh-CN" sz="1600" dirty="0"/>
                        <a:t>sf</a:t>
                      </a:r>
                      <a:r>
                        <a:rPr lang="zh-CN" altLang="en-US" sz="1600" dirty="0"/>
                        <a:t>对象</a:t>
                      </a:r>
                    </a:p>
                  </a:txBody>
                  <a:tcPr anchor="ctr"/>
                </a:tc>
                <a:extLst>
                  <a:ext uri="{0D108BD9-81ED-4DB2-BD59-A6C34878D82A}">
                    <a16:rowId xmlns:a16="http://schemas.microsoft.com/office/drawing/2014/main" val="1440876489"/>
                  </a:ext>
                </a:extLst>
              </a:tr>
              <a:tr h="370840">
                <a:tc>
                  <a:txBody>
                    <a:bodyPr/>
                    <a:lstStyle/>
                    <a:p>
                      <a:pPr algn="ctr"/>
                      <a:r>
                        <a:rPr lang="en-US" altLang="zh-CN" sz="1600" dirty="0" err="1"/>
                        <a:t>dsn</a:t>
                      </a:r>
                      <a:endParaRPr lang="zh-CN" altLang="en-US" sz="1600" dirty="0"/>
                    </a:p>
                  </a:txBody>
                  <a:tcPr anchor="ctr"/>
                </a:tc>
                <a:tc>
                  <a:txBody>
                    <a:bodyPr/>
                    <a:lstStyle/>
                    <a:p>
                      <a:pPr algn="ctr"/>
                      <a:r>
                        <a:rPr lang="zh-CN" altLang="en-US" sz="1600" dirty="0"/>
                        <a:t>字符串型参数：目标数据源名称</a:t>
                      </a:r>
                    </a:p>
                  </a:txBody>
                  <a:tcPr anchor="ctr"/>
                </a:tc>
                <a:extLst>
                  <a:ext uri="{0D108BD9-81ED-4DB2-BD59-A6C34878D82A}">
                    <a16:rowId xmlns:a16="http://schemas.microsoft.com/office/drawing/2014/main" val="3950900700"/>
                  </a:ext>
                </a:extLst>
              </a:tr>
              <a:tr h="370840">
                <a:tc>
                  <a:txBody>
                    <a:bodyPr/>
                    <a:lstStyle/>
                    <a:p>
                      <a:pPr algn="ctr"/>
                      <a:r>
                        <a:rPr lang="en-US" altLang="zh-CN" sz="1600" dirty="0"/>
                        <a:t>layer</a:t>
                      </a:r>
                      <a:endParaRPr lang="zh-CN" altLang="en-US" sz="1600" dirty="0"/>
                    </a:p>
                  </a:txBody>
                  <a:tcPr anchor="ctr"/>
                </a:tc>
                <a:tc>
                  <a:txBody>
                    <a:bodyPr/>
                    <a:lstStyle/>
                    <a:p>
                      <a:pPr algn="ctr"/>
                      <a:r>
                        <a:rPr lang="zh-CN" altLang="en-US" sz="1600" dirty="0"/>
                        <a:t>字符串型参数：对于文件数据源，指定数据层的名称</a:t>
                      </a:r>
                    </a:p>
                  </a:txBody>
                  <a:tcPr anchor="ctr"/>
                </a:tc>
                <a:extLst>
                  <a:ext uri="{0D108BD9-81ED-4DB2-BD59-A6C34878D82A}">
                    <a16:rowId xmlns:a16="http://schemas.microsoft.com/office/drawing/2014/main" val="3404291713"/>
                  </a:ext>
                </a:extLst>
              </a:tr>
              <a:tr h="370840">
                <a:tc>
                  <a:txBody>
                    <a:bodyPr/>
                    <a:lstStyle/>
                    <a:p>
                      <a:pPr algn="ctr"/>
                      <a:r>
                        <a:rPr lang="en-US" altLang="zh-CN" sz="1600" dirty="0"/>
                        <a:t>driver</a:t>
                      </a:r>
                      <a:endParaRPr lang="zh-CN" altLang="en-US" sz="1600" dirty="0"/>
                    </a:p>
                  </a:txBody>
                  <a:tcPr anchor="ctr"/>
                </a:tc>
                <a:tc>
                  <a:txBody>
                    <a:bodyPr/>
                    <a:lstStyle/>
                    <a:p>
                      <a:pPr algn="ctr"/>
                      <a:r>
                        <a:rPr lang="zh-CN" altLang="en-US" sz="1600" dirty="0"/>
                        <a:t>字符串型参数：指定要使用的驱动程序</a:t>
                      </a:r>
                    </a:p>
                  </a:txBody>
                  <a:tcPr anchor="ctr"/>
                </a:tc>
                <a:extLst>
                  <a:ext uri="{0D108BD9-81ED-4DB2-BD59-A6C34878D82A}">
                    <a16:rowId xmlns:a16="http://schemas.microsoft.com/office/drawing/2014/main" val="523594224"/>
                  </a:ext>
                </a:extLst>
              </a:tr>
              <a:tr h="370840">
                <a:tc>
                  <a:txBody>
                    <a:bodyPr/>
                    <a:lstStyle/>
                    <a:p>
                      <a:pPr algn="ctr"/>
                      <a:r>
                        <a:rPr lang="en-US" altLang="zh-CN" sz="1600" dirty="0" err="1"/>
                        <a:t>dataset_options</a:t>
                      </a:r>
                      <a:endParaRPr lang="zh-CN" altLang="en-US" sz="1600" dirty="0"/>
                    </a:p>
                  </a:txBody>
                  <a:tcPr anchor="ctr"/>
                </a:tc>
                <a:tc>
                  <a:txBody>
                    <a:bodyPr/>
                    <a:lstStyle/>
                    <a:p>
                      <a:pPr algn="ctr"/>
                      <a:r>
                        <a:rPr lang="zh-CN" altLang="en-US" sz="1600" dirty="0"/>
                        <a:t>列表型参数：包含底层写入函数的数据集选项</a:t>
                      </a:r>
                    </a:p>
                  </a:txBody>
                  <a:tcPr anchor="ctr"/>
                </a:tc>
                <a:extLst>
                  <a:ext uri="{0D108BD9-81ED-4DB2-BD59-A6C34878D82A}">
                    <a16:rowId xmlns:a16="http://schemas.microsoft.com/office/drawing/2014/main" val="2870049774"/>
                  </a:ext>
                </a:extLst>
              </a:tr>
            </a:tbl>
          </a:graphicData>
        </a:graphic>
      </p:graphicFrame>
    </p:spTree>
    <p:extLst>
      <p:ext uri="{BB962C8B-B14F-4D97-AF65-F5344CB8AC3E}">
        <p14:creationId xmlns:p14="http://schemas.microsoft.com/office/powerpoint/2010/main" val="21534638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AA656-F7CB-3179-DF22-15BF4916247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7CA84FF-CFE6-1FE5-4FF8-DCF4FA8ACC8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3.3.2 </a:t>
            </a:r>
            <a:r>
              <a:rPr lang="zh-CN" altLang="en-US" sz="3600" dirty="0">
                <a:latin typeface="Times New Roman" panose="02020603050405020304" pitchFamily="18" charset="0"/>
                <a:cs typeface="Times New Roman" panose="02020603050405020304" pitchFamily="18" charset="0"/>
              </a:rPr>
              <a:t>矢量数据导出</a:t>
            </a:r>
          </a:p>
        </p:txBody>
      </p:sp>
      <p:sp>
        <p:nvSpPr>
          <p:cNvPr id="8" name="灯片编号占位符 7">
            <a:extLst>
              <a:ext uri="{FF2B5EF4-FFF2-40B4-BE49-F238E27FC236}">
                <a16:creationId xmlns:a16="http://schemas.microsoft.com/office/drawing/2014/main" id="{D2AE2367-FF13-EB5E-F76E-39CE2423184A}"/>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58</a:t>
            </a:fld>
            <a:endParaRPr lang="zh-CN" altLang="en-US" dirty="0">
              <a:solidFill>
                <a:schemeClr val="bg2">
                  <a:lumMod val="75000"/>
                </a:schemeClr>
              </a:solidFill>
            </a:endParaRPr>
          </a:p>
        </p:txBody>
      </p:sp>
      <p:sp>
        <p:nvSpPr>
          <p:cNvPr id="3" name="矩形 2">
            <a:extLst>
              <a:ext uri="{FF2B5EF4-FFF2-40B4-BE49-F238E27FC236}">
                <a16:creationId xmlns:a16="http://schemas.microsoft.com/office/drawing/2014/main" id="{80B1C076-D49E-1A78-75EB-D63B3394C79A}"/>
              </a:ext>
            </a:extLst>
          </p:cNvPr>
          <p:cNvSpPr/>
          <p:nvPr/>
        </p:nvSpPr>
        <p:spPr>
          <a:xfrm>
            <a:off x="319850" y="1277612"/>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graphicFrame>
        <p:nvGraphicFramePr>
          <p:cNvPr id="9" name="表格 8">
            <a:extLst>
              <a:ext uri="{FF2B5EF4-FFF2-40B4-BE49-F238E27FC236}">
                <a16:creationId xmlns:a16="http://schemas.microsoft.com/office/drawing/2014/main" id="{835D1327-4DD7-3CD1-8C9F-2D5A82228960}"/>
              </a:ext>
            </a:extLst>
          </p:cNvPr>
          <p:cNvGraphicFramePr>
            <a:graphicFrameLocks noGrp="1"/>
          </p:cNvGraphicFramePr>
          <p:nvPr>
            <p:extLst>
              <p:ext uri="{D42A27DB-BD31-4B8C-83A1-F6EECF244321}">
                <p14:modId xmlns:p14="http://schemas.microsoft.com/office/powerpoint/2010/main" val="365394047"/>
              </p:ext>
            </p:extLst>
          </p:nvPr>
        </p:nvGraphicFramePr>
        <p:xfrm>
          <a:off x="914400" y="1943100"/>
          <a:ext cx="7277100" cy="354584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3488268813"/>
                    </a:ext>
                  </a:extLst>
                </a:gridCol>
                <a:gridCol w="5295900">
                  <a:extLst>
                    <a:ext uri="{9D8B030D-6E8A-4147-A177-3AD203B41FA5}">
                      <a16:colId xmlns:a16="http://schemas.microsoft.com/office/drawing/2014/main" val="2861954031"/>
                    </a:ext>
                  </a:extLst>
                </a:gridCol>
              </a:tblGrid>
              <a:tr h="370840">
                <a:tc>
                  <a:txBody>
                    <a:bodyPr/>
                    <a:lstStyle/>
                    <a:p>
                      <a:pPr algn="ctr"/>
                      <a:r>
                        <a:rPr lang="zh-CN" altLang="en-US" sz="1600" dirty="0"/>
                        <a:t>参数</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1256688576"/>
                  </a:ext>
                </a:extLst>
              </a:tr>
              <a:tr h="370840">
                <a:tc>
                  <a:txBody>
                    <a:bodyPr/>
                    <a:lstStyle/>
                    <a:p>
                      <a:pPr algn="ctr"/>
                      <a:r>
                        <a:rPr lang="en-US" altLang="zh-CN" sz="1600" dirty="0" err="1"/>
                        <a:t>layer_options</a:t>
                      </a:r>
                      <a:endParaRPr lang="zh-CN" altLang="en-US" sz="1600" dirty="0"/>
                    </a:p>
                  </a:txBody>
                  <a:tcPr anchor="ctr"/>
                </a:tc>
                <a:tc>
                  <a:txBody>
                    <a:bodyPr/>
                    <a:lstStyle/>
                    <a:p>
                      <a:pPr algn="ctr"/>
                      <a:r>
                        <a:rPr lang="zh-CN" altLang="en-US" sz="1600" dirty="0"/>
                        <a:t>列表型参数：包含底层写入函数的图层选项</a:t>
                      </a:r>
                    </a:p>
                  </a:txBody>
                  <a:tcPr anchor="ctr"/>
                </a:tc>
                <a:extLst>
                  <a:ext uri="{0D108BD9-81ED-4DB2-BD59-A6C34878D82A}">
                    <a16:rowId xmlns:a16="http://schemas.microsoft.com/office/drawing/2014/main" val="1440876489"/>
                  </a:ext>
                </a:extLst>
              </a:tr>
              <a:tr h="370840">
                <a:tc>
                  <a:txBody>
                    <a:bodyPr/>
                    <a:lstStyle/>
                    <a:p>
                      <a:pPr algn="ctr"/>
                      <a:r>
                        <a:rPr lang="en-US" altLang="zh-CN" sz="1600" dirty="0"/>
                        <a:t>quiet</a:t>
                      </a:r>
                      <a:endParaRPr lang="zh-CN" altLang="en-US" sz="1600" dirty="0"/>
                    </a:p>
                  </a:txBody>
                  <a:tcPr anchor="ctr"/>
                </a:tc>
                <a:tc>
                  <a:txBody>
                    <a:bodyPr/>
                    <a:lstStyle/>
                    <a:p>
                      <a:pPr algn="ctr"/>
                      <a:r>
                        <a:rPr lang="zh-CN" altLang="en-US" sz="1600" dirty="0"/>
                        <a:t>逻辑型参数：控制是否在写入数据时显示警告消息，默认为</a:t>
                      </a:r>
                      <a:r>
                        <a:rPr lang="en-US" altLang="zh-CN" sz="1600" dirty="0"/>
                        <a:t>FALSE</a:t>
                      </a:r>
                      <a:endParaRPr lang="zh-CN" altLang="en-US" sz="1600" dirty="0"/>
                    </a:p>
                  </a:txBody>
                  <a:tcPr anchor="ctr"/>
                </a:tc>
                <a:extLst>
                  <a:ext uri="{0D108BD9-81ED-4DB2-BD59-A6C34878D82A}">
                    <a16:rowId xmlns:a16="http://schemas.microsoft.com/office/drawing/2014/main" val="3950900700"/>
                  </a:ext>
                </a:extLst>
              </a:tr>
              <a:tr h="370840">
                <a:tc>
                  <a:txBody>
                    <a:bodyPr/>
                    <a:lstStyle/>
                    <a:p>
                      <a:pPr algn="ctr"/>
                      <a:r>
                        <a:rPr lang="en-US" altLang="zh-CN" sz="1600" dirty="0" err="1"/>
                        <a:t>factorsAsCharacter</a:t>
                      </a:r>
                      <a:endParaRPr lang="zh-CN" altLang="en-US" sz="1600" dirty="0"/>
                    </a:p>
                  </a:txBody>
                  <a:tcPr anchor="ctr"/>
                </a:tc>
                <a:tc>
                  <a:txBody>
                    <a:bodyPr/>
                    <a:lstStyle/>
                    <a:p>
                      <a:pPr algn="ctr"/>
                      <a:r>
                        <a:rPr lang="zh-CN" altLang="en-US" sz="1600" dirty="0"/>
                        <a:t>逻辑型参数：指定是否将</a:t>
                      </a:r>
                      <a:r>
                        <a:rPr lang="en-US" altLang="zh-CN" sz="1600" dirty="0"/>
                        <a:t>factors</a:t>
                      </a:r>
                      <a:r>
                        <a:rPr lang="zh-CN" altLang="en-US" sz="1600" dirty="0"/>
                        <a:t>以字符型形式写入</a:t>
                      </a:r>
                    </a:p>
                  </a:txBody>
                  <a:tcPr anchor="ctr"/>
                </a:tc>
                <a:extLst>
                  <a:ext uri="{0D108BD9-81ED-4DB2-BD59-A6C34878D82A}">
                    <a16:rowId xmlns:a16="http://schemas.microsoft.com/office/drawing/2014/main" val="3404291713"/>
                  </a:ext>
                </a:extLst>
              </a:tr>
              <a:tr h="370840">
                <a:tc>
                  <a:txBody>
                    <a:bodyPr/>
                    <a:lstStyle/>
                    <a:p>
                      <a:pPr algn="ctr"/>
                      <a:r>
                        <a:rPr lang="en-US" altLang="zh-CN" sz="1600" dirty="0"/>
                        <a:t>append</a:t>
                      </a:r>
                      <a:endParaRPr lang="zh-CN" altLang="en-US" sz="1600" dirty="0"/>
                    </a:p>
                  </a:txBody>
                  <a:tcPr anchor="ctr"/>
                </a:tc>
                <a:tc>
                  <a:txBody>
                    <a:bodyPr/>
                    <a:lstStyle/>
                    <a:p>
                      <a:pPr algn="ctr"/>
                      <a:r>
                        <a:rPr lang="zh-CN" altLang="en-US" sz="1600" dirty="0"/>
                        <a:t>逻辑型参数：指定是否将数据追加到现有图层</a:t>
                      </a:r>
                    </a:p>
                  </a:txBody>
                  <a:tcPr anchor="ctr"/>
                </a:tc>
                <a:extLst>
                  <a:ext uri="{0D108BD9-81ED-4DB2-BD59-A6C34878D82A}">
                    <a16:rowId xmlns:a16="http://schemas.microsoft.com/office/drawing/2014/main" val="523594224"/>
                  </a:ext>
                </a:extLst>
              </a:tr>
              <a:tr h="370840">
                <a:tc>
                  <a:txBody>
                    <a:bodyPr/>
                    <a:lstStyle/>
                    <a:p>
                      <a:pPr algn="ctr"/>
                      <a:r>
                        <a:rPr lang="en-US" altLang="zh-CN" sz="1600" dirty="0" err="1"/>
                        <a:t>delete_dsn</a:t>
                      </a:r>
                      <a:endParaRPr lang="zh-CN" altLang="en-US" sz="1600" dirty="0"/>
                    </a:p>
                  </a:txBody>
                  <a:tcPr anchor="ctr"/>
                </a:tc>
                <a:tc>
                  <a:txBody>
                    <a:bodyPr/>
                    <a:lstStyle/>
                    <a:p>
                      <a:pPr algn="ctr"/>
                      <a:r>
                        <a:rPr lang="zh-CN" altLang="en-US" sz="1600" dirty="0"/>
                        <a:t>逻辑型参数：指定是否在写入前删除数据源</a:t>
                      </a:r>
                    </a:p>
                  </a:txBody>
                  <a:tcPr anchor="ctr"/>
                </a:tc>
                <a:extLst>
                  <a:ext uri="{0D108BD9-81ED-4DB2-BD59-A6C34878D82A}">
                    <a16:rowId xmlns:a16="http://schemas.microsoft.com/office/drawing/2014/main" val="2870049774"/>
                  </a:ext>
                </a:extLst>
              </a:tr>
              <a:tr h="370840">
                <a:tc>
                  <a:txBody>
                    <a:bodyPr/>
                    <a:lstStyle/>
                    <a:p>
                      <a:pPr algn="ctr"/>
                      <a:r>
                        <a:rPr lang="en-US" altLang="zh-CN" sz="1600" dirty="0" err="1"/>
                        <a:t>delete_layer</a:t>
                      </a:r>
                      <a:endParaRPr lang="zh-CN" altLang="en-US" sz="1600" dirty="0"/>
                    </a:p>
                  </a:txBody>
                  <a:tcPr anchor="ctr"/>
                </a:tc>
                <a:tc>
                  <a:txBody>
                    <a:bodyPr/>
                    <a:lstStyle/>
                    <a:p>
                      <a:pPr algn="ctr"/>
                      <a:r>
                        <a:rPr lang="zh-CN" altLang="en-US" sz="1600" dirty="0"/>
                        <a:t>逻辑型参数：指定是否在写入前删除图层</a:t>
                      </a:r>
                    </a:p>
                  </a:txBody>
                  <a:tcPr anchor="ctr"/>
                </a:tc>
                <a:extLst>
                  <a:ext uri="{0D108BD9-81ED-4DB2-BD59-A6C34878D82A}">
                    <a16:rowId xmlns:a16="http://schemas.microsoft.com/office/drawing/2014/main" val="3913641114"/>
                  </a:ext>
                </a:extLst>
              </a:tr>
              <a:tr h="370840">
                <a:tc>
                  <a:txBody>
                    <a:bodyPr/>
                    <a:lstStyle/>
                    <a:p>
                      <a:pPr algn="ctr"/>
                      <a:r>
                        <a:rPr lang="en-US" altLang="zh-CN" sz="1600" dirty="0" err="1"/>
                        <a:t>fid_column_name</a:t>
                      </a:r>
                      <a:endParaRPr lang="zh-CN" altLang="en-US" sz="1600" dirty="0"/>
                    </a:p>
                  </a:txBody>
                  <a:tcPr anchor="ctr"/>
                </a:tc>
                <a:tc>
                  <a:txBody>
                    <a:bodyPr/>
                    <a:lstStyle/>
                    <a:p>
                      <a:pPr algn="ctr"/>
                      <a:r>
                        <a:rPr lang="zh-CN" altLang="en-US" sz="1600" dirty="0"/>
                        <a:t>字符型参数：指定要用作</a:t>
                      </a:r>
                      <a:r>
                        <a:rPr lang="en-US" altLang="zh-CN" sz="1600" dirty="0"/>
                        <a:t>Feature ID</a:t>
                      </a:r>
                      <a:r>
                        <a:rPr lang="zh-CN" altLang="en-US" sz="1600" dirty="0"/>
                        <a:t>的列名</a:t>
                      </a:r>
                    </a:p>
                  </a:txBody>
                  <a:tcPr anchor="ctr"/>
                </a:tc>
                <a:extLst>
                  <a:ext uri="{0D108BD9-81ED-4DB2-BD59-A6C34878D82A}">
                    <a16:rowId xmlns:a16="http://schemas.microsoft.com/office/drawing/2014/main" val="2666175418"/>
                  </a:ext>
                </a:extLst>
              </a:tr>
              <a:tr h="370840">
                <a:tc>
                  <a:txBody>
                    <a:bodyPr/>
                    <a:lstStyle/>
                    <a:p>
                      <a:pPr algn="ctr"/>
                      <a:r>
                        <a:rPr lang="en-US" altLang="zh-CN" sz="1600" dirty="0" err="1"/>
                        <a:t>config_options</a:t>
                      </a:r>
                      <a:endParaRPr lang="zh-CN" altLang="en-US" sz="1600" dirty="0"/>
                    </a:p>
                  </a:txBody>
                  <a:tcPr anchor="ctr"/>
                </a:tc>
                <a:tc>
                  <a:txBody>
                    <a:bodyPr/>
                    <a:lstStyle/>
                    <a:p>
                      <a:pPr algn="ctr"/>
                      <a:r>
                        <a:rPr lang="zh-CN" altLang="en-US" sz="1600" dirty="0"/>
                        <a:t>字符型参数：提供其他底层写入函数的配置选项</a:t>
                      </a:r>
                    </a:p>
                  </a:txBody>
                  <a:tcPr anchor="ctr"/>
                </a:tc>
                <a:extLst>
                  <a:ext uri="{0D108BD9-81ED-4DB2-BD59-A6C34878D82A}">
                    <a16:rowId xmlns:a16="http://schemas.microsoft.com/office/drawing/2014/main" val="3548659084"/>
                  </a:ext>
                </a:extLst>
              </a:tr>
            </a:tbl>
          </a:graphicData>
        </a:graphic>
      </p:graphicFrame>
      <p:sp>
        <p:nvSpPr>
          <p:cNvPr id="4" name="文本框 3">
            <a:extLst>
              <a:ext uri="{FF2B5EF4-FFF2-40B4-BE49-F238E27FC236}">
                <a16:creationId xmlns:a16="http://schemas.microsoft.com/office/drawing/2014/main" id="{E148632E-E170-0C49-6C15-E4488609FC39}"/>
              </a:ext>
            </a:extLst>
          </p:cNvPr>
          <p:cNvSpPr txBox="1"/>
          <p:nvPr/>
        </p:nvSpPr>
        <p:spPr>
          <a:xfrm>
            <a:off x="2704341" y="5672954"/>
            <a:ext cx="3735318" cy="307777"/>
          </a:xfrm>
          <a:prstGeom prst="rect">
            <a:avLst/>
          </a:prstGeom>
          <a:noFill/>
        </p:spPr>
        <p:txBody>
          <a:bodyPr wrap="none" rtlCol="0">
            <a:spAutoFit/>
          </a:bodyPr>
          <a:lstStyle/>
          <a:p>
            <a:r>
              <a:rPr lang="zh-CN" altLang="en-US" sz="1400" dirty="0">
                <a:latin typeface="+mj-lt"/>
                <a:ea typeface="+mj-ea"/>
              </a:rPr>
              <a:t>函数包</a:t>
            </a:r>
            <a:r>
              <a:rPr lang="en-US" altLang="zh-CN" sz="1400" b="1" dirty="0">
                <a:latin typeface="+mj-lt"/>
                <a:ea typeface="+mj-ea"/>
              </a:rPr>
              <a:t>sf</a:t>
            </a:r>
            <a:r>
              <a:rPr lang="zh-CN" altLang="en-US" sz="1400" dirty="0">
                <a:latin typeface="+mj-lt"/>
                <a:ea typeface="+mj-ea"/>
              </a:rPr>
              <a:t>中空间数据写入函数参数表（续表）</a:t>
            </a:r>
          </a:p>
        </p:txBody>
      </p:sp>
    </p:spTree>
    <p:extLst>
      <p:ext uri="{BB962C8B-B14F-4D97-AF65-F5344CB8AC3E}">
        <p14:creationId xmlns:p14="http://schemas.microsoft.com/office/powerpoint/2010/main" val="3977496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270C-7165-B5D7-D484-BD9B837729A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BD48714-AEFC-0690-6718-0636BAE22B1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3.3.2 </a:t>
            </a:r>
            <a:r>
              <a:rPr lang="zh-CN" altLang="en-US" sz="3600" dirty="0">
                <a:latin typeface="Times New Roman" panose="02020603050405020304" pitchFamily="18" charset="0"/>
                <a:cs typeface="Times New Roman" panose="02020603050405020304" pitchFamily="18" charset="0"/>
              </a:rPr>
              <a:t>矢量数据导出</a:t>
            </a:r>
          </a:p>
        </p:txBody>
      </p:sp>
      <p:sp>
        <p:nvSpPr>
          <p:cNvPr id="8" name="灯片编号占位符 7">
            <a:extLst>
              <a:ext uri="{FF2B5EF4-FFF2-40B4-BE49-F238E27FC236}">
                <a16:creationId xmlns:a16="http://schemas.microsoft.com/office/drawing/2014/main" id="{6DA57123-44D7-E0C1-E3CA-33ECDAD2F59A}"/>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59</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EE05B5CE-703D-64C2-41FA-A70CA972D204}"/>
              </a:ext>
            </a:extLst>
          </p:cNvPr>
          <p:cNvSpPr/>
          <p:nvPr/>
        </p:nvSpPr>
        <p:spPr>
          <a:xfrm>
            <a:off x="114300" y="2057488"/>
            <a:ext cx="8724900" cy="3742050"/>
          </a:xfrm>
          <a:prstGeom prst="rect">
            <a:avLst/>
          </a:prstGeom>
        </p:spPr>
        <p:txBody>
          <a:bodyPr wrap="square">
            <a:spAutoFit/>
          </a:bodyPr>
          <a:lstStyle/>
          <a:p>
            <a:pPr marL="285750" indent="457200" algn="just">
              <a:lnSpc>
                <a:spcPct val="150000"/>
              </a:lnSpc>
            </a:pPr>
            <a:r>
              <a:rPr lang="zh-CN" altLang="en-US" sz="1600" dirty="0">
                <a:latin typeface="+mj-lt"/>
                <a:ea typeface="+mj-ea"/>
                <a:sym typeface="Consolas" panose="020B0609020204030204" pitchFamily="49" charset="0"/>
              </a:rPr>
              <a:t>针对前面小节中导入的空间数据对象，利用下面代码重新将</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对象写为新的</a:t>
            </a:r>
            <a:r>
              <a:rPr lang="en-US" altLang="zh-CN" sz="1600" dirty="0">
                <a:latin typeface="+mj-lt"/>
                <a:ea typeface="+mj-ea"/>
                <a:sym typeface="Consolas" panose="020B0609020204030204" pitchFamily="49" charset="0"/>
              </a:rPr>
              <a:t>ESRI shapefile</a:t>
            </a:r>
            <a:r>
              <a:rPr lang="zh-CN" altLang="en-US" sz="1600" dirty="0">
                <a:latin typeface="+mj-lt"/>
                <a:ea typeface="+mj-ea"/>
                <a:sym typeface="Consolas" panose="020B0609020204030204" pitchFamily="49" charset="0"/>
              </a:rPr>
              <a:t>文件：</a:t>
            </a: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endParaRPr lang="en-US" altLang="zh-CN" sz="1600" dirty="0">
              <a:latin typeface="+mj-lt"/>
              <a:ea typeface="+mj-ea"/>
              <a:sym typeface="Consolas" panose="020B0609020204030204" pitchFamily="49" charset="0"/>
            </a:endParaRPr>
          </a:p>
          <a:p>
            <a:pPr marL="285750" indent="457200" algn="just">
              <a:lnSpc>
                <a:spcPct val="150000"/>
              </a:lnSpc>
            </a:pPr>
            <a:r>
              <a:rPr lang="zh-CN" altLang="en-US" sz="1600" dirty="0">
                <a:latin typeface="+mj-lt"/>
                <a:ea typeface="+mj-ea"/>
                <a:sym typeface="Consolas" panose="020B0609020204030204" pitchFamily="49" charset="0"/>
              </a:rPr>
              <a:t>在当前工作目录下，可以找到名称分别为</a:t>
            </a:r>
            <a:r>
              <a:rPr lang="en-US" altLang="zh-CN" sz="1600" dirty="0" err="1">
                <a:latin typeface="+mj-lt"/>
                <a:ea typeface="+mj-ea"/>
                <a:sym typeface="Consolas" panose="020B0609020204030204" pitchFamily="49" charset="0"/>
              </a:rPr>
              <a:t>WHZZQ_sf_w</a:t>
            </a:r>
            <a:r>
              <a:rPr lang="zh-CN" altLang="en-US"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WHRD_sf_w</a:t>
            </a:r>
            <a:r>
              <a:rPr lang="zh-CN" altLang="en-US" sz="1600" dirty="0">
                <a:latin typeface="+mj-lt"/>
                <a:ea typeface="+mj-ea"/>
                <a:sym typeface="Consolas" panose="020B0609020204030204" pitchFamily="49" charset="0"/>
              </a:rPr>
              <a:t>和</a:t>
            </a:r>
            <a:r>
              <a:rPr lang="en-US" altLang="zh-CN" sz="1600" dirty="0" err="1">
                <a:latin typeface="+mj-lt"/>
                <a:ea typeface="+mj-ea"/>
                <a:sym typeface="Consolas" panose="020B0609020204030204" pitchFamily="49" charset="0"/>
              </a:rPr>
              <a:t>WHDistrict_sf_w.shp</a:t>
            </a:r>
            <a:r>
              <a:rPr lang="zh-CN" altLang="en-US" sz="1600" dirty="0">
                <a:latin typeface="+mj-lt"/>
                <a:ea typeface="+mj-ea"/>
                <a:sym typeface="Consolas" panose="020B0609020204030204" pitchFamily="49" charset="0"/>
              </a:rPr>
              <a:t>的数据文件。与前面使用</a:t>
            </a:r>
            <a:r>
              <a:rPr lang="en-US" altLang="zh-CN" sz="1600" b="1" dirty="0" err="1">
                <a:latin typeface="+mj-lt"/>
                <a:ea typeface="+mj-ea"/>
                <a:sym typeface="Consolas" panose="020B0609020204030204" pitchFamily="49" charset="0"/>
              </a:rPr>
              <a:t>maptools</a:t>
            </a:r>
            <a:r>
              <a:rPr lang="zh-CN" altLang="en-US" sz="1600" dirty="0">
                <a:latin typeface="+mj-lt"/>
                <a:ea typeface="+mj-ea"/>
                <a:sym typeface="Consolas" panose="020B0609020204030204" pitchFamily="49" charset="0"/>
              </a:rPr>
              <a:t>函数包将</a:t>
            </a:r>
            <a:r>
              <a:rPr lang="en-US" altLang="zh-CN" sz="1600" dirty="0">
                <a:latin typeface="+mj-lt"/>
                <a:ea typeface="+mj-ea"/>
                <a:sym typeface="Consolas" panose="020B0609020204030204" pitchFamily="49" charset="0"/>
              </a:rPr>
              <a:t>Spatial*</a:t>
            </a:r>
            <a:r>
              <a:rPr lang="en-US" altLang="zh-CN" sz="1600" dirty="0" err="1">
                <a:latin typeface="+mj-lt"/>
                <a:ea typeface="+mj-ea"/>
                <a:sym typeface="Consolas" panose="020B0609020204030204" pitchFamily="49" charset="0"/>
              </a:rPr>
              <a:t>DataFrame</a:t>
            </a:r>
            <a:r>
              <a:rPr lang="zh-CN" altLang="en-US" sz="1600" dirty="0">
                <a:latin typeface="+mj-lt"/>
                <a:ea typeface="+mj-ea"/>
                <a:sym typeface="Consolas" panose="020B0609020204030204" pitchFamily="49" charset="0"/>
              </a:rPr>
              <a:t>对象导出为</a:t>
            </a:r>
            <a:r>
              <a:rPr lang="en-US" altLang="zh-CN" sz="1600" dirty="0">
                <a:latin typeface="+mj-lt"/>
                <a:ea typeface="+mj-ea"/>
                <a:sym typeface="Consolas" panose="020B0609020204030204" pitchFamily="49" charset="0"/>
              </a:rPr>
              <a:t>shapefile</a:t>
            </a:r>
            <a:r>
              <a:rPr lang="zh-CN" altLang="en-US" sz="1600" dirty="0">
                <a:latin typeface="+mj-lt"/>
                <a:ea typeface="+mj-ea"/>
                <a:sym typeface="Consolas" panose="020B0609020204030204" pitchFamily="49" charset="0"/>
              </a:rPr>
              <a:t>不同的是，对于</a:t>
            </a:r>
            <a:r>
              <a:rPr lang="en-US" altLang="zh-CN" sz="1600" dirty="0">
                <a:latin typeface="+mj-lt"/>
                <a:ea typeface="+mj-ea"/>
                <a:sym typeface="Consolas" panose="020B0609020204030204" pitchFamily="49" charset="0"/>
              </a:rPr>
              <a:t>Simple Feature</a:t>
            </a:r>
            <a:r>
              <a:rPr lang="zh-CN" altLang="en-US" sz="1600" dirty="0">
                <a:latin typeface="+mj-lt"/>
                <a:ea typeface="+mj-ea"/>
                <a:sym typeface="Consolas" panose="020B0609020204030204" pitchFamily="49" charset="0"/>
              </a:rPr>
              <a:t>对象，运行上述代码得到的导出数据文件是具有空间参考文件（*</a:t>
            </a:r>
            <a:r>
              <a:rPr lang="en-US" altLang="zh-CN" sz="1600" dirty="0">
                <a:latin typeface="+mj-lt"/>
                <a:ea typeface="+mj-ea"/>
                <a:sym typeface="Consolas" panose="020B0609020204030204" pitchFamily="49" charset="0"/>
              </a:rPr>
              <a:t>.</a:t>
            </a:r>
            <a:r>
              <a:rPr lang="en-US" altLang="zh-CN" sz="1600" dirty="0" err="1">
                <a:latin typeface="+mj-lt"/>
                <a:ea typeface="+mj-ea"/>
                <a:sym typeface="Consolas" panose="020B0609020204030204" pitchFamily="49" charset="0"/>
              </a:rPr>
              <a:t>prj</a:t>
            </a:r>
            <a:r>
              <a:rPr lang="zh-CN" altLang="en-US" sz="1600" dirty="0">
                <a:latin typeface="+mj-lt"/>
                <a:ea typeface="+mj-ea"/>
                <a:sym typeface="Consolas" panose="020B0609020204030204" pitchFamily="49" charset="0"/>
              </a:rPr>
              <a:t>）的，且将其导入后可以发现其坐标系属性与原本写入的数据的坐标系属性一致，所以无需再对数据文件重新赋值空间坐标参考系信息。</a:t>
            </a:r>
            <a:endParaRPr lang="en-US" altLang="zh-CN" sz="1600" dirty="0">
              <a:latin typeface="+mj-lt"/>
              <a:ea typeface="+mj-ea"/>
              <a:sym typeface="Consolas" panose="020B0609020204030204" pitchFamily="49" charset="0"/>
            </a:endParaRPr>
          </a:p>
        </p:txBody>
      </p:sp>
      <p:sp>
        <p:nvSpPr>
          <p:cNvPr id="3" name="矩形 2">
            <a:extLst>
              <a:ext uri="{FF2B5EF4-FFF2-40B4-BE49-F238E27FC236}">
                <a16:creationId xmlns:a16="http://schemas.microsoft.com/office/drawing/2014/main" id="{D59A4416-3A40-D69D-D36B-EB6A2791A4C7}"/>
              </a:ext>
            </a:extLst>
          </p:cNvPr>
          <p:cNvSpPr/>
          <p:nvPr/>
        </p:nvSpPr>
        <p:spPr>
          <a:xfrm>
            <a:off x="386525" y="1106175"/>
            <a:ext cx="4175950" cy="497765"/>
          </a:xfrm>
          <a:prstGeom prst="rect">
            <a:avLst/>
          </a:prstGeom>
        </p:spPr>
        <p:txBody>
          <a:bodyPr wrap="square">
            <a:spAutoFit/>
          </a:bodyPr>
          <a:lstStyle/>
          <a:p>
            <a:pPr>
              <a:lnSpc>
                <a:spcPct val="120000"/>
              </a:lnSpc>
            </a:pPr>
            <a:r>
              <a:rPr lang="en-US" altLang="zh-CN" sz="2400" b="1" dirty="0">
                <a:latin typeface="+mn-lt"/>
                <a:ea typeface="微软雅黑" panose="020B0503020204020204" pitchFamily="34" charset="-122"/>
                <a:cs typeface="+mn-ea"/>
                <a:sym typeface="Consolas" panose="020B0609020204030204" pitchFamily="49" charset="0"/>
              </a:rPr>
              <a:t>(2) Simple Feature</a:t>
            </a:r>
            <a:r>
              <a:rPr lang="zh-CN" altLang="en-US" sz="2400" b="1" dirty="0">
                <a:latin typeface="+mn-lt"/>
                <a:ea typeface="微软雅黑" panose="020B0503020204020204" pitchFamily="34" charset="-122"/>
                <a:cs typeface="+mn-ea"/>
                <a:sym typeface="Consolas" panose="020B0609020204030204" pitchFamily="49" charset="0"/>
              </a:rPr>
              <a:t>对象</a:t>
            </a:r>
          </a:p>
        </p:txBody>
      </p:sp>
      <p:sp>
        <p:nvSpPr>
          <p:cNvPr id="4" name="文本框 3">
            <a:extLst>
              <a:ext uri="{FF2B5EF4-FFF2-40B4-BE49-F238E27FC236}">
                <a16:creationId xmlns:a16="http://schemas.microsoft.com/office/drawing/2014/main" id="{CEFF7AA8-2CB3-0FBD-94B1-3A536584D209}"/>
              </a:ext>
            </a:extLst>
          </p:cNvPr>
          <p:cNvSpPr txBox="1"/>
          <p:nvPr/>
        </p:nvSpPr>
        <p:spPr>
          <a:xfrm>
            <a:off x="609600" y="2908848"/>
            <a:ext cx="7341666"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WHZZQ_sf_w.shp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WHRD_sf_w.shp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WHDistrict_sf_w.shp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565916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90306-87EF-2066-C422-6BA5FEDCCCDE}"/>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1E29AE1-F225-5F1D-CDD5-54E0C2E56335}"/>
              </a:ext>
            </a:extLst>
          </p:cNvPr>
          <p:cNvSpPr>
            <a:spLocks noGrp="1"/>
          </p:cNvSpPr>
          <p:nvPr>
            <p:ph type="title"/>
          </p:nvPr>
        </p:nvSpPr>
        <p:spPr>
          <a:xfrm>
            <a:off x="952500" y="433075"/>
            <a:ext cx="6896099" cy="663575"/>
          </a:xfrm>
        </p:spPr>
        <p:txBody>
          <a:bodyPr/>
          <a:lstStyle/>
          <a:p>
            <a:pPr algn="l"/>
            <a:r>
              <a:rPr lang="en-US" altLang="zh-CN" sz="3200" dirty="0">
                <a:latin typeface="Times New Roman" panose="02020603050405020304" pitchFamily="18" charset="0"/>
                <a:cs typeface="Times New Roman" panose="02020603050405020304" pitchFamily="18" charset="0"/>
              </a:rPr>
              <a:t>3.3.3 </a:t>
            </a:r>
            <a:r>
              <a:rPr lang="zh-CN" altLang="en-US" sz="3200" dirty="0">
                <a:latin typeface="Times New Roman" panose="02020603050405020304" pitchFamily="18" charset="0"/>
                <a:cs typeface="Times New Roman" panose="02020603050405020304" pitchFamily="18" charset="0"/>
              </a:rPr>
              <a:t>遥感影像数据导入导出方法</a:t>
            </a:r>
          </a:p>
        </p:txBody>
      </p:sp>
      <p:sp>
        <p:nvSpPr>
          <p:cNvPr id="8" name="灯片编号占位符 7">
            <a:extLst>
              <a:ext uri="{FF2B5EF4-FFF2-40B4-BE49-F238E27FC236}">
                <a16:creationId xmlns:a16="http://schemas.microsoft.com/office/drawing/2014/main" id="{48B3DEDD-FAE0-B4C6-7766-1FEF0D2F0226}"/>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60</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DA59979E-1A60-7E5C-DB4E-639E5B10BAB8}"/>
              </a:ext>
            </a:extLst>
          </p:cNvPr>
          <p:cNvSpPr/>
          <p:nvPr/>
        </p:nvSpPr>
        <p:spPr>
          <a:xfrm>
            <a:off x="-80476" y="1290036"/>
            <a:ext cx="8724900" cy="4480714"/>
          </a:xfrm>
          <a:prstGeom prst="rect">
            <a:avLst/>
          </a:prstGeom>
        </p:spPr>
        <p:txBody>
          <a:bodyPr wrap="square">
            <a:spAutoFit/>
          </a:bodyPr>
          <a:lstStyle/>
          <a:p>
            <a:pPr marL="628650" indent="-342900" algn="just">
              <a:lnSpc>
                <a:spcPct val="150000"/>
              </a:lnSpc>
              <a:buFont typeface="Wingdings" panose="05000000000000000000" pitchFamily="2" charset="2"/>
              <a:buChar char="ü"/>
            </a:pPr>
            <a:r>
              <a:rPr lang="zh-CN" altLang="en-US" sz="1600" b="1" dirty="0">
                <a:latin typeface="+mj-lt"/>
                <a:ea typeface="+mj-ea"/>
                <a:sym typeface="Consolas" panose="020B0609020204030204" pitchFamily="49" charset="0"/>
              </a:rPr>
              <a:t>遥感影像数据</a:t>
            </a:r>
            <a:r>
              <a:rPr lang="zh-CN" altLang="en-US" sz="1600" dirty="0">
                <a:latin typeface="+mj-lt"/>
                <a:ea typeface="+mj-ea"/>
                <a:sym typeface="Consolas" panose="020B0609020204030204" pitchFamily="49" charset="0"/>
              </a:rPr>
              <a:t>在环境监测、土地利用、气候变化研究等领域具有广泛的应用，是一种典型的</a:t>
            </a:r>
            <a:r>
              <a:rPr lang="zh-CN" altLang="en-US" sz="1600" b="1" dirty="0">
                <a:latin typeface="+mj-lt"/>
                <a:ea typeface="+mj-ea"/>
                <a:sym typeface="Consolas" panose="020B0609020204030204" pitchFamily="49" charset="0"/>
              </a:rPr>
              <a:t>栅格数据</a:t>
            </a:r>
            <a:r>
              <a:rPr lang="zh-CN" altLang="en-US" sz="1600" dirty="0">
                <a:latin typeface="+mj-lt"/>
                <a:ea typeface="+mj-ea"/>
                <a:sym typeface="Consolas" panose="020B0609020204030204" pitchFamily="49" charset="0"/>
              </a:rPr>
              <a:t>。</a:t>
            </a: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r>
              <a:rPr lang="zh-CN" altLang="en-US" sz="1600" dirty="0">
                <a:latin typeface="+mj-lt"/>
                <a:ea typeface="+mj-ea"/>
                <a:sym typeface="Consolas" panose="020B0609020204030204" pitchFamily="49" charset="0"/>
              </a:rPr>
              <a:t>使用</a:t>
            </a:r>
            <a:r>
              <a:rPr lang="en-US" altLang="zh-CN" sz="1600" b="1" dirty="0">
                <a:latin typeface="+mj-lt"/>
                <a:ea typeface="+mj-ea"/>
                <a:sym typeface="Consolas" panose="020B0609020204030204" pitchFamily="49" charset="0"/>
              </a:rPr>
              <a:t>terra</a:t>
            </a:r>
            <a:r>
              <a:rPr lang="zh-CN" altLang="en-US" sz="1600" dirty="0">
                <a:latin typeface="+mj-lt"/>
                <a:ea typeface="+mj-ea"/>
                <a:sym typeface="Consolas" panose="020B0609020204030204" pitchFamily="49" charset="0"/>
              </a:rPr>
              <a:t>函数包提供的</a:t>
            </a:r>
            <a:r>
              <a:rPr lang="en-US" altLang="zh-CN" sz="1600" b="1" i="1" dirty="0" err="1">
                <a:latin typeface="+mj-lt"/>
                <a:ea typeface="+mj-ea"/>
                <a:sym typeface="Consolas" panose="020B0609020204030204" pitchFamily="49" charset="0"/>
              </a:rPr>
              <a:t>rast</a:t>
            </a:r>
            <a:r>
              <a:rPr lang="zh-CN" altLang="en-US" sz="1600" dirty="0">
                <a:latin typeface="+mj-lt"/>
                <a:ea typeface="+mj-ea"/>
                <a:sym typeface="Consolas" panose="020B0609020204030204" pitchFamily="49" charset="0"/>
              </a:rPr>
              <a:t>函数</a:t>
            </a:r>
            <a:r>
              <a:rPr lang="zh-CN" altLang="en-US" sz="1600" b="1" dirty="0">
                <a:latin typeface="+mj-lt"/>
                <a:ea typeface="+mj-ea"/>
                <a:sym typeface="Consolas" panose="020B0609020204030204" pitchFamily="49" charset="0"/>
              </a:rPr>
              <a:t>读入</a:t>
            </a:r>
            <a:r>
              <a:rPr lang="zh-CN" altLang="en-US" sz="1600" dirty="0">
                <a:latin typeface="+mj-lt"/>
                <a:ea typeface="+mj-ea"/>
                <a:sym typeface="Consolas" panose="020B0609020204030204" pitchFamily="49" charset="0"/>
              </a:rPr>
              <a:t>遥感影像数据，使用</a:t>
            </a:r>
            <a:r>
              <a:rPr lang="en-US" altLang="zh-CN" sz="1600" b="1" i="1" dirty="0" err="1">
                <a:latin typeface="+mj-lt"/>
                <a:ea typeface="+mj-ea"/>
                <a:sym typeface="Consolas" panose="020B0609020204030204" pitchFamily="49" charset="0"/>
              </a:rPr>
              <a:t>writeRaster</a:t>
            </a:r>
            <a:r>
              <a:rPr lang="zh-CN" altLang="en-US" sz="1600" dirty="0">
                <a:latin typeface="+mj-lt"/>
                <a:ea typeface="+mj-ea"/>
                <a:sym typeface="Consolas" panose="020B0609020204030204" pitchFamily="49" charset="0"/>
              </a:rPr>
              <a:t>函数进将对应的对象</a:t>
            </a:r>
            <a:r>
              <a:rPr lang="zh-CN" altLang="en-US" sz="1600" b="1" dirty="0">
                <a:latin typeface="+mj-lt"/>
                <a:ea typeface="+mj-ea"/>
                <a:sym typeface="Consolas" panose="020B0609020204030204" pitchFamily="49" charset="0"/>
              </a:rPr>
              <a:t>写出</a:t>
            </a:r>
            <a:r>
              <a:rPr lang="zh-CN" altLang="en-US" sz="1600" dirty="0">
                <a:latin typeface="+mj-lt"/>
                <a:ea typeface="+mj-ea"/>
                <a:sym typeface="Consolas" panose="020B0609020204030204" pitchFamily="49" charset="0"/>
              </a:rPr>
              <a:t>为新的影像数据。</a:t>
            </a: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r>
              <a:rPr lang="zh-CN" altLang="en-US" sz="1600" dirty="0">
                <a:latin typeface="+mj-lt"/>
                <a:ea typeface="+mj-ea"/>
                <a:sym typeface="Consolas" panose="020B0609020204030204" pitchFamily="49" charset="0"/>
              </a:rPr>
              <a:t>以本章提供的武汉市局部区域的</a:t>
            </a:r>
            <a:r>
              <a:rPr lang="en-US" altLang="zh-CN" sz="1600" dirty="0">
                <a:latin typeface="+mj-lt"/>
                <a:ea typeface="+mj-ea"/>
                <a:sym typeface="Consolas" panose="020B0609020204030204" pitchFamily="49" charset="0"/>
              </a:rPr>
              <a:t>MODIS</a:t>
            </a:r>
            <a:r>
              <a:rPr lang="zh-CN" altLang="en-US" sz="1600" dirty="0">
                <a:latin typeface="+mj-lt"/>
                <a:ea typeface="+mj-ea"/>
                <a:sym typeface="Consolas" panose="020B0609020204030204" pitchFamily="49" charset="0"/>
              </a:rPr>
              <a:t>遥感影像数据为例，使用</a:t>
            </a:r>
            <a:r>
              <a:rPr lang="en-US" altLang="zh-CN" sz="1600" b="1" i="1" dirty="0" err="1">
                <a:latin typeface="+mj-lt"/>
                <a:ea typeface="+mj-ea"/>
                <a:sym typeface="Consolas" panose="020B0609020204030204" pitchFamily="49" charset="0"/>
              </a:rPr>
              <a:t>rast</a:t>
            </a:r>
            <a:r>
              <a:rPr lang="zh-CN" altLang="en-US" sz="1600" dirty="0">
                <a:latin typeface="+mj-lt"/>
                <a:ea typeface="+mj-ea"/>
                <a:sym typeface="Consolas" panose="020B0609020204030204" pitchFamily="49" charset="0"/>
              </a:rPr>
              <a:t>函数读入影像数据，并分别使用</a:t>
            </a:r>
            <a:r>
              <a:rPr lang="en-US" altLang="zh-CN" sz="1600" b="1" i="1" dirty="0">
                <a:latin typeface="+mj-lt"/>
                <a:ea typeface="+mj-ea"/>
                <a:sym typeface="Consolas" panose="020B0609020204030204" pitchFamily="49" charset="0"/>
              </a:rPr>
              <a:t>res</a:t>
            </a:r>
            <a:r>
              <a:rPr lang="zh-CN" altLang="en-US" sz="1600" dirty="0">
                <a:latin typeface="+mj-lt"/>
                <a:ea typeface="+mj-ea"/>
                <a:sym typeface="Consolas" panose="020B0609020204030204" pitchFamily="49" charset="0"/>
              </a:rPr>
              <a:t>函数和</a:t>
            </a:r>
            <a:r>
              <a:rPr lang="en-US" altLang="zh-CN" sz="1600" b="1" i="1" dirty="0">
                <a:latin typeface="+mj-lt"/>
                <a:ea typeface="+mj-ea"/>
                <a:sym typeface="Consolas" panose="020B0609020204030204" pitchFamily="49" charset="0"/>
              </a:rPr>
              <a:t>names</a:t>
            </a:r>
            <a:r>
              <a:rPr lang="zh-CN" altLang="en-US" sz="1600" dirty="0">
                <a:latin typeface="+mj-lt"/>
                <a:ea typeface="+mj-ea"/>
                <a:sym typeface="Consolas" panose="020B0609020204030204" pitchFamily="49" charset="0"/>
              </a:rPr>
              <a:t>函数查看影像数据的分辨率和波段名称，接着绘制使用第</a:t>
            </a:r>
            <a:r>
              <a:rPr lang="en-US" altLang="zh-CN" sz="1600" dirty="0">
                <a:latin typeface="+mj-lt"/>
                <a:ea typeface="+mj-ea"/>
                <a:sym typeface="Consolas" panose="020B0609020204030204" pitchFamily="49" charset="0"/>
              </a:rPr>
              <a:t>1</a:t>
            </a:r>
            <a:r>
              <a:rPr lang="zh-CN" altLang="en-US" sz="1600" dirty="0">
                <a:latin typeface="+mj-lt"/>
                <a:ea typeface="+mj-ea"/>
                <a:sym typeface="Consolas" panose="020B0609020204030204" pitchFamily="49" charset="0"/>
              </a:rPr>
              <a:t>、</a:t>
            </a:r>
            <a:r>
              <a:rPr lang="en-US" altLang="zh-CN" sz="1600" dirty="0">
                <a:latin typeface="+mj-lt"/>
                <a:ea typeface="+mj-ea"/>
                <a:sym typeface="Consolas" panose="020B0609020204030204" pitchFamily="49" charset="0"/>
              </a:rPr>
              <a:t>4</a:t>
            </a:r>
            <a:r>
              <a:rPr lang="zh-CN" altLang="en-US" sz="1600" dirty="0">
                <a:latin typeface="+mj-lt"/>
                <a:ea typeface="+mj-ea"/>
                <a:sym typeface="Consolas" panose="020B0609020204030204" pitchFamily="49" charset="0"/>
              </a:rPr>
              <a:t>和</a:t>
            </a:r>
            <a:r>
              <a:rPr lang="en-US" altLang="zh-CN" sz="1600" dirty="0">
                <a:latin typeface="+mj-lt"/>
                <a:ea typeface="+mj-ea"/>
                <a:sym typeface="Consolas" panose="020B0609020204030204" pitchFamily="49" charset="0"/>
              </a:rPr>
              <a:t>3</a:t>
            </a:r>
            <a:r>
              <a:rPr lang="zh-CN" altLang="en-US" sz="1600" dirty="0">
                <a:latin typeface="+mj-lt"/>
                <a:ea typeface="+mj-ea"/>
                <a:sym typeface="Consolas" panose="020B0609020204030204" pitchFamily="49" charset="0"/>
              </a:rPr>
              <a:t>波段的</a:t>
            </a:r>
            <a:r>
              <a:rPr lang="en-US" altLang="zh-CN" sz="1600" dirty="0">
                <a:latin typeface="+mj-lt"/>
                <a:ea typeface="+mj-ea"/>
                <a:sym typeface="Consolas" panose="020B0609020204030204" pitchFamily="49" charset="0"/>
              </a:rPr>
              <a:t>RGB</a:t>
            </a:r>
            <a:r>
              <a:rPr lang="zh-CN" altLang="en-US" sz="1600" dirty="0">
                <a:latin typeface="+mj-lt"/>
                <a:ea typeface="+mj-ea"/>
                <a:sym typeface="Consolas" panose="020B0609020204030204" pitchFamily="49" charset="0"/>
              </a:rPr>
              <a:t>图像：</a:t>
            </a: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endParaRPr lang="en-US" altLang="zh-CN" sz="1600" dirty="0">
              <a:latin typeface="+mj-lt"/>
              <a:ea typeface="+mj-ea"/>
              <a:sym typeface="Consolas" panose="020B0609020204030204" pitchFamily="49" charset="0"/>
            </a:endParaRPr>
          </a:p>
          <a:p>
            <a:pPr marL="628650" indent="-342900" algn="just">
              <a:lnSpc>
                <a:spcPct val="150000"/>
              </a:lnSpc>
              <a:buFont typeface="Wingdings" panose="05000000000000000000" pitchFamily="2" charset="2"/>
              <a:buChar char="ü"/>
            </a:pPr>
            <a:r>
              <a:rPr lang="zh-CN" altLang="en-US" sz="1600" dirty="0">
                <a:latin typeface="+mj-lt"/>
                <a:ea typeface="+mj-ea"/>
                <a:sym typeface="Consolas" panose="020B0609020204030204" pitchFamily="49" charset="0"/>
              </a:rPr>
              <a:t>再使用</a:t>
            </a:r>
            <a:r>
              <a:rPr lang="en-US" altLang="zh-CN" sz="1600" b="1" i="1" dirty="0" err="1">
                <a:latin typeface="+mj-lt"/>
                <a:ea typeface="+mj-ea"/>
                <a:sym typeface="Consolas" panose="020B0609020204030204" pitchFamily="49" charset="0"/>
              </a:rPr>
              <a:t>writeRaster</a:t>
            </a:r>
            <a:r>
              <a:rPr lang="zh-CN" altLang="en-US" sz="1600" dirty="0">
                <a:latin typeface="+mj-lt"/>
                <a:ea typeface="+mj-ea"/>
                <a:sym typeface="Consolas" panose="020B0609020204030204" pitchFamily="49" charset="0"/>
              </a:rPr>
              <a:t>将读入的影像导出，代码运行后</a:t>
            </a:r>
            <a:endParaRPr lang="en-US" altLang="zh-CN" sz="1600" dirty="0">
              <a:latin typeface="+mj-lt"/>
              <a:ea typeface="+mj-ea"/>
              <a:sym typeface="Consolas" panose="020B0609020204030204" pitchFamily="49" charset="0"/>
            </a:endParaRPr>
          </a:p>
          <a:p>
            <a:pPr marL="285750" algn="just">
              <a:lnSpc>
                <a:spcPct val="150000"/>
              </a:lnSpc>
            </a:pPr>
            <a:r>
              <a:rPr lang="en-US" altLang="zh-CN" sz="1600" dirty="0">
                <a:latin typeface="+mj-lt"/>
                <a:ea typeface="+mj-ea"/>
                <a:sym typeface="Consolas" panose="020B0609020204030204" pitchFamily="49" charset="0"/>
              </a:rPr>
              <a:t>       </a:t>
            </a:r>
            <a:r>
              <a:rPr lang="zh-CN" altLang="en-US" sz="1600" dirty="0">
                <a:latin typeface="+mj-lt"/>
                <a:ea typeface="+mj-ea"/>
                <a:sym typeface="Consolas" panose="020B0609020204030204" pitchFamily="49" charset="0"/>
              </a:rPr>
              <a:t>可以在当前工作空间看到生成的影像数据：</a:t>
            </a:r>
            <a:endParaRPr lang="en-US" altLang="zh-CN" sz="1600" dirty="0">
              <a:latin typeface="+mj-lt"/>
              <a:ea typeface="+mj-ea"/>
              <a:sym typeface="Consolas" panose="020B0609020204030204" pitchFamily="49" charset="0"/>
            </a:endParaRPr>
          </a:p>
        </p:txBody>
      </p:sp>
      <p:sp>
        <p:nvSpPr>
          <p:cNvPr id="4" name="文本框 3">
            <a:extLst>
              <a:ext uri="{FF2B5EF4-FFF2-40B4-BE49-F238E27FC236}">
                <a16:creationId xmlns:a16="http://schemas.microsoft.com/office/drawing/2014/main" id="{A7C24A26-B3EA-33DE-CB30-A6355CD74023}"/>
              </a:ext>
            </a:extLst>
          </p:cNvPr>
          <p:cNvSpPr txBox="1"/>
          <p:nvPr/>
        </p:nvSpPr>
        <p:spPr>
          <a:xfrm>
            <a:off x="499576" y="3962400"/>
            <a:ext cx="7341666" cy="95410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rast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"MOD09A1.A2019137.h27v05.061.2020294200410.hdf"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res(r)</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names(r)</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plotRGB</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r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stretch=</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lin</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F682C91F-85A7-29C7-FCA6-A68E969408EE}"/>
              </a:ext>
            </a:extLst>
          </p:cNvPr>
          <p:cNvSpPr txBox="1"/>
          <p:nvPr/>
        </p:nvSpPr>
        <p:spPr>
          <a:xfrm>
            <a:off x="499576" y="5754984"/>
            <a:ext cx="7341666"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writeRaster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test_output.tif</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overwrite=</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a:t>
            </a:r>
            <a:endParaRPr lang="zh-CN" altLang="zh-CN" sz="1400" dirty="0">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E55A8ADC-AC9C-7F32-82A6-107EAB7DA2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77000" y="3656844"/>
            <a:ext cx="2414230" cy="241423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830912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C0A8-8E59-64A6-DCA8-9D10CB97E0B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EB01E8F-2F8B-4A7E-251D-ED63B8957CD7}"/>
              </a:ext>
            </a:extLst>
          </p:cNvPr>
          <p:cNvSpPr>
            <a:spLocks noGrp="1"/>
          </p:cNvSpPr>
          <p:nvPr>
            <p:ph type="title"/>
          </p:nvPr>
        </p:nvSpPr>
        <p:spPr>
          <a:xfrm>
            <a:off x="952500" y="433075"/>
            <a:ext cx="6896099" cy="663575"/>
          </a:xfrm>
        </p:spPr>
        <p:txBody>
          <a:bodyPr/>
          <a:lstStyle/>
          <a:p>
            <a:pPr algn="l"/>
            <a:r>
              <a:rPr lang="en-US" altLang="zh-CN" sz="3200" dirty="0">
                <a:latin typeface="Times New Roman" panose="02020603050405020304" pitchFamily="18" charset="0"/>
                <a:cs typeface="Times New Roman" panose="02020603050405020304" pitchFamily="18" charset="0"/>
              </a:rPr>
              <a:t>3.3.4 </a:t>
            </a:r>
            <a:r>
              <a:rPr lang="zh-CN" altLang="en-US" sz="3200" dirty="0">
                <a:latin typeface="Times New Roman" panose="02020603050405020304" pitchFamily="18" charset="0"/>
                <a:cs typeface="Times New Roman" panose="02020603050405020304" pitchFamily="18" charset="0"/>
              </a:rPr>
              <a:t>其它导入导出方法</a:t>
            </a:r>
          </a:p>
        </p:txBody>
      </p:sp>
      <p:sp>
        <p:nvSpPr>
          <p:cNvPr id="8" name="灯片编号占位符 7">
            <a:extLst>
              <a:ext uri="{FF2B5EF4-FFF2-40B4-BE49-F238E27FC236}">
                <a16:creationId xmlns:a16="http://schemas.microsoft.com/office/drawing/2014/main" id="{622D78E9-A00E-0963-B8F4-1376D7606AD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61</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E55C0C11-BC32-F693-F09E-D69091B1F485}"/>
              </a:ext>
            </a:extLst>
          </p:cNvPr>
          <p:cNvSpPr/>
          <p:nvPr/>
        </p:nvSpPr>
        <p:spPr>
          <a:xfrm>
            <a:off x="436011" y="1333500"/>
            <a:ext cx="7929075" cy="2951705"/>
          </a:xfrm>
          <a:prstGeom prst="rect">
            <a:avLst/>
          </a:prstGeom>
        </p:spPr>
        <p:txBody>
          <a:bodyPr wrap="square">
            <a:spAutoFit/>
          </a:bodyPr>
          <a:lstStyle/>
          <a:p>
            <a:pPr marL="628650" indent="-342900" algn="just">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对于其他格式的矢量数据和栅格数据，读者也可以使用函数包</a:t>
            </a:r>
            <a:r>
              <a:rPr lang="en-US" altLang="zh-CN" b="1" dirty="0">
                <a:latin typeface="+mj-lt"/>
                <a:ea typeface="+mj-ea"/>
                <a:sym typeface="Consolas" panose="020B0609020204030204" pitchFamily="49" charset="0"/>
              </a:rPr>
              <a:t>terra</a:t>
            </a:r>
            <a:r>
              <a:rPr lang="zh-CN" altLang="en-US" dirty="0">
                <a:latin typeface="+mj-lt"/>
                <a:ea typeface="+mj-ea"/>
                <a:sym typeface="Consolas" panose="020B0609020204030204" pitchFamily="49" charset="0"/>
              </a:rPr>
              <a:t>中的</a:t>
            </a:r>
            <a:r>
              <a:rPr lang="en-US" altLang="zh-CN" b="1" i="1" dirty="0" err="1">
                <a:latin typeface="+mj-lt"/>
                <a:ea typeface="+mj-ea"/>
                <a:sym typeface="Consolas" panose="020B0609020204030204" pitchFamily="49" charset="0"/>
              </a:rPr>
              <a:t>vect</a:t>
            </a:r>
            <a:r>
              <a:rPr lang="zh-CN" altLang="en-US" dirty="0">
                <a:latin typeface="+mj-lt"/>
                <a:ea typeface="+mj-ea"/>
                <a:sym typeface="Consolas" panose="020B0609020204030204" pitchFamily="49" charset="0"/>
              </a:rPr>
              <a:t>和</a:t>
            </a:r>
            <a:r>
              <a:rPr lang="en-US" altLang="zh-CN" b="1" i="1" dirty="0" err="1">
                <a:latin typeface="+mj-lt"/>
                <a:ea typeface="+mj-ea"/>
                <a:sym typeface="Consolas" panose="020B0609020204030204" pitchFamily="49" charset="0"/>
              </a:rPr>
              <a:t>rast</a:t>
            </a:r>
            <a:r>
              <a:rPr lang="zh-CN" altLang="en-US" dirty="0">
                <a:latin typeface="+mj-lt"/>
                <a:ea typeface="+mj-ea"/>
                <a:sym typeface="Consolas" panose="020B0609020204030204" pitchFamily="49" charset="0"/>
              </a:rPr>
              <a:t>函数，根据具体需求来读取和写入更多格式的矢量数据和栅格数据。</a:t>
            </a:r>
          </a:p>
          <a:p>
            <a:pPr marL="628650" indent="-342900" algn="just">
              <a:lnSpc>
                <a:spcPct val="150000"/>
              </a:lnSpc>
              <a:buFont typeface="Wingdings" panose="05000000000000000000" pitchFamily="2" charset="2"/>
              <a:buChar char="ü"/>
            </a:pPr>
            <a:r>
              <a:rPr lang="zh-CN" altLang="en-US" dirty="0">
                <a:latin typeface="+mj-lt"/>
                <a:ea typeface="+mj-ea"/>
                <a:sym typeface="Consolas" panose="020B0609020204030204" pitchFamily="49" charset="0"/>
              </a:rPr>
              <a:t>此外，</a:t>
            </a:r>
            <a:r>
              <a:rPr lang="en-US" altLang="zh-CN" b="1" dirty="0" err="1">
                <a:latin typeface="+mj-lt"/>
                <a:ea typeface="+mj-ea"/>
                <a:sym typeface="Consolas" panose="020B0609020204030204" pitchFamily="49" charset="0"/>
              </a:rPr>
              <a:t>rgrass</a:t>
            </a:r>
            <a:r>
              <a:rPr lang="zh-CN" altLang="en-US" dirty="0">
                <a:latin typeface="+mj-lt"/>
                <a:ea typeface="+mj-ea"/>
                <a:sym typeface="Consolas" panose="020B0609020204030204" pitchFamily="49" charset="0"/>
              </a:rPr>
              <a:t>包（</a:t>
            </a:r>
            <a:r>
              <a:rPr lang="en-US" altLang="zh-CN" dirty="0">
                <a:latin typeface="+mj-lt"/>
                <a:ea typeface="+mj-ea"/>
                <a:sym typeface="Consolas" panose="020B0609020204030204" pitchFamily="49" charset="0"/>
              </a:rPr>
              <a:t>https://CRAN.R-project.org/package=rgrass</a:t>
            </a:r>
            <a:r>
              <a:rPr lang="zh-CN" altLang="en-US" dirty="0">
                <a:latin typeface="+mj-lt"/>
                <a:ea typeface="+mj-ea"/>
                <a:sym typeface="Consolas" panose="020B0609020204030204" pitchFamily="49" charset="0"/>
              </a:rPr>
              <a:t>）提供了</a:t>
            </a:r>
            <a:r>
              <a:rPr lang="en-US" altLang="zh-CN" b="1" dirty="0">
                <a:latin typeface="+mj-lt"/>
                <a:ea typeface="+mj-ea"/>
                <a:sym typeface="Consolas" panose="020B0609020204030204" pitchFamily="49" charset="0"/>
              </a:rPr>
              <a:t>R</a:t>
            </a:r>
            <a:r>
              <a:rPr lang="zh-CN" altLang="en-US" dirty="0">
                <a:latin typeface="+mj-lt"/>
                <a:ea typeface="+mj-ea"/>
                <a:sym typeface="Consolas" panose="020B0609020204030204" pitchFamily="49" charset="0"/>
              </a:rPr>
              <a:t>与</a:t>
            </a:r>
            <a:r>
              <a:rPr lang="en-US" altLang="zh-CN" dirty="0">
                <a:latin typeface="+mj-lt"/>
                <a:ea typeface="+mj-ea"/>
                <a:sym typeface="Consolas" panose="020B0609020204030204" pitchFamily="49" charset="0"/>
              </a:rPr>
              <a:t>GRASS</a:t>
            </a:r>
            <a:r>
              <a:rPr lang="zh-CN" altLang="en-US" dirty="0">
                <a:latin typeface="+mj-lt"/>
                <a:ea typeface="+mj-ea"/>
                <a:sym typeface="Consolas" panose="020B0609020204030204" pitchFamily="49" charset="0"/>
              </a:rPr>
              <a:t>软件的接口函数和交互界面，使用户能够非常便捷地使用</a:t>
            </a:r>
            <a:r>
              <a:rPr lang="en-US" altLang="zh-CN" dirty="0">
                <a:latin typeface="+mj-lt"/>
                <a:ea typeface="+mj-ea"/>
                <a:sym typeface="Consolas" panose="020B0609020204030204" pitchFamily="49" charset="0"/>
              </a:rPr>
              <a:t>CRASS</a:t>
            </a:r>
            <a:r>
              <a:rPr lang="zh-CN" altLang="en-US" dirty="0">
                <a:latin typeface="+mj-lt"/>
                <a:ea typeface="+mj-ea"/>
                <a:sym typeface="Consolas" panose="020B0609020204030204" pitchFamily="49" charset="0"/>
              </a:rPr>
              <a:t>软件中所提供的空间数据导入导出和处理分析工具函数，可自行查阅资料了解详细使用方法。</a:t>
            </a:r>
          </a:p>
        </p:txBody>
      </p:sp>
    </p:spTree>
    <p:extLst>
      <p:ext uri="{BB962C8B-B14F-4D97-AF65-F5344CB8AC3E}">
        <p14:creationId xmlns:p14="http://schemas.microsoft.com/office/powerpoint/2010/main" val="24823275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A4116-18C0-76F6-C0EB-76B32748795E}"/>
              </a:ext>
            </a:extLst>
          </p:cNvPr>
          <p:cNvSpPr>
            <a:spLocks noGrp="1"/>
          </p:cNvSpPr>
          <p:nvPr>
            <p:ph type="title"/>
          </p:nvPr>
        </p:nvSpPr>
        <p:spPr>
          <a:xfrm>
            <a:off x="971550" y="174625"/>
            <a:ext cx="6896099" cy="663575"/>
          </a:xfrm>
        </p:spPr>
        <p:txBody>
          <a:bodyPr/>
          <a:lstStyle/>
          <a:p>
            <a:r>
              <a:rPr lang="zh-CN" altLang="en-US" dirty="0"/>
              <a:t>参考教材</a:t>
            </a:r>
          </a:p>
        </p:txBody>
      </p:sp>
      <p:sp>
        <p:nvSpPr>
          <p:cNvPr id="4" name="Slide Number Placeholder 3"/>
          <p:cNvSpPr>
            <a:spLocks noGrp="1"/>
          </p:cNvSpPr>
          <p:nvPr>
            <p:ph type="sldNum" sz="quarter" idx="12"/>
          </p:nvPr>
        </p:nvSpPr>
        <p:spPr>
          <a:prstGeom prst="rect">
            <a:avLst/>
          </a:prstGeom>
        </p:spPr>
        <p:txBody>
          <a:bodyPr/>
          <a:lstStyle/>
          <a:p>
            <a:pPr>
              <a:defRPr/>
            </a:pPr>
            <a:fld id="{4169501A-70AB-40D4-B144-E9884F45072F}" type="slidenum">
              <a:rPr lang="zh-CN" altLang="en-US" smtClean="0">
                <a:solidFill>
                  <a:schemeClr val="bg1">
                    <a:lumMod val="65000"/>
                  </a:schemeClr>
                </a:solidFill>
              </a:rPr>
              <a:t>62</a:t>
            </a:fld>
            <a:endParaRPr lang="zh-CN" altLang="en-US" dirty="0">
              <a:solidFill>
                <a:schemeClr val="bg1">
                  <a:lumMod val="65000"/>
                </a:schemeClr>
              </a:solidFill>
            </a:endParaRPr>
          </a:p>
        </p:txBody>
      </p:sp>
      <p:sp>
        <p:nvSpPr>
          <p:cNvPr id="3" name="AutoShape 2" descr="https://wx.qq.com/cgi-bin/mmwebwx-bin/webwxgetmsgimg?&amp;MsgID=1011342995928164582&amp;skey=%40crypt_f86d81c0_f5935c9dae5f61551a58979cad691918"/>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a:extLst>
              <a:ext uri="{FF2B5EF4-FFF2-40B4-BE49-F238E27FC236}">
                <a16:creationId xmlns:a16="http://schemas.microsoft.com/office/drawing/2014/main" id="{FD64FBEF-05A7-A185-BB75-88B38013D5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490" y="1418579"/>
            <a:ext cx="3274810" cy="4601221"/>
          </a:xfrm>
          <a:prstGeom prst="rect">
            <a:avLst/>
          </a:prstGeom>
        </p:spPr>
      </p:pic>
      <p:pic>
        <p:nvPicPr>
          <p:cNvPr id="10" name="图片 9">
            <a:extLst>
              <a:ext uri="{FF2B5EF4-FFF2-40B4-BE49-F238E27FC236}">
                <a16:creationId xmlns:a16="http://schemas.microsoft.com/office/drawing/2014/main" id="{8A4ECE16-AA4B-8A19-EB0D-84744197EEBF}"/>
              </a:ext>
            </a:extLst>
          </p:cNvPr>
          <p:cNvPicPr>
            <a:picLocks noChangeAspect="1"/>
          </p:cNvPicPr>
          <p:nvPr/>
        </p:nvPicPr>
        <p:blipFill>
          <a:blip r:embed="rId3"/>
          <a:stretch>
            <a:fillRect/>
          </a:stretch>
        </p:blipFill>
        <p:spPr>
          <a:xfrm>
            <a:off x="876300" y="1440809"/>
            <a:ext cx="3353787" cy="4578991"/>
          </a:xfrm>
          <a:prstGeom prst="rect">
            <a:avLst/>
          </a:prstGeom>
          <a:ln>
            <a:solidFill>
              <a:srgbClr val="F9FAFC"/>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5390"/>
      </a:accent1>
      <a:accent2>
        <a:srgbClr val="FFC000"/>
      </a:accent2>
      <a:accent3>
        <a:srgbClr val="FFFF00"/>
      </a:accent3>
      <a:accent4>
        <a:srgbClr val="00B050"/>
      </a:accent4>
      <a:accent5>
        <a:srgbClr val="00B0F0"/>
      </a:accent5>
      <a:accent6>
        <a:srgbClr val="0070C0"/>
      </a:accent6>
      <a:hlink>
        <a:srgbClr val="7030A0"/>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836</TotalTime>
  <Words>7009</Words>
  <Application>Microsoft Office PowerPoint</Application>
  <PresentationFormat>全屏显示(4:3)</PresentationFormat>
  <Paragraphs>668</Paragraphs>
  <Slides>62</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62</vt:i4>
      </vt:variant>
    </vt:vector>
  </HeadingPairs>
  <TitlesOfParts>
    <vt:vector size="70" baseType="lpstr">
      <vt:lpstr>宋体</vt:lpstr>
      <vt:lpstr>微软雅黑</vt:lpstr>
      <vt:lpstr>Arial</vt:lpstr>
      <vt:lpstr>Calibri</vt:lpstr>
      <vt:lpstr>Consolas</vt:lpstr>
      <vt:lpstr>Times New Roman</vt:lpstr>
      <vt:lpstr>Wingdings</vt:lpstr>
      <vt:lpstr>Office 主题​​</vt:lpstr>
      <vt:lpstr>第三章 R语言空间数据处理</vt:lpstr>
      <vt:lpstr>目录</vt:lpstr>
      <vt:lpstr>3.1 章节R函数包准备</vt:lpstr>
      <vt:lpstr>3.2 R中空间数据基本类型</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3.2.1 Spatial对象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3.2.2 Simple Feature对象</vt:lpstr>
      <vt:lpstr>3.2.3 Simple Feature数据对象与data.frame数据的相互转化</vt:lpstr>
      <vt:lpstr>3.2.4 Simple Feature数据对象与Spatial数据的相互转换</vt:lpstr>
      <vt:lpstr>3.2.4 Simple Feature数据对象与Spatial数据的相互转换</vt:lpstr>
      <vt:lpstr>3.3 空间数据导入导出</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3.3.1 矢量数据导入</vt:lpstr>
      <vt:lpstr>3.3.2 矢量数据导出</vt:lpstr>
      <vt:lpstr>3.3.2 矢量数据导出</vt:lpstr>
      <vt:lpstr>3.3.2 矢量数据导出</vt:lpstr>
      <vt:lpstr>3.3.2 矢量数据导出</vt:lpstr>
      <vt:lpstr>3.3.2 矢量数据导出</vt:lpstr>
      <vt:lpstr>3.3.3 遥感影像数据导入导出方法</vt:lpstr>
      <vt:lpstr>3.3.4 其它导入导出方法</vt:lpstr>
      <vt:lpstr>参考教材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Binbin Lu</cp:lastModifiedBy>
  <cp:revision>473</cp:revision>
  <dcterms:created xsi:type="dcterms:W3CDTF">2019-05-21T17:53:00Z</dcterms:created>
  <dcterms:modified xsi:type="dcterms:W3CDTF">2025-04-07T02:13:58Z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2BF106B6094D49028DE9D54E62957DB2_12</vt:lpwstr>
  </property>
</Properties>
</file>