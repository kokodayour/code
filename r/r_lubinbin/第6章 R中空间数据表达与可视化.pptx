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44" r:id="rId1"/>
  </p:sldMasterIdLst>
  <p:notesMasterIdLst>
    <p:notesMasterId r:id="rId54"/>
  </p:notesMasterIdLst>
  <p:sldIdLst>
    <p:sldId id="256" r:id="rId2"/>
    <p:sldId id="600" r:id="rId3"/>
    <p:sldId id="305" r:id="rId4"/>
    <p:sldId id="625" r:id="rId5"/>
    <p:sldId id="272" r:id="rId6"/>
    <p:sldId id="338" r:id="rId7"/>
    <p:sldId id="633" r:id="rId8"/>
    <p:sldId id="634" r:id="rId9"/>
    <p:sldId id="635" r:id="rId10"/>
    <p:sldId id="636" r:id="rId11"/>
    <p:sldId id="637" r:id="rId12"/>
    <p:sldId id="639" r:id="rId13"/>
    <p:sldId id="638" r:id="rId14"/>
    <p:sldId id="339" r:id="rId15"/>
    <p:sldId id="649" r:id="rId16"/>
    <p:sldId id="650" r:id="rId17"/>
    <p:sldId id="651" r:id="rId18"/>
    <p:sldId id="652" r:id="rId19"/>
    <p:sldId id="341" r:id="rId20"/>
    <p:sldId id="342" r:id="rId21"/>
    <p:sldId id="377" r:id="rId22"/>
    <p:sldId id="343" r:id="rId23"/>
    <p:sldId id="653" r:id="rId24"/>
    <p:sldId id="654" r:id="rId25"/>
    <p:sldId id="655" r:id="rId26"/>
    <p:sldId id="642" r:id="rId27"/>
    <p:sldId id="656" r:id="rId28"/>
    <p:sldId id="643" r:id="rId29"/>
    <p:sldId id="644" r:id="rId30"/>
    <p:sldId id="657" r:id="rId31"/>
    <p:sldId id="658" r:id="rId32"/>
    <p:sldId id="659" r:id="rId33"/>
    <p:sldId id="646" r:id="rId34"/>
    <p:sldId id="660" r:id="rId35"/>
    <p:sldId id="661" r:id="rId36"/>
    <p:sldId id="344" r:id="rId37"/>
    <p:sldId id="345" r:id="rId38"/>
    <p:sldId id="648" r:id="rId39"/>
    <p:sldId id="662" r:id="rId40"/>
    <p:sldId id="663" r:id="rId41"/>
    <p:sldId id="664" r:id="rId42"/>
    <p:sldId id="665" r:id="rId43"/>
    <p:sldId id="666" r:id="rId44"/>
    <p:sldId id="667" r:id="rId45"/>
    <p:sldId id="668" r:id="rId46"/>
    <p:sldId id="669" r:id="rId47"/>
    <p:sldId id="670" r:id="rId48"/>
    <p:sldId id="671" r:id="rId49"/>
    <p:sldId id="672" r:id="rId50"/>
    <p:sldId id="673" r:id="rId51"/>
    <p:sldId id="674" r:id="rId52"/>
    <p:sldId id="624" r:id="rId53"/>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90204" pitchFamily="34" charset="0"/>
        <a:ea typeface="SimSun"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SimSun"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SimSun"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SimSun"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SimSun" panose="02010600030101010101" pitchFamily="2" charset="-122"/>
        <a:cs typeface="+mn-cs"/>
      </a:defRPr>
    </a:lvl9pPr>
  </p:defaultTextStyle>
  <p:extLst>
    <p:ext uri="{EFAFB233-063F-42B5-8137-9DF3F51BA10A}">
      <p15:sldGuideLst xmlns:p15="http://schemas.microsoft.com/office/powerpoint/2012/main">
        <p15:guide id="1" orient="horz" pos="2424" userDrawn="1">
          <p15:clr>
            <a:srgbClr val="A4A3A4"/>
          </p15:clr>
        </p15:guide>
        <p15:guide id="2" pos="2880" userDrawn="1">
          <p15:clr>
            <a:srgbClr val="A4A3A4"/>
          </p15:clr>
        </p15:guide>
        <p15:guide id="3" orient="horz" pos="24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2C0"/>
    <a:srgbClr val="160A02"/>
    <a:srgbClr val="F13B09"/>
    <a:srgbClr val="F75529"/>
    <a:srgbClr val="170401"/>
    <a:srgbClr val="170A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2" autoAdjust="0"/>
    <p:restoredTop sz="92947" autoAdjust="0"/>
  </p:normalViewPr>
  <p:slideViewPr>
    <p:cSldViewPr showGuides="1">
      <p:cViewPr varScale="1">
        <p:scale>
          <a:sx n="73" d="100"/>
          <a:sy n="73" d="100"/>
        </p:scale>
        <p:origin x="1339" y="67"/>
      </p:cViewPr>
      <p:guideLst>
        <p:guide orient="horz" pos="2424"/>
        <p:guide pos="2880"/>
        <p:guide orient="horz" pos="2496"/>
      </p:guideLst>
    </p:cSldViewPr>
  </p:slideViewPr>
  <p:notesTextViewPr>
    <p:cViewPr>
      <p:scale>
        <a:sx n="3" d="2"/>
        <a:sy n="3" d="2"/>
      </p:scale>
      <p:origin x="0" y="0"/>
    </p:cViewPr>
  </p:notesText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panose="020B0604020202090204" pitchFamily="34" charset="0"/>
                <a:ea typeface="SimSun"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atin typeface="Arial" panose="020B0604020202090204" pitchFamily="34" charset="0"/>
                <a:ea typeface="SimSun" panose="02010600030101010101" pitchFamily="2" charset="-122"/>
              </a:defRPr>
            </a:lvl1pPr>
          </a:lstStyle>
          <a:p>
            <a:pPr>
              <a:defRPr/>
            </a:pPr>
            <a:fld id="{0128E977-6F5A-48DB-ACA7-C6E15821CB3C}" type="datetimeFigureOut">
              <a:rPr lang="zh-CN" altLang="en-US"/>
              <a:t>2025-03-28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panose="020B0604020202090204" pitchFamily="34" charset="0"/>
                <a:ea typeface="SimSun"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a:latin typeface="Arial" panose="020B0604020202090204" pitchFamily="34" charset="0"/>
                <a:ea typeface="SimSun" panose="02010600030101010101" pitchFamily="2" charset="-122"/>
              </a:defRPr>
            </a:lvl1pPr>
          </a:lstStyle>
          <a:p>
            <a:pPr>
              <a:defRPr/>
            </a:pPr>
            <a:fld id="{5F5AD7FC-C08A-4786-B2D8-ABE422D63548}" type="slidenum">
              <a:rPr lang="zh-CN" altLang="en-US"/>
              <a:t>‹#›</a:t>
            </a:fld>
            <a:endParaRPr lang="zh-CN" altLang="en-US"/>
          </a:p>
        </p:txBody>
      </p:sp>
    </p:spTree>
    <p:extLst>
      <p:ext uri="{BB962C8B-B14F-4D97-AF65-F5344CB8AC3E}">
        <p14:creationId xmlns:p14="http://schemas.microsoft.com/office/powerpoint/2010/main" val="230392970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0"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1"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90204" pitchFamily="34" charset="0"/>
                <a:ea typeface="SimSun" panose="02010600030101010101" pitchFamily="2" charset="-122"/>
              </a:defRPr>
            </a:lvl1pPr>
            <a:lvl2pPr marL="742950" indent="-285750">
              <a:defRPr>
                <a:solidFill>
                  <a:schemeClr val="tx1"/>
                </a:solidFill>
                <a:latin typeface="Arial" panose="020B0604020202090204" pitchFamily="34" charset="0"/>
                <a:ea typeface="SimSun" panose="02010600030101010101" pitchFamily="2" charset="-122"/>
              </a:defRPr>
            </a:lvl2pPr>
            <a:lvl3pPr marL="1143000" indent="-228600">
              <a:defRPr>
                <a:solidFill>
                  <a:schemeClr val="tx1"/>
                </a:solidFill>
                <a:latin typeface="Arial" panose="020B0604020202090204" pitchFamily="34" charset="0"/>
                <a:ea typeface="SimSun" panose="02010600030101010101" pitchFamily="2" charset="-122"/>
              </a:defRPr>
            </a:lvl3pPr>
            <a:lvl4pPr marL="1600200" indent="-228600">
              <a:defRPr>
                <a:solidFill>
                  <a:schemeClr val="tx1"/>
                </a:solidFill>
                <a:latin typeface="Arial" panose="020B0604020202090204" pitchFamily="34" charset="0"/>
                <a:ea typeface="SimSun" panose="02010600030101010101" pitchFamily="2" charset="-122"/>
              </a:defRPr>
            </a:lvl4pPr>
            <a:lvl5pPr marL="2057400" indent="-228600">
              <a:defRPr>
                <a:solidFill>
                  <a:schemeClr val="tx1"/>
                </a:solidFill>
                <a:latin typeface="Arial" panose="020B060402020209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SimSun" panose="02010600030101010101" pitchFamily="2" charset="-122"/>
              </a:defRPr>
            </a:lvl9pPr>
          </a:lstStyle>
          <a:p>
            <a:fld id="{7C8FC65C-FC7A-4192-9B2D-44DFEE13D478}" type="slidenum">
              <a:rPr lang="zh-CN" altLang="en-US" smtClean="0"/>
              <a:t>2</a:t>
            </a:fld>
            <a:endParaRPr lang="zh-CN" altLang="en-US"/>
          </a:p>
        </p:txBody>
      </p:sp>
    </p:spTree>
    <p:extLst>
      <p:ext uri="{BB962C8B-B14F-4D97-AF65-F5344CB8AC3E}">
        <p14:creationId xmlns:p14="http://schemas.microsoft.com/office/powerpoint/2010/main" val="4212506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F5AD7FC-C08A-4786-B2D8-ABE422D63548}" type="slidenum">
              <a:rPr lang="zh-CN" altLang="en-US" smtClean="0"/>
              <a:t>5</a:t>
            </a:fld>
            <a:endParaRPr lang="zh-CN" altLang="en-US"/>
          </a:p>
        </p:txBody>
      </p:sp>
    </p:spTree>
    <p:extLst>
      <p:ext uri="{BB962C8B-B14F-4D97-AF65-F5344CB8AC3E}">
        <p14:creationId xmlns:p14="http://schemas.microsoft.com/office/powerpoint/2010/main" val="24353305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2F0A89FB-593C-81BD-55D0-A82B4CB959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57956"/>
            <a:ext cx="9144000" cy="2932680"/>
          </a:xfrm>
          <a:prstGeom prst="rect">
            <a:avLst/>
          </a:prstGeom>
        </p:spPr>
      </p:pic>
      <p:sp>
        <p:nvSpPr>
          <p:cNvPr id="8" name="标题 1">
            <a:extLst>
              <a:ext uri="{FF2B5EF4-FFF2-40B4-BE49-F238E27FC236}">
                <a16:creationId xmlns:a16="http://schemas.microsoft.com/office/drawing/2014/main" id="{913F092A-EFDC-4DE6-84EB-CB60B1EDC55D}"/>
              </a:ext>
            </a:extLst>
          </p:cNvPr>
          <p:cNvSpPr>
            <a:spLocks noGrp="1"/>
          </p:cNvSpPr>
          <p:nvPr>
            <p:ph type="ctrTitle"/>
          </p:nvPr>
        </p:nvSpPr>
        <p:spPr>
          <a:xfrm>
            <a:off x="692934" y="3924304"/>
            <a:ext cx="7772400" cy="746125"/>
          </a:xfrm>
          <a:prstGeom prst="rect">
            <a:avLst/>
          </a:prstGeom>
        </p:spPr>
        <p:txBody>
          <a:bodyPr/>
          <a:lstStyle/>
          <a:p>
            <a:r>
              <a:rPr lang="zh-CN" altLang="en-US" dirty="0"/>
              <a:t>单击此处编辑母版标题样式</a:t>
            </a:r>
          </a:p>
        </p:txBody>
      </p:sp>
      <p:sp>
        <p:nvSpPr>
          <p:cNvPr id="9" name="副标题 2">
            <a:extLst>
              <a:ext uri="{FF2B5EF4-FFF2-40B4-BE49-F238E27FC236}">
                <a16:creationId xmlns:a16="http://schemas.microsoft.com/office/drawing/2014/main" id="{89C440B6-3220-4311-9F86-3443F1FF79C4}"/>
              </a:ext>
            </a:extLst>
          </p:cNvPr>
          <p:cNvSpPr>
            <a:spLocks noGrp="1"/>
          </p:cNvSpPr>
          <p:nvPr>
            <p:ph type="subTitle" idx="1"/>
          </p:nvPr>
        </p:nvSpPr>
        <p:spPr>
          <a:xfrm>
            <a:off x="1371600" y="4914904"/>
            <a:ext cx="6400800" cy="746125"/>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10" name="任意形状 36">
            <a:extLst>
              <a:ext uri="{FF2B5EF4-FFF2-40B4-BE49-F238E27FC236}">
                <a16:creationId xmlns:a16="http://schemas.microsoft.com/office/drawing/2014/main" id="{9B58EC41-36DC-3EEA-96CB-327F7764887F}"/>
              </a:ext>
            </a:extLst>
          </p:cNvPr>
          <p:cNvSpPr/>
          <p:nvPr userDrawn="1"/>
        </p:nvSpPr>
        <p:spPr>
          <a:xfrm>
            <a:off x="-138132" y="-147919"/>
            <a:ext cx="9434532" cy="3238555"/>
          </a:xfrm>
          <a:custGeom>
            <a:avLst/>
            <a:gdLst>
              <a:gd name="connsiteX0" fmla="*/ 0 w 12192000"/>
              <a:gd name="connsiteY0" fmla="*/ 0 h 3632200"/>
              <a:gd name="connsiteX1" fmla="*/ 12192000 w 12192000"/>
              <a:gd name="connsiteY1" fmla="*/ 0 h 3632200"/>
              <a:gd name="connsiteX2" fmla="*/ 12192000 w 12192000"/>
              <a:gd name="connsiteY2" fmla="*/ 2602097 h 3632200"/>
              <a:gd name="connsiteX3" fmla="*/ 11858362 w 12192000"/>
              <a:gd name="connsiteY3" fmla="*/ 2747371 h 3632200"/>
              <a:gd name="connsiteX4" fmla="*/ 6859519 w 12192000"/>
              <a:gd name="connsiteY4" fmla="*/ 3619648 h 3632200"/>
              <a:gd name="connsiteX5" fmla="*/ 6096062 w 12192000"/>
              <a:gd name="connsiteY5" fmla="*/ 3632200 h 3632200"/>
              <a:gd name="connsiteX6" fmla="*/ 6095939 w 12192000"/>
              <a:gd name="connsiteY6" fmla="*/ 3632200 h 3632200"/>
              <a:gd name="connsiteX7" fmla="*/ 5332482 w 12192000"/>
              <a:gd name="connsiteY7" fmla="*/ 3619648 h 3632200"/>
              <a:gd name="connsiteX8" fmla="*/ 333638 w 12192000"/>
              <a:gd name="connsiteY8" fmla="*/ 2747371 h 3632200"/>
              <a:gd name="connsiteX9" fmla="*/ 0 w 12192000"/>
              <a:gd name="connsiteY9" fmla="*/ 2602097 h 363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
        <p:nvSpPr>
          <p:cNvPr id="11" name="矩形 10">
            <a:extLst>
              <a:ext uri="{FF2B5EF4-FFF2-40B4-BE49-F238E27FC236}">
                <a16:creationId xmlns:a16="http://schemas.microsoft.com/office/drawing/2014/main" id="{9A6C73B8-91CA-E2D8-C89D-1045D88BBE24}"/>
              </a:ext>
            </a:extLst>
          </p:cNvPr>
          <p:cNvSpPr/>
          <p:nvPr userDrawn="1"/>
        </p:nvSpPr>
        <p:spPr>
          <a:xfrm>
            <a:off x="0" y="0"/>
            <a:ext cx="9144000" cy="163286"/>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grpSp>
        <p:nvGrpSpPr>
          <p:cNvPr id="12" name="组合 11">
            <a:extLst>
              <a:ext uri="{FF2B5EF4-FFF2-40B4-BE49-F238E27FC236}">
                <a16:creationId xmlns:a16="http://schemas.microsoft.com/office/drawing/2014/main" id="{4AF7BD33-D339-FED3-E938-DFC775A43460}"/>
              </a:ext>
            </a:extLst>
          </p:cNvPr>
          <p:cNvGrpSpPr/>
          <p:nvPr userDrawn="1"/>
        </p:nvGrpSpPr>
        <p:grpSpPr>
          <a:xfrm>
            <a:off x="3962400" y="2400300"/>
            <a:ext cx="1219200" cy="1231468"/>
            <a:chOff x="6678206" y="3208602"/>
            <a:chExt cx="1219200" cy="1231468"/>
          </a:xfrm>
        </p:grpSpPr>
        <p:sp>
          <p:nvSpPr>
            <p:cNvPr id="13" name="椭圆 12">
              <a:extLst>
                <a:ext uri="{FF2B5EF4-FFF2-40B4-BE49-F238E27FC236}">
                  <a16:creationId xmlns:a16="http://schemas.microsoft.com/office/drawing/2014/main" id="{69D816A8-52B4-C382-04D1-0C524CB4C0DA}"/>
                </a:ext>
              </a:extLst>
            </p:cNvPr>
            <p:cNvSpPr/>
            <p:nvPr/>
          </p:nvSpPr>
          <p:spPr>
            <a:xfrm>
              <a:off x="6683774" y="3226438"/>
              <a:ext cx="1213632" cy="12136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grpSp>
          <p:nvGrpSpPr>
            <p:cNvPr id="14" name="íšḻîďê">
              <a:extLst>
                <a:ext uri="{FF2B5EF4-FFF2-40B4-BE49-F238E27FC236}">
                  <a16:creationId xmlns:a16="http://schemas.microsoft.com/office/drawing/2014/main" id="{E865EB75-FB69-65B1-A809-6A63C26D3C27}"/>
                </a:ext>
              </a:extLst>
            </p:cNvPr>
            <p:cNvGrpSpPr/>
            <p:nvPr/>
          </p:nvGrpSpPr>
          <p:grpSpPr>
            <a:xfrm>
              <a:off x="6678206" y="3208602"/>
              <a:ext cx="1219200" cy="1227234"/>
              <a:chOff x="3551238" y="3067050"/>
              <a:chExt cx="722313" cy="727075"/>
            </a:xfrm>
          </p:grpSpPr>
          <p:sp>
            <p:nvSpPr>
              <p:cNvPr id="15" name="ïş1íḍê">
                <a:extLst>
                  <a:ext uri="{FF2B5EF4-FFF2-40B4-BE49-F238E27FC236}">
                    <a16:creationId xmlns:a16="http://schemas.microsoft.com/office/drawing/2014/main" id="{48516D43-1B31-169E-A445-F90A62B27F3F}"/>
                  </a:ext>
                </a:extLst>
              </p:cNvPr>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6" name="íšḻïḍè">
                <a:extLst>
                  <a:ext uri="{FF2B5EF4-FFF2-40B4-BE49-F238E27FC236}">
                    <a16:creationId xmlns:a16="http://schemas.microsoft.com/office/drawing/2014/main" id="{F093FA78-F584-AB44-BB6D-5AA796B19D91}"/>
                  </a:ext>
                </a:extLst>
              </p:cNvPr>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sz="1800"/>
              </a:p>
            </p:txBody>
          </p:sp>
          <p:sp>
            <p:nvSpPr>
              <p:cNvPr id="17" name="ïśľíḓé">
                <a:extLst>
                  <a:ext uri="{FF2B5EF4-FFF2-40B4-BE49-F238E27FC236}">
                    <a16:creationId xmlns:a16="http://schemas.microsoft.com/office/drawing/2014/main" id="{77914929-C8B8-0707-417D-7C51C135D3D3}"/>
                  </a:ext>
                </a:extLst>
              </p:cNvPr>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8" name="ïslíḍê">
                <a:extLst>
                  <a:ext uri="{FF2B5EF4-FFF2-40B4-BE49-F238E27FC236}">
                    <a16:creationId xmlns:a16="http://schemas.microsoft.com/office/drawing/2014/main" id="{7A8C8979-6137-B683-AD42-93A739F0EDE7}"/>
                  </a:ext>
                </a:extLst>
              </p:cNvPr>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9" name="íṡļïdê">
                <a:extLst>
                  <a:ext uri="{FF2B5EF4-FFF2-40B4-BE49-F238E27FC236}">
                    <a16:creationId xmlns:a16="http://schemas.microsoft.com/office/drawing/2014/main" id="{CC949717-4DE8-296A-ED3F-6753CAB653C3}"/>
                  </a:ext>
                </a:extLst>
              </p:cNvPr>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0" name="iş1ïďe">
                <a:extLst>
                  <a:ext uri="{FF2B5EF4-FFF2-40B4-BE49-F238E27FC236}">
                    <a16:creationId xmlns:a16="http://schemas.microsoft.com/office/drawing/2014/main" id="{F8013DD8-327B-72DA-FD30-7951BA9E5CDF}"/>
                  </a:ext>
                </a:extLst>
              </p:cNvPr>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1" name="ïṩḷíḍé">
                <a:extLst>
                  <a:ext uri="{FF2B5EF4-FFF2-40B4-BE49-F238E27FC236}">
                    <a16:creationId xmlns:a16="http://schemas.microsoft.com/office/drawing/2014/main" id="{839B6BC9-4974-D96C-8AFB-F11B31B9D4DB}"/>
                  </a:ext>
                </a:extLst>
              </p:cNvPr>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2" name="ïśľíḍè">
                <a:extLst>
                  <a:ext uri="{FF2B5EF4-FFF2-40B4-BE49-F238E27FC236}">
                    <a16:creationId xmlns:a16="http://schemas.microsoft.com/office/drawing/2014/main" id="{39D433D9-CD57-C6CC-93AD-096AD17C47D5}"/>
                  </a:ext>
                </a:extLst>
              </p:cNvPr>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3" name="í$ḻîḋè">
                <a:extLst>
                  <a:ext uri="{FF2B5EF4-FFF2-40B4-BE49-F238E27FC236}">
                    <a16:creationId xmlns:a16="http://schemas.microsoft.com/office/drawing/2014/main" id="{E289636E-1C8F-0EAC-BB7B-3C0C31F1469C}"/>
                  </a:ext>
                </a:extLst>
              </p:cNvPr>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4" name="iṣļíḋe">
                <a:extLst>
                  <a:ext uri="{FF2B5EF4-FFF2-40B4-BE49-F238E27FC236}">
                    <a16:creationId xmlns:a16="http://schemas.microsoft.com/office/drawing/2014/main" id="{3AEC6FB3-F0C6-A1FC-DC1B-BFE2C7E0E55A}"/>
                  </a:ext>
                </a:extLst>
              </p:cNvPr>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5" name="iṩḷiḓé">
                <a:extLst>
                  <a:ext uri="{FF2B5EF4-FFF2-40B4-BE49-F238E27FC236}">
                    <a16:creationId xmlns:a16="http://schemas.microsoft.com/office/drawing/2014/main" id="{C771E4B2-FEC1-E908-0409-F6069302BDFC}"/>
                  </a:ext>
                </a:extLst>
              </p:cNvPr>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6" name="iSľiḍè">
                <a:extLst>
                  <a:ext uri="{FF2B5EF4-FFF2-40B4-BE49-F238E27FC236}">
                    <a16:creationId xmlns:a16="http://schemas.microsoft.com/office/drawing/2014/main" id="{25C2F9DC-17D5-030A-7F29-C19B31D55C4E}"/>
                  </a:ext>
                </a:extLst>
              </p:cNvPr>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7" name="ïṩḷîḍe">
                <a:extLst>
                  <a:ext uri="{FF2B5EF4-FFF2-40B4-BE49-F238E27FC236}">
                    <a16:creationId xmlns:a16="http://schemas.microsoft.com/office/drawing/2014/main" id="{F12CC7AB-A9BB-A75C-6B3C-3E5EC24DB833}"/>
                  </a:ext>
                </a:extLst>
              </p:cNvPr>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8" name="íšḻiḑê">
                <a:extLst>
                  <a:ext uri="{FF2B5EF4-FFF2-40B4-BE49-F238E27FC236}">
                    <a16:creationId xmlns:a16="http://schemas.microsoft.com/office/drawing/2014/main" id="{DE117C0A-C976-E55C-F697-59395AB9CC4C}"/>
                  </a:ext>
                </a:extLst>
              </p:cNvPr>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29" name="ïṩļïďè">
                <a:extLst>
                  <a:ext uri="{FF2B5EF4-FFF2-40B4-BE49-F238E27FC236}">
                    <a16:creationId xmlns:a16="http://schemas.microsoft.com/office/drawing/2014/main" id="{43DC201E-AED4-5AA8-D5A3-1D6063DC45D1}"/>
                  </a:ext>
                </a:extLst>
              </p:cNvPr>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0" name="îṥlïḋê">
                <a:extLst>
                  <a:ext uri="{FF2B5EF4-FFF2-40B4-BE49-F238E27FC236}">
                    <a16:creationId xmlns:a16="http://schemas.microsoft.com/office/drawing/2014/main" id="{A6D10718-F9E7-363B-C1A9-CC3BE84A2444}"/>
                  </a:ext>
                </a:extLst>
              </p:cNvPr>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1" name="îṧľïdè">
                <a:extLst>
                  <a:ext uri="{FF2B5EF4-FFF2-40B4-BE49-F238E27FC236}">
                    <a16:creationId xmlns:a16="http://schemas.microsoft.com/office/drawing/2014/main" id="{9BBC25D6-E642-E3C1-F566-7E8D707BC4EE}"/>
                  </a:ext>
                </a:extLst>
              </p:cNvPr>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2" name="iSḷîḓê">
                <a:extLst>
                  <a:ext uri="{FF2B5EF4-FFF2-40B4-BE49-F238E27FC236}">
                    <a16:creationId xmlns:a16="http://schemas.microsoft.com/office/drawing/2014/main" id="{121E9446-ECF9-7865-EBDA-F96ED5466554}"/>
                  </a:ext>
                </a:extLst>
              </p:cNvPr>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3" name="îślíďè">
                <a:extLst>
                  <a:ext uri="{FF2B5EF4-FFF2-40B4-BE49-F238E27FC236}">
                    <a16:creationId xmlns:a16="http://schemas.microsoft.com/office/drawing/2014/main" id="{5E5AA51B-7355-F90F-2958-CB31995A3041}"/>
                  </a:ext>
                </a:extLst>
              </p:cNvPr>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4" name="iSḻïḍè">
                <a:extLst>
                  <a:ext uri="{FF2B5EF4-FFF2-40B4-BE49-F238E27FC236}">
                    <a16:creationId xmlns:a16="http://schemas.microsoft.com/office/drawing/2014/main" id="{C9D69E00-CA4B-DA80-9716-D02FAF5B2C04}"/>
                  </a:ext>
                </a:extLst>
              </p:cNvPr>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35" name="ïṡliḑê">
                <a:extLst>
                  <a:ext uri="{FF2B5EF4-FFF2-40B4-BE49-F238E27FC236}">
                    <a16:creationId xmlns:a16="http://schemas.microsoft.com/office/drawing/2014/main" id="{E56E1483-3F54-ACE0-0D51-DCAF01E02406}"/>
                  </a:ext>
                </a:extLst>
              </p:cNvPr>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6" name="islïďé">
                <a:extLst>
                  <a:ext uri="{FF2B5EF4-FFF2-40B4-BE49-F238E27FC236}">
                    <a16:creationId xmlns:a16="http://schemas.microsoft.com/office/drawing/2014/main" id="{DE5E04CF-375B-4B06-A161-872A7438207E}"/>
                  </a:ext>
                </a:extLst>
              </p:cNvPr>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7" name="îṥḷîdé">
                <a:extLst>
                  <a:ext uri="{FF2B5EF4-FFF2-40B4-BE49-F238E27FC236}">
                    <a16:creationId xmlns:a16="http://schemas.microsoft.com/office/drawing/2014/main" id="{35540CF3-4F8D-0F11-E71B-E168933A2CDE}"/>
                  </a:ext>
                </a:extLst>
              </p:cNvPr>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8" name="isḷîḋé">
                <a:extLst>
                  <a:ext uri="{FF2B5EF4-FFF2-40B4-BE49-F238E27FC236}">
                    <a16:creationId xmlns:a16="http://schemas.microsoft.com/office/drawing/2014/main" id="{1A4C3FA5-DE1A-7264-08DF-1ED49954CBDA}"/>
                  </a:ext>
                </a:extLst>
              </p:cNvPr>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39" name="iśḷïḑè">
                <a:extLst>
                  <a:ext uri="{FF2B5EF4-FFF2-40B4-BE49-F238E27FC236}">
                    <a16:creationId xmlns:a16="http://schemas.microsoft.com/office/drawing/2014/main" id="{12FCB1D1-7B3E-8648-D177-90D756152E8D}"/>
                  </a:ext>
                </a:extLst>
              </p:cNvPr>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0" name="iṧľiďé">
                <a:extLst>
                  <a:ext uri="{FF2B5EF4-FFF2-40B4-BE49-F238E27FC236}">
                    <a16:creationId xmlns:a16="http://schemas.microsoft.com/office/drawing/2014/main" id="{7A803FD3-3068-5C39-74D3-CDDD06B8AA93}"/>
                  </a:ext>
                </a:extLst>
              </p:cNvPr>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1" name="išľïḍé">
                <a:extLst>
                  <a:ext uri="{FF2B5EF4-FFF2-40B4-BE49-F238E27FC236}">
                    <a16:creationId xmlns:a16="http://schemas.microsoft.com/office/drawing/2014/main" id="{CF1C5937-CBD4-E994-2B2D-7F0F1CB5E335}"/>
                  </a:ext>
                </a:extLst>
              </p:cNvPr>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42" name="îŝlîḑè">
                <a:extLst>
                  <a:ext uri="{FF2B5EF4-FFF2-40B4-BE49-F238E27FC236}">
                    <a16:creationId xmlns:a16="http://schemas.microsoft.com/office/drawing/2014/main" id="{4AFBB630-BDD4-5030-B136-9C42A456B73F}"/>
                  </a:ext>
                </a:extLst>
              </p:cNvPr>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3" name="îṩḻíḓe">
                <a:extLst>
                  <a:ext uri="{FF2B5EF4-FFF2-40B4-BE49-F238E27FC236}">
                    <a16:creationId xmlns:a16="http://schemas.microsoft.com/office/drawing/2014/main" id="{16292D51-8793-4B94-7E07-9CC09FC591A5}"/>
                  </a:ext>
                </a:extLst>
              </p:cNvPr>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4" name="î$1îdè">
                <a:extLst>
                  <a:ext uri="{FF2B5EF4-FFF2-40B4-BE49-F238E27FC236}">
                    <a16:creationId xmlns:a16="http://schemas.microsoft.com/office/drawing/2014/main" id="{33E2039D-DC34-20B5-F0F9-538028125733}"/>
                  </a:ext>
                </a:extLst>
              </p:cNvPr>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45" name="iśľïḓe">
                <a:extLst>
                  <a:ext uri="{FF2B5EF4-FFF2-40B4-BE49-F238E27FC236}">
                    <a16:creationId xmlns:a16="http://schemas.microsoft.com/office/drawing/2014/main" id="{DA3D8873-3300-DD44-C1A9-1D5C476E0CDE}"/>
                  </a:ext>
                </a:extLst>
              </p:cNvPr>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46" name="iṣļïḑè">
                <a:extLst>
                  <a:ext uri="{FF2B5EF4-FFF2-40B4-BE49-F238E27FC236}">
                    <a16:creationId xmlns:a16="http://schemas.microsoft.com/office/drawing/2014/main" id="{164BD57B-2A4C-BAC1-711D-7C9F09473F30}"/>
                  </a:ext>
                </a:extLst>
              </p:cNvPr>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47" name="iṡḷidé">
                <a:extLst>
                  <a:ext uri="{FF2B5EF4-FFF2-40B4-BE49-F238E27FC236}">
                    <a16:creationId xmlns:a16="http://schemas.microsoft.com/office/drawing/2014/main" id="{3352FBEF-EDE0-44F7-6F12-719AEA9739ED}"/>
                  </a:ext>
                </a:extLst>
              </p:cNvPr>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48" name="íṡḷíḋe">
                <a:extLst>
                  <a:ext uri="{FF2B5EF4-FFF2-40B4-BE49-F238E27FC236}">
                    <a16:creationId xmlns:a16="http://schemas.microsoft.com/office/drawing/2014/main" id="{20BF3F23-04C7-2900-EBAD-EEA1B4E84C38}"/>
                  </a:ext>
                </a:extLst>
              </p:cNvPr>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49" name="íŝ1iḑê">
                <a:extLst>
                  <a:ext uri="{FF2B5EF4-FFF2-40B4-BE49-F238E27FC236}">
                    <a16:creationId xmlns:a16="http://schemas.microsoft.com/office/drawing/2014/main" id="{0AACBB26-349A-0B90-378A-F7C4087C01EC}"/>
                  </a:ext>
                </a:extLst>
              </p:cNvPr>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0" name="îṩḷiḑe">
                <a:extLst>
                  <a:ext uri="{FF2B5EF4-FFF2-40B4-BE49-F238E27FC236}">
                    <a16:creationId xmlns:a16="http://schemas.microsoft.com/office/drawing/2014/main" id="{528A3823-5908-5BBA-A097-D61693A75B14}"/>
                  </a:ext>
                </a:extLst>
              </p:cNvPr>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1" name="iṧḻiḑê">
                <a:extLst>
                  <a:ext uri="{FF2B5EF4-FFF2-40B4-BE49-F238E27FC236}">
                    <a16:creationId xmlns:a16="http://schemas.microsoft.com/office/drawing/2014/main" id="{E8BACD9E-F1DD-9131-9A79-03F4248F88E2}"/>
                  </a:ext>
                </a:extLst>
              </p:cNvPr>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2" name="ïṣḻîḋè">
                <a:extLst>
                  <a:ext uri="{FF2B5EF4-FFF2-40B4-BE49-F238E27FC236}">
                    <a16:creationId xmlns:a16="http://schemas.microsoft.com/office/drawing/2014/main" id="{71EA0CB1-8B60-4250-E516-9FAEAAF7B255}"/>
                  </a:ext>
                </a:extLst>
              </p:cNvPr>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3" name="îṡ1îḍé">
                <a:extLst>
                  <a:ext uri="{FF2B5EF4-FFF2-40B4-BE49-F238E27FC236}">
                    <a16:creationId xmlns:a16="http://schemas.microsoft.com/office/drawing/2014/main" id="{C5D3591C-8B88-FB7B-4B35-1B5C19A7E1EE}"/>
                  </a:ext>
                </a:extLst>
              </p:cNvPr>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4" name="îš1íḑe">
                <a:extLst>
                  <a:ext uri="{FF2B5EF4-FFF2-40B4-BE49-F238E27FC236}">
                    <a16:creationId xmlns:a16="http://schemas.microsoft.com/office/drawing/2014/main" id="{42AE2FFA-8BBD-1522-E7AB-3E1FA07D29A6}"/>
                  </a:ext>
                </a:extLst>
              </p:cNvPr>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55" name="iš1ïḍe">
                <a:extLst>
                  <a:ext uri="{FF2B5EF4-FFF2-40B4-BE49-F238E27FC236}">
                    <a16:creationId xmlns:a16="http://schemas.microsoft.com/office/drawing/2014/main" id="{EFF2FBEA-9E26-B019-2680-1D75B8FF366D}"/>
                  </a:ext>
                </a:extLst>
              </p:cNvPr>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6" name="îSḻîde">
                <a:extLst>
                  <a:ext uri="{FF2B5EF4-FFF2-40B4-BE49-F238E27FC236}">
                    <a16:creationId xmlns:a16="http://schemas.microsoft.com/office/drawing/2014/main" id="{3A315D2E-B996-133D-F088-782EC6EC0D10}"/>
                  </a:ext>
                </a:extLst>
              </p:cNvPr>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7" name="î$ḻîḑé">
                <a:extLst>
                  <a:ext uri="{FF2B5EF4-FFF2-40B4-BE49-F238E27FC236}">
                    <a16:creationId xmlns:a16="http://schemas.microsoft.com/office/drawing/2014/main" id="{D01BD7D5-1AD4-BEA1-9183-0B687E7BE753}"/>
                  </a:ext>
                </a:extLst>
              </p:cNvPr>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8" name="íŝļïḓe">
                <a:extLst>
                  <a:ext uri="{FF2B5EF4-FFF2-40B4-BE49-F238E27FC236}">
                    <a16:creationId xmlns:a16="http://schemas.microsoft.com/office/drawing/2014/main" id="{CB3E12C8-BA57-7057-D270-7397E7CCABC9}"/>
                  </a:ext>
                </a:extLst>
              </p:cNvPr>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59" name="îS1iḍé">
                <a:extLst>
                  <a:ext uri="{FF2B5EF4-FFF2-40B4-BE49-F238E27FC236}">
                    <a16:creationId xmlns:a16="http://schemas.microsoft.com/office/drawing/2014/main" id="{98E8E782-ACA3-0583-CA18-8920EDA60C22}"/>
                  </a:ext>
                </a:extLst>
              </p:cNvPr>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60" name="išlïdé">
                <a:extLst>
                  <a:ext uri="{FF2B5EF4-FFF2-40B4-BE49-F238E27FC236}">
                    <a16:creationId xmlns:a16="http://schemas.microsoft.com/office/drawing/2014/main" id="{243F6E48-46AA-31EB-DF7F-B256D35C4E0D}"/>
                  </a:ext>
                </a:extLst>
              </p:cNvPr>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61" name="ïSlïde">
                <a:extLst>
                  <a:ext uri="{FF2B5EF4-FFF2-40B4-BE49-F238E27FC236}">
                    <a16:creationId xmlns:a16="http://schemas.microsoft.com/office/drawing/2014/main" id="{8FD29DF7-ABFA-89CD-66AB-A5EEE1370D8E}"/>
                  </a:ext>
                </a:extLst>
              </p:cNvPr>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2" name="îşľïďe">
                <a:extLst>
                  <a:ext uri="{FF2B5EF4-FFF2-40B4-BE49-F238E27FC236}">
                    <a16:creationId xmlns:a16="http://schemas.microsoft.com/office/drawing/2014/main" id="{FF515E80-A3F8-A60F-077A-63DD8DF95C43}"/>
                  </a:ext>
                </a:extLst>
              </p:cNvPr>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3" name="ïşľíďê">
                <a:extLst>
                  <a:ext uri="{FF2B5EF4-FFF2-40B4-BE49-F238E27FC236}">
                    <a16:creationId xmlns:a16="http://schemas.microsoft.com/office/drawing/2014/main" id="{1BFEB443-E774-1FC8-5BC5-EB4B7772F0CD}"/>
                  </a:ext>
                </a:extLst>
              </p:cNvPr>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4" name="íś1ïdè">
                <a:extLst>
                  <a:ext uri="{FF2B5EF4-FFF2-40B4-BE49-F238E27FC236}">
                    <a16:creationId xmlns:a16="http://schemas.microsoft.com/office/drawing/2014/main" id="{D1F8679B-81BF-E0DC-B2E8-C5D087D08CF7}"/>
                  </a:ext>
                </a:extLst>
              </p:cNvPr>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5" name="iṩḷiḍe">
                <a:extLst>
                  <a:ext uri="{FF2B5EF4-FFF2-40B4-BE49-F238E27FC236}">
                    <a16:creationId xmlns:a16="http://schemas.microsoft.com/office/drawing/2014/main" id="{795B3B1C-E184-36DF-3665-F23467281E56}"/>
                  </a:ext>
                </a:extLst>
              </p:cNvPr>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6" name="ïŝ1iďè">
                <a:extLst>
                  <a:ext uri="{FF2B5EF4-FFF2-40B4-BE49-F238E27FC236}">
                    <a16:creationId xmlns:a16="http://schemas.microsoft.com/office/drawing/2014/main" id="{F5301E0C-BBBD-DF32-14A3-18D49DAD526D}"/>
                  </a:ext>
                </a:extLst>
              </p:cNvPr>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7" name="íṩļíḋê">
                <a:extLst>
                  <a:ext uri="{FF2B5EF4-FFF2-40B4-BE49-F238E27FC236}">
                    <a16:creationId xmlns:a16="http://schemas.microsoft.com/office/drawing/2014/main" id="{7EA89BE2-34AD-E3C4-7BEA-B804210A6CA3}"/>
                  </a:ext>
                </a:extLst>
              </p:cNvPr>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8" name="ïṧ1ïdè">
                <a:extLst>
                  <a:ext uri="{FF2B5EF4-FFF2-40B4-BE49-F238E27FC236}">
                    <a16:creationId xmlns:a16="http://schemas.microsoft.com/office/drawing/2014/main" id="{77538B49-1D46-66B9-187E-564D61B390E6}"/>
                  </a:ext>
                </a:extLst>
              </p:cNvPr>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69" name="íŝḻîḍé">
                <a:extLst>
                  <a:ext uri="{FF2B5EF4-FFF2-40B4-BE49-F238E27FC236}">
                    <a16:creationId xmlns:a16="http://schemas.microsoft.com/office/drawing/2014/main" id="{DD8B772B-42DE-93D1-3355-7A135C482703}"/>
                  </a:ext>
                </a:extLst>
              </p:cNvPr>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0" name="îşḻïḓé">
                <a:extLst>
                  <a:ext uri="{FF2B5EF4-FFF2-40B4-BE49-F238E27FC236}">
                    <a16:creationId xmlns:a16="http://schemas.microsoft.com/office/drawing/2014/main" id="{B88E9F69-9917-22E9-C32F-F6813C8825B1}"/>
                  </a:ext>
                </a:extLst>
              </p:cNvPr>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1" name="íśļíďè">
                <a:extLst>
                  <a:ext uri="{FF2B5EF4-FFF2-40B4-BE49-F238E27FC236}">
                    <a16:creationId xmlns:a16="http://schemas.microsoft.com/office/drawing/2014/main" id="{836F7765-9273-62BD-BDAF-B5C7678ED3D6}"/>
                  </a:ext>
                </a:extLst>
              </p:cNvPr>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2" name="iŝ1ïdé">
                <a:extLst>
                  <a:ext uri="{FF2B5EF4-FFF2-40B4-BE49-F238E27FC236}">
                    <a16:creationId xmlns:a16="http://schemas.microsoft.com/office/drawing/2014/main" id="{5E9C7197-EC33-72A2-1802-13A5AA660C9B}"/>
                  </a:ext>
                </a:extLst>
              </p:cNvPr>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3" name="is1ídè">
                <a:extLst>
                  <a:ext uri="{FF2B5EF4-FFF2-40B4-BE49-F238E27FC236}">
                    <a16:creationId xmlns:a16="http://schemas.microsoft.com/office/drawing/2014/main" id="{EFCD87AB-FE48-7D1F-7429-08B55A76D7A2}"/>
                  </a:ext>
                </a:extLst>
              </p:cNvPr>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4" name="islíďê">
                <a:extLst>
                  <a:ext uri="{FF2B5EF4-FFF2-40B4-BE49-F238E27FC236}">
                    <a16:creationId xmlns:a16="http://schemas.microsoft.com/office/drawing/2014/main" id="{5EBEDA5A-480D-F2CC-AED9-7AAEA2C62BE4}"/>
                  </a:ext>
                </a:extLst>
              </p:cNvPr>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5" name="iṩlíḑê">
                <a:extLst>
                  <a:ext uri="{FF2B5EF4-FFF2-40B4-BE49-F238E27FC236}">
                    <a16:creationId xmlns:a16="http://schemas.microsoft.com/office/drawing/2014/main" id="{3B6C2558-A54E-2C55-F4E7-9ADB8C7905B3}"/>
                  </a:ext>
                </a:extLst>
              </p:cNvPr>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6" name="îṥḷïďê">
                <a:extLst>
                  <a:ext uri="{FF2B5EF4-FFF2-40B4-BE49-F238E27FC236}">
                    <a16:creationId xmlns:a16="http://schemas.microsoft.com/office/drawing/2014/main" id="{453EE24E-0CE7-F090-1EA6-5CA40E14CE6C}"/>
                  </a:ext>
                </a:extLst>
              </p:cNvPr>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7" name="íṥḻïďè">
                <a:extLst>
                  <a:ext uri="{FF2B5EF4-FFF2-40B4-BE49-F238E27FC236}">
                    <a16:creationId xmlns:a16="http://schemas.microsoft.com/office/drawing/2014/main" id="{16214792-E737-761D-8364-73A7717A68CB}"/>
                  </a:ext>
                </a:extLst>
              </p:cNvPr>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78" name="íṡḷíḍè">
                <a:extLst>
                  <a:ext uri="{FF2B5EF4-FFF2-40B4-BE49-F238E27FC236}">
                    <a16:creationId xmlns:a16="http://schemas.microsoft.com/office/drawing/2014/main" id="{ACC19BAE-A8D5-3B79-9019-7CEF712766CB}"/>
                  </a:ext>
                </a:extLst>
              </p:cNvPr>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79" name="î$ḷîḑé">
                <a:extLst>
                  <a:ext uri="{FF2B5EF4-FFF2-40B4-BE49-F238E27FC236}">
                    <a16:creationId xmlns:a16="http://schemas.microsoft.com/office/drawing/2014/main" id="{261AB4E1-C0EF-7DFB-177F-304C16231E19}"/>
                  </a:ext>
                </a:extLst>
              </p:cNvPr>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80" name="í$ľîdè">
                <a:extLst>
                  <a:ext uri="{FF2B5EF4-FFF2-40B4-BE49-F238E27FC236}">
                    <a16:creationId xmlns:a16="http://schemas.microsoft.com/office/drawing/2014/main" id="{E907AA0C-2BFB-3479-6666-CCFFBD0BF57D}"/>
                  </a:ext>
                </a:extLst>
              </p:cNvPr>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81" name="iṥ1iḍè">
                <a:extLst>
                  <a:ext uri="{FF2B5EF4-FFF2-40B4-BE49-F238E27FC236}">
                    <a16:creationId xmlns:a16="http://schemas.microsoft.com/office/drawing/2014/main" id="{A70955AD-0686-AA42-BB5F-9207CC7529C6}"/>
                  </a:ext>
                </a:extLst>
              </p:cNvPr>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82" name="ïslidé">
                <a:extLst>
                  <a:ext uri="{FF2B5EF4-FFF2-40B4-BE49-F238E27FC236}">
                    <a16:creationId xmlns:a16="http://schemas.microsoft.com/office/drawing/2014/main" id="{E0CFC19C-D793-EEC6-4FBB-587BEA869099}"/>
                  </a:ext>
                </a:extLst>
              </p:cNvPr>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83" name="íṡlïďè">
                <a:extLst>
                  <a:ext uri="{FF2B5EF4-FFF2-40B4-BE49-F238E27FC236}">
                    <a16:creationId xmlns:a16="http://schemas.microsoft.com/office/drawing/2014/main" id="{F34A73F1-DE01-A493-BE5D-D595F73AAA2E}"/>
                  </a:ext>
                </a:extLst>
              </p:cNvPr>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84" name="iṧ1ïḓè">
                <a:extLst>
                  <a:ext uri="{FF2B5EF4-FFF2-40B4-BE49-F238E27FC236}">
                    <a16:creationId xmlns:a16="http://schemas.microsoft.com/office/drawing/2014/main" id="{C1745CEB-50F5-5F04-277F-C0AFAD249505}"/>
                  </a:ext>
                </a:extLst>
              </p:cNvPr>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grpSp>
      </p:grpSp>
      <p:pic>
        <p:nvPicPr>
          <p:cNvPr id="85" name="图片 84">
            <a:extLst>
              <a:ext uri="{FF2B5EF4-FFF2-40B4-BE49-F238E27FC236}">
                <a16:creationId xmlns:a16="http://schemas.microsoft.com/office/drawing/2014/main" id="{106AE89E-6440-A100-5864-6018CAC269A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266702" y="268906"/>
            <a:ext cx="710933" cy="1592849"/>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BFA47BBC-AD37-9961-A6AF-D1A879C7E6B9}"/>
              </a:ext>
            </a:extLst>
          </p:cNvPr>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5673244" y="-1"/>
            <a:ext cx="7356956" cy="6858001"/>
          </a:xfrm>
          <a:prstGeom prst="rect">
            <a:avLst/>
          </a:prstGeom>
        </p:spPr>
      </p:pic>
      <p:sp>
        <p:nvSpPr>
          <p:cNvPr id="8" name="矩形 7">
            <a:extLst>
              <a:ext uri="{FF2B5EF4-FFF2-40B4-BE49-F238E27FC236}">
                <a16:creationId xmlns:a16="http://schemas.microsoft.com/office/drawing/2014/main" id="{AC637764-A9DA-B2A3-EB2F-6C5F69B21F99}"/>
              </a:ext>
            </a:extLst>
          </p:cNvPr>
          <p:cNvSpPr/>
          <p:nvPr userDrawn="1"/>
        </p:nvSpPr>
        <p:spPr>
          <a:xfrm>
            <a:off x="-12646" y="0"/>
            <a:ext cx="177972"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图片占位符 8">
            <a:extLst>
              <a:ext uri="{FF2B5EF4-FFF2-40B4-BE49-F238E27FC236}">
                <a16:creationId xmlns:a16="http://schemas.microsoft.com/office/drawing/2014/main" id="{A5D43A08-2DA4-5F64-A966-B38FFD02E157}"/>
              </a:ext>
            </a:extLst>
          </p:cNvPr>
          <p:cNvSpPr>
            <a:spLocks noGrp="1"/>
          </p:cNvSpPr>
          <p:nvPr>
            <p:ph type="pic" sz="quarter" idx="15"/>
          </p:nvPr>
        </p:nvSpPr>
        <p:spPr>
          <a:xfrm flipH="1">
            <a:off x="170624" y="0"/>
            <a:ext cx="2928003" cy="6858000"/>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p:spPr>
        <p:txBody>
          <a:bodyPr wrap="square">
            <a:noAutofit/>
          </a:bodyPr>
          <a:lstStyle/>
          <a:p>
            <a:endParaRPr kumimoji="1" lang="zh-CN" altLang="en-US" dirty="0"/>
          </a:p>
        </p:txBody>
      </p:sp>
      <p:sp>
        <p:nvSpPr>
          <p:cNvPr id="10" name="任意形状 9">
            <a:extLst>
              <a:ext uri="{FF2B5EF4-FFF2-40B4-BE49-F238E27FC236}">
                <a16:creationId xmlns:a16="http://schemas.microsoft.com/office/drawing/2014/main" id="{913F685B-D550-B9F5-9640-BC5BE14FCC8B}"/>
              </a:ext>
            </a:extLst>
          </p:cNvPr>
          <p:cNvSpPr/>
          <p:nvPr userDrawn="1"/>
        </p:nvSpPr>
        <p:spPr>
          <a:xfrm flipH="1">
            <a:off x="33862" y="-98854"/>
            <a:ext cx="3064764" cy="7039443"/>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1707407B-6855-20A6-AEB3-FDD96F68CC92}"/>
              </a:ext>
            </a:extLst>
          </p:cNvPr>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2882793" y="1029268"/>
            <a:ext cx="5784639" cy="5818800"/>
          </a:xfrm>
          <a:prstGeom prst="rect">
            <a:avLst/>
          </a:prstGeom>
        </p:spPr>
      </p:pic>
      <p:sp>
        <p:nvSpPr>
          <p:cNvPr id="8" name="标题 1">
            <a:extLst>
              <a:ext uri="{FF2B5EF4-FFF2-40B4-BE49-F238E27FC236}">
                <a16:creationId xmlns:a16="http://schemas.microsoft.com/office/drawing/2014/main" id="{4F01CDEA-802E-C24E-02B3-3F1044BDBD92}"/>
              </a:ext>
            </a:extLst>
          </p:cNvPr>
          <p:cNvSpPr>
            <a:spLocks noGrp="1"/>
          </p:cNvSpPr>
          <p:nvPr>
            <p:ph type="title"/>
          </p:nvPr>
        </p:nvSpPr>
        <p:spPr>
          <a:xfrm>
            <a:off x="1181101" y="342900"/>
            <a:ext cx="6896099" cy="663575"/>
          </a:xfrm>
          <a:prstGeom prst="rect">
            <a:avLst/>
          </a:prstGeom>
        </p:spPr>
        <p:txBody>
          <a:bodyPr lIns="0"/>
          <a:lstStyle>
            <a:lvl1pPr>
              <a:defRPr b="1">
                <a:solidFill>
                  <a:schemeClr val="accent1"/>
                </a:solidFill>
              </a:defRPr>
            </a:lvl1pPr>
          </a:lstStyle>
          <a:p>
            <a:r>
              <a:rPr lang="zh-CN" altLang="en-US" dirty="0"/>
              <a:t>单击此处编辑母版标题样式</a:t>
            </a:r>
          </a:p>
        </p:txBody>
      </p:sp>
      <p:pic>
        <p:nvPicPr>
          <p:cNvPr id="9" name="图片 8" descr="图片包含 天空, 户外, 建筑物, 日落&#10;&#10;描述已自动生成">
            <a:extLst>
              <a:ext uri="{FF2B5EF4-FFF2-40B4-BE49-F238E27FC236}">
                <a16:creationId xmlns:a16="http://schemas.microsoft.com/office/drawing/2014/main" id="{A1A51E4E-9A07-FA07-B340-E1E4A477AD2B}"/>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brightnessContrast bright="72000"/>
                    </a14:imgEffect>
                    <a14:imgEffect>
                      <a14:colorTemperature colorTemp="9660"/>
                    </a14:imgEffect>
                    <a14:imgEffect>
                      <a14:saturation sat="111000"/>
                    </a14:imgEffect>
                  </a14:imgLayer>
                </a14:imgProps>
              </a:ext>
              <a:ext uri="{28A0092B-C50C-407E-A947-70E740481C1C}">
                <a14:useLocalDpi xmlns:a14="http://schemas.microsoft.com/office/drawing/2010/main" val="0"/>
              </a:ext>
            </a:extLst>
          </a:blip>
          <a:srcRect l="38743" t="8413"/>
          <a:stretch>
            <a:fillRect/>
          </a:stretch>
        </p:blipFill>
        <p:spPr>
          <a:xfrm flipH="1">
            <a:off x="-1" y="60500"/>
            <a:ext cx="958611" cy="955500"/>
          </a:xfrm>
          <a:prstGeom prst="rect">
            <a:avLst/>
          </a:prstGeom>
        </p:spPr>
      </p:pic>
      <p:cxnSp>
        <p:nvCxnSpPr>
          <p:cNvPr id="10" name="直线连接符 3">
            <a:extLst>
              <a:ext uri="{FF2B5EF4-FFF2-40B4-BE49-F238E27FC236}">
                <a16:creationId xmlns:a16="http://schemas.microsoft.com/office/drawing/2014/main" id="{5D4C11A4-A661-29B0-30B8-F0B856D61A10}"/>
              </a:ext>
            </a:extLst>
          </p:cNvPr>
          <p:cNvCxnSpPr/>
          <p:nvPr userDrawn="1"/>
        </p:nvCxnSpPr>
        <p:spPr>
          <a:xfrm>
            <a:off x="0" y="1016000"/>
            <a:ext cx="1219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灯片编号占位符 5">
            <a:extLst>
              <a:ext uri="{FF2B5EF4-FFF2-40B4-BE49-F238E27FC236}">
                <a16:creationId xmlns:a16="http://schemas.microsoft.com/office/drawing/2014/main" id="{5105DA41-7B4D-7C64-CDE2-6573EE8E1E7F}"/>
              </a:ext>
            </a:extLst>
          </p:cNvPr>
          <p:cNvSpPr>
            <a:spLocks noGrp="1"/>
          </p:cNvSpPr>
          <p:nvPr>
            <p:ph type="sldNum" sz="quarter" idx="12"/>
          </p:nvPr>
        </p:nvSpPr>
        <p:spPr>
          <a:xfrm>
            <a:off x="457200" y="6253087"/>
            <a:ext cx="2133600" cy="365125"/>
          </a:xfrm>
          <a:prstGeom prst="rect">
            <a:avLst/>
          </a:prstGeom>
        </p:spPr>
        <p:txBody>
          <a:bodyPr/>
          <a:lstStyle>
            <a:lvl1pPr>
              <a:defRPr>
                <a:solidFill>
                  <a:schemeClr val="bg1">
                    <a:lumMod val="65000"/>
                  </a:schemeClr>
                </a:solidFill>
              </a:defRPr>
            </a:lvl1pPr>
          </a:lstStyle>
          <a:p>
            <a:pPr>
              <a:defRPr/>
            </a:pPr>
            <a:fld id="{6B3369F9-03CD-4B48-86A9-9EE39A82955A}" type="slidenum">
              <a:rPr lang="zh-CN" altLang="en-US" smtClean="0"/>
              <a:pPr>
                <a:defRPr/>
              </a:pPr>
              <a:t>‹#›</a:t>
            </a:fld>
            <a:endParaRPr lang="zh-CN" altLang="en-US" dirty="0"/>
          </a:p>
        </p:txBody>
      </p:sp>
      <p:pic>
        <p:nvPicPr>
          <p:cNvPr id="12" name="图片 11">
            <a:extLst>
              <a:ext uri="{FF2B5EF4-FFF2-40B4-BE49-F238E27FC236}">
                <a16:creationId xmlns:a16="http://schemas.microsoft.com/office/drawing/2014/main" id="{32A918F6-F29C-2AB5-0811-3E6338899814}"/>
              </a:ext>
            </a:extLst>
          </p:cNvPr>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6214702" y="1006475"/>
            <a:ext cx="5784639" cy="5818800"/>
          </a:xfrm>
          <a:prstGeom prst="rect">
            <a:avLst/>
          </a:prstGeom>
        </p:spPr>
      </p:pic>
      <p:pic>
        <p:nvPicPr>
          <p:cNvPr id="13" name="图片 12">
            <a:extLst>
              <a:ext uri="{FF2B5EF4-FFF2-40B4-BE49-F238E27FC236}">
                <a16:creationId xmlns:a16="http://schemas.microsoft.com/office/drawing/2014/main" id="{A52D26D2-7DD4-581F-FD57-6D2D757ED3B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098077" y="381000"/>
            <a:ext cx="1729645" cy="543942"/>
          </a:xfrm>
          <a:prstGeom prst="rect">
            <a:avLst/>
          </a:prstGeom>
        </p:spPr>
      </p:pic>
      <p:pic>
        <p:nvPicPr>
          <p:cNvPr id="14" name="图片 13">
            <a:extLst>
              <a:ext uri="{FF2B5EF4-FFF2-40B4-BE49-F238E27FC236}">
                <a16:creationId xmlns:a16="http://schemas.microsoft.com/office/drawing/2014/main" id="{B02C5E20-4FBD-B649-84A9-11F773D92138}"/>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4932" y="6172200"/>
            <a:ext cx="468068" cy="474901"/>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日期占位符 3"/>
          <p:cNvSpPr>
            <a:spLocks noGrp="1"/>
          </p:cNvSpPr>
          <p:nvPr>
            <p:ph type="dt" sz="half" idx="10"/>
          </p:nvPr>
        </p:nvSpPr>
        <p:spPr>
          <a:xfrm>
            <a:off x="457200" y="6356350"/>
            <a:ext cx="2133600" cy="365125"/>
          </a:xfrm>
          <a:prstGeom prst="rect">
            <a:avLst/>
          </a:prstGeom>
        </p:spPr>
        <p:txBody>
          <a:bodyPr/>
          <a:lstStyle>
            <a:lvl1pPr>
              <a:defRPr/>
            </a:lvl1pPr>
          </a:lstStyle>
          <a:p>
            <a:pPr>
              <a:defRPr/>
            </a:pPr>
            <a:fld id="{43709ED8-F905-4823-B9B7-83BF7DFE1463}" type="datetime1">
              <a:rPr lang="zh-CN" altLang="en-US"/>
              <a:t>2025-03-28</a:t>
            </a:fld>
            <a:endParaRPr lang="zh-CN" altLang="en-US"/>
          </a:p>
        </p:txBody>
      </p:sp>
      <p:sp>
        <p:nvSpPr>
          <p:cNvPr id="4" name="页脚占位符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A249AAD-C4CE-4867-BD5F-40E9451B1B86}"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2882793" y="1029268"/>
            <a:ext cx="5784639" cy="5818800"/>
          </a:xfrm>
          <a:prstGeom prst="rect">
            <a:avLst/>
          </a:prstGeom>
        </p:spPr>
      </p:pic>
      <p:sp>
        <p:nvSpPr>
          <p:cNvPr id="7" name="标题 1"/>
          <p:cNvSpPr>
            <a:spLocks noGrp="1"/>
          </p:cNvSpPr>
          <p:nvPr>
            <p:ph type="title"/>
          </p:nvPr>
        </p:nvSpPr>
        <p:spPr>
          <a:xfrm>
            <a:off x="1181101" y="342900"/>
            <a:ext cx="6896099" cy="663575"/>
          </a:xfrm>
          <a:prstGeom prst="rect">
            <a:avLst/>
          </a:prstGeom>
        </p:spPr>
        <p:txBody>
          <a:bodyPr lIns="0"/>
          <a:lstStyle>
            <a:lvl1pPr>
              <a:defRPr b="1">
                <a:solidFill>
                  <a:schemeClr val="accent1"/>
                </a:solidFill>
              </a:defRPr>
            </a:lvl1pPr>
          </a:lstStyle>
          <a:p>
            <a:r>
              <a:rPr lang="zh-CN" altLang="en-US" dirty="0"/>
              <a:t>单击此处编辑母版标题样式</a:t>
            </a:r>
          </a:p>
        </p:txBody>
      </p:sp>
      <p:pic>
        <p:nvPicPr>
          <p:cNvPr id="109" name="图片 108" descr="图片包含 天空, 户外, 建筑物, 日落&#10;&#10;描述已自动生成"/>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brightnessContrast bright="72000"/>
                    </a14:imgEffect>
                    <a14:imgEffect>
                      <a14:colorTemperature colorTemp="9660"/>
                    </a14:imgEffect>
                    <a14:imgEffect>
                      <a14:saturation sat="111000"/>
                    </a14:imgEffect>
                  </a14:imgLayer>
                </a14:imgProps>
              </a:ext>
              <a:ext uri="{28A0092B-C50C-407E-A947-70E740481C1C}">
                <a14:useLocalDpi xmlns:a14="http://schemas.microsoft.com/office/drawing/2010/main" val="0"/>
              </a:ext>
            </a:extLst>
          </a:blip>
          <a:srcRect l="38743" t="8413"/>
          <a:stretch>
            <a:fillRect/>
          </a:stretch>
        </p:blipFill>
        <p:spPr>
          <a:xfrm flipH="1">
            <a:off x="-1" y="60500"/>
            <a:ext cx="958611" cy="955500"/>
          </a:xfrm>
          <a:prstGeom prst="rect">
            <a:avLst/>
          </a:prstGeom>
        </p:spPr>
      </p:pic>
      <p:cxnSp>
        <p:nvCxnSpPr>
          <p:cNvPr id="112" name="直线连接符 3"/>
          <p:cNvCxnSpPr/>
          <p:nvPr userDrawn="1"/>
        </p:nvCxnSpPr>
        <p:spPr>
          <a:xfrm>
            <a:off x="0" y="1016000"/>
            <a:ext cx="1219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3" name="灯片编号占位符 5"/>
          <p:cNvSpPr>
            <a:spLocks noGrp="1"/>
          </p:cNvSpPr>
          <p:nvPr>
            <p:ph type="sldNum" sz="quarter" idx="12"/>
          </p:nvPr>
        </p:nvSpPr>
        <p:spPr>
          <a:xfrm>
            <a:off x="457200" y="6253087"/>
            <a:ext cx="2133600" cy="365125"/>
          </a:xfrm>
          <a:prstGeom prst="rect">
            <a:avLst/>
          </a:prstGeom>
        </p:spPr>
        <p:txBody>
          <a:bodyPr/>
          <a:lstStyle>
            <a:lvl1pPr>
              <a:defRPr/>
            </a:lvl1pPr>
          </a:lstStyle>
          <a:p>
            <a:pPr>
              <a:defRPr/>
            </a:pPr>
            <a:fld id="{6B3369F9-03CD-4B48-86A9-9EE39A82955A}" type="slidenum">
              <a:rPr lang="zh-CN" altLang="en-US"/>
              <a:t>‹#›</a:t>
            </a:fld>
            <a:endParaRPr lang="zh-CN" altLang="en-US" dirty="0"/>
          </a:p>
        </p:txBody>
      </p:sp>
      <p:pic>
        <p:nvPicPr>
          <p:cNvPr id="3" name="图片 2"/>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6214702" y="1006475"/>
            <a:ext cx="5784639" cy="5818800"/>
          </a:xfrm>
          <a:prstGeom prst="rect">
            <a:avLst/>
          </a:prstGeom>
        </p:spPr>
      </p:pic>
      <p:pic>
        <p:nvPicPr>
          <p:cNvPr id="5" name="图片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098077" y="381000"/>
            <a:ext cx="1729645" cy="543942"/>
          </a:xfrm>
          <a:prstGeom prst="rect">
            <a:avLst/>
          </a:prstGeom>
        </p:spPr>
      </p:pic>
      <p:pic>
        <p:nvPicPr>
          <p:cNvPr id="12" name="图片 1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4932" y="6172200"/>
            <a:ext cx="468068" cy="474901"/>
          </a:xfrm>
          <a:prstGeom prst="rect">
            <a:avLst/>
          </a:prstGeom>
        </p:spPr>
      </p:pic>
    </p:spTree>
    <p:extLst>
      <p:ext uri="{BB962C8B-B14F-4D97-AF65-F5344CB8AC3E}">
        <p14:creationId xmlns:p14="http://schemas.microsoft.com/office/powerpoint/2010/main" val="16400667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50" r:id="rId4"/>
    <p:sldLayoutId id="2147483751" r:id="rId5"/>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SimSun" panose="02010600030101010101" pitchFamily="2" charset="-122"/>
        </a:defRPr>
      </a:lvl2pPr>
      <a:lvl3pPr algn="ctr" rtl="0" eaLnBrk="0" fontAlgn="base" hangingPunct="0">
        <a:spcBef>
          <a:spcPct val="0"/>
        </a:spcBef>
        <a:spcAft>
          <a:spcPct val="0"/>
        </a:spcAft>
        <a:defRPr sz="4400">
          <a:solidFill>
            <a:schemeClr val="tx1"/>
          </a:solidFill>
          <a:latin typeface="Calibri" pitchFamily="34" charset="0"/>
          <a:ea typeface="SimSun" panose="02010600030101010101" pitchFamily="2" charset="-122"/>
        </a:defRPr>
      </a:lvl3pPr>
      <a:lvl4pPr algn="ctr" rtl="0" eaLnBrk="0" fontAlgn="base" hangingPunct="0">
        <a:spcBef>
          <a:spcPct val="0"/>
        </a:spcBef>
        <a:spcAft>
          <a:spcPct val="0"/>
        </a:spcAft>
        <a:defRPr sz="4400">
          <a:solidFill>
            <a:schemeClr val="tx1"/>
          </a:solidFill>
          <a:latin typeface="Calibri" pitchFamily="34" charset="0"/>
          <a:ea typeface="SimSun" panose="02010600030101010101" pitchFamily="2" charset="-122"/>
        </a:defRPr>
      </a:lvl4pPr>
      <a:lvl5pPr algn="ctr" rtl="0" eaLnBrk="0" fontAlgn="base" hangingPunct="0">
        <a:spcBef>
          <a:spcPct val="0"/>
        </a:spcBef>
        <a:spcAft>
          <a:spcPct val="0"/>
        </a:spcAft>
        <a:defRPr sz="4400">
          <a:solidFill>
            <a:schemeClr val="tx1"/>
          </a:solidFill>
          <a:latin typeface="Calibri" pitchFamily="34" charset="0"/>
          <a:ea typeface="SimSun" panose="02010600030101010101" pitchFamily="2" charset="-122"/>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9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9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9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notesSlide" Target="../notesSlides/notesSlide1.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2.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7.jp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5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6">
            <a:extLst>
              <a:ext uri="{FF2B5EF4-FFF2-40B4-BE49-F238E27FC236}">
                <a16:creationId xmlns:a16="http://schemas.microsoft.com/office/drawing/2014/main" id="{BDC4F3F6-63A3-86D6-586F-1622C08AC19C}"/>
              </a:ext>
            </a:extLst>
          </p:cNvPr>
          <p:cNvSpPr>
            <a:spLocks noGrp="1"/>
          </p:cNvSpPr>
          <p:nvPr>
            <p:ph type="ctrTitle"/>
          </p:nvPr>
        </p:nvSpPr>
        <p:spPr>
          <a:xfrm>
            <a:off x="594117" y="3924300"/>
            <a:ext cx="7955765" cy="746125"/>
          </a:xfrm>
        </p:spPr>
        <p:txBody>
          <a:bodyPr/>
          <a:lstStyle/>
          <a:p>
            <a:pPr eaLnBrk="1" hangingPunct="1">
              <a:lnSpc>
                <a:spcPct val="90000"/>
              </a:lnSpc>
            </a:pPr>
            <a:r>
              <a:rPr lang="zh-CN" altLang="en-US" sz="4000" b="1" dirty="0">
                <a:solidFill>
                  <a:srgbClr val="074996"/>
                </a:solidFill>
                <a:latin typeface="+mj-ea"/>
              </a:rPr>
              <a:t>第六章 </a:t>
            </a:r>
            <a:r>
              <a:rPr lang="en-US" altLang="zh-CN" sz="4000" b="1" dirty="0">
                <a:solidFill>
                  <a:srgbClr val="074996"/>
                </a:solidFill>
                <a:latin typeface="+mj-ea"/>
              </a:rPr>
              <a:t>R</a:t>
            </a:r>
            <a:r>
              <a:rPr lang="zh-CN" altLang="en-US" sz="4000" b="1" dirty="0">
                <a:solidFill>
                  <a:srgbClr val="074996"/>
                </a:solidFill>
                <a:latin typeface="+mj-ea"/>
              </a:rPr>
              <a:t>中空间数据表达与可视化</a:t>
            </a:r>
          </a:p>
        </p:txBody>
      </p:sp>
      <p:sp>
        <p:nvSpPr>
          <p:cNvPr id="7" name="副标题 7">
            <a:extLst>
              <a:ext uri="{FF2B5EF4-FFF2-40B4-BE49-F238E27FC236}">
                <a16:creationId xmlns:a16="http://schemas.microsoft.com/office/drawing/2014/main" id="{973E97F3-3EC0-8B46-FAC9-54FE42D1AADA}"/>
              </a:ext>
            </a:extLst>
          </p:cNvPr>
          <p:cNvSpPr>
            <a:spLocks noGrp="1"/>
          </p:cNvSpPr>
          <p:nvPr>
            <p:ph type="subTitle" idx="1"/>
          </p:nvPr>
        </p:nvSpPr>
        <p:spPr>
          <a:xfrm>
            <a:off x="1371600" y="4914901"/>
            <a:ext cx="6400800" cy="1104900"/>
          </a:xfrm>
        </p:spPr>
        <p:txBody>
          <a:bodyPr/>
          <a:lstStyle/>
          <a:p>
            <a:pPr>
              <a:lnSpc>
                <a:spcPct val="150000"/>
              </a:lnSpc>
            </a:pPr>
            <a:r>
              <a:rPr lang="zh-CN" altLang="en-US" sz="1800" dirty="0">
                <a:solidFill>
                  <a:schemeClr val="tx1">
                    <a:lumMod val="75000"/>
                    <a:lumOff val="25000"/>
                  </a:schemeClr>
                </a:solidFill>
                <a:latin typeface="+mj-ea"/>
                <a:ea typeface="+mj-ea"/>
              </a:rPr>
              <a:t>卢宾宾</a:t>
            </a:r>
            <a:endParaRPr lang="en-US" altLang="zh-CN" sz="1800" dirty="0">
              <a:solidFill>
                <a:schemeClr val="tx1">
                  <a:lumMod val="75000"/>
                  <a:lumOff val="25000"/>
                </a:schemeClr>
              </a:solidFill>
              <a:latin typeface="+mj-ea"/>
              <a:ea typeface="+mj-ea"/>
            </a:endParaRPr>
          </a:p>
          <a:p>
            <a:pPr>
              <a:lnSpc>
                <a:spcPct val="150000"/>
              </a:lnSpc>
            </a:pPr>
            <a:r>
              <a:rPr lang="zh-CN" altLang="en-US" sz="1800" dirty="0">
                <a:solidFill>
                  <a:schemeClr val="tx1">
                    <a:lumMod val="75000"/>
                    <a:lumOff val="25000"/>
                  </a:schemeClr>
                </a:solidFill>
                <a:latin typeface="+mj-ea"/>
                <a:ea typeface="+mj-ea"/>
              </a:rPr>
              <a:t>武汉大学遥感信息工程学院</a:t>
            </a:r>
          </a:p>
          <a:p>
            <a:endParaRPr lang="zh-CN" altLang="en-US" dirty="0">
              <a:latin typeface="+mj-ea"/>
              <a:ea typeface="+mj-ea"/>
            </a:endParaRPr>
          </a:p>
        </p:txBody>
      </p:sp>
    </p:spTree>
  </p:cSld>
  <p:clrMapOvr>
    <a:masterClrMapping/>
  </p:clrMapOvr>
  <p:transition spd="slow" advTm="5148"/>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占位符 4">
            <a:extLst>
              <a:ext uri="{FF2B5EF4-FFF2-40B4-BE49-F238E27FC236}">
                <a16:creationId xmlns:a16="http://schemas.microsoft.com/office/drawing/2014/main" id="{77B7060B-2B5D-69C8-9DCB-48C8EDC41701}"/>
              </a:ext>
            </a:extLst>
          </p:cNvPr>
          <p:cNvPicPr>
            <a:picLocks noGrp="1" noChangeAspect="1"/>
          </p:cNvPicPr>
          <p:nvPr>
            <p:ph type="pic" sz="quarter" idx="15"/>
          </p:nvPr>
        </p:nvPicPr>
        <p:blipFill>
          <a:blip r:embed="rId19">
            <a:extLst>
              <a:ext uri="{28A0092B-C50C-407E-A947-70E740481C1C}">
                <a14:useLocalDpi xmlns:a14="http://schemas.microsoft.com/office/drawing/2010/main" val="0"/>
              </a:ext>
            </a:extLst>
          </a:blip>
          <a:srcRect l="20087" r="20087"/>
          <a:stretch>
            <a:fillRect/>
          </a:stretch>
        </p:blipFill>
        <p:spPr/>
      </p:pic>
      <p:sp>
        <p:nvSpPr>
          <p:cNvPr id="6" name="标题 1">
            <a:extLst>
              <a:ext uri="{FF2B5EF4-FFF2-40B4-BE49-F238E27FC236}">
                <a16:creationId xmlns:a16="http://schemas.microsoft.com/office/drawing/2014/main" id="{6E87B13E-2AA0-2B44-0F6C-632BAD028BE4}"/>
              </a:ext>
            </a:extLst>
          </p:cNvPr>
          <p:cNvSpPr txBox="1">
            <a:spLocks/>
          </p:cNvSpPr>
          <p:nvPr/>
        </p:nvSpPr>
        <p:spPr>
          <a:xfrm>
            <a:off x="3797406" y="342900"/>
            <a:ext cx="4889394" cy="114300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SimSun" panose="02010600030101010101" pitchFamily="2" charset="-122"/>
              </a:defRPr>
            </a:lvl2pPr>
            <a:lvl3pPr algn="ctr" rtl="0" eaLnBrk="0" fontAlgn="base" hangingPunct="0">
              <a:spcBef>
                <a:spcPct val="0"/>
              </a:spcBef>
              <a:spcAft>
                <a:spcPct val="0"/>
              </a:spcAft>
              <a:defRPr sz="4400">
                <a:solidFill>
                  <a:schemeClr val="tx1"/>
                </a:solidFill>
                <a:latin typeface="Calibri" pitchFamily="34" charset="0"/>
                <a:ea typeface="SimSun" panose="02010600030101010101" pitchFamily="2" charset="-122"/>
              </a:defRPr>
            </a:lvl3pPr>
            <a:lvl4pPr algn="ctr" rtl="0" eaLnBrk="0" fontAlgn="base" hangingPunct="0">
              <a:spcBef>
                <a:spcPct val="0"/>
              </a:spcBef>
              <a:spcAft>
                <a:spcPct val="0"/>
              </a:spcAft>
              <a:defRPr sz="4400">
                <a:solidFill>
                  <a:schemeClr val="tx1"/>
                </a:solidFill>
                <a:latin typeface="Calibri" pitchFamily="34" charset="0"/>
                <a:ea typeface="SimSun" panose="02010600030101010101" pitchFamily="2" charset="-122"/>
              </a:defRPr>
            </a:lvl4pPr>
            <a:lvl5pPr algn="ctr" rtl="0" eaLnBrk="0" fontAlgn="base" hangingPunct="0">
              <a:spcBef>
                <a:spcPct val="0"/>
              </a:spcBef>
              <a:spcAft>
                <a:spcPct val="0"/>
              </a:spcAft>
              <a:defRPr sz="4400">
                <a:solidFill>
                  <a:schemeClr val="tx1"/>
                </a:solidFill>
                <a:latin typeface="Calibri" pitchFamily="34" charset="0"/>
                <a:ea typeface="SimSun" panose="02010600030101010101" pitchFamily="2" charset="-122"/>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lgn="l"/>
            <a:r>
              <a:rPr lang="zh-CN" altLang="en-US" sz="4800" b="1" dirty="0">
                <a:solidFill>
                  <a:schemeClr val="accent1"/>
                </a:solidFill>
                <a:latin typeface="+mj-ea"/>
                <a:cs typeface="Times New Roman" panose="02020603050405020304" charset="0"/>
              </a:rPr>
              <a:t>目录</a:t>
            </a:r>
          </a:p>
        </p:txBody>
      </p:sp>
      <p:grpSp>
        <p:nvGrpSpPr>
          <p:cNvPr id="7" name="组合 6">
            <a:extLst>
              <a:ext uri="{FF2B5EF4-FFF2-40B4-BE49-F238E27FC236}">
                <a16:creationId xmlns:a16="http://schemas.microsoft.com/office/drawing/2014/main" id="{1D94FF61-CC69-CB89-C098-5E8EE3B33728}"/>
              </a:ext>
            </a:extLst>
          </p:cNvPr>
          <p:cNvGrpSpPr/>
          <p:nvPr>
            <p:custDataLst>
              <p:tags r:id="rId1"/>
            </p:custDataLst>
          </p:nvPr>
        </p:nvGrpSpPr>
        <p:grpSpPr>
          <a:xfrm>
            <a:off x="3797406" y="1498312"/>
            <a:ext cx="6334019" cy="749588"/>
            <a:chOff x="3797406" y="1425837"/>
            <a:chExt cx="6334019" cy="749588"/>
          </a:xfrm>
        </p:grpSpPr>
        <p:sp>
          <p:nvSpPr>
            <p:cNvPr id="8" name="文本框 7">
              <a:extLst>
                <a:ext uri="{FF2B5EF4-FFF2-40B4-BE49-F238E27FC236}">
                  <a16:creationId xmlns:a16="http://schemas.microsoft.com/office/drawing/2014/main" id="{6CFA5132-8063-975C-9BB5-4E27441A1E69}"/>
                </a:ext>
              </a:extLst>
            </p:cNvPr>
            <p:cNvSpPr txBox="1"/>
            <p:nvPr>
              <p:custDataLst>
                <p:tags r:id="rId14"/>
              </p:custDataLst>
            </p:nvPr>
          </p:nvSpPr>
          <p:spPr>
            <a:xfrm>
              <a:off x="3797406" y="1559872"/>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charset="0"/>
                  <a:cs typeface="Times New Roman" panose="02020603050405020304" charset="0"/>
                </a:rPr>
                <a:t>6.1</a:t>
              </a:r>
            </a:p>
          </p:txBody>
        </p:sp>
        <p:sp>
          <p:nvSpPr>
            <p:cNvPr id="9" name="文本占位符 27">
              <a:extLst>
                <a:ext uri="{FF2B5EF4-FFF2-40B4-BE49-F238E27FC236}">
                  <a16:creationId xmlns:a16="http://schemas.microsoft.com/office/drawing/2014/main" id="{2F2E216A-A709-2DF1-B44D-9121FE2A71F0}"/>
                </a:ext>
              </a:extLst>
            </p:cNvPr>
            <p:cNvSpPr txBox="1"/>
            <p:nvPr>
              <p:custDataLst>
                <p:tags r:id="rId15"/>
              </p:custDataLst>
            </p:nvPr>
          </p:nvSpPr>
          <p:spPr>
            <a:xfrm>
              <a:off x="4838700" y="1425837"/>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1"/>
                  </a:solidFill>
                  <a:latin typeface="Times New Roman" panose="02020603050405020304" charset="0"/>
                  <a:cs typeface="Times New Roman" panose="02020603050405020304" charset="0"/>
                </a:rPr>
                <a:t>章节</a:t>
              </a:r>
              <a:r>
                <a:rPr lang="en-US" altLang="zh-CN" dirty="0">
                  <a:solidFill>
                    <a:schemeClr val="accent1"/>
                  </a:solidFill>
                  <a:latin typeface="Times New Roman" panose="02020603050405020304" charset="0"/>
                  <a:cs typeface="Times New Roman" panose="02020603050405020304" charset="0"/>
                </a:rPr>
                <a:t>R</a:t>
              </a:r>
              <a:r>
                <a:rPr lang="zh-CN" altLang="en-US" dirty="0">
                  <a:solidFill>
                    <a:schemeClr val="accent1"/>
                  </a:solidFill>
                  <a:latin typeface="Times New Roman" panose="02020603050405020304" charset="0"/>
                  <a:cs typeface="Times New Roman" panose="02020603050405020304" charset="0"/>
                </a:rPr>
                <a:t>函数包准备</a:t>
              </a:r>
              <a:endParaRPr kumimoji="1" lang="zh-CN" altLang="en-US" dirty="0">
                <a:solidFill>
                  <a:schemeClr val="accent1"/>
                </a:solidFill>
                <a:latin typeface="Times New Roman" panose="02020603050405020304" charset="0"/>
                <a:cs typeface="Times New Roman" panose="02020603050405020304" charset="0"/>
              </a:endParaRPr>
            </a:p>
          </p:txBody>
        </p:sp>
        <p:cxnSp>
          <p:nvCxnSpPr>
            <p:cNvPr id="10" name="直线连接符 13">
              <a:extLst>
                <a:ext uri="{FF2B5EF4-FFF2-40B4-BE49-F238E27FC236}">
                  <a16:creationId xmlns:a16="http://schemas.microsoft.com/office/drawing/2014/main" id="{C4FADC95-ED5D-2071-1497-F23620166A8A}"/>
                </a:ext>
              </a:extLst>
            </p:cNvPr>
            <p:cNvCxnSpPr/>
            <p:nvPr>
              <p:custDataLst>
                <p:tags r:id="rId16"/>
              </p:custDataLst>
            </p:nvPr>
          </p:nvCxnSpPr>
          <p:spPr>
            <a:xfrm>
              <a:off x="3797406" y="2133862"/>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8235236D-C8C7-A22A-2191-42A2ACDEDB8C}"/>
              </a:ext>
            </a:extLst>
          </p:cNvPr>
          <p:cNvGrpSpPr/>
          <p:nvPr>
            <p:custDataLst>
              <p:tags r:id="rId2"/>
            </p:custDataLst>
          </p:nvPr>
        </p:nvGrpSpPr>
        <p:grpSpPr>
          <a:xfrm>
            <a:off x="3797406" y="2865775"/>
            <a:ext cx="6334019" cy="749588"/>
            <a:chOff x="3797406" y="2539558"/>
            <a:chExt cx="6334019" cy="749588"/>
          </a:xfrm>
        </p:grpSpPr>
        <p:sp>
          <p:nvSpPr>
            <p:cNvPr id="12" name="文本框 11">
              <a:extLst>
                <a:ext uri="{FF2B5EF4-FFF2-40B4-BE49-F238E27FC236}">
                  <a16:creationId xmlns:a16="http://schemas.microsoft.com/office/drawing/2014/main" id="{A7C9B02D-4CA7-F34B-7BA3-E74E5B23B479}"/>
                </a:ext>
              </a:extLst>
            </p:cNvPr>
            <p:cNvSpPr txBox="1"/>
            <p:nvPr>
              <p:custDataLst>
                <p:tags r:id="rId11"/>
              </p:custDataLst>
            </p:nvPr>
          </p:nvSpPr>
          <p:spPr>
            <a:xfrm>
              <a:off x="3797406" y="2673593"/>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charset="0"/>
                  <a:cs typeface="Times New Roman" panose="02020603050405020304" charset="0"/>
                </a:rPr>
                <a:t>6.2</a:t>
              </a:r>
            </a:p>
          </p:txBody>
        </p:sp>
        <p:sp>
          <p:nvSpPr>
            <p:cNvPr id="13" name="文本占位符 27">
              <a:extLst>
                <a:ext uri="{FF2B5EF4-FFF2-40B4-BE49-F238E27FC236}">
                  <a16:creationId xmlns:a16="http://schemas.microsoft.com/office/drawing/2014/main" id="{2E45C81D-2610-980B-AA96-8BAF6E15E36F}"/>
                </a:ext>
              </a:extLst>
            </p:cNvPr>
            <p:cNvSpPr txBox="1"/>
            <p:nvPr>
              <p:custDataLst>
                <p:tags r:id="rId12"/>
              </p:custDataLst>
            </p:nvPr>
          </p:nvSpPr>
          <p:spPr>
            <a:xfrm>
              <a:off x="4838700" y="2539558"/>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1"/>
                  </a:solidFill>
                  <a:latin typeface="Times New Roman" panose="02020603050405020304" charset="0"/>
                  <a:cs typeface="Times New Roman" panose="02020603050405020304" charset="0"/>
                </a:rPr>
                <a:t>空间对象可视化</a:t>
              </a:r>
              <a:endParaRPr kumimoji="1" lang="zh-CN" altLang="en-US" dirty="0">
                <a:solidFill>
                  <a:schemeClr val="accent1"/>
                </a:solidFill>
                <a:latin typeface="Times New Roman" panose="02020603050405020304" charset="0"/>
                <a:cs typeface="Times New Roman" panose="02020603050405020304" charset="0"/>
              </a:endParaRPr>
            </a:p>
          </p:txBody>
        </p:sp>
        <p:cxnSp>
          <p:nvCxnSpPr>
            <p:cNvPr id="14" name="直线连接符 16">
              <a:extLst>
                <a:ext uri="{FF2B5EF4-FFF2-40B4-BE49-F238E27FC236}">
                  <a16:creationId xmlns:a16="http://schemas.microsoft.com/office/drawing/2014/main" id="{BA48DECA-8951-3DDC-7A7B-B661A0591911}"/>
                </a:ext>
              </a:extLst>
            </p:cNvPr>
            <p:cNvCxnSpPr/>
            <p:nvPr>
              <p:custDataLst>
                <p:tags r:id="rId13"/>
              </p:custDataLst>
            </p:nvPr>
          </p:nvCxnSpPr>
          <p:spPr>
            <a:xfrm>
              <a:off x="3797406" y="3247583"/>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54127E51-0A92-062D-4045-4DE9CA78601E}"/>
              </a:ext>
            </a:extLst>
          </p:cNvPr>
          <p:cNvGrpSpPr/>
          <p:nvPr>
            <p:custDataLst>
              <p:tags r:id="rId3"/>
            </p:custDataLst>
          </p:nvPr>
        </p:nvGrpSpPr>
        <p:grpSpPr>
          <a:xfrm>
            <a:off x="3797406" y="4233238"/>
            <a:ext cx="6334019" cy="749588"/>
            <a:chOff x="3797406" y="5781255"/>
            <a:chExt cx="6334019" cy="749588"/>
          </a:xfrm>
        </p:grpSpPr>
        <p:sp>
          <p:nvSpPr>
            <p:cNvPr id="36" name="文本框 35">
              <a:extLst>
                <a:ext uri="{FF2B5EF4-FFF2-40B4-BE49-F238E27FC236}">
                  <a16:creationId xmlns:a16="http://schemas.microsoft.com/office/drawing/2014/main" id="{F76593F9-AFC1-07C5-0853-467E9C2E9D1A}"/>
                </a:ext>
              </a:extLst>
            </p:cNvPr>
            <p:cNvSpPr txBox="1"/>
            <p:nvPr>
              <p:custDataLst>
                <p:tags r:id="rId8"/>
              </p:custDataLst>
            </p:nvPr>
          </p:nvSpPr>
          <p:spPr>
            <a:xfrm>
              <a:off x="3797406" y="5915290"/>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charset="0"/>
                  <a:cs typeface="Times New Roman" panose="02020603050405020304" charset="0"/>
                </a:rPr>
                <a:t>6.3</a:t>
              </a:r>
            </a:p>
          </p:txBody>
        </p:sp>
        <p:sp>
          <p:nvSpPr>
            <p:cNvPr id="37" name="文本占位符 27">
              <a:extLst>
                <a:ext uri="{FF2B5EF4-FFF2-40B4-BE49-F238E27FC236}">
                  <a16:creationId xmlns:a16="http://schemas.microsoft.com/office/drawing/2014/main" id="{66997E50-4718-52BD-C530-B5AB78E2BDF5}"/>
                </a:ext>
              </a:extLst>
            </p:cNvPr>
            <p:cNvSpPr txBox="1"/>
            <p:nvPr>
              <p:custDataLst>
                <p:tags r:id="rId9"/>
              </p:custDataLst>
            </p:nvPr>
          </p:nvSpPr>
          <p:spPr>
            <a:xfrm>
              <a:off x="4838700" y="5781255"/>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1"/>
                  </a:solidFill>
                  <a:latin typeface="Times New Roman" panose="02020603050405020304" charset="0"/>
                  <a:cs typeface="Times New Roman" panose="02020603050405020304" charset="0"/>
                </a:rPr>
                <a:t>空间属性数据可视化</a:t>
              </a:r>
              <a:endParaRPr kumimoji="1" lang="zh-CN" altLang="en-US" dirty="0">
                <a:solidFill>
                  <a:schemeClr val="accent1"/>
                </a:solidFill>
                <a:latin typeface="Times New Roman" panose="02020603050405020304" charset="0"/>
                <a:cs typeface="Times New Roman" panose="02020603050405020304" charset="0"/>
              </a:endParaRPr>
            </a:p>
          </p:txBody>
        </p:sp>
        <p:cxnSp>
          <p:nvCxnSpPr>
            <p:cNvPr id="38" name="直线连接符 22">
              <a:extLst>
                <a:ext uri="{FF2B5EF4-FFF2-40B4-BE49-F238E27FC236}">
                  <a16:creationId xmlns:a16="http://schemas.microsoft.com/office/drawing/2014/main" id="{EB476ED7-1340-51C1-3414-B9755F20B54E}"/>
                </a:ext>
              </a:extLst>
            </p:cNvPr>
            <p:cNvCxnSpPr/>
            <p:nvPr>
              <p:custDataLst>
                <p:tags r:id="rId10"/>
              </p:custDataLst>
            </p:nvPr>
          </p:nvCxnSpPr>
          <p:spPr>
            <a:xfrm>
              <a:off x="3797406" y="6489280"/>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C237CB27-B4E3-465E-9210-7E87AB198349}"/>
              </a:ext>
            </a:extLst>
          </p:cNvPr>
          <p:cNvGrpSpPr/>
          <p:nvPr>
            <p:custDataLst>
              <p:tags r:id="rId4"/>
            </p:custDataLst>
          </p:nvPr>
        </p:nvGrpSpPr>
        <p:grpSpPr>
          <a:xfrm>
            <a:off x="3797405" y="5600700"/>
            <a:ext cx="6334019" cy="749588"/>
            <a:chOff x="3797406" y="5781255"/>
            <a:chExt cx="6334019" cy="749588"/>
          </a:xfrm>
        </p:grpSpPr>
        <p:sp>
          <p:nvSpPr>
            <p:cNvPr id="3" name="文本框 2">
              <a:extLst>
                <a:ext uri="{FF2B5EF4-FFF2-40B4-BE49-F238E27FC236}">
                  <a16:creationId xmlns:a16="http://schemas.microsoft.com/office/drawing/2014/main" id="{41E57F89-4E11-E3EB-70EC-2090FA0CDBCE}"/>
                </a:ext>
              </a:extLst>
            </p:cNvPr>
            <p:cNvSpPr txBox="1"/>
            <p:nvPr>
              <p:custDataLst>
                <p:tags r:id="rId5"/>
              </p:custDataLst>
            </p:nvPr>
          </p:nvSpPr>
          <p:spPr>
            <a:xfrm>
              <a:off x="3797406" y="5915290"/>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charset="0"/>
                  <a:cs typeface="Times New Roman" panose="02020603050405020304" charset="0"/>
                </a:rPr>
                <a:t>6.4</a:t>
              </a:r>
            </a:p>
          </p:txBody>
        </p:sp>
        <p:sp>
          <p:nvSpPr>
            <p:cNvPr id="4" name="文本占位符 27">
              <a:extLst>
                <a:ext uri="{FF2B5EF4-FFF2-40B4-BE49-F238E27FC236}">
                  <a16:creationId xmlns:a16="http://schemas.microsoft.com/office/drawing/2014/main" id="{3C974262-5394-90C3-08E1-6BCA290C0660}"/>
                </a:ext>
              </a:extLst>
            </p:cNvPr>
            <p:cNvSpPr txBox="1"/>
            <p:nvPr>
              <p:custDataLst>
                <p:tags r:id="rId6"/>
              </p:custDataLst>
            </p:nvPr>
          </p:nvSpPr>
          <p:spPr>
            <a:xfrm>
              <a:off x="4838700" y="5781255"/>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1"/>
                  </a:solidFill>
                  <a:latin typeface="Times New Roman" panose="02020603050405020304" charset="0"/>
                  <a:cs typeface="Times New Roman" panose="02020603050405020304" charset="0"/>
                </a:rPr>
                <a:t>交互式数据可视化</a:t>
              </a:r>
              <a:endParaRPr kumimoji="1" lang="zh-CN" altLang="en-US" dirty="0">
                <a:solidFill>
                  <a:schemeClr val="accent1"/>
                </a:solidFill>
                <a:latin typeface="Times New Roman" panose="02020603050405020304" charset="0"/>
                <a:cs typeface="Times New Roman" panose="02020603050405020304" charset="0"/>
              </a:endParaRPr>
            </a:p>
          </p:txBody>
        </p:sp>
        <p:cxnSp>
          <p:nvCxnSpPr>
            <p:cNvPr id="15" name="直线连接符 22">
              <a:extLst>
                <a:ext uri="{FF2B5EF4-FFF2-40B4-BE49-F238E27FC236}">
                  <a16:creationId xmlns:a16="http://schemas.microsoft.com/office/drawing/2014/main" id="{773E3A5F-4755-78CA-E4E4-4DABF013807C}"/>
                </a:ext>
              </a:extLst>
            </p:cNvPr>
            <p:cNvCxnSpPr/>
            <p:nvPr>
              <p:custDataLst>
                <p:tags r:id="rId7"/>
              </p:custDataLst>
            </p:nvPr>
          </p:nvCxnSpPr>
          <p:spPr>
            <a:xfrm>
              <a:off x="3797406" y="6489280"/>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F2C7898D-96D0-5F03-A02E-E48390D05026}"/>
              </a:ext>
            </a:extLst>
          </p:cNvPr>
          <p:cNvSpPr>
            <a:spLocks noGrp="1"/>
          </p:cNvSpPr>
          <p:nvPr>
            <p:ph type="title"/>
          </p:nvPr>
        </p:nvSpPr>
        <p:spPr/>
        <p:txBody>
          <a:bodyPr/>
          <a:lstStyle/>
          <a:p>
            <a:pPr algn="l"/>
            <a:r>
              <a:rPr lang="en-US" altLang="zh-CN" sz="3600" dirty="0"/>
              <a:t>6.1 </a:t>
            </a:r>
            <a:r>
              <a:rPr lang="zh-CN" altLang="en-US" sz="3600" dirty="0"/>
              <a:t>章节</a:t>
            </a:r>
            <a:r>
              <a:rPr lang="en-US" altLang="zh-CN" sz="3600" dirty="0"/>
              <a:t>R</a:t>
            </a:r>
            <a:r>
              <a:rPr lang="zh-CN" altLang="en-US" sz="3600" dirty="0"/>
              <a:t>函数包准备</a:t>
            </a:r>
          </a:p>
        </p:txBody>
      </p:sp>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3</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7" name="矩形 6">
            <a:extLst>
              <a:ext uri="{FF2B5EF4-FFF2-40B4-BE49-F238E27FC236}">
                <a16:creationId xmlns:a16="http://schemas.microsoft.com/office/drawing/2014/main" id="{769050D9-B405-715E-79F0-BC665E8EEF08}"/>
              </a:ext>
            </a:extLst>
          </p:cNvPr>
          <p:cNvSpPr/>
          <p:nvPr/>
        </p:nvSpPr>
        <p:spPr>
          <a:xfrm>
            <a:off x="851135" y="2405700"/>
            <a:ext cx="3892315" cy="2536400"/>
          </a:xfrm>
          <a:prstGeom prst="rect">
            <a:avLst/>
          </a:prstGeom>
        </p:spPr>
        <p:txBody>
          <a:bodyPr wrap="square">
            <a:spAutoFit/>
          </a:bodyPr>
          <a:lstStyle/>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 </a:t>
            </a:r>
            <a:r>
              <a:rPr lang="zh-CN" altLang="en-US"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安装函数包</a:t>
            </a:r>
          </a:p>
          <a:p>
            <a:pPr>
              <a:lnSpc>
                <a:spcPct val="150000"/>
              </a:lnSpc>
            </a:pP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GISTools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tmap</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("echarts4r")</a:t>
            </a:r>
          </a:p>
          <a:p>
            <a:pPr>
              <a:lnSpc>
                <a:spcPct val="150000"/>
              </a:lnSpc>
            </a:pP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REmap</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("leaflet")</a:t>
            </a:r>
          </a:p>
        </p:txBody>
      </p:sp>
      <p:sp>
        <p:nvSpPr>
          <p:cNvPr id="9" name="矩形 8">
            <a:extLst>
              <a:ext uri="{FF2B5EF4-FFF2-40B4-BE49-F238E27FC236}">
                <a16:creationId xmlns:a16="http://schemas.microsoft.com/office/drawing/2014/main" id="{A7CEC452-402B-A5E4-8C51-CBBE142EFEBF}"/>
              </a:ext>
            </a:extLst>
          </p:cNvPr>
          <p:cNvSpPr/>
          <p:nvPr/>
        </p:nvSpPr>
        <p:spPr>
          <a:xfrm>
            <a:off x="5524500" y="2416600"/>
            <a:ext cx="2781300" cy="2536400"/>
          </a:xfrm>
          <a:prstGeom prst="rect">
            <a:avLst/>
          </a:prstGeom>
        </p:spPr>
        <p:txBody>
          <a:bodyPr wrap="square">
            <a:spAutoFit/>
          </a:bodyPr>
          <a:lstStyle/>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 </a:t>
            </a:r>
            <a:r>
              <a:rPr lang="zh-CN" altLang="en-US"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加载函数包</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GISTools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tmap</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library(echarts4r)</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REmap</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library(leaflet)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B2C9FBE-3C71-7A42-A37D-12D2A7411CCE}"/>
              </a:ext>
            </a:extLst>
          </p:cNvPr>
          <p:cNvSpPr>
            <a:spLocks noGrp="1"/>
          </p:cNvSpPr>
          <p:nvPr>
            <p:ph type="title"/>
          </p:nvPr>
        </p:nvSpPr>
        <p:spPr/>
        <p:txBody>
          <a:bodyPr/>
          <a:lstStyle/>
          <a:p>
            <a:pPr algn="l"/>
            <a:r>
              <a:rPr lang="en-US" altLang="zh-CN" sz="3600" dirty="0"/>
              <a:t>6.2 </a:t>
            </a:r>
            <a:r>
              <a:rPr lang="zh-CN" altLang="en-US" sz="3600" dirty="0"/>
              <a:t>空间对象可视化</a:t>
            </a:r>
          </a:p>
        </p:txBody>
      </p:sp>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4</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pic>
        <p:nvPicPr>
          <p:cNvPr id="7" name="图片 6">
            <a:extLst>
              <a:ext uri="{FF2B5EF4-FFF2-40B4-BE49-F238E27FC236}">
                <a16:creationId xmlns:a16="http://schemas.microsoft.com/office/drawing/2014/main" id="{155047A0-7BE6-4879-B846-DDFE95E6EDB4}"/>
              </a:ext>
            </a:extLst>
          </p:cNvPr>
          <p:cNvPicPr>
            <a:picLocks noChangeAspect="1"/>
          </p:cNvPicPr>
          <p:nvPr/>
        </p:nvPicPr>
        <p:blipFill>
          <a:blip r:embed="rId2"/>
          <a:stretch>
            <a:fillRect/>
          </a:stretch>
        </p:blipFill>
        <p:spPr>
          <a:xfrm>
            <a:off x="571500" y="1561530"/>
            <a:ext cx="8039100" cy="4446139"/>
          </a:xfrm>
          <a:prstGeom prst="rect">
            <a:avLst/>
          </a:prstGeom>
        </p:spPr>
      </p:pic>
    </p:spTree>
    <p:extLst>
      <p:ext uri="{BB962C8B-B14F-4D97-AF65-F5344CB8AC3E}">
        <p14:creationId xmlns:p14="http://schemas.microsoft.com/office/powerpoint/2010/main" val="10312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D5A8C51-1873-603B-1759-C6FD40037508}"/>
              </a:ext>
            </a:extLst>
          </p:cNvPr>
          <p:cNvSpPr>
            <a:spLocks noGrp="1"/>
          </p:cNvSpPr>
          <p:nvPr>
            <p:ph type="title"/>
          </p:nvPr>
        </p:nvSpPr>
        <p:spPr/>
        <p:txBody>
          <a:bodyPr/>
          <a:lstStyle/>
          <a:p>
            <a:pPr algn="l"/>
            <a:r>
              <a:rPr lang="en-US" altLang="zh-CN" sz="3600" dirty="0"/>
              <a:t>6.2 </a:t>
            </a:r>
            <a:r>
              <a:rPr lang="zh-CN" altLang="en-US" sz="3600" dirty="0"/>
              <a:t>空间对象可视化</a:t>
            </a:r>
          </a:p>
        </p:txBody>
      </p:sp>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5</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8" name="矩形 7"/>
          <p:cNvSpPr/>
          <p:nvPr/>
        </p:nvSpPr>
        <p:spPr>
          <a:xfrm>
            <a:off x="1744879" y="4496795"/>
            <a:ext cx="5653051" cy="1065805"/>
          </a:xfrm>
          <a:prstGeom prst="rect">
            <a:avLst/>
          </a:prstGeom>
        </p:spPr>
        <p:txBody>
          <a:bodyPr wrap="square">
            <a:spAutoFit/>
          </a:bodyPr>
          <a:lstStyle/>
          <a:p>
            <a:pPr>
              <a:lnSpc>
                <a:spcPct val="120000"/>
              </a:lnSpc>
            </a:pPr>
            <a:r>
              <a:rPr lang="en-US" altLang="zh-CN" dirty="0">
                <a:effectLst>
                  <a:outerShdw blurRad="38100" dist="38100" dir="2700000" algn="tl">
                    <a:srgbClr val="000000">
                      <a:alpha val="43137"/>
                    </a:srgbClr>
                  </a:outerShdw>
                </a:effectLst>
                <a:latin typeface="Consolas" panose="020B0609020204030204" pitchFamily="49" charset="0"/>
                <a:ea typeface="Microsoft YaHei" panose="020B0503020204020204" pitchFamily="34" charset="-122"/>
                <a:cs typeface="+mn-ea"/>
                <a:sym typeface="Consolas" panose="020B0609020204030204" pitchFamily="49" charset="0"/>
              </a:rPr>
              <a:t>&gt; setwd("E:\\R_course\\Chapter5\\Data")</a:t>
            </a:r>
          </a:p>
          <a:p>
            <a:pPr>
              <a:lnSpc>
                <a:spcPct val="120000"/>
              </a:lnSpc>
            </a:pPr>
            <a:r>
              <a:rPr lang="en-US" altLang="zh-CN" dirty="0">
                <a:effectLst>
                  <a:outerShdw blurRad="38100" dist="38100" dir="2700000" algn="tl">
                    <a:srgbClr val="000000">
                      <a:alpha val="43137"/>
                    </a:srgbClr>
                  </a:outerShdw>
                </a:effectLst>
                <a:latin typeface="Consolas" panose="020B0609020204030204" pitchFamily="49" charset="0"/>
                <a:ea typeface="Microsoft YaHei" panose="020B0503020204020204" pitchFamily="34" charset="-122"/>
                <a:cs typeface="+mn-ea"/>
                <a:sym typeface="Consolas" panose="020B0609020204030204" pitchFamily="49" charset="0"/>
              </a:rPr>
              <a:t>&gt; getwd()</a:t>
            </a:r>
          </a:p>
          <a:p>
            <a:pPr>
              <a:lnSpc>
                <a:spcPct val="120000"/>
              </a:lnSpc>
            </a:pPr>
            <a:r>
              <a:rPr lang="en-US" altLang="zh-CN" dirty="0">
                <a:effectLst>
                  <a:outerShdw blurRad="38100" dist="38100" dir="2700000" algn="tl">
                    <a:srgbClr val="000000">
                      <a:alpha val="43137"/>
                    </a:srgbClr>
                  </a:outerShdw>
                </a:effectLst>
                <a:latin typeface="Consolas" panose="020B0609020204030204" pitchFamily="49" charset="0"/>
                <a:ea typeface="Microsoft YaHei" panose="020B0503020204020204" pitchFamily="34" charset="-122"/>
                <a:cs typeface="+mn-ea"/>
                <a:sym typeface="Consolas" panose="020B0609020204030204" pitchFamily="49" charset="0"/>
              </a:rPr>
              <a:t>[1] "E:\\R_course\\Chapter5\\Data "</a:t>
            </a:r>
          </a:p>
        </p:txBody>
      </p:sp>
      <p:sp>
        <p:nvSpPr>
          <p:cNvPr id="9" name="矩形 8"/>
          <p:cNvSpPr/>
          <p:nvPr/>
        </p:nvSpPr>
        <p:spPr>
          <a:xfrm>
            <a:off x="503039" y="1943100"/>
            <a:ext cx="8137922" cy="2124364"/>
          </a:xfrm>
          <a:prstGeom prst="rect">
            <a:avLst/>
          </a:prstGeom>
        </p:spPr>
        <p:txBody>
          <a:bodyPr wrap="square">
            <a:spAutoFit/>
          </a:bodyPr>
          <a:lstStyle/>
          <a:p>
            <a:pPr indent="457200">
              <a:lnSpc>
                <a:spcPct val="150000"/>
              </a:lnSpc>
            </a:pPr>
            <a:r>
              <a:rPr lang="en-US" altLang="zh-CN" dirty="0">
                <a:latin typeface="Consolas" panose="020B0609020204030204" pitchFamily="49" charset="0"/>
                <a:ea typeface="Microsoft YaHei" panose="020B0503020204020204" pitchFamily="34" charset="-122"/>
                <a:cs typeface="+mn-ea"/>
                <a:sym typeface="Consolas" panose="020B0609020204030204" pitchFamily="49" charset="0"/>
              </a:rPr>
              <a:t>1)</a:t>
            </a:r>
            <a:r>
              <a:rPr lang="zh-CN" altLang="en-US" dirty="0">
                <a:latin typeface="Consolas" panose="020B0609020204030204" pitchFamily="49" charset="0"/>
                <a:ea typeface="Microsoft YaHei" panose="020B0503020204020204" pitchFamily="34" charset="-122"/>
                <a:cs typeface="+mn-ea"/>
                <a:sym typeface="Consolas" panose="020B0609020204030204" pitchFamily="49" charset="0"/>
              </a:rPr>
              <a:t>按照此工作目录建立对应文件夹目录；</a:t>
            </a:r>
          </a:p>
          <a:p>
            <a:pPr indent="457200">
              <a:lnSpc>
                <a:spcPct val="150000"/>
              </a:lnSpc>
            </a:pPr>
            <a:r>
              <a:rPr lang="en-US" altLang="zh-CN" dirty="0">
                <a:latin typeface="Consolas" panose="020B0609020204030204" pitchFamily="49" charset="0"/>
                <a:ea typeface="Microsoft YaHei" panose="020B0503020204020204" pitchFamily="34" charset="-122"/>
                <a:cs typeface="+mn-ea"/>
                <a:sym typeface="Consolas" panose="020B0609020204030204" pitchFamily="49" charset="0"/>
              </a:rPr>
              <a:t>2)</a:t>
            </a:r>
            <a:r>
              <a:rPr lang="zh-CN" altLang="en-US" dirty="0">
                <a:latin typeface="Consolas" panose="020B0609020204030204" pitchFamily="49" charset="0"/>
                <a:ea typeface="Microsoft YaHei" panose="020B0503020204020204" pitchFamily="34" charset="-122"/>
                <a:cs typeface="+mn-ea"/>
                <a:sym typeface="Consolas" panose="020B0609020204030204" pitchFamily="49" charset="0"/>
              </a:rPr>
              <a:t>将本章所提供实验数据放到该文件夹下；</a:t>
            </a:r>
          </a:p>
          <a:p>
            <a:pPr indent="457200">
              <a:lnSpc>
                <a:spcPct val="150000"/>
              </a:lnSpc>
            </a:pPr>
            <a:r>
              <a:rPr lang="en-US" altLang="zh-CN" dirty="0">
                <a:latin typeface="Consolas" panose="020B0609020204030204" pitchFamily="49" charset="0"/>
                <a:ea typeface="Microsoft YaHei" panose="020B0503020204020204" pitchFamily="34" charset="-122"/>
                <a:cs typeface="+mn-ea"/>
                <a:sym typeface="Consolas" panose="020B0609020204030204" pitchFamily="49" charset="0"/>
              </a:rPr>
              <a:t>3)</a:t>
            </a:r>
            <a:r>
              <a:rPr lang="zh-CN" altLang="en-US" dirty="0">
                <a:latin typeface="Consolas" panose="020B0609020204030204" pitchFamily="49" charset="0"/>
                <a:ea typeface="Microsoft YaHei" panose="020B0503020204020204" pitchFamily="34" charset="-122"/>
                <a:cs typeface="+mn-ea"/>
                <a:sym typeface="Consolas" panose="020B0609020204030204" pitchFamily="49" charset="0"/>
              </a:rPr>
              <a:t>执行下面空间数据对象写出代码时，所写出的数据文件也将自动存储到该文件夹目录下；</a:t>
            </a:r>
          </a:p>
          <a:p>
            <a:pPr indent="457200">
              <a:lnSpc>
                <a:spcPct val="150000"/>
              </a:lnSpc>
            </a:pPr>
            <a:r>
              <a:rPr lang="en-US" altLang="zh-CN" dirty="0">
                <a:latin typeface="Consolas" panose="020B0609020204030204" pitchFamily="49" charset="0"/>
                <a:ea typeface="Microsoft YaHei" panose="020B0503020204020204" pitchFamily="34" charset="-122"/>
                <a:cs typeface="+mn-ea"/>
                <a:sym typeface="Consolas" panose="020B0609020204030204" pitchFamily="49" charset="0"/>
              </a:rPr>
              <a:t>4)</a:t>
            </a:r>
            <a:r>
              <a:rPr lang="zh-CN" altLang="en-US" dirty="0">
                <a:latin typeface="Consolas" panose="020B0609020204030204" pitchFamily="49" charset="0"/>
                <a:ea typeface="Microsoft YaHei" panose="020B0503020204020204" pitchFamily="34" charset="-122"/>
                <a:cs typeface="+mn-ea"/>
                <a:sym typeface="Consolas" panose="020B0609020204030204" pitchFamily="49" charset="0"/>
              </a:rPr>
              <a:t>执行以下代码：</a:t>
            </a:r>
          </a:p>
        </p:txBody>
      </p:sp>
      <p:sp>
        <p:nvSpPr>
          <p:cNvPr id="7" name="矩形 6">
            <a:extLst>
              <a:ext uri="{FF2B5EF4-FFF2-40B4-BE49-F238E27FC236}">
                <a16:creationId xmlns:a16="http://schemas.microsoft.com/office/drawing/2014/main" id="{F40B62D6-A255-E90C-65B1-53259E822548}"/>
              </a:ext>
            </a:extLst>
          </p:cNvPr>
          <p:cNvSpPr/>
          <p:nvPr/>
        </p:nvSpPr>
        <p:spPr>
          <a:xfrm>
            <a:off x="3555743" y="1066800"/>
            <a:ext cx="2031326" cy="502638"/>
          </a:xfrm>
          <a:prstGeom prst="rect">
            <a:avLst/>
          </a:prstGeom>
        </p:spPr>
        <p:txBody>
          <a:bodyPr wrap="none">
            <a:spAutoFit/>
          </a:bodyPr>
          <a:lstStyle/>
          <a:p>
            <a:pPr algn="ctr">
              <a:lnSpc>
                <a:spcPct val="120000"/>
              </a:lnSpc>
            </a:pPr>
            <a:r>
              <a:rPr lang="zh-CN" altLang="en-US" sz="2400" b="1" dirty="0">
                <a:latin typeface="Consolas" panose="020B0609020204030204" pitchFamily="49" charset="0"/>
                <a:ea typeface="微软雅黑" panose="020B0503020204020204" pitchFamily="34" charset="-122"/>
                <a:cs typeface="+mn-ea"/>
                <a:sym typeface="Consolas" panose="020B0609020204030204" pitchFamily="49" charset="0"/>
              </a:rPr>
              <a:t>约定工作目录</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6</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5" name="矩形 4">
            <a:extLst>
              <a:ext uri="{FF2B5EF4-FFF2-40B4-BE49-F238E27FC236}">
                <a16:creationId xmlns:a16="http://schemas.microsoft.com/office/drawing/2014/main" id="{AE2C9438-C878-4D76-95C9-CDB4CA1C3DF3}"/>
              </a:ext>
            </a:extLst>
          </p:cNvPr>
          <p:cNvSpPr/>
          <p:nvPr/>
        </p:nvSpPr>
        <p:spPr>
          <a:xfrm>
            <a:off x="723900" y="1676400"/>
            <a:ext cx="8096907" cy="4201728"/>
          </a:xfrm>
          <a:prstGeom prst="rect">
            <a:avLst/>
          </a:prstGeom>
        </p:spPr>
        <p:txBody>
          <a:bodyPr wrap="square">
            <a:spAutoFit/>
          </a:bodyPr>
          <a:lstStyle/>
          <a:p>
            <a:pPr marL="0" marR="0" indent="0" algn="l">
              <a:lnSpc>
                <a:spcPct val="150000"/>
              </a:lnSpc>
              <a:buNone/>
            </a:pP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library(sf)</a:t>
            </a:r>
            <a:endParaRPr lang="en-US" altLang="zh-CN"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setwd</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"E:/R_course/Chapter6/Data"</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WHHP&lt;-</a:t>
            </a:r>
            <a:r>
              <a:rPr lang="en-US" altLang="zh-CN"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read_sf</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"WHHP_2015.shp"</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Pop_Den</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Avg_Pop</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Avg_Shap_1</a:t>
            </a:r>
            <a:endParaRPr lang="en-US" altLang="zh-CN"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names(WHHP)</a:t>
            </a:r>
            <a:endParaRPr lang="en-US" altLang="zh-CN"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 &lt;- WHHP[, -c(</a:t>
            </a:r>
            <a:r>
              <a:rPr lang="en-US" altLang="zh-CN"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9</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19</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22</a:t>
            </a:r>
            <a:r>
              <a:rPr lang="en-US" altLang="zh-CN"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23</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names(WHHP)</a:t>
            </a:r>
            <a:endParaRPr lang="en-US" altLang="zh-CN"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pP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names(WHHP) &lt;- c(</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"Pop"</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Annual_AQI</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Green_Rate</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GDP_per_Land</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Rev_per_Land</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FAI_per_Land</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TertI_Rate</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Den_POI</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"Length"</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"Area"</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"geometry"</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Pop_Den</a:t>
            </a:r>
            <a:r>
              <a:rPr lang="en-US" altLang="zh-CN"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8" name="标题 4">
            <a:extLst>
              <a:ext uri="{FF2B5EF4-FFF2-40B4-BE49-F238E27FC236}">
                <a16:creationId xmlns:a16="http://schemas.microsoft.com/office/drawing/2014/main" id="{B1A709AB-A3FA-FD30-57EF-398288C737BA}"/>
              </a:ext>
            </a:extLst>
          </p:cNvPr>
          <p:cNvSpPr>
            <a:spLocks noGrp="1"/>
          </p:cNvSpPr>
          <p:nvPr>
            <p:ph type="title"/>
          </p:nvPr>
        </p:nvSpPr>
        <p:spPr>
          <a:xfrm>
            <a:off x="1181101" y="342900"/>
            <a:ext cx="6896099" cy="663575"/>
          </a:xfrm>
        </p:spPr>
        <p:txBody>
          <a:bodyPr/>
          <a:lstStyle/>
          <a:p>
            <a:pPr algn="l"/>
            <a:r>
              <a:rPr lang="en-US" altLang="zh-CN" sz="3600" dirty="0"/>
              <a:t>6.2 </a:t>
            </a:r>
            <a:r>
              <a:rPr lang="zh-CN" altLang="en-US" sz="3600" dirty="0"/>
              <a:t>空间对象可视化</a:t>
            </a:r>
          </a:p>
        </p:txBody>
      </p:sp>
    </p:spTree>
    <p:extLst>
      <p:ext uri="{BB962C8B-B14F-4D97-AF65-F5344CB8AC3E}">
        <p14:creationId xmlns:p14="http://schemas.microsoft.com/office/powerpoint/2010/main" val="3803980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7</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5" name="矩形 4">
            <a:extLst>
              <a:ext uri="{FF2B5EF4-FFF2-40B4-BE49-F238E27FC236}">
                <a16:creationId xmlns:a16="http://schemas.microsoft.com/office/drawing/2014/main" id="{AE2C9438-C878-4D76-95C9-CDB4CA1C3DF3}"/>
              </a:ext>
            </a:extLst>
          </p:cNvPr>
          <p:cNvSpPr/>
          <p:nvPr/>
        </p:nvSpPr>
        <p:spPr>
          <a:xfrm>
            <a:off x="381000" y="1155074"/>
            <a:ext cx="8382000" cy="285271"/>
          </a:xfrm>
          <a:prstGeom prst="rect">
            <a:avLst/>
          </a:prstGeom>
        </p:spPr>
        <p:txBody>
          <a:bodyPr wrap="square">
            <a:spAutoFit/>
          </a:bodyPr>
          <a:lstStyle/>
          <a:p>
            <a:pPr marL="0" marR="0" indent="0" algn="ctr">
              <a:lnSpc>
                <a:spcPts val="1425"/>
              </a:lnSpc>
            </a:pPr>
            <a:r>
              <a:rPr lang="en-US" altLang="zh-CN" sz="18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plot(WHHP)</a:t>
            </a:r>
            <a:endParaRPr lang="en-US" altLang="zh-CN" sz="24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6" name="图片 5">
            <a:extLst>
              <a:ext uri="{FF2B5EF4-FFF2-40B4-BE49-F238E27FC236}">
                <a16:creationId xmlns:a16="http://schemas.microsoft.com/office/drawing/2014/main" id="{15C30C28-4D2D-4DF0-9F75-3D37E627FF5A}"/>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943100" y="1524000"/>
            <a:ext cx="5274310" cy="5274310"/>
          </a:xfrm>
          <a:prstGeom prst="rect">
            <a:avLst/>
          </a:prstGeom>
        </p:spPr>
      </p:pic>
      <p:sp>
        <p:nvSpPr>
          <p:cNvPr id="10" name="标题 4">
            <a:extLst>
              <a:ext uri="{FF2B5EF4-FFF2-40B4-BE49-F238E27FC236}">
                <a16:creationId xmlns:a16="http://schemas.microsoft.com/office/drawing/2014/main" id="{254B26F6-BB54-D763-711D-03E8EDFA2DB6}"/>
              </a:ext>
            </a:extLst>
          </p:cNvPr>
          <p:cNvSpPr>
            <a:spLocks noGrp="1"/>
          </p:cNvSpPr>
          <p:nvPr>
            <p:ph type="title"/>
          </p:nvPr>
        </p:nvSpPr>
        <p:spPr>
          <a:xfrm>
            <a:off x="1181101" y="342900"/>
            <a:ext cx="6896099" cy="663575"/>
          </a:xfrm>
        </p:spPr>
        <p:txBody>
          <a:bodyPr/>
          <a:lstStyle/>
          <a:p>
            <a:pPr algn="l"/>
            <a:r>
              <a:rPr lang="en-US" altLang="zh-CN" sz="3600" dirty="0"/>
              <a:t>6.2 </a:t>
            </a:r>
            <a:r>
              <a:rPr lang="zh-CN" altLang="en-US" sz="3600" dirty="0"/>
              <a:t>空间对象可视化</a:t>
            </a:r>
          </a:p>
        </p:txBody>
      </p:sp>
    </p:spTree>
    <p:extLst>
      <p:ext uri="{BB962C8B-B14F-4D97-AF65-F5344CB8AC3E}">
        <p14:creationId xmlns:p14="http://schemas.microsoft.com/office/powerpoint/2010/main" val="2048587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8</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5" name="矩形 4">
            <a:extLst>
              <a:ext uri="{FF2B5EF4-FFF2-40B4-BE49-F238E27FC236}">
                <a16:creationId xmlns:a16="http://schemas.microsoft.com/office/drawing/2014/main" id="{AE2C9438-C878-4D76-95C9-CDB4CA1C3DF3}"/>
              </a:ext>
            </a:extLst>
          </p:cNvPr>
          <p:cNvSpPr/>
          <p:nvPr/>
        </p:nvSpPr>
        <p:spPr>
          <a:xfrm>
            <a:off x="2895600" y="1182469"/>
            <a:ext cx="3352800" cy="646331"/>
          </a:xfrm>
          <a:prstGeom prst="rect">
            <a:avLst/>
          </a:prstGeom>
        </p:spPr>
        <p:txBody>
          <a:bodyPr wrap="square">
            <a:spAutoFit/>
          </a:bodyPr>
          <a:lstStyle/>
          <a:p>
            <a:pPr indent="254000">
              <a:spcAft>
                <a:spcPts val="0"/>
              </a:spcAft>
            </a:pPr>
            <a:r>
              <a:rPr lang="en-US" altLang="zh-CN" dirty="0">
                <a:effectLst>
                  <a:outerShdw blurRad="38100" dist="38100" dir="2700000" algn="tl">
                    <a:srgbClr val="000000">
                      <a:alpha val="43137"/>
                    </a:srgbClr>
                  </a:outerShdw>
                </a:effectLst>
                <a:latin typeface="Consolas" panose="020B0609020204030204" pitchFamily="49" charset="0"/>
                <a:ea typeface="宋体" panose="02010600030101010101" pitchFamily="2" charset="-122"/>
              </a:rPr>
              <a:t>plot(</a:t>
            </a:r>
            <a:r>
              <a:rPr lang="en-US" altLang="zh-CN" dirty="0" err="1">
                <a:effectLst>
                  <a:outerShdw blurRad="38100" dist="38100" dir="2700000" algn="tl">
                    <a:srgbClr val="000000">
                      <a:alpha val="43137"/>
                    </a:srgbClr>
                  </a:outerShdw>
                </a:effectLst>
                <a:latin typeface="Consolas" panose="020B0609020204030204" pitchFamily="49" charset="0"/>
                <a:ea typeface="宋体" panose="02010600030101010101" pitchFamily="2" charset="-122"/>
              </a:rPr>
              <a:t>WHHP$geometry</a:t>
            </a:r>
            <a:r>
              <a:rPr lang="en-US" altLang="zh-CN" dirty="0">
                <a:effectLst>
                  <a:outerShdw blurRad="38100" dist="38100" dir="2700000" algn="tl">
                    <a:srgbClr val="000000">
                      <a:alpha val="43137"/>
                    </a:srgbClr>
                  </a:outerShdw>
                </a:effectLst>
                <a:latin typeface="Consolas" panose="020B0609020204030204" pitchFamily="49" charset="0"/>
                <a:ea typeface="宋体" panose="02010600030101010101" pitchFamily="2" charset="-122"/>
              </a:rPr>
              <a:t>)</a:t>
            </a:r>
          </a:p>
          <a:p>
            <a:pPr indent="254000">
              <a:spcAft>
                <a:spcPts val="0"/>
              </a:spcAft>
            </a:pPr>
            <a:r>
              <a:rPr lang="en-US" altLang="zh-CN" dirty="0">
                <a:effectLst>
                  <a:outerShdw blurRad="38100" dist="38100" dir="2700000" algn="tl">
                    <a:srgbClr val="000000">
                      <a:alpha val="43137"/>
                    </a:srgbClr>
                  </a:outerShdw>
                </a:effectLst>
                <a:latin typeface="Consolas" panose="020B0609020204030204" pitchFamily="49" charset="0"/>
                <a:ea typeface="宋体" panose="02010600030101010101" pitchFamily="2" charset="-122"/>
              </a:rPr>
              <a:t>plot(</a:t>
            </a:r>
            <a:r>
              <a:rPr lang="en-US" altLang="zh-CN" dirty="0" err="1">
                <a:effectLst>
                  <a:outerShdw blurRad="38100" dist="38100" dir="2700000" algn="tl">
                    <a:srgbClr val="000000">
                      <a:alpha val="43137"/>
                    </a:srgbClr>
                  </a:outerShdw>
                </a:effectLst>
                <a:latin typeface="Consolas" panose="020B0609020204030204" pitchFamily="49" charset="0"/>
                <a:ea typeface="宋体" panose="02010600030101010101" pitchFamily="2" charset="-122"/>
              </a:rPr>
              <a:t>st_geometry</a:t>
            </a:r>
            <a:r>
              <a:rPr lang="en-US" altLang="zh-CN" dirty="0">
                <a:effectLst>
                  <a:outerShdw blurRad="38100" dist="38100" dir="2700000" algn="tl">
                    <a:srgbClr val="000000">
                      <a:alpha val="43137"/>
                    </a:srgbClr>
                  </a:outerShdw>
                </a:effectLst>
                <a:latin typeface="Consolas" panose="020B0609020204030204" pitchFamily="49" charset="0"/>
                <a:ea typeface="宋体" panose="02010600030101010101" pitchFamily="2" charset="-122"/>
              </a:rPr>
              <a:t>(WHHP))</a:t>
            </a:r>
          </a:p>
        </p:txBody>
      </p:sp>
      <p:pic>
        <p:nvPicPr>
          <p:cNvPr id="6" name="图片 5">
            <a:extLst>
              <a:ext uri="{FF2B5EF4-FFF2-40B4-BE49-F238E27FC236}">
                <a16:creationId xmlns:a16="http://schemas.microsoft.com/office/drawing/2014/main" id="{F0E464A6-DC95-4FF2-98D0-8AB700D76AF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704975" y="1975653"/>
            <a:ext cx="5734050" cy="4539447"/>
          </a:xfrm>
          <a:prstGeom prst="rect">
            <a:avLst/>
          </a:prstGeom>
          <a:noFill/>
          <a:ln>
            <a:noFill/>
          </a:ln>
        </p:spPr>
      </p:pic>
      <p:sp>
        <p:nvSpPr>
          <p:cNvPr id="10" name="标题 4">
            <a:extLst>
              <a:ext uri="{FF2B5EF4-FFF2-40B4-BE49-F238E27FC236}">
                <a16:creationId xmlns:a16="http://schemas.microsoft.com/office/drawing/2014/main" id="{4F18D285-A0CD-A9F9-F053-13B1860DE336}"/>
              </a:ext>
            </a:extLst>
          </p:cNvPr>
          <p:cNvSpPr>
            <a:spLocks noGrp="1"/>
          </p:cNvSpPr>
          <p:nvPr>
            <p:ph type="title"/>
          </p:nvPr>
        </p:nvSpPr>
        <p:spPr>
          <a:xfrm>
            <a:off x="1181101" y="342900"/>
            <a:ext cx="6896099" cy="663575"/>
          </a:xfrm>
        </p:spPr>
        <p:txBody>
          <a:bodyPr/>
          <a:lstStyle/>
          <a:p>
            <a:pPr algn="l"/>
            <a:r>
              <a:rPr lang="en-US" altLang="zh-CN" sz="3600" dirty="0"/>
              <a:t>6.2 </a:t>
            </a:r>
            <a:r>
              <a:rPr lang="zh-CN" altLang="en-US" sz="3600" dirty="0"/>
              <a:t>空间对象可视化</a:t>
            </a:r>
          </a:p>
        </p:txBody>
      </p:sp>
    </p:spTree>
    <p:extLst>
      <p:ext uri="{BB962C8B-B14F-4D97-AF65-F5344CB8AC3E}">
        <p14:creationId xmlns:p14="http://schemas.microsoft.com/office/powerpoint/2010/main" val="3005639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9</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5" name="矩形 4">
            <a:extLst>
              <a:ext uri="{FF2B5EF4-FFF2-40B4-BE49-F238E27FC236}">
                <a16:creationId xmlns:a16="http://schemas.microsoft.com/office/drawing/2014/main" id="{AE2C9438-C878-4D76-95C9-CDB4CA1C3DF3}"/>
              </a:ext>
            </a:extLst>
          </p:cNvPr>
          <p:cNvSpPr/>
          <p:nvPr/>
        </p:nvSpPr>
        <p:spPr>
          <a:xfrm>
            <a:off x="590550" y="1529162"/>
            <a:ext cx="7962900" cy="1252138"/>
          </a:xfrm>
          <a:prstGeom prst="rect">
            <a:avLst/>
          </a:prstGeom>
        </p:spPr>
        <p:txBody>
          <a:bodyPr wrap="square">
            <a:spAutoFit/>
          </a:bodyPr>
          <a:lstStyle/>
          <a:p>
            <a:pPr marL="0" marR="0" indent="0" algn="l">
              <a:lnSpc>
                <a:spcPct val="120000"/>
              </a:lnSpc>
              <a:buNone/>
            </a:pPr>
            <a:r>
              <a:rPr lang="en-US" altLang="zh-CN" sz="16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HP_outline</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a:t>
            </a:r>
            <a:r>
              <a:rPr lang="en-US" altLang="zh-CN" sz="16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st_union</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endParaRPr lang="en-US" altLang="zh-CN" sz="20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20000"/>
              </a:lnSpc>
              <a:buNone/>
            </a:pP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plot(</a:t>
            </a:r>
            <a:r>
              <a:rPr lang="en-US" altLang="zh-CN" sz="16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sz="16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6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"red"</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bg</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6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skyblue</a:t>
            </a:r>
            <a:r>
              <a:rPr lang="en-US" altLang="zh-CN" sz="16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lty</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6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,border = </a:t>
            </a:r>
            <a:r>
              <a:rPr lang="en-US" altLang="zh-CN" sz="16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"blue"</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20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20000"/>
              </a:lnSpc>
              <a:buNone/>
            </a:pP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plot(</a:t>
            </a:r>
            <a:r>
              <a:rPr lang="en-US" altLang="zh-CN" sz="16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HP_outline,lwd</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6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,add = </a:t>
            </a:r>
            <a:r>
              <a:rPr lang="en-US" altLang="zh-CN" sz="160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TRUE</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20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20000"/>
              </a:lnSpc>
            </a:pP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title(main=</a:t>
            </a:r>
            <a:r>
              <a:rPr lang="en-US" altLang="zh-CN" sz="16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"The Central Zone of Wuhan"</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6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font.main</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6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cex.main</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1.5</a:t>
            </a:r>
            <a:r>
              <a:rPr lang="en-US" altLang="zh-CN" sz="16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20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7" name="图片 6">
            <a:extLst>
              <a:ext uri="{FF2B5EF4-FFF2-40B4-BE49-F238E27FC236}">
                <a16:creationId xmlns:a16="http://schemas.microsoft.com/office/drawing/2014/main" id="{465B6C6A-4058-44D4-A15D-E9ACAC41D216}"/>
              </a:ext>
            </a:extLst>
          </p:cNvPr>
          <p:cNvPicPr/>
          <p:nvPr/>
        </p:nvPicPr>
        <p:blipFill rotWithShape="1">
          <a:blip r:embed="rId2" cstate="print">
            <a:extLst>
              <a:ext uri="{28A0092B-C50C-407E-A947-70E740481C1C}">
                <a14:useLocalDpi xmlns:a14="http://schemas.microsoft.com/office/drawing/2010/main" val="0"/>
              </a:ext>
            </a:extLst>
          </a:blip>
          <a:srcRect l="6035" t="2963" b="15612"/>
          <a:stretch/>
        </p:blipFill>
        <p:spPr bwMode="auto">
          <a:xfrm>
            <a:off x="2220595" y="2857500"/>
            <a:ext cx="4702810" cy="3893110"/>
          </a:xfrm>
          <a:prstGeom prst="rect">
            <a:avLst/>
          </a:prstGeom>
          <a:ln>
            <a:noFill/>
          </a:ln>
          <a:extLst>
            <a:ext uri="{53640926-AAD7-44D8-BBD7-CCE9431645EC}">
              <a14:shadowObscured xmlns:a14="http://schemas.microsoft.com/office/drawing/2010/main"/>
            </a:ext>
          </a:extLst>
        </p:spPr>
      </p:pic>
      <p:sp>
        <p:nvSpPr>
          <p:cNvPr id="10" name="矩形 9">
            <a:extLst>
              <a:ext uri="{FF2B5EF4-FFF2-40B4-BE49-F238E27FC236}">
                <a16:creationId xmlns:a16="http://schemas.microsoft.com/office/drawing/2014/main" id="{D3182C61-119A-F5B9-6352-857568E9DF1A}"/>
              </a:ext>
            </a:extLst>
          </p:cNvPr>
          <p:cNvSpPr/>
          <p:nvPr/>
        </p:nvSpPr>
        <p:spPr>
          <a:xfrm>
            <a:off x="3524485" y="1066800"/>
            <a:ext cx="2093843" cy="497957"/>
          </a:xfrm>
          <a:prstGeom prst="rect">
            <a:avLst/>
          </a:prstGeom>
        </p:spPr>
        <p:txBody>
          <a:bodyPr wrap="none">
            <a:spAutoFit/>
          </a:bodyPr>
          <a:lstStyle/>
          <a:p>
            <a:pPr algn="ctr">
              <a:lnSpc>
                <a:spcPct val="120000"/>
              </a:lnSpc>
            </a:pPr>
            <a:r>
              <a:rPr lang="zh-CN" altLang="en-US" sz="2400" b="1" dirty="0">
                <a:latin typeface="Times New Roman" panose="02020603050405020304" charset="0"/>
                <a:ea typeface="+mj-ea"/>
                <a:cs typeface="Times New Roman" panose="02020603050405020304" charset="0"/>
                <a:sym typeface="Consolas" panose="020B0609020204030204" pitchFamily="49" charset="0"/>
              </a:rPr>
              <a:t>添加制图要素</a:t>
            </a:r>
          </a:p>
        </p:txBody>
      </p:sp>
      <p:sp>
        <p:nvSpPr>
          <p:cNvPr id="11" name="标题 4">
            <a:extLst>
              <a:ext uri="{FF2B5EF4-FFF2-40B4-BE49-F238E27FC236}">
                <a16:creationId xmlns:a16="http://schemas.microsoft.com/office/drawing/2014/main" id="{7A7F7DE9-08D0-6E81-F44B-091313A0EC60}"/>
              </a:ext>
            </a:extLst>
          </p:cNvPr>
          <p:cNvSpPr>
            <a:spLocks noGrp="1"/>
          </p:cNvSpPr>
          <p:nvPr>
            <p:ph type="title"/>
          </p:nvPr>
        </p:nvSpPr>
        <p:spPr>
          <a:xfrm>
            <a:off x="1181101" y="342900"/>
            <a:ext cx="6896099" cy="663575"/>
          </a:xfrm>
        </p:spPr>
        <p:txBody>
          <a:bodyPr/>
          <a:lstStyle/>
          <a:p>
            <a:pPr algn="l"/>
            <a:r>
              <a:rPr lang="en-US" altLang="zh-CN" sz="3600" dirty="0"/>
              <a:t>6.2 </a:t>
            </a:r>
            <a:r>
              <a:rPr lang="zh-CN" altLang="en-US" sz="3600" dirty="0"/>
              <a:t>空间对象可视化</a:t>
            </a:r>
          </a:p>
        </p:txBody>
      </p:sp>
    </p:spTree>
    <p:extLst>
      <p:ext uri="{BB962C8B-B14F-4D97-AF65-F5344CB8AC3E}">
        <p14:creationId xmlns:p14="http://schemas.microsoft.com/office/powerpoint/2010/main" val="2664403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10</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5" name="矩形 4">
            <a:extLst>
              <a:ext uri="{FF2B5EF4-FFF2-40B4-BE49-F238E27FC236}">
                <a16:creationId xmlns:a16="http://schemas.microsoft.com/office/drawing/2014/main" id="{AE2C9438-C878-4D76-95C9-CDB4CA1C3DF3}"/>
              </a:ext>
            </a:extLst>
          </p:cNvPr>
          <p:cNvSpPr/>
          <p:nvPr/>
        </p:nvSpPr>
        <p:spPr>
          <a:xfrm>
            <a:off x="609600" y="1549847"/>
            <a:ext cx="7924800" cy="418513"/>
          </a:xfrm>
          <a:prstGeom prst="rect">
            <a:avLst/>
          </a:prstGeom>
        </p:spPr>
        <p:txBody>
          <a:bodyPr wrap="square">
            <a:spAutoFit/>
          </a:bodyPr>
          <a:lstStyle/>
          <a:p>
            <a:pPr indent="254000" algn="just">
              <a:lnSpc>
                <a:spcPct val="150000"/>
              </a:lnSpc>
              <a:spcAft>
                <a:spcPts val="0"/>
              </a:spcAft>
            </a:pPr>
            <a:r>
              <a:rPr lang="zh-CN" altLang="en-US" sz="1600" dirty="0">
                <a:latin typeface="+mn-ea"/>
                <a:ea typeface="+mn-ea"/>
              </a:rPr>
              <a:t>函数包</a:t>
            </a:r>
            <a:r>
              <a:rPr lang="en-US" altLang="zh-CN" sz="1600" dirty="0" err="1">
                <a:latin typeface="+mn-ea"/>
                <a:ea typeface="+mn-ea"/>
              </a:rPr>
              <a:t>tmap</a:t>
            </a:r>
            <a:r>
              <a:rPr lang="zh-CN" altLang="en-US" sz="1600" dirty="0">
                <a:latin typeface="+mn-ea"/>
                <a:ea typeface="+mn-ea"/>
              </a:rPr>
              <a:t>提供的添加对应制图元素的函数则为</a:t>
            </a:r>
            <a:r>
              <a:rPr lang="en-US" altLang="zh-CN" sz="1600" dirty="0" err="1">
                <a:latin typeface="+mn-ea"/>
                <a:ea typeface="+mn-ea"/>
              </a:rPr>
              <a:t>tm_scale_bar</a:t>
            </a:r>
            <a:r>
              <a:rPr lang="en-US" altLang="zh-CN" sz="1600" dirty="0">
                <a:latin typeface="+mn-ea"/>
                <a:ea typeface="+mn-ea"/>
              </a:rPr>
              <a:t>()</a:t>
            </a:r>
            <a:r>
              <a:rPr lang="zh-CN" altLang="en-US" sz="1600" dirty="0">
                <a:latin typeface="+mn-ea"/>
                <a:ea typeface="+mn-ea"/>
              </a:rPr>
              <a:t>和</a:t>
            </a:r>
            <a:r>
              <a:rPr lang="en-US" altLang="zh-CN" sz="1600" dirty="0" err="1">
                <a:latin typeface="+mn-ea"/>
                <a:ea typeface="+mn-ea"/>
              </a:rPr>
              <a:t>tm_compass</a:t>
            </a:r>
            <a:r>
              <a:rPr lang="en-US" altLang="zh-CN" sz="1600" dirty="0">
                <a:latin typeface="+mn-ea"/>
                <a:ea typeface="+mn-ea"/>
              </a:rPr>
              <a:t>()</a:t>
            </a:r>
            <a:endParaRPr lang="zh-CN" altLang="zh-CN" sz="2400" dirty="0">
              <a:latin typeface="+mn-ea"/>
              <a:ea typeface="+mn-ea"/>
            </a:endParaRPr>
          </a:p>
        </p:txBody>
      </p:sp>
      <p:sp>
        <p:nvSpPr>
          <p:cNvPr id="6" name="矩形 5">
            <a:extLst>
              <a:ext uri="{FF2B5EF4-FFF2-40B4-BE49-F238E27FC236}">
                <a16:creationId xmlns:a16="http://schemas.microsoft.com/office/drawing/2014/main" id="{5A349022-6DF3-4A05-845C-B0DDB50C6930}"/>
              </a:ext>
            </a:extLst>
          </p:cNvPr>
          <p:cNvSpPr/>
          <p:nvPr/>
        </p:nvSpPr>
        <p:spPr>
          <a:xfrm>
            <a:off x="1676400" y="1943100"/>
            <a:ext cx="5791200" cy="990015"/>
          </a:xfrm>
          <a:prstGeom prst="rect">
            <a:avLst/>
          </a:prstGeom>
        </p:spPr>
        <p:txBody>
          <a:bodyPr wrap="square">
            <a:spAutoFit/>
          </a:bodyPr>
          <a:lstStyle/>
          <a:p>
            <a:pPr marL="0" marR="0" indent="0" algn="l">
              <a:lnSpc>
                <a:spcPts val="1425"/>
              </a:lnSpc>
              <a:buNone/>
            </a:pP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 +</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tm_borders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lty</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col =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"black"</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tm_compass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(position = c(</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"right"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"top"</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tm_scale_bar</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(position = c(</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"left"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"bottom"</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tm_layout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(title =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"The Map of Wuhan"</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title.position</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c(</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"left"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"top"</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8" name="图片 7">
            <a:extLst>
              <a:ext uri="{FF2B5EF4-FFF2-40B4-BE49-F238E27FC236}">
                <a16:creationId xmlns:a16="http://schemas.microsoft.com/office/drawing/2014/main" id="{D7BB6465-38DE-4EEC-A63C-E4536BC37FED}"/>
              </a:ext>
            </a:extLst>
          </p:cNvPr>
          <p:cNvPicPr/>
          <p:nvPr/>
        </p:nvPicPr>
        <p:blipFill rotWithShape="1">
          <a:blip r:embed="rId2"/>
          <a:srcRect l="1644" t="10188" r="1218" b="10268"/>
          <a:stretch/>
        </p:blipFill>
        <p:spPr bwMode="auto">
          <a:xfrm>
            <a:off x="2247898" y="2994531"/>
            <a:ext cx="4648203" cy="3717002"/>
          </a:xfrm>
          <a:prstGeom prst="rect">
            <a:avLst/>
          </a:prstGeom>
          <a:ln>
            <a:noFill/>
          </a:ln>
          <a:extLst>
            <a:ext uri="{53640926-AAD7-44D8-BBD7-CCE9431645EC}">
              <a14:shadowObscured xmlns:a14="http://schemas.microsoft.com/office/drawing/2010/main"/>
            </a:ext>
          </a:extLst>
        </p:spPr>
      </p:pic>
      <p:sp>
        <p:nvSpPr>
          <p:cNvPr id="11" name="矩形 10">
            <a:extLst>
              <a:ext uri="{FF2B5EF4-FFF2-40B4-BE49-F238E27FC236}">
                <a16:creationId xmlns:a16="http://schemas.microsoft.com/office/drawing/2014/main" id="{492BFFCC-3B35-AA55-2C7D-7480A2241786}"/>
              </a:ext>
            </a:extLst>
          </p:cNvPr>
          <p:cNvSpPr/>
          <p:nvPr/>
        </p:nvSpPr>
        <p:spPr>
          <a:xfrm>
            <a:off x="3524485" y="1066800"/>
            <a:ext cx="2093843" cy="497957"/>
          </a:xfrm>
          <a:prstGeom prst="rect">
            <a:avLst/>
          </a:prstGeom>
        </p:spPr>
        <p:txBody>
          <a:bodyPr wrap="none">
            <a:spAutoFit/>
          </a:bodyPr>
          <a:lstStyle/>
          <a:p>
            <a:pPr algn="ctr">
              <a:lnSpc>
                <a:spcPct val="120000"/>
              </a:lnSpc>
            </a:pPr>
            <a:r>
              <a:rPr lang="zh-CN" altLang="en-US" sz="2400" b="1" dirty="0">
                <a:latin typeface="Times New Roman" panose="02020603050405020304" charset="0"/>
                <a:ea typeface="+mj-ea"/>
                <a:cs typeface="Times New Roman" panose="02020603050405020304" charset="0"/>
                <a:sym typeface="Consolas" panose="020B0609020204030204" pitchFamily="49" charset="0"/>
              </a:rPr>
              <a:t>添加制图要素</a:t>
            </a:r>
          </a:p>
        </p:txBody>
      </p:sp>
      <p:sp>
        <p:nvSpPr>
          <p:cNvPr id="12" name="标题 4">
            <a:extLst>
              <a:ext uri="{FF2B5EF4-FFF2-40B4-BE49-F238E27FC236}">
                <a16:creationId xmlns:a16="http://schemas.microsoft.com/office/drawing/2014/main" id="{CB949216-839E-A2E3-073E-BD28D061BC71}"/>
              </a:ext>
            </a:extLst>
          </p:cNvPr>
          <p:cNvSpPr>
            <a:spLocks noGrp="1"/>
          </p:cNvSpPr>
          <p:nvPr>
            <p:ph type="title"/>
          </p:nvPr>
        </p:nvSpPr>
        <p:spPr>
          <a:xfrm>
            <a:off x="1181101" y="342900"/>
            <a:ext cx="6896099" cy="663575"/>
          </a:xfrm>
        </p:spPr>
        <p:txBody>
          <a:bodyPr/>
          <a:lstStyle/>
          <a:p>
            <a:pPr algn="l"/>
            <a:r>
              <a:rPr lang="en-US" altLang="zh-CN" sz="3600" dirty="0"/>
              <a:t>6.2 </a:t>
            </a:r>
            <a:r>
              <a:rPr lang="zh-CN" altLang="en-US" sz="3600" dirty="0"/>
              <a:t>空间对象可视化</a:t>
            </a:r>
          </a:p>
        </p:txBody>
      </p:sp>
    </p:spTree>
    <p:extLst>
      <p:ext uri="{BB962C8B-B14F-4D97-AF65-F5344CB8AC3E}">
        <p14:creationId xmlns:p14="http://schemas.microsoft.com/office/powerpoint/2010/main" val="2492333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11</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5" name="矩形 4">
            <a:extLst>
              <a:ext uri="{FF2B5EF4-FFF2-40B4-BE49-F238E27FC236}">
                <a16:creationId xmlns:a16="http://schemas.microsoft.com/office/drawing/2014/main" id="{AE2C9438-C878-4D76-95C9-CDB4CA1C3DF3}"/>
              </a:ext>
            </a:extLst>
          </p:cNvPr>
          <p:cNvSpPr/>
          <p:nvPr/>
        </p:nvSpPr>
        <p:spPr>
          <a:xfrm>
            <a:off x="1493043" y="1524000"/>
            <a:ext cx="6126957" cy="418513"/>
          </a:xfrm>
          <a:prstGeom prst="rect">
            <a:avLst/>
          </a:prstGeom>
        </p:spPr>
        <p:txBody>
          <a:bodyPr wrap="square">
            <a:spAutoFit/>
          </a:bodyPr>
          <a:lstStyle/>
          <a:p>
            <a:pPr indent="254000" algn="ctr">
              <a:lnSpc>
                <a:spcPct val="150000"/>
              </a:lnSpc>
              <a:spcAft>
                <a:spcPts val="0"/>
              </a:spcAft>
            </a:pPr>
            <a:r>
              <a:rPr lang="zh-CN" altLang="en-US" sz="1600" dirty="0">
                <a:latin typeface="+mn-lt"/>
                <a:ea typeface="+mn-ea"/>
              </a:rPr>
              <a:t>通过多次使用</a:t>
            </a:r>
            <a:r>
              <a:rPr lang="en-US" altLang="zh-CN" sz="1600" dirty="0" err="1">
                <a:latin typeface="+mn-lt"/>
                <a:ea typeface="+mn-ea"/>
              </a:rPr>
              <a:t>tm_shape</a:t>
            </a:r>
            <a:r>
              <a:rPr lang="en-US" altLang="zh-CN" sz="1600" dirty="0">
                <a:latin typeface="+mn-lt"/>
                <a:ea typeface="+mn-ea"/>
              </a:rPr>
              <a:t>()</a:t>
            </a:r>
            <a:r>
              <a:rPr lang="zh-CN" altLang="en-US" sz="1600" dirty="0">
                <a:latin typeface="+mn-lt"/>
                <a:ea typeface="+mn-ea"/>
              </a:rPr>
              <a:t>函数达到多图层的叠加绘制。</a:t>
            </a:r>
            <a:endParaRPr lang="zh-CN" altLang="zh-CN" sz="2400" dirty="0">
              <a:latin typeface="+mn-lt"/>
              <a:ea typeface="+mn-ea"/>
            </a:endParaRPr>
          </a:p>
        </p:txBody>
      </p:sp>
      <p:sp>
        <p:nvSpPr>
          <p:cNvPr id="9" name="矩形 8">
            <a:extLst>
              <a:ext uri="{FF2B5EF4-FFF2-40B4-BE49-F238E27FC236}">
                <a16:creationId xmlns:a16="http://schemas.microsoft.com/office/drawing/2014/main" id="{E116913B-D91E-4A30-9987-732073BDA266}"/>
              </a:ext>
            </a:extLst>
          </p:cNvPr>
          <p:cNvSpPr/>
          <p:nvPr/>
        </p:nvSpPr>
        <p:spPr>
          <a:xfrm>
            <a:off x="1484586" y="2137676"/>
            <a:ext cx="6896098" cy="1887696"/>
          </a:xfrm>
          <a:prstGeom prst="rect">
            <a:avLst/>
          </a:prstGeom>
        </p:spPr>
        <p:txBody>
          <a:bodyPr wrap="square">
            <a:spAutoFit/>
          </a:bodyPr>
          <a:lstStyle/>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 &lt;-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read_sf</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WHRD.shp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WHZZQ&lt;-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read_sf</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WHSWZZ_ZZQ.shp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WH_Dis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read_sf</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WHDistrict.shp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WH_Dis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st_make_valid</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WH_Dis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WH_outline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st_union</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WH_Dis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WH_Dis_proj</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st_transform</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WH_Dis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crs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32650</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WH_outline_proj</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st_transform</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WH_outline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crs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32650</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WHRD_proj</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st_transform</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WHRD,crs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32650</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WHZZQ_proj</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st_transform</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WHZZQ,crs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32650</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WHRD_tuk</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WHRD_proj</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WHRD_proj</a:t>
            </a:r>
            <a:r>
              <a:rPr lang="en-US" altLang="zh-CN" sz="12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fclass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"trunk"</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WHRD_proj</a:t>
            </a:r>
            <a:r>
              <a:rPr lang="en-US" altLang="zh-CN" sz="12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fclass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trunk_link</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0" name="矩形 9">
            <a:extLst>
              <a:ext uri="{FF2B5EF4-FFF2-40B4-BE49-F238E27FC236}">
                <a16:creationId xmlns:a16="http://schemas.microsoft.com/office/drawing/2014/main" id="{280B6144-F030-404D-B11C-93D50C47236D}"/>
              </a:ext>
            </a:extLst>
          </p:cNvPr>
          <p:cNvSpPr/>
          <p:nvPr/>
        </p:nvSpPr>
        <p:spPr>
          <a:xfrm>
            <a:off x="1524000" y="4320719"/>
            <a:ext cx="4975764" cy="1875193"/>
          </a:xfrm>
          <a:prstGeom prst="rect">
            <a:avLst/>
          </a:prstGeom>
        </p:spPr>
        <p:txBody>
          <a:bodyPr wrap="square">
            <a:spAutoFit/>
          </a:bodyPr>
          <a:lstStyle/>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WH_Dis_proj</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tm_polygons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"white"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border.col</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"black"</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WH_outline_proj</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tm_borders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lwd</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col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"black"</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WHZZQ_proj</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tm_dots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(shape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col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"red"</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size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0.3</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WHRD_tuk</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tm_lines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"blue"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lty</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lwd</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1.5</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tm_scale_bar</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(position = c(</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"left"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"bottom"</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tm_compass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(position = c(</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"right"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"top"</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8" name="矩形 7">
            <a:extLst>
              <a:ext uri="{FF2B5EF4-FFF2-40B4-BE49-F238E27FC236}">
                <a16:creationId xmlns:a16="http://schemas.microsoft.com/office/drawing/2014/main" id="{74005620-7427-7F3A-3302-75B3BDE9697B}"/>
              </a:ext>
            </a:extLst>
          </p:cNvPr>
          <p:cNvSpPr/>
          <p:nvPr/>
        </p:nvSpPr>
        <p:spPr>
          <a:xfrm>
            <a:off x="3247967" y="1066800"/>
            <a:ext cx="2646878" cy="497765"/>
          </a:xfrm>
          <a:prstGeom prst="rect">
            <a:avLst/>
          </a:prstGeom>
        </p:spPr>
        <p:txBody>
          <a:bodyPr wrap="none">
            <a:spAutoFit/>
          </a:bodyPr>
          <a:lstStyle/>
          <a:p>
            <a:pPr algn="ctr">
              <a:lnSpc>
                <a:spcPct val="120000"/>
              </a:lnSpc>
            </a:pPr>
            <a:r>
              <a:rPr lang="zh-CN" altLang="en-US" sz="2400" b="1" dirty="0">
                <a:latin typeface="Times New Roman" panose="02020603050405020304" charset="0"/>
                <a:ea typeface="+mj-ea"/>
                <a:cs typeface="Times New Roman" panose="02020603050405020304" charset="0"/>
                <a:sym typeface="Consolas" panose="020B0609020204030204" pitchFamily="49" charset="0"/>
              </a:rPr>
              <a:t>多个图层叠加绘制</a:t>
            </a:r>
          </a:p>
        </p:txBody>
      </p:sp>
      <p:sp>
        <p:nvSpPr>
          <p:cNvPr id="11" name="标题 4">
            <a:extLst>
              <a:ext uri="{FF2B5EF4-FFF2-40B4-BE49-F238E27FC236}">
                <a16:creationId xmlns:a16="http://schemas.microsoft.com/office/drawing/2014/main" id="{262BCFAE-D611-F1F7-77BD-9476498208C1}"/>
              </a:ext>
            </a:extLst>
          </p:cNvPr>
          <p:cNvSpPr>
            <a:spLocks noGrp="1"/>
          </p:cNvSpPr>
          <p:nvPr>
            <p:ph type="title"/>
          </p:nvPr>
        </p:nvSpPr>
        <p:spPr>
          <a:xfrm>
            <a:off x="1181101" y="342900"/>
            <a:ext cx="6896099" cy="663575"/>
          </a:xfrm>
        </p:spPr>
        <p:txBody>
          <a:bodyPr/>
          <a:lstStyle/>
          <a:p>
            <a:pPr algn="l"/>
            <a:r>
              <a:rPr lang="en-US" altLang="zh-CN" sz="3600" dirty="0"/>
              <a:t>6.2 </a:t>
            </a:r>
            <a:r>
              <a:rPr lang="zh-CN" altLang="en-US" sz="3600" dirty="0"/>
              <a:t>空间对象可视化</a:t>
            </a:r>
          </a:p>
        </p:txBody>
      </p:sp>
    </p:spTree>
    <p:extLst>
      <p:ext uri="{BB962C8B-B14F-4D97-AF65-F5344CB8AC3E}">
        <p14:creationId xmlns:p14="http://schemas.microsoft.com/office/powerpoint/2010/main" val="2237948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12</a:t>
            </a:fld>
            <a:endParaRPr lang="zh-CN" altLang="en-US" dirty="0">
              <a:latin typeface="Consolas" panose="020B0609020204030204" pitchFamily="49" charset="0"/>
              <a:ea typeface="Microsoft YaHei" panose="020B0503020204020204" pitchFamily="34" charset="-122"/>
              <a:cs typeface="+mn-ea"/>
              <a:sym typeface="Consolas" panose="020B0609020204030204" pitchFamily="49" charset="0"/>
            </a:endParaRPr>
          </a:p>
        </p:txBody>
      </p:sp>
      <p:pic>
        <p:nvPicPr>
          <p:cNvPr id="7" name="图片 6">
            <a:extLst>
              <a:ext uri="{FF2B5EF4-FFF2-40B4-BE49-F238E27FC236}">
                <a16:creationId xmlns:a16="http://schemas.microsoft.com/office/drawing/2014/main" id="{4154899E-8364-45A4-81C9-A9A5132A3408}"/>
              </a:ext>
            </a:extLst>
          </p:cNvPr>
          <p:cNvPicPr/>
          <p:nvPr/>
        </p:nvPicPr>
        <p:blipFill rotWithShape="1">
          <a:blip r:embed="rId2"/>
          <a:srcRect l="7110" t="1641" r="7683" b="1482"/>
          <a:stretch/>
        </p:blipFill>
        <p:spPr bwMode="auto">
          <a:xfrm>
            <a:off x="2514600" y="1942513"/>
            <a:ext cx="4152900" cy="4778962"/>
          </a:xfrm>
          <a:prstGeom prst="rect">
            <a:avLst/>
          </a:prstGeom>
          <a:ln>
            <a:noFill/>
          </a:ln>
          <a:extLst>
            <a:ext uri="{53640926-AAD7-44D8-BBD7-CCE9431645EC}">
              <a14:shadowObscured xmlns:a14="http://schemas.microsoft.com/office/drawing/2010/main"/>
            </a:ext>
          </a:extLst>
        </p:spPr>
      </p:pic>
      <p:sp>
        <p:nvSpPr>
          <p:cNvPr id="9" name="矩形 8">
            <a:extLst>
              <a:ext uri="{FF2B5EF4-FFF2-40B4-BE49-F238E27FC236}">
                <a16:creationId xmlns:a16="http://schemas.microsoft.com/office/drawing/2014/main" id="{D9D52679-BF48-60C2-0C77-72E2B4B03538}"/>
              </a:ext>
            </a:extLst>
          </p:cNvPr>
          <p:cNvSpPr/>
          <p:nvPr/>
        </p:nvSpPr>
        <p:spPr>
          <a:xfrm>
            <a:off x="1493043" y="1524000"/>
            <a:ext cx="6126957" cy="418513"/>
          </a:xfrm>
          <a:prstGeom prst="rect">
            <a:avLst/>
          </a:prstGeom>
        </p:spPr>
        <p:txBody>
          <a:bodyPr wrap="square">
            <a:spAutoFit/>
          </a:bodyPr>
          <a:lstStyle/>
          <a:p>
            <a:pPr indent="254000" algn="ctr">
              <a:lnSpc>
                <a:spcPct val="150000"/>
              </a:lnSpc>
              <a:spcAft>
                <a:spcPts val="0"/>
              </a:spcAft>
            </a:pPr>
            <a:r>
              <a:rPr lang="zh-CN" altLang="en-US" sz="1600" dirty="0">
                <a:latin typeface="+mn-lt"/>
                <a:ea typeface="+mn-ea"/>
              </a:rPr>
              <a:t>通过多次使用</a:t>
            </a:r>
            <a:r>
              <a:rPr lang="en-US" altLang="zh-CN" sz="1600" dirty="0" err="1">
                <a:latin typeface="+mn-lt"/>
                <a:ea typeface="+mn-ea"/>
              </a:rPr>
              <a:t>tm_shape</a:t>
            </a:r>
            <a:r>
              <a:rPr lang="en-US" altLang="zh-CN" sz="1600" dirty="0">
                <a:latin typeface="+mn-lt"/>
                <a:ea typeface="+mn-ea"/>
              </a:rPr>
              <a:t>()</a:t>
            </a:r>
            <a:r>
              <a:rPr lang="zh-CN" altLang="en-US" sz="1600" dirty="0">
                <a:latin typeface="+mn-lt"/>
                <a:ea typeface="+mn-ea"/>
              </a:rPr>
              <a:t>函数达到多图层的叠加绘制。</a:t>
            </a:r>
            <a:endParaRPr lang="zh-CN" altLang="zh-CN" sz="2400" dirty="0">
              <a:latin typeface="+mn-lt"/>
              <a:ea typeface="+mn-ea"/>
            </a:endParaRPr>
          </a:p>
        </p:txBody>
      </p:sp>
      <p:sp>
        <p:nvSpPr>
          <p:cNvPr id="10" name="矩形 9">
            <a:extLst>
              <a:ext uri="{FF2B5EF4-FFF2-40B4-BE49-F238E27FC236}">
                <a16:creationId xmlns:a16="http://schemas.microsoft.com/office/drawing/2014/main" id="{6EE60D03-A5A2-60CC-7959-18EE50BC84BF}"/>
              </a:ext>
            </a:extLst>
          </p:cNvPr>
          <p:cNvSpPr/>
          <p:nvPr/>
        </p:nvSpPr>
        <p:spPr>
          <a:xfrm>
            <a:off x="3247967" y="1066800"/>
            <a:ext cx="2646878" cy="497765"/>
          </a:xfrm>
          <a:prstGeom prst="rect">
            <a:avLst/>
          </a:prstGeom>
        </p:spPr>
        <p:txBody>
          <a:bodyPr wrap="none">
            <a:spAutoFit/>
          </a:bodyPr>
          <a:lstStyle/>
          <a:p>
            <a:pPr algn="ctr">
              <a:lnSpc>
                <a:spcPct val="120000"/>
              </a:lnSpc>
            </a:pPr>
            <a:r>
              <a:rPr lang="zh-CN" altLang="en-US" sz="2400" b="1" dirty="0">
                <a:latin typeface="Times New Roman" panose="02020603050405020304" charset="0"/>
                <a:ea typeface="+mj-ea"/>
                <a:cs typeface="Times New Roman" panose="02020603050405020304" charset="0"/>
                <a:sym typeface="Consolas" panose="020B0609020204030204" pitchFamily="49" charset="0"/>
              </a:rPr>
              <a:t>多个图层叠加绘制</a:t>
            </a:r>
          </a:p>
        </p:txBody>
      </p:sp>
      <p:sp>
        <p:nvSpPr>
          <p:cNvPr id="11" name="标题 4">
            <a:extLst>
              <a:ext uri="{FF2B5EF4-FFF2-40B4-BE49-F238E27FC236}">
                <a16:creationId xmlns:a16="http://schemas.microsoft.com/office/drawing/2014/main" id="{69A549D9-52BE-9899-5A12-2FCA9A1672A0}"/>
              </a:ext>
            </a:extLst>
          </p:cNvPr>
          <p:cNvSpPr>
            <a:spLocks noGrp="1"/>
          </p:cNvSpPr>
          <p:nvPr>
            <p:ph type="title"/>
          </p:nvPr>
        </p:nvSpPr>
        <p:spPr>
          <a:xfrm>
            <a:off x="1181101" y="342900"/>
            <a:ext cx="6896099" cy="663575"/>
          </a:xfrm>
        </p:spPr>
        <p:txBody>
          <a:bodyPr/>
          <a:lstStyle/>
          <a:p>
            <a:pPr algn="l"/>
            <a:r>
              <a:rPr lang="en-US" altLang="zh-CN" sz="3600" dirty="0"/>
              <a:t>6.2 </a:t>
            </a:r>
            <a:r>
              <a:rPr lang="zh-CN" altLang="en-US" sz="3600" dirty="0"/>
              <a:t>空间对象可视化</a:t>
            </a:r>
          </a:p>
        </p:txBody>
      </p:sp>
    </p:spTree>
    <p:extLst>
      <p:ext uri="{BB962C8B-B14F-4D97-AF65-F5344CB8AC3E}">
        <p14:creationId xmlns:p14="http://schemas.microsoft.com/office/powerpoint/2010/main" val="2488385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defTabSz="914400" rtl="0" eaLnBrk="1" fontAlgn="base" latinLnBrk="0" hangingPunct="1">
              <a:lnSpc>
                <a:spcPct val="120000"/>
              </a:lnSpc>
              <a:spcBef>
                <a:spcPct val="0"/>
              </a:spcBef>
              <a:spcAft>
                <a:spcPct val="0"/>
              </a:spcAft>
              <a:buClrTx/>
              <a:buSzTx/>
              <a:buFontTx/>
              <a:buNone/>
              <a:tabLst/>
              <a:defRPr/>
            </a:pPr>
            <a:fld id="{5DD3DB80-B894-403A-B48E-6FDC1A72010E}" type="slidenum">
              <a:rPr kumimoji="0" lang="zh-CN" altLang="en-US" b="0" i="0" u="none" strike="noStrike" kern="1200" cap="none" spc="0" normalizeH="0" baseline="0" noProof="0" smtClean="0">
                <a:ln>
                  <a:noFill/>
                </a:ln>
                <a:effectLst>
                  <a:outerShdw blurRad="38100" dist="38100" dir="2700000" algn="tl">
                    <a:srgbClr val="C0C0C0"/>
                  </a:outerShdw>
                </a:effectLst>
                <a:uLnTx/>
                <a:uFillTx/>
                <a:latin typeface="Consolas" panose="020B0609020204030204" pitchFamily="49" charset="0"/>
                <a:ea typeface="Microsoft YaHei" panose="020B0503020204020204" pitchFamily="34" charset="-122"/>
                <a:cs typeface="+mn-ea"/>
                <a:sym typeface="Consolas" panose="020B0609020204030204" pitchFamily="49" charset="0"/>
              </a:rPr>
              <a:pPr marL="0" marR="0" lvl="0" indent="0" defTabSz="914400" rtl="0" eaLnBrk="1" fontAlgn="base" latinLnBrk="0" hangingPunct="1">
                <a:lnSpc>
                  <a:spcPct val="120000"/>
                </a:lnSpc>
                <a:spcBef>
                  <a:spcPct val="0"/>
                </a:spcBef>
                <a:spcAft>
                  <a:spcPct val="0"/>
                </a:spcAft>
                <a:buClrTx/>
                <a:buSzTx/>
                <a:buFontTx/>
                <a:buNone/>
                <a:tabLst/>
                <a:defRPr/>
              </a:pPr>
              <a:t>13</a:t>
            </a:fld>
            <a:endParaRPr kumimoji="0" lang="zh-CN" altLang="en-US" b="0" i="0" u="none" strike="noStrike" kern="1200" cap="none" spc="0" normalizeH="0" baseline="0" noProof="0" dirty="0">
              <a:ln>
                <a:noFill/>
              </a:ln>
              <a:effectLst>
                <a:outerShdw blurRad="38100" dist="38100" dir="2700000" algn="tl">
                  <a:srgbClr val="C0C0C0"/>
                </a:outerShdw>
              </a:effectLst>
              <a:uLnTx/>
              <a:uFillTx/>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5" name="矩形 4">
            <a:extLst>
              <a:ext uri="{FF2B5EF4-FFF2-40B4-BE49-F238E27FC236}">
                <a16:creationId xmlns:a16="http://schemas.microsoft.com/office/drawing/2014/main" id="{AE2C9438-C878-4D76-95C9-CDB4CA1C3DF3}"/>
              </a:ext>
            </a:extLst>
          </p:cNvPr>
          <p:cNvSpPr/>
          <p:nvPr/>
        </p:nvSpPr>
        <p:spPr>
          <a:xfrm>
            <a:off x="860821" y="2172287"/>
            <a:ext cx="7422357" cy="418513"/>
          </a:xfrm>
          <a:prstGeom prst="rect">
            <a:avLst/>
          </a:prstGeom>
        </p:spPr>
        <p:txBody>
          <a:bodyPr wrap="square">
            <a:spAutoFit/>
          </a:bodyPr>
          <a:lstStyle/>
          <a:p>
            <a:pPr marL="0" marR="0" lvl="0" indent="254000" algn="just" defTabSz="914400" rtl="0" eaLnBrk="0" fontAlgn="base" latinLnBrk="0" hangingPunct="0">
              <a:lnSpc>
                <a:spcPct val="150000"/>
              </a:lnSpc>
              <a:spcBef>
                <a:spcPct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lt"/>
                <a:ea typeface="+mn-ea"/>
                <a:cs typeface="+mn-cs"/>
              </a:rPr>
              <a:t>函数包</a:t>
            </a:r>
            <a:r>
              <a:rPr kumimoji="0" lang="en-US" altLang="zh-CN" sz="1600" b="0" i="0" u="none" strike="noStrike" kern="1200" cap="none" spc="0" normalizeH="0" baseline="0" noProof="0" dirty="0" err="1">
                <a:ln>
                  <a:noFill/>
                </a:ln>
                <a:effectLst/>
                <a:uLnTx/>
                <a:uFillTx/>
                <a:latin typeface="+mn-lt"/>
                <a:ea typeface="+mn-ea"/>
                <a:cs typeface="+mn-cs"/>
              </a:rPr>
              <a:t>tmap</a:t>
            </a:r>
            <a:r>
              <a:rPr kumimoji="0" lang="zh-CN" altLang="en-US" sz="1600" b="0" i="0" u="none" strike="noStrike" kern="1200" cap="none" spc="0" normalizeH="0" baseline="0" noProof="0" dirty="0">
                <a:ln>
                  <a:noFill/>
                </a:ln>
                <a:effectLst/>
                <a:uLnTx/>
                <a:uFillTx/>
                <a:latin typeface="+mn-lt"/>
                <a:ea typeface="+mn-ea"/>
                <a:cs typeface="+mn-cs"/>
              </a:rPr>
              <a:t>提供的添加对应制图元素的函数则为</a:t>
            </a:r>
            <a:r>
              <a:rPr kumimoji="0" lang="en-US" altLang="zh-CN" sz="1600" b="0" i="0" u="none" strike="noStrike" kern="1200" cap="none" spc="0" normalizeH="0" baseline="0" noProof="0" dirty="0" err="1">
                <a:ln>
                  <a:noFill/>
                </a:ln>
                <a:effectLst/>
                <a:uLnTx/>
                <a:uFillTx/>
                <a:latin typeface="+mn-lt"/>
                <a:ea typeface="+mn-ea"/>
                <a:cs typeface="+mn-cs"/>
              </a:rPr>
              <a:t>tm_scale_bar</a:t>
            </a:r>
            <a:r>
              <a:rPr kumimoji="0" lang="en-US" altLang="zh-CN" sz="1600" b="0" i="0" u="none" strike="noStrike" kern="1200" cap="none" spc="0" normalizeH="0" baseline="0" noProof="0" dirty="0">
                <a:ln>
                  <a:noFill/>
                </a:ln>
                <a:effectLst/>
                <a:uLnTx/>
                <a:uFillTx/>
                <a:latin typeface="+mn-lt"/>
                <a:ea typeface="+mn-ea"/>
                <a:cs typeface="+mn-cs"/>
              </a:rPr>
              <a:t>()</a:t>
            </a:r>
            <a:r>
              <a:rPr kumimoji="0" lang="zh-CN" altLang="en-US" sz="1600" b="0" i="0" u="none" strike="noStrike" kern="1200" cap="none" spc="0" normalizeH="0" baseline="0" noProof="0" dirty="0">
                <a:ln>
                  <a:noFill/>
                </a:ln>
                <a:effectLst/>
                <a:uLnTx/>
                <a:uFillTx/>
                <a:latin typeface="+mn-lt"/>
                <a:ea typeface="+mn-ea"/>
                <a:cs typeface="+mn-cs"/>
              </a:rPr>
              <a:t>和</a:t>
            </a:r>
            <a:r>
              <a:rPr kumimoji="0" lang="en-US" altLang="zh-CN" sz="1600" b="0" i="0" u="none" strike="noStrike" kern="1200" cap="none" spc="0" normalizeH="0" baseline="0" noProof="0" dirty="0" err="1">
                <a:ln>
                  <a:noFill/>
                </a:ln>
                <a:effectLst/>
                <a:uLnTx/>
                <a:uFillTx/>
                <a:latin typeface="+mn-lt"/>
                <a:ea typeface="+mn-ea"/>
                <a:cs typeface="+mn-cs"/>
              </a:rPr>
              <a:t>tm_compass</a:t>
            </a:r>
            <a:r>
              <a:rPr kumimoji="0" lang="en-US" altLang="zh-CN" sz="1600" b="0" i="0" u="none" strike="noStrike" kern="1200" cap="none" spc="0" normalizeH="0" baseline="0" noProof="0" dirty="0">
                <a:ln>
                  <a:noFill/>
                </a:ln>
                <a:effectLst/>
                <a:uLnTx/>
                <a:uFillTx/>
                <a:latin typeface="+mn-lt"/>
                <a:ea typeface="+mn-ea"/>
                <a:cs typeface="+mn-cs"/>
              </a:rPr>
              <a:t>()</a:t>
            </a:r>
            <a:endParaRPr kumimoji="0" lang="zh-CN" altLang="zh-CN" sz="2400" b="0" i="0" u="none" strike="noStrike" kern="1200" cap="none" spc="0" normalizeH="0" baseline="0" noProof="0" dirty="0">
              <a:ln>
                <a:noFill/>
              </a:ln>
              <a:effectLst/>
              <a:uLnTx/>
              <a:uFillTx/>
              <a:latin typeface="+mn-lt"/>
              <a:ea typeface="+mn-ea"/>
              <a:cs typeface="+mn-cs"/>
            </a:endParaRPr>
          </a:p>
        </p:txBody>
      </p:sp>
      <p:sp>
        <p:nvSpPr>
          <p:cNvPr id="6" name="矩形 5">
            <a:extLst>
              <a:ext uri="{FF2B5EF4-FFF2-40B4-BE49-F238E27FC236}">
                <a16:creationId xmlns:a16="http://schemas.microsoft.com/office/drawing/2014/main" id="{5A349022-6DF3-4A05-845C-B0DDB50C6930}"/>
              </a:ext>
            </a:extLst>
          </p:cNvPr>
          <p:cNvSpPr/>
          <p:nvPr/>
        </p:nvSpPr>
        <p:spPr>
          <a:xfrm>
            <a:off x="1181101" y="3353922"/>
            <a:ext cx="6819901" cy="1446678"/>
          </a:xfrm>
          <a:prstGeom prst="rect">
            <a:avLst/>
          </a:prstGeom>
        </p:spPr>
        <p:txBody>
          <a:bodyPr wrap="square">
            <a:spAutoFit/>
          </a:bodyPr>
          <a:lstStyle/>
          <a:p>
            <a:pPr marL="0" marR="0" lvl="0" indent="304800" algn="l" defTabSz="914400" rtl="0" eaLnBrk="0" fontAlgn="base" latinLnBrk="0" hangingPunct="0">
              <a:lnSpc>
                <a:spcPct val="150000"/>
              </a:lnSpc>
              <a:spcBef>
                <a:spcPct val="0"/>
              </a:spcBef>
              <a:spcAft>
                <a:spcPts val="0"/>
              </a:spcAft>
              <a:buClrTx/>
              <a:buSzTx/>
              <a:buFontTx/>
              <a:buNone/>
              <a:tabLst/>
              <a:defRPr/>
            </a:pPr>
            <a:r>
              <a:rPr kumimoji="0" lang="en-US" altLang="zh-CN" sz="1200" b="0" i="0" u="none" strike="noStrike" kern="1200" cap="none" spc="0" normalizeH="0" baseline="0" noProof="0" dirty="0" err="1">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tm_shape</a:t>
            </a: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(WHHP) +</a:t>
            </a:r>
          </a:p>
          <a:p>
            <a:pPr marL="0" marR="0" lvl="0" indent="304800" algn="l" defTabSz="914400" rtl="0" eaLnBrk="0" fontAlgn="base" latinLnBrk="0" hangingPunct="0">
              <a:lnSpc>
                <a:spcPct val="150000"/>
              </a:lnSpc>
              <a:spcBef>
                <a:spcPct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a:t>
            </a:r>
            <a:r>
              <a:rPr kumimoji="0" lang="en-US" altLang="zh-CN" sz="1200" b="0" i="0" u="none" strike="noStrike" kern="1200" cap="none" spc="0" normalizeH="0" baseline="0" noProof="0" dirty="0" err="1">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tm_borders</a:t>
            </a: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a:t>
            </a:r>
            <a:r>
              <a:rPr kumimoji="0" lang="en-US" altLang="zh-CN" sz="1200" b="0" i="0" u="none" strike="noStrike" kern="1200" cap="none" spc="0" normalizeH="0" baseline="0" noProof="0" dirty="0" err="1">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lty</a:t>
            </a: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 </a:t>
            </a:r>
            <a:r>
              <a:rPr kumimoji="0" lang="en-US" altLang="zh-CN" sz="1200" b="0" i="0" u="none" strike="noStrike" kern="1200" cap="none" spc="0" normalizeH="0" baseline="0" noProof="0" dirty="0">
                <a:ln>
                  <a:noFill/>
                </a:ln>
                <a:solidFill>
                  <a:srgbClr val="098658"/>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1</a:t>
            </a: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col = </a:t>
            </a:r>
            <a:r>
              <a:rPr kumimoji="0" lang="en-US" altLang="zh-CN" sz="1200" b="0" i="0" u="none" strike="noStrike" kern="1200" cap="none" spc="0" normalizeH="0" baseline="0" noProof="0" dirty="0">
                <a:ln>
                  <a:noFill/>
                </a:ln>
                <a:solidFill>
                  <a:srgbClr val="A31515"/>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"black"</a:t>
            </a: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 </a:t>
            </a:r>
            <a:endParaRPr kumimoji="0" lang="zh-CN" altLang="zh-CN" sz="12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endParaRPr>
          </a:p>
          <a:p>
            <a:pPr marL="0" marR="0" lvl="0" indent="304800" algn="l" defTabSz="914400" rtl="0" eaLnBrk="0" fontAlgn="base" latinLnBrk="0" hangingPunct="0">
              <a:lnSpc>
                <a:spcPct val="150000"/>
              </a:lnSpc>
              <a:spcBef>
                <a:spcPct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a:t>
            </a:r>
            <a:r>
              <a:rPr kumimoji="0" lang="en-US" altLang="zh-CN" sz="1200" b="0" i="0" u="none" strike="noStrike" kern="1200" cap="none" spc="0" normalizeH="0" baseline="0" noProof="0" dirty="0" err="1">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tm_compass</a:t>
            </a: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(position = c(</a:t>
            </a:r>
            <a:r>
              <a:rPr kumimoji="0" lang="en-US" altLang="zh-CN" sz="1200" b="0" i="0" u="none" strike="noStrike" kern="1200" cap="none" spc="0" normalizeH="0" baseline="0" noProof="0" dirty="0">
                <a:ln>
                  <a:noFill/>
                </a:ln>
                <a:solidFill>
                  <a:srgbClr val="A31515"/>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"right"</a:t>
            </a: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a:t>
            </a:r>
            <a:r>
              <a:rPr kumimoji="0" lang="en-US" altLang="zh-CN" sz="1200" b="0" i="0" u="none" strike="noStrike" kern="1200" cap="none" spc="0" normalizeH="0" baseline="0" noProof="0" dirty="0">
                <a:ln>
                  <a:noFill/>
                </a:ln>
                <a:solidFill>
                  <a:srgbClr val="A31515"/>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"top"</a:t>
            </a: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 </a:t>
            </a:r>
            <a:endParaRPr kumimoji="0" lang="zh-CN" altLang="zh-CN" sz="12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endParaRPr>
          </a:p>
          <a:p>
            <a:pPr marL="0" marR="0" lvl="0" indent="304800" algn="l" defTabSz="914400" rtl="0" eaLnBrk="0" fontAlgn="base" latinLnBrk="0" hangingPunct="0">
              <a:lnSpc>
                <a:spcPct val="150000"/>
              </a:lnSpc>
              <a:spcBef>
                <a:spcPct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a:t>
            </a:r>
            <a:r>
              <a:rPr kumimoji="0" lang="en-US" altLang="zh-CN" sz="1200" b="0" i="0" u="none" strike="noStrike" kern="1200" cap="none" spc="0" normalizeH="0" baseline="0" noProof="0" dirty="0" err="1">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tm_scale_bar</a:t>
            </a: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(position = c(</a:t>
            </a:r>
            <a:r>
              <a:rPr kumimoji="0" lang="en-US" altLang="zh-CN" sz="1200" b="0" i="0" u="none" strike="noStrike" kern="1200" cap="none" spc="0" normalizeH="0" baseline="0" noProof="0" dirty="0">
                <a:ln>
                  <a:noFill/>
                </a:ln>
                <a:solidFill>
                  <a:srgbClr val="A31515"/>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"left"</a:t>
            </a: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a:t>
            </a:r>
            <a:r>
              <a:rPr kumimoji="0" lang="en-US" altLang="zh-CN" sz="1200" b="0" i="0" u="none" strike="noStrike" kern="1200" cap="none" spc="0" normalizeH="0" baseline="0" noProof="0" dirty="0">
                <a:ln>
                  <a:noFill/>
                </a:ln>
                <a:solidFill>
                  <a:srgbClr val="A31515"/>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"bottom"</a:t>
            </a: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 </a:t>
            </a:r>
            <a:endParaRPr kumimoji="0" lang="zh-CN" altLang="zh-CN" sz="12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endParaRPr>
          </a:p>
          <a:p>
            <a:pPr marL="0" marR="0" lvl="0" indent="304800" algn="l" defTabSz="914400" rtl="0" eaLnBrk="0" fontAlgn="base" latinLnBrk="0" hangingPunct="0">
              <a:lnSpc>
                <a:spcPct val="150000"/>
              </a:lnSpc>
              <a:spcBef>
                <a:spcPct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a:t>
            </a:r>
            <a:r>
              <a:rPr kumimoji="0" lang="en-US" altLang="zh-CN" sz="1200" b="0" i="0" u="none" strike="noStrike" kern="1200" cap="none" spc="0" normalizeH="0" baseline="0" noProof="0" dirty="0" err="1">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tm_layout</a:t>
            </a: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(title = </a:t>
            </a:r>
            <a:r>
              <a:rPr kumimoji="0" lang="en-US" altLang="zh-CN" sz="1200" b="0" i="0" u="none" strike="noStrike" kern="1200" cap="none" spc="0" normalizeH="0" baseline="0" noProof="0" dirty="0">
                <a:ln>
                  <a:noFill/>
                </a:ln>
                <a:solidFill>
                  <a:srgbClr val="A31515"/>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"The Map of Wuhan"</a:t>
            </a:r>
            <a:r>
              <a:rPr kumimoji="0" lang="en-US" altLang="zh-CN" sz="12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a:t>
            </a:r>
            <a:r>
              <a:rPr kumimoji="0" lang="en-US" altLang="zh-CN" sz="1200" b="0" i="0" u="none" strike="noStrike" kern="0" cap="none" spc="0" normalizeH="0" baseline="0" noProof="0" dirty="0" err="1">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title.position</a:t>
            </a:r>
            <a:r>
              <a:rPr kumimoji="0" lang="en-US" altLang="zh-CN" sz="1200" b="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 c(</a:t>
            </a:r>
            <a:r>
              <a:rPr kumimoji="0" lang="en-US" altLang="zh-CN" sz="1200" b="0" i="0" u="none" strike="noStrike" kern="0" cap="none" spc="0" normalizeH="0" baseline="0" noProof="0" dirty="0">
                <a:ln>
                  <a:noFill/>
                </a:ln>
                <a:solidFill>
                  <a:srgbClr val="A31515"/>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"left"</a:t>
            </a:r>
            <a:r>
              <a:rPr kumimoji="0" lang="en-US" altLang="zh-CN" sz="1200" b="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a:t>
            </a:r>
            <a:r>
              <a:rPr kumimoji="0" lang="en-US" altLang="zh-CN" sz="1200" b="0" i="0" u="none" strike="noStrike" kern="0" cap="none" spc="0" normalizeH="0" baseline="0" noProof="0" dirty="0">
                <a:ln>
                  <a:noFill/>
                </a:ln>
                <a:solidFill>
                  <a:srgbClr val="A31515"/>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"top"</a:t>
            </a:r>
            <a:r>
              <a:rPr kumimoji="0" lang="en-US" altLang="zh-CN" sz="1200" b="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Consolas" panose="020B0609020204030204" pitchFamily="49" charset="0"/>
                <a:ea typeface="宋体" panose="02010600030101010101" pitchFamily="2" charset="-122"/>
                <a:cs typeface="宋体" panose="02010600030101010101" pitchFamily="2" charset="-122"/>
              </a:rPr>
              <a:t>))  </a:t>
            </a:r>
            <a:endParaRPr kumimoji="0" lang="zh-CN" altLang="en-US" sz="12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endParaRPr>
          </a:p>
        </p:txBody>
      </p:sp>
      <p:sp>
        <p:nvSpPr>
          <p:cNvPr id="12" name="标题 4">
            <a:extLst>
              <a:ext uri="{FF2B5EF4-FFF2-40B4-BE49-F238E27FC236}">
                <a16:creationId xmlns:a16="http://schemas.microsoft.com/office/drawing/2014/main" id="{28482E33-A8B9-542D-DB90-5539B094E6BB}"/>
              </a:ext>
            </a:extLst>
          </p:cNvPr>
          <p:cNvSpPr>
            <a:spLocks noGrp="1"/>
          </p:cNvSpPr>
          <p:nvPr>
            <p:ph type="title"/>
          </p:nvPr>
        </p:nvSpPr>
        <p:spPr>
          <a:xfrm>
            <a:off x="1181101" y="342900"/>
            <a:ext cx="6896099" cy="663575"/>
          </a:xfrm>
        </p:spPr>
        <p:txBody>
          <a:bodyPr/>
          <a:lstStyle/>
          <a:p>
            <a:pPr algn="l"/>
            <a:r>
              <a:rPr lang="en-US" altLang="zh-CN" sz="3600" dirty="0"/>
              <a:t>6.2 </a:t>
            </a:r>
            <a:r>
              <a:rPr lang="zh-CN" altLang="en-US" sz="3600" dirty="0"/>
              <a:t>空间对象可视化</a:t>
            </a:r>
          </a:p>
        </p:txBody>
      </p:sp>
    </p:spTree>
    <p:extLst>
      <p:ext uri="{BB962C8B-B14F-4D97-AF65-F5344CB8AC3E}">
        <p14:creationId xmlns:p14="http://schemas.microsoft.com/office/powerpoint/2010/main" val="3075897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6804B65-ADBD-D016-1E02-4B18378E875D}"/>
              </a:ext>
            </a:extLst>
          </p:cNvPr>
          <p:cNvSpPr>
            <a:spLocks noGrp="1"/>
          </p:cNvSpPr>
          <p:nvPr>
            <p:ph type="title"/>
          </p:nvPr>
        </p:nvSpPr>
        <p:spPr/>
        <p:txBody>
          <a:bodyPr/>
          <a:lstStyle/>
          <a:p>
            <a:pPr algn="l"/>
            <a:r>
              <a:rPr lang="en-US" altLang="zh-CN" sz="3600" dirty="0"/>
              <a:t>6.3 </a:t>
            </a:r>
            <a:r>
              <a:rPr lang="zh-CN" altLang="en-US" sz="3600" dirty="0"/>
              <a:t>空间属性数据可视化</a:t>
            </a:r>
          </a:p>
        </p:txBody>
      </p:sp>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14</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7" name="矩形 6"/>
          <p:cNvSpPr/>
          <p:nvPr/>
        </p:nvSpPr>
        <p:spPr>
          <a:xfrm>
            <a:off x="502442" y="1274552"/>
            <a:ext cx="8137921" cy="4821448"/>
          </a:xfrm>
          <a:prstGeom prst="rect">
            <a:avLst/>
          </a:prstGeom>
        </p:spPr>
        <p:txBody>
          <a:bodyPr wrap="square">
            <a:spAutoFit/>
          </a:bodyPr>
          <a:lstStyle/>
          <a:p>
            <a:pPr marL="0" marR="0" indent="304800" algn="just">
              <a:lnSpc>
                <a:spcPct val="250000"/>
              </a:lnSpc>
            </a:pPr>
            <a:r>
              <a:rPr lang="zh-CN" altLang="en-US" sz="1800" kern="0" dirty="0">
                <a:effectLst/>
                <a:latin typeface="+mn-lt"/>
                <a:ea typeface="+mn-ea"/>
                <a:cs typeface="Times New Roman" panose="02020603050405020304" pitchFamily="18" charset="0"/>
              </a:rPr>
              <a:t>在</a:t>
            </a:r>
            <a:r>
              <a:rPr lang="zh-CN" altLang="en-US" sz="1800" kern="0" dirty="0">
                <a:effectLst/>
                <a:latin typeface="+mn-lt"/>
                <a:ea typeface="+mn-ea"/>
              </a:rPr>
              <a:t>探索</a:t>
            </a:r>
            <a:r>
              <a:rPr lang="zh-CN" altLang="en-US" sz="1800" kern="0" dirty="0">
                <a:effectLst/>
                <a:latin typeface="+mn-lt"/>
                <a:ea typeface="+mn-ea"/>
                <a:cs typeface="Times New Roman" panose="02020603050405020304" pitchFamily="18" charset="0"/>
              </a:rPr>
              <a:t>和</a:t>
            </a:r>
            <a:r>
              <a:rPr lang="zh-CN" altLang="en-US" sz="1800" kern="0" dirty="0">
                <a:effectLst/>
                <a:latin typeface="+mn-lt"/>
                <a:ea typeface="+mn-ea"/>
              </a:rPr>
              <a:t>分析空间数据</a:t>
            </a:r>
            <a:r>
              <a:rPr lang="zh-CN" altLang="en-US" sz="1800" kern="0" dirty="0">
                <a:effectLst/>
                <a:latin typeface="+mn-lt"/>
                <a:ea typeface="+mn-ea"/>
                <a:cs typeface="Times New Roman" panose="02020603050405020304" pitchFamily="18" charset="0"/>
              </a:rPr>
              <a:t>过程</a:t>
            </a:r>
            <a:r>
              <a:rPr lang="zh-CN" altLang="en-US" sz="1800" kern="0" dirty="0">
                <a:effectLst/>
                <a:latin typeface="+mn-lt"/>
                <a:ea typeface="+mn-ea"/>
              </a:rPr>
              <a:t>中，</a:t>
            </a:r>
            <a:r>
              <a:rPr lang="zh-CN" altLang="en-US" sz="1800" kern="0" dirty="0">
                <a:effectLst/>
                <a:latin typeface="+mn-lt"/>
                <a:ea typeface="+mn-ea"/>
                <a:cs typeface="Times New Roman" panose="02020603050405020304" pitchFamily="18" charset="0"/>
              </a:rPr>
              <a:t>通常结合</a:t>
            </a:r>
            <a:r>
              <a:rPr lang="zh-CN" altLang="en-US" sz="1800" kern="0" dirty="0">
                <a:effectLst/>
                <a:latin typeface="+mn-lt"/>
                <a:ea typeface="+mn-ea"/>
              </a:rPr>
              <a:t>属性数据与空间对象</a:t>
            </a:r>
            <a:r>
              <a:rPr lang="zh-CN" altLang="en-US" sz="1800" kern="0" dirty="0">
                <a:effectLst/>
                <a:latin typeface="+mn-lt"/>
                <a:ea typeface="+mn-ea"/>
                <a:cs typeface="Times New Roman" panose="02020603050405020304" pitchFamily="18" charset="0"/>
              </a:rPr>
              <a:t>进行底图</a:t>
            </a:r>
            <a:r>
              <a:rPr lang="zh-CN" altLang="en-US" sz="1800" kern="0" dirty="0">
                <a:effectLst/>
                <a:latin typeface="+mn-lt"/>
                <a:ea typeface="+mn-ea"/>
              </a:rPr>
              <a:t>可视化</a:t>
            </a:r>
            <a:r>
              <a:rPr lang="zh-CN" altLang="en-US" sz="1800" kern="0" dirty="0">
                <a:effectLst/>
                <a:latin typeface="+mn-lt"/>
                <a:ea typeface="+mn-ea"/>
                <a:cs typeface="Times New Roman" panose="02020603050405020304" pitchFamily="18" charset="0"/>
              </a:rPr>
              <a:t>，制作</a:t>
            </a:r>
            <a:r>
              <a:rPr lang="zh-CN" altLang="en-US" sz="1800" kern="0" dirty="0">
                <a:effectLst/>
                <a:latin typeface="+mn-lt"/>
                <a:ea typeface="+mn-ea"/>
              </a:rPr>
              <a:t>专题图件。</a:t>
            </a:r>
            <a:r>
              <a:rPr lang="zh-CN" altLang="en-US" dirty="0">
                <a:latin typeface="+mn-lt"/>
                <a:ea typeface="Microsoft YaHei" panose="020B0503020204020204" pitchFamily="34" charset="-122"/>
                <a:sym typeface="Consolas" panose="020B0609020204030204" pitchFamily="49" charset="0"/>
              </a:rPr>
              <a:t>本节仍将分别介绍使用基础</a:t>
            </a:r>
            <a:r>
              <a:rPr lang="en-US" altLang="zh-CN" dirty="0">
                <a:latin typeface="+mn-lt"/>
                <a:ea typeface="Microsoft YaHei" panose="020B0503020204020204" pitchFamily="34" charset="-122"/>
                <a:sym typeface="Consolas" panose="020B0609020204030204" pitchFamily="49" charset="0"/>
              </a:rPr>
              <a:t>plot()</a:t>
            </a:r>
            <a:r>
              <a:rPr lang="zh-CN" altLang="en-US" dirty="0">
                <a:latin typeface="+mn-lt"/>
                <a:ea typeface="Microsoft YaHei" panose="020B0503020204020204" pitchFamily="34" charset="-122"/>
                <a:sym typeface="Consolas" panose="020B0609020204030204" pitchFamily="49" charset="0"/>
              </a:rPr>
              <a:t>函数、函数包</a:t>
            </a:r>
            <a:r>
              <a:rPr lang="en-US" altLang="zh-CN" dirty="0" err="1">
                <a:latin typeface="+mn-lt"/>
                <a:ea typeface="Microsoft YaHei" panose="020B0503020204020204" pitchFamily="34" charset="-122"/>
                <a:sym typeface="Consolas" panose="020B0609020204030204" pitchFamily="49" charset="0"/>
              </a:rPr>
              <a:t>GISTools</a:t>
            </a:r>
            <a:r>
              <a:rPr lang="zh-CN" altLang="en-US" dirty="0">
                <a:latin typeface="+mn-lt"/>
                <a:ea typeface="Microsoft YaHei" panose="020B0503020204020204" pitchFamily="34" charset="-122"/>
                <a:sym typeface="Consolas" panose="020B0609020204030204" pitchFamily="49" charset="0"/>
              </a:rPr>
              <a:t>和函数包</a:t>
            </a:r>
            <a:r>
              <a:rPr lang="en-US" altLang="zh-CN" dirty="0" err="1">
                <a:latin typeface="+mn-lt"/>
                <a:ea typeface="Microsoft YaHei" panose="020B0503020204020204" pitchFamily="34" charset="-122"/>
                <a:sym typeface="Consolas" panose="020B0609020204030204" pitchFamily="49" charset="0"/>
              </a:rPr>
              <a:t>tmap</a:t>
            </a:r>
            <a:r>
              <a:rPr lang="zh-CN" altLang="en-US" dirty="0">
                <a:latin typeface="+mn-lt"/>
                <a:ea typeface="Microsoft YaHei" panose="020B0503020204020204" pitchFamily="34" charset="-122"/>
                <a:sym typeface="Consolas" panose="020B0609020204030204" pitchFamily="49" charset="0"/>
              </a:rPr>
              <a:t>进行专题地图可视化。</a:t>
            </a:r>
            <a:endParaRPr lang="en-US" altLang="zh-CN" dirty="0">
              <a:latin typeface="+mn-lt"/>
              <a:ea typeface="Microsoft YaHei" panose="020B0503020204020204" pitchFamily="34" charset="-122"/>
              <a:sym typeface="Consolas" panose="020B0609020204030204" pitchFamily="49" charset="0"/>
            </a:endParaRPr>
          </a:p>
          <a:p>
            <a:pPr marL="285750" marR="0" indent="-285750" algn="just">
              <a:lnSpc>
                <a:spcPct val="250000"/>
              </a:lnSpc>
              <a:buFont typeface="Wingdings" panose="05000000000000000000" pitchFamily="2" charset="2"/>
              <a:buChar char="ü"/>
            </a:pPr>
            <a:r>
              <a:rPr lang="zh-CN" altLang="en-US" b="1" dirty="0">
                <a:latin typeface="+mn-lt"/>
                <a:ea typeface="Microsoft YaHei" panose="020B0503020204020204" pitchFamily="34" charset="-122"/>
                <a:sym typeface="Consolas" panose="020B0609020204030204" pitchFamily="49" charset="0"/>
              </a:rPr>
              <a:t>基础</a:t>
            </a:r>
            <a:r>
              <a:rPr lang="en-US" altLang="zh-CN" b="1" dirty="0">
                <a:latin typeface="+mn-lt"/>
                <a:ea typeface="Microsoft YaHei" panose="020B0503020204020204" pitchFamily="34" charset="-122"/>
                <a:sym typeface="Consolas" panose="020B0609020204030204" pitchFamily="49" charset="0"/>
              </a:rPr>
              <a:t>plot()</a:t>
            </a:r>
            <a:r>
              <a:rPr lang="zh-CN" altLang="en-US" b="1" dirty="0">
                <a:latin typeface="+mn-lt"/>
                <a:ea typeface="Microsoft YaHei" panose="020B0503020204020204" pitchFamily="34" charset="-122"/>
                <a:sym typeface="Consolas" panose="020B0609020204030204" pitchFamily="49" charset="0"/>
              </a:rPr>
              <a:t>函数</a:t>
            </a:r>
            <a:r>
              <a:rPr lang="zh-CN" altLang="en-US" dirty="0">
                <a:latin typeface="+mn-lt"/>
                <a:ea typeface="Microsoft YaHei" panose="020B0503020204020204" pitchFamily="34" charset="-122"/>
                <a:sym typeface="Consolas" panose="020B0609020204030204" pitchFamily="49" charset="0"/>
              </a:rPr>
              <a:t>：利用基本绘图功能，通过改变绘图参数（如填充、线型、形状、颜色和大小）达到空间属性数据专题绘制的目的；</a:t>
            </a:r>
            <a:endParaRPr lang="en-US" altLang="zh-CN" dirty="0">
              <a:latin typeface="+mn-lt"/>
              <a:ea typeface="Microsoft YaHei" panose="020B0503020204020204" pitchFamily="34" charset="-122"/>
              <a:sym typeface="Consolas" panose="020B0609020204030204" pitchFamily="49" charset="0"/>
            </a:endParaRPr>
          </a:p>
          <a:p>
            <a:pPr marL="285750" marR="0" indent="-285750" algn="just">
              <a:lnSpc>
                <a:spcPct val="250000"/>
              </a:lnSpc>
              <a:buFont typeface="Wingdings" panose="05000000000000000000" pitchFamily="2" charset="2"/>
              <a:buChar char="ü"/>
            </a:pPr>
            <a:r>
              <a:rPr lang="zh-CN" altLang="en-US" b="1" dirty="0">
                <a:latin typeface="+mn-lt"/>
                <a:ea typeface="Microsoft YaHei" panose="020B0503020204020204" pitchFamily="34" charset="-122"/>
                <a:sym typeface="Consolas" panose="020B0609020204030204" pitchFamily="49" charset="0"/>
              </a:rPr>
              <a:t>函数包</a:t>
            </a:r>
            <a:r>
              <a:rPr lang="en-US" altLang="zh-CN" b="1" dirty="0" err="1">
                <a:latin typeface="+mn-lt"/>
                <a:ea typeface="Microsoft YaHei" panose="020B0503020204020204" pitchFamily="34" charset="-122"/>
                <a:sym typeface="Consolas" panose="020B0609020204030204" pitchFamily="49" charset="0"/>
              </a:rPr>
              <a:t>GISTools</a:t>
            </a:r>
            <a:r>
              <a:rPr lang="zh-CN" altLang="en-US" dirty="0">
                <a:latin typeface="+mn-lt"/>
                <a:ea typeface="Microsoft YaHei" panose="020B0503020204020204" pitchFamily="34" charset="-122"/>
                <a:sym typeface="Consolas" panose="020B0609020204030204" pitchFamily="49" charset="0"/>
              </a:rPr>
              <a:t>：</a:t>
            </a:r>
            <a:r>
              <a:rPr lang="en-US" altLang="zh-CN" dirty="0" err="1">
                <a:latin typeface="+mn-lt"/>
                <a:ea typeface="Microsoft YaHei" panose="020B0503020204020204" pitchFamily="34" charset="-122"/>
                <a:sym typeface="Consolas" panose="020B0609020204030204" pitchFamily="49" charset="0"/>
              </a:rPr>
              <a:t>thematic.map</a:t>
            </a:r>
            <a:r>
              <a:rPr lang="en-US" altLang="zh-CN" dirty="0">
                <a:latin typeface="+mn-lt"/>
                <a:ea typeface="Microsoft YaHei" panose="020B0503020204020204" pitchFamily="34" charset="-122"/>
                <a:sym typeface="Consolas" panose="020B0609020204030204" pitchFamily="49" charset="0"/>
              </a:rPr>
              <a:t>()</a:t>
            </a:r>
            <a:r>
              <a:rPr lang="zh-CN" altLang="en-US" dirty="0">
                <a:latin typeface="+mn-lt"/>
                <a:ea typeface="Microsoft YaHei" panose="020B0503020204020204" pitchFamily="34" charset="-122"/>
                <a:sym typeface="Consolas" panose="020B0609020204030204" pitchFamily="49" charset="0"/>
              </a:rPr>
              <a:t>和面向多边形数据的</a:t>
            </a:r>
            <a:r>
              <a:rPr lang="en-US" altLang="zh-CN" dirty="0">
                <a:latin typeface="+mn-lt"/>
                <a:ea typeface="Microsoft YaHei" panose="020B0503020204020204" pitchFamily="34" charset="-122"/>
                <a:sym typeface="Consolas" panose="020B0609020204030204" pitchFamily="49" charset="0"/>
              </a:rPr>
              <a:t>choropleth()</a:t>
            </a:r>
            <a:r>
              <a:rPr lang="zh-CN" altLang="en-US" dirty="0">
                <a:latin typeface="+mn-lt"/>
                <a:ea typeface="Microsoft YaHei" panose="020B0503020204020204" pitchFamily="34" charset="-122"/>
                <a:sym typeface="Consolas" panose="020B0609020204030204" pitchFamily="49" charset="0"/>
              </a:rPr>
              <a:t>函数；</a:t>
            </a:r>
            <a:endParaRPr lang="en-US" altLang="zh-CN" dirty="0">
              <a:latin typeface="+mn-lt"/>
              <a:ea typeface="Microsoft YaHei" panose="020B0503020204020204" pitchFamily="34" charset="-122"/>
              <a:sym typeface="Consolas" panose="020B0609020204030204" pitchFamily="49" charset="0"/>
            </a:endParaRPr>
          </a:p>
          <a:p>
            <a:pPr marL="285750" marR="0" indent="-285750" algn="just">
              <a:lnSpc>
                <a:spcPct val="250000"/>
              </a:lnSpc>
              <a:buFont typeface="Wingdings" panose="05000000000000000000" pitchFamily="2" charset="2"/>
              <a:buChar char="ü"/>
            </a:pPr>
            <a:r>
              <a:rPr lang="zh-CN" altLang="en-US" b="1" dirty="0">
                <a:latin typeface="+mn-lt"/>
                <a:ea typeface="Microsoft YaHei" panose="020B0503020204020204" pitchFamily="34" charset="-122"/>
                <a:sym typeface="Consolas" panose="020B0609020204030204" pitchFamily="49" charset="0"/>
              </a:rPr>
              <a:t>函数包</a:t>
            </a:r>
            <a:r>
              <a:rPr lang="en-US" altLang="zh-CN" b="1" dirty="0" err="1">
                <a:latin typeface="+mn-lt"/>
                <a:ea typeface="Microsoft YaHei" panose="020B0503020204020204" pitchFamily="34" charset="-122"/>
                <a:sym typeface="Consolas" panose="020B0609020204030204" pitchFamily="49" charset="0"/>
              </a:rPr>
              <a:t>tmap</a:t>
            </a:r>
            <a:r>
              <a:rPr lang="zh-CN" altLang="en-US" dirty="0">
                <a:latin typeface="+mn-lt"/>
                <a:ea typeface="Microsoft YaHei" panose="020B0503020204020204" pitchFamily="34" charset="-122"/>
                <a:sym typeface="Consolas" panose="020B0609020204030204" pitchFamily="49" charset="0"/>
              </a:rPr>
              <a:t>：主要利用</a:t>
            </a:r>
            <a:r>
              <a:rPr lang="en-US" altLang="zh-CN" dirty="0" err="1">
                <a:latin typeface="+mn-lt"/>
                <a:ea typeface="Microsoft YaHei" panose="020B0503020204020204" pitchFamily="34" charset="-122"/>
                <a:sym typeface="Consolas" panose="020B0609020204030204" pitchFamily="49" charset="0"/>
              </a:rPr>
              <a:t>tm_shape</a:t>
            </a:r>
            <a:r>
              <a:rPr lang="en-US" altLang="zh-CN" dirty="0">
                <a:latin typeface="+mn-lt"/>
                <a:ea typeface="Microsoft YaHei" panose="020B0503020204020204" pitchFamily="34" charset="-122"/>
                <a:sym typeface="Consolas" panose="020B0609020204030204" pitchFamily="49" charset="0"/>
              </a:rPr>
              <a:t>()</a:t>
            </a:r>
            <a:r>
              <a:rPr lang="zh-CN" altLang="en-US" dirty="0">
                <a:latin typeface="+mn-lt"/>
                <a:ea typeface="Microsoft YaHei" panose="020B0503020204020204" pitchFamily="34" charset="-122"/>
                <a:sym typeface="Consolas" panose="020B0609020204030204" pitchFamily="49" charset="0"/>
              </a:rPr>
              <a:t>函数导入空间数据。</a:t>
            </a:r>
            <a:endParaRPr lang="en-US" altLang="zh-CN" dirty="0">
              <a:latin typeface="+mn-lt"/>
              <a:ea typeface="Microsoft YaHei" panose="020B0503020204020204" pitchFamily="34" charset="-122"/>
              <a:sym typeface="Consolas" panose="020B0609020204030204"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6909B94-EE33-A718-B9B0-A57DE595F0AB}"/>
              </a:ext>
            </a:extLst>
          </p:cNvPr>
          <p:cNvSpPr>
            <a:spLocks noGrp="1"/>
          </p:cNvSpPr>
          <p:nvPr>
            <p:ph type="sldNum" sz="quarter" idx="12"/>
          </p:nvPr>
        </p:nvSpPr>
        <p:spPr/>
        <p:txBody>
          <a:bodyPr/>
          <a:lstStyle/>
          <a:p>
            <a:pPr>
              <a:defRPr/>
            </a:pPr>
            <a:fld id="{6B3369F9-03CD-4B48-86A9-9EE39A82955A}" type="slidenum">
              <a:rPr lang="zh-CN" altLang="en-US" smtClean="0"/>
              <a:pPr>
                <a:defRPr/>
              </a:pPr>
              <a:t>15</a:t>
            </a:fld>
            <a:endParaRPr lang="zh-CN" altLang="en-US" dirty="0"/>
          </a:p>
        </p:txBody>
      </p:sp>
      <p:graphicFrame>
        <p:nvGraphicFramePr>
          <p:cNvPr id="5" name="表格 4">
            <a:extLst>
              <a:ext uri="{FF2B5EF4-FFF2-40B4-BE49-F238E27FC236}">
                <a16:creationId xmlns:a16="http://schemas.microsoft.com/office/drawing/2014/main" id="{87758E2C-DA06-403E-EE95-5140F88AA3CF}"/>
              </a:ext>
            </a:extLst>
          </p:cNvPr>
          <p:cNvGraphicFramePr>
            <a:graphicFrameLocks noGrp="1"/>
          </p:cNvGraphicFramePr>
          <p:nvPr>
            <p:extLst>
              <p:ext uri="{D42A27DB-BD31-4B8C-83A1-F6EECF244321}">
                <p14:modId xmlns:p14="http://schemas.microsoft.com/office/powerpoint/2010/main" val="1998580155"/>
              </p:ext>
            </p:extLst>
          </p:nvPr>
        </p:nvGraphicFramePr>
        <p:xfrm>
          <a:off x="1009650" y="2078893"/>
          <a:ext cx="7067550" cy="4588607"/>
        </p:xfrm>
        <a:graphic>
          <a:graphicData uri="http://schemas.openxmlformats.org/drawingml/2006/table">
            <a:tbl>
              <a:tblPr/>
              <a:tblGrid>
                <a:gridCol w="1328999">
                  <a:extLst>
                    <a:ext uri="{9D8B030D-6E8A-4147-A177-3AD203B41FA5}">
                      <a16:colId xmlns:a16="http://schemas.microsoft.com/office/drawing/2014/main" val="1847076984"/>
                    </a:ext>
                  </a:extLst>
                </a:gridCol>
                <a:gridCol w="1697362">
                  <a:extLst>
                    <a:ext uri="{9D8B030D-6E8A-4147-A177-3AD203B41FA5}">
                      <a16:colId xmlns:a16="http://schemas.microsoft.com/office/drawing/2014/main" val="2854538305"/>
                    </a:ext>
                  </a:extLst>
                </a:gridCol>
                <a:gridCol w="4041189">
                  <a:extLst>
                    <a:ext uri="{9D8B030D-6E8A-4147-A177-3AD203B41FA5}">
                      <a16:colId xmlns:a16="http://schemas.microsoft.com/office/drawing/2014/main" val="2656616048"/>
                    </a:ext>
                  </a:extLst>
                </a:gridCol>
              </a:tblGrid>
              <a:tr h="310336">
                <a:tc>
                  <a:txBody>
                    <a:bodyPr/>
                    <a:lstStyle/>
                    <a:p>
                      <a:pPr marL="0" marR="0" indent="0" algn="ctr">
                        <a:lnSpc>
                          <a:spcPct val="150000"/>
                        </a:lnSpc>
                        <a:buNone/>
                      </a:pPr>
                      <a:r>
                        <a:rPr lang="zh-CN" altLang="en-US" sz="1200" b="1" kern="0">
                          <a:effectLst/>
                          <a:latin typeface="宋体" panose="02010600030101010101" pitchFamily="2" charset="-122"/>
                          <a:ea typeface="宋体" panose="02010600030101010101" pitchFamily="2" charset="-122"/>
                          <a:cs typeface="宋体" panose="02010600030101010101" pitchFamily="2" charset="-122"/>
                        </a:rPr>
                        <a:t>函数</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zh-CN" altLang="en-US" sz="1200" b="1" kern="0">
                          <a:effectLst/>
                          <a:latin typeface="宋体" panose="02010600030101010101" pitchFamily="2" charset="-122"/>
                          <a:ea typeface="宋体" panose="02010600030101010101" pitchFamily="2" charset="-122"/>
                          <a:cs typeface="宋体" panose="02010600030101010101" pitchFamily="2" charset="-122"/>
                        </a:rPr>
                        <a:t>适用对象</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zh-CN" altLang="en-US" sz="1200" b="1" kern="0">
                          <a:effectLst/>
                          <a:latin typeface="宋体" panose="02010600030101010101" pitchFamily="2" charset="-122"/>
                          <a:ea typeface="宋体" panose="02010600030101010101" pitchFamily="2" charset="-122"/>
                          <a:cs typeface="宋体" panose="02010600030101010101" pitchFamily="2" charset="-122"/>
                        </a:rPr>
                        <a:t>效果</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4141356"/>
                  </a:ext>
                </a:extLst>
              </a:tr>
              <a:tr h="312093">
                <a:tc>
                  <a:txBody>
                    <a:bodyPr/>
                    <a:lstStyle/>
                    <a:p>
                      <a:pPr marL="0" marR="0" indent="0" algn="ctr">
                        <a:lnSpc>
                          <a:spcPct val="150000"/>
                        </a:lnSpc>
                        <a:buNone/>
                      </a:pPr>
                      <a:r>
                        <a:rPr lang="en-US" sz="1200" i="1" kern="0">
                          <a:effectLst/>
                          <a:latin typeface="Times New Roman" panose="02020603050405020304" pitchFamily="18" charset="0"/>
                          <a:ea typeface="宋体" panose="02010600030101010101" pitchFamily="2" charset="-122"/>
                          <a:cs typeface="宋体" panose="02010600030101010101" pitchFamily="2" charset="-122"/>
                        </a:rPr>
                        <a:t>tm_polygons()</a:t>
                      </a:r>
                      <a:endParaRPr 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w="19050" cap="flat" cmpd="sng" algn="ctr">
                      <a:solidFill>
                        <a:srgbClr val="000000"/>
                      </a:solidFill>
                      <a:prstDash val="solid"/>
                      <a:round/>
                      <a:headEnd type="none" w="med" len="med"/>
                      <a:tailEnd type="none" w="med" len="med"/>
                    </a:lnT>
                    <a:lnB>
                      <a:noFill/>
                    </a:lnB>
                    <a:noFill/>
                  </a:tcPr>
                </a:tc>
                <a:tc>
                  <a:txBody>
                    <a:bodyPr/>
                    <a:lstStyle/>
                    <a:p>
                      <a:pPr marL="0" marR="0" indent="0" algn="ctr">
                        <a:lnSpc>
                          <a:spcPct val="150000"/>
                        </a:lnSpc>
                        <a:buNone/>
                      </a:pPr>
                      <a:r>
                        <a:rPr lang="zh-CN" altLang="en-US" sz="1200" kern="0">
                          <a:effectLst/>
                          <a:latin typeface="宋体" panose="02010600030101010101" pitchFamily="2" charset="-122"/>
                          <a:ea typeface="宋体" panose="02010600030101010101" pitchFamily="2" charset="-122"/>
                          <a:cs typeface="宋体" panose="02010600030101010101" pitchFamily="2" charset="-122"/>
                        </a:rPr>
                        <a:t>面</a:t>
                      </a:r>
                      <a:r>
                        <a:rPr lang="en-US" altLang="zh-CN" sz="1200" kern="0">
                          <a:effectLst/>
                          <a:latin typeface="Times New Roman" panose="02020603050405020304" pitchFamily="18" charset="0"/>
                          <a:ea typeface="宋体" panose="02010600030101010101" pitchFamily="2" charset="-122"/>
                          <a:cs typeface="宋体" panose="02010600030101010101" pitchFamily="2" charset="-122"/>
                        </a:rPr>
                        <a:t>(</a:t>
                      </a:r>
                      <a:r>
                        <a:rPr lang="zh-CN" altLang="en-US" sz="1200" kern="0">
                          <a:effectLst/>
                          <a:latin typeface="宋体" panose="02010600030101010101" pitchFamily="2" charset="-122"/>
                          <a:ea typeface="宋体" panose="02010600030101010101" pitchFamily="2" charset="-122"/>
                          <a:cs typeface="宋体" panose="02010600030101010101" pitchFamily="2" charset="-122"/>
                        </a:rPr>
                        <a:t>多边形</a:t>
                      </a:r>
                      <a:r>
                        <a:rPr lang="en-US" altLang="zh-CN" sz="1200" kern="0">
                          <a:effectLst/>
                          <a:latin typeface="Times New Roman" panose="02020603050405020304" pitchFamily="18" charset="0"/>
                          <a:ea typeface="宋体" panose="02010600030101010101" pitchFamily="2" charset="-122"/>
                          <a:cs typeface="宋体" panose="02010600030101010101" pitchFamily="2" charset="-122"/>
                        </a:rPr>
                        <a:t>)</a:t>
                      </a:r>
                      <a:r>
                        <a:rPr lang="zh-CN" altLang="en-US" sz="1200" kern="0">
                          <a:effectLst/>
                          <a:latin typeface="宋体" panose="02010600030101010101" pitchFamily="2" charset="-122"/>
                          <a:ea typeface="宋体" panose="02010600030101010101" pitchFamily="2" charset="-122"/>
                          <a:cs typeface="宋体" panose="02010600030101010101" pitchFamily="2" charset="-122"/>
                        </a:rPr>
                        <a:t>数据</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w="19050" cap="flat" cmpd="sng" algn="ctr">
                      <a:solidFill>
                        <a:srgbClr val="000000"/>
                      </a:solidFill>
                      <a:prstDash val="solid"/>
                      <a:round/>
                      <a:headEnd type="none" w="med" len="med"/>
                      <a:tailEnd type="none" w="med" len="med"/>
                    </a:lnT>
                    <a:lnB>
                      <a:noFill/>
                    </a:lnB>
                    <a:noFill/>
                  </a:tcPr>
                </a:tc>
                <a:tc>
                  <a:txBody>
                    <a:bodyPr/>
                    <a:lstStyle/>
                    <a:p>
                      <a:pPr marL="0" marR="0" indent="0" algn="ctr">
                        <a:lnSpc>
                          <a:spcPct val="150000"/>
                        </a:lnSpc>
                        <a:buNone/>
                      </a:pPr>
                      <a:r>
                        <a:rPr lang="zh-CN" altLang="en-US" sz="1200" kern="0" dirty="0">
                          <a:effectLst/>
                          <a:latin typeface="宋体" panose="02010600030101010101" pitchFamily="2" charset="-122"/>
                          <a:ea typeface="宋体" panose="02010600030101010101" pitchFamily="2" charset="-122"/>
                          <a:cs typeface="宋体" panose="02010600030101010101" pitchFamily="2" charset="-122"/>
                        </a:rPr>
                        <a:t>绘制多边形数据</a:t>
                      </a:r>
                      <a:endParaRPr lang="zh-CN" altLang="en-US"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w="190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90535450"/>
                  </a:ext>
                </a:extLst>
              </a:tr>
              <a:tr h="312093">
                <a:tc>
                  <a:txBody>
                    <a:bodyPr/>
                    <a:lstStyle/>
                    <a:p>
                      <a:pPr marL="0" marR="0" indent="0" algn="ctr">
                        <a:lnSpc>
                          <a:spcPct val="150000"/>
                        </a:lnSpc>
                        <a:buNone/>
                      </a:pPr>
                      <a:r>
                        <a:rPr lang="en-US" sz="1200" i="1" kern="0">
                          <a:effectLst/>
                          <a:latin typeface="Times New Roman" panose="02020603050405020304" pitchFamily="18" charset="0"/>
                          <a:ea typeface="宋体" panose="02010600030101010101" pitchFamily="2" charset="-122"/>
                          <a:cs typeface="宋体" panose="02010600030101010101" pitchFamily="2" charset="-122"/>
                        </a:rPr>
                        <a:t>tm_symbols()</a:t>
                      </a:r>
                      <a:endParaRPr 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a:effectLst/>
                          <a:latin typeface="宋体" panose="02010600030101010101" pitchFamily="2" charset="-122"/>
                          <a:ea typeface="宋体" panose="02010600030101010101" pitchFamily="2" charset="-122"/>
                          <a:cs typeface="宋体" panose="02010600030101010101" pitchFamily="2" charset="-122"/>
                        </a:rPr>
                        <a:t>点、线、面数据</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dirty="0">
                          <a:effectLst/>
                          <a:latin typeface="宋体" panose="02010600030101010101" pitchFamily="2" charset="-122"/>
                          <a:ea typeface="宋体" panose="02010600030101010101" pitchFamily="2" charset="-122"/>
                          <a:cs typeface="宋体" panose="02010600030101010101" pitchFamily="2" charset="-122"/>
                        </a:rPr>
                        <a:t>绘制符号，例如点、圆形、三角形等</a:t>
                      </a:r>
                      <a:endParaRPr lang="zh-CN" altLang="en-US"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extLst>
                  <a:ext uri="{0D108BD9-81ED-4DB2-BD59-A6C34878D82A}">
                    <a16:rowId xmlns:a16="http://schemas.microsoft.com/office/drawing/2014/main" val="517684685"/>
                  </a:ext>
                </a:extLst>
              </a:tr>
              <a:tr h="312093">
                <a:tc>
                  <a:txBody>
                    <a:bodyPr/>
                    <a:lstStyle/>
                    <a:p>
                      <a:pPr marL="0" marR="0" indent="0" algn="ctr">
                        <a:lnSpc>
                          <a:spcPct val="150000"/>
                        </a:lnSpc>
                        <a:buNone/>
                      </a:pPr>
                      <a:r>
                        <a:rPr lang="en-US" sz="1200" i="1" kern="0">
                          <a:effectLst/>
                          <a:latin typeface="Times New Roman" panose="02020603050405020304" pitchFamily="18" charset="0"/>
                          <a:ea typeface="宋体" panose="02010600030101010101" pitchFamily="2" charset="-122"/>
                          <a:cs typeface="宋体" panose="02010600030101010101" pitchFamily="2" charset="-122"/>
                        </a:rPr>
                        <a:t>tm_lines()</a:t>
                      </a:r>
                      <a:endParaRPr 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a:effectLst/>
                          <a:latin typeface="宋体" panose="02010600030101010101" pitchFamily="2" charset="-122"/>
                          <a:ea typeface="宋体" panose="02010600030101010101" pitchFamily="2" charset="-122"/>
                          <a:cs typeface="宋体" panose="02010600030101010101" pitchFamily="2" charset="-122"/>
                        </a:rPr>
                        <a:t>线数据</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dirty="0">
                          <a:effectLst/>
                          <a:latin typeface="宋体" panose="02010600030101010101" pitchFamily="2" charset="-122"/>
                          <a:ea typeface="宋体" panose="02010600030101010101" pitchFamily="2" charset="-122"/>
                          <a:cs typeface="宋体" panose="02010600030101010101" pitchFamily="2" charset="-122"/>
                        </a:rPr>
                        <a:t>绘制线数据</a:t>
                      </a:r>
                      <a:endParaRPr lang="zh-CN" altLang="en-US"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extLst>
                  <a:ext uri="{0D108BD9-81ED-4DB2-BD59-A6C34878D82A}">
                    <a16:rowId xmlns:a16="http://schemas.microsoft.com/office/drawing/2014/main" val="1286990217"/>
                  </a:ext>
                </a:extLst>
              </a:tr>
              <a:tr h="312093">
                <a:tc>
                  <a:txBody>
                    <a:bodyPr/>
                    <a:lstStyle/>
                    <a:p>
                      <a:pPr marL="0" marR="0" indent="0" algn="ctr">
                        <a:lnSpc>
                          <a:spcPct val="150000"/>
                        </a:lnSpc>
                        <a:buNone/>
                      </a:pPr>
                      <a:r>
                        <a:rPr lang="en-US" sz="1200" i="1" kern="0">
                          <a:effectLst/>
                          <a:latin typeface="Times New Roman" panose="02020603050405020304" pitchFamily="18" charset="0"/>
                          <a:ea typeface="宋体" panose="02010600030101010101" pitchFamily="2" charset="-122"/>
                          <a:cs typeface="宋体" panose="02010600030101010101" pitchFamily="2" charset="-122"/>
                        </a:rPr>
                        <a:t>tm_raster()</a:t>
                      </a:r>
                      <a:endParaRPr 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a:effectLst/>
                          <a:latin typeface="宋体" panose="02010600030101010101" pitchFamily="2" charset="-122"/>
                          <a:ea typeface="宋体" panose="02010600030101010101" pitchFamily="2" charset="-122"/>
                          <a:cs typeface="宋体" panose="02010600030101010101" pitchFamily="2" charset="-122"/>
                        </a:rPr>
                        <a:t>栅格数据</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dirty="0">
                          <a:effectLst/>
                          <a:latin typeface="宋体" panose="02010600030101010101" pitchFamily="2" charset="-122"/>
                          <a:ea typeface="宋体" panose="02010600030101010101" pitchFamily="2" charset="-122"/>
                          <a:cs typeface="宋体" panose="02010600030101010101" pitchFamily="2" charset="-122"/>
                        </a:rPr>
                        <a:t>绘制栅格数据</a:t>
                      </a:r>
                      <a:endParaRPr lang="zh-CN" altLang="en-US"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extLst>
                  <a:ext uri="{0D108BD9-81ED-4DB2-BD59-A6C34878D82A}">
                    <a16:rowId xmlns:a16="http://schemas.microsoft.com/office/drawing/2014/main" val="598572975"/>
                  </a:ext>
                </a:extLst>
              </a:tr>
              <a:tr h="312093">
                <a:tc>
                  <a:txBody>
                    <a:bodyPr/>
                    <a:lstStyle/>
                    <a:p>
                      <a:pPr marL="0" marR="0" indent="0" algn="ctr">
                        <a:lnSpc>
                          <a:spcPct val="150000"/>
                        </a:lnSpc>
                        <a:buNone/>
                      </a:pPr>
                      <a:r>
                        <a:rPr lang="en-US" sz="1200" i="1" kern="0">
                          <a:effectLst/>
                          <a:latin typeface="Times New Roman" panose="02020603050405020304" pitchFamily="18" charset="0"/>
                          <a:ea typeface="宋体" panose="02010600030101010101" pitchFamily="2" charset="-122"/>
                          <a:cs typeface="宋体" panose="02010600030101010101" pitchFamily="2" charset="-122"/>
                        </a:rPr>
                        <a:t>tm_text()</a:t>
                      </a:r>
                      <a:endParaRPr 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a:effectLst/>
                          <a:latin typeface="宋体" panose="02010600030101010101" pitchFamily="2" charset="-122"/>
                          <a:ea typeface="宋体" panose="02010600030101010101" pitchFamily="2" charset="-122"/>
                          <a:cs typeface="宋体" panose="02010600030101010101" pitchFamily="2" charset="-122"/>
                        </a:rPr>
                        <a:t>点、线、面数据</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dirty="0">
                          <a:effectLst/>
                          <a:latin typeface="宋体" panose="02010600030101010101" pitchFamily="2" charset="-122"/>
                          <a:ea typeface="宋体" panose="02010600030101010101" pitchFamily="2" charset="-122"/>
                          <a:cs typeface="宋体" panose="02010600030101010101" pitchFamily="2" charset="-122"/>
                        </a:rPr>
                        <a:t>在地图上添加文本</a:t>
                      </a:r>
                      <a:endParaRPr lang="zh-CN" altLang="en-US"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extLst>
                  <a:ext uri="{0D108BD9-81ED-4DB2-BD59-A6C34878D82A}">
                    <a16:rowId xmlns:a16="http://schemas.microsoft.com/office/drawing/2014/main" val="1145995915"/>
                  </a:ext>
                </a:extLst>
              </a:tr>
              <a:tr h="312093">
                <a:tc>
                  <a:txBody>
                    <a:bodyPr/>
                    <a:lstStyle/>
                    <a:p>
                      <a:pPr marL="0" marR="0" indent="0" algn="ctr">
                        <a:lnSpc>
                          <a:spcPct val="150000"/>
                        </a:lnSpc>
                        <a:buNone/>
                      </a:pPr>
                      <a:r>
                        <a:rPr lang="en-US" sz="1200" i="1" kern="0">
                          <a:effectLst/>
                          <a:latin typeface="Times New Roman" panose="02020603050405020304" pitchFamily="18" charset="0"/>
                          <a:ea typeface="宋体" panose="02010600030101010101" pitchFamily="2" charset="-122"/>
                          <a:cs typeface="宋体" panose="02010600030101010101" pitchFamily="2" charset="-122"/>
                        </a:rPr>
                        <a:t>tm_fill()</a:t>
                      </a:r>
                      <a:endParaRPr 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a:effectLst/>
                          <a:latin typeface="宋体" panose="02010600030101010101" pitchFamily="2" charset="-122"/>
                          <a:ea typeface="宋体" panose="02010600030101010101" pitchFamily="2" charset="-122"/>
                          <a:cs typeface="宋体" panose="02010600030101010101" pitchFamily="2" charset="-122"/>
                        </a:rPr>
                        <a:t>面数据</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dirty="0">
                          <a:effectLst/>
                          <a:latin typeface="宋体" panose="02010600030101010101" pitchFamily="2" charset="-122"/>
                          <a:ea typeface="宋体" panose="02010600030101010101" pitchFamily="2" charset="-122"/>
                          <a:cs typeface="宋体" panose="02010600030101010101" pitchFamily="2" charset="-122"/>
                        </a:rPr>
                        <a:t>填充多边形的内部颜色</a:t>
                      </a:r>
                      <a:endParaRPr lang="zh-CN" altLang="en-US"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extLst>
                  <a:ext uri="{0D108BD9-81ED-4DB2-BD59-A6C34878D82A}">
                    <a16:rowId xmlns:a16="http://schemas.microsoft.com/office/drawing/2014/main" val="4222125015"/>
                  </a:ext>
                </a:extLst>
              </a:tr>
              <a:tr h="312093">
                <a:tc>
                  <a:txBody>
                    <a:bodyPr/>
                    <a:lstStyle/>
                    <a:p>
                      <a:pPr marL="0" marR="0" indent="0" algn="ctr">
                        <a:lnSpc>
                          <a:spcPct val="150000"/>
                        </a:lnSpc>
                        <a:buNone/>
                      </a:pPr>
                      <a:r>
                        <a:rPr lang="en-US" sz="1200" i="1" kern="0">
                          <a:effectLst/>
                          <a:latin typeface="Times New Roman" panose="02020603050405020304" pitchFamily="18" charset="0"/>
                          <a:ea typeface="宋体" panose="02010600030101010101" pitchFamily="2" charset="-122"/>
                          <a:cs typeface="宋体" panose="02010600030101010101" pitchFamily="2" charset="-122"/>
                        </a:rPr>
                        <a:t>tm_borders()</a:t>
                      </a:r>
                      <a:endParaRPr 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a:effectLst/>
                          <a:latin typeface="宋体" panose="02010600030101010101" pitchFamily="2" charset="-122"/>
                          <a:ea typeface="宋体" panose="02010600030101010101" pitchFamily="2" charset="-122"/>
                          <a:cs typeface="宋体" panose="02010600030101010101" pitchFamily="2" charset="-122"/>
                        </a:rPr>
                        <a:t>面数据</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dirty="0">
                          <a:effectLst/>
                          <a:latin typeface="宋体" panose="02010600030101010101" pitchFamily="2" charset="-122"/>
                          <a:ea typeface="宋体" panose="02010600030101010101" pitchFamily="2" charset="-122"/>
                          <a:cs typeface="宋体" panose="02010600030101010101" pitchFamily="2" charset="-122"/>
                        </a:rPr>
                        <a:t>绘制多边形的边界线</a:t>
                      </a:r>
                      <a:endParaRPr lang="zh-CN" altLang="en-US"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extLst>
                  <a:ext uri="{0D108BD9-81ED-4DB2-BD59-A6C34878D82A}">
                    <a16:rowId xmlns:a16="http://schemas.microsoft.com/office/drawing/2014/main" val="224718264"/>
                  </a:ext>
                </a:extLst>
              </a:tr>
              <a:tr h="440086">
                <a:tc>
                  <a:txBody>
                    <a:bodyPr/>
                    <a:lstStyle/>
                    <a:p>
                      <a:pPr marL="0" marR="0" indent="0" algn="ctr">
                        <a:lnSpc>
                          <a:spcPct val="150000"/>
                        </a:lnSpc>
                        <a:buNone/>
                      </a:pPr>
                      <a:r>
                        <a:rPr lang="en-US" sz="1200" i="1" kern="0">
                          <a:effectLst/>
                          <a:latin typeface="Times New Roman" panose="02020603050405020304" pitchFamily="18" charset="0"/>
                          <a:ea typeface="宋体" panose="02010600030101010101" pitchFamily="2" charset="-122"/>
                          <a:cs typeface="宋体" panose="02010600030101010101" pitchFamily="2" charset="-122"/>
                        </a:rPr>
                        <a:t>tm_bubbles()</a:t>
                      </a:r>
                      <a:endParaRPr 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a:effectLst/>
                          <a:latin typeface="宋体" panose="02010600030101010101" pitchFamily="2" charset="-122"/>
                          <a:ea typeface="宋体" panose="02010600030101010101" pitchFamily="2" charset="-122"/>
                          <a:cs typeface="宋体" panose="02010600030101010101" pitchFamily="2" charset="-122"/>
                        </a:rPr>
                        <a:t>点、线、面数据</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dirty="0">
                          <a:effectLst/>
                          <a:latin typeface="宋体" panose="02010600030101010101" pitchFamily="2" charset="-122"/>
                          <a:ea typeface="宋体" panose="02010600030101010101" pitchFamily="2" charset="-122"/>
                          <a:cs typeface="宋体" panose="02010600030101010101" pitchFamily="2" charset="-122"/>
                        </a:rPr>
                        <a:t>绘制气泡图，气泡的大小和颜色可以表示变量值大小</a:t>
                      </a:r>
                      <a:endParaRPr lang="zh-CN" altLang="en-US"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extLst>
                  <a:ext uri="{0D108BD9-81ED-4DB2-BD59-A6C34878D82A}">
                    <a16:rowId xmlns:a16="http://schemas.microsoft.com/office/drawing/2014/main" val="3021356978"/>
                  </a:ext>
                </a:extLst>
              </a:tr>
              <a:tr h="440086">
                <a:tc>
                  <a:txBody>
                    <a:bodyPr/>
                    <a:lstStyle/>
                    <a:p>
                      <a:pPr marL="0" marR="0" indent="0" algn="ctr">
                        <a:lnSpc>
                          <a:spcPct val="150000"/>
                        </a:lnSpc>
                        <a:buNone/>
                      </a:pPr>
                      <a:r>
                        <a:rPr lang="en-US" sz="1200" i="1" kern="0">
                          <a:effectLst/>
                          <a:latin typeface="Times New Roman" panose="02020603050405020304" pitchFamily="18" charset="0"/>
                          <a:ea typeface="宋体" panose="02010600030101010101" pitchFamily="2" charset="-122"/>
                          <a:cs typeface="宋体" panose="02010600030101010101" pitchFamily="2" charset="-122"/>
                        </a:rPr>
                        <a:t>tm_squares()</a:t>
                      </a:r>
                      <a:endParaRPr 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a:effectLst/>
                          <a:latin typeface="宋体" panose="02010600030101010101" pitchFamily="2" charset="-122"/>
                          <a:ea typeface="宋体" panose="02010600030101010101" pitchFamily="2" charset="-122"/>
                          <a:cs typeface="宋体" panose="02010600030101010101" pitchFamily="2" charset="-122"/>
                        </a:rPr>
                        <a:t>点、线、面数据</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dirty="0">
                          <a:effectLst/>
                          <a:latin typeface="宋体" panose="02010600030101010101" pitchFamily="2" charset="-122"/>
                          <a:ea typeface="宋体" panose="02010600030101010101" pitchFamily="2" charset="-122"/>
                          <a:cs typeface="宋体" panose="02010600030101010101" pitchFamily="2" charset="-122"/>
                        </a:rPr>
                        <a:t>绘制正方形，正方形的大小和颜色可以表示变量值大小</a:t>
                      </a:r>
                      <a:endParaRPr lang="zh-CN" altLang="en-US"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extLst>
                  <a:ext uri="{0D108BD9-81ED-4DB2-BD59-A6C34878D82A}">
                    <a16:rowId xmlns:a16="http://schemas.microsoft.com/office/drawing/2014/main" val="1029592325"/>
                  </a:ext>
                </a:extLst>
              </a:tr>
              <a:tr h="312093">
                <a:tc>
                  <a:txBody>
                    <a:bodyPr/>
                    <a:lstStyle/>
                    <a:p>
                      <a:pPr marL="0" marR="0" indent="0" algn="ctr">
                        <a:lnSpc>
                          <a:spcPct val="150000"/>
                        </a:lnSpc>
                        <a:buNone/>
                      </a:pPr>
                      <a:r>
                        <a:rPr lang="en-US" sz="1200" i="1" kern="0">
                          <a:effectLst/>
                          <a:latin typeface="Times New Roman" panose="02020603050405020304" pitchFamily="18" charset="0"/>
                          <a:ea typeface="宋体" panose="02010600030101010101" pitchFamily="2" charset="-122"/>
                          <a:cs typeface="宋体" panose="02010600030101010101" pitchFamily="2" charset="-122"/>
                        </a:rPr>
                        <a:t>tm_dots()</a:t>
                      </a:r>
                      <a:endParaRPr 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a:effectLst/>
                          <a:latin typeface="宋体" panose="02010600030101010101" pitchFamily="2" charset="-122"/>
                          <a:ea typeface="宋体" panose="02010600030101010101" pitchFamily="2" charset="-122"/>
                          <a:cs typeface="宋体" panose="02010600030101010101" pitchFamily="2" charset="-122"/>
                        </a:rPr>
                        <a:t>点、线、面数据</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dirty="0">
                          <a:effectLst/>
                          <a:latin typeface="宋体" panose="02010600030101010101" pitchFamily="2" charset="-122"/>
                          <a:ea typeface="宋体" panose="02010600030101010101" pitchFamily="2" charset="-122"/>
                          <a:cs typeface="宋体" panose="02010600030101010101" pitchFamily="2" charset="-122"/>
                        </a:rPr>
                        <a:t>绘制点状符号</a:t>
                      </a:r>
                      <a:endParaRPr lang="zh-CN" altLang="en-US"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extLst>
                  <a:ext uri="{0D108BD9-81ED-4DB2-BD59-A6C34878D82A}">
                    <a16:rowId xmlns:a16="http://schemas.microsoft.com/office/drawing/2014/main" val="2868286379"/>
                  </a:ext>
                </a:extLst>
              </a:tr>
              <a:tr h="440086">
                <a:tc>
                  <a:txBody>
                    <a:bodyPr/>
                    <a:lstStyle/>
                    <a:p>
                      <a:pPr marL="0" marR="0" indent="0" algn="ctr">
                        <a:lnSpc>
                          <a:spcPct val="150000"/>
                        </a:lnSpc>
                        <a:buNone/>
                      </a:pPr>
                      <a:r>
                        <a:rPr lang="en-US" sz="1200" i="1" kern="0">
                          <a:effectLst/>
                          <a:latin typeface="Times New Roman" panose="02020603050405020304" pitchFamily="18" charset="0"/>
                          <a:ea typeface="宋体" panose="02010600030101010101" pitchFamily="2" charset="-122"/>
                          <a:cs typeface="宋体" panose="02010600030101010101" pitchFamily="2" charset="-122"/>
                        </a:rPr>
                        <a:t>tm_rgb()</a:t>
                      </a:r>
                      <a:endParaRPr 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a:effectLst/>
                          <a:latin typeface="宋体" panose="02010600030101010101" pitchFamily="2" charset="-122"/>
                          <a:ea typeface="宋体" panose="02010600030101010101" pitchFamily="2" charset="-122"/>
                          <a:cs typeface="宋体" panose="02010600030101010101" pitchFamily="2" charset="-122"/>
                        </a:rPr>
                        <a:t>栅格数据</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tc>
                  <a:txBody>
                    <a:bodyPr/>
                    <a:lstStyle/>
                    <a:p>
                      <a:pPr marL="0" marR="0" indent="0" algn="ctr">
                        <a:lnSpc>
                          <a:spcPct val="150000"/>
                        </a:lnSpc>
                        <a:buNone/>
                      </a:pPr>
                      <a:r>
                        <a:rPr lang="zh-CN" altLang="en-US" sz="1200" kern="0" dirty="0">
                          <a:effectLst/>
                          <a:latin typeface="宋体" panose="02010600030101010101" pitchFamily="2" charset="-122"/>
                          <a:ea typeface="宋体" panose="02010600030101010101" pitchFamily="2" charset="-122"/>
                          <a:cs typeface="宋体" panose="02010600030101010101" pitchFamily="2" charset="-122"/>
                        </a:rPr>
                        <a:t>绘制</a:t>
                      </a:r>
                      <a:r>
                        <a:rPr lang="en-US" altLang="zh-CN" sz="1200" kern="0" dirty="0">
                          <a:effectLst/>
                          <a:latin typeface="Times New Roman" panose="02020603050405020304" pitchFamily="18" charset="0"/>
                          <a:ea typeface="宋体" panose="02010600030101010101" pitchFamily="2" charset="-122"/>
                          <a:cs typeface="宋体" panose="02010600030101010101" pitchFamily="2" charset="-122"/>
                        </a:rPr>
                        <a:t>RGB</a:t>
                      </a:r>
                      <a:r>
                        <a:rPr lang="zh-CN" altLang="en-US" sz="1200" kern="0" dirty="0">
                          <a:effectLst/>
                          <a:latin typeface="宋体" panose="02010600030101010101" pitchFamily="2" charset="-122"/>
                          <a:ea typeface="宋体" panose="02010600030101010101" pitchFamily="2" charset="-122"/>
                          <a:cs typeface="宋体" panose="02010600030101010101" pitchFamily="2" charset="-122"/>
                        </a:rPr>
                        <a:t>图像，例如遥感图像的真彩色或假彩色合成</a:t>
                      </a:r>
                      <a:endParaRPr lang="zh-CN" altLang="en-US"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a:noFill/>
                    </a:lnB>
                    <a:noFill/>
                  </a:tcPr>
                </a:tc>
                <a:extLst>
                  <a:ext uri="{0D108BD9-81ED-4DB2-BD59-A6C34878D82A}">
                    <a16:rowId xmlns:a16="http://schemas.microsoft.com/office/drawing/2014/main" val="1674481206"/>
                  </a:ext>
                </a:extLst>
              </a:tr>
              <a:tr h="312093">
                <a:tc>
                  <a:txBody>
                    <a:bodyPr/>
                    <a:lstStyle/>
                    <a:p>
                      <a:pPr marL="0" marR="0" indent="0" algn="ctr">
                        <a:lnSpc>
                          <a:spcPct val="150000"/>
                        </a:lnSpc>
                        <a:buNone/>
                      </a:pPr>
                      <a:r>
                        <a:rPr lang="en-US" sz="1200" i="1" kern="0">
                          <a:effectLst/>
                          <a:latin typeface="Times New Roman" panose="02020603050405020304" pitchFamily="18" charset="0"/>
                          <a:ea typeface="宋体" panose="02010600030101010101" pitchFamily="2" charset="-122"/>
                          <a:cs typeface="宋体" panose="02010600030101010101" pitchFamily="2" charset="-122"/>
                        </a:rPr>
                        <a:t>tm_markers()</a:t>
                      </a:r>
                      <a:endParaRPr 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zh-CN" altLang="en-US" sz="1200" kern="0">
                          <a:effectLst/>
                          <a:latin typeface="宋体" panose="02010600030101010101" pitchFamily="2" charset="-122"/>
                          <a:ea typeface="宋体" panose="02010600030101010101" pitchFamily="2" charset="-122"/>
                          <a:cs typeface="宋体" panose="02010600030101010101" pitchFamily="2" charset="-122"/>
                        </a:rPr>
                        <a:t>点、线、面数据</a:t>
                      </a:r>
                      <a:endParaRPr lang="zh-CN" altLang="en-US" sz="120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zh-CN" altLang="en-US" sz="1200" kern="0" dirty="0">
                          <a:effectLst/>
                          <a:latin typeface="宋体" panose="02010600030101010101" pitchFamily="2" charset="-122"/>
                          <a:ea typeface="宋体" panose="02010600030101010101" pitchFamily="2" charset="-122"/>
                          <a:cs typeface="宋体" panose="02010600030101010101" pitchFamily="2" charset="-122"/>
                        </a:rPr>
                        <a:t>绘制文本标记</a:t>
                      </a:r>
                      <a:endParaRPr lang="zh-CN" altLang="en-US"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4194" marR="64194" marT="42796" marB="42796"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9193190"/>
                  </a:ext>
                </a:extLst>
              </a:tr>
            </a:tbl>
          </a:graphicData>
        </a:graphic>
      </p:graphicFrame>
      <p:sp>
        <p:nvSpPr>
          <p:cNvPr id="6" name="标题 4">
            <a:extLst>
              <a:ext uri="{FF2B5EF4-FFF2-40B4-BE49-F238E27FC236}">
                <a16:creationId xmlns:a16="http://schemas.microsoft.com/office/drawing/2014/main" id="{FF53CA8B-649D-81E7-EC9D-EF5E35D9EC7D}"/>
              </a:ext>
            </a:extLst>
          </p:cNvPr>
          <p:cNvSpPr>
            <a:spLocks noGrp="1"/>
          </p:cNvSpPr>
          <p:nvPr>
            <p:ph type="title"/>
          </p:nvPr>
        </p:nvSpPr>
        <p:spPr>
          <a:xfrm>
            <a:off x="1181101" y="342900"/>
            <a:ext cx="6896099" cy="663575"/>
          </a:xfrm>
        </p:spPr>
        <p:txBody>
          <a:bodyPr/>
          <a:lstStyle/>
          <a:p>
            <a:pPr algn="l"/>
            <a:r>
              <a:rPr lang="en-US" altLang="zh-CN" sz="3600" dirty="0"/>
              <a:t>6.3 </a:t>
            </a:r>
            <a:r>
              <a:rPr lang="zh-CN" altLang="en-US" sz="3600" dirty="0"/>
              <a:t>空间属性数据可视化</a:t>
            </a:r>
          </a:p>
        </p:txBody>
      </p:sp>
      <p:sp>
        <p:nvSpPr>
          <p:cNvPr id="8" name="文本框 7">
            <a:extLst>
              <a:ext uri="{FF2B5EF4-FFF2-40B4-BE49-F238E27FC236}">
                <a16:creationId xmlns:a16="http://schemas.microsoft.com/office/drawing/2014/main" id="{1F3EEDDF-B8EB-4E37-780D-30F376C3436A}"/>
              </a:ext>
            </a:extLst>
          </p:cNvPr>
          <p:cNvSpPr txBox="1"/>
          <p:nvPr/>
        </p:nvSpPr>
        <p:spPr>
          <a:xfrm>
            <a:off x="772839" y="1104900"/>
            <a:ext cx="7541172" cy="870751"/>
          </a:xfrm>
          <a:prstGeom prst="rect">
            <a:avLst/>
          </a:prstGeom>
          <a:noFill/>
        </p:spPr>
        <p:txBody>
          <a:bodyPr wrap="square">
            <a:spAutoFit/>
          </a:bodyPr>
          <a:lstStyle/>
          <a:p>
            <a:pPr indent="304800" algn="just">
              <a:lnSpc>
                <a:spcPct val="150000"/>
              </a:lnSpc>
            </a:pPr>
            <a:r>
              <a:rPr lang="zh-CN" altLang="en-US" sz="1800" kern="0" dirty="0">
                <a:effectLst/>
                <a:latin typeface="+mn-lt"/>
                <a:ea typeface="+mn-ea"/>
                <a:cs typeface="Times New Roman" panose="02020603050405020304" pitchFamily="18" charset="0"/>
              </a:rPr>
              <a:t>选择</a:t>
            </a:r>
            <a:r>
              <a:rPr lang="en-US" altLang="zh-CN" sz="1800" b="1" kern="0" dirty="0" err="1">
                <a:effectLst/>
                <a:latin typeface="+mn-lt"/>
                <a:ea typeface="+mn-ea"/>
                <a:cs typeface="Times New Roman" panose="02020603050405020304" pitchFamily="18" charset="0"/>
              </a:rPr>
              <a:t>tmap</a:t>
            </a:r>
            <a:r>
              <a:rPr lang="zh-CN" altLang="en-US" sz="1800" kern="0" dirty="0">
                <a:effectLst/>
                <a:latin typeface="+mn-lt"/>
                <a:ea typeface="+mn-ea"/>
                <a:cs typeface="Times New Roman" panose="02020603050405020304" pitchFamily="18" charset="0"/>
              </a:rPr>
              <a:t>函数包</a:t>
            </a:r>
            <a:r>
              <a:rPr lang="zh-CN" altLang="en-US" dirty="0">
                <a:latin typeface="+mn-lt"/>
                <a:ea typeface="+mn-ea"/>
              </a:rPr>
              <a:t>中</a:t>
            </a:r>
            <a:r>
              <a:rPr lang="zh-CN" altLang="en-US" sz="1800" kern="0" dirty="0">
                <a:effectLst/>
                <a:latin typeface="+mn-lt"/>
                <a:ea typeface="+mn-ea"/>
                <a:cs typeface="Times New Roman" panose="02020603050405020304" pitchFamily="18" charset="0"/>
              </a:rPr>
              <a:t>不同的可视化函数，并修改对应的绘图参数可以实现高度定制化的专题图绘制。</a:t>
            </a:r>
            <a:endParaRPr lang="zh-CN" altLang="en-US" sz="1800" dirty="0">
              <a:effectLst/>
              <a:latin typeface="+mn-lt"/>
              <a:ea typeface="+mn-ea"/>
            </a:endParaRPr>
          </a:p>
        </p:txBody>
      </p:sp>
    </p:spTree>
    <p:extLst>
      <p:ext uri="{BB962C8B-B14F-4D97-AF65-F5344CB8AC3E}">
        <p14:creationId xmlns:p14="http://schemas.microsoft.com/office/powerpoint/2010/main" val="2887203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12755F-A79F-CBFC-F8D6-7364B08F9703}"/>
              </a:ext>
            </a:extLst>
          </p:cNvPr>
          <p:cNvSpPr>
            <a:spLocks noGrp="1"/>
          </p:cNvSpPr>
          <p:nvPr>
            <p:ph type="title"/>
          </p:nvPr>
        </p:nvSpPr>
        <p:spPr/>
        <p:txBody>
          <a:bodyPr/>
          <a:lstStyle/>
          <a:p>
            <a:pPr algn="l"/>
            <a:r>
              <a:rPr lang="en-US" altLang="zh-CN" sz="3600" dirty="0"/>
              <a:t>6.3.1 </a:t>
            </a:r>
            <a:r>
              <a:rPr lang="zh-CN" altLang="en-US" sz="3600" dirty="0"/>
              <a:t>点数据</a:t>
            </a:r>
          </a:p>
        </p:txBody>
      </p:sp>
      <p:sp>
        <p:nvSpPr>
          <p:cNvPr id="3" name="灯片编号占位符 2">
            <a:extLst>
              <a:ext uri="{FF2B5EF4-FFF2-40B4-BE49-F238E27FC236}">
                <a16:creationId xmlns:a16="http://schemas.microsoft.com/office/drawing/2014/main" id="{515421AF-998F-76AE-BEDD-2F838558E3F6}"/>
              </a:ext>
            </a:extLst>
          </p:cNvPr>
          <p:cNvSpPr>
            <a:spLocks noGrp="1"/>
          </p:cNvSpPr>
          <p:nvPr>
            <p:ph type="sldNum" sz="quarter" idx="12"/>
          </p:nvPr>
        </p:nvSpPr>
        <p:spPr/>
        <p:txBody>
          <a:bodyPr/>
          <a:lstStyle/>
          <a:p>
            <a:pPr>
              <a:defRPr/>
            </a:pPr>
            <a:fld id="{6B3369F9-03CD-4B48-86A9-9EE39A82955A}" type="slidenum">
              <a:rPr lang="zh-CN" altLang="en-US" smtClean="0"/>
              <a:pPr>
                <a:defRPr/>
              </a:pPr>
              <a:t>16</a:t>
            </a:fld>
            <a:endParaRPr lang="zh-CN" altLang="en-US" dirty="0"/>
          </a:p>
        </p:txBody>
      </p:sp>
      <p:sp>
        <p:nvSpPr>
          <p:cNvPr id="5" name="文本框 4">
            <a:extLst>
              <a:ext uri="{FF2B5EF4-FFF2-40B4-BE49-F238E27FC236}">
                <a16:creationId xmlns:a16="http://schemas.microsoft.com/office/drawing/2014/main" id="{57BC26A4-6B09-1022-6C2E-0ECC63F353E8}"/>
              </a:ext>
            </a:extLst>
          </p:cNvPr>
          <p:cNvSpPr txBox="1"/>
          <p:nvPr/>
        </p:nvSpPr>
        <p:spPr>
          <a:xfrm>
            <a:off x="649014" y="1066800"/>
            <a:ext cx="7885386" cy="870751"/>
          </a:xfrm>
          <a:prstGeom prst="rect">
            <a:avLst/>
          </a:prstGeom>
          <a:noFill/>
        </p:spPr>
        <p:txBody>
          <a:bodyPr wrap="square">
            <a:spAutoFit/>
          </a:bodyPr>
          <a:lstStyle/>
          <a:p>
            <a:pPr marL="0" marR="0" indent="304800" algn="just">
              <a:lnSpc>
                <a:spcPct val="150000"/>
              </a:lnSpc>
            </a:pPr>
            <a:r>
              <a:rPr lang="zh-CN" altLang="en-US" sz="1800" kern="0" dirty="0">
                <a:effectLst/>
                <a:latin typeface="+mn-lt"/>
                <a:ea typeface="+mn-ea"/>
                <a:cs typeface="Times New Roman" panose="02020603050405020304" pitchFamily="18" charset="0"/>
              </a:rPr>
              <a:t>利用基础</a:t>
            </a:r>
            <a:r>
              <a:rPr lang="en-US" altLang="zh-CN" sz="1800" i="1" kern="0" dirty="0">
                <a:effectLst/>
                <a:latin typeface="+mn-lt"/>
                <a:ea typeface="+mn-ea"/>
                <a:cs typeface="Times New Roman" panose="02020603050405020304" pitchFamily="18" charset="0"/>
              </a:rPr>
              <a:t>plot(</a:t>
            </a:r>
            <a:r>
              <a:rPr lang="en-US" altLang="zh-CN" sz="1800" i="1" kern="0" dirty="0">
                <a:effectLst/>
                <a:latin typeface="+mn-lt"/>
                <a:ea typeface="+mn-ea"/>
              </a:rPr>
              <a:t>)</a:t>
            </a:r>
            <a:r>
              <a:rPr lang="zh-CN" altLang="en-US" sz="1800" kern="0" dirty="0">
                <a:effectLst/>
                <a:latin typeface="+mn-lt"/>
                <a:ea typeface="+mn-ea"/>
                <a:cs typeface="Times New Roman" panose="02020603050405020304" pitchFamily="18" charset="0"/>
              </a:rPr>
              <a:t>函数，同时</a:t>
            </a:r>
            <a:r>
              <a:rPr lang="zh-CN" altLang="en-US" sz="1800" kern="0" dirty="0">
                <a:effectLst/>
                <a:latin typeface="+mn-lt"/>
                <a:ea typeface="+mn-ea"/>
              </a:rPr>
              <a:t>结合</a:t>
            </a:r>
            <a:r>
              <a:rPr lang="en-US" altLang="zh-CN" sz="1800" i="1" kern="0" dirty="0">
                <a:effectLst/>
                <a:latin typeface="+mn-lt"/>
                <a:ea typeface="+mn-ea"/>
              </a:rPr>
              <a:t>legend()</a:t>
            </a:r>
            <a:r>
              <a:rPr lang="zh-CN" altLang="en-US" sz="1800" kern="0" dirty="0">
                <a:effectLst/>
                <a:latin typeface="+mn-lt"/>
                <a:ea typeface="+mn-ea"/>
                <a:cs typeface="Times New Roman" panose="02020603050405020304" pitchFamily="18" charset="0"/>
              </a:rPr>
              <a:t>函数</a:t>
            </a:r>
            <a:r>
              <a:rPr lang="zh-CN" altLang="en-US" sz="1800" kern="0" dirty="0">
                <a:effectLst/>
                <a:latin typeface="+mn-lt"/>
                <a:ea typeface="+mn-ea"/>
              </a:rPr>
              <a:t>添加对应的图例</a:t>
            </a:r>
            <a:r>
              <a:rPr lang="zh-CN" altLang="en-US" sz="1800" kern="0" dirty="0">
                <a:effectLst/>
                <a:latin typeface="+mn-lt"/>
                <a:ea typeface="+mn-ea"/>
                <a:cs typeface="Times New Roman" panose="02020603050405020304" pitchFamily="18" charset="0"/>
              </a:rPr>
              <a:t>，能够实现点数据属性数据</a:t>
            </a:r>
            <a:r>
              <a:rPr lang="zh-CN" altLang="en-US" sz="1800" kern="0" dirty="0">
                <a:effectLst/>
                <a:latin typeface="+mn-lt"/>
                <a:ea typeface="+mn-ea"/>
              </a:rPr>
              <a:t>在空间上的</a:t>
            </a:r>
            <a:r>
              <a:rPr lang="zh-CN" altLang="en-US" sz="1800" kern="0" dirty="0">
                <a:effectLst/>
                <a:latin typeface="+mn-lt"/>
                <a:ea typeface="+mn-ea"/>
                <a:cs typeface="Times New Roman" panose="02020603050405020304" pitchFamily="18" charset="0"/>
              </a:rPr>
              <a:t>表达</a:t>
            </a:r>
            <a:r>
              <a:rPr lang="zh-CN" altLang="en-US" sz="1800" kern="0" dirty="0">
                <a:effectLst/>
                <a:latin typeface="+mn-lt"/>
                <a:ea typeface="+mn-ea"/>
              </a:rPr>
              <a:t>。</a:t>
            </a:r>
            <a:endParaRPr lang="zh-CN" altLang="en-US" sz="1800" dirty="0">
              <a:effectLst/>
              <a:latin typeface="+mn-lt"/>
              <a:ea typeface="+mn-ea"/>
            </a:endParaRPr>
          </a:p>
        </p:txBody>
      </p:sp>
      <p:sp>
        <p:nvSpPr>
          <p:cNvPr id="6" name="矩形 5">
            <a:extLst>
              <a:ext uri="{FF2B5EF4-FFF2-40B4-BE49-F238E27FC236}">
                <a16:creationId xmlns:a16="http://schemas.microsoft.com/office/drawing/2014/main" id="{7722AF6E-A332-3414-0963-27F6B63266B5}"/>
              </a:ext>
            </a:extLst>
          </p:cNvPr>
          <p:cNvSpPr/>
          <p:nvPr/>
        </p:nvSpPr>
        <p:spPr>
          <a:xfrm>
            <a:off x="1697805" y="2030849"/>
            <a:ext cx="5769795" cy="1169551"/>
          </a:xfrm>
          <a:prstGeom prst="rect">
            <a:avLst/>
          </a:prstGeom>
        </p:spPr>
        <p:txBody>
          <a:bodyPr wrap="square">
            <a:spAutoFit/>
          </a:bodyPr>
          <a:lstStyle/>
          <a:p>
            <a:pPr marL="0" marR="0" indent="0" algn="l">
              <a:lnSpc>
                <a:spcPts val="1425"/>
              </a:lnSpc>
              <a:buNone/>
            </a:pP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a:t>
            </a:r>
            <a:r>
              <a:rPr lang="en-US" altLang="zh-CN" sz="1200" b="1" kern="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200" b="1"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"white"</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lty</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b="1"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,lwd=</a:t>
            </a:r>
            <a:r>
              <a:rPr lang="en-US" altLang="zh-CN" sz="1200" b="1"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border = </a:t>
            </a:r>
            <a:r>
              <a:rPr lang="en-US" altLang="zh-CN" sz="1200" b="1"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"grey40"</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en-US" altLang="zh-CN" sz="1200" b="1" dirty="0">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WHHP_cen</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st_centroid</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a:t>
            </a:r>
            <a:r>
              <a:rPr lang="en-US" altLang="zh-CN" sz="1200" b="1" kern="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en-US" altLang="zh-CN" sz="1200" b="1" dirty="0">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WHHP_cen</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pch</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b="1"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200" b="1"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cex</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a:t>
            </a:r>
            <a:r>
              <a:rPr lang="en-US" altLang="zh-CN" sz="1200" b="1" kern="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Avg_HP</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b="1"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20000</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,add=T)</a:t>
            </a:r>
            <a:endParaRPr lang="en-US" altLang="zh-CN" sz="1200" b="1" dirty="0">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legVals</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c(</a:t>
            </a:r>
            <a:r>
              <a:rPr lang="en-US" altLang="zh-CN" sz="1200" b="1"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5000</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b="1"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10000</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b="1"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15000</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b="1"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20000</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b="1"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25000</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en-US" altLang="zh-CN" sz="1200" b="1" dirty="0">
              <a:effectLst/>
              <a:latin typeface="Times New Roman" panose="02020603050405020304" pitchFamily="18" charset="0"/>
              <a:ea typeface="宋体" panose="02010600030101010101" pitchFamily="2" charset="-122"/>
            </a:endParaRPr>
          </a:p>
          <a:p>
            <a:pPr marL="0" marR="0" indent="0" algn="l">
              <a:lnSpc>
                <a:spcPts val="1425"/>
              </a:lnSpc>
            </a:pP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legend(</a:t>
            </a:r>
            <a:r>
              <a:rPr lang="en-US" altLang="zh-CN" sz="1200" b="1"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b="1" kern="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bottomright</a:t>
            </a:r>
            <a:r>
              <a:rPr lang="en-US" altLang="zh-CN" sz="1200" b="1"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,legend = </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legVals</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cex</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b="1"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0.5</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pch</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200" b="1"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 = </a:t>
            </a:r>
            <a:r>
              <a:rPr lang="en-US" altLang="zh-CN" sz="1200" b="1"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pt.cex</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200" b="1"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legVals</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b="1"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10000</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title = </a:t>
            </a:r>
            <a:r>
              <a:rPr lang="en-US" altLang="zh-CN" sz="1200" b="1"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"House price"</a:t>
            </a:r>
            <a:r>
              <a:rPr lang="en-US" altLang="zh-CN" sz="1200" b="1"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en-US" altLang="zh-CN" sz="1200" b="1" dirty="0">
              <a:effectLst/>
              <a:latin typeface="Times New Roman" panose="02020603050405020304" pitchFamily="18" charset="0"/>
              <a:ea typeface="宋体" panose="02010600030101010101" pitchFamily="2" charset="-122"/>
            </a:endParaRPr>
          </a:p>
        </p:txBody>
      </p:sp>
      <p:pic>
        <p:nvPicPr>
          <p:cNvPr id="7" name="图片 6">
            <a:extLst>
              <a:ext uri="{FF2B5EF4-FFF2-40B4-BE49-F238E27FC236}">
                <a16:creationId xmlns:a16="http://schemas.microsoft.com/office/drawing/2014/main" id="{B41D9FD7-1A20-248F-2F9A-1A0B8A635324}"/>
              </a:ext>
            </a:extLst>
          </p:cNvPr>
          <p:cNvPicPr>
            <a:picLocks noChangeAspect="1"/>
          </p:cNvPicPr>
          <p:nvPr/>
        </p:nvPicPr>
        <p:blipFill>
          <a:blip r:embed="rId2"/>
          <a:stretch>
            <a:fillRect/>
          </a:stretch>
        </p:blipFill>
        <p:spPr>
          <a:xfrm>
            <a:off x="2590799" y="3276600"/>
            <a:ext cx="3929011" cy="3376740"/>
          </a:xfrm>
          <a:prstGeom prst="rect">
            <a:avLst/>
          </a:prstGeom>
        </p:spPr>
      </p:pic>
    </p:spTree>
    <p:extLst>
      <p:ext uri="{BB962C8B-B14F-4D97-AF65-F5344CB8AC3E}">
        <p14:creationId xmlns:p14="http://schemas.microsoft.com/office/powerpoint/2010/main" val="1807123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9D737-E212-E1C0-7C50-809B381184D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79394A0-AF7D-81B3-3E2D-2385578CBE65}"/>
              </a:ext>
            </a:extLst>
          </p:cNvPr>
          <p:cNvSpPr>
            <a:spLocks noGrp="1"/>
          </p:cNvSpPr>
          <p:nvPr>
            <p:ph type="title"/>
          </p:nvPr>
        </p:nvSpPr>
        <p:spPr/>
        <p:txBody>
          <a:bodyPr/>
          <a:lstStyle/>
          <a:p>
            <a:pPr algn="l"/>
            <a:r>
              <a:rPr lang="en-US" altLang="zh-CN" sz="3600" dirty="0"/>
              <a:t>6.3.1 </a:t>
            </a:r>
            <a:r>
              <a:rPr lang="zh-CN" altLang="en-US" sz="3600" dirty="0"/>
              <a:t>点数据</a:t>
            </a:r>
          </a:p>
        </p:txBody>
      </p:sp>
      <p:sp>
        <p:nvSpPr>
          <p:cNvPr id="3" name="灯片编号占位符 2">
            <a:extLst>
              <a:ext uri="{FF2B5EF4-FFF2-40B4-BE49-F238E27FC236}">
                <a16:creationId xmlns:a16="http://schemas.microsoft.com/office/drawing/2014/main" id="{E42718C4-8216-33BF-D56B-BC17435176A8}"/>
              </a:ext>
            </a:extLst>
          </p:cNvPr>
          <p:cNvSpPr>
            <a:spLocks noGrp="1"/>
          </p:cNvSpPr>
          <p:nvPr>
            <p:ph type="sldNum" sz="quarter" idx="12"/>
          </p:nvPr>
        </p:nvSpPr>
        <p:spPr/>
        <p:txBody>
          <a:bodyPr/>
          <a:lstStyle/>
          <a:p>
            <a:pPr>
              <a:defRPr/>
            </a:pPr>
            <a:fld id="{6B3369F9-03CD-4B48-86A9-9EE39A82955A}" type="slidenum">
              <a:rPr lang="zh-CN" altLang="en-US" smtClean="0"/>
              <a:pPr>
                <a:defRPr/>
              </a:pPr>
              <a:t>17</a:t>
            </a:fld>
            <a:endParaRPr lang="zh-CN" altLang="en-US" dirty="0"/>
          </a:p>
        </p:txBody>
      </p:sp>
      <p:sp>
        <p:nvSpPr>
          <p:cNvPr id="5" name="文本框 4">
            <a:extLst>
              <a:ext uri="{FF2B5EF4-FFF2-40B4-BE49-F238E27FC236}">
                <a16:creationId xmlns:a16="http://schemas.microsoft.com/office/drawing/2014/main" id="{E55D5A74-90E5-55FD-5CAC-AD245BB1DAE8}"/>
              </a:ext>
            </a:extLst>
          </p:cNvPr>
          <p:cNvSpPr txBox="1"/>
          <p:nvPr/>
        </p:nvSpPr>
        <p:spPr>
          <a:xfrm>
            <a:off x="533400" y="1066800"/>
            <a:ext cx="8077200" cy="870751"/>
          </a:xfrm>
          <a:prstGeom prst="rect">
            <a:avLst/>
          </a:prstGeom>
          <a:noFill/>
        </p:spPr>
        <p:txBody>
          <a:bodyPr wrap="square">
            <a:spAutoFit/>
          </a:bodyPr>
          <a:lstStyle/>
          <a:p>
            <a:pPr marL="0" marR="0" indent="304800" algn="just">
              <a:lnSpc>
                <a:spcPct val="150000"/>
              </a:lnSpc>
            </a:pPr>
            <a:r>
              <a:rPr lang="zh-CN" altLang="en-US" sz="1800" kern="0" dirty="0">
                <a:effectLst/>
                <a:latin typeface="+mn-lt"/>
                <a:ea typeface="+mn-ea"/>
                <a:cs typeface="Times New Roman" panose="02020603050405020304" pitchFamily="18" charset="0"/>
              </a:rPr>
              <a:t>利用函数包</a:t>
            </a:r>
            <a:r>
              <a:rPr lang="en-US" altLang="zh-CN" sz="1800" kern="0" dirty="0" err="1">
                <a:effectLst/>
                <a:latin typeface="+mn-lt"/>
                <a:ea typeface="+mn-ea"/>
                <a:cs typeface="Times New Roman" panose="02020603050405020304" pitchFamily="18" charset="0"/>
              </a:rPr>
              <a:t>tmap</a:t>
            </a:r>
            <a:r>
              <a:rPr lang="zh-CN" altLang="en-US" sz="1800" kern="0" dirty="0">
                <a:effectLst/>
                <a:latin typeface="+mn-lt"/>
                <a:ea typeface="+mn-ea"/>
                <a:cs typeface="Times New Roman" panose="02020603050405020304" pitchFamily="18" charset="0"/>
              </a:rPr>
              <a:t>，以武汉市房价数据为例，根据对应区域的平均房价值大小绘制大小不同、颜色深浅不同的点。</a:t>
            </a:r>
            <a:endParaRPr lang="zh-CN" altLang="en-US" sz="1800" dirty="0">
              <a:effectLst/>
              <a:latin typeface="+mn-lt"/>
              <a:ea typeface="+mn-ea"/>
            </a:endParaRPr>
          </a:p>
        </p:txBody>
      </p:sp>
      <p:sp>
        <p:nvSpPr>
          <p:cNvPr id="14" name="文本框 13">
            <a:extLst>
              <a:ext uri="{FF2B5EF4-FFF2-40B4-BE49-F238E27FC236}">
                <a16:creationId xmlns:a16="http://schemas.microsoft.com/office/drawing/2014/main" id="{3C5EB41D-6F80-CBCF-DBBA-802EE0607BF0}"/>
              </a:ext>
            </a:extLst>
          </p:cNvPr>
          <p:cNvSpPr txBox="1"/>
          <p:nvPr/>
        </p:nvSpPr>
        <p:spPr>
          <a:xfrm>
            <a:off x="933450" y="1981200"/>
            <a:ext cx="7277100" cy="1158651"/>
          </a:xfrm>
          <a:prstGeom prst="rect">
            <a:avLst/>
          </a:prstGeom>
          <a:noFill/>
        </p:spPr>
        <p:txBody>
          <a:bodyPr wrap="square">
            <a:spAutoFit/>
          </a:bodyPr>
          <a:lstStyle/>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 +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tm_polygons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"white"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border.col</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"black"</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WHHP_cen</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tm_bubbles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(size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col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palette =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blue_palette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scale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0.8</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tm_layout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legend.position</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c(</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"right"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"bottom"</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inner.margins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c(</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0.05</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0.05</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0.05</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0.2</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15" name="图片 14">
            <a:extLst>
              <a:ext uri="{FF2B5EF4-FFF2-40B4-BE49-F238E27FC236}">
                <a16:creationId xmlns:a16="http://schemas.microsoft.com/office/drawing/2014/main" id="{41423125-B0EB-0BCA-86AA-A0BF00CBE1A1}"/>
              </a:ext>
            </a:extLst>
          </p:cNvPr>
          <p:cNvPicPr/>
          <p:nvPr/>
        </p:nvPicPr>
        <p:blipFill rotWithShape="1">
          <a:blip r:embed="rId2"/>
          <a:srcRect l="1145" t="16683" r="1202" b="16574"/>
          <a:stretch/>
        </p:blipFill>
        <p:spPr bwMode="auto">
          <a:xfrm>
            <a:off x="1862137" y="3200400"/>
            <a:ext cx="5419725" cy="35814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27887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83230-B341-E855-FB2B-99512229C4A8}"/>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73DDBA4-50EF-EC3F-2080-4ABA4A9ECD0C}"/>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18</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3" name="矩形 2">
            <a:extLst>
              <a:ext uri="{FF2B5EF4-FFF2-40B4-BE49-F238E27FC236}">
                <a16:creationId xmlns:a16="http://schemas.microsoft.com/office/drawing/2014/main" id="{6B8B1940-53D3-EA4B-38B1-885F9482C968}"/>
              </a:ext>
            </a:extLst>
          </p:cNvPr>
          <p:cNvSpPr/>
          <p:nvPr/>
        </p:nvSpPr>
        <p:spPr>
          <a:xfrm>
            <a:off x="952500" y="1577957"/>
            <a:ext cx="7239000" cy="630942"/>
          </a:xfrm>
          <a:prstGeom prst="rect">
            <a:avLst/>
          </a:prstGeom>
        </p:spPr>
        <p:txBody>
          <a:bodyPr wrap="square">
            <a:spAutoFit/>
          </a:bodyPr>
          <a:lstStyle/>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thematic.map</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WHHP_cen</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var.names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colorStyle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"red"</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na.pos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topleft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scaleBar.pos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bottomright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legend.pos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bottomleft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,cuts=</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cutter=</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rangeCuts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bglyrs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list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bgStyle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list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"white"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cex</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lwd</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pch</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16</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lty</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9" name="图片 8">
            <a:extLst>
              <a:ext uri="{FF2B5EF4-FFF2-40B4-BE49-F238E27FC236}">
                <a16:creationId xmlns:a16="http://schemas.microsoft.com/office/drawing/2014/main" id="{CE56EFA2-DB45-1A7C-6C13-ECDB277A09F6}"/>
              </a:ext>
            </a:extLst>
          </p:cNvPr>
          <p:cNvPicPr/>
          <p:nvPr/>
        </p:nvPicPr>
        <p:blipFill rotWithShape="1">
          <a:blip r:embed="rId2"/>
          <a:srcRect l="4252" r="5301" b="35593"/>
          <a:stretch/>
        </p:blipFill>
        <p:spPr bwMode="auto">
          <a:xfrm>
            <a:off x="381000" y="2552700"/>
            <a:ext cx="4038600" cy="3543300"/>
          </a:xfrm>
          <a:prstGeom prst="rect">
            <a:avLst/>
          </a:prstGeom>
          <a:ln>
            <a:noFill/>
          </a:ln>
          <a:extLst>
            <a:ext uri="{53640926-AAD7-44D8-BBD7-CCE9431645EC}">
              <a14:shadowObscured xmlns:a14="http://schemas.microsoft.com/office/drawing/2010/main"/>
            </a:ext>
          </a:extLst>
        </p:spPr>
      </p:pic>
      <p:sp>
        <p:nvSpPr>
          <p:cNvPr id="7" name="标题 1">
            <a:extLst>
              <a:ext uri="{FF2B5EF4-FFF2-40B4-BE49-F238E27FC236}">
                <a16:creationId xmlns:a16="http://schemas.microsoft.com/office/drawing/2014/main" id="{6CEDC487-B855-2734-2773-322CFAFC8A19}"/>
              </a:ext>
            </a:extLst>
          </p:cNvPr>
          <p:cNvSpPr>
            <a:spLocks noGrp="1"/>
          </p:cNvSpPr>
          <p:nvPr>
            <p:ph type="title"/>
          </p:nvPr>
        </p:nvSpPr>
        <p:spPr>
          <a:xfrm>
            <a:off x="1181101" y="342900"/>
            <a:ext cx="6896099" cy="663575"/>
          </a:xfrm>
        </p:spPr>
        <p:txBody>
          <a:bodyPr/>
          <a:lstStyle/>
          <a:p>
            <a:pPr algn="l"/>
            <a:r>
              <a:rPr lang="en-US" altLang="zh-CN" sz="3600" dirty="0"/>
              <a:t>6.3.1 </a:t>
            </a:r>
            <a:r>
              <a:rPr lang="zh-CN" altLang="en-US" sz="3600" dirty="0"/>
              <a:t>点数据</a:t>
            </a:r>
          </a:p>
        </p:txBody>
      </p:sp>
      <p:sp>
        <p:nvSpPr>
          <p:cNvPr id="8" name="文本框 7">
            <a:extLst>
              <a:ext uri="{FF2B5EF4-FFF2-40B4-BE49-F238E27FC236}">
                <a16:creationId xmlns:a16="http://schemas.microsoft.com/office/drawing/2014/main" id="{BFEBC04E-0F59-45F1-EA6A-BED7F9AE8DB5}"/>
              </a:ext>
            </a:extLst>
          </p:cNvPr>
          <p:cNvSpPr txBox="1"/>
          <p:nvPr/>
        </p:nvSpPr>
        <p:spPr>
          <a:xfrm>
            <a:off x="648357" y="1066800"/>
            <a:ext cx="7847286" cy="458715"/>
          </a:xfrm>
          <a:prstGeom prst="rect">
            <a:avLst/>
          </a:prstGeom>
          <a:noFill/>
        </p:spPr>
        <p:txBody>
          <a:bodyPr wrap="square">
            <a:spAutoFit/>
          </a:bodyPr>
          <a:lstStyle/>
          <a:p>
            <a:pPr marL="0" marR="0" indent="304800" algn="just">
              <a:lnSpc>
                <a:spcPct val="150000"/>
              </a:lnSpc>
            </a:pPr>
            <a:r>
              <a:rPr lang="zh-CN" altLang="en-US" sz="1800" kern="0" dirty="0">
                <a:effectLst/>
                <a:latin typeface="+mn-lt"/>
                <a:ea typeface="+mn-ea"/>
                <a:cs typeface="Times New Roman" panose="02020603050405020304" pitchFamily="18" charset="0"/>
              </a:rPr>
              <a:t>利用函数包</a:t>
            </a:r>
            <a:r>
              <a:rPr lang="en-US" altLang="zh-CN" sz="1800" kern="0" dirty="0" err="1">
                <a:effectLst/>
                <a:latin typeface="+mn-lt"/>
                <a:ea typeface="+mn-ea"/>
                <a:cs typeface="Times New Roman" panose="02020603050405020304" pitchFamily="18" charset="0"/>
              </a:rPr>
              <a:t>GISTools</a:t>
            </a:r>
            <a:r>
              <a:rPr lang="zh-CN" altLang="en-US" sz="1800" kern="0" dirty="0">
                <a:effectLst/>
                <a:latin typeface="+mn-lt"/>
                <a:ea typeface="+mn-ea"/>
                <a:cs typeface="Times New Roman" panose="02020603050405020304" pitchFamily="18" charset="0"/>
              </a:rPr>
              <a:t>中的</a:t>
            </a:r>
            <a:r>
              <a:rPr lang="en-US" altLang="zh-CN" sz="1800" kern="0" dirty="0" err="1">
                <a:effectLst/>
                <a:latin typeface="+mn-lt"/>
                <a:ea typeface="+mn-ea"/>
                <a:cs typeface="Times New Roman" panose="02020603050405020304" pitchFamily="18" charset="0"/>
              </a:rPr>
              <a:t>thematic.map</a:t>
            </a:r>
            <a:r>
              <a:rPr lang="en-US" altLang="zh-CN" sz="1800" kern="0" dirty="0">
                <a:effectLst/>
                <a:latin typeface="+mn-lt"/>
                <a:ea typeface="+mn-ea"/>
                <a:cs typeface="Times New Roman" panose="02020603050405020304" pitchFamily="18" charset="0"/>
              </a:rPr>
              <a:t>()</a:t>
            </a:r>
            <a:r>
              <a:rPr lang="zh-CN" altLang="en-US" sz="1800" kern="0" dirty="0">
                <a:effectLst/>
                <a:latin typeface="+mn-lt"/>
                <a:ea typeface="+mn-ea"/>
                <a:cs typeface="Times New Roman" panose="02020603050405020304" pitchFamily="18" charset="0"/>
              </a:rPr>
              <a:t>函数对同样的数据变量进行绘制。</a:t>
            </a:r>
          </a:p>
        </p:txBody>
      </p:sp>
      <p:pic>
        <p:nvPicPr>
          <p:cNvPr id="12" name="图片 11">
            <a:extLst>
              <a:ext uri="{FF2B5EF4-FFF2-40B4-BE49-F238E27FC236}">
                <a16:creationId xmlns:a16="http://schemas.microsoft.com/office/drawing/2014/main" id="{2A1C8A21-C286-E959-B2FF-C38DDA9F20D2}"/>
              </a:ext>
            </a:extLst>
          </p:cNvPr>
          <p:cNvPicPr>
            <a:picLocks noChangeAspect="1"/>
          </p:cNvPicPr>
          <p:nvPr/>
        </p:nvPicPr>
        <p:blipFill>
          <a:blip r:embed="rId3">
            <a:extLst>
              <a:ext uri="{28A0092B-C50C-407E-A947-70E740481C1C}">
                <a14:useLocalDpi xmlns:a14="http://schemas.microsoft.com/office/drawing/2010/main" val="0"/>
              </a:ext>
            </a:extLst>
          </a:blip>
          <a:srcRect l="10729" t="65021" r="14579"/>
          <a:stretch/>
        </p:blipFill>
        <p:spPr>
          <a:xfrm>
            <a:off x="4629150" y="3216257"/>
            <a:ext cx="4229100" cy="2079643"/>
          </a:xfrm>
          <a:prstGeom prst="rect">
            <a:avLst/>
          </a:prstGeom>
          <a:ln>
            <a:noFill/>
          </a:ln>
        </p:spPr>
      </p:pic>
    </p:spTree>
    <p:extLst>
      <p:ext uri="{BB962C8B-B14F-4D97-AF65-F5344CB8AC3E}">
        <p14:creationId xmlns:p14="http://schemas.microsoft.com/office/powerpoint/2010/main" val="2181128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19</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6" name="矩形 5"/>
          <p:cNvSpPr/>
          <p:nvPr/>
        </p:nvSpPr>
        <p:spPr>
          <a:xfrm>
            <a:off x="538655" y="1068693"/>
            <a:ext cx="8066690" cy="874407"/>
          </a:xfrm>
          <a:prstGeom prst="rect">
            <a:avLst/>
          </a:prstGeom>
        </p:spPr>
        <p:txBody>
          <a:bodyPr wrap="square">
            <a:spAutoFit/>
          </a:bodyPr>
          <a:lstStyle/>
          <a:p>
            <a:pPr indent="457200">
              <a:lnSpc>
                <a:spcPct val="150000"/>
              </a:lnSpc>
            </a:pPr>
            <a:r>
              <a:rPr lang="zh-CN" altLang="en-US" dirty="0">
                <a:latin typeface="+mn-lt"/>
                <a:ea typeface="+mn-ea"/>
                <a:cs typeface="+mn-ea"/>
                <a:sym typeface="Consolas" panose="020B0609020204030204" pitchFamily="49" charset="0"/>
              </a:rPr>
              <a:t>对于</a:t>
            </a:r>
            <a:r>
              <a:rPr lang="en-US" altLang="zh-CN" dirty="0">
                <a:latin typeface="+mn-lt"/>
                <a:ea typeface="+mn-ea"/>
                <a:cs typeface="+mn-ea"/>
                <a:sym typeface="Consolas" panose="020B0609020204030204" pitchFamily="49" charset="0"/>
              </a:rPr>
              <a:t>Spatial*</a:t>
            </a:r>
            <a:r>
              <a:rPr lang="en-US" altLang="zh-CN" dirty="0" err="1">
                <a:latin typeface="+mn-lt"/>
                <a:ea typeface="+mn-ea"/>
                <a:cs typeface="+mn-ea"/>
                <a:sym typeface="Consolas" panose="020B0609020204030204" pitchFamily="49" charset="0"/>
              </a:rPr>
              <a:t>DataFrame</a:t>
            </a:r>
            <a:r>
              <a:rPr lang="zh-CN" altLang="en-US" dirty="0">
                <a:latin typeface="+mn-lt"/>
                <a:ea typeface="+mn-ea"/>
                <a:cs typeface="+mn-ea"/>
                <a:sym typeface="Consolas" panose="020B0609020204030204" pitchFamily="49" charset="0"/>
              </a:rPr>
              <a:t>对象，能够使用函数包</a:t>
            </a:r>
            <a:r>
              <a:rPr lang="en-US" altLang="zh-CN" dirty="0" err="1">
                <a:latin typeface="+mn-lt"/>
                <a:ea typeface="+mn-ea"/>
                <a:cs typeface="+mn-ea"/>
                <a:sym typeface="Consolas" panose="020B0609020204030204" pitchFamily="49" charset="0"/>
              </a:rPr>
              <a:t>sp</a:t>
            </a:r>
            <a:r>
              <a:rPr lang="zh-CN" altLang="en-US" dirty="0">
                <a:latin typeface="+mn-lt"/>
                <a:ea typeface="+mn-ea"/>
                <a:cs typeface="+mn-ea"/>
                <a:sym typeface="Consolas" panose="020B0609020204030204" pitchFamily="49" charset="0"/>
              </a:rPr>
              <a:t>提供的可视化函数</a:t>
            </a:r>
            <a:r>
              <a:rPr lang="en-US" altLang="zh-CN" dirty="0" err="1">
                <a:latin typeface="+mn-lt"/>
                <a:ea typeface="+mn-ea"/>
                <a:cs typeface="+mn-ea"/>
                <a:sym typeface="Consolas" panose="020B0609020204030204" pitchFamily="49" charset="0"/>
              </a:rPr>
              <a:t>spplot</a:t>
            </a:r>
            <a:r>
              <a:rPr lang="zh-CN" altLang="en-US" dirty="0">
                <a:latin typeface="+mn-lt"/>
                <a:ea typeface="+mn-ea"/>
                <a:cs typeface="+mn-ea"/>
                <a:sym typeface="Consolas" panose="020B0609020204030204" pitchFamily="49" charset="0"/>
              </a:rPr>
              <a:t>，利用颜色对不同区间的空间属性值进行区分。</a:t>
            </a:r>
          </a:p>
        </p:txBody>
      </p:sp>
      <p:sp>
        <p:nvSpPr>
          <p:cNvPr id="9" name="标题 1">
            <a:extLst>
              <a:ext uri="{FF2B5EF4-FFF2-40B4-BE49-F238E27FC236}">
                <a16:creationId xmlns:a16="http://schemas.microsoft.com/office/drawing/2014/main" id="{86473980-23EA-87FA-CFB0-69AD3DE7C7BF}"/>
              </a:ext>
            </a:extLst>
          </p:cNvPr>
          <p:cNvSpPr>
            <a:spLocks noGrp="1"/>
          </p:cNvSpPr>
          <p:nvPr>
            <p:ph type="title"/>
          </p:nvPr>
        </p:nvSpPr>
        <p:spPr>
          <a:xfrm>
            <a:off x="1181101" y="342900"/>
            <a:ext cx="6896099" cy="663575"/>
          </a:xfrm>
        </p:spPr>
        <p:txBody>
          <a:bodyPr/>
          <a:lstStyle/>
          <a:p>
            <a:pPr algn="l"/>
            <a:r>
              <a:rPr lang="en-US" altLang="zh-CN" sz="3600" dirty="0"/>
              <a:t>6.3.1 </a:t>
            </a:r>
            <a:r>
              <a:rPr lang="zh-CN" altLang="en-US" sz="3600" dirty="0"/>
              <a:t>点数据</a:t>
            </a:r>
          </a:p>
        </p:txBody>
      </p:sp>
      <p:pic>
        <p:nvPicPr>
          <p:cNvPr id="10" name="图片 9">
            <a:extLst>
              <a:ext uri="{FF2B5EF4-FFF2-40B4-BE49-F238E27FC236}">
                <a16:creationId xmlns:a16="http://schemas.microsoft.com/office/drawing/2014/main" id="{C89A1E99-1623-E412-26D9-C02F4F5DE98A}"/>
              </a:ext>
            </a:extLst>
          </p:cNvPr>
          <p:cNvPicPr>
            <a:picLocks noChangeAspect="1"/>
          </p:cNvPicPr>
          <p:nvPr/>
        </p:nvPicPr>
        <p:blipFill>
          <a:blip r:embed="rId2" cstate="print">
            <a:extLst>
              <a:ext uri="{28A0092B-C50C-407E-A947-70E740481C1C}">
                <a14:useLocalDpi xmlns:a14="http://schemas.microsoft.com/office/drawing/2010/main" val="0"/>
              </a:ext>
            </a:extLst>
          </a:blip>
          <a:srcRect t="6551" b="8671"/>
          <a:stretch/>
        </p:blipFill>
        <p:spPr>
          <a:xfrm>
            <a:off x="1934845" y="3080309"/>
            <a:ext cx="5274310" cy="3352800"/>
          </a:xfrm>
          <a:prstGeom prst="rect">
            <a:avLst/>
          </a:prstGeom>
        </p:spPr>
      </p:pic>
      <p:sp>
        <p:nvSpPr>
          <p:cNvPr id="14" name="文本框 13">
            <a:extLst>
              <a:ext uri="{FF2B5EF4-FFF2-40B4-BE49-F238E27FC236}">
                <a16:creationId xmlns:a16="http://schemas.microsoft.com/office/drawing/2014/main" id="{F91915DE-8675-58E1-23AD-48E964A5A5C6}"/>
              </a:ext>
            </a:extLst>
          </p:cNvPr>
          <p:cNvSpPr txBox="1"/>
          <p:nvPr/>
        </p:nvSpPr>
        <p:spPr>
          <a:xfrm>
            <a:off x="538655" y="1987538"/>
            <a:ext cx="8066690" cy="990015"/>
          </a:xfrm>
          <a:prstGeom prst="rect">
            <a:avLst/>
          </a:prstGeom>
          <a:noFill/>
        </p:spPr>
        <p:txBody>
          <a:bodyPr wrap="square">
            <a:spAutoFit/>
          </a:bodyPr>
          <a:lstStyle/>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library(</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sp</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WHHP_cen_sp</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SpatialPointsDataFrame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st_coordinates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WHHP_cen</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st_drop_geometry</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WHHP_cen</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mypalette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brewer.pal</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7</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"Reds"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spplot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WHHP_cen_sp</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key.space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"right"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pch</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16</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cex</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WHHP_cen_sp</a:t>
            </a:r>
            <a:r>
              <a:rPr lang="en-US" altLang="zh-CN" sz="12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15000</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col.regions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mypalette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cuts=</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7</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20</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6" name="矩形 5"/>
          <p:cNvSpPr/>
          <p:nvPr/>
        </p:nvSpPr>
        <p:spPr>
          <a:xfrm>
            <a:off x="397440" y="1066800"/>
            <a:ext cx="8349119" cy="874214"/>
          </a:xfrm>
          <a:prstGeom prst="rect">
            <a:avLst/>
          </a:prstGeom>
        </p:spPr>
        <p:txBody>
          <a:bodyPr wrap="square">
            <a:spAutoFit/>
          </a:bodyPr>
          <a:lstStyle/>
          <a:p>
            <a:pPr indent="457200">
              <a:lnSpc>
                <a:spcPct val="150000"/>
              </a:lnSpc>
            </a:pPr>
            <a:r>
              <a:rPr lang="zh-CN" altLang="en-US" dirty="0">
                <a:latin typeface="+mn-lt"/>
                <a:ea typeface="Microsoft YaHei" panose="020B0503020204020204" pitchFamily="34" charset="-122"/>
                <a:sym typeface="Consolas" panose="020B0609020204030204" pitchFamily="49" charset="0"/>
              </a:rPr>
              <a:t>在数据中有多项属性变量时，函数</a:t>
            </a:r>
            <a:r>
              <a:rPr lang="en-US" altLang="zh-CN" dirty="0" err="1">
                <a:latin typeface="+mn-lt"/>
                <a:ea typeface="Microsoft YaHei" panose="020B0503020204020204" pitchFamily="34" charset="-122"/>
                <a:sym typeface="Consolas" panose="020B0609020204030204" pitchFamily="49" charset="0"/>
              </a:rPr>
              <a:t>spplot</a:t>
            </a:r>
            <a:r>
              <a:rPr lang="en-US" altLang="zh-CN" dirty="0">
                <a:latin typeface="+mn-lt"/>
                <a:ea typeface="Microsoft YaHei" panose="020B0503020204020204" pitchFamily="34" charset="-122"/>
                <a:sym typeface="Consolas" panose="020B0609020204030204" pitchFamily="49" charset="0"/>
              </a:rPr>
              <a:t>()</a:t>
            </a:r>
            <a:r>
              <a:rPr lang="zh-CN" altLang="en-US" dirty="0">
                <a:latin typeface="+mn-lt"/>
                <a:ea typeface="Microsoft YaHei" panose="020B0503020204020204" pitchFamily="34" charset="-122"/>
                <a:sym typeface="Consolas" panose="020B0609020204030204" pitchFamily="49" charset="0"/>
              </a:rPr>
              <a:t>能够自动在同一个绘制媒介对象中绘制对应属性项。</a:t>
            </a:r>
            <a:endParaRPr lang="zh-CN" altLang="en-US" dirty="0">
              <a:latin typeface="+mn-lt"/>
              <a:ea typeface="Microsoft YaHei" panose="020B0503020204020204" pitchFamily="34" charset="-122"/>
              <a:cs typeface="+mn-ea"/>
              <a:sym typeface="Consolas" panose="020B0609020204030204" pitchFamily="49" charset="0"/>
            </a:endParaRPr>
          </a:p>
        </p:txBody>
      </p:sp>
      <p:sp>
        <p:nvSpPr>
          <p:cNvPr id="9" name="标题 1">
            <a:extLst>
              <a:ext uri="{FF2B5EF4-FFF2-40B4-BE49-F238E27FC236}">
                <a16:creationId xmlns:a16="http://schemas.microsoft.com/office/drawing/2014/main" id="{F902193E-26EB-F3D5-3FFB-6D8485FF2FBA}"/>
              </a:ext>
            </a:extLst>
          </p:cNvPr>
          <p:cNvSpPr>
            <a:spLocks noGrp="1"/>
          </p:cNvSpPr>
          <p:nvPr>
            <p:ph type="title"/>
          </p:nvPr>
        </p:nvSpPr>
        <p:spPr>
          <a:xfrm>
            <a:off x="1181101" y="342900"/>
            <a:ext cx="6896099" cy="663575"/>
          </a:xfrm>
        </p:spPr>
        <p:txBody>
          <a:bodyPr/>
          <a:lstStyle/>
          <a:p>
            <a:pPr algn="l"/>
            <a:r>
              <a:rPr lang="en-US" altLang="zh-CN" sz="3600" dirty="0"/>
              <a:t>6.3.1 </a:t>
            </a:r>
            <a:r>
              <a:rPr lang="zh-CN" altLang="en-US" sz="3600" dirty="0"/>
              <a:t>点数据</a:t>
            </a:r>
          </a:p>
        </p:txBody>
      </p:sp>
      <p:pic>
        <p:nvPicPr>
          <p:cNvPr id="10" name="图片 9">
            <a:extLst>
              <a:ext uri="{FF2B5EF4-FFF2-40B4-BE49-F238E27FC236}">
                <a16:creationId xmlns:a16="http://schemas.microsoft.com/office/drawing/2014/main" id="{252CD711-55BC-379D-1910-12A7D037BA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5001" y="2057400"/>
            <a:ext cx="6134099" cy="459946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21</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7" name="矩形 6"/>
          <p:cNvSpPr/>
          <p:nvPr/>
        </p:nvSpPr>
        <p:spPr>
          <a:xfrm>
            <a:off x="609600" y="1755494"/>
            <a:ext cx="7864079" cy="3692806"/>
          </a:xfrm>
          <a:prstGeom prst="rect">
            <a:avLst/>
          </a:prstGeom>
        </p:spPr>
        <p:txBody>
          <a:bodyPr wrap="square">
            <a:spAutoFit/>
          </a:bodyPr>
          <a:lstStyle/>
          <a:p>
            <a:pPr marL="0" marR="0" indent="630000" algn="just">
              <a:lnSpc>
                <a:spcPct val="200000"/>
              </a:lnSpc>
            </a:pPr>
            <a:r>
              <a:rPr lang="zh-CN" altLang="en-US" sz="2000" kern="0" dirty="0">
                <a:effectLst/>
                <a:latin typeface="+mn-ea"/>
                <a:ea typeface="+mn-ea"/>
                <a:cs typeface="Times New Roman" panose="02020603050405020304" pitchFamily="18" charset="0"/>
              </a:rPr>
              <a:t>为了更好地显示数据之间的相对大小关系，首先删除数据中的异常值，并进行标准化，使得不同的属性变量值在同一个值域中。</a:t>
            </a:r>
            <a:endParaRPr lang="en-US" altLang="zh-CN" sz="2000" kern="0" dirty="0">
              <a:effectLst/>
              <a:latin typeface="+mn-ea"/>
              <a:ea typeface="+mn-ea"/>
              <a:cs typeface="Times New Roman" panose="02020603050405020304" pitchFamily="18" charset="0"/>
            </a:endParaRPr>
          </a:p>
          <a:p>
            <a:pPr marL="0" marR="0" indent="630000" algn="just">
              <a:lnSpc>
                <a:spcPct val="200000"/>
              </a:lnSpc>
            </a:pPr>
            <a:endParaRPr lang="en-US" altLang="zh-CN" sz="2000" kern="0" dirty="0">
              <a:effectLst/>
              <a:latin typeface="+mn-ea"/>
              <a:ea typeface="+mn-ea"/>
              <a:cs typeface="Times New Roman" panose="02020603050405020304" pitchFamily="18" charset="0"/>
            </a:endParaRPr>
          </a:p>
          <a:p>
            <a:pPr marL="0" marR="0" indent="630000" algn="just">
              <a:lnSpc>
                <a:spcPct val="200000"/>
              </a:lnSpc>
            </a:pPr>
            <a:r>
              <a:rPr lang="zh-CN" altLang="en-US" sz="2000" kern="0" dirty="0">
                <a:effectLst/>
                <a:latin typeface="+mn-ea"/>
                <a:ea typeface="+mn-ea"/>
              </a:rPr>
              <a:t>这么做的原因是什么？</a:t>
            </a:r>
            <a:endParaRPr lang="en-US" altLang="zh-CN" sz="2000" kern="0" dirty="0">
              <a:effectLst/>
              <a:latin typeface="+mn-ea"/>
              <a:ea typeface="+mn-ea"/>
            </a:endParaRPr>
          </a:p>
          <a:p>
            <a:pPr marL="0" marR="0" indent="630000" algn="just">
              <a:lnSpc>
                <a:spcPct val="200000"/>
              </a:lnSpc>
            </a:pPr>
            <a:endParaRPr lang="en-US" altLang="zh-CN" sz="2000" kern="0" dirty="0">
              <a:effectLst/>
              <a:latin typeface="+mn-ea"/>
              <a:ea typeface="+mn-ea"/>
            </a:endParaRPr>
          </a:p>
          <a:p>
            <a:pPr marL="0" marR="0" indent="630000" algn="just">
              <a:lnSpc>
                <a:spcPct val="200000"/>
              </a:lnSpc>
            </a:pPr>
            <a:r>
              <a:rPr lang="zh-CN" altLang="en-US" sz="2000" kern="0" dirty="0">
                <a:effectLst/>
                <a:latin typeface="+mn-ea"/>
                <a:ea typeface="+mn-ea"/>
              </a:rPr>
              <a:t>如果量纲不同或者值域变化差异过大，会出现什么情况呢？</a:t>
            </a:r>
            <a:endParaRPr lang="zh-CN" altLang="en-US" sz="2000" dirty="0">
              <a:effectLst/>
              <a:latin typeface="+mn-ea"/>
              <a:ea typeface="+mn-ea"/>
            </a:endParaRPr>
          </a:p>
        </p:txBody>
      </p:sp>
      <p:sp>
        <p:nvSpPr>
          <p:cNvPr id="8" name="标题 1">
            <a:extLst>
              <a:ext uri="{FF2B5EF4-FFF2-40B4-BE49-F238E27FC236}">
                <a16:creationId xmlns:a16="http://schemas.microsoft.com/office/drawing/2014/main" id="{C094D376-11FB-5511-A449-348079AEAC0F}"/>
              </a:ext>
            </a:extLst>
          </p:cNvPr>
          <p:cNvSpPr>
            <a:spLocks noGrp="1"/>
          </p:cNvSpPr>
          <p:nvPr>
            <p:ph type="title"/>
          </p:nvPr>
        </p:nvSpPr>
        <p:spPr>
          <a:xfrm>
            <a:off x="1181101" y="342900"/>
            <a:ext cx="6896099" cy="663575"/>
          </a:xfrm>
        </p:spPr>
        <p:txBody>
          <a:bodyPr/>
          <a:lstStyle/>
          <a:p>
            <a:pPr algn="l"/>
            <a:r>
              <a:rPr lang="en-US" altLang="zh-CN" sz="3600" dirty="0"/>
              <a:t>6.3.1 </a:t>
            </a:r>
            <a:r>
              <a:rPr lang="zh-CN" altLang="en-US" sz="3600" dirty="0"/>
              <a:t>点数据</a:t>
            </a:r>
          </a:p>
        </p:txBody>
      </p:sp>
    </p:spTree>
    <p:extLst>
      <p:ext uri="{BB962C8B-B14F-4D97-AF65-F5344CB8AC3E}">
        <p14:creationId xmlns:p14="http://schemas.microsoft.com/office/powerpoint/2010/main" val="38440642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22</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6" name="矩形 5"/>
          <p:cNvSpPr/>
          <p:nvPr/>
        </p:nvSpPr>
        <p:spPr>
          <a:xfrm>
            <a:off x="379730" y="1066800"/>
            <a:ext cx="8382000" cy="874214"/>
          </a:xfrm>
          <a:prstGeom prst="rect">
            <a:avLst/>
          </a:prstGeom>
        </p:spPr>
        <p:txBody>
          <a:bodyPr wrap="square">
            <a:spAutoFit/>
          </a:bodyPr>
          <a:lstStyle/>
          <a:p>
            <a:pPr indent="457200">
              <a:lnSpc>
                <a:spcPct val="150000"/>
              </a:lnSpc>
            </a:pPr>
            <a:r>
              <a:rPr lang="zh-CN" altLang="en-US" dirty="0">
                <a:latin typeface="+mn-lt"/>
                <a:ea typeface="Microsoft YaHei" panose="020B0503020204020204" pitchFamily="34" charset="-122"/>
                <a:cs typeface="+mn-ea"/>
                <a:sym typeface="Consolas" panose="020B0609020204030204" pitchFamily="49" charset="0"/>
              </a:rPr>
              <a:t>在使用函数</a:t>
            </a:r>
            <a:r>
              <a:rPr lang="en-US" altLang="zh-CN" dirty="0" err="1">
                <a:latin typeface="+mn-lt"/>
                <a:ea typeface="Microsoft YaHei" panose="020B0503020204020204" pitchFamily="34" charset="-122"/>
                <a:cs typeface="+mn-ea"/>
                <a:sym typeface="Consolas" panose="020B0609020204030204" pitchFamily="49" charset="0"/>
              </a:rPr>
              <a:t>spplot</a:t>
            </a:r>
            <a:r>
              <a:rPr lang="zh-CN" altLang="en-US" dirty="0">
                <a:latin typeface="+mn-lt"/>
                <a:ea typeface="Microsoft YaHei" panose="020B0503020204020204" pitchFamily="34" charset="-122"/>
                <a:cs typeface="+mn-ea"/>
                <a:sym typeface="Consolas" panose="020B0609020204030204" pitchFamily="49" charset="0"/>
              </a:rPr>
              <a:t>绘制专题图的过程中，可通过参数</a:t>
            </a:r>
            <a:r>
              <a:rPr lang="en-US" altLang="zh-CN" dirty="0" err="1">
                <a:latin typeface="+mn-lt"/>
                <a:ea typeface="Microsoft YaHei" panose="020B0503020204020204" pitchFamily="34" charset="-122"/>
                <a:cs typeface="+mn-ea"/>
                <a:sym typeface="Consolas" panose="020B0609020204030204" pitchFamily="49" charset="0"/>
              </a:rPr>
              <a:t>sp.layout</a:t>
            </a:r>
            <a:r>
              <a:rPr lang="zh-CN" altLang="en-US" dirty="0">
                <a:latin typeface="+mn-lt"/>
                <a:ea typeface="Microsoft YaHei" panose="020B0503020204020204" pitchFamily="34" charset="-122"/>
                <a:cs typeface="+mn-ea"/>
                <a:sym typeface="Consolas" panose="020B0609020204030204" pitchFamily="49" charset="0"/>
              </a:rPr>
              <a:t>添加制图要素，如指北针、比例尺等。</a:t>
            </a:r>
          </a:p>
        </p:txBody>
      </p:sp>
      <p:sp>
        <p:nvSpPr>
          <p:cNvPr id="9" name="标题 1">
            <a:extLst>
              <a:ext uri="{FF2B5EF4-FFF2-40B4-BE49-F238E27FC236}">
                <a16:creationId xmlns:a16="http://schemas.microsoft.com/office/drawing/2014/main" id="{6BD16D37-60AC-598D-D65A-5918A33564E3}"/>
              </a:ext>
            </a:extLst>
          </p:cNvPr>
          <p:cNvSpPr>
            <a:spLocks noGrp="1"/>
          </p:cNvSpPr>
          <p:nvPr>
            <p:ph type="title"/>
          </p:nvPr>
        </p:nvSpPr>
        <p:spPr>
          <a:xfrm>
            <a:off x="1181101" y="342900"/>
            <a:ext cx="6896099" cy="663575"/>
          </a:xfrm>
        </p:spPr>
        <p:txBody>
          <a:bodyPr/>
          <a:lstStyle/>
          <a:p>
            <a:pPr algn="l"/>
            <a:r>
              <a:rPr lang="en-US" altLang="zh-CN" sz="3600" dirty="0"/>
              <a:t>6.3.1 </a:t>
            </a:r>
            <a:r>
              <a:rPr lang="zh-CN" altLang="en-US" sz="3600" dirty="0"/>
              <a:t>点数据</a:t>
            </a:r>
          </a:p>
        </p:txBody>
      </p:sp>
      <p:pic>
        <p:nvPicPr>
          <p:cNvPr id="10" name="图片 9">
            <a:extLst>
              <a:ext uri="{FF2B5EF4-FFF2-40B4-BE49-F238E27FC236}">
                <a16:creationId xmlns:a16="http://schemas.microsoft.com/office/drawing/2014/main" id="{52058C88-6EF2-1486-45CD-A19F5C656460}"/>
              </a:ext>
            </a:extLst>
          </p:cNvPr>
          <p:cNvPicPr>
            <a:picLocks noChangeAspect="1"/>
          </p:cNvPicPr>
          <p:nvPr/>
        </p:nvPicPr>
        <p:blipFill>
          <a:blip r:embed="rId2" cstate="print">
            <a:extLst>
              <a:ext uri="{28A0092B-C50C-407E-A947-70E740481C1C}">
                <a14:useLocalDpi xmlns:a14="http://schemas.microsoft.com/office/drawing/2010/main" val="0"/>
              </a:ext>
            </a:extLst>
          </a:blip>
          <a:srcRect t="7450" b="8636"/>
          <a:stretch/>
        </p:blipFill>
        <p:spPr>
          <a:xfrm>
            <a:off x="2817878" y="4229100"/>
            <a:ext cx="4002022" cy="2518110"/>
          </a:xfrm>
          <a:prstGeom prst="rect">
            <a:avLst/>
          </a:prstGeom>
        </p:spPr>
      </p:pic>
      <p:sp>
        <p:nvSpPr>
          <p:cNvPr id="14" name="文本框 13">
            <a:extLst>
              <a:ext uri="{FF2B5EF4-FFF2-40B4-BE49-F238E27FC236}">
                <a16:creationId xmlns:a16="http://schemas.microsoft.com/office/drawing/2014/main" id="{1ED5539C-1099-0ECB-755D-DD2861B7A389}"/>
              </a:ext>
            </a:extLst>
          </p:cNvPr>
          <p:cNvSpPr txBox="1"/>
          <p:nvPr/>
        </p:nvSpPr>
        <p:spPr>
          <a:xfrm>
            <a:off x="441960" y="1905000"/>
            <a:ext cx="8257540" cy="2235868"/>
          </a:xfrm>
          <a:prstGeom prst="rect">
            <a:avLst/>
          </a:prstGeom>
          <a:noFill/>
        </p:spPr>
        <p:txBody>
          <a:bodyPr wrap="square">
            <a:spAutoFit/>
          </a:bodyPr>
          <a:lstStyle/>
          <a:p>
            <a:pPr marL="0" marR="0" indent="0" algn="l">
              <a:lnSpc>
                <a:spcPts val="1425"/>
              </a:lnSpc>
              <a:buNone/>
            </a:pP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WHHP_sp</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&lt;-as(</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sz="10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"Spatial</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0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mypalette</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brewer.pal</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6</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"Blues"</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0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map.na = </a:t>
            </a:r>
            <a:r>
              <a:rPr lang="en-US" altLang="zh-CN" sz="100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list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SpatialPolygonsRescale</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layout.north.arrow</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offset = c(</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549000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3393000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scale = </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4000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col=</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0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map.scale.1 = </a:t>
            </a:r>
            <a:r>
              <a:rPr lang="en-US" altLang="zh-CN" sz="100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list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SpatialPolygonsRescale</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layout.scale.bar</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offset = c(</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512000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3367000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scale = </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5000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col=</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fill=c(</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transparent"</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"green</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0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map.scale.2  = </a:t>
            </a:r>
            <a:r>
              <a:rPr lang="en-US" altLang="zh-CN" sz="100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list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sp.text</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512000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3367000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cex</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0.9</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col=</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0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map.scale.3  = </a:t>
            </a:r>
            <a:r>
              <a:rPr lang="en-US" altLang="zh-CN" sz="100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list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sp.text</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518000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3367000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"5km"</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cex</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0.9</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col=</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0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WHHP_sp_list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0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list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"sp.polygons"</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WHHP_sp</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0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map.layout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 </a:t>
            </a:r>
            <a:r>
              <a:rPr lang="en-US" altLang="zh-CN" sz="100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list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WHHP_sp_list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map.na, map.scale.1, map.scale.2, map.scale.3)</a:t>
            </a:r>
            <a:endParaRPr lang="en-US" altLang="zh-CN" sz="10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spplot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WHHP_cen_sp</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key.space</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"right"</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pch</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16</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,col.regions =</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mypalette,cuts</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6</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,sp.layout=</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map.layout,xlim</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bbox</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WHHP_sp</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1000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,bbox(</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WHHP_sp</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1000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ylim</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bbox</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WHHP_sp</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1000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,bbox(</a:t>
            </a:r>
            <a:r>
              <a:rPr lang="en-US" altLang="zh-CN" sz="10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WHHP_sp</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1000</a:t>
            </a:r>
            <a:r>
              <a:rPr lang="en-US" altLang="zh-CN" sz="10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0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945360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2CCC0-D50B-D3B9-D079-4C66D73DCA07}"/>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EE5E3AD7-7F77-DEF8-B584-41EC8A7CFD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206" t="10116" r="1083" b="8381"/>
          <a:stretch/>
        </p:blipFill>
        <p:spPr bwMode="auto">
          <a:xfrm>
            <a:off x="3984062" y="2098577"/>
            <a:ext cx="4090598" cy="4642048"/>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a:extLst>
              <a:ext uri="{FF2B5EF4-FFF2-40B4-BE49-F238E27FC236}">
                <a16:creationId xmlns:a16="http://schemas.microsoft.com/office/drawing/2014/main" id="{62F0FEBB-DA90-1FD3-78B0-99079C28E415}"/>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23</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6" name="矩形 5">
            <a:extLst>
              <a:ext uri="{FF2B5EF4-FFF2-40B4-BE49-F238E27FC236}">
                <a16:creationId xmlns:a16="http://schemas.microsoft.com/office/drawing/2014/main" id="{CFFE4793-00F3-3ED3-26CF-6C00AEF64577}"/>
              </a:ext>
            </a:extLst>
          </p:cNvPr>
          <p:cNvSpPr/>
          <p:nvPr/>
        </p:nvSpPr>
        <p:spPr>
          <a:xfrm>
            <a:off x="285115" y="1148688"/>
            <a:ext cx="8573770" cy="1289712"/>
          </a:xfrm>
          <a:prstGeom prst="rect">
            <a:avLst/>
          </a:prstGeom>
        </p:spPr>
        <p:txBody>
          <a:bodyPr wrap="square">
            <a:spAutoFit/>
          </a:bodyPr>
          <a:lstStyle/>
          <a:p>
            <a:pPr indent="457200">
              <a:lnSpc>
                <a:spcPct val="150000"/>
              </a:lnSpc>
            </a:pPr>
            <a:r>
              <a:rPr lang="zh-CN" altLang="en-US" dirty="0">
                <a:latin typeface="+mn-lt"/>
                <a:ea typeface="Microsoft YaHei" panose="020B0503020204020204" pitchFamily="34" charset="-122"/>
                <a:cs typeface="+mn-ea"/>
                <a:sym typeface="Consolas" panose="020B0609020204030204" pitchFamily="49" charset="0"/>
              </a:rPr>
              <a:t>对武汉市道路数据中的干道类（“</a:t>
            </a:r>
            <a:r>
              <a:rPr lang="en-US" altLang="zh-CN" dirty="0">
                <a:latin typeface="+mn-lt"/>
                <a:ea typeface="Microsoft YaHei" panose="020B0503020204020204" pitchFamily="34" charset="-122"/>
                <a:cs typeface="+mn-ea"/>
                <a:sym typeface="Consolas" panose="020B0609020204030204" pitchFamily="49" charset="0"/>
              </a:rPr>
              <a:t>trunk”</a:t>
            </a:r>
            <a:r>
              <a:rPr lang="zh-CN" altLang="en-US" dirty="0">
                <a:latin typeface="+mn-lt"/>
                <a:ea typeface="Microsoft YaHei" panose="020B0503020204020204" pitchFamily="34" charset="-122"/>
                <a:cs typeface="+mn-ea"/>
                <a:sym typeface="Consolas" panose="020B0609020204030204" pitchFamily="49" charset="0"/>
              </a:rPr>
              <a:t>）、一级公路类（“</a:t>
            </a:r>
            <a:r>
              <a:rPr lang="en-US" altLang="zh-CN" dirty="0">
                <a:latin typeface="+mn-lt"/>
                <a:ea typeface="Microsoft YaHei" panose="020B0503020204020204" pitchFamily="34" charset="-122"/>
                <a:cs typeface="+mn-ea"/>
                <a:sym typeface="Consolas" panose="020B0609020204030204" pitchFamily="49" charset="0"/>
              </a:rPr>
              <a:t>primary”</a:t>
            </a:r>
            <a:r>
              <a:rPr lang="zh-CN" altLang="en-US" dirty="0">
                <a:latin typeface="+mn-lt"/>
                <a:ea typeface="Microsoft YaHei" panose="020B0503020204020204" pitchFamily="34" charset="-122"/>
                <a:cs typeface="+mn-ea"/>
                <a:sym typeface="Consolas" panose="020B0609020204030204" pitchFamily="49" charset="0"/>
              </a:rPr>
              <a:t>）、二级公路类（“</a:t>
            </a:r>
            <a:r>
              <a:rPr lang="en-US" altLang="zh-CN" dirty="0">
                <a:latin typeface="+mn-lt"/>
                <a:ea typeface="Microsoft YaHei" panose="020B0503020204020204" pitchFamily="34" charset="-122"/>
                <a:cs typeface="+mn-ea"/>
                <a:sym typeface="Consolas" panose="020B0609020204030204" pitchFamily="49" charset="0"/>
              </a:rPr>
              <a:t>secondary”</a:t>
            </a:r>
            <a:r>
              <a:rPr lang="zh-CN" altLang="en-US" dirty="0">
                <a:latin typeface="+mn-lt"/>
                <a:ea typeface="Microsoft YaHei" panose="020B0503020204020204" pitchFamily="34" charset="-122"/>
                <a:cs typeface="+mn-ea"/>
                <a:sym typeface="Consolas" panose="020B0609020204030204" pitchFamily="49" charset="0"/>
              </a:rPr>
              <a:t>）、三级公路类（“</a:t>
            </a:r>
            <a:r>
              <a:rPr lang="en-US" altLang="zh-CN" dirty="0">
                <a:latin typeface="+mn-lt"/>
                <a:ea typeface="Microsoft YaHei" panose="020B0503020204020204" pitchFamily="34" charset="-122"/>
                <a:cs typeface="+mn-ea"/>
                <a:sym typeface="Consolas" panose="020B0609020204030204" pitchFamily="49" charset="0"/>
              </a:rPr>
              <a:t>tertiary”</a:t>
            </a:r>
            <a:r>
              <a:rPr lang="zh-CN" altLang="en-US" dirty="0">
                <a:latin typeface="+mn-lt"/>
                <a:ea typeface="Microsoft YaHei" panose="020B0503020204020204" pitchFamily="34" charset="-122"/>
                <a:cs typeface="+mn-ea"/>
                <a:sym typeface="Consolas" panose="020B0609020204030204" pitchFamily="49" charset="0"/>
              </a:rPr>
              <a:t>）和高速公路类（“</a:t>
            </a:r>
            <a:r>
              <a:rPr lang="en-US" altLang="zh-CN" dirty="0">
                <a:latin typeface="+mn-lt"/>
                <a:ea typeface="Microsoft YaHei" panose="020B0503020204020204" pitchFamily="34" charset="-122"/>
                <a:cs typeface="+mn-ea"/>
                <a:sym typeface="Consolas" panose="020B0609020204030204" pitchFamily="49" charset="0"/>
              </a:rPr>
              <a:t>motorway”</a:t>
            </a:r>
            <a:r>
              <a:rPr lang="zh-CN" altLang="en-US" dirty="0">
                <a:latin typeface="+mn-lt"/>
                <a:ea typeface="Microsoft YaHei" panose="020B0503020204020204" pitchFamily="34" charset="-122"/>
                <a:cs typeface="+mn-ea"/>
                <a:sym typeface="Consolas" panose="020B0609020204030204" pitchFamily="49" charset="0"/>
              </a:rPr>
              <a:t>）五类道路进行分类可视化。</a:t>
            </a:r>
          </a:p>
        </p:txBody>
      </p:sp>
      <p:sp>
        <p:nvSpPr>
          <p:cNvPr id="9" name="标题 1">
            <a:extLst>
              <a:ext uri="{FF2B5EF4-FFF2-40B4-BE49-F238E27FC236}">
                <a16:creationId xmlns:a16="http://schemas.microsoft.com/office/drawing/2014/main" id="{172B85A9-D51F-F178-5562-08FEF6E39177}"/>
              </a:ext>
            </a:extLst>
          </p:cNvPr>
          <p:cNvSpPr>
            <a:spLocks noGrp="1"/>
          </p:cNvSpPr>
          <p:nvPr>
            <p:ph type="title"/>
          </p:nvPr>
        </p:nvSpPr>
        <p:spPr>
          <a:xfrm>
            <a:off x="1181101" y="342900"/>
            <a:ext cx="6896099" cy="663575"/>
          </a:xfrm>
        </p:spPr>
        <p:txBody>
          <a:bodyPr/>
          <a:lstStyle/>
          <a:p>
            <a:pPr algn="l"/>
            <a:r>
              <a:rPr lang="en-US" altLang="zh-CN" sz="3600" dirty="0"/>
              <a:t>6.3.2 </a:t>
            </a:r>
            <a:r>
              <a:rPr lang="zh-CN" altLang="en-US" sz="3600" dirty="0"/>
              <a:t>线数据</a:t>
            </a:r>
          </a:p>
        </p:txBody>
      </p:sp>
      <p:sp>
        <p:nvSpPr>
          <p:cNvPr id="7" name="文本框 6">
            <a:extLst>
              <a:ext uri="{FF2B5EF4-FFF2-40B4-BE49-F238E27FC236}">
                <a16:creationId xmlns:a16="http://schemas.microsoft.com/office/drawing/2014/main" id="{C2288F79-7B07-551A-5815-0A035A50778A}"/>
              </a:ext>
            </a:extLst>
          </p:cNvPr>
          <p:cNvSpPr txBox="1"/>
          <p:nvPr/>
        </p:nvSpPr>
        <p:spPr>
          <a:xfrm>
            <a:off x="464820" y="3825240"/>
            <a:ext cx="3523612" cy="801181"/>
          </a:xfrm>
          <a:prstGeom prst="rect">
            <a:avLst/>
          </a:prstGeom>
          <a:noFill/>
        </p:spPr>
        <p:txBody>
          <a:bodyPr wrap="square">
            <a:spAutoFit/>
          </a:bodyPr>
          <a:lstStyle/>
          <a:p>
            <a:pPr marL="0" marR="0" indent="0" algn="l">
              <a:lnSpc>
                <a:spcPts val="1425"/>
              </a:lnSpc>
              <a:buNone/>
            </a:pP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road_type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unique(</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a:t>
            </a:r>
            <a:r>
              <a:rPr lang="en-US" altLang="zh-CN" sz="11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new_fclass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shades &lt;-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brewer.pal</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"Set3"</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idx</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match(</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a:t>
            </a:r>
            <a:r>
              <a:rPr lang="en-US" altLang="zh-CN" sz="11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new_fclass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road_type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plot(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a:t>
            </a:r>
            <a:r>
              <a:rPr lang="en-US" altLang="zh-CN" sz="11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shades[</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idx</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637284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0226D-ECBD-712E-E572-B562944F9C09}"/>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65CE9629-406C-10F5-94E7-19133EA940F7}"/>
              </a:ext>
            </a:extLst>
          </p:cNvPr>
          <p:cNvPicPr>
            <a:picLocks noChangeAspect="1"/>
          </p:cNvPicPr>
          <p:nvPr/>
        </p:nvPicPr>
        <p:blipFill>
          <a:blip r:embed="rId2" cstate="print">
            <a:extLst>
              <a:ext uri="{28A0092B-C50C-407E-A947-70E740481C1C}">
                <a14:useLocalDpi xmlns:a14="http://schemas.microsoft.com/office/drawing/2010/main" val="0"/>
              </a:ext>
            </a:extLst>
          </a:blip>
          <a:srcRect l="10270" t="13250" b="8385"/>
          <a:stretch/>
        </p:blipFill>
        <p:spPr>
          <a:xfrm>
            <a:off x="4170516" y="2271595"/>
            <a:ext cx="4097184" cy="4472105"/>
          </a:xfrm>
          <a:prstGeom prst="rect">
            <a:avLst/>
          </a:prstGeom>
        </p:spPr>
      </p:pic>
      <p:sp>
        <p:nvSpPr>
          <p:cNvPr id="4" name="灯片编号占位符 3">
            <a:extLst>
              <a:ext uri="{FF2B5EF4-FFF2-40B4-BE49-F238E27FC236}">
                <a16:creationId xmlns:a16="http://schemas.microsoft.com/office/drawing/2014/main" id="{9ED38315-2686-B136-8361-C707C2DE70AC}"/>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24</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6" name="矩形 5">
            <a:extLst>
              <a:ext uri="{FF2B5EF4-FFF2-40B4-BE49-F238E27FC236}">
                <a16:creationId xmlns:a16="http://schemas.microsoft.com/office/drawing/2014/main" id="{169422F1-DF9F-AC79-DF97-6F358E3520FE}"/>
              </a:ext>
            </a:extLst>
          </p:cNvPr>
          <p:cNvSpPr/>
          <p:nvPr/>
        </p:nvSpPr>
        <p:spPr>
          <a:xfrm>
            <a:off x="285115" y="1148688"/>
            <a:ext cx="8573770" cy="874214"/>
          </a:xfrm>
          <a:prstGeom prst="rect">
            <a:avLst/>
          </a:prstGeom>
        </p:spPr>
        <p:txBody>
          <a:bodyPr wrap="square">
            <a:spAutoFit/>
          </a:bodyPr>
          <a:lstStyle/>
          <a:p>
            <a:pPr indent="457200">
              <a:lnSpc>
                <a:spcPct val="150000"/>
              </a:lnSpc>
            </a:pPr>
            <a:r>
              <a:rPr lang="zh-CN" altLang="en-US" dirty="0">
                <a:latin typeface="+mn-lt"/>
                <a:ea typeface="Microsoft YaHei" panose="020B0503020204020204" pitchFamily="34" charset="-122"/>
                <a:cs typeface="+mn-ea"/>
                <a:sym typeface="Consolas" panose="020B0609020204030204" pitchFamily="49" charset="0"/>
              </a:rPr>
              <a:t>通过改变线型和宽度，结合原有的颜色特征，改善大量小型道路造成的信息表达不清的问题。</a:t>
            </a:r>
          </a:p>
        </p:txBody>
      </p:sp>
      <p:sp>
        <p:nvSpPr>
          <p:cNvPr id="9" name="标题 1">
            <a:extLst>
              <a:ext uri="{FF2B5EF4-FFF2-40B4-BE49-F238E27FC236}">
                <a16:creationId xmlns:a16="http://schemas.microsoft.com/office/drawing/2014/main" id="{F7CD6847-75B5-583F-6A0A-F8E857FF1ED6}"/>
              </a:ext>
            </a:extLst>
          </p:cNvPr>
          <p:cNvSpPr>
            <a:spLocks noGrp="1"/>
          </p:cNvSpPr>
          <p:nvPr>
            <p:ph type="title"/>
          </p:nvPr>
        </p:nvSpPr>
        <p:spPr>
          <a:xfrm>
            <a:off x="1181101" y="342900"/>
            <a:ext cx="6896099" cy="663575"/>
          </a:xfrm>
        </p:spPr>
        <p:txBody>
          <a:bodyPr/>
          <a:lstStyle/>
          <a:p>
            <a:pPr algn="l"/>
            <a:r>
              <a:rPr lang="en-US" altLang="zh-CN" sz="3600" dirty="0"/>
              <a:t>6.3.2 </a:t>
            </a:r>
            <a:r>
              <a:rPr lang="zh-CN" altLang="en-US" sz="3600" dirty="0"/>
              <a:t>线数据</a:t>
            </a:r>
          </a:p>
        </p:txBody>
      </p:sp>
      <p:sp>
        <p:nvSpPr>
          <p:cNvPr id="7" name="文本框 6">
            <a:extLst>
              <a:ext uri="{FF2B5EF4-FFF2-40B4-BE49-F238E27FC236}">
                <a16:creationId xmlns:a16="http://schemas.microsoft.com/office/drawing/2014/main" id="{67AD593D-CED0-A742-A25C-712F3EF34D55}"/>
              </a:ext>
            </a:extLst>
          </p:cNvPr>
          <p:cNvSpPr txBox="1"/>
          <p:nvPr/>
        </p:nvSpPr>
        <p:spPr>
          <a:xfrm>
            <a:off x="285115" y="2057400"/>
            <a:ext cx="5239385" cy="1698863"/>
          </a:xfrm>
          <a:prstGeom prst="rect">
            <a:avLst/>
          </a:prstGeom>
          <a:noFill/>
        </p:spPr>
        <p:txBody>
          <a:bodyPr wrap="square">
            <a:spAutoFit/>
          </a:bodyPr>
          <a:lstStyle/>
          <a:p>
            <a:pPr marL="0" marR="0" indent="0" algn="l">
              <a:lnSpc>
                <a:spcPts val="1425"/>
              </a:lnSpc>
              <a:buNone/>
            </a:pP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road_type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unique(</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a:t>
            </a:r>
            <a:r>
              <a:rPr lang="en-US" altLang="zh-CN" sz="11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new_fclass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4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shades &lt;- c(</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"grey"</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"#E6F598"</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"#66C2A5"</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"#C51B7D"</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"#BF812D"</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4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idx</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match(</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a:t>
            </a:r>
            <a:r>
              <a:rPr lang="en-US" altLang="zh-CN" sz="11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new_fclass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road_type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4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ltypes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c(</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4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lwidths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c(</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0.5</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0.5</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0.5</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4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plot(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a:t>
            </a:r>
            <a:r>
              <a:rPr lang="en-US" altLang="zh-CN" sz="11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geometry</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col=shades[</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idx</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lty</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ltypes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idx</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lwd</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lwidths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idx</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4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legend(</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bottomright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legend =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road_type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lty</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ltypes,lwd</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lwidths,col</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=shades, title =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"Road type"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cex</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0.5</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4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083776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6FC85-4DF8-A870-828C-D862F5D496A4}"/>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F305403-383C-5EAE-0042-2C3C8C326BD5}"/>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25</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6" name="矩形 5">
            <a:extLst>
              <a:ext uri="{FF2B5EF4-FFF2-40B4-BE49-F238E27FC236}">
                <a16:creationId xmlns:a16="http://schemas.microsoft.com/office/drawing/2014/main" id="{03078782-E728-17FF-F2A6-80EDC2AE4FCD}"/>
              </a:ext>
            </a:extLst>
          </p:cNvPr>
          <p:cNvSpPr/>
          <p:nvPr/>
        </p:nvSpPr>
        <p:spPr>
          <a:xfrm>
            <a:off x="2386371" y="1143000"/>
            <a:ext cx="4371258" cy="458715"/>
          </a:xfrm>
          <a:prstGeom prst="rect">
            <a:avLst/>
          </a:prstGeom>
        </p:spPr>
        <p:txBody>
          <a:bodyPr wrap="square">
            <a:spAutoFit/>
          </a:bodyPr>
          <a:lstStyle/>
          <a:p>
            <a:pPr algn="ctr">
              <a:lnSpc>
                <a:spcPct val="150000"/>
              </a:lnSpc>
            </a:pPr>
            <a:r>
              <a:rPr lang="zh-CN" altLang="en-US" dirty="0">
                <a:latin typeface="+mn-lt"/>
                <a:ea typeface="Microsoft YaHei" panose="020B0503020204020204" pitchFamily="34" charset="-122"/>
                <a:cs typeface="+mn-ea"/>
                <a:sym typeface="Consolas" panose="020B0609020204030204" pitchFamily="49" charset="0"/>
              </a:rPr>
              <a:t>利用</a:t>
            </a:r>
            <a:r>
              <a:rPr lang="en-US" altLang="zh-CN" dirty="0" err="1">
                <a:latin typeface="+mn-lt"/>
                <a:ea typeface="Microsoft YaHei" panose="020B0503020204020204" pitchFamily="34" charset="-122"/>
                <a:cs typeface="+mn-ea"/>
                <a:sym typeface="Consolas" panose="020B0609020204030204" pitchFamily="49" charset="0"/>
              </a:rPr>
              <a:t>tmap</a:t>
            </a:r>
            <a:r>
              <a:rPr lang="zh-CN" altLang="en-US" dirty="0">
                <a:latin typeface="+mn-lt"/>
                <a:ea typeface="Microsoft YaHei" panose="020B0503020204020204" pitchFamily="34" charset="-122"/>
                <a:cs typeface="+mn-ea"/>
                <a:sym typeface="Consolas" panose="020B0609020204030204" pitchFamily="49" charset="0"/>
              </a:rPr>
              <a:t>函数包也可以实现相似的效果</a:t>
            </a:r>
          </a:p>
        </p:txBody>
      </p:sp>
      <p:sp>
        <p:nvSpPr>
          <p:cNvPr id="9" name="标题 1">
            <a:extLst>
              <a:ext uri="{FF2B5EF4-FFF2-40B4-BE49-F238E27FC236}">
                <a16:creationId xmlns:a16="http://schemas.microsoft.com/office/drawing/2014/main" id="{7FD1999F-DEBF-D39B-86D3-BC5ACEFCED12}"/>
              </a:ext>
            </a:extLst>
          </p:cNvPr>
          <p:cNvSpPr>
            <a:spLocks noGrp="1"/>
          </p:cNvSpPr>
          <p:nvPr>
            <p:ph type="title"/>
          </p:nvPr>
        </p:nvSpPr>
        <p:spPr>
          <a:xfrm>
            <a:off x="1181101" y="342900"/>
            <a:ext cx="6896099" cy="663575"/>
          </a:xfrm>
        </p:spPr>
        <p:txBody>
          <a:bodyPr/>
          <a:lstStyle/>
          <a:p>
            <a:pPr algn="l"/>
            <a:r>
              <a:rPr lang="en-US" altLang="zh-CN" sz="3600" dirty="0"/>
              <a:t>6.3.2 </a:t>
            </a:r>
            <a:r>
              <a:rPr lang="zh-CN" altLang="en-US" sz="3600" dirty="0"/>
              <a:t>线数据</a:t>
            </a:r>
          </a:p>
        </p:txBody>
      </p:sp>
      <p:sp>
        <p:nvSpPr>
          <p:cNvPr id="10" name="文本框 9">
            <a:extLst>
              <a:ext uri="{FF2B5EF4-FFF2-40B4-BE49-F238E27FC236}">
                <a16:creationId xmlns:a16="http://schemas.microsoft.com/office/drawing/2014/main" id="{AB71F277-A6D5-0DD4-62DC-B5FD249A22E2}"/>
              </a:ext>
            </a:extLst>
          </p:cNvPr>
          <p:cNvSpPr txBox="1"/>
          <p:nvPr/>
        </p:nvSpPr>
        <p:spPr>
          <a:xfrm>
            <a:off x="516890" y="1562100"/>
            <a:ext cx="8110220" cy="1338187"/>
          </a:xfrm>
          <a:prstGeom prst="rect">
            <a:avLst/>
          </a:prstGeom>
          <a:noFill/>
        </p:spPr>
        <p:txBody>
          <a:bodyPr wrap="square">
            <a:spAutoFit/>
          </a:bodyPr>
          <a:lstStyle/>
          <a:p>
            <a:pPr marL="0" marR="0" indent="0" algn="l">
              <a:lnSpc>
                <a:spcPts val="1425"/>
              </a:lnSpc>
              <a:buNone/>
            </a:pP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(WHRD)+</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tm_lines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"new_</a:t>
            </a:r>
            <a:r>
              <a:rPr lang="en-US" altLang="zh-CN" sz="11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fclass</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col.scale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tm_scale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(values = c(</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"trunk"</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"#66C2A5"</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"primary"</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"#C51B7D"</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"motorway"</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"#BF812D"</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"secondary"</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"#E6F598"</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"tertiary"</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"grey"</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lwd.scale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tm_scale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(values = c(</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"trunk"</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"primary"</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"motorway"</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0.5</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"secondary"</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0.5</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"tertiary"</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0.5</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lty.legend</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tm_legend_combine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col.legend</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tm_legend_combine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11" name="图片 10">
            <a:extLst>
              <a:ext uri="{FF2B5EF4-FFF2-40B4-BE49-F238E27FC236}">
                <a16:creationId xmlns:a16="http://schemas.microsoft.com/office/drawing/2014/main" id="{1D72A2CB-7BCE-94DF-67FE-2F383340D1E2}"/>
              </a:ext>
            </a:extLst>
          </p:cNvPr>
          <p:cNvPicPr>
            <a:picLocks noChangeAspect="1"/>
          </p:cNvPicPr>
          <p:nvPr/>
        </p:nvPicPr>
        <p:blipFill>
          <a:blip r:embed="rId2" cstate="print">
            <a:extLst>
              <a:ext uri="{28A0092B-C50C-407E-A947-70E740481C1C}">
                <a14:useLocalDpi xmlns:a14="http://schemas.microsoft.com/office/drawing/2010/main" val="0"/>
              </a:ext>
            </a:extLst>
          </a:blip>
          <a:srcRect t="4918" b="4918"/>
          <a:stretch/>
        </p:blipFill>
        <p:spPr>
          <a:xfrm>
            <a:off x="4343400" y="2410606"/>
            <a:ext cx="3848100" cy="4336410"/>
          </a:xfrm>
          <a:prstGeom prst="rect">
            <a:avLst/>
          </a:prstGeom>
        </p:spPr>
      </p:pic>
    </p:spTree>
    <p:extLst>
      <p:ext uri="{BB962C8B-B14F-4D97-AF65-F5344CB8AC3E}">
        <p14:creationId xmlns:p14="http://schemas.microsoft.com/office/powerpoint/2010/main" val="3332917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26</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5" name="矩形 4">
            <a:extLst>
              <a:ext uri="{FF2B5EF4-FFF2-40B4-BE49-F238E27FC236}">
                <a16:creationId xmlns:a16="http://schemas.microsoft.com/office/drawing/2014/main" id="{1E25D5F0-7E43-4A01-A1DD-110F46EDED36}"/>
              </a:ext>
            </a:extLst>
          </p:cNvPr>
          <p:cNvSpPr/>
          <p:nvPr/>
        </p:nvSpPr>
        <p:spPr>
          <a:xfrm>
            <a:off x="2740660" y="1685641"/>
            <a:ext cx="3662680" cy="630942"/>
          </a:xfrm>
          <a:prstGeom prst="rect">
            <a:avLst/>
          </a:prstGeom>
        </p:spPr>
        <p:txBody>
          <a:bodyPr wrap="square">
            <a:spAutoFit/>
          </a:bodyPr>
          <a:lstStyle/>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area&lt;-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as.numeric</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st_area</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sz="12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geometry</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sz="12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Area</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&lt;-area</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plot(WHHP[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"Area"</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key.pos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4</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7" name="图片 6">
            <a:extLst>
              <a:ext uri="{FF2B5EF4-FFF2-40B4-BE49-F238E27FC236}">
                <a16:creationId xmlns:a16="http://schemas.microsoft.com/office/drawing/2014/main" id="{E32BCD62-AFB5-47E8-8F3F-DB4895718D68}"/>
              </a:ext>
            </a:extLst>
          </p:cNvPr>
          <p:cNvPicPr/>
          <p:nvPr/>
        </p:nvPicPr>
        <p:blipFill rotWithShape="1">
          <a:blip r:embed="rId2"/>
          <a:srcRect l="13804"/>
          <a:stretch/>
        </p:blipFill>
        <p:spPr bwMode="auto">
          <a:xfrm>
            <a:off x="1539240" y="2421212"/>
            <a:ext cx="6042660" cy="4284388"/>
          </a:xfrm>
          <a:prstGeom prst="rect">
            <a:avLst/>
          </a:prstGeom>
          <a:ln>
            <a:noFill/>
          </a:ln>
          <a:extLst>
            <a:ext uri="{53640926-AAD7-44D8-BBD7-CCE9431645EC}">
              <a14:shadowObscured xmlns:a14="http://schemas.microsoft.com/office/drawing/2010/main"/>
            </a:ext>
          </a:extLst>
        </p:spPr>
      </p:pic>
      <p:sp>
        <p:nvSpPr>
          <p:cNvPr id="9" name="文本框 8">
            <a:extLst>
              <a:ext uri="{FF2B5EF4-FFF2-40B4-BE49-F238E27FC236}">
                <a16:creationId xmlns:a16="http://schemas.microsoft.com/office/drawing/2014/main" id="{5B669C92-31F5-438B-FBBA-26E2E4EB38C9}"/>
              </a:ext>
            </a:extLst>
          </p:cNvPr>
          <p:cNvSpPr txBox="1"/>
          <p:nvPr/>
        </p:nvSpPr>
        <p:spPr>
          <a:xfrm>
            <a:off x="800100" y="1183047"/>
            <a:ext cx="7543800" cy="455253"/>
          </a:xfrm>
          <a:prstGeom prst="rect">
            <a:avLst/>
          </a:prstGeom>
          <a:noFill/>
        </p:spPr>
        <p:txBody>
          <a:bodyPr wrap="square">
            <a:spAutoFit/>
          </a:bodyPr>
          <a:lstStyle/>
          <a:p>
            <a:pPr marL="0" marR="0" indent="304800" algn="just">
              <a:lnSpc>
                <a:spcPct val="150000"/>
              </a:lnSpc>
            </a:pPr>
            <a:r>
              <a:rPr lang="zh-CN" altLang="en-US" sz="1800" kern="0" dirty="0">
                <a:effectLst/>
                <a:latin typeface="+mn-lt"/>
                <a:ea typeface="+mn-ea"/>
                <a:cs typeface="Times New Roman" panose="02020603050405020304" pitchFamily="18" charset="0"/>
              </a:rPr>
              <a:t>针对面空间数据，也可以通过基础的</a:t>
            </a:r>
            <a:r>
              <a:rPr lang="en-US" altLang="zh-CN" sz="1800" i="1" kern="0" dirty="0">
                <a:effectLst/>
                <a:latin typeface="+mn-lt"/>
                <a:ea typeface="+mn-ea"/>
                <a:cs typeface="Times New Roman" panose="02020603050405020304" pitchFamily="18" charset="0"/>
              </a:rPr>
              <a:t>plot</a:t>
            </a:r>
            <a:r>
              <a:rPr lang="zh-CN" altLang="en-US" sz="1800" kern="0" dirty="0">
                <a:effectLst/>
                <a:latin typeface="+mn-lt"/>
                <a:ea typeface="+mn-ea"/>
                <a:cs typeface="Times New Roman" panose="02020603050405020304" pitchFamily="18" charset="0"/>
              </a:rPr>
              <a:t>函数绘制专题地图。</a:t>
            </a:r>
            <a:endParaRPr lang="zh-CN" altLang="en-US" sz="1800" dirty="0">
              <a:effectLst/>
              <a:latin typeface="+mn-lt"/>
              <a:ea typeface="+mn-ea"/>
            </a:endParaRPr>
          </a:p>
        </p:txBody>
      </p:sp>
      <p:sp>
        <p:nvSpPr>
          <p:cNvPr id="10" name="标题 1">
            <a:extLst>
              <a:ext uri="{FF2B5EF4-FFF2-40B4-BE49-F238E27FC236}">
                <a16:creationId xmlns:a16="http://schemas.microsoft.com/office/drawing/2014/main" id="{AAC6E874-942E-DB1C-CDF4-DA3BEB9A0650}"/>
              </a:ext>
            </a:extLst>
          </p:cNvPr>
          <p:cNvSpPr>
            <a:spLocks noGrp="1"/>
          </p:cNvSpPr>
          <p:nvPr>
            <p:ph type="title"/>
          </p:nvPr>
        </p:nvSpPr>
        <p:spPr>
          <a:xfrm>
            <a:off x="1181101" y="342900"/>
            <a:ext cx="6896099" cy="663575"/>
          </a:xfrm>
        </p:spPr>
        <p:txBody>
          <a:bodyPr/>
          <a:lstStyle/>
          <a:p>
            <a:pPr algn="l"/>
            <a:r>
              <a:rPr lang="en-US" altLang="zh-CN" sz="3600" dirty="0"/>
              <a:t>6.3.3 </a:t>
            </a:r>
            <a:r>
              <a:rPr lang="zh-CN" altLang="en-US" sz="3600" dirty="0"/>
              <a:t>面数据</a:t>
            </a:r>
          </a:p>
        </p:txBody>
      </p:sp>
    </p:spTree>
    <p:extLst>
      <p:ext uri="{BB962C8B-B14F-4D97-AF65-F5344CB8AC3E}">
        <p14:creationId xmlns:p14="http://schemas.microsoft.com/office/powerpoint/2010/main" val="19123621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972C5-B8BE-BFB0-F49D-CF457DBBB0DF}"/>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C255C76-DE5B-1274-0D0C-2D3453DCB13C}"/>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27</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5" name="矩形 4">
            <a:extLst>
              <a:ext uri="{FF2B5EF4-FFF2-40B4-BE49-F238E27FC236}">
                <a16:creationId xmlns:a16="http://schemas.microsoft.com/office/drawing/2014/main" id="{79AEDDC2-50A5-454A-56A9-F72E35453991}"/>
              </a:ext>
            </a:extLst>
          </p:cNvPr>
          <p:cNvSpPr/>
          <p:nvPr/>
        </p:nvSpPr>
        <p:spPr>
          <a:xfrm>
            <a:off x="1219200" y="1970822"/>
            <a:ext cx="6705600" cy="810478"/>
          </a:xfrm>
          <a:prstGeom prst="rect">
            <a:avLst/>
          </a:prstGeom>
        </p:spPr>
        <p:txBody>
          <a:bodyPr wrap="square">
            <a:spAutoFit/>
          </a:bodyPr>
          <a:lstStyle/>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sz="12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new_area</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&lt;-cut(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area,breaks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plot(WHHP[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new_area</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key.pos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4</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pal =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sf.colors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key.width</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lcm(</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plot(WHHP[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"Area"</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breaks = c(</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0.05e+07</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0.25e+07</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0.5e+07</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1e+07</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1.5e+07</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key.pos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4</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pal = rainbow(</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9" name="文本框 8">
            <a:extLst>
              <a:ext uri="{FF2B5EF4-FFF2-40B4-BE49-F238E27FC236}">
                <a16:creationId xmlns:a16="http://schemas.microsoft.com/office/drawing/2014/main" id="{0BB7C156-E9E0-DB6B-EC98-06EA3EB0CD62}"/>
              </a:ext>
            </a:extLst>
          </p:cNvPr>
          <p:cNvSpPr txBox="1"/>
          <p:nvPr/>
        </p:nvSpPr>
        <p:spPr>
          <a:xfrm>
            <a:off x="521970" y="1280086"/>
            <a:ext cx="8077200" cy="458715"/>
          </a:xfrm>
          <a:prstGeom prst="rect">
            <a:avLst/>
          </a:prstGeom>
          <a:noFill/>
        </p:spPr>
        <p:txBody>
          <a:bodyPr wrap="square">
            <a:spAutoFit/>
          </a:bodyPr>
          <a:lstStyle/>
          <a:p>
            <a:pPr marL="0" marR="0" indent="304800" algn="just">
              <a:lnSpc>
                <a:spcPct val="150000"/>
              </a:lnSpc>
            </a:pPr>
            <a:r>
              <a:rPr lang="zh-CN" altLang="en-US" sz="1800" kern="0" dirty="0">
                <a:effectLst/>
                <a:latin typeface="+mn-lt"/>
                <a:ea typeface="+mn-ea"/>
                <a:cs typeface="Times New Roman" panose="02020603050405020304" pitchFamily="18" charset="0"/>
              </a:rPr>
              <a:t>可以使用</a:t>
            </a:r>
            <a:r>
              <a:rPr lang="en-US" altLang="zh-CN" sz="1800" kern="0" dirty="0">
                <a:effectLst/>
                <a:latin typeface="+mn-lt"/>
                <a:ea typeface="+mn-ea"/>
                <a:cs typeface="Times New Roman" panose="02020603050405020304" pitchFamily="18" charset="0"/>
              </a:rPr>
              <a:t>cut</a:t>
            </a:r>
            <a:r>
              <a:rPr lang="zh-CN" altLang="en-US" sz="1800" kern="0" dirty="0">
                <a:effectLst/>
                <a:latin typeface="+mn-lt"/>
                <a:ea typeface="+mn-ea"/>
                <a:cs typeface="Times New Roman" panose="02020603050405020304" pitchFamily="18" charset="0"/>
              </a:rPr>
              <a:t>函数中的</a:t>
            </a:r>
            <a:r>
              <a:rPr lang="en-US" altLang="zh-CN" sz="1800" kern="0" dirty="0">
                <a:effectLst/>
                <a:latin typeface="+mn-lt"/>
                <a:ea typeface="+mn-ea"/>
                <a:cs typeface="Times New Roman" panose="02020603050405020304" pitchFamily="18" charset="0"/>
              </a:rPr>
              <a:t>breaks</a:t>
            </a:r>
            <a:r>
              <a:rPr lang="zh-CN" altLang="en-US" sz="1800" kern="0" dirty="0">
                <a:effectLst/>
                <a:latin typeface="+mn-lt"/>
                <a:ea typeface="+mn-ea"/>
                <a:cs typeface="Times New Roman" panose="02020603050405020304" pitchFamily="18" charset="0"/>
              </a:rPr>
              <a:t>参数修改分组数量，或者手动确定分组区间值。</a:t>
            </a:r>
            <a:endParaRPr lang="zh-CN" altLang="en-US" sz="1800" dirty="0">
              <a:effectLst/>
              <a:latin typeface="+mn-lt"/>
              <a:ea typeface="+mn-ea"/>
            </a:endParaRPr>
          </a:p>
        </p:txBody>
      </p:sp>
      <p:sp>
        <p:nvSpPr>
          <p:cNvPr id="10" name="标题 1">
            <a:extLst>
              <a:ext uri="{FF2B5EF4-FFF2-40B4-BE49-F238E27FC236}">
                <a16:creationId xmlns:a16="http://schemas.microsoft.com/office/drawing/2014/main" id="{6B90D0F5-1C97-DCE0-3F08-39DECDC9FC6E}"/>
              </a:ext>
            </a:extLst>
          </p:cNvPr>
          <p:cNvSpPr>
            <a:spLocks noGrp="1"/>
          </p:cNvSpPr>
          <p:nvPr>
            <p:ph type="title"/>
          </p:nvPr>
        </p:nvSpPr>
        <p:spPr>
          <a:xfrm>
            <a:off x="1181101" y="342900"/>
            <a:ext cx="6896099" cy="663575"/>
          </a:xfrm>
        </p:spPr>
        <p:txBody>
          <a:bodyPr/>
          <a:lstStyle/>
          <a:p>
            <a:pPr algn="l"/>
            <a:r>
              <a:rPr lang="en-US" altLang="zh-CN" sz="3600" dirty="0"/>
              <a:t>6.3.3 </a:t>
            </a:r>
            <a:r>
              <a:rPr lang="zh-CN" altLang="en-US" sz="3600" dirty="0"/>
              <a:t>面数据</a:t>
            </a:r>
          </a:p>
        </p:txBody>
      </p:sp>
      <p:pic>
        <p:nvPicPr>
          <p:cNvPr id="2" name="图片 1">
            <a:extLst>
              <a:ext uri="{FF2B5EF4-FFF2-40B4-BE49-F238E27FC236}">
                <a16:creationId xmlns:a16="http://schemas.microsoft.com/office/drawing/2014/main" id="{FD09F5BE-7614-EF68-5205-DBEC73D799A5}"/>
              </a:ext>
            </a:extLst>
          </p:cNvPr>
          <p:cNvPicPr>
            <a:picLocks noChangeAspect="1"/>
          </p:cNvPicPr>
          <p:nvPr/>
        </p:nvPicPr>
        <p:blipFill>
          <a:blip r:embed="rId2" cstate="print">
            <a:extLst>
              <a:ext uri="{28A0092B-C50C-407E-A947-70E740481C1C}">
                <a14:useLocalDpi xmlns:a14="http://schemas.microsoft.com/office/drawing/2010/main" val="0"/>
              </a:ext>
            </a:extLst>
          </a:blip>
          <a:srcRect l="3260" b="10256"/>
          <a:stretch/>
        </p:blipFill>
        <p:spPr>
          <a:xfrm>
            <a:off x="162560" y="3140782"/>
            <a:ext cx="4522326" cy="3145718"/>
          </a:xfrm>
          <a:prstGeom prst="rect">
            <a:avLst/>
          </a:prstGeom>
        </p:spPr>
      </p:pic>
      <p:pic>
        <p:nvPicPr>
          <p:cNvPr id="3" name="图片 2">
            <a:extLst>
              <a:ext uri="{FF2B5EF4-FFF2-40B4-BE49-F238E27FC236}">
                <a16:creationId xmlns:a16="http://schemas.microsoft.com/office/drawing/2014/main" id="{E5E35E77-0250-AA08-1743-F8CBCC3A3C20}"/>
              </a:ext>
            </a:extLst>
          </p:cNvPr>
          <p:cNvPicPr>
            <a:picLocks noChangeAspect="1"/>
          </p:cNvPicPr>
          <p:nvPr/>
        </p:nvPicPr>
        <p:blipFill>
          <a:blip r:embed="rId3" cstate="print">
            <a:extLst>
              <a:ext uri="{28A0092B-C50C-407E-A947-70E740481C1C}">
                <a14:useLocalDpi xmlns:a14="http://schemas.microsoft.com/office/drawing/2010/main" val="0"/>
              </a:ext>
            </a:extLst>
          </a:blip>
          <a:srcRect l="3768" b="4720"/>
          <a:stretch/>
        </p:blipFill>
        <p:spPr>
          <a:xfrm>
            <a:off x="4684886" y="3213806"/>
            <a:ext cx="4040505" cy="2999669"/>
          </a:xfrm>
          <a:prstGeom prst="rect">
            <a:avLst/>
          </a:prstGeom>
        </p:spPr>
      </p:pic>
    </p:spTree>
    <p:extLst>
      <p:ext uri="{BB962C8B-B14F-4D97-AF65-F5344CB8AC3E}">
        <p14:creationId xmlns:p14="http://schemas.microsoft.com/office/powerpoint/2010/main" val="3550592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C6D14DE-16EB-4822-8417-358B842B5E0B}"/>
              </a:ext>
            </a:extLst>
          </p:cNvPr>
          <p:cNvPicPr/>
          <p:nvPr/>
        </p:nvPicPr>
        <p:blipFill rotWithShape="1">
          <a:blip r:embed="rId2"/>
          <a:srcRect r="4536"/>
          <a:stretch/>
        </p:blipFill>
        <p:spPr>
          <a:xfrm>
            <a:off x="6548120" y="3454979"/>
            <a:ext cx="2405380" cy="2519680"/>
          </a:xfrm>
          <a:prstGeom prst="rect">
            <a:avLst/>
          </a:prstGeom>
        </p:spPr>
      </p:pic>
      <p:pic>
        <p:nvPicPr>
          <p:cNvPr id="9" name="图片 8">
            <a:extLst>
              <a:ext uri="{FF2B5EF4-FFF2-40B4-BE49-F238E27FC236}">
                <a16:creationId xmlns:a16="http://schemas.microsoft.com/office/drawing/2014/main" id="{8B471160-EC95-4838-8CC8-EE6379234EFA}"/>
              </a:ext>
            </a:extLst>
          </p:cNvPr>
          <p:cNvPicPr/>
          <p:nvPr/>
        </p:nvPicPr>
        <p:blipFill rotWithShape="1">
          <a:blip r:embed="rId3"/>
          <a:srcRect r="4536"/>
          <a:stretch/>
        </p:blipFill>
        <p:spPr>
          <a:xfrm>
            <a:off x="4381500" y="3467100"/>
            <a:ext cx="2405380" cy="2519680"/>
          </a:xfrm>
          <a:prstGeom prst="rect">
            <a:avLst/>
          </a:prstGeom>
        </p:spPr>
      </p:pic>
      <p:pic>
        <p:nvPicPr>
          <p:cNvPr id="8" name="图片 7">
            <a:extLst>
              <a:ext uri="{FF2B5EF4-FFF2-40B4-BE49-F238E27FC236}">
                <a16:creationId xmlns:a16="http://schemas.microsoft.com/office/drawing/2014/main" id="{4EB066CC-FA9D-481D-ADA5-8261C28D4D74}"/>
              </a:ext>
            </a:extLst>
          </p:cNvPr>
          <p:cNvPicPr/>
          <p:nvPr/>
        </p:nvPicPr>
        <p:blipFill rotWithShape="1">
          <a:blip r:embed="rId4"/>
          <a:srcRect r="6452"/>
          <a:stretch/>
        </p:blipFill>
        <p:spPr>
          <a:xfrm>
            <a:off x="2205355" y="3467100"/>
            <a:ext cx="2357120" cy="2519680"/>
          </a:xfrm>
          <a:prstGeom prst="rect">
            <a:avLst/>
          </a:prstGeom>
        </p:spPr>
      </p:pic>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28</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5" name="矩形 4">
            <a:extLst>
              <a:ext uri="{FF2B5EF4-FFF2-40B4-BE49-F238E27FC236}">
                <a16:creationId xmlns:a16="http://schemas.microsoft.com/office/drawing/2014/main" id="{1E25D5F0-7E43-4A01-A1DD-110F46EDED36}"/>
              </a:ext>
            </a:extLst>
          </p:cNvPr>
          <p:cNvSpPr/>
          <p:nvPr/>
        </p:nvSpPr>
        <p:spPr>
          <a:xfrm>
            <a:off x="2054860" y="2123222"/>
            <a:ext cx="5034280" cy="810478"/>
          </a:xfrm>
          <a:prstGeom prst="rect">
            <a:avLst/>
          </a:prstGeom>
        </p:spPr>
        <p:txBody>
          <a:bodyPr wrap="square">
            <a:spAutoFit/>
          </a:bodyPr>
          <a:lstStyle/>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plot(WHHP[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"Area"</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breaks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pretty"</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,main</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"Pretty"</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plot(WHHP[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"Area"</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breaks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"equal"</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main=</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"Equal"</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plot(WHHP[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"Area"</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breaks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quantile"</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,main</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"Quantile"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plot(WHHP[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"Area"</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breaks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jenks</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main=</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"Jenks"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6" name="图片 5">
            <a:extLst>
              <a:ext uri="{FF2B5EF4-FFF2-40B4-BE49-F238E27FC236}">
                <a16:creationId xmlns:a16="http://schemas.microsoft.com/office/drawing/2014/main" id="{25727F51-347C-471E-968A-A72E207D67C9}"/>
              </a:ext>
            </a:extLst>
          </p:cNvPr>
          <p:cNvPicPr/>
          <p:nvPr/>
        </p:nvPicPr>
        <p:blipFill rotWithShape="1">
          <a:blip r:embed="rId5"/>
          <a:srcRect r="6250"/>
          <a:stretch/>
        </p:blipFill>
        <p:spPr>
          <a:xfrm>
            <a:off x="0" y="3454979"/>
            <a:ext cx="2362200" cy="2519680"/>
          </a:xfrm>
          <a:prstGeom prst="rect">
            <a:avLst/>
          </a:prstGeom>
        </p:spPr>
      </p:pic>
      <p:sp>
        <p:nvSpPr>
          <p:cNvPr id="11" name="标题 1">
            <a:extLst>
              <a:ext uri="{FF2B5EF4-FFF2-40B4-BE49-F238E27FC236}">
                <a16:creationId xmlns:a16="http://schemas.microsoft.com/office/drawing/2014/main" id="{26D02436-4BD9-9E4F-AB8C-A49BA77A91F5}"/>
              </a:ext>
            </a:extLst>
          </p:cNvPr>
          <p:cNvSpPr>
            <a:spLocks noGrp="1"/>
          </p:cNvSpPr>
          <p:nvPr>
            <p:ph type="title"/>
          </p:nvPr>
        </p:nvSpPr>
        <p:spPr>
          <a:xfrm>
            <a:off x="1181101" y="342900"/>
            <a:ext cx="6896099" cy="663575"/>
          </a:xfrm>
        </p:spPr>
        <p:txBody>
          <a:bodyPr/>
          <a:lstStyle/>
          <a:p>
            <a:pPr algn="l"/>
            <a:r>
              <a:rPr lang="en-US" altLang="zh-CN" sz="3600" dirty="0"/>
              <a:t>6.3.3 </a:t>
            </a:r>
            <a:r>
              <a:rPr lang="zh-CN" altLang="en-US" sz="3600" dirty="0"/>
              <a:t>面数据</a:t>
            </a:r>
          </a:p>
        </p:txBody>
      </p:sp>
      <p:sp>
        <p:nvSpPr>
          <p:cNvPr id="13" name="文本框 12">
            <a:extLst>
              <a:ext uri="{FF2B5EF4-FFF2-40B4-BE49-F238E27FC236}">
                <a16:creationId xmlns:a16="http://schemas.microsoft.com/office/drawing/2014/main" id="{02A80F63-2F71-FAF8-DD92-1888CEF65220}"/>
              </a:ext>
            </a:extLst>
          </p:cNvPr>
          <p:cNvSpPr txBox="1"/>
          <p:nvPr/>
        </p:nvSpPr>
        <p:spPr>
          <a:xfrm>
            <a:off x="255269" y="1331985"/>
            <a:ext cx="8633461" cy="458715"/>
          </a:xfrm>
          <a:prstGeom prst="rect">
            <a:avLst/>
          </a:prstGeom>
          <a:noFill/>
        </p:spPr>
        <p:txBody>
          <a:bodyPr wrap="square">
            <a:spAutoFit/>
          </a:bodyPr>
          <a:lstStyle/>
          <a:p>
            <a:pPr marL="0" marR="0" indent="304800" algn="just">
              <a:lnSpc>
                <a:spcPct val="150000"/>
              </a:lnSpc>
            </a:pPr>
            <a:r>
              <a:rPr lang="zh-CN" altLang="en-US" sz="1800" kern="0" dirty="0">
                <a:effectLst/>
                <a:latin typeface="+mn-lt"/>
                <a:ea typeface="+mn-ea"/>
                <a:cs typeface="Times New Roman" panose="02020603050405020304" pitchFamily="18" charset="0"/>
              </a:rPr>
              <a:t>除了手动指定分组的临界值，</a:t>
            </a:r>
            <a:r>
              <a:rPr lang="en-US" altLang="zh-CN" sz="1800" i="1" kern="0" dirty="0">
                <a:effectLst/>
                <a:latin typeface="+mn-lt"/>
                <a:ea typeface="+mn-ea"/>
                <a:cs typeface="Times New Roman" panose="02020603050405020304" pitchFamily="18" charset="0"/>
              </a:rPr>
              <a:t>plot</a:t>
            </a:r>
            <a:r>
              <a:rPr lang="zh-CN" altLang="en-US" sz="1800" kern="0" dirty="0">
                <a:effectLst/>
                <a:latin typeface="+mn-lt"/>
                <a:ea typeface="+mn-ea"/>
                <a:cs typeface="Times New Roman" panose="02020603050405020304" pitchFamily="18" charset="0"/>
              </a:rPr>
              <a:t>函数中的</a:t>
            </a:r>
            <a:r>
              <a:rPr lang="en-US" altLang="zh-CN" sz="1800" kern="0" dirty="0">
                <a:effectLst/>
                <a:latin typeface="+mn-lt"/>
                <a:ea typeface="+mn-ea"/>
                <a:cs typeface="Times New Roman" panose="02020603050405020304" pitchFamily="18" charset="0"/>
              </a:rPr>
              <a:t>breaks</a:t>
            </a:r>
            <a:r>
              <a:rPr lang="zh-CN" altLang="en-US" sz="1800" kern="0" dirty="0">
                <a:effectLst/>
                <a:latin typeface="+mn-lt"/>
                <a:ea typeface="+mn-ea"/>
                <a:cs typeface="Times New Roman" panose="02020603050405020304" pitchFamily="18" charset="0"/>
              </a:rPr>
              <a:t>参数提供了一些自动分组方法。</a:t>
            </a:r>
            <a:endParaRPr lang="zh-CN" altLang="en-US" sz="1800" dirty="0">
              <a:effectLst/>
              <a:latin typeface="+mn-lt"/>
              <a:ea typeface="+mn-ea"/>
            </a:endParaRPr>
          </a:p>
        </p:txBody>
      </p:sp>
    </p:spTree>
    <p:extLst>
      <p:ext uri="{BB962C8B-B14F-4D97-AF65-F5344CB8AC3E}">
        <p14:creationId xmlns:p14="http://schemas.microsoft.com/office/powerpoint/2010/main" val="10682297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29</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8" name="矩形 7">
            <a:extLst>
              <a:ext uri="{FF2B5EF4-FFF2-40B4-BE49-F238E27FC236}">
                <a16:creationId xmlns:a16="http://schemas.microsoft.com/office/drawing/2014/main" id="{8D62C3D9-1181-4F31-8D9A-F11B01F6B60B}"/>
              </a:ext>
            </a:extLst>
          </p:cNvPr>
          <p:cNvSpPr/>
          <p:nvPr/>
        </p:nvSpPr>
        <p:spPr>
          <a:xfrm>
            <a:off x="488312" y="3086100"/>
            <a:ext cx="8382000" cy="2974212"/>
          </a:xfrm>
          <a:prstGeom prst="rect">
            <a:avLst/>
          </a:prstGeom>
        </p:spPr>
        <p:txBody>
          <a:bodyPr wrap="square">
            <a:spAutoFit/>
          </a:bodyPr>
          <a:lstStyle/>
          <a:p>
            <a:pPr marL="0" marR="0" indent="0" algn="l">
              <a:lnSpc>
                <a:spcPct val="150000"/>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require(</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dplyr</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&lt;-summary(</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sz="105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 &lt;- WHHP %&gt;%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mutate(</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HP_level</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case_when</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&amp;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低</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zh-CN" altLang="en-US"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zh-CN" altLang="en-US"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&amp;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较低</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en-US"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zh-CN" altLang="en-US"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&amp;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较高</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en-US"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zh-CN" altLang="en-US"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&amp;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6</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高</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en-US"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zh-CN" altLang="en-US"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en-US"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map_categorical</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tm_polygons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HP_level"</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,style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palette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"Set3"</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title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"Categorical Scale"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tmap_save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map_categorical</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"map_categorical.png"</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width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18</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height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16</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units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"cm"</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dpi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0" name="矩形 9">
            <a:extLst>
              <a:ext uri="{FF2B5EF4-FFF2-40B4-BE49-F238E27FC236}">
                <a16:creationId xmlns:a16="http://schemas.microsoft.com/office/drawing/2014/main" id="{AAF50C3D-BE27-4BD7-8C18-90EE9107C004}"/>
              </a:ext>
            </a:extLst>
          </p:cNvPr>
          <p:cNvSpPr/>
          <p:nvPr/>
        </p:nvSpPr>
        <p:spPr>
          <a:xfrm>
            <a:off x="352424" y="1173530"/>
            <a:ext cx="8439152" cy="1289712"/>
          </a:xfrm>
          <a:prstGeom prst="rect">
            <a:avLst/>
          </a:prstGeom>
        </p:spPr>
        <p:txBody>
          <a:bodyPr wrap="square">
            <a:spAutoFit/>
          </a:bodyPr>
          <a:lstStyle/>
          <a:p>
            <a:pPr indent="457200" algn="just">
              <a:lnSpc>
                <a:spcPct val="150000"/>
              </a:lnSpc>
            </a:pPr>
            <a:r>
              <a:rPr lang="en-US" altLang="zh-CN" kern="0" dirty="0" err="1">
                <a:latin typeface="+mn-lt"/>
                <a:ea typeface="+mn-ea"/>
                <a:cs typeface="Times New Roman" panose="02020603050405020304" pitchFamily="18" charset="0"/>
              </a:rPr>
              <a:t>tmap</a:t>
            </a:r>
            <a:r>
              <a:rPr lang="zh-CN" altLang="en-US" kern="0" dirty="0">
                <a:latin typeface="+mn-lt"/>
                <a:ea typeface="+mn-ea"/>
                <a:cs typeface="Times New Roman" panose="02020603050405020304" pitchFamily="18" charset="0"/>
              </a:rPr>
              <a:t>函数包则提供了针对性的可视化方式用于将属性数据变量映射为可视化元素，如分别针对</a:t>
            </a:r>
            <a:r>
              <a:rPr lang="zh-CN" altLang="en-US" b="1" kern="0" dirty="0">
                <a:latin typeface="+mn-lt"/>
                <a:ea typeface="+mn-ea"/>
                <a:cs typeface="Times New Roman" panose="02020603050405020304" pitchFamily="18" charset="0"/>
              </a:rPr>
              <a:t>分类</a:t>
            </a:r>
            <a:r>
              <a:rPr lang="en-US" altLang="zh-CN" b="1" kern="0" dirty="0">
                <a:latin typeface="+mn-lt"/>
                <a:ea typeface="+mn-ea"/>
                <a:cs typeface="Times New Roman" panose="02020603050405020304" pitchFamily="18" charset="0"/>
              </a:rPr>
              <a:t>(Categorical)</a:t>
            </a:r>
            <a:r>
              <a:rPr lang="zh-CN" altLang="en-US" b="1" kern="0" dirty="0">
                <a:latin typeface="+mn-lt"/>
                <a:ea typeface="+mn-ea"/>
                <a:cs typeface="Times New Roman" panose="02020603050405020304" pitchFamily="18" charset="0"/>
              </a:rPr>
              <a:t>变量</a:t>
            </a:r>
            <a:r>
              <a:rPr lang="zh-CN" altLang="en-US" kern="0" dirty="0">
                <a:latin typeface="+mn-lt"/>
                <a:ea typeface="+mn-ea"/>
                <a:cs typeface="Times New Roman" panose="02020603050405020304" pitchFamily="18" charset="0"/>
              </a:rPr>
              <a:t>、顺序（</a:t>
            </a:r>
            <a:r>
              <a:rPr lang="en-US" altLang="zh-CN" kern="0" dirty="0">
                <a:latin typeface="+mn-lt"/>
                <a:ea typeface="+mn-ea"/>
                <a:cs typeface="Times New Roman" panose="02020603050405020304" pitchFamily="18" charset="0"/>
              </a:rPr>
              <a:t>Order</a:t>
            </a:r>
            <a:r>
              <a:rPr lang="zh-CN" altLang="en-US" kern="0" dirty="0">
                <a:latin typeface="+mn-lt"/>
                <a:ea typeface="+mn-ea"/>
                <a:cs typeface="Times New Roman" panose="02020603050405020304" pitchFamily="18" charset="0"/>
              </a:rPr>
              <a:t>）变量、区间</a:t>
            </a:r>
            <a:r>
              <a:rPr lang="en-US" altLang="zh-CN" kern="0" dirty="0">
                <a:latin typeface="+mn-lt"/>
                <a:ea typeface="+mn-ea"/>
                <a:cs typeface="Times New Roman" panose="02020603050405020304" pitchFamily="18" charset="0"/>
              </a:rPr>
              <a:t>(Interval)</a:t>
            </a:r>
            <a:r>
              <a:rPr lang="zh-CN" altLang="en-US" kern="0" dirty="0">
                <a:latin typeface="+mn-lt"/>
                <a:ea typeface="+mn-ea"/>
                <a:cs typeface="Times New Roman" panose="02020603050405020304" pitchFamily="18" charset="0"/>
              </a:rPr>
              <a:t>显示和连续型</a:t>
            </a:r>
            <a:r>
              <a:rPr lang="en-US" altLang="zh-CN" kern="0" dirty="0">
                <a:latin typeface="+mn-lt"/>
                <a:ea typeface="+mn-ea"/>
                <a:cs typeface="Times New Roman" panose="02020603050405020304" pitchFamily="18" charset="0"/>
              </a:rPr>
              <a:t>(Continuous)</a:t>
            </a:r>
            <a:r>
              <a:rPr lang="zh-CN" altLang="en-US" kern="0" dirty="0">
                <a:latin typeface="+mn-lt"/>
                <a:ea typeface="+mn-ea"/>
                <a:cs typeface="Times New Roman" panose="02020603050405020304" pitchFamily="18" charset="0"/>
              </a:rPr>
              <a:t>变量。</a:t>
            </a:r>
            <a:endParaRPr lang="zh-CN" altLang="en-US" dirty="0">
              <a:latin typeface="+mn-lt"/>
              <a:ea typeface="+mn-ea"/>
            </a:endParaRPr>
          </a:p>
        </p:txBody>
      </p:sp>
      <p:pic>
        <p:nvPicPr>
          <p:cNvPr id="9" name="图片 8">
            <a:extLst>
              <a:ext uri="{FF2B5EF4-FFF2-40B4-BE49-F238E27FC236}">
                <a16:creationId xmlns:a16="http://schemas.microsoft.com/office/drawing/2014/main" id="{44DA012A-3DF8-49C9-9E16-E735BA2D46B7}"/>
              </a:ext>
            </a:extLst>
          </p:cNvPr>
          <p:cNvPicPr/>
          <p:nvPr/>
        </p:nvPicPr>
        <p:blipFill rotWithShape="1">
          <a:blip r:embed="rId2" cstate="print">
            <a:extLst>
              <a:ext uri="{28A0092B-C50C-407E-A947-70E740481C1C}">
                <a14:useLocalDpi xmlns:a14="http://schemas.microsoft.com/office/drawing/2010/main" val="0"/>
              </a:ext>
            </a:extLst>
          </a:blip>
          <a:srcRect t="4903" b="5356"/>
          <a:stretch/>
        </p:blipFill>
        <p:spPr bwMode="auto">
          <a:xfrm>
            <a:off x="5012688" y="2247900"/>
            <a:ext cx="3778888" cy="3151515"/>
          </a:xfrm>
          <a:prstGeom prst="rect">
            <a:avLst/>
          </a:prstGeom>
          <a:noFill/>
          <a:ln>
            <a:noFill/>
          </a:ln>
          <a:extLst>
            <a:ext uri="{53640926-AAD7-44D8-BBD7-CCE9431645EC}">
              <a14:shadowObscured xmlns:a14="http://schemas.microsoft.com/office/drawing/2010/main"/>
            </a:ext>
          </a:extLst>
        </p:spPr>
      </p:pic>
      <p:sp>
        <p:nvSpPr>
          <p:cNvPr id="6" name="标题 1">
            <a:extLst>
              <a:ext uri="{FF2B5EF4-FFF2-40B4-BE49-F238E27FC236}">
                <a16:creationId xmlns:a16="http://schemas.microsoft.com/office/drawing/2014/main" id="{01F611AA-5B74-1FD1-510D-98A40339241C}"/>
              </a:ext>
            </a:extLst>
          </p:cNvPr>
          <p:cNvSpPr>
            <a:spLocks noGrp="1"/>
          </p:cNvSpPr>
          <p:nvPr>
            <p:ph type="title"/>
          </p:nvPr>
        </p:nvSpPr>
        <p:spPr>
          <a:xfrm>
            <a:off x="1181101" y="342900"/>
            <a:ext cx="6896099" cy="663575"/>
          </a:xfrm>
        </p:spPr>
        <p:txBody>
          <a:bodyPr/>
          <a:lstStyle/>
          <a:p>
            <a:pPr algn="l"/>
            <a:r>
              <a:rPr lang="en-US" altLang="zh-CN" sz="3600" dirty="0"/>
              <a:t>6.3.3 </a:t>
            </a:r>
            <a:r>
              <a:rPr lang="zh-CN" altLang="en-US" sz="3600" dirty="0"/>
              <a:t>面数据</a:t>
            </a:r>
          </a:p>
        </p:txBody>
      </p:sp>
    </p:spTree>
    <p:extLst>
      <p:ext uri="{BB962C8B-B14F-4D97-AF65-F5344CB8AC3E}">
        <p14:creationId xmlns:p14="http://schemas.microsoft.com/office/powerpoint/2010/main" val="2804828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B1674-1C74-6A09-8C94-6F8563364215}"/>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69A89A5-FB46-A718-E3AE-2FFDBCF31A10}"/>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30</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8" name="矩形 7">
            <a:extLst>
              <a:ext uri="{FF2B5EF4-FFF2-40B4-BE49-F238E27FC236}">
                <a16:creationId xmlns:a16="http://schemas.microsoft.com/office/drawing/2014/main" id="{B922E960-6034-BFD2-AE1C-BB804B6745E5}"/>
              </a:ext>
            </a:extLst>
          </p:cNvPr>
          <p:cNvSpPr/>
          <p:nvPr/>
        </p:nvSpPr>
        <p:spPr>
          <a:xfrm>
            <a:off x="457200" y="4143004"/>
            <a:ext cx="8382000" cy="1876796"/>
          </a:xfrm>
          <a:prstGeom prst="rect">
            <a:avLst/>
          </a:prstGeom>
        </p:spPr>
        <p:txBody>
          <a:bodyPr wrap="square">
            <a:spAutoFit/>
          </a:bodyPr>
          <a:lstStyle/>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 &lt;- WHHP %&gt;%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mutate(</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HP_level</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case_when</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&amp;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&amp;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&amp;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&amp;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sum_hp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6</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"4"</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map_ordinal</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tm_polygons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HP_level</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style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"order"</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title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"Ordinal Scale"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tmap_save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map_ordinal</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"map_ordinal.png"</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width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18</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height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16</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units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"cm"</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dpi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0" name="矩形 9">
            <a:extLst>
              <a:ext uri="{FF2B5EF4-FFF2-40B4-BE49-F238E27FC236}">
                <a16:creationId xmlns:a16="http://schemas.microsoft.com/office/drawing/2014/main" id="{24AA59C9-EA79-F517-AF0D-0EEA4DC9A4C8}"/>
              </a:ext>
            </a:extLst>
          </p:cNvPr>
          <p:cNvSpPr/>
          <p:nvPr/>
        </p:nvSpPr>
        <p:spPr>
          <a:xfrm>
            <a:off x="352424" y="1173530"/>
            <a:ext cx="8439152" cy="1289712"/>
          </a:xfrm>
          <a:prstGeom prst="rect">
            <a:avLst/>
          </a:prstGeom>
        </p:spPr>
        <p:txBody>
          <a:bodyPr wrap="square">
            <a:spAutoFit/>
          </a:bodyPr>
          <a:lstStyle/>
          <a:p>
            <a:pPr indent="457200" algn="just">
              <a:lnSpc>
                <a:spcPct val="150000"/>
              </a:lnSpc>
            </a:pPr>
            <a:r>
              <a:rPr lang="en-US" altLang="zh-CN" kern="0" dirty="0" err="1">
                <a:latin typeface="+mn-lt"/>
                <a:ea typeface="+mn-ea"/>
                <a:cs typeface="Times New Roman" panose="02020603050405020304" pitchFamily="18" charset="0"/>
              </a:rPr>
              <a:t>tmap</a:t>
            </a:r>
            <a:r>
              <a:rPr lang="zh-CN" altLang="en-US" kern="0" dirty="0">
                <a:latin typeface="+mn-lt"/>
                <a:ea typeface="+mn-ea"/>
                <a:cs typeface="Times New Roman" panose="02020603050405020304" pitchFamily="18" charset="0"/>
              </a:rPr>
              <a:t>函数包则提供了针对性的可视化方式用于将属性数据变量映射为可视化元素，如分别针对分类</a:t>
            </a:r>
            <a:r>
              <a:rPr lang="en-US" altLang="zh-CN" kern="0" dirty="0">
                <a:latin typeface="+mn-lt"/>
                <a:ea typeface="+mn-ea"/>
                <a:cs typeface="Times New Roman" panose="02020603050405020304" pitchFamily="18" charset="0"/>
              </a:rPr>
              <a:t>(Categorical)</a:t>
            </a:r>
            <a:r>
              <a:rPr lang="zh-CN" altLang="en-US" kern="0" dirty="0">
                <a:latin typeface="+mn-lt"/>
                <a:ea typeface="+mn-ea"/>
                <a:cs typeface="Times New Roman" panose="02020603050405020304" pitchFamily="18" charset="0"/>
              </a:rPr>
              <a:t>变量、</a:t>
            </a:r>
            <a:r>
              <a:rPr lang="zh-CN" altLang="en-US" b="1" kern="0" dirty="0">
                <a:latin typeface="+mn-lt"/>
                <a:ea typeface="+mn-ea"/>
                <a:cs typeface="Times New Roman" panose="02020603050405020304" pitchFamily="18" charset="0"/>
              </a:rPr>
              <a:t>顺序（</a:t>
            </a:r>
            <a:r>
              <a:rPr lang="en-US" altLang="zh-CN" b="1" kern="0" dirty="0">
                <a:latin typeface="+mn-lt"/>
                <a:ea typeface="+mn-ea"/>
                <a:cs typeface="Times New Roman" panose="02020603050405020304" pitchFamily="18" charset="0"/>
              </a:rPr>
              <a:t>Order</a:t>
            </a:r>
            <a:r>
              <a:rPr lang="zh-CN" altLang="en-US" b="1" kern="0" dirty="0">
                <a:latin typeface="+mn-lt"/>
                <a:ea typeface="+mn-ea"/>
                <a:cs typeface="Times New Roman" panose="02020603050405020304" pitchFamily="18" charset="0"/>
              </a:rPr>
              <a:t>）变量</a:t>
            </a:r>
            <a:r>
              <a:rPr lang="zh-CN" altLang="en-US" kern="0" dirty="0">
                <a:latin typeface="+mn-lt"/>
                <a:ea typeface="+mn-ea"/>
                <a:cs typeface="Times New Roman" panose="02020603050405020304" pitchFamily="18" charset="0"/>
              </a:rPr>
              <a:t>、区间</a:t>
            </a:r>
            <a:r>
              <a:rPr lang="en-US" altLang="zh-CN" kern="0" dirty="0">
                <a:latin typeface="+mn-lt"/>
                <a:ea typeface="+mn-ea"/>
                <a:cs typeface="Times New Roman" panose="02020603050405020304" pitchFamily="18" charset="0"/>
              </a:rPr>
              <a:t>(Interval)</a:t>
            </a:r>
            <a:r>
              <a:rPr lang="zh-CN" altLang="en-US" kern="0" dirty="0">
                <a:latin typeface="+mn-lt"/>
                <a:ea typeface="+mn-ea"/>
                <a:cs typeface="Times New Roman" panose="02020603050405020304" pitchFamily="18" charset="0"/>
              </a:rPr>
              <a:t>显示和连续型</a:t>
            </a:r>
            <a:r>
              <a:rPr lang="en-US" altLang="zh-CN" kern="0" dirty="0">
                <a:latin typeface="+mn-lt"/>
                <a:ea typeface="+mn-ea"/>
                <a:cs typeface="Times New Roman" panose="02020603050405020304" pitchFamily="18" charset="0"/>
              </a:rPr>
              <a:t>(Continuous)</a:t>
            </a:r>
            <a:r>
              <a:rPr lang="zh-CN" altLang="en-US" kern="0" dirty="0">
                <a:latin typeface="+mn-lt"/>
                <a:ea typeface="+mn-ea"/>
                <a:cs typeface="Times New Roman" panose="02020603050405020304" pitchFamily="18" charset="0"/>
              </a:rPr>
              <a:t>变量。</a:t>
            </a:r>
            <a:endParaRPr lang="zh-CN" altLang="en-US" dirty="0">
              <a:latin typeface="+mn-lt"/>
              <a:ea typeface="+mn-ea"/>
            </a:endParaRPr>
          </a:p>
        </p:txBody>
      </p:sp>
      <p:sp>
        <p:nvSpPr>
          <p:cNvPr id="6" name="标题 1">
            <a:extLst>
              <a:ext uri="{FF2B5EF4-FFF2-40B4-BE49-F238E27FC236}">
                <a16:creationId xmlns:a16="http://schemas.microsoft.com/office/drawing/2014/main" id="{B162E617-417F-ED0D-B5E7-EB615F065D45}"/>
              </a:ext>
            </a:extLst>
          </p:cNvPr>
          <p:cNvSpPr>
            <a:spLocks noGrp="1"/>
          </p:cNvSpPr>
          <p:nvPr>
            <p:ph type="title"/>
          </p:nvPr>
        </p:nvSpPr>
        <p:spPr>
          <a:xfrm>
            <a:off x="1181101" y="342900"/>
            <a:ext cx="6896099" cy="663575"/>
          </a:xfrm>
        </p:spPr>
        <p:txBody>
          <a:bodyPr/>
          <a:lstStyle/>
          <a:p>
            <a:pPr algn="l"/>
            <a:r>
              <a:rPr lang="en-US" altLang="zh-CN" sz="3600" dirty="0"/>
              <a:t>6.3.3 </a:t>
            </a:r>
            <a:r>
              <a:rPr lang="zh-CN" altLang="en-US" sz="3600" dirty="0"/>
              <a:t>面数据</a:t>
            </a:r>
          </a:p>
        </p:txBody>
      </p:sp>
      <p:pic>
        <p:nvPicPr>
          <p:cNvPr id="2" name="图片 1">
            <a:extLst>
              <a:ext uri="{FF2B5EF4-FFF2-40B4-BE49-F238E27FC236}">
                <a16:creationId xmlns:a16="http://schemas.microsoft.com/office/drawing/2014/main" id="{2A28FFA0-B2ED-F774-6DDA-FFE96BD40492}"/>
              </a:ext>
            </a:extLst>
          </p:cNvPr>
          <p:cNvPicPr>
            <a:picLocks noChangeAspect="1"/>
          </p:cNvPicPr>
          <p:nvPr/>
        </p:nvPicPr>
        <p:blipFill>
          <a:blip r:embed="rId2" cstate="print">
            <a:extLst>
              <a:ext uri="{28A0092B-C50C-407E-A947-70E740481C1C}">
                <a14:useLocalDpi xmlns:a14="http://schemas.microsoft.com/office/drawing/2010/main" val="0"/>
              </a:ext>
            </a:extLst>
          </a:blip>
          <a:srcRect t="3326" b="3538"/>
          <a:stretch/>
        </p:blipFill>
        <p:spPr>
          <a:xfrm>
            <a:off x="5029200" y="2225404"/>
            <a:ext cx="3771900" cy="3260998"/>
          </a:xfrm>
          <a:prstGeom prst="rect">
            <a:avLst/>
          </a:prstGeom>
        </p:spPr>
      </p:pic>
    </p:spTree>
    <p:extLst>
      <p:ext uri="{BB962C8B-B14F-4D97-AF65-F5344CB8AC3E}">
        <p14:creationId xmlns:p14="http://schemas.microsoft.com/office/powerpoint/2010/main" val="32639628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73380-8295-8E12-F868-71683E2AE6C8}"/>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A1B4E3E-239C-EB59-4806-32AED1C3BD27}"/>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31</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8" name="矩形 7">
            <a:extLst>
              <a:ext uri="{FF2B5EF4-FFF2-40B4-BE49-F238E27FC236}">
                <a16:creationId xmlns:a16="http://schemas.microsoft.com/office/drawing/2014/main" id="{A167AD73-2F0A-5BAA-4CD6-9E4E74070099}"/>
              </a:ext>
            </a:extLst>
          </p:cNvPr>
          <p:cNvSpPr/>
          <p:nvPr/>
        </p:nvSpPr>
        <p:spPr>
          <a:xfrm>
            <a:off x="974271" y="2513147"/>
            <a:ext cx="7195457" cy="799578"/>
          </a:xfrm>
          <a:prstGeom prst="rect">
            <a:avLst/>
          </a:prstGeom>
        </p:spPr>
        <p:txBody>
          <a:bodyPr wrap="square">
            <a:spAutoFit/>
          </a:bodyPr>
          <a:lstStyle/>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breaks &lt;- c(</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5000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10000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15000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20000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25000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map_intervals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tm_polygons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style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"fixed"</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breaks = breaks, title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"Interval Scale"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tmap_save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map_intervals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"map_intervals.png"</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width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18</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height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16</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units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"cm"</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dpi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0" name="矩形 9">
            <a:extLst>
              <a:ext uri="{FF2B5EF4-FFF2-40B4-BE49-F238E27FC236}">
                <a16:creationId xmlns:a16="http://schemas.microsoft.com/office/drawing/2014/main" id="{6034B298-E743-20AE-35FA-578A58C545BA}"/>
              </a:ext>
            </a:extLst>
          </p:cNvPr>
          <p:cNvSpPr/>
          <p:nvPr/>
        </p:nvSpPr>
        <p:spPr>
          <a:xfrm>
            <a:off x="352424" y="1173530"/>
            <a:ext cx="8439152" cy="1289712"/>
          </a:xfrm>
          <a:prstGeom prst="rect">
            <a:avLst/>
          </a:prstGeom>
        </p:spPr>
        <p:txBody>
          <a:bodyPr wrap="square">
            <a:spAutoFit/>
          </a:bodyPr>
          <a:lstStyle/>
          <a:p>
            <a:pPr indent="457200" algn="just">
              <a:lnSpc>
                <a:spcPct val="150000"/>
              </a:lnSpc>
            </a:pPr>
            <a:r>
              <a:rPr lang="en-US" altLang="zh-CN" kern="0" dirty="0" err="1">
                <a:latin typeface="+mn-lt"/>
                <a:ea typeface="+mn-ea"/>
                <a:cs typeface="Times New Roman" panose="02020603050405020304" pitchFamily="18" charset="0"/>
              </a:rPr>
              <a:t>tmap</a:t>
            </a:r>
            <a:r>
              <a:rPr lang="zh-CN" altLang="en-US" kern="0" dirty="0">
                <a:latin typeface="+mn-lt"/>
                <a:ea typeface="+mn-ea"/>
                <a:cs typeface="Times New Roman" panose="02020603050405020304" pitchFamily="18" charset="0"/>
              </a:rPr>
              <a:t>函数包则提供了针对性的可视化方式用于将属性数据变量映射为可视化元素，如分别针对分类</a:t>
            </a:r>
            <a:r>
              <a:rPr lang="en-US" altLang="zh-CN" kern="0" dirty="0">
                <a:latin typeface="+mn-lt"/>
                <a:ea typeface="+mn-ea"/>
                <a:cs typeface="Times New Roman" panose="02020603050405020304" pitchFamily="18" charset="0"/>
              </a:rPr>
              <a:t>(Categorical)</a:t>
            </a:r>
            <a:r>
              <a:rPr lang="zh-CN" altLang="en-US" kern="0" dirty="0">
                <a:latin typeface="+mn-lt"/>
                <a:ea typeface="+mn-ea"/>
                <a:cs typeface="Times New Roman" panose="02020603050405020304" pitchFamily="18" charset="0"/>
              </a:rPr>
              <a:t>变量、顺序（</a:t>
            </a:r>
            <a:r>
              <a:rPr lang="en-US" altLang="zh-CN" kern="0" dirty="0">
                <a:latin typeface="+mn-lt"/>
                <a:ea typeface="+mn-ea"/>
                <a:cs typeface="Times New Roman" panose="02020603050405020304" pitchFamily="18" charset="0"/>
              </a:rPr>
              <a:t>Order</a:t>
            </a:r>
            <a:r>
              <a:rPr lang="zh-CN" altLang="en-US" kern="0" dirty="0">
                <a:latin typeface="+mn-lt"/>
                <a:ea typeface="+mn-ea"/>
                <a:cs typeface="Times New Roman" panose="02020603050405020304" pitchFamily="18" charset="0"/>
              </a:rPr>
              <a:t>）变量、</a:t>
            </a:r>
            <a:r>
              <a:rPr lang="zh-CN" altLang="en-US" b="1" kern="0" dirty="0">
                <a:latin typeface="+mn-lt"/>
                <a:ea typeface="+mn-ea"/>
                <a:cs typeface="Times New Roman" panose="02020603050405020304" pitchFamily="18" charset="0"/>
              </a:rPr>
              <a:t>区间</a:t>
            </a:r>
            <a:r>
              <a:rPr lang="en-US" altLang="zh-CN" b="1" kern="0" dirty="0">
                <a:latin typeface="+mn-lt"/>
                <a:ea typeface="+mn-ea"/>
                <a:cs typeface="Times New Roman" panose="02020603050405020304" pitchFamily="18" charset="0"/>
              </a:rPr>
              <a:t>(Interval)</a:t>
            </a:r>
            <a:r>
              <a:rPr lang="zh-CN" altLang="en-US" b="1" kern="0" dirty="0">
                <a:latin typeface="+mn-lt"/>
                <a:ea typeface="+mn-ea"/>
                <a:cs typeface="Times New Roman" panose="02020603050405020304" pitchFamily="18" charset="0"/>
              </a:rPr>
              <a:t>显示</a:t>
            </a:r>
            <a:r>
              <a:rPr lang="zh-CN" altLang="en-US" kern="0" dirty="0">
                <a:latin typeface="+mn-lt"/>
                <a:ea typeface="+mn-ea"/>
                <a:cs typeface="Times New Roman" panose="02020603050405020304" pitchFamily="18" charset="0"/>
              </a:rPr>
              <a:t>和连续型</a:t>
            </a:r>
            <a:r>
              <a:rPr lang="en-US" altLang="zh-CN" kern="0" dirty="0">
                <a:latin typeface="+mn-lt"/>
                <a:ea typeface="+mn-ea"/>
                <a:cs typeface="Times New Roman" panose="02020603050405020304" pitchFamily="18" charset="0"/>
              </a:rPr>
              <a:t>(Continuous)</a:t>
            </a:r>
            <a:r>
              <a:rPr lang="zh-CN" altLang="en-US" kern="0" dirty="0">
                <a:latin typeface="+mn-lt"/>
                <a:ea typeface="+mn-ea"/>
                <a:cs typeface="Times New Roman" panose="02020603050405020304" pitchFamily="18" charset="0"/>
              </a:rPr>
              <a:t>变量。</a:t>
            </a:r>
            <a:endParaRPr lang="zh-CN" altLang="en-US" dirty="0">
              <a:latin typeface="+mn-lt"/>
              <a:ea typeface="+mn-ea"/>
            </a:endParaRPr>
          </a:p>
        </p:txBody>
      </p:sp>
      <p:sp>
        <p:nvSpPr>
          <p:cNvPr id="6" name="标题 1">
            <a:extLst>
              <a:ext uri="{FF2B5EF4-FFF2-40B4-BE49-F238E27FC236}">
                <a16:creationId xmlns:a16="http://schemas.microsoft.com/office/drawing/2014/main" id="{03DFF706-8A92-29FD-45F6-2FC2975FAED1}"/>
              </a:ext>
            </a:extLst>
          </p:cNvPr>
          <p:cNvSpPr>
            <a:spLocks noGrp="1"/>
          </p:cNvSpPr>
          <p:nvPr>
            <p:ph type="title"/>
          </p:nvPr>
        </p:nvSpPr>
        <p:spPr>
          <a:xfrm>
            <a:off x="1181101" y="342900"/>
            <a:ext cx="6896099" cy="663575"/>
          </a:xfrm>
        </p:spPr>
        <p:txBody>
          <a:bodyPr/>
          <a:lstStyle/>
          <a:p>
            <a:pPr algn="l"/>
            <a:r>
              <a:rPr lang="en-US" altLang="zh-CN" sz="3600" dirty="0"/>
              <a:t>6.3.3 </a:t>
            </a:r>
            <a:r>
              <a:rPr lang="zh-CN" altLang="en-US" sz="3600" dirty="0"/>
              <a:t>面数据</a:t>
            </a:r>
          </a:p>
        </p:txBody>
      </p:sp>
      <p:pic>
        <p:nvPicPr>
          <p:cNvPr id="3" name="图片 2">
            <a:extLst>
              <a:ext uri="{FF2B5EF4-FFF2-40B4-BE49-F238E27FC236}">
                <a16:creationId xmlns:a16="http://schemas.microsoft.com/office/drawing/2014/main" id="{5B32B47D-5CA0-4F13-DE70-A7A025E0B772}"/>
              </a:ext>
            </a:extLst>
          </p:cNvPr>
          <p:cNvPicPr>
            <a:picLocks noChangeAspect="1"/>
          </p:cNvPicPr>
          <p:nvPr/>
        </p:nvPicPr>
        <p:blipFill>
          <a:blip r:embed="rId2" cstate="print">
            <a:extLst>
              <a:ext uri="{28A0092B-C50C-407E-A947-70E740481C1C}">
                <a14:useLocalDpi xmlns:a14="http://schemas.microsoft.com/office/drawing/2010/main" val="0"/>
              </a:ext>
            </a:extLst>
          </a:blip>
          <a:srcRect t="4490" b="4490"/>
          <a:stretch/>
        </p:blipFill>
        <p:spPr>
          <a:xfrm>
            <a:off x="2486316" y="3362630"/>
            <a:ext cx="4171366" cy="3374859"/>
          </a:xfrm>
          <a:prstGeom prst="rect">
            <a:avLst/>
          </a:prstGeom>
        </p:spPr>
      </p:pic>
    </p:spTree>
    <p:extLst>
      <p:ext uri="{BB962C8B-B14F-4D97-AF65-F5344CB8AC3E}">
        <p14:creationId xmlns:p14="http://schemas.microsoft.com/office/powerpoint/2010/main" val="29189196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B016E-4394-A6DB-5BD1-66A3864D6A10}"/>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2E07EDF-326B-89F5-CA59-2E6FA14DF877}"/>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32</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8" name="矩形 7">
            <a:extLst>
              <a:ext uri="{FF2B5EF4-FFF2-40B4-BE49-F238E27FC236}">
                <a16:creationId xmlns:a16="http://schemas.microsoft.com/office/drawing/2014/main" id="{E1EA7A6C-BE04-A911-9476-5D0DC1823B4C}"/>
              </a:ext>
            </a:extLst>
          </p:cNvPr>
          <p:cNvSpPr/>
          <p:nvPr/>
        </p:nvSpPr>
        <p:spPr>
          <a:xfrm>
            <a:off x="906235" y="2541764"/>
            <a:ext cx="7331529" cy="810478"/>
          </a:xfrm>
          <a:prstGeom prst="rect">
            <a:avLst/>
          </a:prstGeom>
        </p:spPr>
        <p:txBody>
          <a:bodyPr wrap="square">
            <a:spAutoFit/>
          </a:bodyPr>
          <a:lstStyle/>
          <a:p>
            <a:pPr marL="0" marR="0" indent="0" algn="l">
              <a:lnSpc>
                <a:spcPts val="1425"/>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map_continuous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tm_polygons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style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cont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title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"Continuous Scale"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tmap_save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map_continuous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"map_continuous.png"</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width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18</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height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16</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units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"cm"</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dpi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0" name="矩形 9">
            <a:extLst>
              <a:ext uri="{FF2B5EF4-FFF2-40B4-BE49-F238E27FC236}">
                <a16:creationId xmlns:a16="http://schemas.microsoft.com/office/drawing/2014/main" id="{E5A5F7AE-0F2C-9C23-0C46-2D98AFE90CAC}"/>
              </a:ext>
            </a:extLst>
          </p:cNvPr>
          <p:cNvSpPr/>
          <p:nvPr/>
        </p:nvSpPr>
        <p:spPr>
          <a:xfrm>
            <a:off x="352424" y="1173530"/>
            <a:ext cx="8439152" cy="1289712"/>
          </a:xfrm>
          <a:prstGeom prst="rect">
            <a:avLst/>
          </a:prstGeom>
        </p:spPr>
        <p:txBody>
          <a:bodyPr wrap="square">
            <a:spAutoFit/>
          </a:bodyPr>
          <a:lstStyle/>
          <a:p>
            <a:pPr indent="457200" algn="just">
              <a:lnSpc>
                <a:spcPct val="150000"/>
              </a:lnSpc>
            </a:pPr>
            <a:r>
              <a:rPr lang="en-US" altLang="zh-CN" kern="0" dirty="0" err="1">
                <a:latin typeface="+mn-lt"/>
                <a:ea typeface="+mn-ea"/>
                <a:cs typeface="Times New Roman" panose="02020603050405020304" pitchFamily="18" charset="0"/>
              </a:rPr>
              <a:t>tmap</a:t>
            </a:r>
            <a:r>
              <a:rPr lang="zh-CN" altLang="en-US" kern="0" dirty="0">
                <a:latin typeface="+mn-lt"/>
                <a:ea typeface="+mn-ea"/>
                <a:cs typeface="Times New Roman" panose="02020603050405020304" pitchFamily="18" charset="0"/>
              </a:rPr>
              <a:t>函数包则提供了针对性的可视化方式用于将属性数据变量映射为可视化元素，如分别针对分类</a:t>
            </a:r>
            <a:r>
              <a:rPr lang="en-US" altLang="zh-CN" kern="0" dirty="0">
                <a:latin typeface="+mn-lt"/>
                <a:ea typeface="+mn-ea"/>
                <a:cs typeface="Times New Roman" panose="02020603050405020304" pitchFamily="18" charset="0"/>
              </a:rPr>
              <a:t>(Categorical)</a:t>
            </a:r>
            <a:r>
              <a:rPr lang="zh-CN" altLang="en-US" kern="0" dirty="0">
                <a:latin typeface="+mn-lt"/>
                <a:ea typeface="+mn-ea"/>
                <a:cs typeface="Times New Roman" panose="02020603050405020304" pitchFamily="18" charset="0"/>
              </a:rPr>
              <a:t>变量、顺序（</a:t>
            </a:r>
            <a:r>
              <a:rPr lang="en-US" altLang="zh-CN" kern="0" dirty="0">
                <a:latin typeface="+mn-lt"/>
                <a:ea typeface="+mn-ea"/>
                <a:cs typeface="Times New Roman" panose="02020603050405020304" pitchFamily="18" charset="0"/>
              </a:rPr>
              <a:t>Order</a:t>
            </a:r>
            <a:r>
              <a:rPr lang="zh-CN" altLang="en-US" kern="0" dirty="0">
                <a:latin typeface="+mn-lt"/>
                <a:ea typeface="+mn-ea"/>
                <a:cs typeface="Times New Roman" panose="02020603050405020304" pitchFamily="18" charset="0"/>
              </a:rPr>
              <a:t>）变量、区间</a:t>
            </a:r>
            <a:r>
              <a:rPr lang="en-US" altLang="zh-CN" kern="0" dirty="0">
                <a:latin typeface="+mn-lt"/>
                <a:ea typeface="+mn-ea"/>
                <a:cs typeface="Times New Roman" panose="02020603050405020304" pitchFamily="18" charset="0"/>
              </a:rPr>
              <a:t>(Interval)</a:t>
            </a:r>
            <a:r>
              <a:rPr lang="zh-CN" altLang="en-US" kern="0" dirty="0">
                <a:latin typeface="+mn-lt"/>
                <a:ea typeface="+mn-ea"/>
                <a:cs typeface="Times New Roman" panose="02020603050405020304" pitchFamily="18" charset="0"/>
              </a:rPr>
              <a:t>显示和</a:t>
            </a:r>
            <a:r>
              <a:rPr lang="zh-CN" altLang="en-US" b="1" kern="0" dirty="0">
                <a:latin typeface="+mn-lt"/>
                <a:ea typeface="+mn-ea"/>
                <a:cs typeface="Times New Roman" panose="02020603050405020304" pitchFamily="18" charset="0"/>
              </a:rPr>
              <a:t>连续型</a:t>
            </a:r>
            <a:r>
              <a:rPr lang="en-US" altLang="zh-CN" b="1" kern="0" dirty="0">
                <a:latin typeface="+mn-lt"/>
                <a:ea typeface="+mn-ea"/>
                <a:cs typeface="Times New Roman" panose="02020603050405020304" pitchFamily="18" charset="0"/>
              </a:rPr>
              <a:t>(Continuous)</a:t>
            </a:r>
            <a:r>
              <a:rPr lang="zh-CN" altLang="en-US" b="1" kern="0" dirty="0">
                <a:latin typeface="+mn-lt"/>
                <a:ea typeface="+mn-ea"/>
                <a:cs typeface="Times New Roman" panose="02020603050405020304" pitchFamily="18" charset="0"/>
              </a:rPr>
              <a:t>变量</a:t>
            </a:r>
            <a:r>
              <a:rPr lang="zh-CN" altLang="en-US" kern="0" dirty="0">
                <a:latin typeface="+mn-lt"/>
                <a:ea typeface="+mn-ea"/>
                <a:cs typeface="Times New Roman" panose="02020603050405020304" pitchFamily="18" charset="0"/>
              </a:rPr>
              <a:t>。</a:t>
            </a:r>
            <a:endParaRPr lang="zh-CN" altLang="en-US" dirty="0">
              <a:latin typeface="+mn-lt"/>
              <a:ea typeface="+mn-ea"/>
            </a:endParaRPr>
          </a:p>
        </p:txBody>
      </p:sp>
      <p:sp>
        <p:nvSpPr>
          <p:cNvPr id="6" name="标题 1">
            <a:extLst>
              <a:ext uri="{FF2B5EF4-FFF2-40B4-BE49-F238E27FC236}">
                <a16:creationId xmlns:a16="http://schemas.microsoft.com/office/drawing/2014/main" id="{1702F500-92DB-F128-4C98-342AA1620D01}"/>
              </a:ext>
            </a:extLst>
          </p:cNvPr>
          <p:cNvSpPr>
            <a:spLocks noGrp="1"/>
          </p:cNvSpPr>
          <p:nvPr>
            <p:ph type="title"/>
          </p:nvPr>
        </p:nvSpPr>
        <p:spPr>
          <a:xfrm>
            <a:off x="1181101" y="342900"/>
            <a:ext cx="6896099" cy="663575"/>
          </a:xfrm>
        </p:spPr>
        <p:txBody>
          <a:bodyPr/>
          <a:lstStyle/>
          <a:p>
            <a:pPr algn="l"/>
            <a:r>
              <a:rPr lang="en-US" altLang="zh-CN" sz="3600" dirty="0"/>
              <a:t>6.3.3 </a:t>
            </a:r>
            <a:r>
              <a:rPr lang="zh-CN" altLang="en-US" sz="3600" dirty="0"/>
              <a:t>面数据</a:t>
            </a:r>
          </a:p>
        </p:txBody>
      </p:sp>
      <p:pic>
        <p:nvPicPr>
          <p:cNvPr id="2" name="图片 1">
            <a:extLst>
              <a:ext uri="{FF2B5EF4-FFF2-40B4-BE49-F238E27FC236}">
                <a16:creationId xmlns:a16="http://schemas.microsoft.com/office/drawing/2014/main" id="{AD7E1CDE-802C-6FE4-FAF2-D7F7082D46CF}"/>
              </a:ext>
            </a:extLst>
          </p:cNvPr>
          <p:cNvPicPr>
            <a:picLocks noChangeAspect="1"/>
          </p:cNvPicPr>
          <p:nvPr/>
        </p:nvPicPr>
        <p:blipFill>
          <a:blip r:embed="rId2" cstate="print">
            <a:extLst>
              <a:ext uri="{28A0092B-C50C-407E-A947-70E740481C1C}">
                <a14:useLocalDpi xmlns:a14="http://schemas.microsoft.com/office/drawing/2010/main" val="0"/>
              </a:ext>
            </a:extLst>
          </a:blip>
          <a:srcRect t="4490" b="4490"/>
          <a:stretch/>
        </p:blipFill>
        <p:spPr>
          <a:xfrm>
            <a:off x="2497909" y="3352242"/>
            <a:ext cx="4148180" cy="3356101"/>
          </a:xfrm>
          <a:prstGeom prst="rect">
            <a:avLst/>
          </a:prstGeom>
        </p:spPr>
      </p:pic>
    </p:spTree>
    <p:extLst>
      <p:ext uri="{BB962C8B-B14F-4D97-AF65-F5344CB8AC3E}">
        <p14:creationId xmlns:p14="http://schemas.microsoft.com/office/powerpoint/2010/main" val="11542221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33</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10" name="矩形 9">
            <a:extLst>
              <a:ext uri="{FF2B5EF4-FFF2-40B4-BE49-F238E27FC236}">
                <a16:creationId xmlns:a16="http://schemas.microsoft.com/office/drawing/2014/main" id="{AAF50C3D-BE27-4BD7-8C18-90EE9107C004}"/>
              </a:ext>
            </a:extLst>
          </p:cNvPr>
          <p:cNvSpPr/>
          <p:nvPr/>
        </p:nvSpPr>
        <p:spPr>
          <a:xfrm>
            <a:off x="400050" y="1133929"/>
            <a:ext cx="8343900" cy="874214"/>
          </a:xfrm>
          <a:prstGeom prst="rect">
            <a:avLst/>
          </a:prstGeom>
        </p:spPr>
        <p:txBody>
          <a:bodyPr wrap="square">
            <a:spAutoFit/>
          </a:bodyPr>
          <a:lstStyle/>
          <a:p>
            <a:pPr indent="457200">
              <a:lnSpc>
                <a:spcPct val="150000"/>
              </a:lnSpc>
            </a:pPr>
            <a:r>
              <a:rPr lang="zh-CN" altLang="en-US" kern="0" dirty="0">
                <a:latin typeface="+mn-lt"/>
                <a:ea typeface="+mn-ea"/>
                <a:cs typeface="Times New Roman" panose="02020603050405020304" pitchFamily="18" charset="0"/>
              </a:rPr>
              <a:t>在函数包</a:t>
            </a:r>
            <a:r>
              <a:rPr lang="en-US" altLang="zh-CN" kern="0" dirty="0" err="1">
                <a:latin typeface="+mn-lt"/>
                <a:ea typeface="+mn-ea"/>
                <a:cs typeface="Times New Roman" panose="02020603050405020304" pitchFamily="18" charset="0"/>
              </a:rPr>
              <a:t>tmap</a:t>
            </a:r>
            <a:r>
              <a:rPr lang="zh-CN" altLang="en-US" kern="0" dirty="0">
                <a:latin typeface="+mn-lt"/>
                <a:ea typeface="+mn-ea"/>
                <a:cs typeface="Times New Roman" panose="02020603050405020304" pitchFamily="18" charset="0"/>
              </a:rPr>
              <a:t>中，提供了丰富的地图绘制</a:t>
            </a:r>
            <a:r>
              <a:rPr lang="en-US" altLang="zh-CN" kern="0" dirty="0">
                <a:latin typeface="+mn-lt"/>
                <a:ea typeface="+mn-ea"/>
                <a:cs typeface="Times New Roman" panose="02020603050405020304" pitchFamily="18" charset="0"/>
              </a:rPr>
              <a:t>=</a:t>
            </a:r>
            <a:r>
              <a:rPr lang="zh-CN" altLang="en-US" kern="0" dirty="0">
                <a:latin typeface="+mn-lt"/>
                <a:ea typeface="+mn-ea"/>
                <a:cs typeface="Times New Roman" panose="02020603050405020304" pitchFamily="18" charset="0"/>
              </a:rPr>
              <a:t>风格，可通过</a:t>
            </a:r>
            <a:r>
              <a:rPr lang="en-US" altLang="zh-CN" kern="0" dirty="0" err="1">
                <a:latin typeface="+mn-lt"/>
                <a:ea typeface="+mn-ea"/>
                <a:cs typeface="Times New Roman" panose="02020603050405020304" pitchFamily="18" charset="0"/>
              </a:rPr>
              <a:t>tmap_style</a:t>
            </a:r>
            <a:r>
              <a:rPr lang="en-US" altLang="zh-CN" kern="0" dirty="0">
                <a:latin typeface="+mn-lt"/>
                <a:ea typeface="+mn-ea"/>
                <a:cs typeface="Times New Roman" panose="02020603050405020304" pitchFamily="18" charset="0"/>
              </a:rPr>
              <a:t>()</a:t>
            </a:r>
            <a:r>
              <a:rPr lang="zh-CN" altLang="en-US" kern="0" dirty="0">
                <a:latin typeface="+mn-lt"/>
                <a:ea typeface="+mn-ea"/>
                <a:cs typeface="Times New Roman" panose="02020603050405020304" pitchFamily="18" charset="0"/>
              </a:rPr>
              <a:t>函数设置全局的绘图风格。</a:t>
            </a:r>
            <a:endParaRPr lang="zh-CN" altLang="en-US" dirty="0">
              <a:latin typeface="+mn-lt"/>
              <a:ea typeface="+mn-ea"/>
            </a:endParaRPr>
          </a:p>
        </p:txBody>
      </p:sp>
      <p:sp>
        <p:nvSpPr>
          <p:cNvPr id="3" name="矩形 2">
            <a:extLst>
              <a:ext uri="{FF2B5EF4-FFF2-40B4-BE49-F238E27FC236}">
                <a16:creationId xmlns:a16="http://schemas.microsoft.com/office/drawing/2014/main" id="{7FB582BD-C828-445C-9C18-DC450B725934}"/>
              </a:ext>
            </a:extLst>
          </p:cNvPr>
          <p:cNvSpPr/>
          <p:nvPr/>
        </p:nvSpPr>
        <p:spPr>
          <a:xfrm>
            <a:off x="1752600" y="1981200"/>
            <a:ext cx="5676899" cy="1349087"/>
          </a:xfrm>
          <a:prstGeom prst="rect">
            <a:avLst/>
          </a:prstGeom>
        </p:spPr>
        <p:txBody>
          <a:bodyPr wrap="square">
            <a:spAutoFit/>
          </a:bodyPr>
          <a:lstStyle/>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tmap_style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"classic"</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classic_sty</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 +</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tm_polygons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title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"Average HP"</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tm_legend</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(position = c(</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"right"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"bottom"</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text.size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0.8</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tm_scale_bar</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(position = c(</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"left"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"bottom"</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tm_compass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(position = c(</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"right"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"top"</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size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indent="304800">
              <a:lnSpc>
                <a:spcPts val="1425"/>
              </a:lnSpc>
              <a:spcAft>
                <a:spcPts val="0"/>
              </a:spcAft>
            </a:pPr>
            <a:endParaRPr lang="zh-CN"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11" name="图片 10">
            <a:extLst>
              <a:ext uri="{FF2B5EF4-FFF2-40B4-BE49-F238E27FC236}">
                <a16:creationId xmlns:a16="http://schemas.microsoft.com/office/drawing/2014/main" id="{556B901E-F595-464B-BE73-9993FF189388}"/>
              </a:ext>
            </a:extLst>
          </p:cNvPr>
          <p:cNvPicPr/>
          <p:nvPr/>
        </p:nvPicPr>
        <p:blipFill rotWithShape="1">
          <a:blip r:embed="rId2" cstate="print">
            <a:extLst>
              <a:ext uri="{28A0092B-C50C-407E-A947-70E740481C1C}">
                <a14:useLocalDpi xmlns:a14="http://schemas.microsoft.com/office/drawing/2010/main" val="0"/>
              </a:ext>
            </a:extLst>
          </a:blip>
          <a:srcRect t="5351" b="5009"/>
          <a:stretch/>
        </p:blipFill>
        <p:spPr bwMode="auto">
          <a:xfrm>
            <a:off x="2438400" y="3200401"/>
            <a:ext cx="4286250" cy="3571464"/>
          </a:xfrm>
          <a:prstGeom prst="rect">
            <a:avLst/>
          </a:prstGeom>
          <a:noFill/>
          <a:ln>
            <a:noFill/>
          </a:ln>
          <a:extLst>
            <a:ext uri="{53640926-AAD7-44D8-BBD7-CCE9431645EC}">
              <a14:shadowObscured xmlns:a14="http://schemas.microsoft.com/office/drawing/2010/main"/>
            </a:ext>
          </a:extLst>
        </p:spPr>
      </p:pic>
      <p:sp>
        <p:nvSpPr>
          <p:cNvPr id="7" name="标题 1">
            <a:extLst>
              <a:ext uri="{FF2B5EF4-FFF2-40B4-BE49-F238E27FC236}">
                <a16:creationId xmlns:a16="http://schemas.microsoft.com/office/drawing/2014/main" id="{510AF9C2-72DE-77DF-DF88-089482471FD0}"/>
              </a:ext>
            </a:extLst>
          </p:cNvPr>
          <p:cNvSpPr>
            <a:spLocks noGrp="1"/>
          </p:cNvSpPr>
          <p:nvPr>
            <p:ph type="title"/>
          </p:nvPr>
        </p:nvSpPr>
        <p:spPr>
          <a:xfrm>
            <a:off x="1181101" y="342900"/>
            <a:ext cx="6896099" cy="663575"/>
          </a:xfrm>
        </p:spPr>
        <p:txBody>
          <a:bodyPr/>
          <a:lstStyle/>
          <a:p>
            <a:pPr algn="l"/>
            <a:r>
              <a:rPr lang="en-US" altLang="zh-CN" sz="3600" dirty="0"/>
              <a:t>6.3.3 </a:t>
            </a:r>
            <a:r>
              <a:rPr lang="zh-CN" altLang="en-US" sz="3600" dirty="0"/>
              <a:t>面数据</a:t>
            </a:r>
          </a:p>
        </p:txBody>
      </p:sp>
    </p:spTree>
    <p:extLst>
      <p:ext uri="{BB962C8B-B14F-4D97-AF65-F5344CB8AC3E}">
        <p14:creationId xmlns:p14="http://schemas.microsoft.com/office/powerpoint/2010/main" val="8067200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8AE0B-2678-E341-51D4-2B5B83EF276C}"/>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39244BA-ED8E-D061-9FB3-2A27172F0348}"/>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34</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10" name="矩形 9">
            <a:extLst>
              <a:ext uri="{FF2B5EF4-FFF2-40B4-BE49-F238E27FC236}">
                <a16:creationId xmlns:a16="http://schemas.microsoft.com/office/drawing/2014/main" id="{288D2B94-8B99-DE12-AEF7-D8AE371264ED}"/>
              </a:ext>
            </a:extLst>
          </p:cNvPr>
          <p:cNvSpPr/>
          <p:nvPr/>
        </p:nvSpPr>
        <p:spPr>
          <a:xfrm>
            <a:off x="400050" y="1133929"/>
            <a:ext cx="8343900" cy="874214"/>
          </a:xfrm>
          <a:prstGeom prst="rect">
            <a:avLst/>
          </a:prstGeom>
        </p:spPr>
        <p:txBody>
          <a:bodyPr wrap="square">
            <a:spAutoFit/>
          </a:bodyPr>
          <a:lstStyle/>
          <a:p>
            <a:pPr indent="457200">
              <a:lnSpc>
                <a:spcPct val="150000"/>
              </a:lnSpc>
            </a:pPr>
            <a:r>
              <a:rPr lang="zh-CN" altLang="en-US" kern="0" dirty="0">
                <a:latin typeface="+mn-lt"/>
                <a:ea typeface="+mn-ea"/>
                <a:cs typeface="Times New Roman" panose="02020603050405020304" pitchFamily="18" charset="0"/>
              </a:rPr>
              <a:t>在函数包</a:t>
            </a:r>
            <a:r>
              <a:rPr lang="en-US" altLang="zh-CN" kern="0" dirty="0" err="1">
                <a:latin typeface="+mn-lt"/>
                <a:ea typeface="+mn-ea"/>
                <a:cs typeface="Times New Roman" panose="02020603050405020304" pitchFamily="18" charset="0"/>
              </a:rPr>
              <a:t>tmap</a:t>
            </a:r>
            <a:r>
              <a:rPr lang="zh-CN" altLang="en-US" kern="0" dirty="0">
                <a:latin typeface="+mn-lt"/>
                <a:ea typeface="+mn-ea"/>
                <a:cs typeface="Times New Roman" panose="02020603050405020304" pitchFamily="18" charset="0"/>
              </a:rPr>
              <a:t>中，提供了丰富的地图绘制</a:t>
            </a:r>
            <a:r>
              <a:rPr lang="en-US" altLang="zh-CN" kern="0" dirty="0">
                <a:latin typeface="+mn-lt"/>
                <a:ea typeface="+mn-ea"/>
                <a:cs typeface="Times New Roman" panose="02020603050405020304" pitchFamily="18" charset="0"/>
              </a:rPr>
              <a:t>=</a:t>
            </a:r>
            <a:r>
              <a:rPr lang="zh-CN" altLang="en-US" kern="0" dirty="0">
                <a:latin typeface="+mn-lt"/>
                <a:ea typeface="+mn-ea"/>
                <a:cs typeface="Times New Roman" panose="02020603050405020304" pitchFamily="18" charset="0"/>
              </a:rPr>
              <a:t>风格，可通过</a:t>
            </a:r>
            <a:r>
              <a:rPr lang="en-US" altLang="zh-CN" kern="0" dirty="0" err="1">
                <a:latin typeface="+mn-lt"/>
                <a:ea typeface="+mn-ea"/>
                <a:cs typeface="Times New Roman" panose="02020603050405020304" pitchFamily="18" charset="0"/>
              </a:rPr>
              <a:t>tmap_style</a:t>
            </a:r>
            <a:r>
              <a:rPr lang="en-US" altLang="zh-CN" kern="0" dirty="0">
                <a:latin typeface="+mn-lt"/>
                <a:ea typeface="+mn-ea"/>
                <a:cs typeface="Times New Roman" panose="02020603050405020304" pitchFamily="18" charset="0"/>
              </a:rPr>
              <a:t>()</a:t>
            </a:r>
            <a:r>
              <a:rPr lang="zh-CN" altLang="en-US" kern="0" dirty="0">
                <a:latin typeface="+mn-lt"/>
                <a:ea typeface="+mn-ea"/>
                <a:cs typeface="Times New Roman" panose="02020603050405020304" pitchFamily="18" charset="0"/>
              </a:rPr>
              <a:t>函数设置全局的绘图风格。</a:t>
            </a:r>
            <a:endParaRPr lang="zh-CN" altLang="en-US" dirty="0">
              <a:latin typeface="+mn-lt"/>
              <a:ea typeface="+mn-ea"/>
            </a:endParaRPr>
          </a:p>
        </p:txBody>
      </p:sp>
      <p:sp>
        <p:nvSpPr>
          <p:cNvPr id="3" name="矩形 2">
            <a:extLst>
              <a:ext uri="{FF2B5EF4-FFF2-40B4-BE49-F238E27FC236}">
                <a16:creationId xmlns:a16="http://schemas.microsoft.com/office/drawing/2014/main" id="{FEFCEAAB-DDCF-50D5-1809-DF931F60462B}"/>
              </a:ext>
            </a:extLst>
          </p:cNvPr>
          <p:cNvSpPr/>
          <p:nvPr/>
        </p:nvSpPr>
        <p:spPr>
          <a:xfrm>
            <a:off x="1828800" y="1981200"/>
            <a:ext cx="5524500" cy="1169551"/>
          </a:xfrm>
          <a:prstGeom prst="rect">
            <a:avLst/>
          </a:prstGeom>
        </p:spPr>
        <p:txBody>
          <a:bodyPr wrap="square">
            <a:spAutoFit/>
          </a:bodyPr>
          <a:lstStyle/>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gray_sty</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tm_polygons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title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"Average HP"</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tm_legend</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(position = c(</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"right"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"bottom"</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text.size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0.8</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tm_scale_bar</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(position = c(</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"left"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"bottom"</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tm_compass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(position = c(</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"right"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"top"</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size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tm_style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"gray"</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p>
        </p:txBody>
      </p:sp>
      <p:sp>
        <p:nvSpPr>
          <p:cNvPr id="7" name="标题 1">
            <a:extLst>
              <a:ext uri="{FF2B5EF4-FFF2-40B4-BE49-F238E27FC236}">
                <a16:creationId xmlns:a16="http://schemas.microsoft.com/office/drawing/2014/main" id="{9414F691-C6F0-0882-1ADF-492A84617270}"/>
              </a:ext>
            </a:extLst>
          </p:cNvPr>
          <p:cNvSpPr>
            <a:spLocks noGrp="1"/>
          </p:cNvSpPr>
          <p:nvPr>
            <p:ph type="title"/>
          </p:nvPr>
        </p:nvSpPr>
        <p:spPr>
          <a:xfrm>
            <a:off x="1181101" y="342900"/>
            <a:ext cx="6896099" cy="663575"/>
          </a:xfrm>
        </p:spPr>
        <p:txBody>
          <a:bodyPr/>
          <a:lstStyle/>
          <a:p>
            <a:pPr algn="l"/>
            <a:r>
              <a:rPr lang="en-US" altLang="zh-CN" sz="3600" dirty="0"/>
              <a:t>6.3.3 </a:t>
            </a:r>
            <a:r>
              <a:rPr lang="zh-CN" altLang="en-US" sz="3600" dirty="0"/>
              <a:t>面数据</a:t>
            </a:r>
          </a:p>
        </p:txBody>
      </p:sp>
      <p:pic>
        <p:nvPicPr>
          <p:cNvPr id="2" name="图片 1">
            <a:extLst>
              <a:ext uri="{FF2B5EF4-FFF2-40B4-BE49-F238E27FC236}">
                <a16:creationId xmlns:a16="http://schemas.microsoft.com/office/drawing/2014/main" id="{1CD11569-65B9-21B1-BA7A-2147AD183799}"/>
              </a:ext>
            </a:extLst>
          </p:cNvPr>
          <p:cNvPicPr>
            <a:picLocks noChangeAspect="1"/>
          </p:cNvPicPr>
          <p:nvPr/>
        </p:nvPicPr>
        <p:blipFill>
          <a:blip r:embed="rId2" cstate="print">
            <a:extLst>
              <a:ext uri="{28A0092B-C50C-407E-A947-70E740481C1C}">
                <a14:useLocalDpi xmlns:a14="http://schemas.microsoft.com/office/drawing/2010/main" val="0"/>
              </a:ext>
            </a:extLst>
          </a:blip>
          <a:srcRect t="4490" b="4490"/>
          <a:stretch/>
        </p:blipFill>
        <p:spPr>
          <a:xfrm>
            <a:off x="2431572" y="3162300"/>
            <a:ext cx="4280856" cy="3657600"/>
          </a:xfrm>
          <a:prstGeom prst="rect">
            <a:avLst/>
          </a:prstGeom>
        </p:spPr>
      </p:pic>
    </p:spTree>
    <p:extLst>
      <p:ext uri="{BB962C8B-B14F-4D97-AF65-F5344CB8AC3E}">
        <p14:creationId xmlns:p14="http://schemas.microsoft.com/office/powerpoint/2010/main" val="19362778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E9093-F237-622D-C48B-9BB716A7D7E9}"/>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D62294A-C2C3-209B-E9EB-F4369AD3EE7A}"/>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35</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10" name="矩形 9">
            <a:extLst>
              <a:ext uri="{FF2B5EF4-FFF2-40B4-BE49-F238E27FC236}">
                <a16:creationId xmlns:a16="http://schemas.microsoft.com/office/drawing/2014/main" id="{B0267A03-DA9E-5DBB-3493-0B9AF3F903E5}"/>
              </a:ext>
            </a:extLst>
          </p:cNvPr>
          <p:cNvSpPr/>
          <p:nvPr/>
        </p:nvSpPr>
        <p:spPr>
          <a:xfrm>
            <a:off x="400050" y="1133929"/>
            <a:ext cx="8343900" cy="874214"/>
          </a:xfrm>
          <a:prstGeom prst="rect">
            <a:avLst/>
          </a:prstGeom>
        </p:spPr>
        <p:txBody>
          <a:bodyPr wrap="square">
            <a:spAutoFit/>
          </a:bodyPr>
          <a:lstStyle/>
          <a:p>
            <a:pPr indent="457200">
              <a:lnSpc>
                <a:spcPct val="150000"/>
              </a:lnSpc>
            </a:pPr>
            <a:r>
              <a:rPr lang="zh-CN" altLang="en-US" kern="0" dirty="0">
                <a:latin typeface="+mn-lt"/>
                <a:ea typeface="+mn-ea"/>
                <a:cs typeface="Times New Roman" panose="02020603050405020304" pitchFamily="18" charset="0"/>
              </a:rPr>
              <a:t>在函数包</a:t>
            </a:r>
            <a:r>
              <a:rPr lang="en-US" altLang="zh-CN" kern="0" dirty="0" err="1">
                <a:latin typeface="+mn-lt"/>
                <a:ea typeface="+mn-ea"/>
                <a:cs typeface="Times New Roman" panose="02020603050405020304" pitchFamily="18" charset="0"/>
              </a:rPr>
              <a:t>tmap</a:t>
            </a:r>
            <a:r>
              <a:rPr lang="zh-CN" altLang="en-US" kern="0" dirty="0">
                <a:latin typeface="+mn-lt"/>
                <a:ea typeface="+mn-ea"/>
                <a:cs typeface="Times New Roman" panose="02020603050405020304" pitchFamily="18" charset="0"/>
              </a:rPr>
              <a:t>中，提供了丰富的地图绘制</a:t>
            </a:r>
            <a:r>
              <a:rPr lang="en-US" altLang="zh-CN" kern="0" dirty="0">
                <a:latin typeface="+mn-lt"/>
                <a:ea typeface="+mn-ea"/>
                <a:cs typeface="Times New Roman" panose="02020603050405020304" pitchFamily="18" charset="0"/>
              </a:rPr>
              <a:t>=</a:t>
            </a:r>
            <a:r>
              <a:rPr lang="zh-CN" altLang="en-US" kern="0" dirty="0">
                <a:latin typeface="+mn-lt"/>
                <a:ea typeface="+mn-ea"/>
                <a:cs typeface="Times New Roman" panose="02020603050405020304" pitchFamily="18" charset="0"/>
              </a:rPr>
              <a:t>风格，可通过</a:t>
            </a:r>
            <a:r>
              <a:rPr lang="en-US" altLang="zh-CN" kern="0" dirty="0" err="1">
                <a:latin typeface="+mn-lt"/>
                <a:ea typeface="+mn-ea"/>
                <a:cs typeface="Times New Roman" panose="02020603050405020304" pitchFamily="18" charset="0"/>
              </a:rPr>
              <a:t>tmap_style</a:t>
            </a:r>
            <a:r>
              <a:rPr lang="en-US" altLang="zh-CN" kern="0" dirty="0">
                <a:latin typeface="+mn-lt"/>
                <a:ea typeface="+mn-ea"/>
                <a:cs typeface="Times New Roman" panose="02020603050405020304" pitchFamily="18" charset="0"/>
              </a:rPr>
              <a:t>()</a:t>
            </a:r>
            <a:r>
              <a:rPr lang="zh-CN" altLang="en-US" kern="0" dirty="0">
                <a:latin typeface="+mn-lt"/>
                <a:ea typeface="+mn-ea"/>
                <a:cs typeface="Times New Roman" panose="02020603050405020304" pitchFamily="18" charset="0"/>
              </a:rPr>
              <a:t>函数设置全局的绘图风格。</a:t>
            </a:r>
            <a:endParaRPr lang="zh-CN" altLang="en-US" dirty="0">
              <a:latin typeface="+mn-lt"/>
              <a:ea typeface="+mn-ea"/>
            </a:endParaRPr>
          </a:p>
        </p:txBody>
      </p:sp>
      <p:sp>
        <p:nvSpPr>
          <p:cNvPr id="3" name="矩形 2">
            <a:extLst>
              <a:ext uri="{FF2B5EF4-FFF2-40B4-BE49-F238E27FC236}">
                <a16:creationId xmlns:a16="http://schemas.microsoft.com/office/drawing/2014/main" id="{3BF8302E-35C9-0732-3996-D6686440CEFB}"/>
              </a:ext>
            </a:extLst>
          </p:cNvPr>
          <p:cNvSpPr/>
          <p:nvPr/>
        </p:nvSpPr>
        <p:spPr>
          <a:xfrm>
            <a:off x="1828800" y="1981200"/>
            <a:ext cx="5524500" cy="1169551"/>
          </a:xfrm>
          <a:prstGeom prst="rect">
            <a:avLst/>
          </a:prstGeom>
        </p:spPr>
        <p:txBody>
          <a:bodyPr wrap="square">
            <a:spAutoFit/>
          </a:bodyPr>
          <a:lstStyle/>
          <a:p>
            <a:pPr marL="0" marR="0" indent="0" algn="l">
              <a:lnSpc>
                <a:spcPts val="1425"/>
              </a:lnSpc>
              <a:buNone/>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natural_sty</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tm_shape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tm_polygons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title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"Average HP"</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tm_legend</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(position = c(</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"right"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"bottom"</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text.size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0.8</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tm_scale_bar</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(position = c(</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"left"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"bottom"</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tm_compass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(position = c(</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"right"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"top"</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size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tm_style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"natural"</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7" name="标题 1">
            <a:extLst>
              <a:ext uri="{FF2B5EF4-FFF2-40B4-BE49-F238E27FC236}">
                <a16:creationId xmlns:a16="http://schemas.microsoft.com/office/drawing/2014/main" id="{6BBB04E2-DB15-8993-863B-92EE2ED5528D}"/>
              </a:ext>
            </a:extLst>
          </p:cNvPr>
          <p:cNvSpPr>
            <a:spLocks noGrp="1"/>
          </p:cNvSpPr>
          <p:nvPr>
            <p:ph type="title"/>
          </p:nvPr>
        </p:nvSpPr>
        <p:spPr>
          <a:xfrm>
            <a:off x="1181101" y="342900"/>
            <a:ext cx="6896099" cy="663575"/>
          </a:xfrm>
        </p:spPr>
        <p:txBody>
          <a:bodyPr/>
          <a:lstStyle/>
          <a:p>
            <a:pPr algn="l"/>
            <a:r>
              <a:rPr lang="en-US" altLang="zh-CN" sz="3600" dirty="0"/>
              <a:t>6.3.3 </a:t>
            </a:r>
            <a:r>
              <a:rPr lang="zh-CN" altLang="en-US" sz="3600" dirty="0"/>
              <a:t>面数据</a:t>
            </a:r>
          </a:p>
        </p:txBody>
      </p:sp>
      <p:pic>
        <p:nvPicPr>
          <p:cNvPr id="5" name="图片 4">
            <a:extLst>
              <a:ext uri="{FF2B5EF4-FFF2-40B4-BE49-F238E27FC236}">
                <a16:creationId xmlns:a16="http://schemas.microsoft.com/office/drawing/2014/main" id="{96E85DA6-9486-47F6-8855-7B18FA1F43B7}"/>
              </a:ext>
            </a:extLst>
          </p:cNvPr>
          <p:cNvPicPr/>
          <p:nvPr/>
        </p:nvPicPr>
        <p:blipFill rotWithShape="1">
          <a:blip r:embed="rId2" cstate="print">
            <a:extLst>
              <a:ext uri="{28A0092B-C50C-407E-A947-70E740481C1C}">
                <a14:useLocalDpi xmlns:a14="http://schemas.microsoft.com/office/drawing/2010/main" val="0"/>
              </a:ext>
            </a:extLst>
          </a:blip>
          <a:srcRect t="5485" b="4737"/>
          <a:stretch/>
        </p:blipFill>
        <p:spPr bwMode="auto">
          <a:xfrm>
            <a:off x="2438401" y="3226951"/>
            <a:ext cx="4267200" cy="359294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544524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91EEA3F0-D71F-08CF-3F41-8E6631913C9E}"/>
              </a:ext>
            </a:extLst>
          </p:cNvPr>
          <p:cNvPicPr>
            <a:picLocks noChangeAspect="1"/>
          </p:cNvPicPr>
          <p:nvPr/>
        </p:nvPicPr>
        <p:blipFill>
          <a:blip r:embed="rId2" cstate="print">
            <a:extLst>
              <a:ext uri="{28A0092B-C50C-407E-A947-70E740481C1C}">
                <a14:useLocalDpi xmlns:a14="http://schemas.microsoft.com/office/drawing/2010/main" val="0"/>
              </a:ext>
            </a:extLst>
          </a:blip>
          <a:srcRect l="19878" t="11464" r="3046" b="15692"/>
          <a:stretch/>
        </p:blipFill>
        <p:spPr>
          <a:xfrm>
            <a:off x="4668157" y="3048000"/>
            <a:ext cx="3859101" cy="2734768"/>
          </a:xfrm>
          <a:prstGeom prst="rect">
            <a:avLst/>
          </a:prstGeom>
        </p:spPr>
      </p:pic>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36</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6" name="矩形 5"/>
          <p:cNvSpPr/>
          <p:nvPr/>
        </p:nvSpPr>
        <p:spPr>
          <a:xfrm>
            <a:off x="2238979" y="1130300"/>
            <a:ext cx="4664867" cy="497765"/>
          </a:xfrm>
          <a:prstGeom prst="rect">
            <a:avLst/>
          </a:prstGeom>
        </p:spPr>
        <p:txBody>
          <a:bodyPr wrap="none">
            <a:spAutoFit/>
          </a:bodyPr>
          <a:lstStyle/>
          <a:p>
            <a:pPr algn="ctr">
              <a:lnSpc>
                <a:spcPct val="120000"/>
              </a:lnSpc>
            </a:pPr>
            <a:r>
              <a:rPr lang="zh-CN" altLang="en-US" sz="2400" b="1" dirty="0">
                <a:latin typeface="+mn-lt"/>
                <a:ea typeface="Microsoft YaHei" panose="020B0503020204020204" pitchFamily="34" charset="-122"/>
                <a:cs typeface="+mn-ea"/>
                <a:sym typeface="Consolas" panose="020B0609020204030204" pitchFamily="49" charset="0"/>
              </a:rPr>
              <a:t>函数包</a:t>
            </a:r>
            <a:r>
              <a:rPr lang="en-US" altLang="zh-CN" sz="2400" b="1" dirty="0">
                <a:latin typeface="+mn-lt"/>
                <a:ea typeface="Microsoft YaHei" panose="020B0503020204020204" pitchFamily="34" charset="-122"/>
                <a:cs typeface="+mn-ea"/>
                <a:sym typeface="Consolas" panose="020B0609020204030204" pitchFamily="49" charset="0"/>
              </a:rPr>
              <a:t>GISTools</a:t>
            </a:r>
            <a:r>
              <a:rPr lang="zh-CN" altLang="en-US" sz="2400" b="1" dirty="0">
                <a:latin typeface="+mn-lt"/>
                <a:ea typeface="Microsoft YaHei" panose="020B0503020204020204" pitchFamily="34" charset="-122"/>
                <a:cs typeface="+mn-ea"/>
                <a:sym typeface="Consolas" panose="020B0609020204030204" pitchFamily="49" charset="0"/>
              </a:rPr>
              <a:t>的</a:t>
            </a:r>
            <a:r>
              <a:rPr lang="en-US" altLang="zh-CN" sz="2400" b="1" dirty="0">
                <a:latin typeface="+mn-lt"/>
                <a:ea typeface="Microsoft YaHei" panose="020B0503020204020204" pitchFamily="34" charset="-122"/>
                <a:cs typeface="+mn-ea"/>
                <a:sym typeface="Consolas" panose="020B0609020204030204" pitchFamily="49" charset="0"/>
              </a:rPr>
              <a:t>choropleth</a:t>
            </a:r>
            <a:r>
              <a:rPr lang="zh-CN" altLang="en-US" sz="2400" b="1" dirty="0">
                <a:latin typeface="+mn-lt"/>
                <a:ea typeface="Microsoft YaHei" panose="020B0503020204020204" pitchFamily="34" charset="-122"/>
                <a:cs typeface="+mn-ea"/>
                <a:sym typeface="Consolas" panose="020B0609020204030204" pitchFamily="49" charset="0"/>
              </a:rPr>
              <a:t>函数</a:t>
            </a:r>
          </a:p>
        </p:txBody>
      </p:sp>
      <p:sp>
        <p:nvSpPr>
          <p:cNvPr id="5" name="矩形 4"/>
          <p:cNvSpPr/>
          <p:nvPr/>
        </p:nvSpPr>
        <p:spPr>
          <a:xfrm>
            <a:off x="616742" y="1790700"/>
            <a:ext cx="7955758" cy="1293367"/>
          </a:xfrm>
          <a:prstGeom prst="rect">
            <a:avLst/>
          </a:prstGeom>
        </p:spPr>
        <p:txBody>
          <a:bodyPr wrap="square">
            <a:spAutoFit/>
          </a:bodyPr>
          <a:lstStyle/>
          <a:p>
            <a:pPr indent="457200" algn="just">
              <a:lnSpc>
                <a:spcPct val="150000"/>
              </a:lnSpc>
            </a:pPr>
            <a:r>
              <a:rPr lang="zh-CN" altLang="en-US" dirty="0">
                <a:latin typeface="+mn-lt"/>
                <a:ea typeface="+mn-ea"/>
                <a:sym typeface="Consolas" panose="020B0609020204030204" pitchFamily="49" charset="0"/>
              </a:rPr>
              <a:t>在函数包</a:t>
            </a:r>
            <a:r>
              <a:rPr lang="en-US" altLang="zh-CN" dirty="0">
                <a:latin typeface="+mn-lt"/>
                <a:ea typeface="+mn-ea"/>
                <a:sym typeface="Consolas" panose="020B0609020204030204" pitchFamily="49" charset="0"/>
              </a:rPr>
              <a:t>GISTools</a:t>
            </a:r>
            <a:r>
              <a:rPr lang="zh-CN" altLang="en-US" dirty="0">
                <a:latin typeface="+mn-lt"/>
                <a:ea typeface="+mn-ea"/>
                <a:sym typeface="Consolas" panose="020B0609020204030204" pitchFamily="49" charset="0"/>
              </a:rPr>
              <a:t>中，提供了函数</a:t>
            </a:r>
            <a:r>
              <a:rPr lang="en-US" altLang="zh-CN" dirty="0">
                <a:latin typeface="+mn-lt"/>
                <a:ea typeface="+mn-ea"/>
                <a:sym typeface="Consolas" panose="020B0609020204030204" pitchFamily="49" charset="0"/>
              </a:rPr>
              <a:t>choropleth</a:t>
            </a:r>
            <a:r>
              <a:rPr lang="zh-CN" altLang="en-US" dirty="0">
                <a:latin typeface="+mn-lt"/>
                <a:ea typeface="+mn-ea"/>
                <a:sym typeface="Consolas" panose="020B0609020204030204" pitchFamily="49" charset="0"/>
              </a:rPr>
              <a:t>，专门用于多边形数据对象（</a:t>
            </a:r>
            <a:r>
              <a:rPr lang="en-US" altLang="zh-CN" dirty="0" err="1">
                <a:latin typeface="+mn-lt"/>
                <a:ea typeface="+mn-ea"/>
                <a:sym typeface="Consolas" panose="020B0609020204030204" pitchFamily="49" charset="0"/>
              </a:rPr>
              <a:t>SpatialPolygonsDataFrame</a:t>
            </a:r>
            <a:r>
              <a:rPr lang="zh-CN" altLang="en-US" dirty="0">
                <a:latin typeface="+mn-lt"/>
                <a:ea typeface="+mn-ea"/>
                <a:sym typeface="Consolas" panose="020B0609020204030204" pitchFamily="49" charset="0"/>
              </a:rPr>
              <a:t>）的专题图制作，结合</a:t>
            </a:r>
            <a:r>
              <a:rPr lang="en-US" altLang="zh-CN" dirty="0" err="1">
                <a:latin typeface="+mn-lt"/>
                <a:ea typeface="+mn-ea"/>
                <a:sym typeface="Consolas" panose="020B0609020204030204" pitchFamily="49" charset="0"/>
              </a:rPr>
              <a:t>auto.shading</a:t>
            </a:r>
            <a:r>
              <a:rPr lang="zh-CN" altLang="en-US" dirty="0">
                <a:latin typeface="+mn-lt"/>
                <a:ea typeface="+mn-ea"/>
                <a:sym typeface="Consolas" panose="020B0609020204030204" pitchFamily="49" charset="0"/>
              </a:rPr>
              <a:t>函数用来定义值域区间划分和对应颜色，</a:t>
            </a:r>
            <a:r>
              <a:rPr lang="en-US" altLang="zh-CN" dirty="0" err="1">
                <a:latin typeface="+mn-lt"/>
                <a:ea typeface="+mn-ea"/>
                <a:sym typeface="Consolas" panose="020B0609020204030204" pitchFamily="49" charset="0"/>
              </a:rPr>
              <a:t>choro.legend</a:t>
            </a:r>
            <a:r>
              <a:rPr lang="zh-CN" altLang="en-US" dirty="0">
                <a:latin typeface="+mn-lt"/>
                <a:ea typeface="+mn-ea"/>
                <a:sym typeface="Consolas" panose="020B0609020204030204" pitchFamily="49" charset="0"/>
              </a:rPr>
              <a:t>函数用来绘制对应的图例。</a:t>
            </a:r>
          </a:p>
        </p:txBody>
      </p:sp>
      <p:sp>
        <p:nvSpPr>
          <p:cNvPr id="7" name="矩形 6">
            <a:extLst>
              <a:ext uri="{FF2B5EF4-FFF2-40B4-BE49-F238E27FC236}">
                <a16:creationId xmlns:a16="http://schemas.microsoft.com/office/drawing/2014/main" id="{F37DB189-7768-4C47-91B9-F8E5FEB82560}"/>
              </a:ext>
            </a:extLst>
          </p:cNvPr>
          <p:cNvSpPr/>
          <p:nvPr/>
        </p:nvSpPr>
        <p:spPr>
          <a:xfrm>
            <a:off x="616742" y="4896406"/>
            <a:ext cx="7049088" cy="1349537"/>
          </a:xfrm>
          <a:prstGeom prst="rect">
            <a:avLst/>
          </a:prstGeom>
        </p:spPr>
        <p:txBody>
          <a:bodyPr wrap="square">
            <a:spAutoFit/>
          </a:bodyPr>
          <a:lstStyle/>
          <a:p>
            <a:pPr marL="0" marR="0" indent="0" algn="l">
              <a:lnSpc>
                <a:spcPct val="150000"/>
              </a:lnSpc>
              <a:buNone/>
            </a:pPr>
            <a:r>
              <a:rPr lang="en-US" altLang="zh-CN" sz="14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shades = </a:t>
            </a:r>
            <a:r>
              <a:rPr lang="en-US" altLang="zh-CN" sz="14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auto.shading</a:t>
            </a:r>
            <a:r>
              <a:rPr lang="en-US" altLang="zh-CN" sz="14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sz="14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4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8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sz="14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dev.new</a:t>
            </a:r>
            <a:r>
              <a:rPr lang="en-US" altLang="zh-CN" sz="14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(width = </a:t>
            </a:r>
            <a:r>
              <a:rPr lang="en-US" altLang="zh-CN" sz="14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16</a:t>
            </a:r>
            <a:r>
              <a:rPr lang="en-US" altLang="zh-CN" sz="14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height = </a:t>
            </a:r>
            <a:r>
              <a:rPr lang="en-US" altLang="zh-CN" sz="14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12</a:t>
            </a:r>
            <a:r>
              <a:rPr lang="en-US" altLang="zh-CN" sz="14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8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sz="14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choropleth(</a:t>
            </a:r>
            <a:r>
              <a:rPr lang="en-US" altLang="zh-CN" sz="14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sp</a:t>
            </a:r>
            <a:r>
              <a:rPr lang="en-US" altLang="zh-CN" sz="14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4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WHHP,v</a:t>
            </a:r>
            <a:r>
              <a:rPr lang="en-US" altLang="zh-CN" sz="14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4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,shading</a:t>
            </a:r>
            <a:r>
              <a:rPr lang="en-US" altLang="zh-CN" sz="14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=shades)</a:t>
            </a:r>
            <a:endParaRPr lang="en-US" altLang="zh-CN" sz="18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pPr>
            <a:r>
              <a:rPr lang="en-US" altLang="zh-CN" sz="14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choro.legend</a:t>
            </a:r>
            <a:r>
              <a:rPr lang="en-US" altLang="zh-CN" sz="14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548871.4</a:t>
            </a:r>
            <a:r>
              <a:rPr lang="en-US" altLang="zh-CN" sz="14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4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3377000</a:t>
            </a:r>
            <a:r>
              <a:rPr lang="en-US" altLang="zh-CN" sz="14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shades, title=</a:t>
            </a:r>
            <a:r>
              <a:rPr lang="en-US" altLang="zh-CN" sz="14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'Average house price'</a:t>
            </a:r>
            <a:r>
              <a:rPr lang="en-US" altLang="zh-CN" sz="14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8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1" name="标题 1">
            <a:extLst>
              <a:ext uri="{FF2B5EF4-FFF2-40B4-BE49-F238E27FC236}">
                <a16:creationId xmlns:a16="http://schemas.microsoft.com/office/drawing/2014/main" id="{3F3368FA-2CFF-1333-B857-729B5E86BF53}"/>
              </a:ext>
            </a:extLst>
          </p:cNvPr>
          <p:cNvSpPr>
            <a:spLocks noGrp="1"/>
          </p:cNvSpPr>
          <p:nvPr>
            <p:ph type="title"/>
          </p:nvPr>
        </p:nvSpPr>
        <p:spPr>
          <a:xfrm>
            <a:off x="1181101" y="342900"/>
            <a:ext cx="6896099" cy="663575"/>
          </a:xfrm>
        </p:spPr>
        <p:txBody>
          <a:bodyPr/>
          <a:lstStyle/>
          <a:p>
            <a:pPr algn="l"/>
            <a:r>
              <a:rPr lang="en-US" altLang="zh-CN" sz="3600" dirty="0"/>
              <a:t>6.3.3 </a:t>
            </a:r>
            <a:r>
              <a:rPr lang="zh-CN" altLang="en-US" sz="3600" dirty="0"/>
              <a:t>面数据</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37</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pic>
        <p:nvPicPr>
          <p:cNvPr id="7" name="图片 6">
            <a:extLst>
              <a:ext uri="{FF2B5EF4-FFF2-40B4-BE49-F238E27FC236}">
                <a16:creationId xmlns:a16="http://schemas.microsoft.com/office/drawing/2014/main" id="{30BA6247-21B0-4984-8128-A2166E29DE9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4827" y="2969214"/>
            <a:ext cx="4305300" cy="2933700"/>
          </a:xfrm>
          <a:prstGeom prst="rect">
            <a:avLst/>
          </a:prstGeom>
          <a:noFill/>
          <a:ln>
            <a:noFill/>
          </a:ln>
        </p:spPr>
      </p:pic>
      <p:sp>
        <p:nvSpPr>
          <p:cNvPr id="9" name="标题 1">
            <a:extLst>
              <a:ext uri="{FF2B5EF4-FFF2-40B4-BE49-F238E27FC236}">
                <a16:creationId xmlns:a16="http://schemas.microsoft.com/office/drawing/2014/main" id="{A40FCB69-C8AE-5E28-263B-93553B67D546}"/>
              </a:ext>
            </a:extLst>
          </p:cNvPr>
          <p:cNvSpPr>
            <a:spLocks noGrp="1"/>
          </p:cNvSpPr>
          <p:nvPr>
            <p:ph type="title"/>
          </p:nvPr>
        </p:nvSpPr>
        <p:spPr>
          <a:xfrm>
            <a:off x="1181101" y="342900"/>
            <a:ext cx="6896099" cy="663575"/>
          </a:xfrm>
        </p:spPr>
        <p:txBody>
          <a:bodyPr/>
          <a:lstStyle/>
          <a:p>
            <a:pPr algn="l"/>
            <a:r>
              <a:rPr lang="en-US" altLang="zh-CN" sz="3600" dirty="0"/>
              <a:t>6.3.3 </a:t>
            </a:r>
            <a:r>
              <a:rPr lang="zh-CN" altLang="en-US" sz="3600" dirty="0"/>
              <a:t>面数据</a:t>
            </a:r>
          </a:p>
        </p:txBody>
      </p:sp>
      <p:sp>
        <p:nvSpPr>
          <p:cNvPr id="10" name="矩形 9">
            <a:extLst>
              <a:ext uri="{FF2B5EF4-FFF2-40B4-BE49-F238E27FC236}">
                <a16:creationId xmlns:a16="http://schemas.microsoft.com/office/drawing/2014/main" id="{8D52134B-A327-24CE-0E3F-AE9E859DF7EB}"/>
              </a:ext>
            </a:extLst>
          </p:cNvPr>
          <p:cNvSpPr/>
          <p:nvPr/>
        </p:nvSpPr>
        <p:spPr>
          <a:xfrm>
            <a:off x="2238979" y="1130300"/>
            <a:ext cx="4664867" cy="497765"/>
          </a:xfrm>
          <a:prstGeom prst="rect">
            <a:avLst/>
          </a:prstGeom>
        </p:spPr>
        <p:txBody>
          <a:bodyPr wrap="none">
            <a:spAutoFit/>
          </a:bodyPr>
          <a:lstStyle/>
          <a:p>
            <a:pPr algn="ctr">
              <a:lnSpc>
                <a:spcPct val="120000"/>
              </a:lnSpc>
            </a:pPr>
            <a:r>
              <a:rPr lang="zh-CN" altLang="en-US" sz="2400" b="1" dirty="0">
                <a:latin typeface="+mn-lt"/>
                <a:ea typeface="Microsoft YaHei" panose="020B0503020204020204" pitchFamily="34" charset="-122"/>
                <a:cs typeface="+mn-ea"/>
                <a:sym typeface="Consolas" panose="020B0609020204030204" pitchFamily="49" charset="0"/>
              </a:rPr>
              <a:t>函数包</a:t>
            </a:r>
            <a:r>
              <a:rPr lang="en-US" altLang="zh-CN" sz="2400" b="1" dirty="0">
                <a:latin typeface="+mn-lt"/>
                <a:ea typeface="Microsoft YaHei" panose="020B0503020204020204" pitchFamily="34" charset="-122"/>
                <a:cs typeface="+mn-ea"/>
                <a:sym typeface="Consolas" panose="020B0609020204030204" pitchFamily="49" charset="0"/>
              </a:rPr>
              <a:t>GISTools</a:t>
            </a:r>
            <a:r>
              <a:rPr lang="zh-CN" altLang="en-US" sz="2400" b="1" dirty="0">
                <a:latin typeface="+mn-lt"/>
                <a:ea typeface="Microsoft YaHei" panose="020B0503020204020204" pitchFamily="34" charset="-122"/>
                <a:cs typeface="+mn-ea"/>
                <a:sym typeface="Consolas" panose="020B0609020204030204" pitchFamily="49" charset="0"/>
              </a:rPr>
              <a:t>的</a:t>
            </a:r>
            <a:r>
              <a:rPr lang="en-US" altLang="zh-CN" sz="2400" b="1" dirty="0">
                <a:latin typeface="+mn-lt"/>
                <a:ea typeface="Microsoft YaHei" panose="020B0503020204020204" pitchFamily="34" charset="-122"/>
                <a:cs typeface="+mn-ea"/>
                <a:sym typeface="Consolas" panose="020B0609020204030204" pitchFamily="49" charset="0"/>
              </a:rPr>
              <a:t>choropleth</a:t>
            </a:r>
            <a:r>
              <a:rPr lang="zh-CN" altLang="en-US" sz="2400" b="1" dirty="0">
                <a:latin typeface="+mn-lt"/>
                <a:ea typeface="Microsoft YaHei" panose="020B0503020204020204" pitchFamily="34" charset="-122"/>
                <a:cs typeface="+mn-ea"/>
                <a:sym typeface="Consolas" panose="020B0609020204030204" pitchFamily="49" charset="0"/>
              </a:rPr>
              <a:t>函数</a:t>
            </a:r>
          </a:p>
        </p:txBody>
      </p:sp>
      <p:sp>
        <p:nvSpPr>
          <p:cNvPr id="11" name="矩形 10"/>
          <p:cNvSpPr/>
          <p:nvPr/>
        </p:nvSpPr>
        <p:spPr>
          <a:xfrm>
            <a:off x="593533" y="1751890"/>
            <a:ext cx="7955758" cy="874407"/>
          </a:xfrm>
          <a:prstGeom prst="rect">
            <a:avLst/>
          </a:prstGeom>
        </p:spPr>
        <p:txBody>
          <a:bodyPr wrap="square">
            <a:spAutoFit/>
          </a:bodyPr>
          <a:lstStyle/>
          <a:p>
            <a:pPr indent="457200">
              <a:lnSpc>
                <a:spcPct val="150000"/>
              </a:lnSpc>
            </a:pPr>
            <a:r>
              <a:rPr lang="zh-CN" altLang="en-US" dirty="0">
                <a:latin typeface="+mn-ea"/>
                <a:ea typeface="+mn-ea"/>
                <a:sym typeface="Consolas" panose="020B0609020204030204" pitchFamily="49" charset="0"/>
              </a:rPr>
              <a:t>除了沿用了函数</a:t>
            </a:r>
            <a:r>
              <a:rPr lang="en-US" altLang="zh-CN" dirty="0">
                <a:latin typeface="+mn-ea"/>
                <a:ea typeface="+mn-ea"/>
                <a:sym typeface="Consolas" panose="020B0609020204030204" pitchFamily="49" charset="0"/>
              </a:rPr>
              <a:t>choropleth</a:t>
            </a:r>
            <a:r>
              <a:rPr lang="zh-CN" altLang="en-US" dirty="0">
                <a:latin typeface="+mn-ea"/>
                <a:ea typeface="+mn-ea"/>
                <a:sym typeface="Consolas" panose="020B0609020204030204" pitchFamily="49" charset="0"/>
              </a:rPr>
              <a:t>的默认风格外，也可自己灵活定义颜色与所呈现的区间个数：</a:t>
            </a:r>
          </a:p>
        </p:txBody>
      </p:sp>
      <p:pic>
        <p:nvPicPr>
          <p:cNvPr id="12" name="图片 11">
            <a:extLst>
              <a:ext uri="{FF2B5EF4-FFF2-40B4-BE49-F238E27FC236}">
                <a16:creationId xmlns:a16="http://schemas.microsoft.com/office/drawing/2014/main" id="{50DB22AF-C2C7-9551-BD37-04D02D793205}"/>
              </a:ext>
            </a:extLst>
          </p:cNvPr>
          <p:cNvPicPr>
            <a:picLocks noChangeAspect="1"/>
          </p:cNvPicPr>
          <p:nvPr/>
        </p:nvPicPr>
        <p:blipFill>
          <a:blip r:embed="rId3" cstate="print">
            <a:extLst>
              <a:ext uri="{28A0092B-C50C-407E-A947-70E740481C1C}">
                <a14:useLocalDpi xmlns:a14="http://schemas.microsoft.com/office/drawing/2010/main" val="0"/>
              </a:ext>
            </a:extLst>
          </a:blip>
          <a:srcRect l="18372" t="13499" r="3768" b="12320"/>
          <a:stretch/>
        </p:blipFill>
        <p:spPr>
          <a:xfrm>
            <a:off x="4732653" y="2983728"/>
            <a:ext cx="4106547" cy="29337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38</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10" name="矩形 9">
            <a:extLst>
              <a:ext uri="{FF2B5EF4-FFF2-40B4-BE49-F238E27FC236}">
                <a16:creationId xmlns:a16="http://schemas.microsoft.com/office/drawing/2014/main" id="{AAF50C3D-BE27-4BD7-8C18-90EE9107C004}"/>
              </a:ext>
            </a:extLst>
          </p:cNvPr>
          <p:cNvSpPr/>
          <p:nvPr/>
        </p:nvSpPr>
        <p:spPr>
          <a:xfrm>
            <a:off x="547687" y="1104900"/>
            <a:ext cx="8048626" cy="874214"/>
          </a:xfrm>
          <a:prstGeom prst="rect">
            <a:avLst/>
          </a:prstGeom>
        </p:spPr>
        <p:txBody>
          <a:bodyPr wrap="square">
            <a:spAutoFit/>
          </a:bodyPr>
          <a:lstStyle/>
          <a:p>
            <a:pPr indent="457200">
              <a:lnSpc>
                <a:spcPct val="150000"/>
              </a:lnSpc>
            </a:pPr>
            <a:r>
              <a:rPr lang="en-US" altLang="zh-CN" kern="0" dirty="0" err="1">
                <a:latin typeface="+mn-lt"/>
                <a:ea typeface="+mn-ea"/>
                <a:cs typeface="Times New Roman" panose="02020603050405020304" pitchFamily="18" charset="0"/>
              </a:rPr>
              <a:t>GISTools</a:t>
            </a:r>
            <a:r>
              <a:rPr lang="zh-CN" altLang="en-US" kern="0" dirty="0">
                <a:latin typeface="+mn-lt"/>
                <a:ea typeface="+mn-ea"/>
                <a:cs typeface="Times New Roman" panose="02020603050405020304" pitchFamily="18" charset="0"/>
              </a:rPr>
              <a:t>函数包中的</a:t>
            </a:r>
            <a:r>
              <a:rPr lang="en-US" altLang="zh-CN" kern="0" dirty="0" err="1">
                <a:latin typeface="+mn-lt"/>
                <a:ea typeface="+mn-ea"/>
                <a:cs typeface="Times New Roman" panose="02020603050405020304" pitchFamily="18" charset="0"/>
              </a:rPr>
              <a:t>thematic.map</a:t>
            </a:r>
            <a:r>
              <a:rPr lang="en-US" altLang="zh-CN" kern="0" dirty="0">
                <a:latin typeface="+mn-lt"/>
                <a:ea typeface="+mn-ea"/>
                <a:cs typeface="Times New Roman" panose="02020603050405020304" pitchFamily="18" charset="0"/>
              </a:rPr>
              <a:t>()</a:t>
            </a:r>
            <a:r>
              <a:rPr lang="zh-CN" altLang="en-US" kern="0" dirty="0">
                <a:latin typeface="+mn-lt"/>
                <a:ea typeface="+mn-ea"/>
                <a:cs typeface="Times New Roman" panose="02020603050405020304" pitchFamily="18" charset="0"/>
              </a:rPr>
              <a:t>函数，也能够用于绘制专题地图和属性变量的直方图。</a:t>
            </a:r>
            <a:endParaRPr lang="zh-CN" altLang="en-US" dirty="0">
              <a:latin typeface="+mn-lt"/>
              <a:ea typeface="+mn-ea"/>
            </a:endParaRPr>
          </a:p>
        </p:txBody>
      </p:sp>
      <p:sp>
        <p:nvSpPr>
          <p:cNvPr id="3" name="矩形 2">
            <a:extLst>
              <a:ext uri="{FF2B5EF4-FFF2-40B4-BE49-F238E27FC236}">
                <a16:creationId xmlns:a16="http://schemas.microsoft.com/office/drawing/2014/main" id="{929D7F68-C7E1-44F2-B702-71167731FC1A}"/>
              </a:ext>
            </a:extLst>
          </p:cNvPr>
          <p:cNvSpPr/>
          <p:nvPr/>
        </p:nvSpPr>
        <p:spPr>
          <a:xfrm>
            <a:off x="788193" y="1999497"/>
            <a:ext cx="7567613" cy="438903"/>
          </a:xfrm>
          <a:prstGeom prst="rect">
            <a:avLst/>
          </a:prstGeom>
        </p:spPr>
        <p:txBody>
          <a:bodyPr wrap="square">
            <a:spAutoFit/>
          </a:bodyPr>
          <a:lstStyle/>
          <a:p>
            <a:pPr marL="0" marR="0" indent="0" algn="l">
              <a:lnSpc>
                <a:spcPts val="1425"/>
              </a:lnSpc>
            </a:pPr>
            <a:r>
              <a:rPr lang="en-US" altLang="zh-CN" sz="10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thematic.map</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(blocks, </a:t>
            </a:r>
            <a:r>
              <a:rPr lang="en-US" altLang="zh-CN" sz="10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var.names</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0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"P_35_44"</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"P_25_34"</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"POP1990"</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horiz</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FALSE</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na.pos</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0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topleft</a:t>
            </a:r>
            <a:r>
              <a:rPr lang="en-US" altLang="zh-CN" sz="10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scaleBar.pos</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0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bottomright</a:t>
            </a:r>
            <a:r>
              <a:rPr lang="en-US" altLang="zh-CN" sz="10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legend.pos</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0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bottomleft</a:t>
            </a:r>
            <a:r>
              <a:rPr lang="en-US" altLang="zh-CN" sz="10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0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colorStyle</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0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hcl.colors</a:t>
            </a:r>
            <a:r>
              <a:rPr lang="en-US" altLang="zh-CN" sz="10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latin typeface="Times New Roman" panose="02020603050405020304" pitchFamily="18" charset="0"/>
              <a:ea typeface="宋体" panose="02010600030101010101" pitchFamily="2" charset="-122"/>
            </a:endParaRPr>
          </a:p>
        </p:txBody>
      </p:sp>
      <p:pic>
        <p:nvPicPr>
          <p:cNvPr id="7" name="图片 6">
            <a:extLst>
              <a:ext uri="{FF2B5EF4-FFF2-40B4-BE49-F238E27FC236}">
                <a16:creationId xmlns:a16="http://schemas.microsoft.com/office/drawing/2014/main" id="{A2784DA2-A1FA-4F4F-99E7-953E7110F936}"/>
              </a:ext>
            </a:extLst>
          </p:cNvPr>
          <p:cNvPicPr/>
          <p:nvPr/>
        </p:nvPicPr>
        <p:blipFill rotWithShape="1">
          <a:blip r:embed="rId2"/>
          <a:srcRect t="16626"/>
          <a:stretch/>
        </p:blipFill>
        <p:spPr>
          <a:xfrm>
            <a:off x="1943100" y="2585069"/>
            <a:ext cx="5257800" cy="4044331"/>
          </a:xfrm>
          <a:prstGeom prst="rect">
            <a:avLst/>
          </a:prstGeom>
        </p:spPr>
      </p:pic>
      <p:sp>
        <p:nvSpPr>
          <p:cNvPr id="8" name="标题 1">
            <a:extLst>
              <a:ext uri="{FF2B5EF4-FFF2-40B4-BE49-F238E27FC236}">
                <a16:creationId xmlns:a16="http://schemas.microsoft.com/office/drawing/2014/main" id="{4C5976C2-7CD4-4142-EC90-366A7D92EB8B}"/>
              </a:ext>
            </a:extLst>
          </p:cNvPr>
          <p:cNvSpPr>
            <a:spLocks noGrp="1"/>
          </p:cNvSpPr>
          <p:nvPr>
            <p:ph type="title"/>
          </p:nvPr>
        </p:nvSpPr>
        <p:spPr>
          <a:xfrm>
            <a:off x="1181101" y="342900"/>
            <a:ext cx="6896099" cy="663575"/>
          </a:xfrm>
        </p:spPr>
        <p:txBody>
          <a:bodyPr/>
          <a:lstStyle/>
          <a:p>
            <a:pPr algn="l"/>
            <a:r>
              <a:rPr lang="en-US" altLang="zh-CN" sz="3600" dirty="0"/>
              <a:t>6.3.3 </a:t>
            </a:r>
            <a:r>
              <a:rPr lang="zh-CN" altLang="en-US" sz="3600" dirty="0"/>
              <a:t>面数据</a:t>
            </a:r>
          </a:p>
        </p:txBody>
      </p:sp>
    </p:spTree>
    <p:extLst>
      <p:ext uri="{BB962C8B-B14F-4D97-AF65-F5344CB8AC3E}">
        <p14:creationId xmlns:p14="http://schemas.microsoft.com/office/powerpoint/2010/main" val="3381869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FC581-8D69-1858-8378-91C174B0FD43}"/>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5F988A0-890C-60EE-D068-6B9ED4807121}"/>
              </a:ext>
            </a:extLst>
          </p:cNvPr>
          <p:cNvSpPr>
            <a:spLocks noGrp="1"/>
          </p:cNvSpPr>
          <p:nvPr>
            <p:ph type="title"/>
          </p:nvPr>
        </p:nvSpPr>
        <p:spPr/>
        <p:txBody>
          <a:bodyPr/>
          <a:lstStyle/>
          <a:p>
            <a:pPr algn="l"/>
            <a:r>
              <a:rPr lang="en-US" altLang="zh-CN" sz="3600" dirty="0"/>
              <a:t>6.4 </a:t>
            </a:r>
            <a:r>
              <a:rPr lang="zh-CN" altLang="en-US" sz="3600" dirty="0"/>
              <a:t>交互式数据可视化</a:t>
            </a:r>
          </a:p>
        </p:txBody>
      </p:sp>
      <p:sp>
        <p:nvSpPr>
          <p:cNvPr id="4" name="灯片编号占位符 3">
            <a:extLst>
              <a:ext uri="{FF2B5EF4-FFF2-40B4-BE49-F238E27FC236}">
                <a16:creationId xmlns:a16="http://schemas.microsoft.com/office/drawing/2014/main" id="{6729FA65-AB6D-4FBF-F83C-7CCB2910FD01}"/>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39</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7" name="矩形 6">
            <a:extLst>
              <a:ext uri="{FF2B5EF4-FFF2-40B4-BE49-F238E27FC236}">
                <a16:creationId xmlns:a16="http://schemas.microsoft.com/office/drawing/2014/main" id="{0E0C5BEF-FC94-C82E-6EAE-81C60344EC18}"/>
              </a:ext>
            </a:extLst>
          </p:cNvPr>
          <p:cNvSpPr/>
          <p:nvPr/>
        </p:nvSpPr>
        <p:spPr>
          <a:xfrm>
            <a:off x="502442" y="1328028"/>
            <a:ext cx="8137921" cy="4577472"/>
          </a:xfrm>
          <a:prstGeom prst="rect">
            <a:avLst/>
          </a:prstGeom>
        </p:spPr>
        <p:txBody>
          <a:bodyPr wrap="square">
            <a:spAutoFit/>
          </a:bodyPr>
          <a:lstStyle/>
          <a:p>
            <a:pPr marL="0" marR="0" indent="304800" algn="just">
              <a:lnSpc>
                <a:spcPct val="250000"/>
              </a:lnSpc>
            </a:pPr>
            <a:r>
              <a:rPr lang="zh-CN" altLang="en-US" sz="2000" kern="0" dirty="0">
                <a:effectLst/>
                <a:latin typeface="+mn-lt"/>
                <a:ea typeface="+mn-ea"/>
                <a:cs typeface="Times New Roman" panose="02020603050405020304" pitchFamily="18" charset="0"/>
              </a:rPr>
              <a:t>对数据进行可视化时，让可视化图表动起来，使其具有交互性，将会对数据分析有极大的帮助。</a:t>
            </a:r>
            <a:endParaRPr lang="en-US" altLang="zh-CN" sz="2000" kern="0" dirty="0">
              <a:effectLst/>
              <a:latin typeface="+mn-lt"/>
              <a:ea typeface="+mn-ea"/>
              <a:cs typeface="Times New Roman" panose="02020603050405020304" pitchFamily="18" charset="0"/>
            </a:endParaRPr>
          </a:p>
          <a:p>
            <a:pPr marL="342900" marR="0" indent="-342900" algn="just">
              <a:lnSpc>
                <a:spcPct val="250000"/>
              </a:lnSpc>
              <a:buFont typeface="Wingdings" panose="05000000000000000000" pitchFamily="2" charset="2"/>
              <a:buChar char="ü"/>
            </a:pPr>
            <a:r>
              <a:rPr lang="zh-CN" altLang="en-US" sz="2000" kern="0" dirty="0">
                <a:effectLst/>
                <a:latin typeface="+mn-lt"/>
                <a:ea typeface="+mn-ea"/>
                <a:cs typeface="Times New Roman" panose="02020603050405020304" pitchFamily="18" charset="0"/>
              </a:rPr>
              <a:t>函数包</a:t>
            </a:r>
            <a:r>
              <a:rPr lang="en-US" altLang="zh-CN" sz="2000" kern="0" dirty="0">
                <a:effectLst/>
                <a:latin typeface="+mn-lt"/>
                <a:ea typeface="+mn-ea"/>
                <a:cs typeface="Times New Roman" panose="02020603050405020304" pitchFamily="18" charset="0"/>
              </a:rPr>
              <a:t>echarts4r</a:t>
            </a:r>
            <a:r>
              <a:rPr lang="zh-CN" altLang="en-US" sz="2000" kern="0" dirty="0">
                <a:effectLst/>
                <a:latin typeface="+mn-lt"/>
                <a:ea typeface="+mn-ea"/>
                <a:cs typeface="Times New Roman" panose="02020603050405020304" pitchFamily="18" charset="0"/>
              </a:rPr>
              <a:t>：能够调用百度</a:t>
            </a:r>
            <a:r>
              <a:rPr lang="en-US" altLang="zh-CN" sz="2000" kern="0" dirty="0" err="1">
                <a:effectLst/>
                <a:latin typeface="+mn-lt"/>
                <a:ea typeface="+mn-ea"/>
                <a:cs typeface="Times New Roman" panose="02020603050405020304" pitchFamily="18" charset="0"/>
              </a:rPr>
              <a:t>ECharts</a:t>
            </a:r>
            <a:r>
              <a:rPr lang="en-US" altLang="zh-CN" sz="2000" kern="0" dirty="0">
                <a:effectLst/>
                <a:latin typeface="+mn-lt"/>
                <a:ea typeface="+mn-ea"/>
                <a:cs typeface="Times New Roman" panose="02020603050405020304" pitchFamily="18" charset="0"/>
              </a:rPr>
              <a:t> </a:t>
            </a:r>
            <a:r>
              <a:rPr lang="en-US" altLang="zh-CN" sz="2000" kern="0" dirty="0" err="1">
                <a:effectLst/>
                <a:latin typeface="+mn-lt"/>
                <a:ea typeface="+mn-ea"/>
                <a:cs typeface="Times New Roman" panose="02020603050405020304" pitchFamily="18" charset="0"/>
              </a:rPr>
              <a:t>Javascript</a:t>
            </a:r>
            <a:r>
              <a:rPr lang="zh-CN" altLang="en-US" sz="2000" kern="0" dirty="0">
                <a:effectLst/>
                <a:latin typeface="+mn-lt"/>
                <a:ea typeface="+mn-ea"/>
                <a:cs typeface="Times New Roman" panose="02020603050405020304" pitchFamily="18" charset="0"/>
              </a:rPr>
              <a:t>库制作交互式图表</a:t>
            </a:r>
            <a:endParaRPr lang="en-US" altLang="zh-CN" sz="2000" kern="0" dirty="0">
              <a:effectLst/>
              <a:latin typeface="+mn-lt"/>
              <a:ea typeface="+mn-ea"/>
              <a:cs typeface="Times New Roman" panose="02020603050405020304" pitchFamily="18" charset="0"/>
            </a:endParaRPr>
          </a:p>
          <a:p>
            <a:pPr marL="342900" marR="0" indent="-342900" algn="just">
              <a:lnSpc>
                <a:spcPct val="250000"/>
              </a:lnSpc>
              <a:buFont typeface="Wingdings" panose="05000000000000000000" pitchFamily="2" charset="2"/>
              <a:buChar char="ü"/>
            </a:pPr>
            <a:r>
              <a:rPr lang="zh-CN" altLang="en-US" sz="2000" kern="0" dirty="0">
                <a:effectLst/>
                <a:latin typeface="+mn-lt"/>
                <a:ea typeface="+mn-ea"/>
                <a:cs typeface="Times New Roman" panose="02020603050405020304" pitchFamily="18" charset="0"/>
              </a:rPr>
              <a:t>函数包</a:t>
            </a:r>
            <a:r>
              <a:rPr lang="en-US" altLang="zh-CN" sz="2000" kern="0" dirty="0">
                <a:effectLst/>
                <a:latin typeface="+mn-lt"/>
                <a:ea typeface="+mn-ea"/>
                <a:cs typeface="Times New Roman" panose="02020603050405020304" pitchFamily="18" charset="0"/>
              </a:rPr>
              <a:t>Remap</a:t>
            </a:r>
            <a:r>
              <a:rPr lang="zh-CN" altLang="en-US" sz="2000" kern="0" dirty="0">
                <a:effectLst/>
                <a:latin typeface="+mn-lt"/>
                <a:ea typeface="+mn-ea"/>
                <a:cs typeface="Times New Roman" panose="02020603050405020304" pitchFamily="18" charset="0"/>
              </a:rPr>
              <a:t>：能够直接调用在线的百度地图进行可视化；</a:t>
            </a:r>
            <a:endParaRPr lang="en-US" altLang="zh-CN" sz="2000" kern="0" dirty="0">
              <a:effectLst/>
              <a:latin typeface="+mn-lt"/>
              <a:ea typeface="+mn-ea"/>
              <a:cs typeface="Times New Roman" panose="02020603050405020304" pitchFamily="18" charset="0"/>
            </a:endParaRPr>
          </a:p>
          <a:p>
            <a:pPr marL="342900" marR="0" indent="-342900" algn="just">
              <a:lnSpc>
                <a:spcPct val="250000"/>
              </a:lnSpc>
              <a:buFont typeface="Wingdings" panose="05000000000000000000" pitchFamily="2" charset="2"/>
              <a:buChar char="ü"/>
            </a:pPr>
            <a:r>
              <a:rPr lang="zh-CN" altLang="en-US" sz="2000" kern="0" dirty="0">
                <a:effectLst/>
                <a:latin typeface="+mn-lt"/>
                <a:ea typeface="+mn-ea"/>
                <a:cs typeface="Times New Roman" panose="02020603050405020304" pitchFamily="18" charset="0"/>
              </a:rPr>
              <a:t>函数包</a:t>
            </a:r>
            <a:r>
              <a:rPr lang="en-US" altLang="zh-CN" sz="2000" kern="0" dirty="0">
                <a:effectLst/>
                <a:latin typeface="+mn-lt"/>
                <a:ea typeface="+mn-ea"/>
                <a:cs typeface="Times New Roman" panose="02020603050405020304" pitchFamily="18" charset="0"/>
              </a:rPr>
              <a:t>leaflet</a:t>
            </a:r>
            <a:r>
              <a:rPr lang="zh-CN" altLang="en-US" sz="2000" kern="0" dirty="0">
                <a:effectLst/>
                <a:latin typeface="+mn-lt"/>
                <a:ea typeface="+mn-ea"/>
                <a:cs typeface="Times New Roman" panose="02020603050405020304" pitchFamily="18" charset="0"/>
              </a:rPr>
              <a:t>：能够通过调用在线地图以及叠加其他数据图层进行多层次的可视化。</a:t>
            </a:r>
            <a:endParaRPr lang="en-US" altLang="zh-CN" sz="2000" dirty="0">
              <a:latin typeface="+mn-lt"/>
              <a:ea typeface="+mn-ea"/>
              <a:sym typeface="Consolas" panose="020B0609020204030204" pitchFamily="49" charset="0"/>
            </a:endParaRPr>
          </a:p>
        </p:txBody>
      </p:sp>
    </p:spTree>
    <p:extLst>
      <p:ext uri="{BB962C8B-B14F-4D97-AF65-F5344CB8AC3E}">
        <p14:creationId xmlns:p14="http://schemas.microsoft.com/office/powerpoint/2010/main" val="27174799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FFE09-E1C3-1E42-E592-3466DEF9C035}"/>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4EA763E8-260A-CF07-B50F-3A6CCE4ABA30}"/>
              </a:ext>
            </a:extLst>
          </p:cNvPr>
          <p:cNvSpPr>
            <a:spLocks noGrp="1"/>
          </p:cNvSpPr>
          <p:nvPr>
            <p:ph type="title"/>
          </p:nvPr>
        </p:nvSpPr>
        <p:spPr/>
        <p:txBody>
          <a:bodyPr/>
          <a:lstStyle/>
          <a:p>
            <a:pPr algn="l"/>
            <a:r>
              <a:rPr lang="en-US" altLang="zh-CN" sz="3600" dirty="0"/>
              <a:t>6.4.1  echarts4r</a:t>
            </a:r>
            <a:r>
              <a:rPr lang="zh-CN" altLang="en-US" sz="3600" dirty="0"/>
              <a:t>包</a:t>
            </a:r>
          </a:p>
        </p:txBody>
      </p:sp>
      <p:sp>
        <p:nvSpPr>
          <p:cNvPr id="4" name="灯片编号占位符 3">
            <a:extLst>
              <a:ext uri="{FF2B5EF4-FFF2-40B4-BE49-F238E27FC236}">
                <a16:creationId xmlns:a16="http://schemas.microsoft.com/office/drawing/2014/main" id="{FC4848EA-94F2-64A4-862B-7477B8BB4A69}"/>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40</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7" name="矩形 6">
            <a:extLst>
              <a:ext uri="{FF2B5EF4-FFF2-40B4-BE49-F238E27FC236}">
                <a16:creationId xmlns:a16="http://schemas.microsoft.com/office/drawing/2014/main" id="{E42E19CF-31D2-BCED-3F55-611C17425DC4}"/>
              </a:ext>
            </a:extLst>
          </p:cNvPr>
          <p:cNvSpPr/>
          <p:nvPr/>
        </p:nvSpPr>
        <p:spPr>
          <a:xfrm>
            <a:off x="502442" y="1328028"/>
            <a:ext cx="8137921" cy="1289712"/>
          </a:xfrm>
          <a:prstGeom prst="rect">
            <a:avLst/>
          </a:prstGeom>
        </p:spPr>
        <p:txBody>
          <a:bodyPr wrap="square">
            <a:spAutoFit/>
          </a:bodyPr>
          <a:lstStyle/>
          <a:p>
            <a:pPr marL="0" marR="0" indent="612000" algn="just">
              <a:lnSpc>
                <a:spcPct val="150000"/>
              </a:lnSpc>
            </a:pPr>
            <a:r>
              <a:rPr lang="zh-CN" altLang="en-US" kern="0" dirty="0">
                <a:effectLst/>
                <a:latin typeface="+mn-lt"/>
                <a:ea typeface="+mn-ea"/>
                <a:cs typeface="Times New Roman" panose="02020603050405020304" pitchFamily="18" charset="0"/>
              </a:rPr>
              <a:t>使用函数包</a:t>
            </a:r>
            <a:r>
              <a:rPr lang="en-US" altLang="zh-CN" kern="0" dirty="0">
                <a:effectLst/>
                <a:latin typeface="+mn-lt"/>
                <a:ea typeface="+mn-ea"/>
                <a:cs typeface="Times New Roman" panose="02020603050405020304" pitchFamily="18" charset="0"/>
              </a:rPr>
              <a:t>echarts4r</a:t>
            </a:r>
            <a:r>
              <a:rPr lang="zh-CN" altLang="en-US" kern="0" dirty="0">
                <a:effectLst/>
                <a:latin typeface="+mn-lt"/>
                <a:ea typeface="+mn-ea"/>
                <a:cs typeface="Times New Roman" panose="02020603050405020304" pitchFamily="18" charset="0"/>
              </a:rPr>
              <a:t>进行绘图最简便的方式是借助于管道操作进行绘制和绘制选项的增加，该函数包提供了多种用于绘制各种交互式统计图表以及地图的函数。</a:t>
            </a:r>
            <a:endParaRPr lang="en-US" altLang="zh-CN" dirty="0">
              <a:latin typeface="+mn-lt"/>
              <a:ea typeface="+mn-ea"/>
              <a:sym typeface="Consolas" panose="020B0609020204030204" pitchFamily="49" charset="0"/>
            </a:endParaRPr>
          </a:p>
        </p:txBody>
      </p:sp>
      <p:graphicFrame>
        <p:nvGraphicFramePr>
          <p:cNvPr id="3" name="表格 2">
            <a:extLst>
              <a:ext uri="{FF2B5EF4-FFF2-40B4-BE49-F238E27FC236}">
                <a16:creationId xmlns:a16="http://schemas.microsoft.com/office/drawing/2014/main" id="{9FC1BE8D-2320-1254-564F-8A3F9467A45E}"/>
              </a:ext>
            </a:extLst>
          </p:cNvPr>
          <p:cNvGraphicFramePr>
            <a:graphicFrameLocks noGrp="1"/>
          </p:cNvGraphicFramePr>
          <p:nvPr>
            <p:extLst>
              <p:ext uri="{D42A27DB-BD31-4B8C-83A1-F6EECF244321}">
                <p14:modId xmlns:p14="http://schemas.microsoft.com/office/powerpoint/2010/main" val="4233275932"/>
              </p:ext>
            </p:extLst>
          </p:nvPr>
        </p:nvGraphicFramePr>
        <p:xfrm>
          <a:off x="540065" y="2872265"/>
          <a:ext cx="3765235" cy="3126296"/>
        </p:xfrm>
        <a:graphic>
          <a:graphicData uri="http://schemas.openxmlformats.org/drawingml/2006/table">
            <a:tbl>
              <a:tblPr/>
              <a:tblGrid>
                <a:gridCol w="1479437">
                  <a:extLst>
                    <a:ext uri="{9D8B030D-6E8A-4147-A177-3AD203B41FA5}">
                      <a16:colId xmlns:a16="http://schemas.microsoft.com/office/drawing/2014/main" val="1502255800"/>
                    </a:ext>
                  </a:extLst>
                </a:gridCol>
                <a:gridCol w="2285798">
                  <a:extLst>
                    <a:ext uri="{9D8B030D-6E8A-4147-A177-3AD203B41FA5}">
                      <a16:colId xmlns:a16="http://schemas.microsoft.com/office/drawing/2014/main" val="4272314325"/>
                    </a:ext>
                  </a:extLst>
                </a:gridCol>
              </a:tblGrid>
              <a:tr h="0">
                <a:tc>
                  <a:txBody>
                    <a:bodyPr/>
                    <a:lstStyle/>
                    <a:p>
                      <a:pPr marL="0" marR="0" indent="0" algn="ctr">
                        <a:lnSpc>
                          <a:spcPct val="150000"/>
                        </a:lnSpc>
                        <a:buNone/>
                      </a:pPr>
                      <a:r>
                        <a:rPr lang="zh-CN" altLang="en-US" sz="1100" b="1" kern="0" dirty="0">
                          <a:effectLst/>
                          <a:latin typeface="宋体" panose="02010600030101010101" pitchFamily="2" charset="-122"/>
                          <a:ea typeface="宋体" panose="02010600030101010101" pitchFamily="2" charset="-122"/>
                          <a:cs typeface="宋体" panose="02010600030101010101" pitchFamily="2" charset="-122"/>
                        </a:rPr>
                        <a:t>函数</a:t>
                      </a:r>
                      <a:endParaRPr lang="zh-CN" alt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zh-CN" altLang="en-US" sz="1100" b="1" kern="0">
                          <a:effectLst/>
                          <a:latin typeface="宋体" panose="02010600030101010101" pitchFamily="2" charset="-122"/>
                          <a:ea typeface="宋体" panose="02010600030101010101" pitchFamily="2" charset="-122"/>
                          <a:cs typeface="宋体" panose="02010600030101010101" pitchFamily="2" charset="-122"/>
                        </a:rPr>
                        <a:t>描述</a:t>
                      </a:r>
                      <a:endParaRPr lang="zh-CN" alt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204457"/>
                  </a:ext>
                </a:extLst>
              </a:tr>
              <a:tr h="0">
                <a:tc>
                  <a:txBody>
                    <a:bodyPr/>
                    <a:lstStyle/>
                    <a:p>
                      <a:pPr marL="0" marR="0" indent="0" algn="ctr">
                        <a:lnSpc>
                          <a:spcPct val="150000"/>
                        </a:lnSpc>
                        <a:buNone/>
                      </a:pPr>
                      <a:r>
                        <a:rPr lang="en-US" sz="1100" i="1" kern="0" dirty="0" err="1">
                          <a:effectLst/>
                          <a:latin typeface="Times New Roman" panose="02020603050405020304" pitchFamily="18" charset="0"/>
                          <a:ea typeface="宋体" panose="02010600030101010101" pitchFamily="2" charset="-122"/>
                          <a:cs typeface="宋体" panose="02010600030101010101" pitchFamily="2" charset="-122"/>
                        </a:rPr>
                        <a:t>e_charts</a:t>
                      </a:r>
                      <a:endParaRPr 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w="19050" cap="flat" cmpd="sng" algn="ctr">
                      <a:solidFill>
                        <a:srgbClr val="000000"/>
                      </a:solidFill>
                      <a:prstDash val="solid"/>
                      <a:round/>
                      <a:headEnd type="none" w="med" len="med"/>
                      <a:tailEnd type="none" w="med" len="med"/>
                    </a:lnT>
                    <a:lnB>
                      <a:noFill/>
                    </a:lnB>
                    <a:noFill/>
                  </a:tcPr>
                </a:tc>
                <a:tc>
                  <a:txBody>
                    <a:bodyPr/>
                    <a:lstStyle/>
                    <a:p>
                      <a:pPr marL="0" marR="0" indent="0" algn="ctr">
                        <a:lnSpc>
                          <a:spcPct val="150000"/>
                        </a:lnSpc>
                        <a:buNone/>
                      </a:pPr>
                      <a:r>
                        <a:rPr lang="zh-CN" altLang="en-US" sz="1100" kern="0" dirty="0">
                          <a:effectLst/>
                          <a:latin typeface="宋体" panose="02010600030101010101" pitchFamily="2" charset="-122"/>
                          <a:ea typeface="宋体" panose="02010600030101010101" pitchFamily="2" charset="-122"/>
                          <a:cs typeface="宋体" panose="02010600030101010101" pitchFamily="2" charset="-122"/>
                        </a:rPr>
                        <a:t>初始化，并确定</a:t>
                      </a:r>
                      <a:r>
                        <a:rPr lang="en-US" altLang="zh-CN" sz="1100" kern="0" dirty="0">
                          <a:effectLst/>
                          <a:latin typeface="Times New Roman" panose="02020603050405020304" pitchFamily="18" charset="0"/>
                          <a:ea typeface="宋体" panose="02010600030101010101" pitchFamily="2" charset="-122"/>
                          <a:cs typeface="宋体" panose="02010600030101010101" pitchFamily="2" charset="-122"/>
                        </a:rPr>
                        <a:t>x</a:t>
                      </a:r>
                      <a:r>
                        <a:rPr lang="zh-CN" altLang="en-US" sz="1100" kern="0" dirty="0">
                          <a:effectLst/>
                          <a:latin typeface="宋体" panose="02010600030101010101" pitchFamily="2" charset="-122"/>
                          <a:ea typeface="宋体" panose="02010600030101010101" pitchFamily="2" charset="-122"/>
                          <a:cs typeface="宋体" panose="02010600030101010101" pitchFamily="2" charset="-122"/>
                        </a:rPr>
                        <a:t>轴变量</a:t>
                      </a:r>
                      <a:endParaRPr lang="zh-CN" alt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w="190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487805087"/>
                  </a:ext>
                </a:extLst>
              </a:tr>
              <a:tr h="0">
                <a:tc>
                  <a:txBody>
                    <a:bodyPr/>
                    <a:lstStyle/>
                    <a:p>
                      <a:pPr marL="0" marR="0" indent="0" algn="ctr">
                        <a:lnSpc>
                          <a:spcPct val="150000"/>
                        </a:lnSpc>
                        <a:buNone/>
                      </a:pPr>
                      <a:r>
                        <a:rPr lang="en-US" sz="1100" i="1" kern="0">
                          <a:effectLst/>
                          <a:latin typeface="Times New Roman" panose="02020603050405020304" pitchFamily="18" charset="0"/>
                          <a:ea typeface="宋体" panose="02010600030101010101" pitchFamily="2" charset="-122"/>
                          <a:cs typeface="宋体" panose="02010600030101010101" pitchFamily="2" charset="-122"/>
                        </a:rPr>
                        <a:t>e_line</a:t>
                      </a:r>
                      <a:endParaRPr 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noFill/>
                  </a:tcPr>
                </a:tc>
                <a:tc>
                  <a:txBody>
                    <a:bodyPr/>
                    <a:lstStyle/>
                    <a:p>
                      <a:pPr marL="0" marR="0" indent="0" algn="ctr">
                        <a:lnSpc>
                          <a:spcPct val="150000"/>
                        </a:lnSpc>
                        <a:buNone/>
                      </a:pPr>
                      <a:r>
                        <a:rPr lang="zh-CN" altLang="en-US" sz="1100" kern="0" dirty="0">
                          <a:effectLst/>
                          <a:latin typeface="宋体" panose="02010600030101010101" pitchFamily="2" charset="-122"/>
                          <a:ea typeface="宋体" panose="02010600030101010101" pitchFamily="2" charset="-122"/>
                          <a:cs typeface="宋体" panose="02010600030101010101" pitchFamily="2" charset="-122"/>
                        </a:rPr>
                        <a:t>绘制折线图</a:t>
                      </a:r>
                      <a:endParaRPr lang="zh-CN" alt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noFill/>
                  </a:tcPr>
                </a:tc>
                <a:extLst>
                  <a:ext uri="{0D108BD9-81ED-4DB2-BD59-A6C34878D82A}">
                    <a16:rowId xmlns:a16="http://schemas.microsoft.com/office/drawing/2014/main" val="3014647071"/>
                  </a:ext>
                </a:extLst>
              </a:tr>
              <a:tr h="0">
                <a:tc>
                  <a:txBody>
                    <a:bodyPr/>
                    <a:lstStyle/>
                    <a:p>
                      <a:pPr marL="0" marR="0" indent="0" algn="ctr">
                        <a:lnSpc>
                          <a:spcPct val="150000"/>
                        </a:lnSpc>
                        <a:buNone/>
                      </a:pPr>
                      <a:r>
                        <a:rPr lang="en-US" sz="1100" i="1" kern="0">
                          <a:effectLst/>
                          <a:latin typeface="Times New Roman" panose="02020603050405020304" pitchFamily="18" charset="0"/>
                          <a:ea typeface="宋体" panose="02010600030101010101" pitchFamily="2" charset="-122"/>
                          <a:cs typeface="宋体" panose="02010600030101010101" pitchFamily="2" charset="-122"/>
                        </a:rPr>
                        <a:t>e_bar</a:t>
                      </a:r>
                      <a:endParaRPr 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noFill/>
                  </a:tcPr>
                </a:tc>
                <a:tc>
                  <a:txBody>
                    <a:bodyPr/>
                    <a:lstStyle/>
                    <a:p>
                      <a:pPr marL="0" marR="0" indent="0" algn="ctr">
                        <a:lnSpc>
                          <a:spcPct val="150000"/>
                        </a:lnSpc>
                        <a:buNone/>
                      </a:pPr>
                      <a:r>
                        <a:rPr lang="zh-CN" altLang="en-US" sz="1100" kern="0">
                          <a:effectLst/>
                          <a:latin typeface="宋体" panose="02010600030101010101" pitchFamily="2" charset="-122"/>
                          <a:ea typeface="宋体" panose="02010600030101010101" pitchFamily="2" charset="-122"/>
                          <a:cs typeface="宋体" panose="02010600030101010101" pitchFamily="2" charset="-122"/>
                        </a:rPr>
                        <a:t>绘制柱状图</a:t>
                      </a:r>
                      <a:endParaRPr lang="zh-CN" alt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noFill/>
                  </a:tcPr>
                </a:tc>
                <a:extLst>
                  <a:ext uri="{0D108BD9-81ED-4DB2-BD59-A6C34878D82A}">
                    <a16:rowId xmlns:a16="http://schemas.microsoft.com/office/drawing/2014/main" val="2808251990"/>
                  </a:ext>
                </a:extLst>
              </a:tr>
              <a:tr h="0">
                <a:tc>
                  <a:txBody>
                    <a:bodyPr/>
                    <a:lstStyle/>
                    <a:p>
                      <a:pPr marL="0" marR="0" indent="0" algn="ctr">
                        <a:lnSpc>
                          <a:spcPct val="150000"/>
                        </a:lnSpc>
                        <a:buNone/>
                      </a:pPr>
                      <a:r>
                        <a:rPr lang="en-US" sz="1100" i="1" kern="0">
                          <a:effectLst/>
                          <a:latin typeface="Times New Roman" panose="02020603050405020304" pitchFamily="18" charset="0"/>
                          <a:ea typeface="宋体" panose="02010600030101010101" pitchFamily="2" charset="-122"/>
                          <a:cs typeface="宋体" panose="02010600030101010101" pitchFamily="2" charset="-122"/>
                        </a:rPr>
                        <a:t>e_scatter</a:t>
                      </a:r>
                      <a:endParaRPr 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noFill/>
                  </a:tcPr>
                </a:tc>
                <a:tc>
                  <a:txBody>
                    <a:bodyPr/>
                    <a:lstStyle/>
                    <a:p>
                      <a:pPr marL="0" marR="0" indent="0" algn="ctr">
                        <a:lnSpc>
                          <a:spcPct val="150000"/>
                        </a:lnSpc>
                        <a:buNone/>
                      </a:pPr>
                      <a:r>
                        <a:rPr lang="zh-CN" altLang="en-US" sz="1100" kern="0" dirty="0">
                          <a:effectLst/>
                          <a:latin typeface="宋体" panose="02010600030101010101" pitchFamily="2" charset="-122"/>
                          <a:ea typeface="宋体" panose="02010600030101010101" pitchFamily="2" charset="-122"/>
                          <a:cs typeface="宋体" panose="02010600030101010101" pitchFamily="2" charset="-122"/>
                        </a:rPr>
                        <a:t>绘制散点图</a:t>
                      </a:r>
                      <a:endParaRPr lang="zh-CN" alt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noFill/>
                  </a:tcPr>
                </a:tc>
                <a:extLst>
                  <a:ext uri="{0D108BD9-81ED-4DB2-BD59-A6C34878D82A}">
                    <a16:rowId xmlns:a16="http://schemas.microsoft.com/office/drawing/2014/main" val="1586719633"/>
                  </a:ext>
                </a:extLst>
              </a:tr>
              <a:tr h="0">
                <a:tc>
                  <a:txBody>
                    <a:bodyPr/>
                    <a:lstStyle/>
                    <a:p>
                      <a:pPr marL="0" marR="0" indent="0" algn="ctr">
                        <a:lnSpc>
                          <a:spcPct val="150000"/>
                        </a:lnSpc>
                        <a:buNone/>
                      </a:pPr>
                      <a:r>
                        <a:rPr lang="en-US" sz="1100" i="1" kern="0">
                          <a:effectLst/>
                          <a:latin typeface="Times New Roman" panose="02020603050405020304" pitchFamily="18" charset="0"/>
                          <a:ea typeface="宋体" panose="02010600030101010101" pitchFamily="2" charset="-122"/>
                          <a:cs typeface="宋体" panose="02010600030101010101" pitchFamily="2" charset="-122"/>
                        </a:rPr>
                        <a:t>e_heatmap</a:t>
                      </a:r>
                      <a:endParaRPr 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noFill/>
                  </a:tcPr>
                </a:tc>
                <a:tc>
                  <a:txBody>
                    <a:bodyPr/>
                    <a:lstStyle/>
                    <a:p>
                      <a:pPr marL="0" marR="0" indent="0" algn="ctr">
                        <a:lnSpc>
                          <a:spcPct val="150000"/>
                        </a:lnSpc>
                        <a:buNone/>
                      </a:pPr>
                      <a:r>
                        <a:rPr lang="zh-CN" altLang="en-US" sz="1100" kern="0">
                          <a:effectLst/>
                          <a:latin typeface="宋体" panose="02010600030101010101" pitchFamily="2" charset="-122"/>
                          <a:ea typeface="宋体" panose="02010600030101010101" pitchFamily="2" charset="-122"/>
                          <a:cs typeface="宋体" panose="02010600030101010101" pitchFamily="2" charset="-122"/>
                        </a:rPr>
                        <a:t>绘制热力图</a:t>
                      </a:r>
                      <a:endParaRPr lang="zh-CN" alt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noFill/>
                  </a:tcPr>
                </a:tc>
                <a:extLst>
                  <a:ext uri="{0D108BD9-81ED-4DB2-BD59-A6C34878D82A}">
                    <a16:rowId xmlns:a16="http://schemas.microsoft.com/office/drawing/2014/main" val="3568727599"/>
                  </a:ext>
                </a:extLst>
              </a:tr>
              <a:tr h="0">
                <a:tc>
                  <a:txBody>
                    <a:bodyPr/>
                    <a:lstStyle/>
                    <a:p>
                      <a:pPr marL="0" marR="0" indent="0" algn="ctr">
                        <a:lnSpc>
                          <a:spcPct val="150000"/>
                        </a:lnSpc>
                        <a:buNone/>
                      </a:pPr>
                      <a:r>
                        <a:rPr lang="en-US" sz="1100" i="1" kern="0">
                          <a:effectLst/>
                          <a:latin typeface="Times New Roman" panose="02020603050405020304" pitchFamily="18" charset="0"/>
                          <a:ea typeface="宋体" panose="02010600030101010101" pitchFamily="2" charset="-122"/>
                          <a:cs typeface="宋体" panose="02010600030101010101" pitchFamily="2" charset="-122"/>
                        </a:rPr>
                        <a:t>e_axis_labels</a:t>
                      </a:r>
                      <a:endParaRPr 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noFill/>
                  </a:tcPr>
                </a:tc>
                <a:tc>
                  <a:txBody>
                    <a:bodyPr/>
                    <a:lstStyle/>
                    <a:p>
                      <a:pPr marL="0" marR="0" indent="0" algn="ctr">
                        <a:lnSpc>
                          <a:spcPct val="150000"/>
                        </a:lnSpc>
                        <a:buNone/>
                      </a:pPr>
                      <a:r>
                        <a:rPr lang="zh-CN" altLang="en-US" sz="1100" kern="0">
                          <a:effectLst/>
                          <a:latin typeface="宋体" panose="02010600030101010101" pitchFamily="2" charset="-122"/>
                          <a:ea typeface="宋体" panose="02010600030101010101" pitchFamily="2" charset="-122"/>
                          <a:cs typeface="宋体" panose="02010600030101010101" pitchFamily="2" charset="-122"/>
                        </a:rPr>
                        <a:t>设置</a:t>
                      </a:r>
                      <a:r>
                        <a:rPr lang="en-US" altLang="zh-CN" sz="1100" kern="0">
                          <a:effectLst/>
                          <a:latin typeface="Times New Roman" panose="02020603050405020304" pitchFamily="18" charset="0"/>
                          <a:ea typeface="宋体" panose="02010600030101010101" pitchFamily="2" charset="-122"/>
                          <a:cs typeface="宋体" panose="02010600030101010101" pitchFamily="2" charset="-122"/>
                        </a:rPr>
                        <a:t>x</a:t>
                      </a:r>
                      <a:r>
                        <a:rPr lang="zh-CN" altLang="en-US" sz="1100" kern="0">
                          <a:effectLst/>
                          <a:latin typeface="宋体" panose="02010600030101010101" pitchFamily="2" charset="-122"/>
                          <a:ea typeface="宋体" panose="02010600030101010101" pitchFamily="2" charset="-122"/>
                          <a:cs typeface="宋体" panose="02010600030101010101" pitchFamily="2" charset="-122"/>
                        </a:rPr>
                        <a:t>、</a:t>
                      </a:r>
                      <a:r>
                        <a:rPr lang="en-US" altLang="zh-CN" sz="1100" kern="0">
                          <a:effectLst/>
                          <a:latin typeface="Times New Roman" panose="02020603050405020304" pitchFamily="18" charset="0"/>
                          <a:ea typeface="宋体" panose="02010600030101010101" pitchFamily="2" charset="-122"/>
                          <a:cs typeface="宋体" panose="02010600030101010101" pitchFamily="2" charset="-122"/>
                        </a:rPr>
                        <a:t>y</a:t>
                      </a:r>
                      <a:r>
                        <a:rPr lang="zh-CN" altLang="en-US" sz="1100" kern="0">
                          <a:effectLst/>
                          <a:latin typeface="宋体" panose="02010600030101010101" pitchFamily="2" charset="-122"/>
                          <a:ea typeface="宋体" panose="02010600030101010101" pitchFamily="2" charset="-122"/>
                          <a:cs typeface="宋体" panose="02010600030101010101" pitchFamily="2" charset="-122"/>
                        </a:rPr>
                        <a:t>轴标签</a:t>
                      </a:r>
                      <a:endParaRPr lang="zh-CN" alt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noFill/>
                  </a:tcPr>
                </a:tc>
                <a:extLst>
                  <a:ext uri="{0D108BD9-81ED-4DB2-BD59-A6C34878D82A}">
                    <a16:rowId xmlns:a16="http://schemas.microsoft.com/office/drawing/2014/main" val="3078994929"/>
                  </a:ext>
                </a:extLst>
              </a:tr>
              <a:tr h="0">
                <a:tc>
                  <a:txBody>
                    <a:bodyPr/>
                    <a:lstStyle/>
                    <a:p>
                      <a:pPr marL="0" marR="0" indent="0" algn="ctr">
                        <a:lnSpc>
                          <a:spcPct val="150000"/>
                        </a:lnSpc>
                        <a:buNone/>
                      </a:pPr>
                      <a:r>
                        <a:rPr lang="en-US" sz="1100" i="1" kern="0">
                          <a:effectLst/>
                          <a:latin typeface="Times New Roman" panose="02020603050405020304" pitchFamily="18" charset="0"/>
                          <a:ea typeface="宋体" panose="02010600030101010101" pitchFamily="2" charset="-122"/>
                          <a:cs typeface="宋体" panose="02010600030101010101" pitchFamily="2" charset="-122"/>
                        </a:rPr>
                        <a:t>e_title</a:t>
                      </a:r>
                      <a:endParaRPr 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noFill/>
                  </a:tcPr>
                </a:tc>
                <a:tc>
                  <a:txBody>
                    <a:bodyPr/>
                    <a:lstStyle/>
                    <a:p>
                      <a:pPr marL="0" marR="0" indent="0" algn="ctr">
                        <a:lnSpc>
                          <a:spcPct val="150000"/>
                        </a:lnSpc>
                        <a:buNone/>
                      </a:pPr>
                      <a:r>
                        <a:rPr lang="zh-CN" altLang="en-US" sz="1100" kern="0">
                          <a:effectLst/>
                          <a:latin typeface="宋体" panose="02010600030101010101" pitchFamily="2" charset="-122"/>
                          <a:ea typeface="宋体" panose="02010600030101010101" pitchFamily="2" charset="-122"/>
                          <a:cs typeface="宋体" panose="02010600030101010101" pitchFamily="2" charset="-122"/>
                        </a:rPr>
                        <a:t>设置标题</a:t>
                      </a:r>
                      <a:endParaRPr lang="zh-CN" alt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noFill/>
                  </a:tcPr>
                </a:tc>
                <a:extLst>
                  <a:ext uri="{0D108BD9-81ED-4DB2-BD59-A6C34878D82A}">
                    <a16:rowId xmlns:a16="http://schemas.microsoft.com/office/drawing/2014/main" val="2943343054"/>
                  </a:ext>
                </a:extLst>
              </a:tr>
              <a:tr h="0">
                <a:tc>
                  <a:txBody>
                    <a:bodyPr/>
                    <a:lstStyle/>
                    <a:p>
                      <a:pPr marL="0" marR="0" indent="0" algn="ctr">
                        <a:lnSpc>
                          <a:spcPct val="150000"/>
                        </a:lnSpc>
                        <a:buNone/>
                      </a:pPr>
                      <a:r>
                        <a:rPr lang="en-US" sz="1100" i="1" kern="0" dirty="0" err="1">
                          <a:effectLst/>
                          <a:latin typeface="Times New Roman" panose="02020603050405020304" pitchFamily="18" charset="0"/>
                          <a:ea typeface="宋体" panose="02010600030101010101" pitchFamily="2" charset="-122"/>
                          <a:cs typeface="宋体" panose="02010600030101010101" pitchFamily="2" charset="-122"/>
                        </a:rPr>
                        <a:t>e_legend</a:t>
                      </a:r>
                      <a:endParaRPr 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noFill/>
                  </a:tcPr>
                </a:tc>
                <a:tc>
                  <a:txBody>
                    <a:bodyPr/>
                    <a:lstStyle/>
                    <a:p>
                      <a:pPr marL="0" marR="0" indent="0" algn="ctr">
                        <a:lnSpc>
                          <a:spcPct val="150000"/>
                        </a:lnSpc>
                        <a:buNone/>
                      </a:pPr>
                      <a:r>
                        <a:rPr lang="zh-CN" altLang="en-US" sz="1100" kern="0" dirty="0">
                          <a:effectLst/>
                          <a:latin typeface="宋体" panose="02010600030101010101" pitchFamily="2" charset="-122"/>
                          <a:ea typeface="宋体" panose="02010600030101010101" pitchFamily="2" charset="-122"/>
                          <a:cs typeface="宋体" panose="02010600030101010101" pitchFamily="2" charset="-122"/>
                        </a:rPr>
                        <a:t>设置图例</a:t>
                      </a:r>
                      <a:endParaRPr lang="zh-CN" alt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noFill/>
                  </a:tcPr>
                </a:tc>
                <a:extLst>
                  <a:ext uri="{0D108BD9-81ED-4DB2-BD59-A6C34878D82A}">
                    <a16:rowId xmlns:a16="http://schemas.microsoft.com/office/drawing/2014/main" val="59727894"/>
                  </a:ext>
                </a:extLst>
              </a:tr>
              <a:tr h="0">
                <a:tc>
                  <a:txBody>
                    <a:bodyPr/>
                    <a:lstStyle/>
                    <a:p>
                      <a:pPr marL="0" marR="0" indent="0" algn="ctr">
                        <a:lnSpc>
                          <a:spcPct val="150000"/>
                        </a:lnSpc>
                        <a:buNone/>
                      </a:pPr>
                      <a:r>
                        <a:rPr lang="en-US" sz="1100" i="1" kern="0" dirty="0" err="1">
                          <a:effectLst/>
                          <a:latin typeface="Times New Roman" panose="02020603050405020304" pitchFamily="18" charset="0"/>
                          <a:ea typeface="宋体" panose="02010600030101010101" pitchFamily="2" charset="-122"/>
                          <a:cs typeface="宋体" panose="02010600030101010101" pitchFamily="2" charset="-122"/>
                        </a:rPr>
                        <a:t>e_tooltip</a:t>
                      </a:r>
                      <a:endParaRPr 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indent="0" algn="ctr">
                        <a:lnSpc>
                          <a:spcPct val="150000"/>
                        </a:lnSpc>
                        <a:buNone/>
                      </a:pPr>
                      <a:r>
                        <a:rPr lang="zh-CN" altLang="en-US" sz="1100" kern="0" dirty="0">
                          <a:effectLst/>
                          <a:latin typeface="宋体" panose="02010600030101010101" pitchFamily="2" charset="-122"/>
                          <a:ea typeface="宋体" panose="02010600030101010101" pitchFamily="2" charset="-122"/>
                          <a:cs typeface="宋体" panose="02010600030101010101" pitchFamily="2" charset="-122"/>
                        </a:rPr>
                        <a:t>设置交互提示</a:t>
                      </a:r>
                      <a:endParaRPr lang="zh-CN" alt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0022243"/>
                  </a:ext>
                </a:extLst>
              </a:tr>
            </a:tbl>
          </a:graphicData>
        </a:graphic>
      </p:graphicFrame>
      <p:graphicFrame>
        <p:nvGraphicFramePr>
          <p:cNvPr id="10" name="表格 9">
            <a:extLst>
              <a:ext uri="{FF2B5EF4-FFF2-40B4-BE49-F238E27FC236}">
                <a16:creationId xmlns:a16="http://schemas.microsoft.com/office/drawing/2014/main" id="{E9C4ECBE-AB92-B840-5920-CDBB1D1CB893}"/>
              </a:ext>
            </a:extLst>
          </p:cNvPr>
          <p:cNvGraphicFramePr>
            <a:graphicFrameLocks noGrp="1"/>
          </p:cNvGraphicFramePr>
          <p:nvPr>
            <p:extLst>
              <p:ext uri="{D42A27DB-BD31-4B8C-83A1-F6EECF244321}">
                <p14:modId xmlns:p14="http://schemas.microsoft.com/office/powerpoint/2010/main" val="3425073408"/>
              </p:ext>
            </p:extLst>
          </p:nvPr>
        </p:nvGraphicFramePr>
        <p:xfrm>
          <a:off x="4838702" y="2872265"/>
          <a:ext cx="3774430" cy="3126295"/>
        </p:xfrm>
        <a:graphic>
          <a:graphicData uri="http://schemas.openxmlformats.org/drawingml/2006/table">
            <a:tbl>
              <a:tblPr/>
              <a:tblGrid>
                <a:gridCol w="1483050">
                  <a:extLst>
                    <a:ext uri="{9D8B030D-6E8A-4147-A177-3AD203B41FA5}">
                      <a16:colId xmlns:a16="http://schemas.microsoft.com/office/drawing/2014/main" val="2602673555"/>
                    </a:ext>
                  </a:extLst>
                </a:gridCol>
                <a:gridCol w="2291380">
                  <a:extLst>
                    <a:ext uri="{9D8B030D-6E8A-4147-A177-3AD203B41FA5}">
                      <a16:colId xmlns:a16="http://schemas.microsoft.com/office/drawing/2014/main" val="1682874836"/>
                    </a:ext>
                  </a:extLst>
                </a:gridCol>
              </a:tblGrid>
              <a:tr h="345567">
                <a:tc>
                  <a:txBody>
                    <a:bodyPr/>
                    <a:lstStyle/>
                    <a:p>
                      <a:pPr marL="0" marR="0" indent="0" algn="ctr">
                        <a:lnSpc>
                          <a:spcPct val="150000"/>
                        </a:lnSpc>
                        <a:buNone/>
                      </a:pPr>
                      <a:r>
                        <a:rPr lang="zh-CN" altLang="en-US" sz="1100" b="1" kern="0">
                          <a:effectLst/>
                          <a:latin typeface="宋体" panose="02010600030101010101" pitchFamily="2" charset="-122"/>
                          <a:ea typeface="宋体" panose="02010600030101010101" pitchFamily="2" charset="-122"/>
                          <a:cs typeface="宋体" panose="02010600030101010101" pitchFamily="2" charset="-122"/>
                        </a:rPr>
                        <a:t>函数</a:t>
                      </a:r>
                      <a:endParaRPr lang="zh-CN" alt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zh-CN" altLang="en-US" sz="1100" b="1" kern="0" dirty="0">
                          <a:effectLst/>
                          <a:latin typeface="宋体" panose="02010600030101010101" pitchFamily="2" charset="-122"/>
                          <a:ea typeface="宋体" panose="02010600030101010101" pitchFamily="2" charset="-122"/>
                          <a:cs typeface="宋体" panose="02010600030101010101" pitchFamily="2" charset="-122"/>
                        </a:rPr>
                        <a:t>描述</a:t>
                      </a:r>
                      <a:endParaRPr lang="zh-CN" alt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2116299"/>
                  </a:ext>
                </a:extLst>
              </a:tr>
              <a:tr h="347591">
                <a:tc>
                  <a:txBody>
                    <a:bodyPr/>
                    <a:lstStyle/>
                    <a:p>
                      <a:pPr marL="0" marR="0" indent="0" algn="ctr">
                        <a:lnSpc>
                          <a:spcPct val="150000"/>
                        </a:lnSpc>
                        <a:buNone/>
                      </a:pPr>
                      <a:r>
                        <a:rPr lang="en-US" sz="1100" i="1" kern="0" dirty="0" err="1">
                          <a:effectLst/>
                          <a:latin typeface="Times New Roman" panose="02020603050405020304" pitchFamily="18" charset="0"/>
                          <a:ea typeface="宋体" panose="02010600030101010101" pitchFamily="2" charset="-122"/>
                          <a:cs typeface="宋体" panose="02010600030101010101" pitchFamily="2" charset="-122"/>
                        </a:rPr>
                        <a:t>e_theme</a:t>
                      </a:r>
                      <a:endParaRPr 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w="19050" cap="flat" cmpd="sng" algn="ctr">
                      <a:solidFill>
                        <a:srgbClr val="000000"/>
                      </a:solidFill>
                      <a:prstDash val="solid"/>
                      <a:round/>
                      <a:headEnd type="none" w="med" len="med"/>
                      <a:tailEnd type="none" w="med" len="med"/>
                    </a:lnT>
                    <a:lnB>
                      <a:noFill/>
                    </a:lnB>
                    <a:noFill/>
                  </a:tcPr>
                </a:tc>
                <a:tc>
                  <a:txBody>
                    <a:bodyPr/>
                    <a:lstStyle/>
                    <a:p>
                      <a:pPr marL="0" marR="0" indent="0" algn="ctr">
                        <a:lnSpc>
                          <a:spcPct val="150000"/>
                        </a:lnSpc>
                        <a:buNone/>
                      </a:pPr>
                      <a:r>
                        <a:rPr lang="zh-CN" altLang="en-US" sz="1100" kern="0" dirty="0">
                          <a:effectLst/>
                          <a:latin typeface="宋体" panose="02010600030101010101" pitchFamily="2" charset="-122"/>
                          <a:ea typeface="宋体" panose="02010600030101010101" pitchFamily="2" charset="-122"/>
                          <a:cs typeface="宋体" panose="02010600030101010101" pitchFamily="2" charset="-122"/>
                        </a:rPr>
                        <a:t>设置绘制主题</a:t>
                      </a:r>
                      <a:endParaRPr lang="zh-CN" alt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w="190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369424296"/>
                  </a:ext>
                </a:extLst>
              </a:tr>
              <a:tr h="347591">
                <a:tc>
                  <a:txBody>
                    <a:bodyPr/>
                    <a:lstStyle/>
                    <a:p>
                      <a:pPr marL="0" marR="0" indent="0" algn="ctr">
                        <a:lnSpc>
                          <a:spcPct val="150000"/>
                        </a:lnSpc>
                        <a:buNone/>
                      </a:pPr>
                      <a:r>
                        <a:rPr lang="en-US" sz="1100" i="1" kern="0">
                          <a:effectLst/>
                          <a:latin typeface="Times New Roman" panose="02020603050405020304" pitchFamily="18" charset="0"/>
                          <a:ea typeface="宋体" panose="02010600030101010101" pitchFamily="2" charset="-122"/>
                          <a:cs typeface="宋体" panose="02010600030101010101" pitchFamily="2" charset="-122"/>
                        </a:rPr>
                        <a:t>e_map</a:t>
                      </a:r>
                      <a:endParaRPr 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a:noFill/>
                    </a:lnT>
                    <a:lnB>
                      <a:noFill/>
                    </a:lnB>
                    <a:noFill/>
                  </a:tcPr>
                </a:tc>
                <a:tc>
                  <a:txBody>
                    <a:bodyPr/>
                    <a:lstStyle/>
                    <a:p>
                      <a:pPr marL="0" marR="0" indent="0" algn="ctr">
                        <a:lnSpc>
                          <a:spcPct val="150000"/>
                        </a:lnSpc>
                        <a:buNone/>
                      </a:pPr>
                      <a:r>
                        <a:rPr lang="zh-CN" altLang="en-US" sz="1100" kern="0">
                          <a:effectLst/>
                          <a:latin typeface="宋体" panose="02010600030101010101" pitchFamily="2" charset="-122"/>
                          <a:ea typeface="宋体" panose="02010600030101010101" pitchFamily="2" charset="-122"/>
                          <a:cs typeface="宋体" panose="02010600030101010101" pitchFamily="2" charset="-122"/>
                        </a:rPr>
                        <a:t>绘制地图</a:t>
                      </a:r>
                      <a:endParaRPr lang="zh-CN" alt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a:noFill/>
                    </a:lnT>
                    <a:lnB>
                      <a:noFill/>
                    </a:lnB>
                    <a:noFill/>
                  </a:tcPr>
                </a:tc>
                <a:extLst>
                  <a:ext uri="{0D108BD9-81ED-4DB2-BD59-A6C34878D82A}">
                    <a16:rowId xmlns:a16="http://schemas.microsoft.com/office/drawing/2014/main" val="3392733122"/>
                  </a:ext>
                </a:extLst>
              </a:tr>
              <a:tr h="347591">
                <a:tc>
                  <a:txBody>
                    <a:bodyPr/>
                    <a:lstStyle/>
                    <a:p>
                      <a:pPr marL="0" marR="0" indent="0" algn="ctr">
                        <a:lnSpc>
                          <a:spcPct val="150000"/>
                        </a:lnSpc>
                        <a:buNone/>
                      </a:pPr>
                      <a:r>
                        <a:rPr lang="en-US" sz="1100" i="1" kern="0">
                          <a:effectLst/>
                          <a:latin typeface="Times New Roman" panose="02020603050405020304" pitchFamily="18" charset="0"/>
                          <a:ea typeface="宋体" panose="02010600030101010101" pitchFamily="2" charset="-122"/>
                          <a:cs typeface="宋体" panose="02010600030101010101" pitchFamily="2" charset="-122"/>
                        </a:rPr>
                        <a:t>e_map_register</a:t>
                      </a:r>
                      <a:endParaRPr 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a:noFill/>
                    </a:lnT>
                    <a:lnB>
                      <a:noFill/>
                    </a:lnB>
                    <a:noFill/>
                  </a:tcPr>
                </a:tc>
                <a:tc>
                  <a:txBody>
                    <a:bodyPr/>
                    <a:lstStyle/>
                    <a:p>
                      <a:pPr marL="0" marR="0" indent="0" algn="ctr">
                        <a:lnSpc>
                          <a:spcPct val="150000"/>
                        </a:lnSpc>
                        <a:buNone/>
                      </a:pPr>
                      <a:r>
                        <a:rPr lang="zh-CN" altLang="en-US" sz="1100" kern="0">
                          <a:effectLst/>
                          <a:latin typeface="宋体" panose="02010600030101010101" pitchFamily="2" charset="-122"/>
                          <a:ea typeface="宋体" panose="02010600030101010101" pitchFamily="2" charset="-122"/>
                          <a:cs typeface="宋体" panose="02010600030101010101" pitchFamily="2" charset="-122"/>
                        </a:rPr>
                        <a:t>注册</a:t>
                      </a:r>
                      <a:r>
                        <a:rPr lang="en-US" sz="1100" kern="0">
                          <a:effectLst/>
                          <a:latin typeface="Times New Roman" panose="02020603050405020304" pitchFamily="18" charset="0"/>
                          <a:ea typeface="宋体" panose="02010600030101010101" pitchFamily="2" charset="-122"/>
                          <a:cs typeface="宋体" panose="02010600030101010101" pitchFamily="2" charset="-122"/>
                        </a:rPr>
                        <a:t>geojson</a:t>
                      </a:r>
                      <a:r>
                        <a:rPr lang="zh-CN" altLang="en-US" sz="1100" kern="0">
                          <a:effectLst/>
                          <a:latin typeface="宋体" panose="02010600030101010101" pitchFamily="2" charset="-122"/>
                          <a:ea typeface="宋体" panose="02010600030101010101" pitchFamily="2" charset="-122"/>
                          <a:cs typeface="宋体" panose="02010600030101010101" pitchFamily="2" charset="-122"/>
                        </a:rPr>
                        <a:t>地图</a:t>
                      </a:r>
                      <a:endParaRPr lang="zh-CN" alt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a:noFill/>
                    </a:lnT>
                    <a:lnB>
                      <a:noFill/>
                    </a:lnB>
                    <a:noFill/>
                  </a:tcPr>
                </a:tc>
                <a:extLst>
                  <a:ext uri="{0D108BD9-81ED-4DB2-BD59-A6C34878D82A}">
                    <a16:rowId xmlns:a16="http://schemas.microsoft.com/office/drawing/2014/main" val="2388522700"/>
                  </a:ext>
                </a:extLst>
              </a:tr>
              <a:tr h="347591">
                <a:tc>
                  <a:txBody>
                    <a:bodyPr/>
                    <a:lstStyle/>
                    <a:p>
                      <a:pPr marL="0" marR="0" indent="0" algn="ctr">
                        <a:lnSpc>
                          <a:spcPct val="150000"/>
                        </a:lnSpc>
                        <a:buNone/>
                      </a:pPr>
                      <a:r>
                        <a:rPr lang="en-US" sz="1100" i="1" kern="0" dirty="0" err="1">
                          <a:effectLst/>
                          <a:latin typeface="Times New Roman" panose="02020603050405020304" pitchFamily="18" charset="0"/>
                          <a:ea typeface="宋体" panose="02010600030101010101" pitchFamily="2" charset="-122"/>
                          <a:cs typeface="宋体" panose="02010600030101010101" pitchFamily="2" charset="-122"/>
                        </a:rPr>
                        <a:t>e_visual_map</a:t>
                      </a:r>
                      <a:endParaRPr 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a:noFill/>
                    </a:lnT>
                    <a:lnB>
                      <a:noFill/>
                    </a:lnB>
                    <a:noFill/>
                  </a:tcPr>
                </a:tc>
                <a:tc>
                  <a:txBody>
                    <a:bodyPr/>
                    <a:lstStyle/>
                    <a:p>
                      <a:pPr marL="0" marR="0" indent="0" algn="ctr">
                        <a:lnSpc>
                          <a:spcPct val="150000"/>
                        </a:lnSpc>
                        <a:buNone/>
                      </a:pPr>
                      <a:r>
                        <a:rPr lang="zh-CN" altLang="en-US" sz="1100" kern="0">
                          <a:effectLst/>
                          <a:latin typeface="宋体" panose="02010600030101010101" pitchFamily="2" charset="-122"/>
                          <a:ea typeface="宋体" panose="02010600030101010101" pitchFamily="2" charset="-122"/>
                          <a:cs typeface="宋体" panose="02010600030101010101" pitchFamily="2" charset="-122"/>
                        </a:rPr>
                        <a:t>地图可视映射</a:t>
                      </a:r>
                      <a:endParaRPr lang="zh-CN" alt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a:noFill/>
                    </a:lnT>
                    <a:lnB>
                      <a:noFill/>
                    </a:lnB>
                    <a:noFill/>
                  </a:tcPr>
                </a:tc>
                <a:extLst>
                  <a:ext uri="{0D108BD9-81ED-4DB2-BD59-A6C34878D82A}">
                    <a16:rowId xmlns:a16="http://schemas.microsoft.com/office/drawing/2014/main" val="2613854935"/>
                  </a:ext>
                </a:extLst>
              </a:tr>
              <a:tr h="347591">
                <a:tc>
                  <a:txBody>
                    <a:bodyPr/>
                    <a:lstStyle/>
                    <a:p>
                      <a:pPr marL="0" marR="0" indent="0" algn="ctr">
                        <a:lnSpc>
                          <a:spcPct val="150000"/>
                        </a:lnSpc>
                        <a:buNone/>
                      </a:pPr>
                      <a:r>
                        <a:rPr lang="en-US" sz="1100" i="1" kern="0">
                          <a:effectLst/>
                          <a:latin typeface="Times New Roman" panose="02020603050405020304" pitchFamily="18" charset="0"/>
                          <a:ea typeface="宋体" panose="02010600030101010101" pitchFamily="2" charset="-122"/>
                          <a:cs typeface="宋体" panose="02010600030101010101" pitchFamily="2" charset="-122"/>
                        </a:rPr>
                        <a:t>e_globe</a:t>
                      </a:r>
                      <a:endParaRPr 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a:noFill/>
                    </a:lnT>
                    <a:lnB>
                      <a:noFill/>
                    </a:lnB>
                    <a:noFill/>
                  </a:tcPr>
                </a:tc>
                <a:tc>
                  <a:txBody>
                    <a:bodyPr/>
                    <a:lstStyle/>
                    <a:p>
                      <a:pPr marL="0" marR="0" indent="0" algn="ctr">
                        <a:lnSpc>
                          <a:spcPct val="150000"/>
                        </a:lnSpc>
                        <a:buNone/>
                      </a:pPr>
                      <a:r>
                        <a:rPr lang="zh-CN" altLang="en-US" sz="1100" kern="0">
                          <a:effectLst/>
                          <a:latin typeface="宋体" panose="02010600030101010101" pitchFamily="2" charset="-122"/>
                          <a:ea typeface="宋体" panose="02010600030101010101" pitchFamily="2" charset="-122"/>
                          <a:cs typeface="宋体" panose="02010600030101010101" pitchFamily="2" charset="-122"/>
                        </a:rPr>
                        <a:t>绘制</a:t>
                      </a:r>
                      <a:r>
                        <a:rPr lang="en-US" altLang="zh-CN" sz="1100" kern="0">
                          <a:effectLst/>
                          <a:latin typeface="Times New Roman" panose="02020603050405020304" pitchFamily="18" charset="0"/>
                          <a:ea typeface="宋体" panose="02010600030101010101" pitchFamily="2" charset="-122"/>
                          <a:cs typeface="宋体" panose="02010600030101010101" pitchFamily="2" charset="-122"/>
                        </a:rPr>
                        <a:t>3</a:t>
                      </a:r>
                      <a:r>
                        <a:rPr lang="en-US" sz="1100" kern="0">
                          <a:effectLst/>
                          <a:latin typeface="Times New Roman" panose="02020603050405020304" pitchFamily="18" charset="0"/>
                          <a:ea typeface="宋体" panose="02010600030101010101" pitchFamily="2" charset="-122"/>
                          <a:cs typeface="宋体" panose="02010600030101010101" pitchFamily="2" charset="-122"/>
                        </a:rPr>
                        <a:t>D</a:t>
                      </a:r>
                      <a:r>
                        <a:rPr lang="zh-CN" altLang="en-US" sz="1100" kern="0">
                          <a:effectLst/>
                          <a:latin typeface="宋体" panose="02010600030101010101" pitchFamily="2" charset="-122"/>
                          <a:ea typeface="宋体" panose="02010600030101010101" pitchFamily="2" charset="-122"/>
                          <a:cs typeface="宋体" panose="02010600030101010101" pitchFamily="2" charset="-122"/>
                        </a:rPr>
                        <a:t>地球</a:t>
                      </a:r>
                      <a:endParaRPr lang="zh-CN" alt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a:noFill/>
                    </a:lnT>
                    <a:lnB>
                      <a:noFill/>
                    </a:lnB>
                    <a:noFill/>
                  </a:tcPr>
                </a:tc>
                <a:extLst>
                  <a:ext uri="{0D108BD9-81ED-4DB2-BD59-A6C34878D82A}">
                    <a16:rowId xmlns:a16="http://schemas.microsoft.com/office/drawing/2014/main" val="1388673788"/>
                  </a:ext>
                </a:extLst>
              </a:tr>
              <a:tr h="347591">
                <a:tc>
                  <a:txBody>
                    <a:bodyPr/>
                    <a:lstStyle/>
                    <a:p>
                      <a:pPr marL="0" marR="0" indent="0" algn="ctr">
                        <a:lnSpc>
                          <a:spcPct val="150000"/>
                        </a:lnSpc>
                        <a:buNone/>
                      </a:pPr>
                      <a:r>
                        <a:rPr lang="en-US" sz="1100" i="1" kern="0">
                          <a:effectLst/>
                          <a:latin typeface="Times New Roman" panose="02020603050405020304" pitchFamily="18" charset="0"/>
                          <a:ea typeface="宋体" panose="02010600030101010101" pitchFamily="2" charset="-122"/>
                          <a:cs typeface="宋体" panose="02010600030101010101" pitchFamily="2" charset="-122"/>
                        </a:rPr>
                        <a:t>e_lines_3d</a:t>
                      </a:r>
                      <a:endParaRPr 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a:noFill/>
                    </a:lnT>
                    <a:lnB>
                      <a:noFill/>
                    </a:lnB>
                    <a:noFill/>
                  </a:tcPr>
                </a:tc>
                <a:tc>
                  <a:txBody>
                    <a:bodyPr/>
                    <a:lstStyle/>
                    <a:p>
                      <a:pPr marL="0" marR="0" indent="0" algn="ctr">
                        <a:lnSpc>
                          <a:spcPct val="150000"/>
                        </a:lnSpc>
                        <a:buNone/>
                      </a:pPr>
                      <a:r>
                        <a:rPr lang="zh-CN" altLang="en-US" sz="1100" kern="0" dirty="0">
                          <a:effectLst/>
                          <a:latin typeface="宋体" panose="02010600030101010101" pitchFamily="2" charset="-122"/>
                          <a:ea typeface="宋体" panose="02010600030101010101" pitchFamily="2" charset="-122"/>
                          <a:cs typeface="宋体" panose="02010600030101010101" pitchFamily="2" charset="-122"/>
                        </a:rPr>
                        <a:t>绘制</a:t>
                      </a:r>
                      <a:r>
                        <a:rPr lang="en-US" altLang="zh-CN" sz="1100" kern="0" dirty="0">
                          <a:effectLst/>
                          <a:latin typeface="Times New Roman" panose="02020603050405020304" pitchFamily="18" charset="0"/>
                          <a:ea typeface="宋体" panose="02010600030101010101" pitchFamily="2" charset="-122"/>
                          <a:cs typeface="宋体" panose="02010600030101010101" pitchFamily="2" charset="-122"/>
                        </a:rPr>
                        <a:t>3</a:t>
                      </a:r>
                      <a:r>
                        <a:rPr lang="en-US" sz="1100" kern="0" dirty="0">
                          <a:effectLst/>
                          <a:latin typeface="Times New Roman" panose="02020603050405020304" pitchFamily="18" charset="0"/>
                          <a:ea typeface="宋体" panose="02010600030101010101" pitchFamily="2" charset="-122"/>
                          <a:cs typeface="宋体" panose="02010600030101010101" pitchFamily="2" charset="-122"/>
                        </a:rPr>
                        <a:t>D</a:t>
                      </a:r>
                      <a:r>
                        <a:rPr lang="zh-CN" altLang="en-US" sz="1100" kern="0" dirty="0">
                          <a:effectLst/>
                          <a:latin typeface="宋体" panose="02010600030101010101" pitchFamily="2" charset="-122"/>
                          <a:ea typeface="宋体" panose="02010600030101010101" pitchFamily="2" charset="-122"/>
                          <a:cs typeface="宋体" panose="02010600030101010101" pitchFamily="2" charset="-122"/>
                        </a:rPr>
                        <a:t>线段</a:t>
                      </a:r>
                      <a:endParaRPr lang="zh-CN" alt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a:noFill/>
                    </a:lnT>
                    <a:lnB>
                      <a:noFill/>
                    </a:lnB>
                    <a:noFill/>
                  </a:tcPr>
                </a:tc>
                <a:extLst>
                  <a:ext uri="{0D108BD9-81ED-4DB2-BD59-A6C34878D82A}">
                    <a16:rowId xmlns:a16="http://schemas.microsoft.com/office/drawing/2014/main" val="1799027955"/>
                  </a:ext>
                </a:extLst>
              </a:tr>
              <a:tr h="347591">
                <a:tc>
                  <a:txBody>
                    <a:bodyPr/>
                    <a:lstStyle/>
                    <a:p>
                      <a:pPr marL="0" marR="0" indent="0" algn="ctr">
                        <a:lnSpc>
                          <a:spcPct val="150000"/>
                        </a:lnSpc>
                        <a:buNone/>
                      </a:pPr>
                      <a:r>
                        <a:rPr lang="en-US" sz="1100" i="1" kern="0">
                          <a:effectLst/>
                          <a:latin typeface="Times New Roman" panose="02020603050405020304" pitchFamily="18" charset="0"/>
                          <a:ea typeface="宋体" panose="02010600030101010101" pitchFamily="2" charset="-122"/>
                          <a:cs typeface="宋体" panose="02010600030101010101" pitchFamily="2" charset="-122"/>
                        </a:rPr>
                        <a:t>e_bar_3d</a:t>
                      </a:r>
                      <a:endParaRPr 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a:noFill/>
                    </a:lnT>
                    <a:lnB>
                      <a:noFill/>
                    </a:lnB>
                    <a:noFill/>
                  </a:tcPr>
                </a:tc>
                <a:tc>
                  <a:txBody>
                    <a:bodyPr/>
                    <a:lstStyle/>
                    <a:p>
                      <a:pPr marL="0" marR="0" indent="0" algn="ctr">
                        <a:lnSpc>
                          <a:spcPct val="150000"/>
                        </a:lnSpc>
                        <a:buNone/>
                      </a:pPr>
                      <a:r>
                        <a:rPr lang="zh-CN" altLang="en-US" sz="1100" kern="0" dirty="0">
                          <a:effectLst/>
                          <a:latin typeface="宋体" panose="02010600030101010101" pitchFamily="2" charset="-122"/>
                          <a:ea typeface="宋体" panose="02010600030101010101" pitchFamily="2" charset="-122"/>
                          <a:cs typeface="宋体" panose="02010600030101010101" pitchFamily="2" charset="-122"/>
                        </a:rPr>
                        <a:t>绘制</a:t>
                      </a:r>
                      <a:r>
                        <a:rPr lang="en-US" altLang="zh-CN" sz="1100" kern="0" dirty="0">
                          <a:effectLst/>
                          <a:latin typeface="Times New Roman" panose="02020603050405020304" pitchFamily="18" charset="0"/>
                          <a:ea typeface="宋体" panose="02010600030101010101" pitchFamily="2" charset="-122"/>
                          <a:cs typeface="宋体" panose="02010600030101010101" pitchFamily="2" charset="-122"/>
                        </a:rPr>
                        <a:t>3</a:t>
                      </a:r>
                      <a:r>
                        <a:rPr lang="en-US" sz="1100" kern="0" dirty="0">
                          <a:effectLst/>
                          <a:latin typeface="Times New Roman" panose="02020603050405020304" pitchFamily="18" charset="0"/>
                          <a:ea typeface="宋体" panose="02010600030101010101" pitchFamily="2" charset="-122"/>
                          <a:cs typeface="宋体" panose="02010600030101010101" pitchFamily="2" charset="-122"/>
                        </a:rPr>
                        <a:t>D</a:t>
                      </a:r>
                      <a:r>
                        <a:rPr lang="zh-CN" altLang="en-US" sz="1100" kern="0" dirty="0">
                          <a:effectLst/>
                          <a:latin typeface="宋体" panose="02010600030101010101" pitchFamily="2" charset="-122"/>
                          <a:ea typeface="宋体" panose="02010600030101010101" pitchFamily="2" charset="-122"/>
                          <a:cs typeface="宋体" panose="02010600030101010101" pitchFamily="2" charset="-122"/>
                        </a:rPr>
                        <a:t>柱段</a:t>
                      </a:r>
                      <a:endParaRPr lang="zh-CN" alt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a:noFill/>
                    </a:lnT>
                    <a:lnB>
                      <a:noFill/>
                    </a:lnB>
                    <a:noFill/>
                  </a:tcPr>
                </a:tc>
                <a:extLst>
                  <a:ext uri="{0D108BD9-81ED-4DB2-BD59-A6C34878D82A}">
                    <a16:rowId xmlns:a16="http://schemas.microsoft.com/office/drawing/2014/main" val="1234383577"/>
                  </a:ext>
                </a:extLst>
              </a:tr>
              <a:tr h="347591">
                <a:tc>
                  <a:txBody>
                    <a:bodyPr/>
                    <a:lstStyle/>
                    <a:p>
                      <a:pPr marL="0" marR="0" indent="0" algn="ctr">
                        <a:lnSpc>
                          <a:spcPct val="150000"/>
                        </a:lnSpc>
                        <a:buNone/>
                      </a:pPr>
                      <a:r>
                        <a:rPr lang="en-US" sz="1100" i="1" kern="0">
                          <a:effectLst/>
                          <a:latin typeface="Times New Roman" panose="02020603050405020304" pitchFamily="18" charset="0"/>
                          <a:ea typeface="宋体" panose="02010600030101010101" pitchFamily="2" charset="-122"/>
                          <a:cs typeface="宋体" panose="02010600030101010101" pitchFamily="2" charset="-122"/>
                        </a:rPr>
                        <a:t>e_scatter_3d</a:t>
                      </a:r>
                      <a:endParaRPr lang="en-US" sz="110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zh-CN" altLang="en-US" sz="1100" kern="0" dirty="0">
                          <a:effectLst/>
                          <a:latin typeface="宋体" panose="02010600030101010101" pitchFamily="2" charset="-122"/>
                          <a:ea typeface="宋体" panose="02010600030101010101" pitchFamily="2" charset="-122"/>
                          <a:cs typeface="宋体" panose="02010600030101010101" pitchFamily="2" charset="-122"/>
                        </a:rPr>
                        <a:t>绘制</a:t>
                      </a:r>
                      <a:r>
                        <a:rPr lang="en-US" altLang="zh-CN" sz="1100" kern="0" dirty="0">
                          <a:effectLst/>
                          <a:latin typeface="Times New Roman" panose="02020603050405020304" pitchFamily="18" charset="0"/>
                          <a:ea typeface="宋体" panose="02010600030101010101" pitchFamily="2" charset="-122"/>
                          <a:cs typeface="宋体" panose="02010600030101010101" pitchFamily="2" charset="-122"/>
                        </a:rPr>
                        <a:t>3</a:t>
                      </a:r>
                      <a:r>
                        <a:rPr lang="en-US" sz="1100" kern="0" dirty="0">
                          <a:effectLst/>
                          <a:latin typeface="Times New Roman" panose="02020603050405020304" pitchFamily="18" charset="0"/>
                          <a:ea typeface="宋体" panose="02010600030101010101" pitchFamily="2" charset="-122"/>
                          <a:cs typeface="宋体" panose="02010600030101010101" pitchFamily="2" charset="-122"/>
                        </a:rPr>
                        <a:t>D</a:t>
                      </a:r>
                      <a:r>
                        <a:rPr lang="zh-CN" altLang="en-US" sz="1100" kern="0" dirty="0">
                          <a:effectLst/>
                          <a:latin typeface="宋体" panose="02010600030101010101" pitchFamily="2" charset="-122"/>
                          <a:ea typeface="宋体" panose="02010600030101010101" pitchFamily="2" charset="-122"/>
                          <a:cs typeface="宋体" panose="02010600030101010101" pitchFamily="2" charset="-122"/>
                        </a:rPr>
                        <a:t>散点</a:t>
                      </a:r>
                      <a:endParaRPr lang="zh-CN" altLang="en-US" sz="1100" dirty="0">
                        <a:effectLst/>
                        <a:latin typeface="Times New Roman" panose="02020603050405020304" pitchFamily="18" charset="0"/>
                        <a:ea typeface="宋体" panose="02010600030101010101" pitchFamily="2" charset="-122"/>
                        <a:cs typeface="宋体" panose="02010600030101010101" pitchFamily="2" charset="-122"/>
                      </a:endParaRPr>
                    </a:p>
                  </a:txBody>
                  <a:tcPr marL="54785" marR="54785" marT="36523" marB="36523">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6884520"/>
                  </a:ext>
                </a:extLst>
              </a:tr>
            </a:tbl>
          </a:graphicData>
        </a:graphic>
      </p:graphicFrame>
    </p:spTree>
    <p:extLst>
      <p:ext uri="{BB962C8B-B14F-4D97-AF65-F5344CB8AC3E}">
        <p14:creationId xmlns:p14="http://schemas.microsoft.com/office/powerpoint/2010/main" val="20232010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5C5EF-4740-4D31-0A90-BD69C2A67DE7}"/>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A6B5887-98CB-DA90-2D3E-76585F7A6875}"/>
              </a:ext>
            </a:extLst>
          </p:cNvPr>
          <p:cNvSpPr>
            <a:spLocks noGrp="1"/>
          </p:cNvSpPr>
          <p:nvPr>
            <p:ph type="title"/>
          </p:nvPr>
        </p:nvSpPr>
        <p:spPr/>
        <p:txBody>
          <a:bodyPr/>
          <a:lstStyle/>
          <a:p>
            <a:pPr algn="l"/>
            <a:r>
              <a:rPr lang="en-US" altLang="zh-CN" sz="3600" dirty="0"/>
              <a:t>6.4.1  echarts4r</a:t>
            </a:r>
            <a:r>
              <a:rPr lang="zh-CN" altLang="en-US" sz="3600" dirty="0"/>
              <a:t>包</a:t>
            </a:r>
          </a:p>
        </p:txBody>
      </p:sp>
      <p:sp>
        <p:nvSpPr>
          <p:cNvPr id="4" name="灯片编号占位符 3">
            <a:extLst>
              <a:ext uri="{FF2B5EF4-FFF2-40B4-BE49-F238E27FC236}">
                <a16:creationId xmlns:a16="http://schemas.microsoft.com/office/drawing/2014/main" id="{A5D4A3AA-0877-164D-9862-81A4D1A26537}"/>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41</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7" name="矩形 6">
            <a:extLst>
              <a:ext uri="{FF2B5EF4-FFF2-40B4-BE49-F238E27FC236}">
                <a16:creationId xmlns:a16="http://schemas.microsoft.com/office/drawing/2014/main" id="{D3BCFBDB-A36D-A7B3-12EA-42C55B395372}"/>
              </a:ext>
            </a:extLst>
          </p:cNvPr>
          <p:cNvSpPr/>
          <p:nvPr/>
        </p:nvSpPr>
        <p:spPr>
          <a:xfrm>
            <a:off x="504256" y="1557385"/>
            <a:ext cx="5707857" cy="458715"/>
          </a:xfrm>
          <a:prstGeom prst="rect">
            <a:avLst/>
          </a:prstGeom>
        </p:spPr>
        <p:txBody>
          <a:bodyPr wrap="square">
            <a:spAutoFit/>
          </a:bodyPr>
          <a:lstStyle/>
          <a:p>
            <a:pPr marL="0" marR="0" algn="just">
              <a:lnSpc>
                <a:spcPct val="150000"/>
              </a:lnSpc>
            </a:pPr>
            <a:r>
              <a:rPr lang="en-US" altLang="zh-CN" dirty="0">
                <a:latin typeface="+mn-lt"/>
                <a:ea typeface="+mn-ea"/>
                <a:sym typeface="Consolas" panose="020B0609020204030204" pitchFamily="49" charset="0"/>
              </a:rPr>
              <a:t>echarts4r</a:t>
            </a:r>
            <a:r>
              <a:rPr lang="zh-CN" altLang="en-US" dirty="0">
                <a:latin typeface="+mn-lt"/>
                <a:ea typeface="+mn-ea"/>
                <a:sym typeface="Consolas" panose="020B0609020204030204" pitchFamily="49" charset="0"/>
              </a:rPr>
              <a:t>函数包支持绘制各种统计图表，如散点图等。</a:t>
            </a:r>
            <a:endParaRPr lang="en-US" altLang="zh-CN" dirty="0">
              <a:latin typeface="+mn-lt"/>
              <a:ea typeface="+mn-ea"/>
              <a:sym typeface="Consolas" panose="020B0609020204030204" pitchFamily="49" charset="0"/>
            </a:endParaRPr>
          </a:p>
        </p:txBody>
      </p:sp>
      <p:sp>
        <p:nvSpPr>
          <p:cNvPr id="9" name="文本框 8">
            <a:extLst>
              <a:ext uri="{FF2B5EF4-FFF2-40B4-BE49-F238E27FC236}">
                <a16:creationId xmlns:a16="http://schemas.microsoft.com/office/drawing/2014/main" id="{173C23E1-A12A-BD3F-7A37-D868AE1DFC85}"/>
              </a:ext>
            </a:extLst>
          </p:cNvPr>
          <p:cNvSpPr txBox="1"/>
          <p:nvPr/>
        </p:nvSpPr>
        <p:spPr>
          <a:xfrm>
            <a:off x="6212113" y="1344986"/>
            <a:ext cx="2640865" cy="979114"/>
          </a:xfrm>
          <a:prstGeom prst="rect">
            <a:avLst/>
          </a:prstGeom>
          <a:noFill/>
        </p:spPr>
        <p:txBody>
          <a:bodyPr wrap="square">
            <a:spAutoFit/>
          </a:bodyPr>
          <a:lstStyle/>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library(echarts4r)</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 %&gt;%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e_charts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GDP_per_Land</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e_scatter</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FAI_per_Land</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e_tooltip</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11" name="图片 10">
            <a:extLst>
              <a:ext uri="{FF2B5EF4-FFF2-40B4-BE49-F238E27FC236}">
                <a16:creationId xmlns:a16="http://schemas.microsoft.com/office/drawing/2014/main" id="{FAAD5AE8-22E8-C206-FBD4-777BE7514405}"/>
              </a:ext>
            </a:extLst>
          </p:cNvPr>
          <p:cNvPicPr>
            <a:picLocks noChangeAspect="1"/>
          </p:cNvPicPr>
          <p:nvPr/>
        </p:nvPicPr>
        <p:blipFill>
          <a:blip r:embed="rId2"/>
          <a:stretch>
            <a:fillRect/>
          </a:stretch>
        </p:blipFill>
        <p:spPr>
          <a:xfrm>
            <a:off x="990600" y="2482825"/>
            <a:ext cx="6984567" cy="3792487"/>
          </a:xfrm>
          <a:prstGeom prst="rect">
            <a:avLst/>
          </a:prstGeom>
        </p:spPr>
      </p:pic>
    </p:spTree>
    <p:extLst>
      <p:ext uri="{BB962C8B-B14F-4D97-AF65-F5344CB8AC3E}">
        <p14:creationId xmlns:p14="http://schemas.microsoft.com/office/powerpoint/2010/main" val="28330384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B55D8-EE7E-0FDC-F307-DB1226ED8D9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B9F729F-53D0-700B-5F78-B3A10F670805}"/>
              </a:ext>
            </a:extLst>
          </p:cNvPr>
          <p:cNvSpPr>
            <a:spLocks noGrp="1"/>
          </p:cNvSpPr>
          <p:nvPr>
            <p:ph type="title"/>
          </p:nvPr>
        </p:nvSpPr>
        <p:spPr/>
        <p:txBody>
          <a:bodyPr/>
          <a:lstStyle/>
          <a:p>
            <a:pPr algn="l"/>
            <a:r>
              <a:rPr lang="en-US" altLang="zh-CN" sz="3600" dirty="0"/>
              <a:t>6.4.1  echarts4r</a:t>
            </a:r>
            <a:r>
              <a:rPr lang="zh-CN" altLang="en-US" sz="3600" dirty="0"/>
              <a:t>包</a:t>
            </a:r>
          </a:p>
        </p:txBody>
      </p:sp>
      <p:sp>
        <p:nvSpPr>
          <p:cNvPr id="4" name="灯片编号占位符 3">
            <a:extLst>
              <a:ext uri="{FF2B5EF4-FFF2-40B4-BE49-F238E27FC236}">
                <a16:creationId xmlns:a16="http://schemas.microsoft.com/office/drawing/2014/main" id="{2EF4A7E6-8549-BF08-39DD-299FB090E2DA}"/>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42</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7" name="矩形 6">
            <a:extLst>
              <a:ext uri="{FF2B5EF4-FFF2-40B4-BE49-F238E27FC236}">
                <a16:creationId xmlns:a16="http://schemas.microsoft.com/office/drawing/2014/main" id="{AC18BEDA-54D6-49D8-BDE6-1186E1DC2D0E}"/>
              </a:ext>
            </a:extLst>
          </p:cNvPr>
          <p:cNvSpPr/>
          <p:nvPr/>
        </p:nvSpPr>
        <p:spPr>
          <a:xfrm>
            <a:off x="2176178" y="1143000"/>
            <a:ext cx="4791644" cy="458715"/>
          </a:xfrm>
          <a:prstGeom prst="rect">
            <a:avLst/>
          </a:prstGeom>
        </p:spPr>
        <p:txBody>
          <a:bodyPr wrap="square">
            <a:spAutoFit/>
          </a:bodyPr>
          <a:lstStyle/>
          <a:p>
            <a:pPr marL="0" marR="0" algn="ctr">
              <a:lnSpc>
                <a:spcPct val="150000"/>
              </a:lnSpc>
            </a:pPr>
            <a:r>
              <a:rPr lang="en-US" altLang="zh-CN" dirty="0">
                <a:latin typeface="+mn-lt"/>
                <a:ea typeface="+mn-ea"/>
                <a:sym typeface="Consolas" panose="020B0609020204030204" pitchFamily="49" charset="0"/>
              </a:rPr>
              <a:t>echarts4r</a:t>
            </a:r>
            <a:r>
              <a:rPr lang="zh-CN" altLang="en-US" dirty="0">
                <a:latin typeface="+mn-lt"/>
                <a:ea typeface="+mn-ea"/>
                <a:sym typeface="Consolas" panose="020B0609020204030204" pitchFamily="49" charset="0"/>
              </a:rPr>
              <a:t>函数包也能够使用地图进行可视化。</a:t>
            </a:r>
            <a:endParaRPr lang="en-US" altLang="zh-CN" dirty="0">
              <a:latin typeface="+mn-lt"/>
              <a:ea typeface="+mn-ea"/>
              <a:sym typeface="Consolas" panose="020B0609020204030204" pitchFamily="49" charset="0"/>
            </a:endParaRPr>
          </a:p>
        </p:txBody>
      </p:sp>
      <p:pic>
        <p:nvPicPr>
          <p:cNvPr id="2" name="图片 1">
            <a:extLst>
              <a:ext uri="{FF2B5EF4-FFF2-40B4-BE49-F238E27FC236}">
                <a16:creationId xmlns:a16="http://schemas.microsoft.com/office/drawing/2014/main" id="{3B133ACA-079A-A48A-ABDF-7B67F289C2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4807" y="3305620"/>
            <a:ext cx="5334385" cy="3399980"/>
          </a:xfrm>
          <a:prstGeom prst="rect">
            <a:avLst/>
          </a:prstGeom>
        </p:spPr>
      </p:pic>
      <p:sp>
        <p:nvSpPr>
          <p:cNvPr id="10" name="文本框 9">
            <a:extLst>
              <a:ext uri="{FF2B5EF4-FFF2-40B4-BE49-F238E27FC236}">
                <a16:creationId xmlns:a16="http://schemas.microsoft.com/office/drawing/2014/main" id="{5C098B92-F564-A4C1-43E1-F43E3A4AF328}"/>
              </a:ext>
            </a:extLst>
          </p:cNvPr>
          <p:cNvSpPr txBox="1"/>
          <p:nvPr/>
        </p:nvSpPr>
        <p:spPr>
          <a:xfrm>
            <a:off x="1504756" y="1682677"/>
            <a:ext cx="6134485" cy="1517723"/>
          </a:xfrm>
          <a:prstGeom prst="rect">
            <a:avLst/>
          </a:prstGeom>
          <a:noFill/>
        </p:spPr>
        <p:txBody>
          <a:bodyPr wrap="square">
            <a:spAutoFit/>
          </a:bodyPr>
          <a:lstStyle/>
          <a:p>
            <a:pPr marL="0" marR="0" indent="0" algn="l">
              <a:lnSpc>
                <a:spcPts val="1425"/>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usa</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e_charts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lng</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e_geo</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"world"</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center = c(-</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40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zoom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roam = </a:t>
            </a:r>
            <a:r>
              <a:rPr lang="en-US" altLang="zh-CN" sz="105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TRUE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e_heatmap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value,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coord_system</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"geo"</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blurSize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pointSize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e_visual_map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(value)</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7314371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9F155-4159-4848-C173-510EA0EA2BF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4C2DE4A-0307-B958-0A46-B84BB91E3491}"/>
              </a:ext>
            </a:extLst>
          </p:cNvPr>
          <p:cNvPicPr>
            <a:picLocks noChangeAspect="1"/>
          </p:cNvPicPr>
          <p:nvPr/>
        </p:nvPicPr>
        <p:blipFill>
          <a:blip r:embed="rId2" cstate="print">
            <a:extLst>
              <a:ext uri="{28A0092B-C50C-407E-A947-70E740481C1C}">
                <a14:useLocalDpi xmlns:a14="http://schemas.microsoft.com/office/drawing/2010/main" val="0"/>
              </a:ext>
            </a:extLst>
          </a:blip>
          <a:srcRect t="7751" r="9281"/>
          <a:stretch/>
        </p:blipFill>
        <p:spPr>
          <a:xfrm>
            <a:off x="3960848" y="2454913"/>
            <a:ext cx="4803059" cy="3298187"/>
          </a:xfrm>
          <a:prstGeom prst="rect">
            <a:avLst/>
          </a:prstGeom>
        </p:spPr>
      </p:pic>
      <p:sp>
        <p:nvSpPr>
          <p:cNvPr id="5" name="标题 4">
            <a:extLst>
              <a:ext uri="{FF2B5EF4-FFF2-40B4-BE49-F238E27FC236}">
                <a16:creationId xmlns:a16="http://schemas.microsoft.com/office/drawing/2014/main" id="{37E560B5-9E4F-BFE7-9025-0CB93285FF39}"/>
              </a:ext>
            </a:extLst>
          </p:cNvPr>
          <p:cNvSpPr>
            <a:spLocks noGrp="1"/>
          </p:cNvSpPr>
          <p:nvPr>
            <p:ph type="title"/>
          </p:nvPr>
        </p:nvSpPr>
        <p:spPr/>
        <p:txBody>
          <a:bodyPr/>
          <a:lstStyle/>
          <a:p>
            <a:pPr algn="l"/>
            <a:r>
              <a:rPr lang="en-US" altLang="zh-CN" sz="3600" dirty="0"/>
              <a:t>6.4.1  echarts4r</a:t>
            </a:r>
            <a:r>
              <a:rPr lang="zh-CN" altLang="en-US" sz="3600" dirty="0"/>
              <a:t>包</a:t>
            </a:r>
          </a:p>
        </p:txBody>
      </p:sp>
      <p:sp>
        <p:nvSpPr>
          <p:cNvPr id="4" name="灯片编号占位符 3">
            <a:extLst>
              <a:ext uri="{FF2B5EF4-FFF2-40B4-BE49-F238E27FC236}">
                <a16:creationId xmlns:a16="http://schemas.microsoft.com/office/drawing/2014/main" id="{A2B91B20-8AC8-88FD-9D37-8254EBC22DE1}"/>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43</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7" name="矩形 6">
            <a:extLst>
              <a:ext uri="{FF2B5EF4-FFF2-40B4-BE49-F238E27FC236}">
                <a16:creationId xmlns:a16="http://schemas.microsoft.com/office/drawing/2014/main" id="{240BC2AE-B277-3618-C0E6-D6508053095F}"/>
              </a:ext>
            </a:extLst>
          </p:cNvPr>
          <p:cNvSpPr/>
          <p:nvPr/>
        </p:nvSpPr>
        <p:spPr>
          <a:xfrm>
            <a:off x="3628" y="1461842"/>
            <a:ext cx="9140371" cy="458715"/>
          </a:xfrm>
          <a:prstGeom prst="rect">
            <a:avLst/>
          </a:prstGeom>
        </p:spPr>
        <p:txBody>
          <a:bodyPr wrap="square">
            <a:spAutoFit/>
          </a:bodyPr>
          <a:lstStyle/>
          <a:p>
            <a:pPr marL="0" marR="0" indent="457200">
              <a:lnSpc>
                <a:spcPct val="150000"/>
              </a:lnSpc>
            </a:pPr>
            <a:r>
              <a:rPr lang="en-US" altLang="zh-CN" dirty="0">
                <a:latin typeface="+mn-lt"/>
                <a:ea typeface="+mn-ea"/>
                <a:sym typeface="Consolas" panose="020B0609020204030204" pitchFamily="49" charset="0"/>
              </a:rPr>
              <a:t>echarts4r</a:t>
            </a:r>
            <a:r>
              <a:rPr lang="zh-CN" altLang="en-US" dirty="0">
                <a:latin typeface="+mn-lt"/>
                <a:ea typeface="+mn-ea"/>
                <a:sym typeface="Consolas" panose="020B0609020204030204" pitchFamily="49" charset="0"/>
              </a:rPr>
              <a:t>包也支持读入本地的</a:t>
            </a:r>
            <a:r>
              <a:rPr lang="en-US" altLang="zh-CN" dirty="0">
                <a:latin typeface="+mn-lt"/>
                <a:ea typeface="+mn-ea"/>
                <a:sym typeface="Consolas" panose="020B0609020204030204" pitchFamily="49" charset="0"/>
              </a:rPr>
              <a:t>JSON</a:t>
            </a:r>
            <a:r>
              <a:rPr lang="zh-CN" altLang="en-US" dirty="0">
                <a:latin typeface="+mn-lt"/>
                <a:ea typeface="+mn-ea"/>
                <a:sym typeface="Consolas" panose="020B0609020204030204" pitchFamily="49" charset="0"/>
              </a:rPr>
              <a:t>文件并注册为自定义地图，再进行地图可视化。</a:t>
            </a:r>
            <a:endParaRPr lang="en-US" altLang="zh-CN" dirty="0">
              <a:latin typeface="+mn-lt"/>
              <a:ea typeface="+mn-ea"/>
              <a:sym typeface="Consolas" panose="020B0609020204030204" pitchFamily="49" charset="0"/>
            </a:endParaRPr>
          </a:p>
        </p:txBody>
      </p:sp>
      <p:sp>
        <p:nvSpPr>
          <p:cNvPr id="10" name="文本框 9">
            <a:extLst>
              <a:ext uri="{FF2B5EF4-FFF2-40B4-BE49-F238E27FC236}">
                <a16:creationId xmlns:a16="http://schemas.microsoft.com/office/drawing/2014/main" id="{A7BAF05E-CD5F-C8EC-6FEC-9E9F4726E838}"/>
              </a:ext>
            </a:extLst>
          </p:cNvPr>
          <p:cNvSpPr txBox="1"/>
          <p:nvPr/>
        </p:nvSpPr>
        <p:spPr>
          <a:xfrm>
            <a:off x="361950" y="3009900"/>
            <a:ext cx="4267200" cy="2235868"/>
          </a:xfrm>
          <a:prstGeom prst="rect">
            <a:avLst/>
          </a:prstGeom>
          <a:noFill/>
        </p:spPr>
        <p:txBody>
          <a:bodyPr wrap="square">
            <a:spAutoFit/>
          </a:bodyPr>
          <a:lstStyle/>
          <a:p>
            <a:pPr marL="0" marR="0" indent="0" algn="l">
              <a:lnSpc>
                <a:spcPts val="1425"/>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Hubei_map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jsonlite</a:t>
            </a:r>
            <a:r>
              <a:rPr lang="en-US" altLang="zh-CN" sz="105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read_json</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湖北省</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json</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json_df</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as.data.frame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Hubei_map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city_name_df</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json_df</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select(contains(</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"name"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city_name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unlist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city_name_df</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use.names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FALSE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df</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(region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city_name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value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runif</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(length(</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city_name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df</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e_charts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(region) %&gt;%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e_map_register</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"Hubei"</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Hubei_map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e_map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(value, map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"Hubei"</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e_visual_map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(value)</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9852322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E1BA5-D898-B21C-B3FD-74413A730D5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4D117B7F-432A-7001-E5E3-560201F627BE}"/>
              </a:ext>
            </a:extLst>
          </p:cNvPr>
          <p:cNvSpPr>
            <a:spLocks noGrp="1"/>
          </p:cNvSpPr>
          <p:nvPr>
            <p:ph type="title"/>
          </p:nvPr>
        </p:nvSpPr>
        <p:spPr/>
        <p:txBody>
          <a:bodyPr/>
          <a:lstStyle/>
          <a:p>
            <a:pPr algn="l"/>
            <a:r>
              <a:rPr lang="en-US" altLang="zh-CN" sz="3600" dirty="0"/>
              <a:t>6.4.1  echarts4r</a:t>
            </a:r>
            <a:r>
              <a:rPr lang="zh-CN" altLang="en-US" sz="3600" dirty="0"/>
              <a:t>包</a:t>
            </a:r>
          </a:p>
        </p:txBody>
      </p:sp>
      <p:sp>
        <p:nvSpPr>
          <p:cNvPr id="4" name="灯片编号占位符 3">
            <a:extLst>
              <a:ext uri="{FF2B5EF4-FFF2-40B4-BE49-F238E27FC236}">
                <a16:creationId xmlns:a16="http://schemas.microsoft.com/office/drawing/2014/main" id="{E79BA6FC-9BAB-35C9-0EF1-60D02900FA37}"/>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44</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7" name="矩形 6">
            <a:extLst>
              <a:ext uri="{FF2B5EF4-FFF2-40B4-BE49-F238E27FC236}">
                <a16:creationId xmlns:a16="http://schemas.microsoft.com/office/drawing/2014/main" id="{1C2427C1-A06A-4853-DEAA-1E801BB24AAA}"/>
              </a:ext>
            </a:extLst>
          </p:cNvPr>
          <p:cNvSpPr/>
          <p:nvPr/>
        </p:nvSpPr>
        <p:spPr>
          <a:xfrm>
            <a:off x="3628" y="1461842"/>
            <a:ext cx="9140371" cy="458715"/>
          </a:xfrm>
          <a:prstGeom prst="rect">
            <a:avLst/>
          </a:prstGeom>
        </p:spPr>
        <p:txBody>
          <a:bodyPr wrap="square">
            <a:spAutoFit/>
          </a:bodyPr>
          <a:lstStyle/>
          <a:p>
            <a:pPr marL="0" marR="0" indent="457200" algn="ctr">
              <a:lnSpc>
                <a:spcPct val="150000"/>
              </a:lnSpc>
            </a:pPr>
            <a:r>
              <a:rPr lang="en-US" altLang="zh-CN" dirty="0">
                <a:latin typeface="+mn-lt"/>
                <a:ea typeface="+mn-ea"/>
                <a:sym typeface="Consolas" panose="020B0609020204030204" pitchFamily="49" charset="0"/>
              </a:rPr>
              <a:t>echarts4r</a:t>
            </a:r>
            <a:r>
              <a:rPr lang="zh-CN" altLang="en-US" dirty="0">
                <a:latin typeface="+mn-lt"/>
                <a:ea typeface="+mn-ea"/>
                <a:sym typeface="Consolas" panose="020B0609020204030204" pitchFamily="49" charset="0"/>
              </a:rPr>
              <a:t>包还提供了</a:t>
            </a:r>
            <a:r>
              <a:rPr lang="en-US" altLang="zh-CN" dirty="0">
                <a:latin typeface="+mn-lt"/>
                <a:ea typeface="+mn-ea"/>
                <a:sym typeface="Consolas" panose="020B0609020204030204" pitchFamily="49" charset="0"/>
              </a:rPr>
              <a:t>3D</a:t>
            </a:r>
            <a:r>
              <a:rPr lang="zh-CN" altLang="en-US" dirty="0">
                <a:latin typeface="+mn-lt"/>
                <a:ea typeface="+mn-ea"/>
                <a:sym typeface="Consolas" panose="020B0609020204030204" pitchFamily="49" charset="0"/>
              </a:rPr>
              <a:t>地理可视化的相关绘图函数。</a:t>
            </a:r>
            <a:endParaRPr lang="en-US" altLang="zh-CN" dirty="0">
              <a:latin typeface="+mn-lt"/>
              <a:ea typeface="+mn-ea"/>
              <a:sym typeface="Consolas" panose="020B0609020204030204" pitchFamily="49" charset="0"/>
            </a:endParaRPr>
          </a:p>
        </p:txBody>
      </p:sp>
      <p:sp>
        <p:nvSpPr>
          <p:cNvPr id="10" name="文本框 9">
            <a:extLst>
              <a:ext uri="{FF2B5EF4-FFF2-40B4-BE49-F238E27FC236}">
                <a16:creationId xmlns:a16="http://schemas.microsoft.com/office/drawing/2014/main" id="{11DB79B5-27DB-A1B0-3391-C685475852D3}"/>
              </a:ext>
            </a:extLst>
          </p:cNvPr>
          <p:cNvSpPr txBox="1"/>
          <p:nvPr/>
        </p:nvSpPr>
        <p:spPr>
          <a:xfrm>
            <a:off x="304800" y="2365132"/>
            <a:ext cx="4267200" cy="3492623"/>
          </a:xfrm>
          <a:prstGeom prst="rect">
            <a:avLst/>
          </a:prstGeom>
          <a:noFill/>
        </p:spPr>
        <p:txBody>
          <a:bodyPr wrap="square">
            <a:spAutoFit/>
          </a:bodyPr>
          <a:lstStyle/>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library(echarts4r.assets)</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flights &lt;- read.csv(</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"flight.csv"</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flights %&gt;% </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e_charts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 </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e_globe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environment =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ea_asset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"starfield"</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base_texture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ea_asset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"world topo"</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height_texture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ea_asset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"world topo"</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displacementScale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0.05</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%&gt;% </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e_lines_3d(</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start_lon</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start_lat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end_lon</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end_lat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name =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"flights"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effect = </a:t>
            </a:r>
            <a:r>
              <a:rPr lang="en-US" altLang="zh-CN" sz="110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list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(show = </a:t>
            </a:r>
            <a:r>
              <a:rPr lang="en-US" altLang="zh-CN" sz="110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TRUE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%&gt;% </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e_legend</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FALSE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6" name="图片 5">
            <a:extLst>
              <a:ext uri="{FF2B5EF4-FFF2-40B4-BE49-F238E27FC236}">
                <a16:creationId xmlns:a16="http://schemas.microsoft.com/office/drawing/2014/main" id="{DA85494B-B44B-6920-F60F-D95C68ABEA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6200" y="2279285"/>
            <a:ext cx="4800600" cy="3664315"/>
          </a:xfrm>
          <a:prstGeom prst="rect">
            <a:avLst/>
          </a:prstGeom>
        </p:spPr>
      </p:pic>
    </p:spTree>
    <p:extLst>
      <p:ext uri="{BB962C8B-B14F-4D97-AF65-F5344CB8AC3E}">
        <p14:creationId xmlns:p14="http://schemas.microsoft.com/office/powerpoint/2010/main" val="3717999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C2D5B-9E7F-7DB7-FD31-F47DD076125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0502877-AEF2-3D89-CBBA-7C04B7C73F9A}"/>
              </a:ext>
            </a:extLst>
          </p:cNvPr>
          <p:cNvSpPr>
            <a:spLocks noGrp="1"/>
          </p:cNvSpPr>
          <p:nvPr>
            <p:ph type="title"/>
          </p:nvPr>
        </p:nvSpPr>
        <p:spPr/>
        <p:txBody>
          <a:bodyPr/>
          <a:lstStyle/>
          <a:p>
            <a:pPr algn="l"/>
            <a:r>
              <a:rPr lang="en-US" altLang="zh-CN" sz="3600" dirty="0"/>
              <a:t>6.4.2  </a:t>
            </a:r>
            <a:r>
              <a:rPr lang="en-US" altLang="zh-CN" sz="3600" dirty="0" err="1"/>
              <a:t>REmap</a:t>
            </a:r>
            <a:r>
              <a:rPr lang="zh-CN" altLang="en-US" sz="3600" dirty="0"/>
              <a:t>包</a:t>
            </a:r>
          </a:p>
        </p:txBody>
      </p:sp>
      <p:sp>
        <p:nvSpPr>
          <p:cNvPr id="4" name="灯片编号占位符 3">
            <a:extLst>
              <a:ext uri="{FF2B5EF4-FFF2-40B4-BE49-F238E27FC236}">
                <a16:creationId xmlns:a16="http://schemas.microsoft.com/office/drawing/2014/main" id="{5D730A2C-38AB-0D15-893E-1A006F28A590}"/>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45</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7" name="矩形 6">
            <a:extLst>
              <a:ext uri="{FF2B5EF4-FFF2-40B4-BE49-F238E27FC236}">
                <a16:creationId xmlns:a16="http://schemas.microsoft.com/office/drawing/2014/main" id="{ED018CA1-22FA-277B-89CF-0AFA5B639B64}"/>
              </a:ext>
            </a:extLst>
          </p:cNvPr>
          <p:cNvSpPr/>
          <p:nvPr/>
        </p:nvSpPr>
        <p:spPr>
          <a:xfrm>
            <a:off x="3628" y="1066800"/>
            <a:ext cx="9140371" cy="2536207"/>
          </a:xfrm>
          <a:prstGeom prst="rect">
            <a:avLst/>
          </a:prstGeom>
        </p:spPr>
        <p:txBody>
          <a:bodyPr wrap="square">
            <a:spAutoFit/>
          </a:bodyPr>
          <a:lstStyle/>
          <a:p>
            <a:pPr marL="0" marR="0" indent="457200">
              <a:lnSpc>
                <a:spcPct val="150000"/>
              </a:lnSpc>
            </a:pPr>
            <a:r>
              <a:rPr lang="en-US" altLang="zh-CN" dirty="0">
                <a:latin typeface="+mn-lt"/>
                <a:ea typeface="+mn-ea"/>
                <a:sym typeface="Consolas" panose="020B0609020204030204" pitchFamily="49" charset="0"/>
              </a:rPr>
              <a:t>echarts4r</a:t>
            </a:r>
            <a:r>
              <a:rPr lang="zh-CN" altLang="en-US" dirty="0">
                <a:latin typeface="+mn-lt"/>
                <a:ea typeface="+mn-ea"/>
                <a:sym typeface="Consolas" panose="020B0609020204030204" pitchFamily="49" charset="0"/>
              </a:rPr>
              <a:t>函数包在地图可视化方面，存在地图数据缺乏、可视化代码复杂等不足。在地图可视化方面，</a:t>
            </a:r>
            <a:r>
              <a:rPr lang="en-US" altLang="zh-CN" dirty="0" err="1">
                <a:latin typeface="+mn-lt"/>
                <a:ea typeface="+mn-ea"/>
                <a:sym typeface="Consolas" panose="020B0609020204030204" pitchFamily="49" charset="0"/>
              </a:rPr>
              <a:t>REmap</a:t>
            </a:r>
            <a:r>
              <a:rPr lang="zh-CN" altLang="en-US" dirty="0">
                <a:latin typeface="+mn-lt"/>
                <a:ea typeface="+mn-ea"/>
                <a:sym typeface="Consolas" panose="020B0609020204030204" pitchFamily="49" charset="0"/>
              </a:rPr>
              <a:t>函数包更能胜任，其主要绘图函数有三个：</a:t>
            </a:r>
            <a:endParaRPr lang="en-US" altLang="zh-CN" dirty="0">
              <a:latin typeface="+mn-lt"/>
              <a:ea typeface="+mn-ea"/>
              <a:sym typeface="Consolas" panose="020B0609020204030204" pitchFamily="49" charset="0"/>
            </a:endParaRPr>
          </a:p>
          <a:p>
            <a:pPr marL="285750" marR="0" indent="285750">
              <a:lnSpc>
                <a:spcPct val="150000"/>
              </a:lnSpc>
              <a:buFont typeface="Wingdings" panose="05000000000000000000" pitchFamily="2" charset="2"/>
              <a:buChar char="ü"/>
            </a:pPr>
            <a:r>
              <a:rPr lang="en-US" altLang="zh-CN" dirty="0" err="1">
                <a:latin typeface="+mn-lt"/>
                <a:ea typeface="+mn-ea"/>
                <a:sym typeface="Consolas" panose="020B0609020204030204" pitchFamily="49" charset="0"/>
              </a:rPr>
              <a:t>remapH</a:t>
            </a:r>
            <a:r>
              <a:rPr lang="en-US" altLang="zh-CN" dirty="0">
                <a:latin typeface="+mn-lt"/>
                <a:ea typeface="+mn-ea"/>
                <a:sym typeface="Consolas" panose="020B0609020204030204" pitchFamily="49" charset="0"/>
              </a:rPr>
              <a:t>(data, </a:t>
            </a:r>
            <a:r>
              <a:rPr lang="en-US" altLang="zh-CN" dirty="0" err="1">
                <a:latin typeface="+mn-lt"/>
                <a:ea typeface="+mn-ea"/>
                <a:sym typeface="Consolas" panose="020B0609020204030204" pitchFamily="49" charset="0"/>
              </a:rPr>
              <a:t>maptype</a:t>
            </a:r>
            <a:r>
              <a:rPr lang="en-US" altLang="zh-CN" dirty="0">
                <a:latin typeface="+mn-lt"/>
                <a:ea typeface="+mn-ea"/>
                <a:sym typeface="Consolas" panose="020B0609020204030204" pitchFamily="49" charset="0"/>
              </a:rPr>
              <a:t>, theme, </a:t>
            </a:r>
            <a:r>
              <a:rPr lang="en-US" altLang="zh-CN" dirty="0" err="1">
                <a:latin typeface="+mn-lt"/>
                <a:ea typeface="+mn-ea"/>
                <a:sym typeface="Consolas" panose="020B0609020204030204" pitchFamily="49" charset="0"/>
              </a:rPr>
              <a:t>blurSize</a:t>
            </a:r>
            <a:r>
              <a:rPr lang="en-US" altLang="zh-CN" dirty="0">
                <a:latin typeface="+mn-lt"/>
                <a:ea typeface="+mn-ea"/>
                <a:sym typeface="Consolas" panose="020B0609020204030204" pitchFamily="49" charset="0"/>
              </a:rPr>
              <a:t>, color, </a:t>
            </a:r>
            <a:r>
              <a:rPr lang="en-US" altLang="zh-CN" dirty="0" err="1">
                <a:latin typeface="+mn-lt"/>
                <a:ea typeface="+mn-ea"/>
                <a:sym typeface="Consolas" panose="020B0609020204030204" pitchFamily="49" charset="0"/>
              </a:rPr>
              <a:t>minAlpha</a:t>
            </a:r>
            <a:r>
              <a:rPr lang="en-US" altLang="zh-CN" dirty="0">
                <a:latin typeface="+mn-lt"/>
                <a:ea typeface="+mn-ea"/>
                <a:sym typeface="Consolas" panose="020B0609020204030204" pitchFamily="49" charset="0"/>
              </a:rPr>
              <a:t>, opacity, ...)</a:t>
            </a:r>
            <a:r>
              <a:rPr lang="zh-CN" altLang="en-US" dirty="0">
                <a:latin typeface="+mn-lt"/>
                <a:ea typeface="+mn-ea"/>
                <a:sym typeface="Consolas" panose="020B0609020204030204" pitchFamily="49" charset="0"/>
              </a:rPr>
              <a:t>：用于绘制热力图</a:t>
            </a:r>
          </a:p>
          <a:p>
            <a:pPr marL="285750" marR="0" indent="285750">
              <a:lnSpc>
                <a:spcPct val="150000"/>
              </a:lnSpc>
              <a:buFont typeface="Wingdings" panose="05000000000000000000" pitchFamily="2" charset="2"/>
              <a:buChar char="ü"/>
            </a:pPr>
            <a:r>
              <a:rPr lang="en-US" altLang="zh-CN" dirty="0" err="1">
                <a:latin typeface="+mn-lt"/>
                <a:ea typeface="+mn-ea"/>
                <a:sym typeface="Consolas" panose="020B0609020204030204" pitchFamily="49" charset="0"/>
              </a:rPr>
              <a:t>remapB</a:t>
            </a:r>
            <a:r>
              <a:rPr lang="en-US" altLang="zh-CN" dirty="0">
                <a:latin typeface="+mn-lt"/>
                <a:ea typeface="+mn-ea"/>
                <a:sym typeface="Consolas" panose="020B0609020204030204" pitchFamily="49" charset="0"/>
              </a:rPr>
              <a:t>(center, zoom, color, </a:t>
            </a:r>
            <a:r>
              <a:rPr lang="en-US" altLang="zh-CN" dirty="0" err="1">
                <a:latin typeface="+mn-lt"/>
                <a:ea typeface="+mn-ea"/>
                <a:sym typeface="Consolas" panose="020B0609020204030204" pitchFamily="49" charset="0"/>
              </a:rPr>
              <a:t>markLineData</a:t>
            </a:r>
            <a:r>
              <a:rPr lang="en-US" altLang="zh-CN" dirty="0">
                <a:latin typeface="+mn-lt"/>
                <a:ea typeface="+mn-ea"/>
                <a:sym typeface="Consolas" panose="020B0609020204030204" pitchFamily="49" charset="0"/>
              </a:rPr>
              <a:t>, </a:t>
            </a:r>
            <a:r>
              <a:rPr lang="en-US" altLang="zh-CN" dirty="0" err="1">
                <a:latin typeface="+mn-lt"/>
                <a:ea typeface="+mn-ea"/>
                <a:sym typeface="Consolas" panose="020B0609020204030204" pitchFamily="49" charset="0"/>
              </a:rPr>
              <a:t>markPointData</a:t>
            </a:r>
            <a:r>
              <a:rPr lang="en-US" altLang="zh-CN" dirty="0">
                <a:latin typeface="+mn-lt"/>
                <a:ea typeface="+mn-ea"/>
                <a:sym typeface="Consolas" panose="020B0609020204030204" pitchFamily="49" charset="0"/>
              </a:rPr>
              <a:t>, </a:t>
            </a:r>
            <a:r>
              <a:rPr lang="en-US" altLang="zh-CN" dirty="0" err="1">
                <a:latin typeface="+mn-lt"/>
                <a:ea typeface="+mn-ea"/>
                <a:sym typeface="Consolas" panose="020B0609020204030204" pitchFamily="49" charset="0"/>
              </a:rPr>
              <a:t>markLineTheme</a:t>
            </a:r>
            <a:r>
              <a:rPr lang="en-US" altLang="zh-CN" dirty="0">
                <a:latin typeface="+mn-lt"/>
                <a:ea typeface="+mn-ea"/>
                <a:sym typeface="Consolas" panose="020B0609020204030204" pitchFamily="49" charset="0"/>
              </a:rPr>
              <a:t>, </a:t>
            </a:r>
            <a:r>
              <a:rPr lang="en-US" altLang="zh-CN" dirty="0" err="1">
                <a:latin typeface="+mn-lt"/>
                <a:ea typeface="+mn-ea"/>
                <a:sym typeface="Consolas" panose="020B0609020204030204" pitchFamily="49" charset="0"/>
              </a:rPr>
              <a:t>markPointTheme</a:t>
            </a:r>
            <a:r>
              <a:rPr lang="en-US" altLang="zh-CN" dirty="0">
                <a:latin typeface="+mn-lt"/>
                <a:ea typeface="+mn-ea"/>
                <a:sym typeface="Consolas" panose="020B0609020204030204" pitchFamily="49" charset="0"/>
              </a:rPr>
              <a:t>, </a:t>
            </a:r>
            <a:r>
              <a:rPr lang="en-US" altLang="zh-CN" dirty="0" err="1">
                <a:latin typeface="+mn-lt"/>
                <a:ea typeface="+mn-ea"/>
                <a:sym typeface="Consolas" panose="020B0609020204030204" pitchFamily="49" charset="0"/>
              </a:rPr>
              <a:t>geoData</a:t>
            </a:r>
            <a:r>
              <a:rPr lang="en-US" altLang="zh-CN" dirty="0">
                <a:latin typeface="+mn-lt"/>
                <a:ea typeface="+mn-ea"/>
                <a:sym typeface="Consolas" panose="020B0609020204030204" pitchFamily="49" charset="0"/>
              </a:rPr>
              <a:t>, ...)</a:t>
            </a:r>
            <a:r>
              <a:rPr lang="zh-CN" altLang="en-US" dirty="0">
                <a:latin typeface="+mn-lt"/>
                <a:ea typeface="+mn-ea"/>
                <a:sym typeface="Consolas" panose="020B0609020204030204" pitchFamily="49" charset="0"/>
              </a:rPr>
              <a:t>：可直接调用百度地图</a:t>
            </a:r>
            <a:r>
              <a:rPr lang="en-US" altLang="zh-CN" dirty="0">
                <a:latin typeface="+mn-lt"/>
                <a:ea typeface="+mn-ea"/>
                <a:sym typeface="Consolas" panose="020B0609020204030204" pitchFamily="49" charset="0"/>
              </a:rPr>
              <a:t>API</a:t>
            </a:r>
            <a:r>
              <a:rPr lang="zh-CN" altLang="en-US" dirty="0">
                <a:latin typeface="+mn-lt"/>
                <a:ea typeface="+mn-ea"/>
                <a:sym typeface="Consolas" panose="020B0609020204030204" pitchFamily="49" charset="0"/>
              </a:rPr>
              <a:t>，可用于绘制方位图或迁徙图</a:t>
            </a:r>
          </a:p>
          <a:p>
            <a:pPr marL="285750" marR="0" indent="285750">
              <a:lnSpc>
                <a:spcPct val="150000"/>
              </a:lnSpc>
              <a:buFont typeface="Wingdings" panose="05000000000000000000" pitchFamily="2" charset="2"/>
              <a:buChar char="ü"/>
            </a:pPr>
            <a:r>
              <a:rPr lang="en-US" altLang="zh-CN" dirty="0" err="1">
                <a:latin typeface="+mn-lt"/>
                <a:ea typeface="+mn-ea"/>
                <a:sym typeface="Consolas" panose="020B0609020204030204" pitchFamily="49" charset="0"/>
              </a:rPr>
              <a:t>remapC</a:t>
            </a:r>
            <a:r>
              <a:rPr lang="en-US" altLang="zh-CN" dirty="0">
                <a:latin typeface="+mn-lt"/>
                <a:ea typeface="+mn-ea"/>
                <a:sym typeface="Consolas" panose="020B0609020204030204" pitchFamily="49" charset="0"/>
              </a:rPr>
              <a:t>(data, </a:t>
            </a:r>
            <a:r>
              <a:rPr lang="en-US" altLang="zh-CN" dirty="0" err="1">
                <a:latin typeface="+mn-lt"/>
                <a:ea typeface="+mn-ea"/>
                <a:sym typeface="Consolas" panose="020B0609020204030204" pitchFamily="49" charset="0"/>
              </a:rPr>
              <a:t>maptype</a:t>
            </a:r>
            <a:r>
              <a:rPr lang="en-US" altLang="zh-CN" dirty="0">
                <a:latin typeface="+mn-lt"/>
                <a:ea typeface="+mn-ea"/>
                <a:sym typeface="Consolas" panose="020B0609020204030204" pitchFamily="49" charset="0"/>
              </a:rPr>
              <a:t>, color, theme, </a:t>
            </a:r>
            <a:r>
              <a:rPr lang="en-US" altLang="zh-CN" dirty="0" err="1">
                <a:latin typeface="+mn-lt"/>
                <a:ea typeface="+mn-ea"/>
                <a:sym typeface="Consolas" panose="020B0609020204030204" pitchFamily="49" charset="0"/>
              </a:rPr>
              <a:t>maxdata</a:t>
            </a:r>
            <a:r>
              <a:rPr lang="en-US" altLang="zh-CN" dirty="0">
                <a:latin typeface="+mn-lt"/>
                <a:ea typeface="+mn-ea"/>
                <a:sym typeface="Consolas" panose="020B0609020204030204" pitchFamily="49" charset="0"/>
              </a:rPr>
              <a:t>, </a:t>
            </a:r>
            <a:r>
              <a:rPr lang="en-US" altLang="zh-CN" dirty="0" err="1">
                <a:latin typeface="+mn-lt"/>
                <a:ea typeface="+mn-ea"/>
                <a:sym typeface="Consolas" panose="020B0609020204030204" pitchFamily="49" charset="0"/>
              </a:rPr>
              <a:t>mindata</a:t>
            </a:r>
            <a:r>
              <a:rPr lang="en-US" altLang="zh-CN" dirty="0">
                <a:latin typeface="+mn-lt"/>
                <a:ea typeface="+mn-ea"/>
                <a:sym typeface="Consolas" panose="020B0609020204030204" pitchFamily="49" charset="0"/>
              </a:rPr>
              <a:t>, …)</a:t>
            </a:r>
            <a:r>
              <a:rPr lang="zh-CN" altLang="en-US" dirty="0">
                <a:latin typeface="+mn-lt"/>
                <a:ea typeface="+mn-ea"/>
                <a:sym typeface="Consolas" panose="020B0609020204030204" pitchFamily="49" charset="0"/>
              </a:rPr>
              <a:t>：用于绘制分层设色专题图</a:t>
            </a:r>
            <a:endParaRPr lang="en-US" altLang="zh-CN" dirty="0">
              <a:latin typeface="+mn-lt"/>
              <a:ea typeface="+mn-ea"/>
              <a:sym typeface="Consolas" panose="020B0609020204030204" pitchFamily="49" charset="0"/>
            </a:endParaRPr>
          </a:p>
        </p:txBody>
      </p:sp>
      <p:graphicFrame>
        <p:nvGraphicFramePr>
          <p:cNvPr id="3" name="表格 2">
            <a:extLst>
              <a:ext uri="{FF2B5EF4-FFF2-40B4-BE49-F238E27FC236}">
                <a16:creationId xmlns:a16="http://schemas.microsoft.com/office/drawing/2014/main" id="{E82AEF0F-84D1-4E94-77B7-CE139583E6B1}"/>
              </a:ext>
            </a:extLst>
          </p:cNvPr>
          <p:cNvGraphicFramePr>
            <a:graphicFrameLocks noGrp="1"/>
          </p:cNvGraphicFramePr>
          <p:nvPr>
            <p:extLst>
              <p:ext uri="{D42A27DB-BD31-4B8C-83A1-F6EECF244321}">
                <p14:modId xmlns:p14="http://schemas.microsoft.com/office/powerpoint/2010/main" val="131110027"/>
              </p:ext>
            </p:extLst>
          </p:nvPr>
        </p:nvGraphicFramePr>
        <p:xfrm>
          <a:off x="190500" y="3695700"/>
          <a:ext cx="4267198" cy="3025399"/>
        </p:xfrm>
        <a:graphic>
          <a:graphicData uri="http://schemas.openxmlformats.org/drawingml/2006/table">
            <a:tbl>
              <a:tblPr/>
              <a:tblGrid>
                <a:gridCol w="636850">
                  <a:extLst>
                    <a:ext uri="{9D8B030D-6E8A-4147-A177-3AD203B41FA5}">
                      <a16:colId xmlns:a16="http://schemas.microsoft.com/office/drawing/2014/main" val="2349430039"/>
                    </a:ext>
                  </a:extLst>
                </a:gridCol>
                <a:gridCol w="658619">
                  <a:extLst>
                    <a:ext uri="{9D8B030D-6E8A-4147-A177-3AD203B41FA5}">
                      <a16:colId xmlns:a16="http://schemas.microsoft.com/office/drawing/2014/main" val="2747416251"/>
                    </a:ext>
                  </a:extLst>
                </a:gridCol>
                <a:gridCol w="2971729">
                  <a:extLst>
                    <a:ext uri="{9D8B030D-6E8A-4147-A177-3AD203B41FA5}">
                      <a16:colId xmlns:a16="http://schemas.microsoft.com/office/drawing/2014/main" val="4010603447"/>
                    </a:ext>
                  </a:extLst>
                </a:gridCol>
              </a:tblGrid>
              <a:tr h="285954">
                <a:tc>
                  <a:txBody>
                    <a:bodyPr/>
                    <a:lstStyle/>
                    <a:p>
                      <a:pPr marL="0" marR="0" indent="0" algn="ctr">
                        <a:lnSpc>
                          <a:spcPct val="150000"/>
                        </a:lnSpc>
                        <a:buNone/>
                      </a:pPr>
                      <a:r>
                        <a:rPr lang="zh-CN" altLang="en-US" sz="1050" b="1" kern="0">
                          <a:effectLst/>
                          <a:latin typeface="宋体" panose="02010600030101010101" pitchFamily="2" charset="-122"/>
                          <a:ea typeface="宋体" panose="02010600030101010101" pitchFamily="2" charset="-122"/>
                          <a:cs typeface="宋体" panose="02010600030101010101" pitchFamily="2" charset="-122"/>
                        </a:rPr>
                        <a:t>函数</a:t>
                      </a:r>
                      <a:endParaRPr lang="zh-CN" alt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solidFill>
                  </a:tcPr>
                </a:tc>
                <a:tc>
                  <a:txBody>
                    <a:bodyPr/>
                    <a:lstStyle/>
                    <a:p>
                      <a:pPr marL="0" marR="0" indent="0" algn="ctr">
                        <a:lnSpc>
                          <a:spcPct val="150000"/>
                        </a:lnSpc>
                        <a:buNone/>
                      </a:pPr>
                      <a:r>
                        <a:rPr lang="zh-CN" altLang="en-US" sz="1050" b="1" kern="0">
                          <a:effectLst/>
                          <a:latin typeface="宋体" panose="02010600030101010101" pitchFamily="2" charset="-122"/>
                          <a:ea typeface="宋体" panose="02010600030101010101" pitchFamily="2" charset="-122"/>
                          <a:cs typeface="宋体" panose="02010600030101010101" pitchFamily="2" charset="-122"/>
                        </a:rPr>
                        <a:t>参数</a:t>
                      </a:r>
                      <a:endParaRPr lang="zh-CN" alt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solidFill>
                  </a:tcPr>
                </a:tc>
                <a:tc>
                  <a:txBody>
                    <a:bodyPr/>
                    <a:lstStyle/>
                    <a:p>
                      <a:pPr marL="0" marR="0" indent="0" algn="ctr">
                        <a:lnSpc>
                          <a:spcPct val="150000"/>
                        </a:lnSpc>
                        <a:buNone/>
                      </a:pPr>
                      <a:r>
                        <a:rPr lang="zh-CN" altLang="en-US" sz="1050" b="1" kern="0" dirty="0">
                          <a:effectLst/>
                          <a:latin typeface="宋体" panose="02010600030101010101" pitchFamily="2" charset="-122"/>
                          <a:ea typeface="宋体" panose="02010600030101010101" pitchFamily="2" charset="-122"/>
                          <a:cs typeface="宋体" panose="02010600030101010101" pitchFamily="2" charset="-122"/>
                        </a:rPr>
                        <a:t>描述</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30555139"/>
                  </a:ext>
                </a:extLst>
              </a:tr>
              <a:tr h="287523">
                <a:tc rowSpan="4">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公共</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部分</a:t>
                      </a:r>
                      <a:endParaRPr lang="zh-CN" altLang="en-US" sz="1050" dirty="0">
                        <a:effectLst/>
                        <a:latin typeface="Times New Roman" panose="02020603050405020304" pitchFamily="18" charset="0"/>
                        <a:ea typeface="宋体" panose="02010600030101010101" pitchFamily="2" charset="-122"/>
                      </a:endParaRPr>
                    </a:p>
                  </a:txBody>
                  <a:tcPr marL="68580" marR="6858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indent="0" algn="ctr">
                        <a:lnSpc>
                          <a:spcPct val="150000"/>
                        </a:lnSpc>
                        <a:buNone/>
                      </a:pPr>
                      <a:r>
                        <a:rPr lang="en-US" sz="1050" i="1" kern="0" dirty="0">
                          <a:effectLst/>
                          <a:latin typeface="Times New Roman" panose="02020603050405020304" pitchFamily="18" charset="0"/>
                          <a:ea typeface="宋体" panose="02010600030101010101" pitchFamily="2" charset="-122"/>
                          <a:cs typeface="宋体" panose="02010600030101010101" pitchFamily="2" charset="-122"/>
                        </a:rPr>
                        <a:t>data</a:t>
                      </a:r>
                      <a:endParaRPr 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w="19050"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a:lnSpc>
                          <a:spcPct val="150000"/>
                        </a:lnSpc>
                        <a:buNone/>
                      </a:pPr>
                      <a:r>
                        <a:rPr lang="zh-CN" altLang="en-US" sz="1050" kern="0">
                          <a:effectLst/>
                          <a:latin typeface="宋体" panose="02010600030101010101" pitchFamily="2" charset="-122"/>
                          <a:ea typeface="宋体" panose="02010600030101010101" pitchFamily="2" charset="-122"/>
                          <a:cs typeface="Times New Roman" panose="02020603050405020304" pitchFamily="18" charset="0"/>
                        </a:rPr>
                        <a:t>数据源</a:t>
                      </a:r>
                      <a:endParaRPr lang="zh-CN" altLang="en-US" sz="1200">
                        <a:effectLst/>
                        <a:latin typeface="Times New Roman" panose="02020603050405020304" pitchFamily="18" charset="0"/>
                        <a:ea typeface="宋体" panose="02010600030101010101" pitchFamily="2" charset="-122"/>
                      </a:endParaRPr>
                    </a:p>
                  </a:txBody>
                  <a:tcPr marL="68580" marR="68580">
                    <a:lnL>
                      <a:noFill/>
                    </a:lnL>
                    <a:lnR>
                      <a:noFill/>
                    </a:lnR>
                    <a:lnT w="1905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788923256"/>
                  </a:ext>
                </a:extLst>
              </a:tr>
              <a:tr h="287523">
                <a:tc vMerge="1">
                  <a:txBody>
                    <a:bodyPr/>
                    <a:lstStyle/>
                    <a:p>
                      <a:endParaRPr/>
                    </a:p>
                  </a:txBody>
                  <a:tcPr marL="68580" marR="685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en-US" sz="1050" i="1" kern="0" dirty="0" err="1">
                          <a:effectLst/>
                          <a:latin typeface="Times New Roman" panose="02020603050405020304" pitchFamily="18" charset="0"/>
                          <a:ea typeface="宋体" panose="02010600030101010101" pitchFamily="2" charset="-122"/>
                          <a:cs typeface="宋体" panose="02010600030101010101" pitchFamily="2" charset="-122"/>
                        </a:rPr>
                        <a:t>maptype</a:t>
                      </a:r>
                      <a:endParaRPr 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地图类型：世界、中国、省份</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solidFill>
                      <a:schemeClr val="bg1"/>
                    </a:solidFill>
                  </a:tcPr>
                </a:tc>
                <a:extLst>
                  <a:ext uri="{0D108BD9-81ED-4DB2-BD59-A6C34878D82A}">
                    <a16:rowId xmlns:a16="http://schemas.microsoft.com/office/drawing/2014/main" val="3399469394"/>
                  </a:ext>
                </a:extLst>
              </a:tr>
              <a:tr h="287523">
                <a:tc vMerge="1">
                  <a:txBody>
                    <a:bodyPr/>
                    <a:lstStyle/>
                    <a:p>
                      <a:endParaRPr/>
                    </a:p>
                  </a:txBody>
                  <a:tcPr marL="68580" marR="685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en-US" sz="1050" i="1" kern="0">
                          <a:effectLst/>
                          <a:latin typeface="Times New Roman" panose="02020603050405020304" pitchFamily="18" charset="0"/>
                          <a:ea typeface="宋体" panose="02010600030101010101" pitchFamily="2" charset="-122"/>
                          <a:cs typeface="宋体" panose="02010600030101010101" pitchFamily="2" charset="-122"/>
                        </a:rPr>
                        <a:t>theme</a:t>
                      </a:r>
                      <a:endParaRPr 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地图主题</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solidFill>
                      <a:schemeClr val="bg1"/>
                    </a:solidFill>
                  </a:tcPr>
                </a:tc>
                <a:extLst>
                  <a:ext uri="{0D108BD9-81ED-4DB2-BD59-A6C34878D82A}">
                    <a16:rowId xmlns:a16="http://schemas.microsoft.com/office/drawing/2014/main" val="3449880174"/>
                  </a:ext>
                </a:extLst>
              </a:tr>
              <a:tr h="293866">
                <a:tc vMerge="1">
                  <a:txBody>
                    <a:bodyPr/>
                    <a:lstStyle/>
                    <a:p>
                      <a:endParaRPr dirty="0"/>
                    </a:p>
                  </a:txBody>
                  <a:tcPr marL="68580" marR="685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en-US" sz="1050" i="1" kern="0">
                          <a:effectLst/>
                          <a:latin typeface="Times New Roman" panose="02020603050405020304" pitchFamily="18" charset="0"/>
                          <a:ea typeface="宋体" panose="02010600030101010101" pitchFamily="2" charset="-122"/>
                          <a:cs typeface="宋体" panose="02010600030101010101" pitchFamily="2" charset="-122"/>
                        </a:rPr>
                        <a:t>color</a:t>
                      </a:r>
                      <a:endParaRPr 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nchor="ctr">
                    <a:lnL>
                      <a:noFill/>
                    </a:lnL>
                    <a:lnR>
                      <a:noFill/>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地图颜色；</a:t>
                      </a:r>
                      <a:r>
                        <a:rPr lang="en-US" altLang="zh-CN" sz="1050" i="1" kern="0" dirty="0" err="1">
                          <a:effectLst/>
                          <a:latin typeface="Times New Roman" panose="02020603050405020304" pitchFamily="18" charset="0"/>
                          <a:ea typeface="宋体" panose="02010600030101010101" pitchFamily="2" charset="-122"/>
                          <a:cs typeface="宋体" panose="02010600030101010101" pitchFamily="2" charset="-122"/>
                        </a:rPr>
                        <a:t>remapB</a:t>
                      </a: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函数中指主题颜色，同</a:t>
                      </a:r>
                      <a:r>
                        <a:rPr lang="en-US" altLang="zh-CN" sz="1050" i="1" kern="0" dirty="0">
                          <a:effectLst/>
                          <a:latin typeface="Times New Roman" panose="02020603050405020304" pitchFamily="18" charset="0"/>
                          <a:ea typeface="宋体" panose="02010600030101010101" pitchFamily="2" charset="-122"/>
                          <a:cs typeface="宋体" panose="02010600030101010101" pitchFamily="2" charset="-122"/>
                        </a:rPr>
                        <a:t>theme</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441348838"/>
                  </a:ext>
                </a:extLst>
              </a:tr>
              <a:tr h="287523">
                <a:tc rowSpan="5">
                  <a:txBody>
                    <a:bodyPr/>
                    <a:lstStyle/>
                    <a:p>
                      <a:pPr marL="0" marR="0" indent="0" algn="ctr">
                        <a:lnSpc>
                          <a:spcPct val="150000"/>
                        </a:lnSpc>
                        <a:buNone/>
                      </a:pPr>
                      <a:r>
                        <a:rPr lang="en-US" sz="1050" i="1" kern="0" dirty="0" err="1">
                          <a:effectLst/>
                          <a:latin typeface="Times New Roman" panose="02020603050405020304" pitchFamily="18" charset="0"/>
                          <a:ea typeface="宋体" panose="02010600030101010101" pitchFamily="2" charset="-122"/>
                          <a:cs typeface="宋体" panose="02010600030101010101" pitchFamily="2" charset="-122"/>
                        </a:rPr>
                        <a:t>remapH</a:t>
                      </a:r>
                      <a:endParaRPr lang="en-US" sz="1050" i="1" kern="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indent="0" algn="ctr">
                        <a:lnSpc>
                          <a:spcPct val="150000"/>
                        </a:lnSpc>
                        <a:buNone/>
                      </a:pPr>
                      <a:r>
                        <a:rPr lang="en-US" sz="1050" i="1" kern="0">
                          <a:effectLst/>
                          <a:latin typeface="Times New Roman" panose="02020603050405020304" pitchFamily="18" charset="0"/>
                          <a:ea typeface="宋体" panose="02010600030101010101" pitchFamily="2" charset="-122"/>
                          <a:cs typeface="宋体" panose="02010600030101010101" pitchFamily="2" charset="-122"/>
                        </a:rPr>
                        <a:t>blurSize</a:t>
                      </a:r>
                      <a:endParaRPr 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热力效果范围，</a:t>
                      </a:r>
                      <a:r>
                        <a:rPr lang="en-US" altLang="zh-CN" sz="1050" i="1" kern="0" dirty="0" err="1">
                          <a:effectLst/>
                          <a:latin typeface="Times New Roman" panose="02020603050405020304" pitchFamily="18" charset="0"/>
                          <a:ea typeface="宋体" panose="02010600030101010101" pitchFamily="2" charset="-122"/>
                          <a:cs typeface="宋体" panose="02010600030101010101" pitchFamily="2" charset="-122"/>
                        </a:rPr>
                        <a:t>remapH</a:t>
                      </a: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函数专有</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646290728"/>
                  </a:ext>
                </a:extLst>
              </a:tr>
              <a:tr h="287523">
                <a:tc vMerge="1">
                  <a:txBody>
                    <a:bodyPr/>
                    <a:lstStyle/>
                    <a:p>
                      <a:endParaRPr/>
                    </a:p>
                  </a:txBody>
                  <a:tcPr marL="68580" marR="685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en-US" sz="1050" i="1" kern="0">
                          <a:effectLst/>
                          <a:latin typeface="Times New Roman" panose="02020603050405020304" pitchFamily="18" charset="0"/>
                          <a:ea typeface="宋体" panose="02010600030101010101" pitchFamily="2" charset="-122"/>
                          <a:cs typeface="宋体" panose="02010600030101010101" pitchFamily="2" charset="-122"/>
                        </a:rPr>
                        <a:t>minAlpha</a:t>
                      </a:r>
                      <a:endParaRPr 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阀值</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solidFill>
                      <a:schemeClr val="bg1"/>
                    </a:solidFill>
                  </a:tcPr>
                </a:tc>
                <a:extLst>
                  <a:ext uri="{0D108BD9-81ED-4DB2-BD59-A6C34878D82A}">
                    <a16:rowId xmlns:a16="http://schemas.microsoft.com/office/drawing/2014/main" val="2711394036"/>
                  </a:ext>
                </a:extLst>
              </a:tr>
              <a:tr h="287523">
                <a:tc vMerge="1">
                  <a:txBody>
                    <a:bodyPr/>
                    <a:lstStyle/>
                    <a:p>
                      <a:endParaRPr/>
                    </a:p>
                  </a:txBody>
                  <a:tcPr marL="68580" marR="685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en-US" sz="1050" i="1" kern="0">
                          <a:effectLst/>
                          <a:latin typeface="Times New Roman" panose="02020603050405020304" pitchFamily="18" charset="0"/>
                          <a:ea typeface="宋体" panose="02010600030101010101" pitchFamily="2" charset="-122"/>
                          <a:cs typeface="宋体" panose="02010600030101010101" pitchFamily="2" charset="-122"/>
                        </a:rPr>
                        <a:t>opacity</a:t>
                      </a:r>
                      <a:endParaRPr 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透明度</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solidFill>
                      <a:schemeClr val="bg1"/>
                    </a:solidFill>
                  </a:tcPr>
                </a:tc>
                <a:extLst>
                  <a:ext uri="{0D108BD9-81ED-4DB2-BD59-A6C34878D82A}">
                    <a16:rowId xmlns:a16="http://schemas.microsoft.com/office/drawing/2014/main" val="1139567938"/>
                  </a:ext>
                </a:extLst>
              </a:tr>
              <a:tr h="287523">
                <a:tc vMerge="1">
                  <a:txBody>
                    <a:bodyPr/>
                    <a:lstStyle/>
                    <a:p>
                      <a:endParaRPr/>
                    </a:p>
                  </a:txBody>
                  <a:tcPr marL="68580" marR="685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en-US" sz="1050" i="1" kern="0">
                          <a:effectLst/>
                          <a:latin typeface="Times New Roman" panose="02020603050405020304" pitchFamily="18" charset="0"/>
                          <a:ea typeface="宋体" panose="02010600030101010101" pitchFamily="2" charset="-122"/>
                          <a:cs typeface="宋体" panose="02010600030101010101" pitchFamily="2" charset="-122"/>
                        </a:rPr>
                        <a:t>lat</a:t>
                      </a:r>
                      <a:endParaRPr 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纬度，用于地图</a:t>
                      </a:r>
                      <a:r>
                        <a:rPr lang="en-US" altLang="zh-CN" sz="1050" kern="0" dirty="0">
                          <a:effectLst/>
                          <a:latin typeface="Times New Roman" panose="02020603050405020304" pitchFamily="18" charset="0"/>
                          <a:ea typeface="宋体" panose="02010600030101010101" pitchFamily="2" charset="-122"/>
                          <a:cs typeface="宋体" panose="02010600030101010101" pitchFamily="2" charset="-122"/>
                        </a:rPr>
                        <a:t>/</a:t>
                      </a: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热力图</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a:noFill/>
                    </a:lnB>
                    <a:solidFill>
                      <a:schemeClr val="bg1"/>
                    </a:solidFill>
                  </a:tcPr>
                </a:tc>
                <a:extLst>
                  <a:ext uri="{0D108BD9-81ED-4DB2-BD59-A6C34878D82A}">
                    <a16:rowId xmlns:a16="http://schemas.microsoft.com/office/drawing/2014/main" val="3956393094"/>
                  </a:ext>
                </a:extLst>
              </a:tr>
              <a:tr h="287523">
                <a:tc vMerge="1">
                  <a:txBody>
                    <a:bodyPr/>
                    <a:lstStyle/>
                    <a:p>
                      <a:endParaRPr dirty="0"/>
                    </a:p>
                  </a:txBody>
                  <a:tcPr marL="68580" marR="685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en-US" sz="1050" i="1" kern="0">
                          <a:effectLst/>
                          <a:latin typeface="Times New Roman" panose="02020603050405020304" pitchFamily="18" charset="0"/>
                          <a:ea typeface="宋体" panose="02010600030101010101" pitchFamily="2" charset="-122"/>
                          <a:cs typeface="宋体" panose="02010600030101010101" pitchFamily="2" charset="-122"/>
                        </a:rPr>
                        <a:t>lng</a:t>
                      </a:r>
                      <a:endParaRPr 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经度，用于地图</a:t>
                      </a:r>
                      <a:r>
                        <a:rPr lang="en-US" altLang="zh-CN" sz="1050" kern="0" dirty="0">
                          <a:effectLst/>
                          <a:latin typeface="Times New Roman" panose="02020603050405020304" pitchFamily="18" charset="0"/>
                          <a:ea typeface="宋体" panose="02010600030101010101" pitchFamily="2" charset="-122"/>
                          <a:cs typeface="宋体" panose="02010600030101010101" pitchFamily="2" charset="-122"/>
                        </a:rPr>
                        <a:t>/</a:t>
                      </a: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热力图</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a:lnL>
                      <a:noFill/>
                    </a:lnL>
                    <a:lnR>
                      <a:noFill/>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404122641"/>
                  </a:ext>
                </a:extLst>
              </a:tr>
            </a:tbl>
          </a:graphicData>
        </a:graphic>
      </p:graphicFrame>
      <p:graphicFrame>
        <p:nvGraphicFramePr>
          <p:cNvPr id="9" name="表格 8">
            <a:extLst>
              <a:ext uri="{FF2B5EF4-FFF2-40B4-BE49-F238E27FC236}">
                <a16:creationId xmlns:a16="http://schemas.microsoft.com/office/drawing/2014/main" id="{9DB7F31D-1F92-FC0D-9EAB-98B9B34108AB}"/>
              </a:ext>
            </a:extLst>
          </p:cNvPr>
          <p:cNvGraphicFramePr>
            <a:graphicFrameLocks noGrp="1"/>
          </p:cNvGraphicFramePr>
          <p:nvPr>
            <p:extLst>
              <p:ext uri="{D42A27DB-BD31-4B8C-83A1-F6EECF244321}">
                <p14:modId xmlns:p14="http://schemas.microsoft.com/office/powerpoint/2010/main" val="3915271234"/>
              </p:ext>
            </p:extLst>
          </p:nvPr>
        </p:nvGraphicFramePr>
        <p:xfrm>
          <a:off x="4876800" y="3691242"/>
          <a:ext cx="3962400" cy="3052458"/>
        </p:xfrm>
        <a:graphic>
          <a:graphicData uri="http://schemas.openxmlformats.org/drawingml/2006/table">
            <a:tbl>
              <a:tblPr/>
              <a:tblGrid>
                <a:gridCol w="613227">
                  <a:extLst>
                    <a:ext uri="{9D8B030D-6E8A-4147-A177-3AD203B41FA5}">
                      <a16:colId xmlns:a16="http://schemas.microsoft.com/office/drawing/2014/main" val="3661524622"/>
                    </a:ext>
                  </a:extLst>
                </a:gridCol>
                <a:gridCol w="1119814">
                  <a:extLst>
                    <a:ext uri="{9D8B030D-6E8A-4147-A177-3AD203B41FA5}">
                      <a16:colId xmlns:a16="http://schemas.microsoft.com/office/drawing/2014/main" val="1721227398"/>
                    </a:ext>
                  </a:extLst>
                </a:gridCol>
                <a:gridCol w="2229359">
                  <a:extLst>
                    <a:ext uri="{9D8B030D-6E8A-4147-A177-3AD203B41FA5}">
                      <a16:colId xmlns:a16="http://schemas.microsoft.com/office/drawing/2014/main" val="1986344121"/>
                    </a:ext>
                  </a:extLst>
                </a:gridCol>
              </a:tblGrid>
              <a:tr h="310472">
                <a:tc>
                  <a:txBody>
                    <a:bodyPr/>
                    <a:lstStyle/>
                    <a:p>
                      <a:pPr marL="0" marR="0" indent="0" algn="ctr">
                        <a:lnSpc>
                          <a:spcPct val="150000"/>
                        </a:lnSpc>
                        <a:buNone/>
                      </a:pPr>
                      <a:r>
                        <a:rPr lang="zh-CN" altLang="en-US" sz="1050" b="1" kern="0">
                          <a:effectLst/>
                          <a:latin typeface="宋体" panose="02010600030101010101" pitchFamily="2" charset="-122"/>
                          <a:ea typeface="宋体" panose="02010600030101010101" pitchFamily="2" charset="-122"/>
                          <a:cs typeface="宋体" panose="02010600030101010101" pitchFamily="2" charset="-122"/>
                        </a:rPr>
                        <a:t>函数</a:t>
                      </a:r>
                      <a:endParaRPr lang="zh-CN" alt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solidFill>
                  </a:tcPr>
                </a:tc>
                <a:tc>
                  <a:txBody>
                    <a:bodyPr/>
                    <a:lstStyle/>
                    <a:p>
                      <a:pPr marL="0" marR="0" indent="0" algn="ctr">
                        <a:lnSpc>
                          <a:spcPct val="150000"/>
                        </a:lnSpc>
                        <a:buNone/>
                      </a:pPr>
                      <a:r>
                        <a:rPr lang="zh-CN" altLang="en-US" sz="1050" b="1" kern="0">
                          <a:effectLst/>
                          <a:latin typeface="宋体" panose="02010600030101010101" pitchFamily="2" charset="-122"/>
                          <a:ea typeface="宋体" panose="02010600030101010101" pitchFamily="2" charset="-122"/>
                          <a:cs typeface="宋体" panose="02010600030101010101" pitchFamily="2" charset="-122"/>
                        </a:rPr>
                        <a:t>参数</a:t>
                      </a:r>
                      <a:endParaRPr lang="zh-CN" alt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solidFill>
                  </a:tcPr>
                </a:tc>
                <a:tc>
                  <a:txBody>
                    <a:bodyPr/>
                    <a:lstStyle/>
                    <a:p>
                      <a:pPr marL="0" marR="0" indent="0" algn="ctr">
                        <a:lnSpc>
                          <a:spcPct val="150000"/>
                        </a:lnSpc>
                        <a:buNone/>
                      </a:pPr>
                      <a:r>
                        <a:rPr lang="zh-CN" altLang="en-US" sz="1050" b="1" kern="0">
                          <a:effectLst/>
                          <a:latin typeface="宋体" panose="02010600030101010101" pitchFamily="2" charset="-122"/>
                          <a:ea typeface="宋体" panose="02010600030101010101" pitchFamily="2" charset="-122"/>
                          <a:cs typeface="宋体" panose="02010600030101010101" pitchFamily="2" charset="-122"/>
                        </a:rPr>
                        <a:t>描述</a:t>
                      </a:r>
                      <a:endParaRPr lang="zh-CN" alt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57979618"/>
                  </a:ext>
                </a:extLst>
              </a:tr>
              <a:tr h="341222">
                <a:tc rowSpan="7">
                  <a:txBody>
                    <a:bodyPr/>
                    <a:lstStyle/>
                    <a:p>
                      <a:pPr marL="0" marR="0" indent="0" algn="ctr">
                        <a:lnSpc>
                          <a:spcPct val="150000"/>
                        </a:lnSpc>
                        <a:buNone/>
                      </a:pPr>
                      <a:r>
                        <a:rPr lang="en-US" sz="1050" i="1" kern="0" dirty="0" err="1">
                          <a:effectLst/>
                          <a:latin typeface="Times New Roman" panose="02020603050405020304" pitchFamily="18" charset="0"/>
                          <a:ea typeface="宋体" panose="02010600030101010101" pitchFamily="2" charset="-122"/>
                          <a:cs typeface="宋体" panose="02010600030101010101" pitchFamily="2" charset="-122"/>
                        </a:rPr>
                        <a:t>remapB</a:t>
                      </a:r>
                      <a:r>
                        <a:rPr lang="zh-CN" altLang="en-US" sz="1050" i="1" kern="0" dirty="0">
                          <a:effectLst/>
                          <a:latin typeface="Times New Roman" panose="02020603050405020304" pitchFamily="18" charset="0"/>
                          <a:ea typeface="宋体" panose="02010600030101010101" pitchFamily="2" charset="-122"/>
                        </a:rPr>
                        <a:t> </a:t>
                      </a:r>
                      <a:endParaRPr lang="zh-CN" altLang="en-US" sz="1050" dirty="0">
                        <a:effectLst/>
                        <a:latin typeface="Times New Roman" panose="02020603050405020304" pitchFamily="18" charset="0"/>
                        <a:ea typeface="宋体" panose="02010600030101010101" pitchFamily="2" charset="-122"/>
                      </a:endParaRPr>
                    </a:p>
                  </a:txBody>
                  <a:tcPr marL="42948" marR="42948" marT="28632" marB="28632"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indent="0" algn="ctr">
                        <a:lnSpc>
                          <a:spcPct val="150000"/>
                        </a:lnSpc>
                        <a:buNone/>
                      </a:pPr>
                      <a:r>
                        <a:rPr lang="en-US" sz="1050" i="1" kern="0" dirty="0">
                          <a:effectLst/>
                          <a:latin typeface="Times New Roman" panose="02020603050405020304" pitchFamily="18" charset="0"/>
                          <a:ea typeface="宋体" panose="02010600030101010101" pitchFamily="2" charset="-122"/>
                          <a:cs typeface="宋体" panose="02010600030101010101" pitchFamily="2" charset="-122"/>
                        </a:rPr>
                        <a:t>center</a:t>
                      </a:r>
                      <a:endParaRPr 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w="19050"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地图打开时所处位置</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w="1905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492506195"/>
                  </a:ext>
                </a:extLst>
              </a:tr>
              <a:tr h="269583">
                <a:tc vMerge="1">
                  <a:txBody>
                    <a:bodyPr/>
                    <a:lstStyle/>
                    <a:p>
                      <a:endParaRPr/>
                    </a:p>
                  </a:txBody>
                  <a:tcPr marL="42948" marR="42948" marT="28632" marB="28632">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en-US" sz="1050" i="1" kern="0" dirty="0">
                          <a:effectLst/>
                          <a:latin typeface="Times New Roman" panose="02020603050405020304" pitchFamily="18" charset="0"/>
                          <a:ea typeface="宋体" panose="02010600030101010101" pitchFamily="2" charset="-122"/>
                          <a:cs typeface="宋体" panose="02010600030101010101" pitchFamily="2" charset="-122"/>
                        </a:rPr>
                        <a:t>zoom</a:t>
                      </a:r>
                      <a:endParaRPr 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a:noFill/>
                    </a:lnT>
                    <a:lnB>
                      <a:noFill/>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地图缩放比例</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a:noFill/>
                    </a:lnT>
                    <a:lnB>
                      <a:noFill/>
                    </a:lnB>
                    <a:solidFill>
                      <a:schemeClr val="bg1"/>
                    </a:solidFill>
                  </a:tcPr>
                </a:tc>
                <a:extLst>
                  <a:ext uri="{0D108BD9-81ED-4DB2-BD59-A6C34878D82A}">
                    <a16:rowId xmlns:a16="http://schemas.microsoft.com/office/drawing/2014/main" val="180926473"/>
                  </a:ext>
                </a:extLst>
              </a:tr>
              <a:tr h="269583">
                <a:tc vMerge="1">
                  <a:txBody>
                    <a:bodyPr/>
                    <a:lstStyle/>
                    <a:p>
                      <a:endParaRPr/>
                    </a:p>
                  </a:txBody>
                  <a:tcPr marL="42948" marR="42948" marT="28632" marB="28632">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en-US" sz="1050" i="1" kern="0">
                          <a:effectLst/>
                          <a:latin typeface="Times New Roman" panose="02020603050405020304" pitchFamily="18" charset="0"/>
                          <a:ea typeface="宋体" panose="02010600030101010101" pitchFamily="2" charset="-122"/>
                          <a:cs typeface="宋体" panose="02010600030101010101" pitchFamily="2" charset="-122"/>
                        </a:rPr>
                        <a:t>markLineData</a:t>
                      </a:r>
                      <a:endParaRPr 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a:noFill/>
                    </a:lnT>
                    <a:lnB>
                      <a:noFill/>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标记线数据源</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a:noFill/>
                    </a:lnT>
                    <a:lnB>
                      <a:noFill/>
                    </a:lnB>
                    <a:solidFill>
                      <a:schemeClr val="bg1"/>
                    </a:solidFill>
                  </a:tcPr>
                </a:tc>
                <a:extLst>
                  <a:ext uri="{0D108BD9-81ED-4DB2-BD59-A6C34878D82A}">
                    <a16:rowId xmlns:a16="http://schemas.microsoft.com/office/drawing/2014/main" val="1233772493"/>
                  </a:ext>
                </a:extLst>
              </a:tr>
              <a:tr h="269583">
                <a:tc vMerge="1">
                  <a:txBody>
                    <a:bodyPr/>
                    <a:lstStyle/>
                    <a:p>
                      <a:endParaRPr/>
                    </a:p>
                  </a:txBody>
                  <a:tcPr marL="42948" marR="42948" marT="28632" marB="28632">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en-US" sz="1050" i="1" kern="0">
                          <a:effectLst/>
                          <a:latin typeface="Times New Roman" panose="02020603050405020304" pitchFamily="18" charset="0"/>
                          <a:ea typeface="宋体" panose="02010600030101010101" pitchFamily="2" charset="-122"/>
                          <a:cs typeface="宋体" panose="02010600030101010101" pitchFamily="2" charset="-122"/>
                        </a:rPr>
                        <a:t>markPointData</a:t>
                      </a:r>
                      <a:endParaRPr 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a:noFill/>
                    </a:lnT>
                    <a:lnB>
                      <a:noFill/>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标记点数据源</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a:noFill/>
                    </a:lnT>
                    <a:lnB>
                      <a:noFill/>
                    </a:lnB>
                    <a:solidFill>
                      <a:schemeClr val="bg1"/>
                    </a:solidFill>
                  </a:tcPr>
                </a:tc>
                <a:extLst>
                  <a:ext uri="{0D108BD9-81ED-4DB2-BD59-A6C34878D82A}">
                    <a16:rowId xmlns:a16="http://schemas.microsoft.com/office/drawing/2014/main" val="4141690791"/>
                  </a:ext>
                </a:extLst>
              </a:tr>
              <a:tr h="269583">
                <a:tc vMerge="1">
                  <a:txBody>
                    <a:bodyPr/>
                    <a:lstStyle/>
                    <a:p>
                      <a:endParaRPr/>
                    </a:p>
                  </a:txBody>
                  <a:tcPr marL="42948" marR="42948" marT="28632" marB="28632">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en-US" sz="1050" i="1" kern="0">
                          <a:effectLst/>
                          <a:latin typeface="Times New Roman" panose="02020603050405020304" pitchFamily="18" charset="0"/>
                          <a:ea typeface="宋体" panose="02010600030101010101" pitchFamily="2" charset="-122"/>
                          <a:cs typeface="宋体" panose="02010600030101010101" pitchFamily="2" charset="-122"/>
                        </a:rPr>
                        <a:t>markLineTheme</a:t>
                      </a:r>
                      <a:endParaRPr 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a:noFill/>
                    </a:lnT>
                    <a:lnB>
                      <a:noFill/>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标记线风格</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a:noFill/>
                    </a:lnT>
                    <a:lnB>
                      <a:noFill/>
                    </a:lnB>
                    <a:solidFill>
                      <a:schemeClr val="bg1"/>
                    </a:solidFill>
                  </a:tcPr>
                </a:tc>
                <a:extLst>
                  <a:ext uri="{0D108BD9-81ED-4DB2-BD59-A6C34878D82A}">
                    <a16:rowId xmlns:a16="http://schemas.microsoft.com/office/drawing/2014/main" val="1780378142"/>
                  </a:ext>
                </a:extLst>
              </a:tr>
              <a:tr h="269583">
                <a:tc vMerge="1">
                  <a:txBody>
                    <a:bodyPr/>
                    <a:lstStyle/>
                    <a:p>
                      <a:endParaRPr/>
                    </a:p>
                  </a:txBody>
                  <a:tcPr marL="42948" marR="42948" marT="28632" marB="28632">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en-US" sz="1050" i="1" kern="0">
                          <a:effectLst/>
                          <a:latin typeface="Times New Roman" panose="02020603050405020304" pitchFamily="18" charset="0"/>
                          <a:ea typeface="宋体" panose="02010600030101010101" pitchFamily="2" charset="-122"/>
                          <a:cs typeface="宋体" panose="02010600030101010101" pitchFamily="2" charset="-122"/>
                        </a:rPr>
                        <a:t>markPointTheme</a:t>
                      </a:r>
                      <a:endParaRPr 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a:noFill/>
                    </a:lnT>
                    <a:lnB>
                      <a:noFill/>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标记点风格</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a:noFill/>
                    </a:lnT>
                    <a:lnB>
                      <a:noFill/>
                    </a:lnB>
                    <a:solidFill>
                      <a:schemeClr val="bg1"/>
                    </a:solidFill>
                  </a:tcPr>
                </a:tc>
                <a:extLst>
                  <a:ext uri="{0D108BD9-81ED-4DB2-BD59-A6C34878D82A}">
                    <a16:rowId xmlns:a16="http://schemas.microsoft.com/office/drawing/2014/main" val="3135500668"/>
                  </a:ext>
                </a:extLst>
              </a:tr>
              <a:tr h="367049">
                <a:tc vMerge="1">
                  <a:txBody>
                    <a:bodyPr/>
                    <a:lstStyle/>
                    <a:p>
                      <a:endParaRPr dirty="0"/>
                    </a:p>
                  </a:txBody>
                  <a:tcPr marL="42948" marR="42948" marT="28632" marB="28632">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en-US" sz="1050" i="1" kern="0" dirty="0" err="1">
                          <a:effectLst/>
                          <a:latin typeface="Times New Roman" panose="02020603050405020304" pitchFamily="18" charset="0"/>
                          <a:ea typeface="宋体" panose="02010600030101010101" pitchFamily="2" charset="-122"/>
                          <a:cs typeface="宋体" panose="02010600030101010101" pitchFamily="2" charset="-122"/>
                        </a:rPr>
                        <a:t>geoData</a:t>
                      </a:r>
                      <a:endParaRPr 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添加的地理空间数据源（经纬度）</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87514227"/>
                  </a:ext>
                </a:extLst>
              </a:tr>
              <a:tr h="341222">
                <a:tc rowSpan="2">
                  <a:txBody>
                    <a:bodyPr/>
                    <a:lstStyle/>
                    <a:p>
                      <a:pPr marL="0" marR="0" indent="0" algn="ctr">
                        <a:lnSpc>
                          <a:spcPct val="150000"/>
                        </a:lnSpc>
                        <a:buNone/>
                      </a:pPr>
                      <a:r>
                        <a:rPr lang="en-US" sz="1050" i="1" kern="0" dirty="0" err="1">
                          <a:effectLst/>
                          <a:latin typeface="Times New Roman" panose="02020603050405020304" pitchFamily="18" charset="0"/>
                          <a:ea typeface="宋体" panose="02010600030101010101" pitchFamily="2" charset="-122"/>
                          <a:cs typeface="宋体" panose="02010600030101010101" pitchFamily="2" charset="-122"/>
                        </a:rPr>
                        <a:t>remapC</a:t>
                      </a:r>
                      <a:r>
                        <a:rPr lang="zh-CN" altLang="en-US" sz="1050" i="1" kern="0" dirty="0">
                          <a:effectLst/>
                          <a:latin typeface="Times New Roman" panose="02020603050405020304" pitchFamily="18" charset="0"/>
                          <a:ea typeface="宋体" panose="02010600030101010101" pitchFamily="2" charset="-122"/>
                        </a:rPr>
                        <a:t> </a:t>
                      </a:r>
                      <a:endParaRPr lang="zh-CN" altLang="en-US" sz="1050" dirty="0">
                        <a:effectLst/>
                        <a:latin typeface="Times New Roman" panose="02020603050405020304" pitchFamily="18" charset="0"/>
                        <a:ea typeface="宋体" panose="02010600030101010101" pitchFamily="2" charset="-122"/>
                      </a:endParaRPr>
                    </a:p>
                  </a:txBody>
                  <a:tcPr marL="42948" marR="42948" marT="28632" marB="28632"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indent="0" algn="ctr">
                        <a:lnSpc>
                          <a:spcPct val="150000"/>
                        </a:lnSpc>
                        <a:buNone/>
                      </a:pPr>
                      <a:r>
                        <a:rPr lang="en-US" sz="1050" i="1" kern="0" dirty="0" err="1">
                          <a:effectLst/>
                          <a:latin typeface="Times New Roman" panose="02020603050405020304" pitchFamily="18" charset="0"/>
                          <a:ea typeface="宋体" panose="02010600030101010101" pitchFamily="2" charset="-122"/>
                          <a:cs typeface="宋体" panose="02010600030101010101" pitchFamily="2" charset="-122"/>
                        </a:rPr>
                        <a:t>maxdata</a:t>
                      </a:r>
                      <a:endParaRPr 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分层设色的最大值</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950222965"/>
                  </a:ext>
                </a:extLst>
              </a:tr>
              <a:tr h="344578">
                <a:tc vMerge="1">
                  <a:txBody>
                    <a:bodyPr/>
                    <a:lstStyle/>
                    <a:p>
                      <a:endParaRPr dirty="0"/>
                    </a:p>
                  </a:txBody>
                  <a:tcPr marL="42948" marR="42948" marT="28632" marB="28632">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50000"/>
                        </a:lnSpc>
                        <a:buNone/>
                      </a:pPr>
                      <a:r>
                        <a:rPr lang="en-US" sz="1050" i="1" kern="0">
                          <a:effectLst/>
                          <a:latin typeface="Times New Roman" panose="02020603050405020304" pitchFamily="18" charset="0"/>
                          <a:ea typeface="宋体" panose="02010600030101010101" pitchFamily="2" charset="-122"/>
                          <a:cs typeface="宋体" panose="02010600030101010101" pitchFamily="2" charset="-122"/>
                        </a:rPr>
                        <a:t>mindata</a:t>
                      </a:r>
                      <a:endParaRPr lang="en-US" sz="105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indent="0" algn="ctr">
                        <a:lnSpc>
                          <a:spcPct val="150000"/>
                        </a:lnSpc>
                        <a:buNone/>
                      </a:pPr>
                      <a:r>
                        <a:rPr lang="zh-CN" altLang="en-US" sz="1050" kern="0" dirty="0">
                          <a:effectLst/>
                          <a:latin typeface="宋体" panose="02010600030101010101" pitchFamily="2" charset="-122"/>
                          <a:ea typeface="宋体" panose="02010600030101010101" pitchFamily="2" charset="-122"/>
                          <a:cs typeface="宋体" panose="02010600030101010101" pitchFamily="2" charset="-122"/>
                        </a:rPr>
                        <a:t>分层设色的最小值</a:t>
                      </a:r>
                      <a:endParaRPr lang="zh-CN" altLang="en-US" sz="1050" dirty="0">
                        <a:effectLst/>
                        <a:latin typeface="Times New Roman" panose="02020603050405020304" pitchFamily="18" charset="0"/>
                        <a:ea typeface="宋体" panose="02010600030101010101" pitchFamily="2" charset="-122"/>
                        <a:cs typeface="宋体" panose="02010600030101010101" pitchFamily="2" charset="-122"/>
                      </a:endParaRPr>
                    </a:p>
                  </a:txBody>
                  <a:tcPr marL="42948" marR="42948" marT="28632" marB="28632">
                    <a:lnL>
                      <a:noFill/>
                    </a:lnL>
                    <a:lnR>
                      <a:noFill/>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94900623"/>
                  </a:ext>
                </a:extLst>
              </a:tr>
            </a:tbl>
          </a:graphicData>
        </a:graphic>
      </p:graphicFrame>
    </p:spTree>
    <p:extLst>
      <p:ext uri="{BB962C8B-B14F-4D97-AF65-F5344CB8AC3E}">
        <p14:creationId xmlns:p14="http://schemas.microsoft.com/office/powerpoint/2010/main" val="26670019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0714E-4CF6-32C2-13CA-8DCD9E34708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6CBE1722-B433-A1D2-2C5F-5E0901D51560}"/>
              </a:ext>
            </a:extLst>
          </p:cNvPr>
          <p:cNvSpPr>
            <a:spLocks noGrp="1"/>
          </p:cNvSpPr>
          <p:nvPr>
            <p:ph type="title"/>
          </p:nvPr>
        </p:nvSpPr>
        <p:spPr/>
        <p:txBody>
          <a:bodyPr/>
          <a:lstStyle/>
          <a:p>
            <a:pPr algn="l"/>
            <a:r>
              <a:rPr lang="en-US" altLang="zh-CN" sz="3600" dirty="0"/>
              <a:t>6.4.2  </a:t>
            </a:r>
            <a:r>
              <a:rPr lang="en-US" altLang="zh-CN" sz="3600" dirty="0" err="1"/>
              <a:t>REmap</a:t>
            </a:r>
            <a:r>
              <a:rPr lang="zh-CN" altLang="en-US" sz="3600" dirty="0"/>
              <a:t>包</a:t>
            </a:r>
          </a:p>
        </p:txBody>
      </p:sp>
      <p:sp>
        <p:nvSpPr>
          <p:cNvPr id="4" name="灯片编号占位符 3">
            <a:extLst>
              <a:ext uri="{FF2B5EF4-FFF2-40B4-BE49-F238E27FC236}">
                <a16:creationId xmlns:a16="http://schemas.microsoft.com/office/drawing/2014/main" id="{A9E07630-3974-6F71-9EF3-B41FD2C71028}"/>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46</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10" name="文本框 9">
            <a:extLst>
              <a:ext uri="{FF2B5EF4-FFF2-40B4-BE49-F238E27FC236}">
                <a16:creationId xmlns:a16="http://schemas.microsoft.com/office/drawing/2014/main" id="{67BDD3A6-44D2-C981-405B-E5CD2DBD731B}"/>
              </a:ext>
            </a:extLst>
          </p:cNvPr>
          <p:cNvSpPr txBox="1"/>
          <p:nvPr/>
        </p:nvSpPr>
        <p:spPr>
          <a:xfrm>
            <a:off x="546538" y="1600200"/>
            <a:ext cx="8050924" cy="369332"/>
          </a:xfrm>
          <a:prstGeom prst="rect">
            <a:avLst/>
          </a:prstGeom>
          <a:noFill/>
        </p:spPr>
        <p:txBody>
          <a:bodyPr wrap="square">
            <a:spAutoFit/>
          </a:bodyPr>
          <a:lstStyle/>
          <a:p>
            <a:r>
              <a:rPr lang="zh-CN" altLang="en-US" dirty="0">
                <a:latin typeface="+mn-lt"/>
                <a:ea typeface="+mn-ea"/>
              </a:rPr>
              <a:t>对比使用</a:t>
            </a:r>
            <a:r>
              <a:rPr lang="en-US" altLang="zh-CN" dirty="0">
                <a:latin typeface="+mn-lt"/>
                <a:ea typeface="+mn-ea"/>
              </a:rPr>
              <a:t>recharts</a:t>
            </a:r>
            <a:r>
              <a:rPr lang="zh-CN" altLang="en-US" dirty="0">
                <a:latin typeface="+mn-lt"/>
                <a:ea typeface="+mn-ea"/>
              </a:rPr>
              <a:t>函数包生成的热力图，</a:t>
            </a:r>
            <a:r>
              <a:rPr lang="en-US" altLang="zh-CN" dirty="0" err="1">
                <a:latin typeface="+mn-lt"/>
                <a:ea typeface="+mn-ea"/>
              </a:rPr>
              <a:t>REmap</a:t>
            </a:r>
            <a:r>
              <a:rPr lang="zh-CN" altLang="en-US" dirty="0">
                <a:latin typeface="+mn-lt"/>
                <a:ea typeface="+mn-ea"/>
              </a:rPr>
              <a:t>能够实现更美观的可视化方案。</a:t>
            </a:r>
          </a:p>
        </p:txBody>
      </p:sp>
      <p:sp>
        <p:nvSpPr>
          <p:cNvPr id="14" name="文本框 13">
            <a:extLst>
              <a:ext uri="{FF2B5EF4-FFF2-40B4-BE49-F238E27FC236}">
                <a16:creationId xmlns:a16="http://schemas.microsoft.com/office/drawing/2014/main" id="{AF43EB9D-9D76-7C32-8E5F-9936DFE07DF3}"/>
              </a:ext>
            </a:extLst>
          </p:cNvPr>
          <p:cNvSpPr txBox="1"/>
          <p:nvPr/>
        </p:nvSpPr>
        <p:spPr>
          <a:xfrm>
            <a:off x="316726" y="2661623"/>
            <a:ext cx="3771900" cy="3135154"/>
          </a:xfrm>
          <a:prstGeom prst="rect">
            <a:avLst/>
          </a:prstGeom>
          <a:noFill/>
        </p:spPr>
        <p:txBody>
          <a:bodyPr wrap="square">
            <a:spAutoFit/>
          </a:bodyPr>
          <a:lstStyle/>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library(</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REmap</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cities &lt;-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mapNames</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hubei</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cities</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city_Geo</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get_geo_position</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(cities)</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percent &lt;-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runif</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17</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,min=</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0.3</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,max = </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0.99</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data_all</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city_Geo</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10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percent,city_Geo</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data_all</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result &lt;-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remapH</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data_all</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maptype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10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湖北</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en-US"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zh-CN" altLang="en-US"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title =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10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湖北省</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XX</a:t>
            </a:r>
            <a:r>
              <a:rPr lang="zh-CN" altLang="en-US" sz="110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热力图</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en-US"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zh-CN" altLang="en-US"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theme =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get_theme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"Dark"</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blurSize</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50</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color = </a:t>
            </a:r>
            <a:r>
              <a:rPr lang="en-US" altLang="zh-CN" sz="11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"red"</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minAlpha</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8</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opacity = </a:t>
            </a:r>
            <a:r>
              <a:rPr lang="en-US" altLang="zh-CN" sz="11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1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result</a:t>
            </a:r>
            <a:endParaRPr lang="en-US" altLang="zh-CN" sz="1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7170" name="Picture 2">
            <a:extLst>
              <a:ext uri="{FF2B5EF4-FFF2-40B4-BE49-F238E27FC236}">
                <a16:creationId xmlns:a16="http://schemas.microsoft.com/office/drawing/2014/main" id="{DE4740A4-31C1-3CC3-78EA-6B0EBE674C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9100" y="2531413"/>
            <a:ext cx="4598174" cy="3395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86779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338B6-361B-44E5-213D-C063597F180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39D0DDA-4E6F-A999-C7BA-1A0F8C226699}"/>
              </a:ext>
            </a:extLst>
          </p:cNvPr>
          <p:cNvSpPr>
            <a:spLocks noGrp="1"/>
          </p:cNvSpPr>
          <p:nvPr>
            <p:ph type="title"/>
          </p:nvPr>
        </p:nvSpPr>
        <p:spPr/>
        <p:txBody>
          <a:bodyPr/>
          <a:lstStyle/>
          <a:p>
            <a:pPr algn="l"/>
            <a:r>
              <a:rPr lang="en-US" altLang="zh-CN" sz="3600" dirty="0"/>
              <a:t>6.4.2  </a:t>
            </a:r>
            <a:r>
              <a:rPr lang="en-US" altLang="zh-CN" sz="3600" dirty="0" err="1"/>
              <a:t>REmap</a:t>
            </a:r>
            <a:r>
              <a:rPr lang="zh-CN" altLang="en-US" sz="3600" dirty="0"/>
              <a:t>包</a:t>
            </a:r>
          </a:p>
        </p:txBody>
      </p:sp>
      <p:sp>
        <p:nvSpPr>
          <p:cNvPr id="4" name="灯片编号占位符 3">
            <a:extLst>
              <a:ext uri="{FF2B5EF4-FFF2-40B4-BE49-F238E27FC236}">
                <a16:creationId xmlns:a16="http://schemas.microsoft.com/office/drawing/2014/main" id="{33E138D8-059B-7D09-DF34-B0E0429C051F}"/>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47</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10" name="文本框 9">
            <a:extLst>
              <a:ext uri="{FF2B5EF4-FFF2-40B4-BE49-F238E27FC236}">
                <a16:creationId xmlns:a16="http://schemas.microsoft.com/office/drawing/2014/main" id="{37254BC8-0A7D-EF58-51BE-CFBEA7009A40}"/>
              </a:ext>
            </a:extLst>
          </p:cNvPr>
          <p:cNvSpPr txBox="1"/>
          <p:nvPr/>
        </p:nvSpPr>
        <p:spPr>
          <a:xfrm>
            <a:off x="330419" y="1028700"/>
            <a:ext cx="8483162" cy="874214"/>
          </a:xfrm>
          <a:prstGeom prst="rect">
            <a:avLst/>
          </a:prstGeom>
          <a:noFill/>
        </p:spPr>
        <p:txBody>
          <a:bodyPr wrap="square">
            <a:spAutoFit/>
          </a:bodyPr>
          <a:lstStyle/>
          <a:p>
            <a:pPr indent="457200">
              <a:lnSpc>
                <a:spcPct val="150000"/>
              </a:lnSpc>
            </a:pPr>
            <a:r>
              <a:rPr lang="en-US" altLang="zh-CN" dirty="0" err="1">
                <a:latin typeface="+mn-lt"/>
                <a:ea typeface="+mn-ea"/>
              </a:rPr>
              <a:t>remapB</a:t>
            </a:r>
            <a:r>
              <a:rPr lang="zh-CN" altLang="en-US" dirty="0">
                <a:latin typeface="+mn-lt"/>
                <a:ea typeface="+mn-ea"/>
              </a:rPr>
              <a:t>函数能够直接调用百度地图，支持地图缩放、拖曳，可视化主要以标线与标点的形式做出，适合用来制作迁徙图和表明位置的方位图。</a:t>
            </a:r>
          </a:p>
        </p:txBody>
      </p:sp>
      <p:pic>
        <p:nvPicPr>
          <p:cNvPr id="2" name="图片 1">
            <a:extLst>
              <a:ext uri="{FF2B5EF4-FFF2-40B4-BE49-F238E27FC236}">
                <a16:creationId xmlns:a16="http://schemas.microsoft.com/office/drawing/2014/main" id="{F73B88ED-C6E8-CDFA-817C-A44689059D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80467" y="1943100"/>
            <a:ext cx="3082531" cy="1527906"/>
          </a:xfrm>
          <a:prstGeom prst="rect">
            <a:avLst/>
          </a:prstGeom>
        </p:spPr>
      </p:pic>
      <p:pic>
        <p:nvPicPr>
          <p:cNvPr id="3" name="图片 2">
            <a:extLst>
              <a:ext uri="{FF2B5EF4-FFF2-40B4-BE49-F238E27FC236}">
                <a16:creationId xmlns:a16="http://schemas.microsoft.com/office/drawing/2014/main" id="{EEB0DAF7-671B-1B49-B5DB-D0E591C363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80467" y="3573587"/>
            <a:ext cx="3082531" cy="1531813"/>
          </a:xfrm>
          <a:prstGeom prst="rect">
            <a:avLst/>
          </a:prstGeom>
        </p:spPr>
      </p:pic>
      <p:sp>
        <p:nvSpPr>
          <p:cNvPr id="11" name="文本框 10">
            <a:extLst>
              <a:ext uri="{FF2B5EF4-FFF2-40B4-BE49-F238E27FC236}">
                <a16:creationId xmlns:a16="http://schemas.microsoft.com/office/drawing/2014/main" id="{3039EE5E-F0F2-7695-E05E-9D9D09AB3BBC}"/>
              </a:ext>
            </a:extLst>
          </p:cNvPr>
          <p:cNvSpPr txBox="1"/>
          <p:nvPr/>
        </p:nvSpPr>
        <p:spPr>
          <a:xfrm>
            <a:off x="114300" y="2106484"/>
            <a:ext cx="5181600" cy="1208216"/>
          </a:xfrm>
          <a:prstGeom prst="rect">
            <a:avLst/>
          </a:prstGeom>
          <a:solidFill>
            <a:schemeClr val="bg1"/>
          </a:solidFill>
        </p:spPr>
        <p:txBody>
          <a:bodyPr wrap="square">
            <a:spAutoFit/>
          </a:bodyPr>
          <a:lstStyle/>
          <a:p>
            <a:pPr marL="0" marR="0" indent="0" algn="l">
              <a:lnSpc>
                <a:spcPts val="1425"/>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remapB</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get_city_coord</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武汉</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),zoom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12</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ct val="150000"/>
              </a:lnSpc>
              <a:buNone/>
            </a:pPr>
            <a:r>
              <a:rPr lang="en-US" altLang="zh-CN" sz="1000" dirty="0">
                <a:solidFill>
                  <a:srgbClr val="8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Times New Roman" panose="02020603050405020304" pitchFamily="18" charset="0"/>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location&lt;-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(origin = rep(</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武汉</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12</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en-US"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zh-CN" altLang="en-US"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destination=c(</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黄石</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十堰</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宜昌</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襄阳</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en-US"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zh-CN" altLang="en-US"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鄂州</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荆门</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孝感</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荆州</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黄冈</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en-US"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zh-CN" altLang="en-US"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咸宁</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随州</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恩施</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en-US"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6" name="文本框 15">
            <a:extLst>
              <a:ext uri="{FF2B5EF4-FFF2-40B4-BE49-F238E27FC236}">
                <a16:creationId xmlns:a16="http://schemas.microsoft.com/office/drawing/2014/main" id="{C0448BF5-26FA-0254-2318-C18AFE5EEADF}"/>
              </a:ext>
            </a:extLst>
          </p:cNvPr>
          <p:cNvSpPr txBox="1"/>
          <p:nvPr/>
        </p:nvSpPr>
        <p:spPr>
          <a:xfrm>
            <a:off x="126781" y="3484340"/>
            <a:ext cx="4914900" cy="1697260"/>
          </a:xfrm>
          <a:prstGeom prst="rect">
            <a:avLst/>
          </a:prstGeom>
          <a:solidFill>
            <a:schemeClr val="bg1"/>
          </a:solidFill>
        </p:spPr>
        <p:txBody>
          <a:bodyPr wrap="square">
            <a:spAutoFit/>
          </a:bodyPr>
          <a:lstStyle/>
          <a:p>
            <a:pPr marL="0" marR="0" indent="0" algn="l">
              <a:lnSpc>
                <a:spcPts val="1425"/>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remapB</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(center=</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get_city_coord</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武汉</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en-US"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zh-CN" altLang="en-US"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zoom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8</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title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湖北地区迁徙图示例</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en-US"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zh-CN" altLang="en-US"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color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"Blue"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markLineData</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location,</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markLineTheme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markLineControl</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symbolSize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0.3</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lineWidth</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12</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color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"white"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lineType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'dotted'</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0" name="文本框 19">
            <a:extLst>
              <a:ext uri="{FF2B5EF4-FFF2-40B4-BE49-F238E27FC236}">
                <a16:creationId xmlns:a16="http://schemas.microsoft.com/office/drawing/2014/main" id="{32D81C81-CB98-243D-4C16-2878C7E402E5}"/>
              </a:ext>
            </a:extLst>
          </p:cNvPr>
          <p:cNvSpPr txBox="1"/>
          <p:nvPr/>
        </p:nvSpPr>
        <p:spPr>
          <a:xfrm>
            <a:off x="76200" y="5225977"/>
            <a:ext cx="5676900" cy="1517723"/>
          </a:xfrm>
          <a:prstGeom prst="rect">
            <a:avLst/>
          </a:prstGeom>
          <a:solidFill>
            <a:schemeClr val="bg1"/>
          </a:solidFill>
        </p:spPr>
        <p:txBody>
          <a:bodyPr wrap="square">
            <a:spAutoFit/>
          </a:bodyPr>
          <a:lstStyle/>
          <a:p>
            <a:pPr marL="0" marR="0" indent="0" algn="l">
              <a:lnSpc>
                <a:spcPts val="1425"/>
              </a:lnSpc>
              <a:buNone/>
            </a:pP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remapB</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get_city_coord</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上海</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),zoom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13</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,color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"Blue"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title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zh-CN" altLang="en-US" sz="1050" kern="0" dirty="0">
                <a:solidFill>
                  <a:srgbClr val="A31515"/>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上海地铁一号线</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en-US"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zh-CN" altLang="en-US"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markPointData</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pointData</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markPointTheme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markPointControl</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(symbol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'pin’</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symbolSize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8</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effect = 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markLineData</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subway[[</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markLineTheme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markLineControl</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symbolSize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c(</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),smoothness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geoData</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rbind</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geoData,subway</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6" name="图片 5">
            <a:extLst>
              <a:ext uri="{FF2B5EF4-FFF2-40B4-BE49-F238E27FC236}">
                <a16:creationId xmlns:a16="http://schemas.microsoft.com/office/drawing/2014/main" id="{DE9F3FC1-22D8-B9C8-97E7-0B8ABEED57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80467" y="5215794"/>
            <a:ext cx="3082533" cy="1527906"/>
          </a:xfrm>
          <a:prstGeom prst="rect">
            <a:avLst/>
          </a:prstGeom>
        </p:spPr>
      </p:pic>
    </p:spTree>
    <p:extLst>
      <p:ext uri="{BB962C8B-B14F-4D97-AF65-F5344CB8AC3E}">
        <p14:creationId xmlns:p14="http://schemas.microsoft.com/office/powerpoint/2010/main" val="25748474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3F238-6111-1A76-E507-AF1B7CBA2B1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6575EFD3-5E53-3E3E-B984-C65496487CB4}"/>
              </a:ext>
            </a:extLst>
          </p:cNvPr>
          <p:cNvSpPr>
            <a:spLocks noGrp="1"/>
          </p:cNvSpPr>
          <p:nvPr>
            <p:ph type="title"/>
          </p:nvPr>
        </p:nvSpPr>
        <p:spPr/>
        <p:txBody>
          <a:bodyPr/>
          <a:lstStyle/>
          <a:p>
            <a:pPr algn="l"/>
            <a:r>
              <a:rPr lang="en-US" altLang="zh-CN" sz="3600" dirty="0"/>
              <a:t>6.4.2  </a:t>
            </a:r>
            <a:r>
              <a:rPr lang="en-US" altLang="zh-CN" sz="3600" dirty="0" err="1"/>
              <a:t>REmap</a:t>
            </a:r>
            <a:r>
              <a:rPr lang="zh-CN" altLang="en-US" sz="3600" dirty="0"/>
              <a:t>包</a:t>
            </a:r>
          </a:p>
        </p:txBody>
      </p:sp>
      <p:sp>
        <p:nvSpPr>
          <p:cNvPr id="4" name="灯片编号占位符 3">
            <a:extLst>
              <a:ext uri="{FF2B5EF4-FFF2-40B4-BE49-F238E27FC236}">
                <a16:creationId xmlns:a16="http://schemas.microsoft.com/office/drawing/2014/main" id="{238B34BE-5364-0895-07F2-E71DEB81C5F0}"/>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48</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10" name="文本框 9">
            <a:extLst>
              <a:ext uri="{FF2B5EF4-FFF2-40B4-BE49-F238E27FC236}">
                <a16:creationId xmlns:a16="http://schemas.microsoft.com/office/drawing/2014/main" id="{129F501C-ADEA-AE4F-B64C-B8F70EC765D2}"/>
              </a:ext>
            </a:extLst>
          </p:cNvPr>
          <p:cNvSpPr txBox="1"/>
          <p:nvPr/>
        </p:nvSpPr>
        <p:spPr>
          <a:xfrm>
            <a:off x="2508359" y="1065285"/>
            <a:ext cx="4121041" cy="458715"/>
          </a:xfrm>
          <a:prstGeom prst="rect">
            <a:avLst/>
          </a:prstGeom>
          <a:noFill/>
        </p:spPr>
        <p:txBody>
          <a:bodyPr wrap="square">
            <a:spAutoFit/>
          </a:bodyPr>
          <a:lstStyle/>
          <a:p>
            <a:pPr algn="ctr">
              <a:lnSpc>
                <a:spcPct val="150000"/>
              </a:lnSpc>
            </a:pPr>
            <a:r>
              <a:rPr lang="en-US" altLang="zh-CN" dirty="0" err="1">
                <a:latin typeface="+mn-lt"/>
                <a:ea typeface="+mn-ea"/>
              </a:rPr>
              <a:t>remapC</a:t>
            </a:r>
            <a:r>
              <a:rPr lang="en-US" altLang="zh-CN" dirty="0">
                <a:latin typeface="+mn-lt"/>
                <a:ea typeface="+mn-ea"/>
              </a:rPr>
              <a:t>()</a:t>
            </a:r>
            <a:r>
              <a:rPr lang="zh-CN" altLang="en-US" dirty="0">
                <a:latin typeface="+mn-lt"/>
                <a:ea typeface="+mn-ea"/>
              </a:rPr>
              <a:t>函数能够制作分层设色的地图</a:t>
            </a:r>
          </a:p>
        </p:txBody>
      </p:sp>
      <p:sp>
        <p:nvSpPr>
          <p:cNvPr id="12" name="文本框 11">
            <a:extLst>
              <a:ext uri="{FF2B5EF4-FFF2-40B4-BE49-F238E27FC236}">
                <a16:creationId xmlns:a16="http://schemas.microsoft.com/office/drawing/2014/main" id="{EA100954-A413-E0D3-F58A-E3BF5AF09686}"/>
              </a:ext>
            </a:extLst>
          </p:cNvPr>
          <p:cNvSpPr txBox="1"/>
          <p:nvPr/>
        </p:nvSpPr>
        <p:spPr>
          <a:xfrm>
            <a:off x="2275406" y="1802771"/>
            <a:ext cx="4586945" cy="630942"/>
          </a:xfrm>
          <a:prstGeom prst="rect">
            <a:avLst/>
          </a:prstGeom>
          <a:noFill/>
        </p:spPr>
        <p:txBody>
          <a:bodyPr wrap="square">
            <a:spAutoFit/>
          </a:bodyPr>
          <a:lstStyle/>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data =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(country =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mapNames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hubei</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value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*sample(</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17</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200</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remapC</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data,maptype</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hubei</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,color = </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skyblue</a:t>
            </a:r>
            <a:r>
              <a:rPr lang="en-US" altLang="zh-CN" sz="120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13" name="图片 12">
            <a:extLst>
              <a:ext uri="{FF2B5EF4-FFF2-40B4-BE49-F238E27FC236}">
                <a16:creationId xmlns:a16="http://schemas.microsoft.com/office/drawing/2014/main" id="{5D1A1FF6-F1C8-1426-5FB2-1E0854A6459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985220" y="2683655"/>
            <a:ext cx="7173560" cy="3640945"/>
          </a:xfrm>
          <a:prstGeom prst="rect">
            <a:avLst/>
          </a:prstGeom>
          <a:noFill/>
          <a:ln>
            <a:noFill/>
          </a:ln>
        </p:spPr>
      </p:pic>
    </p:spTree>
    <p:extLst>
      <p:ext uri="{BB962C8B-B14F-4D97-AF65-F5344CB8AC3E}">
        <p14:creationId xmlns:p14="http://schemas.microsoft.com/office/powerpoint/2010/main" val="42753633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7E49D-8658-F346-3529-F31888CBCCD2}"/>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D041339-0F87-84E0-3717-11874DDB3DB1}"/>
              </a:ext>
            </a:extLst>
          </p:cNvPr>
          <p:cNvSpPr>
            <a:spLocks noGrp="1"/>
          </p:cNvSpPr>
          <p:nvPr>
            <p:ph type="title"/>
          </p:nvPr>
        </p:nvSpPr>
        <p:spPr/>
        <p:txBody>
          <a:bodyPr/>
          <a:lstStyle/>
          <a:p>
            <a:pPr algn="l"/>
            <a:r>
              <a:rPr lang="en-US" altLang="zh-CN" sz="3600" dirty="0"/>
              <a:t>6.4.3  leaflet</a:t>
            </a:r>
            <a:r>
              <a:rPr lang="zh-CN" altLang="en-US" sz="3600" dirty="0"/>
              <a:t>函数包</a:t>
            </a:r>
          </a:p>
        </p:txBody>
      </p:sp>
      <p:sp>
        <p:nvSpPr>
          <p:cNvPr id="4" name="灯片编号占位符 3">
            <a:extLst>
              <a:ext uri="{FF2B5EF4-FFF2-40B4-BE49-F238E27FC236}">
                <a16:creationId xmlns:a16="http://schemas.microsoft.com/office/drawing/2014/main" id="{CEB65E55-B093-DC5A-8871-676DE2E62638}"/>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49</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10" name="文本框 9">
            <a:extLst>
              <a:ext uri="{FF2B5EF4-FFF2-40B4-BE49-F238E27FC236}">
                <a16:creationId xmlns:a16="http://schemas.microsoft.com/office/drawing/2014/main" id="{BEEDCD11-414E-E6DC-9025-F1875AE50A2C}"/>
              </a:ext>
            </a:extLst>
          </p:cNvPr>
          <p:cNvSpPr txBox="1"/>
          <p:nvPr/>
        </p:nvSpPr>
        <p:spPr>
          <a:xfrm>
            <a:off x="397360" y="1094114"/>
            <a:ext cx="8349280" cy="458715"/>
          </a:xfrm>
          <a:prstGeom prst="rect">
            <a:avLst/>
          </a:prstGeom>
          <a:noFill/>
        </p:spPr>
        <p:txBody>
          <a:bodyPr wrap="square">
            <a:spAutoFit/>
          </a:bodyPr>
          <a:lstStyle/>
          <a:p>
            <a:pPr algn="ctr">
              <a:lnSpc>
                <a:spcPct val="150000"/>
              </a:lnSpc>
            </a:pPr>
            <a:r>
              <a:rPr lang="en-US" altLang="zh-CN" dirty="0">
                <a:latin typeface="+mn-lt"/>
                <a:ea typeface="+mn-ea"/>
              </a:rPr>
              <a:t>leaflet</a:t>
            </a:r>
            <a:r>
              <a:rPr lang="zh-CN" altLang="en-US" dirty="0">
                <a:latin typeface="+mn-lt"/>
                <a:ea typeface="+mn-ea"/>
              </a:rPr>
              <a:t>函数包的优势在于其支持更多的数据，可视化样式也因此更加丰富多彩。</a:t>
            </a:r>
          </a:p>
        </p:txBody>
      </p:sp>
      <p:sp>
        <p:nvSpPr>
          <p:cNvPr id="12" name="文本框 11">
            <a:extLst>
              <a:ext uri="{FF2B5EF4-FFF2-40B4-BE49-F238E27FC236}">
                <a16:creationId xmlns:a16="http://schemas.microsoft.com/office/drawing/2014/main" id="{38BC281F-21A4-2BA7-19DB-0E82552715FF}"/>
              </a:ext>
            </a:extLst>
          </p:cNvPr>
          <p:cNvSpPr txBox="1"/>
          <p:nvPr/>
        </p:nvSpPr>
        <p:spPr>
          <a:xfrm>
            <a:off x="1252003" y="1635213"/>
            <a:ext cx="6639994" cy="1349087"/>
          </a:xfrm>
          <a:prstGeom prst="rect">
            <a:avLst/>
          </a:prstGeom>
          <a:noFill/>
        </p:spPr>
        <p:txBody>
          <a:bodyPr wrap="square">
            <a:spAutoFit/>
          </a:bodyPr>
          <a:lstStyle/>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library(leaflet)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 &lt;- leaflet() %&gt;%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setView</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lng</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114.3</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30.6</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zoom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10</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 %&gt;%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addProviderTiles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providers</a:t>
            </a:r>
            <a:r>
              <a:rPr lang="en-US" altLang="zh-CN" sz="12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Esri.NatGeoWorldMap</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 %&gt;%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addProviderTiles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providers</a:t>
            </a:r>
            <a:r>
              <a:rPr lang="en-US" altLang="zh-CN" sz="12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Stadia.StamenToner</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 %&gt;%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addProviderTiles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providers</a:t>
            </a:r>
            <a:r>
              <a:rPr lang="en-US" altLang="zh-CN" sz="12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Stadia.StamenTonerLines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options =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providerTileOptions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(opacity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0.35</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addProviderTiles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providers</a:t>
            </a:r>
            <a:r>
              <a:rPr lang="en-US" altLang="zh-CN" sz="12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Stadia.StamenTonerLabels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2" name="图片 1">
            <a:extLst>
              <a:ext uri="{FF2B5EF4-FFF2-40B4-BE49-F238E27FC236}">
                <a16:creationId xmlns:a16="http://schemas.microsoft.com/office/drawing/2014/main" id="{4980659C-D411-68F9-AFF4-FD73D245B0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0" y="3048000"/>
            <a:ext cx="3535127" cy="1857793"/>
          </a:xfrm>
          <a:prstGeom prst="rect">
            <a:avLst/>
          </a:prstGeom>
        </p:spPr>
      </p:pic>
      <p:pic>
        <p:nvPicPr>
          <p:cNvPr id="3" name="图片 2">
            <a:extLst>
              <a:ext uri="{FF2B5EF4-FFF2-40B4-BE49-F238E27FC236}">
                <a16:creationId xmlns:a16="http://schemas.microsoft.com/office/drawing/2014/main" id="{DD7D544D-9B86-E735-C3AB-C47EA6F890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3000" y="3033503"/>
            <a:ext cx="3535128" cy="1857793"/>
          </a:xfrm>
          <a:prstGeom prst="rect">
            <a:avLst/>
          </a:prstGeom>
        </p:spPr>
      </p:pic>
      <p:pic>
        <p:nvPicPr>
          <p:cNvPr id="6" name="图片 5">
            <a:extLst>
              <a:ext uri="{FF2B5EF4-FFF2-40B4-BE49-F238E27FC236}">
                <a16:creationId xmlns:a16="http://schemas.microsoft.com/office/drawing/2014/main" id="{BC165378-906C-6BAB-3E4D-87751BAA4B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04437" y="4974756"/>
            <a:ext cx="3535126" cy="1857793"/>
          </a:xfrm>
          <a:prstGeom prst="rect">
            <a:avLst/>
          </a:prstGeom>
        </p:spPr>
      </p:pic>
    </p:spTree>
    <p:extLst>
      <p:ext uri="{BB962C8B-B14F-4D97-AF65-F5344CB8AC3E}">
        <p14:creationId xmlns:p14="http://schemas.microsoft.com/office/powerpoint/2010/main" val="8390099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6E482-2F33-3365-776B-7476DAE2FBE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08F95899-3890-E632-6F59-385661F6299B}"/>
              </a:ext>
            </a:extLst>
          </p:cNvPr>
          <p:cNvSpPr>
            <a:spLocks noGrp="1"/>
          </p:cNvSpPr>
          <p:nvPr>
            <p:ph type="title"/>
          </p:nvPr>
        </p:nvSpPr>
        <p:spPr/>
        <p:txBody>
          <a:bodyPr/>
          <a:lstStyle/>
          <a:p>
            <a:pPr algn="l"/>
            <a:r>
              <a:rPr lang="en-US" altLang="zh-CN" sz="3600" dirty="0"/>
              <a:t>6.4.3  leaflet</a:t>
            </a:r>
            <a:r>
              <a:rPr lang="zh-CN" altLang="en-US" sz="3600" dirty="0"/>
              <a:t>函数包</a:t>
            </a:r>
          </a:p>
        </p:txBody>
      </p:sp>
      <p:sp>
        <p:nvSpPr>
          <p:cNvPr id="4" name="灯片编号占位符 3">
            <a:extLst>
              <a:ext uri="{FF2B5EF4-FFF2-40B4-BE49-F238E27FC236}">
                <a16:creationId xmlns:a16="http://schemas.microsoft.com/office/drawing/2014/main" id="{6E3668EA-6695-2BB2-EC61-456FDA98B3C2}"/>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50</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10" name="文本框 9">
            <a:extLst>
              <a:ext uri="{FF2B5EF4-FFF2-40B4-BE49-F238E27FC236}">
                <a16:creationId xmlns:a16="http://schemas.microsoft.com/office/drawing/2014/main" id="{026AD559-270C-5B2B-53C3-5CE350960CC6}"/>
              </a:ext>
            </a:extLst>
          </p:cNvPr>
          <p:cNvSpPr txBox="1"/>
          <p:nvPr/>
        </p:nvSpPr>
        <p:spPr>
          <a:xfrm>
            <a:off x="397360" y="1094114"/>
            <a:ext cx="8349280" cy="458715"/>
          </a:xfrm>
          <a:prstGeom prst="rect">
            <a:avLst/>
          </a:prstGeom>
          <a:noFill/>
        </p:spPr>
        <p:txBody>
          <a:bodyPr wrap="square">
            <a:spAutoFit/>
          </a:bodyPr>
          <a:lstStyle/>
          <a:p>
            <a:pPr algn="ctr">
              <a:lnSpc>
                <a:spcPct val="150000"/>
              </a:lnSpc>
            </a:pPr>
            <a:r>
              <a:rPr lang="en-US" altLang="zh-CN" dirty="0">
                <a:latin typeface="+mn-lt"/>
                <a:ea typeface="+mn-ea"/>
              </a:rPr>
              <a:t>leaflet</a:t>
            </a:r>
            <a:r>
              <a:rPr lang="zh-CN" altLang="en-US" dirty="0">
                <a:latin typeface="+mn-lt"/>
                <a:ea typeface="+mn-ea"/>
              </a:rPr>
              <a:t>函数包的优势在于其支持更多的数据，可视化样式也因此更加丰富多彩。</a:t>
            </a:r>
          </a:p>
        </p:txBody>
      </p:sp>
      <p:sp>
        <p:nvSpPr>
          <p:cNvPr id="12" name="文本框 11">
            <a:extLst>
              <a:ext uri="{FF2B5EF4-FFF2-40B4-BE49-F238E27FC236}">
                <a16:creationId xmlns:a16="http://schemas.microsoft.com/office/drawing/2014/main" id="{7552ED32-0DF1-0BB0-C331-CB0BF7839C8B}"/>
              </a:ext>
            </a:extLst>
          </p:cNvPr>
          <p:cNvSpPr txBox="1"/>
          <p:nvPr/>
        </p:nvSpPr>
        <p:spPr>
          <a:xfrm>
            <a:off x="1252003" y="1635213"/>
            <a:ext cx="6639994" cy="1349087"/>
          </a:xfrm>
          <a:prstGeom prst="rect">
            <a:avLst/>
          </a:prstGeom>
          <a:noFill/>
        </p:spPr>
        <p:txBody>
          <a:bodyPr wrap="square">
            <a:spAutoFit/>
          </a:bodyPr>
          <a:lstStyle/>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library(leaflet)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 &lt;- leaflet() %&gt;%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setView</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lng</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114.3</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lat</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30.6</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zoom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10</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 %&gt;%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addProviderTiles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providers</a:t>
            </a:r>
            <a:r>
              <a:rPr lang="en-US" altLang="zh-CN" sz="12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Esri.NatGeoWorldMap</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 %&gt;%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addProviderTiles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providers</a:t>
            </a:r>
            <a:r>
              <a:rPr lang="en-US" altLang="zh-CN" sz="12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Stadia.StamenToner</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m %&gt;%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addProviderTiles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providers</a:t>
            </a:r>
            <a:r>
              <a:rPr lang="en-US" altLang="zh-CN" sz="12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Stadia.StamenTonerLines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options =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providerTileOptions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(opacity = </a:t>
            </a:r>
            <a:r>
              <a:rPr lang="en-US" altLang="zh-CN" sz="120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0.35</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addProviderTiles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providers</a:t>
            </a:r>
            <a:r>
              <a:rPr lang="en-US" altLang="zh-CN" sz="120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Stadia.StamenTonerLabels</a:t>
            </a:r>
            <a:r>
              <a:rPr lang="en-US" altLang="zh-CN" sz="120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6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2" name="图片 1">
            <a:extLst>
              <a:ext uri="{FF2B5EF4-FFF2-40B4-BE49-F238E27FC236}">
                <a16:creationId xmlns:a16="http://schemas.microsoft.com/office/drawing/2014/main" id="{2C1F1611-86E2-1E36-B733-1BADD8235C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0" y="3048000"/>
            <a:ext cx="3535127" cy="1857793"/>
          </a:xfrm>
          <a:prstGeom prst="rect">
            <a:avLst/>
          </a:prstGeom>
        </p:spPr>
      </p:pic>
      <p:pic>
        <p:nvPicPr>
          <p:cNvPr id="3" name="图片 2">
            <a:extLst>
              <a:ext uri="{FF2B5EF4-FFF2-40B4-BE49-F238E27FC236}">
                <a16:creationId xmlns:a16="http://schemas.microsoft.com/office/drawing/2014/main" id="{4F165FA6-1E02-5EC7-8CB1-1E7A24522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3000" y="3033503"/>
            <a:ext cx="3535128" cy="1857793"/>
          </a:xfrm>
          <a:prstGeom prst="rect">
            <a:avLst/>
          </a:prstGeom>
        </p:spPr>
      </p:pic>
      <p:pic>
        <p:nvPicPr>
          <p:cNvPr id="6" name="图片 5">
            <a:extLst>
              <a:ext uri="{FF2B5EF4-FFF2-40B4-BE49-F238E27FC236}">
                <a16:creationId xmlns:a16="http://schemas.microsoft.com/office/drawing/2014/main" id="{0E0F2A3F-C64B-EC58-2391-1139416533C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04437" y="4974756"/>
            <a:ext cx="3535126" cy="1857793"/>
          </a:xfrm>
          <a:prstGeom prst="rect">
            <a:avLst/>
          </a:prstGeom>
        </p:spPr>
      </p:pic>
    </p:spTree>
    <p:extLst>
      <p:ext uri="{BB962C8B-B14F-4D97-AF65-F5344CB8AC3E}">
        <p14:creationId xmlns:p14="http://schemas.microsoft.com/office/powerpoint/2010/main" val="31038536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3FFCB-53FF-6757-3E5D-8B9CEBFB2CD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8EF5048-8296-2B54-D45F-4CC2A58261D7}"/>
              </a:ext>
            </a:extLst>
          </p:cNvPr>
          <p:cNvSpPr>
            <a:spLocks noGrp="1"/>
          </p:cNvSpPr>
          <p:nvPr>
            <p:ph type="title"/>
          </p:nvPr>
        </p:nvSpPr>
        <p:spPr/>
        <p:txBody>
          <a:bodyPr/>
          <a:lstStyle/>
          <a:p>
            <a:pPr algn="l"/>
            <a:r>
              <a:rPr lang="en-US" altLang="zh-CN" sz="3600" dirty="0"/>
              <a:t>6.4.3  leaflet</a:t>
            </a:r>
            <a:r>
              <a:rPr lang="zh-CN" altLang="en-US" sz="3600" dirty="0"/>
              <a:t>函数包</a:t>
            </a:r>
          </a:p>
        </p:txBody>
      </p:sp>
      <p:sp>
        <p:nvSpPr>
          <p:cNvPr id="4" name="灯片编号占位符 3">
            <a:extLst>
              <a:ext uri="{FF2B5EF4-FFF2-40B4-BE49-F238E27FC236}">
                <a16:creationId xmlns:a16="http://schemas.microsoft.com/office/drawing/2014/main" id="{2081FA05-670D-0162-E115-3D0A08E1EBAA}"/>
              </a:ext>
            </a:extLst>
          </p:cNvPr>
          <p:cNvSpPr>
            <a:spLocks noGrp="1"/>
          </p:cNvSpPr>
          <p:nvPr>
            <p:ph type="sldNum" sz="quarter" idx="12"/>
          </p:nvPr>
        </p:nvSpPr>
        <p:spPr/>
        <p:txBody>
          <a:bodyPr/>
          <a:lstStyle/>
          <a:p>
            <a:pPr>
              <a:lnSpc>
                <a:spcPct val="120000"/>
              </a:lnSpc>
            </a:pPr>
            <a:fld id="{5DD3DB80-B894-403A-B48E-6FDC1A72010E}" type="slidenum">
              <a:rPr lang="zh-CN" altLang="en-US" smtClean="0">
                <a:latin typeface="Consolas" panose="020B0609020204030204" pitchFamily="49" charset="0"/>
                <a:ea typeface="Microsoft YaHei" panose="020B0503020204020204" pitchFamily="34" charset="-122"/>
                <a:cs typeface="+mn-ea"/>
                <a:sym typeface="Consolas" panose="020B0609020204030204" pitchFamily="49" charset="0"/>
              </a:rPr>
              <a:t>51</a:t>
            </a:fld>
            <a:endParaRPr lang="zh-CN" altLang="en-US">
              <a:latin typeface="Consolas" panose="020B0609020204030204" pitchFamily="49" charset="0"/>
              <a:ea typeface="Microsoft YaHei" panose="020B0503020204020204" pitchFamily="34" charset="-122"/>
              <a:cs typeface="+mn-ea"/>
              <a:sym typeface="Consolas" panose="020B0609020204030204" pitchFamily="49" charset="0"/>
            </a:endParaRPr>
          </a:p>
        </p:txBody>
      </p:sp>
      <p:sp>
        <p:nvSpPr>
          <p:cNvPr id="10" name="文本框 9">
            <a:extLst>
              <a:ext uri="{FF2B5EF4-FFF2-40B4-BE49-F238E27FC236}">
                <a16:creationId xmlns:a16="http://schemas.microsoft.com/office/drawing/2014/main" id="{18D50183-EEF8-CA11-02B2-9CFEDE278896}"/>
              </a:ext>
            </a:extLst>
          </p:cNvPr>
          <p:cNvSpPr txBox="1"/>
          <p:nvPr/>
        </p:nvSpPr>
        <p:spPr>
          <a:xfrm>
            <a:off x="397360" y="1094114"/>
            <a:ext cx="8349280" cy="458715"/>
          </a:xfrm>
          <a:prstGeom prst="rect">
            <a:avLst/>
          </a:prstGeom>
          <a:noFill/>
        </p:spPr>
        <p:txBody>
          <a:bodyPr wrap="square">
            <a:spAutoFit/>
          </a:bodyPr>
          <a:lstStyle/>
          <a:p>
            <a:pPr algn="ctr">
              <a:lnSpc>
                <a:spcPct val="150000"/>
              </a:lnSpc>
            </a:pPr>
            <a:r>
              <a:rPr lang="en-US" altLang="zh-CN" dirty="0">
                <a:latin typeface="+mn-lt"/>
                <a:ea typeface="+mn-ea"/>
              </a:rPr>
              <a:t>leaflet</a:t>
            </a:r>
            <a:r>
              <a:rPr lang="zh-CN" altLang="en-US" dirty="0">
                <a:latin typeface="+mn-lt"/>
                <a:ea typeface="+mn-ea"/>
              </a:rPr>
              <a:t>函数包的优势在于其支持更多的数据，可视化样式也因此更加丰富多彩。</a:t>
            </a:r>
          </a:p>
        </p:txBody>
      </p:sp>
      <p:sp>
        <p:nvSpPr>
          <p:cNvPr id="11" name="文本框 10">
            <a:extLst>
              <a:ext uri="{FF2B5EF4-FFF2-40B4-BE49-F238E27FC236}">
                <a16:creationId xmlns:a16="http://schemas.microsoft.com/office/drawing/2014/main" id="{1246722D-055C-C376-695E-20FA1CC2681B}"/>
              </a:ext>
            </a:extLst>
          </p:cNvPr>
          <p:cNvSpPr txBox="1"/>
          <p:nvPr/>
        </p:nvSpPr>
        <p:spPr>
          <a:xfrm>
            <a:off x="509752" y="1901405"/>
            <a:ext cx="5700548" cy="3851695"/>
          </a:xfrm>
          <a:prstGeom prst="rect">
            <a:avLst/>
          </a:prstGeom>
          <a:noFill/>
        </p:spPr>
        <p:txBody>
          <a:bodyPr wrap="square">
            <a:spAutoFit/>
          </a:bodyPr>
          <a:lstStyle/>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HP_cen_wgs84&lt;-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st_transform</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(WHHP_cen,</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4326</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bins &lt;- c(</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5000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13000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15000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20000</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Inf</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pal &lt;-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colorBin</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"Blues"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domain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sz="105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bins = bins)</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leaflet(HP_cen_wgs84) %&gt;%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setView</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lng</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114.3</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30.6</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zoom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12</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addProviderTiles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providers</a:t>
            </a:r>
            <a:r>
              <a:rPr lang="en-US" altLang="zh-CN" sz="105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Stadia.StamenToner</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options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providerTileOptions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(opacity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0.35</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addProviderTiles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providers</a:t>
            </a:r>
            <a:r>
              <a:rPr lang="en-US" altLang="zh-CN" sz="105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Stadia.StamenTonerLabels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%&gt;%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addCircles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lng</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st_coordinates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(HP_cen_wgs84)[,</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st_coordinates</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(HP_cen_wgs84)[,</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weight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2</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fillColor</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pal(</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sz="105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opacity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1</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color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"white"</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dashArray</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"3"</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fillOpacity</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0.7</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radius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sz="105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0.02</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addLegend</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(pal = pal, values = </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WHHP</a:t>
            </a:r>
            <a:r>
              <a:rPr lang="en-US" altLang="zh-CN" sz="1050" kern="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Avg_HP</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buNone/>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opacity = </a:t>
            </a:r>
            <a:r>
              <a:rPr lang="en-US" altLang="zh-CN" sz="1050" kern="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0.7</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title = </a:t>
            </a:r>
            <a:r>
              <a:rPr lang="en-US" altLang="zh-CN" sz="1050" kern="0" dirty="0">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NULL</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marL="0" marR="0" indent="0" algn="l">
              <a:lnSpc>
                <a:spcPts val="1425"/>
              </a:lnSpc>
            </a:pP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position = </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bottomright</a:t>
            </a:r>
            <a:r>
              <a:rPr lang="en-US" altLang="zh-CN" sz="1050" kern="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50" kern="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13" name="图片 12">
            <a:extLst>
              <a:ext uri="{FF2B5EF4-FFF2-40B4-BE49-F238E27FC236}">
                <a16:creationId xmlns:a16="http://schemas.microsoft.com/office/drawing/2014/main" id="{4F697021-D1F2-75FE-4A27-A215E731C9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67150" y="3540332"/>
            <a:ext cx="4686300" cy="2462762"/>
          </a:xfrm>
          <a:prstGeom prst="rect">
            <a:avLst/>
          </a:prstGeom>
        </p:spPr>
      </p:pic>
    </p:spTree>
    <p:extLst>
      <p:ext uri="{BB962C8B-B14F-4D97-AF65-F5344CB8AC3E}">
        <p14:creationId xmlns:p14="http://schemas.microsoft.com/office/powerpoint/2010/main" val="27180013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71550" y="174625"/>
            <a:ext cx="6896099" cy="663575"/>
          </a:xfrm>
        </p:spPr>
        <p:txBody>
          <a:bodyPr/>
          <a:lstStyle/>
          <a:p>
            <a:r>
              <a:rPr lang="zh-CN" altLang="en-US" dirty="0"/>
              <a:t>参考教材</a:t>
            </a:r>
          </a:p>
        </p:txBody>
      </p:sp>
      <p:sp>
        <p:nvSpPr>
          <p:cNvPr id="4" name="Slide Number Placeholder 3"/>
          <p:cNvSpPr>
            <a:spLocks noGrp="1"/>
          </p:cNvSpPr>
          <p:nvPr>
            <p:ph type="sldNum" sz="quarter" idx="12"/>
          </p:nvPr>
        </p:nvSpPr>
        <p:spPr>
          <a:prstGeom prst="rect">
            <a:avLst/>
          </a:prstGeom>
        </p:spPr>
        <p:txBody>
          <a:bodyPr/>
          <a:lstStyle/>
          <a:p>
            <a:pPr>
              <a:defRPr/>
            </a:pPr>
            <a:fld id="{4169501A-70AB-40D4-B144-E9884F45072F}" type="slidenum">
              <a:rPr lang="zh-CN" altLang="en-US" smtClean="0">
                <a:solidFill>
                  <a:schemeClr val="bg1">
                    <a:lumMod val="65000"/>
                  </a:schemeClr>
                </a:solidFill>
              </a:rPr>
              <a:t>52</a:t>
            </a:fld>
            <a:endParaRPr lang="zh-CN" altLang="en-US" dirty="0">
              <a:solidFill>
                <a:schemeClr val="bg1">
                  <a:lumMod val="65000"/>
                </a:schemeClr>
              </a:solidFill>
            </a:endParaRPr>
          </a:p>
        </p:txBody>
      </p:sp>
      <p:sp>
        <p:nvSpPr>
          <p:cNvPr id="3" name="AutoShape 2" descr="https://wx.qq.com/cgi-bin/mmwebwx-bin/webwxgetmsgimg?&amp;MsgID=1011342995928164582&amp;skey=%40crypt_f86d81c0_f5935c9dae5f61551a58979cad691918"/>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40490" y="1418579"/>
            <a:ext cx="3274810" cy="4601221"/>
          </a:xfrm>
          <a:prstGeom prst="rect">
            <a:avLst/>
          </a:prstGeom>
        </p:spPr>
      </p:pic>
      <p:pic>
        <p:nvPicPr>
          <p:cNvPr id="10" name="图片 9"/>
          <p:cNvPicPr>
            <a:picLocks noChangeAspect="1"/>
          </p:cNvPicPr>
          <p:nvPr/>
        </p:nvPicPr>
        <p:blipFill>
          <a:blip r:embed="rId3"/>
          <a:stretch>
            <a:fillRect/>
          </a:stretch>
        </p:blipFill>
        <p:spPr>
          <a:xfrm>
            <a:off x="876300" y="1440809"/>
            <a:ext cx="3353787" cy="4578991"/>
          </a:xfrm>
          <a:prstGeom prst="rect">
            <a:avLst/>
          </a:prstGeom>
          <a:ln>
            <a:solidFill>
              <a:srgbClr val="F9FAFC"/>
            </a:solid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E7E6E6"/>
      </a:lt2>
      <a:accent1>
        <a:srgbClr val="005390"/>
      </a:accent1>
      <a:accent2>
        <a:srgbClr val="FFC000"/>
      </a:accent2>
      <a:accent3>
        <a:srgbClr val="FFFF00"/>
      </a:accent3>
      <a:accent4>
        <a:srgbClr val="00B050"/>
      </a:accent4>
      <a:accent5>
        <a:srgbClr val="00B0F0"/>
      </a:accent5>
      <a:accent6>
        <a:srgbClr val="0070C0"/>
      </a:accent6>
      <a:hlink>
        <a:srgbClr val="7030A0"/>
      </a:hlink>
      <a:folHlink>
        <a:srgbClr val="954F72"/>
      </a:folHlink>
    </a:clrScheme>
    <a:fontScheme name="自定义 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澹泊明志宁静致远</Template>
  <TotalTime>2291</TotalTime>
  <Words>5973</Words>
  <Application>Microsoft Office PowerPoint</Application>
  <PresentationFormat>全屏显示(4:3)</PresentationFormat>
  <Paragraphs>588</Paragraphs>
  <Slides>52</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52</vt:i4>
      </vt:variant>
    </vt:vector>
  </HeadingPairs>
  <TitlesOfParts>
    <vt:vector size="59" baseType="lpstr">
      <vt:lpstr>宋体</vt:lpstr>
      <vt:lpstr>Arial</vt:lpstr>
      <vt:lpstr>Calibri</vt:lpstr>
      <vt:lpstr>Consolas</vt:lpstr>
      <vt:lpstr>Times New Roman</vt:lpstr>
      <vt:lpstr>Wingdings</vt:lpstr>
      <vt:lpstr>Office 主题​​</vt:lpstr>
      <vt:lpstr>第六章 R中空间数据表达与可视化</vt:lpstr>
      <vt:lpstr>PowerPoint 演示文稿</vt:lpstr>
      <vt:lpstr>6.1 章节R函数包准备</vt:lpstr>
      <vt:lpstr>6.2 空间对象可视化</vt:lpstr>
      <vt:lpstr>6.2 空间对象可视化</vt:lpstr>
      <vt:lpstr>6.2 空间对象可视化</vt:lpstr>
      <vt:lpstr>6.2 空间对象可视化</vt:lpstr>
      <vt:lpstr>6.2 空间对象可视化</vt:lpstr>
      <vt:lpstr>6.2 空间对象可视化</vt:lpstr>
      <vt:lpstr>6.2 空间对象可视化</vt:lpstr>
      <vt:lpstr>6.2 空间对象可视化</vt:lpstr>
      <vt:lpstr>6.2 空间对象可视化</vt:lpstr>
      <vt:lpstr>6.2 空间对象可视化</vt:lpstr>
      <vt:lpstr>6.3 空间属性数据可视化</vt:lpstr>
      <vt:lpstr>6.3 空间属性数据可视化</vt:lpstr>
      <vt:lpstr>6.3.1 点数据</vt:lpstr>
      <vt:lpstr>6.3.1 点数据</vt:lpstr>
      <vt:lpstr>6.3.1 点数据</vt:lpstr>
      <vt:lpstr>6.3.1 点数据</vt:lpstr>
      <vt:lpstr>6.3.1 点数据</vt:lpstr>
      <vt:lpstr>6.3.1 点数据</vt:lpstr>
      <vt:lpstr>6.3.1 点数据</vt:lpstr>
      <vt:lpstr>6.3.2 线数据</vt:lpstr>
      <vt:lpstr>6.3.2 线数据</vt:lpstr>
      <vt:lpstr>6.3.2 线数据</vt:lpstr>
      <vt:lpstr>6.3.3 面数据</vt:lpstr>
      <vt:lpstr>6.3.3 面数据</vt:lpstr>
      <vt:lpstr>6.3.3 面数据</vt:lpstr>
      <vt:lpstr>6.3.3 面数据</vt:lpstr>
      <vt:lpstr>6.3.3 面数据</vt:lpstr>
      <vt:lpstr>6.3.3 面数据</vt:lpstr>
      <vt:lpstr>6.3.3 面数据</vt:lpstr>
      <vt:lpstr>6.3.3 面数据</vt:lpstr>
      <vt:lpstr>6.3.3 面数据</vt:lpstr>
      <vt:lpstr>6.3.3 面数据</vt:lpstr>
      <vt:lpstr>6.3.3 面数据</vt:lpstr>
      <vt:lpstr>6.3.3 面数据</vt:lpstr>
      <vt:lpstr>6.3.3 面数据</vt:lpstr>
      <vt:lpstr>6.4 交互式数据可视化</vt:lpstr>
      <vt:lpstr>6.4.1  echarts4r包</vt:lpstr>
      <vt:lpstr>6.4.1  echarts4r包</vt:lpstr>
      <vt:lpstr>6.4.1  echarts4r包</vt:lpstr>
      <vt:lpstr>6.4.1  echarts4r包</vt:lpstr>
      <vt:lpstr>6.4.1  echarts4r包</vt:lpstr>
      <vt:lpstr>6.4.2  REmap包</vt:lpstr>
      <vt:lpstr>6.4.2  REmap包</vt:lpstr>
      <vt:lpstr>6.4.2  REmap包</vt:lpstr>
      <vt:lpstr>6.4.2  REmap包</vt:lpstr>
      <vt:lpstr>6.4.3  leaflet函数包</vt:lpstr>
      <vt:lpstr>6.4.3  leaflet函数包</vt:lpstr>
      <vt:lpstr>6.4.3  leaflet函数包</vt:lpstr>
      <vt:lpstr>参考教材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怡彤 丁</cp:lastModifiedBy>
  <cp:revision>255</cp:revision>
  <dcterms:created xsi:type="dcterms:W3CDTF">2019-05-21T17:53:53Z</dcterms:created>
  <dcterms:modified xsi:type="dcterms:W3CDTF">2025-03-28T08:16:13Z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1033-1.0.0.1304</vt:lpwstr>
  </property>
</Properties>
</file>