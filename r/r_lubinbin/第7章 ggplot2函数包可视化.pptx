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56" r:id="rId1"/>
  </p:sldMasterIdLst>
  <p:notesMasterIdLst>
    <p:notesMasterId r:id="rId44"/>
  </p:notesMasterIdLst>
  <p:sldIdLst>
    <p:sldId id="256" r:id="rId2"/>
    <p:sldId id="600" r:id="rId3"/>
    <p:sldId id="266" r:id="rId4"/>
    <p:sldId id="631" r:id="rId5"/>
    <p:sldId id="660" r:id="rId6"/>
    <p:sldId id="632" r:id="rId7"/>
    <p:sldId id="633" r:id="rId8"/>
    <p:sldId id="634" r:id="rId9"/>
    <p:sldId id="635" r:id="rId10"/>
    <p:sldId id="636" r:id="rId11"/>
    <p:sldId id="637" r:id="rId12"/>
    <p:sldId id="638" r:id="rId13"/>
    <p:sldId id="639" r:id="rId14"/>
    <p:sldId id="640" r:id="rId15"/>
    <p:sldId id="641" r:id="rId16"/>
    <p:sldId id="642" r:id="rId17"/>
    <p:sldId id="643" r:id="rId18"/>
    <p:sldId id="644" r:id="rId19"/>
    <p:sldId id="645" r:id="rId20"/>
    <p:sldId id="646" r:id="rId21"/>
    <p:sldId id="647" r:id="rId22"/>
    <p:sldId id="648" r:id="rId23"/>
    <p:sldId id="649" r:id="rId24"/>
    <p:sldId id="650" r:id="rId25"/>
    <p:sldId id="651" r:id="rId26"/>
    <p:sldId id="652" r:id="rId27"/>
    <p:sldId id="653" r:id="rId28"/>
    <p:sldId id="654" r:id="rId29"/>
    <p:sldId id="655" r:id="rId30"/>
    <p:sldId id="625" r:id="rId31"/>
    <p:sldId id="626" r:id="rId32"/>
    <p:sldId id="627" r:id="rId33"/>
    <p:sldId id="628" r:id="rId34"/>
    <p:sldId id="629" r:id="rId35"/>
    <p:sldId id="630" r:id="rId36"/>
    <p:sldId id="656" r:id="rId37"/>
    <p:sldId id="661" r:id="rId38"/>
    <p:sldId id="329" r:id="rId39"/>
    <p:sldId id="657" r:id="rId40"/>
    <p:sldId id="658" r:id="rId41"/>
    <p:sldId id="659" r:id="rId42"/>
    <p:sldId id="624" r:id="rId43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90204" pitchFamily="34" charset="0"/>
        <a:ea typeface="SimSun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90204" pitchFamily="34" charset="0"/>
        <a:ea typeface="SimSun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90204" pitchFamily="34" charset="0"/>
        <a:ea typeface="SimSun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90204" pitchFamily="34" charset="0"/>
        <a:ea typeface="SimSun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90204" pitchFamily="34" charset="0"/>
        <a:ea typeface="SimSun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90204" pitchFamily="34" charset="0"/>
        <a:ea typeface="SimSun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90204" pitchFamily="34" charset="0"/>
        <a:ea typeface="SimSun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90204" pitchFamily="34" charset="0"/>
        <a:ea typeface="SimSun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90204" pitchFamily="34" charset="0"/>
        <a:ea typeface="SimSun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76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D22C0"/>
    <a:srgbClr val="160A02"/>
    <a:srgbClr val="F13B09"/>
    <a:srgbClr val="F75529"/>
    <a:srgbClr val="170401"/>
    <a:srgbClr val="170A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92947" autoAdjust="0"/>
  </p:normalViewPr>
  <p:slideViewPr>
    <p:cSldViewPr showGuides="1">
      <p:cViewPr varScale="1">
        <p:scale>
          <a:sx n="73" d="100"/>
          <a:sy n="73" d="100"/>
        </p:scale>
        <p:origin x="1118" y="67"/>
      </p:cViewPr>
      <p:guideLst>
        <p:guide orient="horz" pos="2376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38100" cy="381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panose="020B0604020202090204" pitchFamily="34" charset="0"/>
                <a:ea typeface="SimSun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panose="020B0604020202090204" pitchFamily="34" charset="0"/>
                <a:ea typeface="SimSun" panose="02010600030101010101" pitchFamily="2" charset="-122"/>
              </a:defRPr>
            </a:lvl1pPr>
          </a:lstStyle>
          <a:p>
            <a:pPr>
              <a:defRPr/>
            </a:pPr>
            <a:fld id="{0128E977-6F5A-48DB-ACA7-C6E15821CB3C}" type="datetimeFigureOut">
              <a:rPr lang="zh-CN" altLang="en-US"/>
              <a:t>2025-03-27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panose="020B0604020202090204" pitchFamily="34" charset="0"/>
                <a:ea typeface="SimSun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defRPr sz="1200">
                <a:latin typeface="Arial" panose="020B0604020202090204" pitchFamily="34" charset="0"/>
                <a:ea typeface="SimSun" panose="02010600030101010101" pitchFamily="2" charset="-122"/>
              </a:defRPr>
            </a:lvl1pPr>
          </a:lstStyle>
          <a:p>
            <a:pPr>
              <a:defRPr/>
            </a:pPr>
            <a:fld id="{5F5AD7FC-C08A-4786-B2D8-ABE422D63548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392970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0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131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Arial" panose="020B060402020209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9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9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SimSun" panose="02010600030101010101" pitchFamily="2" charset="-122"/>
              </a:defRPr>
            </a:lvl9pPr>
          </a:lstStyle>
          <a:p>
            <a:fld id="{7C8FC65C-FC7A-4192-9B2D-44DFEE13D478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25067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013C1-1948-A92C-0E99-E06AB626E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80280AF-B47F-299D-7C01-DF8A7BAF7B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6047983-33E2-EAB3-DDE8-B27E4E5E6E30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43063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30802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54240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4395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04572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69488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85123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78301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55438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99907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34424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34704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55173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87954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560679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531701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891661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前者用于在散点图中添加随机的位置偏移，避免数据点重叠；而后者用于在分组性质的柱状图或其他几何对象中添加偏移，以避免图形之间的重叠。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8837345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前者用于在散点图中添加随机的位置偏移，避免数据点重叠；而后者用于在分组性质的柱状图或其他几何对象中添加偏移，以避免图形之间的重叠。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4007111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前者用于在散点图中添加随机的位置偏移，避免数据点重叠；而后者用于在分组性质的柱状图或其他几何对象中添加偏移，以避免图形之间的重叠。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5845212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前者用于在散点图中添加随机的位置偏移，避免数据点重叠；而后者用于在分组性质的柱状图或其他几何对象中添加偏移，以避免图形之间的重叠。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5206423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前者用于在散点图中添加随机的位置偏移，避免数据点重叠；而后者用于在分组性质的柱状图或其他几何对象中添加偏移，以避免图形之间的重叠。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0793671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前者用于在散点图中添加随机的位置偏移，避免数据点重叠；而后者用于在分组性质的柱状图或其他几何对象中添加偏移，以避免图形之间的重叠。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2257846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前者用于在散点图中添加随机的位置偏移，避免数据点重叠；而后者用于在分组性质的柱状图或其他几何对象中添加偏移，以避免图形之间的重叠。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961024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前者用于在散点图中添加随机的位置偏移，避免数据点重叠；而后者用于在分组性质的柱状图或其他几何对象中添加偏移，以避免图形之间的重叠。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1867653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前者用于在散点图中添加随机的位置偏移，避免数据点重叠；而后者用于在分组性质的柱状图或其他几何对象中添加偏移，以避免图形之间的重叠。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2835025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5A1F0-9E1D-A9D1-F5EC-D53D610113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B2A120F-C8C9-2E4C-3662-61515761A2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37300FD-2EF7-1E40-0A99-82ED108AA648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58397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2623117F-6EA8-2C0E-201E-59A886013F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7956"/>
            <a:ext cx="9144000" cy="2932680"/>
          </a:xfrm>
          <a:prstGeom prst="rect">
            <a:avLst/>
          </a:prstGeom>
        </p:spPr>
      </p:pic>
      <p:sp>
        <p:nvSpPr>
          <p:cNvPr id="8" name="标题 1">
            <a:extLst>
              <a:ext uri="{FF2B5EF4-FFF2-40B4-BE49-F238E27FC236}">
                <a16:creationId xmlns:a16="http://schemas.microsoft.com/office/drawing/2014/main" id="{836CB290-AA8C-4158-03C9-4390D386E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2934" y="3924304"/>
            <a:ext cx="7772400" cy="746125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9" name="副标题 2">
            <a:extLst>
              <a:ext uri="{FF2B5EF4-FFF2-40B4-BE49-F238E27FC236}">
                <a16:creationId xmlns:a16="http://schemas.microsoft.com/office/drawing/2014/main" id="{804ED95B-9FE9-6B12-9AB9-F1BE578B52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4914904"/>
            <a:ext cx="6400800" cy="7461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0" name="任意形状 36">
            <a:extLst>
              <a:ext uri="{FF2B5EF4-FFF2-40B4-BE49-F238E27FC236}">
                <a16:creationId xmlns:a16="http://schemas.microsoft.com/office/drawing/2014/main" id="{1F016AD4-1B52-E122-8B58-3BC3EAA149FC}"/>
              </a:ext>
            </a:extLst>
          </p:cNvPr>
          <p:cNvSpPr/>
          <p:nvPr userDrawn="1"/>
        </p:nvSpPr>
        <p:spPr>
          <a:xfrm>
            <a:off x="-138132" y="-147919"/>
            <a:ext cx="9434532" cy="3238555"/>
          </a:xfrm>
          <a:custGeom>
            <a:avLst/>
            <a:gdLst>
              <a:gd name="connsiteX0" fmla="*/ 0 w 12192000"/>
              <a:gd name="connsiteY0" fmla="*/ 0 h 3632200"/>
              <a:gd name="connsiteX1" fmla="*/ 12192000 w 12192000"/>
              <a:gd name="connsiteY1" fmla="*/ 0 h 3632200"/>
              <a:gd name="connsiteX2" fmla="*/ 12192000 w 12192000"/>
              <a:gd name="connsiteY2" fmla="*/ 2602097 h 3632200"/>
              <a:gd name="connsiteX3" fmla="*/ 11858362 w 12192000"/>
              <a:gd name="connsiteY3" fmla="*/ 2747371 h 3632200"/>
              <a:gd name="connsiteX4" fmla="*/ 6859519 w 12192000"/>
              <a:gd name="connsiteY4" fmla="*/ 3619648 h 3632200"/>
              <a:gd name="connsiteX5" fmla="*/ 6096062 w 12192000"/>
              <a:gd name="connsiteY5" fmla="*/ 3632200 h 3632200"/>
              <a:gd name="connsiteX6" fmla="*/ 6095939 w 12192000"/>
              <a:gd name="connsiteY6" fmla="*/ 3632200 h 3632200"/>
              <a:gd name="connsiteX7" fmla="*/ 5332482 w 12192000"/>
              <a:gd name="connsiteY7" fmla="*/ 3619648 h 3632200"/>
              <a:gd name="connsiteX8" fmla="*/ 333638 w 12192000"/>
              <a:gd name="connsiteY8" fmla="*/ 2747371 h 3632200"/>
              <a:gd name="connsiteX9" fmla="*/ 0 w 12192000"/>
              <a:gd name="connsiteY9" fmla="*/ 2602097 h 363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3632200">
                <a:moveTo>
                  <a:pt x="0" y="0"/>
                </a:moveTo>
                <a:lnTo>
                  <a:pt x="12192000" y="0"/>
                </a:lnTo>
                <a:lnTo>
                  <a:pt x="12192000" y="2602097"/>
                </a:lnTo>
                <a:lnTo>
                  <a:pt x="11858362" y="2747371"/>
                </a:lnTo>
                <a:cubicBezTo>
                  <a:pt x="10640880" y="3227716"/>
                  <a:pt x="8867829" y="3553239"/>
                  <a:pt x="6859519" y="3619648"/>
                </a:cubicBezTo>
                <a:lnTo>
                  <a:pt x="6096062" y="3632200"/>
                </a:lnTo>
                <a:lnTo>
                  <a:pt x="6095939" y="3632200"/>
                </a:lnTo>
                <a:lnTo>
                  <a:pt x="5332482" y="3619648"/>
                </a:lnTo>
                <a:cubicBezTo>
                  <a:pt x="3324171" y="3553239"/>
                  <a:pt x="1551120" y="3227716"/>
                  <a:pt x="333638" y="2747371"/>
                </a:cubicBezTo>
                <a:lnTo>
                  <a:pt x="0" y="2602097"/>
                </a:lnTo>
                <a:close/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noAutofit/>
          </a:bodyPr>
          <a:lstStyle/>
          <a:p>
            <a:pPr algn="l">
              <a:lnSpc>
                <a:spcPct val="130000"/>
              </a:lnSpc>
            </a:pPr>
            <a:endParaRPr kumimoji="1"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8F356D7-8E4F-1945-FD78-65AA65FE52EB}"/>
              </a:ext>
            </a:extLst>
          </p:cNvPr>
          <p:cNvSpPr/>
          <p:nvPr userDrawn="1"/>
        </p:nvSpPr>
        <p:spPr>
          <a:xfrm>
            <a:off x="0" y="0"/>
            <a:ext cx="9144000" cy="16328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normAutofit fontScale="25000" lnSpcReduction="20000"/>
          </a:bodyPr>
          <a:lstStyle/>
          <a:p>
            <a:pPr algn="l">
              <a:lnSpc>
                <a:spcPct val="130000"/>
              </a:lnSpc>
            </a:pPr>
            <a:endParaRPr kumimoji="1"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82FBDFF2-AD16-FAA0-ACB9-2FC153BC1B66}"/>
              </a:ext>
            </a:extLst>
          </p:cNvPr>
          <p:cNvGrpSpPr/>
          <p:nvPr userDrawn="1"/>
        </p:nvGrpSpPr>
        <p:grpSpPr>
          <a:xfrm>
            <a:off x="3962400" y="2400300"/>
            <a:ext cx="1219200" cy="1231468"/>
            <a:chOff x="6678206" y="3208602"/>
            <a:chExt cx="1219200" cy="1231468"/>
          </a:xfrm>
        </p:grpSpPr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C71DE8F0-2963-6F08-2CE0-0ECAB701702A}"/>
                </a:ext>
              </a:extLst>
            </p:cNvPr>
            <p:cNvSpPr/>
            <p:nvPr/>
          </p:nvSpPr>
          <p:spPr>
            <a:xfrm>
              <a:off x="6683774" y="3226438"/>
              <a:ext cx="1213632" cy="1213632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  <a:normAutofit/>
            </a:bodyPr>
            <a:lstStyle/>
            <a:p>
              <a:pPr algn="l">
                <a:lnSpc>
                  <a:spcPct val="130000"/>
                </a:lnSpc>
              </a:pPr>
              <a:endParaRPr kumimoji="1"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grpSp>
          <p:nvGrpSpPr>
            <p:cNvPr id="14" name="íšḻîďê">
              <a:extLst>
                <a:ext uri="{FF2B5EF4-FFF2-40B4-BE49-F238E27FC236}">
                  <a16:creationId xmlns:a16="http://schemas.microsoft.com/office/drawing/2014/main" id="{ED0EBDE7-6E6A-786F-A2FC-5A2545B99862}"/>
                </a:ext>
              </a:extLst>
            </p:cNvPr>
            <p:cNvGrpSpPr/>
            <p:nvPr/>
          </p:nvGrpSpPr>
          <p:grpSpPr>
            <a:xfrm>
              <a:off x="6678206" y="3208602"/>
              <a:ext cx="1219200" cy="1227234"/>
              <a:chOff x="3551238" y="3067050"/>
              <a:chExt cx="722313" cy="727075"/>
            </a:xfrm>
          </p:grpSpPr>
          <p:sp>
            <p:nvSpPr>
              <p:cNvPr id="15" name="ïş1íḍê">
                <a:extLst>
                  <a:ext uri="{FF2B5EF4-FFF2-40B4-BE49-F238E27FC236}">
                    <a16:creationId xmlns:a16="http://schemas.microsoft.com/office/drawing/2014/main" id="{AABE1655-3B8B-EE54-537C-4862856254A9}"/>
                  </a:ext>
                </a:extLst>
              </p:cNvPr>
              <p:cNvSpPr/>
              <p:nvPr/>
            </p:nvSpPr>
            <p:spPr bwMode="auto">
              <a:xfrm>
                <a:off x="3575051" y="3087688"/>
                <a:ext cx="673100" cy="679450"/>
              </a:xfrm>
              <a:custGeom>
                <a:avLst/>
                <a:gdLst>
                  <a:gd name="T0" fmla="*/ 102 w 204"/>
                  <a:gd name="T1" fmla="*/ 0 h 204"/>
                  <a:gd name="T2" fmla="*/ 204 w 204"/>
                  <a:gd name="T3" fmla="*/ 102 h 204"/>
                  <a:gd name="T4" fmla="*/ 102 w 204"/>
                  <a:gd name="T5" fmla="*/ 204 h 204"/>
                  <a:gd name="T6" fmla="*/ 0 w 204"/>
                  <a:gd name="T7" fmla="*/ 102 h 204"/>
                  <a:gd name="T8" fmla="*/ 102 w 204"/>
                  <a:gd name="T9" fmla="*/ 0 h 204"/>
                  <a:gd name="T10" fmla="*/ 102 w 204"/>
                  <a:gd name="T11" fmla="*/ 25 h 204"/>
                  <a:gd name="T12" fmla="*/ 24 w 204"/>
                  <a:gd name="T13" fmla="*/ 103 h 204"/>
                  <a:gd name="T14" fmla="*/ 102 w 204"/>
                  <a:gd name="T15" fmla="*/ 181 h 204"/>
                  <a:gd name="T16" fmla="*/ 180 w 204"/>
                  <a:gd name="T17" fmla="*/ 103 h 204"/>
                  <a:gd name="T18" fmla="*/ 102 w 204"/>
                  <a:gd name="T19" fmla="*/ 25 h 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4" h="204">
                    <a:moveTo>
                      <a:pt x="102" y="0"/>
                    </a:moveTo>
                    <a:cubicBezTo>
                      <a:pt x="159" y="0"/>
                      <a:pt x="204" y="46"/>
                      <a:pt x="204" y="102"/>
                    </a:cubicBezTo>
                    <a:cubicBezTo>
                      <a:pt x="204" y="158"/>
                      <a:pt x="159" y="204"/>
                      <a:pt x="102" y="204"/>
                    </a:cubicBezTo>
                    <a:cubicBezTo>
                      <a:pt x="46" y="204"/>
                      <a:pt x="0" y="158"/>
                      <a:pt x="0" y="102"/>
                    </a:cubicBezTo>
                    <a:cubicBezTo>
                      <a:pt x="0" y="46"/>
                      <a:pt x="46" y="0"/>
                      <a:pt x="102" y="0"/>
                    </a:cubicBezTo>
                    <a:close/>
                    <a:moveTo>
                      <a:pt x="102" y="25"/>
                    </a:moveTo>
                    <a:cubicBezTo>
                      <a:pt x="59" y="25"/>
                      <a:pt x="24" y="60"/>
                      <a:pt x="24" y="103"/>
                    </a:cubicBezTo>
                    <a:cubicBezTo>
                      <a:pt x="24" y="146"/>
                      <a:pt x="59" y="181"/>
                      <a:pt x="102" y="181"/>
                    </a:cubicBezTo>
                    <a:cubicBezTo>
                      <a:pt x="145" y="181"/>
                      <a:pt x="180" y="146"/>
                      <a:pt x="180" y="103"/>
                    </a:cubicBezTo>
                    <a:cubicBezTo>
                      <a:pt x="180" y="60"/>
                      <a:pt x="145" y="25"/>
                      <a:pt x="102" y="25"/>
                    </a:cubicBezTo>
                    <a:close/>
                  </a:path>
                </a:pathLst>
              </a:custGeom>
              <a:solidFill>
                <a:srgbClr val="0052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16" name="íšḻïḍè">
                <a:extLst>
                  <a:ext uri="{FF2B5EF4-FFF2-40B4-BE49-F238E27FC236}">
                    <a16:creationId xmlns:a16="http://schemas.microsoft.com/office/drawing/2014/main" id="{33AFE03D-EAD3-BFE3-3C87-2258D7D997F1}"/>
                  </a:ext>
                </a:extLst>
              </p:cNvPr>
              <p:cNvSpPr/>
              <p:nvPr/>
            </p:nvSpPr>
            <p:spPr bwMode="auto">
              <a:xfrm>
                <a:off x="3621088" y="3103563"/>
                <a:ext cx="584200" cy="203200"/>
              </a:xfrm>
              <a:custGeom>
                <a:avLst/>
                <a:gdLst>
                  <a:gd name="T0" fmla="*/ 8 w 177"/>
                  <a:gd name="T1" fmla="*/ 53 h 61"/>
                  <a:gd name="T2" fmla="*/ 0 w 177"/>
                  <a:gd name="T3" fmla="*/ 56 h 61"/>
                  <a:gd name="T4" fmla="*/ 5 w 177"/>
                  <a:gd name="T5" fmla="*/ 52 h 61"/>
                  <a:gd name="T6" fmla="*/ 4 w 177"/>
                  <a:gd name="T7" fmla="*/ 50 h 61"/>
                  <a:gd name="T8" fmla="*/ 5 w 177"/>
                  <a:gd name="T9" fmla="*/ 48 h 61"/>
                  <a:gd name="T10" fmla="*/ 10 w 177"/>
                  <a:gd name="T11" fmla="*/ 41 h 61"/>
                  <a:gd name="T12" fmla="*/ 17 w 177"/>
                  <a:gd name="T13" fmla="*/ 50 h 61"/>
                  <a:gd name="T14" fmla="*/ 14 w 177"/>
                  <a:gd name="T15" fmla="*/ 35 h 61"/>
                  <a:gd name="T16" fmla="*/ 23 w 177"/>
                  <a:gd name="T17" fmla="*/ 46 h 61"/>
                  <a:gd name="T18" fmla="*/ 31 w 177"/>
                  <a:gd name="T19" fmla="*/ 38 h 61"/>
                  <a:gd name="T20" fmla="*/ 29 w 177"/>
                  <a:gd name="T21" fmla="*/ 40 h 61"/>
                  <a:gd name="T22" fmla="*/ 18 w 177"/>
                  <a:gd name="T23" fmla="*/ 32 h 61"/>
                  <a:gd name="T24" fmla="*/ 19 w 177"/>
                  <a:gd name="T25" fmla="*/ 30 h 61"/>
                  <a:gd name="T26" fmla="*/ 21 w 177"/>
                  <a:gd name="T27" fmla="*/ 27 h 61"/>
                  <a:gd name="T28" fmla="*/ 41 w 177"/>
                  <a:gd name="T29" fmla="*/ 29 h 61"/>
                  <a:gd name="T30" fmla="*/ 43 w 177"/>
                  <a:gd name="T31" fmla="*/ 29 h 61"/>
                  <a:gd name="T32" fmla="*/ 35 w 177"/>
                  <a:gd name="T33" fmla="*/ 35 h 61"/>
                  <a:gd name="T34" fmla="*/ 31 w 177"/>
                  <a:gd name="T35" fmla="*/ 21 h 61"/>
                  <a:gd name="T36" fmla="*/ 46 w 177"/>
                  <a:gd name="T37" fmla="*/ 11 h 61"/>
                  <a:gd name="T38" fmla="*/ 47 w 177"/>
                  <a:gd name="T39" fmla="*/ 11 h 61"/>
                  <a:gd name="T40" fmla="*/ 47 w 177"/>
                  <a:gd name="T41" fmla="*/ 26 h 61"/>
                  <a:gd name="T42" fmla="*/ 39 w 177"/>
                  <a:gd name="T43" fmla="*/ 15 h 61"/>
                  <a:gd name="T44" fmla="*/ 72 w 177"/>
                  <a:gd name="T45" fmla="*/ 16 h 61"/>
                  <a:gd name="T46" fmla="*/ 71 w 177"/>
                  <a:gd name="T47" fmla="*/ 2 h 61"/>
                  <a:gd name="T48" fmla="*/ 65 w 177"/>
                  <a:gd name="T49" fmla="*/ 15 h 61"/>
                  <a:gd name="T50" fmla="*/ 64 w 177"/>
                  <a:gd name="T51" fmla="*/ 4 h 61"/>
                  <a:gd name="T52" fmla="*/ 84 w 177"/>
                  <a:gd name="T53" fmla="*/ 1 h 61"/>
                  <a:gd name="T54" fmla="*/ 84 w 177"/>
                  <a:gd name="T55" fmla="*/ 1 h 61"/>
                  <a:gd name="T56" fmla="*/ 78 w 177"/>
                  <a:gd name="T57" fmla="*/ 16 h 61"/>
                  <a:gd name="T58" fmla="*/ 77 w 177"/>
                  <a:gd name="T59" fmla="*/ 15 h 61"/>
                  <a:gd name="T60" fmla="*/ 90 w 177"/>
                  <a:gd name="T61" fmla="*/ 1 h 61"/>
                  <a:gd name="T62" fmla="*/ 94 w 177"/>
                  <a:gd name="T63" fmla="*/ 15 h 61"/>
                  <a:gd name="T64" fmla="*/ 92 w 177"/>
                  <a:gd name="T65" fmla="*/ 15 h 61"/>
                  <a:gd name="T66" fmla="*/ 113 w 177"/>
                  <a:gd name="T67" fmla="*/ 3 h 61"/>
                  <a:gd name="T68" fmla="*/ 102 w 177"/>
                  <a:gd name="T69" fmla="*/ 2 h 61"/>
                  <a:gd name="T70" fmla="*/ 105 w 177"/>
                  <a:gd name="T71" fmla="*/ 14 h 61"/>
                  <a:gd name="T72" fmla="*/ 117 w 177"/>
                  <a:gd name="T73" fmla="*/ 5 h 61"/>
                  <a:gd name="T74" fmla="*/ 122 w 177"/>
                  <a:gd name="T75" fmla="*/ 19 h 61"/>
                  <a:gd name="T76" fmla="*/ 119 w 177"/>
                  <a:gd name="T77" fmla="*/ 13 h 61"/>
                  <a:gd name="T78" fmla="*/ 121 w 177"/>
                  <a:gd name="T79" fmla="*/ 12 h 61"/>
                  <a:gd name="T80" fmla="*/ 124 w 177"/>
                  <a:gd name="T81" fmla="*/ 10 h 61"/>
                  <a:gd name="T82" fmla="*/ 131 w 177"/>
                  <a:gd name="T83" fmla="*/ 26 h 61"/>
                  <a:gd name="T84" fmla="*/ 126 w 177"/>
                  <a:gd name="T85" fmla="*/ 23 h 61"/>
                  <a:gd name="T86" fmla="*/ 124 w 177"/>
                  <a:gd name="T87" fmla="*/ 23 h 61"/>
                  <a:gd name="T88" fmla="*/ 137 w 177"/>
                  <a:gd name="T89" fmla="*/ 14 h 61"/>
                  <a:gd name="T90" fmla="*/ 133 w 177"/>
                  <a:gd name="T91" fmla="*/ 11 h 61"/>
                  <a:gd name="T92" fmla="*/ 137 w 177"/>
                  <a:gd name="T93" fmla="*/ 32 h 61"/>
                  <a:gd name="T94" fmla="*/ 137 w 177"/>
                  <a:gd name="T95" fmla="*/ 32 h 61"/>
                  <a:gd name="T96" fmla="*/ 145 w 177"/>
                  <a:gd name="T97" fmla="*/ 19 h 61"/>
                  <a:gd name="T98" fmla="*/ 146 w 177"/>
                  <a:gd name="T99" fmla="*/ 19 h 61"/>
                  <a:gd name="T100" fmla="*/ 159 w 177"/>
                  <a:gd name="T101" fmla="*/ 31 h 61"/>
                  <a:gd name="T102" fmla="*/ 149 w 177"/>
                  <a:gd name="T103" fmla="*/ 42 h 61"/>
                  <a:gd name="T104" fmla="*/ 155 w 177"/>
                  <a:gd name="T105" fmla="*/ 27 h 61"/>
                  <a:gd name="T106" fmla="*/ 166 w 177"/>
                  <a:gd name="T107" fmla="*/ 40 h 61"/>
                  <a:gd name="T108" fmla="*/ 160 w 177"/>
                  <a:gd name="T109" fmla="*/ 37 h 61"/>
                  <a:gd name="T110" fmla="*/ 153 w 177"/>
                  <a:gd name="T111" fmla="*/ 46 h 61"/>
                  <a:gd name="T112" fmla="*/ 177 w 177"/>
                  <a:gd name="T113" fmla="*/ 55 h 61"/>
                  <a:gd name="T114" fmla="*/ 162 w 177"/>
                  <a:gd name="T115" fmla="*/ 60 h 61"/>
                  <a:gd name="T116" fmla="*/ 165 w 177"/>
                  <a:gd name="T117" fmla="*/ 55 h 61"/>
                  <a:gd name="T118" fmla="*/ 173 w 177"/>
                  <a:gd name="T119" fmla="*/ 49 h 6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77" h="61">
                    <a:moveTo>
                      <a:pt x="6" y="46"/>
                    </a:moveTo>
                    <a:cubicBezTo>
                      <a:pt x="6" y="46"/>
                      <a:pt x="6" y="46"/>
                      <a:pt x="6" y="46"/>
                    </a:cubicBezTo>
                    <a:cubicBezTo>
                      <a:pt x="6" y="46"/>
                      <a:pt x="6" y="46"/>
                      <a:pt x="6" y="46"/>
                    </a:cubicBezTo>
                    <a:cubicBezTo>
                      <a:pt x="6" y="46"/>
                      <a:pt x="6" y="47"/>
                      <a:pt x="6" y="47"/>
                    </a:cubicBezTo>
                    <a:cubicBezTo>
                      <a:pt x="6" y="47"/>
                      <a:pt x="6" y="47"/>
                      <a:pt x="6" y="47"/>
                    </a:cubicBezTo>
                    <a:cubicBezTo>
                      <a:pt x="17" y="57"/>
                      <a:pt x="17" y="57"/>
                      <a:pt x="17" y="57"/>
                    </a:cubicBezTo>
                    <a:cubicBezTo>
                      <a:pt x="17" y="57"/>
                      <a:pt x="17" y="57"/>
                      <a:pt x="17" y="57"/>
                    </a:cubicBezTo>
                    <a:cubicBezTo>
                      <a:pt x="8" y="53"/>
                      <a:pt x="8" y="53"/>
                      <a:pt x="8" y="53"/>
                    </a:cubicBezTo>
                    <a:cubicBezTo>
                      <a:pt x="8" y="54"/>
                      <a:pt x="8" y="54"/>
                      <a:pt x="8" y="54"/>
                    </a:cubicBezTo>
                    <a:cubicBezTo>
                      <a:pt x="15" y="60"/>
                      <a:pt x="15" y="60"/>
                      <a:pt x="15" y="60"/>
                    </a:cubicBezTo>
                    <a:cubicBezTo>
                      <a:pt x="15" y="61"/>
                      <a:pt x="15" y="61"/>
                      <a:pt x="15" y="61"/>
                    </a:cubicBezTo>
                    <a:cubicBezTo>
                      <a:pt x="1" y="55"/>
                      <a:pt x="1" y="55"/>
                      <a:pt x="1" y="55"/>
                    </a:cubicBezTo>
                    <a:cubicBezTo>
                      <a:pt x="1" y="55"/>
                      <a:pt x="1" y="55"/>
                      <a:pt x="1" y="55"/>
                    </a:cubicBezTo>
                    <a:cubicBezTo>
                      <a:pt x="1" y="55"/>
                      <a:pt x="1" y="55"/>
                      <a:pt x="1" y="55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2" y="53"/>
                      <a:pt x="2" y="53"/>
                      <a:pt x="2" y="53"/>
                    </a:cubicBezTo>
                    <a:cubicBezTo>
                      <a:pt x="2" y="53"/>
                      <a:pt x="2" y="53"/>
                      <a:pt x="2" y="53"/>
                    </a:cubicBezTo>
                    <a:cubicBezTo>
                      <a:pt x="2" y="53"/>
                      <a:pt x="2" y="53"/>
                      <a:pt x="2" y="53"/>
                    </a:cubicBezTo>
                    <a:cubicBezTo>
                      <a:pt x="2" y="53"/>
                      <a:pt x="2" y="54"/>
                      <a:pt x="2" y="54"/>
                    </a:cubicBezTo>
                    <a:cubicBezTo>
                      <a:pt x="2" y="54"/>
                      <a:pt x="2" y="54"/>
                      <a:pt x="2" y="54"/>
                    </a:cubicBezTo>
                    <a:cubicBezTo>
                      <a:pt x="11" y="58"/>
                      <a:pt x="11" y="58"/>
                      <a:pt x="11" y="58"/>
                    </a:cubicBezTo>
                    <a:cubicBezTo>
                      <a:pt x="12" y="58"/>
                      <a:pt x="12" y="58"/>
                      <a:pt x="12" y="58"/>
                    </a:cubicBezTo>
                    <a:cubicBezTo>
                      <a:pt x="5" y="52"/>
                      <a:pt x="5" y="52"/>
                      <a:pt x="5" y="52"/>
                    </a:cubicBezTo>
                    <a:cubicBezTo>
                      <a:pt x="4" y="52"/>
                      <a:pt x="4" y="52"/>
                      <a:pt x="4" y="52"/>
                    </a:cubicBezTo>
                    <a:cubicBezTo>
                      <a:pt x="3" y="52"/>
                      <a:pt x="3" y="52"/>
                      <a:pt x="3" y="52"/>
                    </a:cubicBezTo>
                    <a:cubicBezTo>
                      <a:pt x="3" y="52"/>
                      <a:pt x="3" y="52"/>
                      <a:pt x="3" y="52"/>
                    </a:cubicBezTo>
                    <a:cubicBezTo>
                      <a:pt x="3" y="52"/>
                      <a:pt x="3" y="52"/>
                      <a:pt x="3" y="52"/>
                    </a:cubicBezTo>
                    <a:cubicBezTo>
                      <a:pt x="2" y="52"/>
                      <a:pt x="2" y="52"/>
                      <a:pt x="2" y="52"/>
                    </a:cubicBezTo>
                    <a:cubicBezTo>
                      <a:pt x="4" y="49"/>
                      <a:pt x="4" y="49"/>
                      <a:pt x="4" y="49"/>
                    </a:cubicBezTo>
                    <a:cubicBezTo>
                      <a:pt x="4" y="49"/>
                      <a:pt x="4" y="49"/>
                      <a:pt x="4" y="49"/>
                    </a:cubicBezTo>
                    <a:cubicBezTo>
                      <a:pt x="4" y="50"/>
                      <a:pt x="4" y="50"/>
                      <a:pt x="4" y="50"/>
                    </a:cubicBezTo>
                    <a:cubicBezTo>
                      <a:pt x="4" y="50"/>
                      <a:pt x="4" y="50"/>
                      <a:pt x="4" y="50"/>
                    </a:cubicBezTo>
                    <a:cubicBezTo>
                      <a:pt x="4" y="50"/>
                      <a:pt x="4" y="50"/>
                      <a:pt x="4" y="51"/>
                    </a:cubicBezTo>
                    <a:cubicBezTo>
                      <a:pt x="13" y="54"/>
                      <a:pt x="13" y="54"/>
                      <a:pt x="13" y="54"/>
                    </a:cubicBezTo>
                    <a:cubicBezTo>
                      <a:pt x="13" y="54"/>
                      <a:pt x="13" y="54"/>
                      <a:pt x="13" y="54"/>
                    </a:cubicBezTo>
                    <a:cubicBezTo>
                      <a:pt x="6" y="48"/>
                      <a:pt x="6" y="48"/>
                      <a:pt x="6" y="48"/>
                    </a:cubicBezTo>
                    <a:cubicBezTo>
                      <a:pt x="6" y="48"/>
                      <a:pt x="6" y="48"/>
                      <a:pt x="5" y="48"/>
                    </a:cubicBezTo>
                    <a:cubicBezTo>
                      <a:pt x="5" y="48"/>
                      <a:pt x="5" y="48"/>
                      <a:pt x="5" y="48"/>
                    </a:cubicBezTo>
                    <a:cubicBezTo>
                      <a:pt x="5" y="48"/>
                      <a:pt x="5" y="48"/>
                      <a:pt x="5" y="48"/>
                    </a:cubicBezTo>
                    <a:cubicBezTo>
                      <a:pt x="4" y="48"/>
                      <a:pt x="4" y="48"/>
                      <a:pt x="4" y="48"/>
                    </a:cubicBezTo>
                    <a:cubicBezTo>
                      <a:pt x="6" y="46"/>
                      <a:pt x="6" y="46"/>
                      <a:pt x="6" y="46"/>
                    </a:cubicBezTo>
                    <a:close/>
                    <a:moveTo>
                      <a:pt x="22" y="48"/>
                    </a:moveTo>
                    <a:cubicBezTo>
                      <a:pt x="22" y="49"/>
                      <a:pt x="21" y="49"/>
                      <a:pt x="21" y="49"/>
                    </a:cubicBezTo>
                    <a:cubicBezTo>
                      <a:pt x="20" y="50"/>
                      <a:pt x="19" y="49"/>
                      <a:pt x="18" y="48"/>
                    </a:cubicBezTo>
                    <a:cubicBezTo>
                      <a:pt x="10" y="42"/>
                      <a:pt x="10" y="42"/>
                      <a:pt x="10" y="42"/>
                    </a:cubicBezTo>
                    <a:cubicBezTo>
                      <a:pt x="10" y="42"/>
                      <a:pt x="10" y="41"/>
                      <a:pt x="10" y="41"/>
                    </a:cubicBezTo>
                    <a:cubicBezTo>
                      <a:pt x="10" y="41"/>
                      <a:pt x="10" y="41"/>
                      <a:pt x="10" y="41"/>
                    </a:cubicBezTo>
                    <a:cubicBezTo>
                      <a:pt x="10" y="40"/>
                      <a:pt x="10" y="40"/>
                      <a:pt x="10" y="40"/>
                    </a:cubicBezTo>
                    <a:cubicBezTo>
                      <a:pt x="10" y="40"/>
                      <a:pt x="10" y="40"/>
                      <a:pt x="10" y="40"/>
                    </a:cubicBezTo>
                    <a:cubicBezTo>
                      <a:pt x="7" y="43"/>
                      <a:pt x="7" y="43"/>
                      <a:pt x="7" y="43"/>
                    </a:cubicBezTo>
                    <a:cubicBezTo>
                      <a:pt x="8" y="43"/>
                      <a:pt x="8" y="43"/>
                      <a:pt x="8" y="43"/>
                    </a:cubicBezTo>
                    <a:cubicBezTo>
                      <a:pt x="8" y="43"/>
                      <a:pt x="8" y="43"/>
                      <a:pt x="8" y="43"/>
                    </a:cubicBezTo>
                    <a:cubicBezTo>
                      <a:pt x="8" y="43"/>
                      <a:pt x="8" y="43"/>
                      <a:pt x="8" y="43"/>
                    </a:cubicBezTo>
                    <a:cubicBezTo>
                      <a:pt x="9" y="43"/>
                      <a:pt x="9" y="43"/>
                      <a:pt x="9" y="43"/>
                    </a:cubicBezTo>
                    <a:cubicBezTo>
                      <a:pt x="17" y="50"/>
                      <a:pt x="17" y="50"/>
                      <a:pt x="17" y="50"/>
                    </a:cubicBezTo>
                    <a:cubicBezTo>
                      <a:pt x="18" y="50"/>
                      <a:pt x="19" y="51"/>
                      <a:pt x="20" y="50"/>
                    </a:cubicBezTo>
                    <a:cubicBezTo>
                      <a:pt x="21" y="50"/>
                      <a:pt x="22" y="50"/>
                      <a:pt x="23" y="49"/>
                    </a:cubicBezTo>
                    <a:cubicBezTo>
                      <a:pt x="24" y="48"/>
                      <a:pt x="24" y="47"/>
                      <a:pt x="24" y="46"/>
                    </a:cubicBezTo>
                    <a:cubicBezTo>
                      <a:pt x="24" y="45"/>
                      <a:pt x="23" y="44"/>
                      <a:pt x="22" y="43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4" y="36"/>
                      <a:pt x="14" y="36"/>
                      <a:pt x="14" y="36"/>
                    </a:cubicBezTo>
                    <a:cubicBezTo>
                      <a:pt x="14" y="36"/>
                      <a:pt x="14" y="36"/>
                      <a:pt x="14" y="35"/>
                    </a:cubicBezTo>
                    <a:cubicBezTo>
                      <a:pt x="14" y="35"/>
                      <a:pt x="14" y="35"/>
                      <a:pt x="14" y="35"/>
                    </a:cubicBezTo>
                    <a:cubicBezTo>
                      <a:pt x="14" y="35"/>
                      <a:pt x="14" y="35"/>
                      <a:pt x="14" y="35"/>
                    </a:cubicBezTo>
                    <a:cubicBezTo>
                      <a:pt x="12" y="37"/>
                      <a:pt x="12" y="37"/>
                      <a:pt x="12" y="37"/>
                    </a:cubicBezTo>
                    <a:cubicBezTo>
                      <a:pt x="12" y="38"/>
                      <a:pt x="12" y="38"/>
                      <a:pt x="12" y="38"/>
                    </a:cubicBezTo>
                    <a:cubicBezTo>
                      <a:pt x="13" y="37"/>
                      <a:pt x="13" y="37"/>
                      <a:pt x="13" y="37"/>
                    </a:cubicBezTo>
                    <a:cubicBezTo>
                      <a:pt x="13" y="37"/>
                      <a:pt x="13" y="37"/>
                      <a:pt x="13" y="37"/>
                    </a:cubicBezTo>
                    <a:cubicBezTo>
                      <a:pt x="13" y="37"/>
                      <a:pt x="14" y="37"/>
                      <a:pt x="14" y="37"/>
                    </a:cubicBezTo>
                    <a:cubicBezTo>
                      <a:pt x="22" y="44"/>
                      <a:pt x="22" y="44"/>
                      <a:pt x="22" y="44"/>
                    </a:cubicBezTo>
                    <a:cubicBezTo>
                      <a:pt x="23" y="44"/>
                      <a:pt x="23" y="45"/>
                      <a:pt x="23" y="46"/>
                    </a:cubicBezTo>
                    <a:cubicBezTo>
                      <a:pt x="23" y="47"/>
                      <a:pt x="23" y="47"/>
                      <a:pt x="22" y="48"/>
                    </a:cubicBezTo>
                    <a:close/>
                    <a:moveTo>
                      <a:pt x="33" y="36"/>
                    </a:moveTo>
                    <a:cubicBezTo>
                      <a:pt x="33" y="36"/>
                      <a:pt x="33" y="36"/>
                      <a:pt x="33" y="36"/>
                    </a:cubicBezTo>
                    <a:cubicBezTo>
                      <a:pt x="33" y="36"/>
                      <a:pt x="34" y="36"/>
                      <a:pt x="34" y="36"/>
                    </a:cubicBezTo>
                    <a:cubicBezTo>
                      <a:pt x="34" y="35"/>
                      <a:pt x="34" y="35"/>
                      <a:pt x="34" y="35"/>
                    </a:cubicBezTo>
                    <a:cubicBezTo>
                      <a:pt x="35" y="36"/>
                      <a:pt x="35" y="36"/>
                      <a:pt x="35" y="36"/>
                    </a:cubicBezTo>
                    <a:cubicBezTo>
                      <a:pt x="32" y="39"/>
                      <a:pt x="32" y="39"/>
                      <a:pt x="32" y="39"/>
                    </a:cubicBezTo>
                    <a:cubicBezTo>
                      <a:pt x="31" y="38"/>
                      <a:pt x="31" y="38"/>
                      <a:pt x="31" y="38"/>
                    </a:cubicBezTo>
                    <a:cubicBezTo>
                      <a:pt x="32" y="38"/>
                      <a:pt x="32" y="38"/>
                      <a:pt x="32" y="38"/>
                    </a:cubicBezTo>
                    <a:cubicBezTo>
                      <a:pt x="32" y="38"/>
                      <a:pt x="32" y="37"/>
                      <a:pt x="32" y="37"/>
                    </a:cubicBezTo>
                    <a:cubicBezTo>
                      <a:pt x="32" y="37"/>
                      <a:pt x="32" y="37"/>
                      <a:pt x="32" y="37"/>
                    </a:cubicBezTo>
                    <a:cubicBezTo>
                      <a:pt x="27" y="32"/>
                      <a:pt x="27" y="32"/>
                      <a:pt x="27" y="32"/>
                    </a:cubicBezTo>
                    <a:cubicBezTo>
                      <a:pt x="23" y="36"/>
                      <a:pt x="23" y="36"/>
                      <a:pt x="23" y="36"/>
                    </a:cubicBezTo>
                    <a:cubicBezTo>
                      <a:pt x="28" y="40"/>
                      <a:pt x="28" y="40"/>
                      <a:pt x="28" y="40"/>
                    </a:cubicBezTo>
                    <a:cubicBezTo>
                      <a:pt x="28" y="41"/>
                      <a:pt x="28" y="41"/>
                      <a:pt x="28" y="41"/>
                    </a:cubicBezTo>
                    <a:cubicBezTo>
                      <a:pt x="28" y="41"/>
                      <a:pt x="29" y="41"/>
                      <a:pt x="29" y="40"/>
                    </a:cubicBezTo>
                    <a:cubicBezTo>
                      <a:pt x="29" y="40"/>
                      <a:pt x="29" y="40"/>
                      <a:pt x="29" y="40"/>
                    </a:cubicBezTo>
                    <a:cubicBezTo>
                      <a:pt x="30" y="41"/>
                      <a:pt x="30" y="41"/>
                      <a:pt x="30" y="41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6" y="43"/>
                      <a:pt x="26" y="43"/>
                      <a:pt x="26" y="43"/>
                    </a:cubicBezTo>
                    <a:cubicBezTo>
                      <a:pt x="27" y="43"/>
                      <a:pt x="27" y="43"/>
                      <a:pt x="27" y="43"/>
                    </a:cubicBezTo>
                    <a:cubicBezTo>
                      <a:pt x="27" y="42"/>
                      <a:pt x="27" y="42"/>
                      <a:pt x="27" y="42"/>
                    </a:cubicBezTo>
                    <a:cubicBezTo>
                      <a:pt x="27" y="42"/>
                      <a:pt x="27" y="42"/>
                      <a:pt x="27" y="41"/>
                    </a:cubicBezTo>
                    <a:cubicBezTo>
                      <a:pt x="18" y="32"/>
                      <a:pt x="18" y="32"/>
                      <a:pt x="18" y="32"/>
                    </a:cubicBezTo>
                    <a:cubicBezTo>
                      <a:pt x="18" y="32"/>
                      <a:pt x="17" y="32"/>
                      <a:pt x="17" y="32"/>
                    </a:cubicBezTo>
                    <a:cubicBezTo>
                      <a:pt x="17" y="32"/>
                      <a:pt x="17" y="32"/>
                      <a:pt x="17" y="32"/>
                    </a:cubicBezTo>
                    <a:cubicBezTo>
                      <a:pt x="16" y="32"/>
                      <a:pt x="16" y="32"/>
                      <a:pt x="16" y="32"/>
                    </a:cubicBezTo>
                    <a:cubicBezTo>
                      <a:pt x="16" y="32"/>
                      <a:pt x="16" y="32"/>
                      <a:pt x="16" y="32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19" y="29"/>
                      <a:pt x="19" y="29"/>
                      <a:pt x="19" y="29"/>
                    </a:cubicBezTo>
                    <a:cubicBezTo>
                      <a:pt x="19" y="30"/>
                      <a:pt x="19" y="30"/>
                      <a:pt x="19" y="30"/>
                    </a:cubicBezTo>
                    <a:cubicBezTo>
                      <a:pt x="19" y="30"/>
                      <a:pt x="19" y="30"/>
                      <a:pt x="19" y="30"/>
                    </a:cubicBezTo>
                    <a:cubicBezTo>
                      <a:pt x="19" y="30"/>
                      <a:pt x="19" y="31"/>
                      <a:pt x="19" y="31"/>
                    </a:cubicBezTo>
                    <a:cubicBezTo>
                      <a:pt x="23" y="35"/>
                      <a:pt x="23" y="35"/>
                      <a:pt x="23" y="35"/>
                    </a:cubicBezTo>
                    <a:cubicBezTo>
                      <a:pt x="27" y="31"/>
                      <a:pt x="27" y="31"/>
                      <a:pt x="27" y="31"/>
                    </a:cubicBezTo>
                    <a:cubicBezTo>
                      <a:pt x="23" y="27"/>
                      <a:pt x="23" y="27"/>
                      <a:pt x="23" y="27"/>
                    </a:cubicBezTo>
                    <a:cubicBezTo>
                      <a:pt x="23" y="27"/>
                      <a:pt x="22" y="27"/>
                      <a:pt x="22" y="27"/>
                    </a:cubicBezTo>
                    <a:cubicBezTo>
                      <a:pt x="22" y="27"/>
                      <a:pt x="22" y="27"/>
                      <a:pt x="22" y="27"/>
                    </a:cubicBezTo>
                    <a:cubicBezTo>
                      <a:pt x="21" y="27"/>
                      <a:pt x="21" y="27"/>
                      <a:pt x="21" y="27"/>
                    </a:cubicBezTo>
                    <a:cubicBezTo>
                      <a:pt x="21" y="27"/>
                      <a:pt x="21" y="27"/>
                      <a:pt x="21" y="27"/>
                    </a:cubicBezTo>
                    <a:cubicBezTo>
                      <a:pt x="24" y="24"/>
                      <a:pt x="24" y="24"/>
                      <a:pt x="24" y="24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4" y="25"/>
                      <a:pt x="24" y="25"/>
                      <a:pt x="24" y="25"/>
                    </a:cubicBezTo>
                    <a:cubicBezTo>
                      <a:pt x="24" y="25"/>
                      <a:pt x="24" y="25"/>
                      <a:pt x="24" y="26"/>
                    </a:cubicBezTo>
                    <a:cubicBezTo>
                      <a:pt x="24" y="26"/>
                      <a:pt x="24" y="26"/>
                      <a:pt x="24" y="26"/>
                    </a:cubicBezTo>
                    <a:cubicBezTo>
                      <a:pt x="33" y="36"/>
                      <a:pt x="33" y="36"/>
                      <a:pt x="33" y="36"/>
                    </a:cubicBezTo>
                    <a:close/>
                    <a:moveTo>
                      <a:pt x="38" y="26"/>
                    </a:moveTo>
                    <a:cubicBezTo>
                      <a:pt x="41" y="29"/>
                      <a:pt x="41" y="29"/>
                      <a:pt x="41" y="29"/>
                    </a:cubicBezTo>
                    <a:cubicBezTo>
                      <a:pt x="41" y="29"/>
                      <a:pt x="41" y="30"/>
                      <a:pt x="41" y="30"/>
                    </a:cubicBezTo>
                    <a:cubicBezTo>
                      <a:pt x="41" y="30"/>
                      <a:pt x="41" y="30"/>
                      <a:pt x="41" y="30"/>
                    </a:cubicBezTo>
                    <a:cubicBezTo>
                      <a:pt x="41" y="31"/>
                      <a:pt x="41" y="31"/>
                      <a:pt x="41" y="31"/>
                    </a:cubicBezTo>
                    <a:cubicBezTo>
                      <a:pt x="41" y="31"/>
                      <a:pt x="41" y="31"/>
                      <a:pt x="41" y="31"/>
                    </a:cubicBezTo>
                    <a:cubicBezTo>
                      <a:pt x="44" y="29"/>
                      <a:pt x="44" y="29"/>
                      <a:pt x="44" y="29"/>
                    </a:cubicBezTo>
                    <a:cubicBezTo>
                      <a:pt x="44" y="28"/>
                      <a:pt x="44" y="28"/>
                      <a:pt x="44" y="28"/>
                    </a:cubicBezTo>
                    <a:cubicBezTo>
                      <a:pt x="44" y="29"/>
                      <a:pt x="44" y="29"/>
                      <a:pt x="44" y="29"/>
                    </a:cubicBezTo>
                    <a:cubicBezTo>
                      <a:pt x="43" y="29"/>
                      <a:pt x="43" y="29"/>
                      <a:pt x="43" y="29"/>
                    </a:cubicBezTo>
                    <a:cubicBezTo>
                      <a:pt x="43" y="29"/>
                      <a:pt x="42" y="29"/>
                      <a:pt x="42" y="28"/>
                    </a:cubicBezTo>
                    <a:cubicBezTo>
                      <a:pt x="31" y="18"/>
                      <a:pt x="31" y="18"/>
                      <a:pt x="31" y="18"/>
                    </a:cubicBezTo>
                    <a:cubicBezTo>
                      <a:pt x="30" y="20"/>
                      <a:pt x="30" y="20"/>
                      <a:pt x="30" y="20"/>
                    </a:cubicBezTo>
                    <a:cubicBezTo>
                      <a:pt x="35" y="33"/>
                      <a:pt x="35" y="33"/>
                      <a:pt x="35" y="33"/>
                    </a:cubicBezTo>
                    <a:cubicBezTo>
                      <a:pt x="35" y="33"/>
                      <a:pt x="35" y="34"/>
                      <a:pt x="35" y="34"/>
                    </a:cubicBezTo>
                    <a:cubicBezTo>
                      <a:pt x="35" y="34"/>
                      <a:pt x="35" y="34"/>
                      <a:pt x="35" y="35"/>
                    </a:cubicBezTo>
                    <a:cubicBezTo>
                      <a:pt x="35" y="35"/>
                      <a:pt x="35" y="35"/>
                      <a:pt x="35" y="35"/>
                    </a:cubicBezTo>
                    <a:cubicBezTo>
                      <a:pt x="35" y="35"/>
                      <a:pt x="35" y="35"/>
                      <a:pt x="35" y="35"/>
                    </a:cubicBezTo>
                    <a:cubicBezTo>
                      <a:pt x="38" y="33"/>
                      <a:pt x="38" y="33"/>
                      <a:pt x="38" y="33"/>
                    </a:cubicBezTo>
                    <a:cubicBezTo>
                      <a:pt x="38" y="33"/>
                      <a:pt x="38" y="33"/>
                      <a:pt x="38" y="33"/>
                    </a:cubicBezTo>
                    <a:cubicBezTo>
                      <a:pt x="37" y="33"/>
                      <a:pt x="37" y="33"/>
                      <a:pt x="37" y="33"/>
                    </a:cubicBezTo>
                    <a:cubicBezTo>
                      <a:pt x="37" y="33"/>
                      <a:pt x="37" y="33"/>
                      <a:pt x="36" y="33"/>
                    </a:cubicBezTo>
                    <a:cubicBezTo>
                      <a:pt x="36" y="33"/>
                      <a:pt x="36" y="32"/>
                      <a:pt x="36" y="32"/>
                    </a:cubicBezTo>
                    <a:cubicBezTo>
                      <a:pt x="34" y="29"/>
                      <a:pt x="34" y="29"/>
                      <a:pt x="34" y="29"/>
                    </a:cubicBezTo>
                    <a:cubicBezTo>
                      <a:pt x="38" y="26"/>
                      <a:pt x="38" y="26"/>
                      <a:pt x="38" y="26"/>
                    </a:cubicBezTo>
                    <a:close/>
                    <a:moveTo>
                      <a:pt x="31" y="21"/>
                    </a:moveTo>
                    <a:cubicBezTo>
                      <a:pt x="31" y="21"/>
                      <a:pt x="31" y="21"/>
                      <a:pt x="31" y="21"/>
                    </a:cubicBezTo>
                    <a:cubicBezTo>
                      <a:pt x="34" y="28"/>
                      <a:pt x="34" y="28"/>
                      <a:pt x="34" y="28"/>
                    </a:cubicBezTo>
                    <a:cubicBezTo>
                      <a:pt x="37" y="26"/>
                      <a:pt x="37" y="26"/>
                      <a:pt x="37" y="26"/>
                    </a:cubicBezTo>
                    <a:cubicBezTo>
                      <a:pt x="31" y="21"/>
                      <a:pt x="31" y="21"/>
                      <a:pt x="31" y="21"/>
                    </a:cubicBezTo>
                    <a:close/>
                    <a:moveTo>
                      <a:pt x="51" y="21"/>
                    </a:moveTo>
                    <a:cubicBezTo>
                      <a:pt x="51" y="21"/>
                      <a:pt x="51" y="21"/>
                      <a:pt x="51" y="21"/>
                    </a:cubicBezTo>
                    <a:cubicBezTo>
                      <a:pt x="46" y="11"/>
                      <a:pt x="46" y="11"/>
                      <a:pt x="46" y="11"/>
                    </a:cubicBezTo>
                    <a:cubicBezTo>
                      <a:pt x="46" y="11"/>
                      <a:pt x="46" y="11"/>
                      <a:pt x="46" y="11"/>
                    </a:cubicBezTo>
                    <a:cubicBezTo>
                      <a:pt x="46" y="11"/>
                      <a:pt x="46" y="11"/>
                      <a:pt x="45" y="11"/>
                    </a:cubicBezTo>
                    <a:cubicBezTo>
                      <a:pt x="45" y="11"/>
                      <a:pt x="45" y="11"/>
                      <a:pt x="45" y="11"/>
                    </a:cubicBezTo>
                    <a:cubicBezTo>
                      <a:pt x="44" y="11"/>
                      <a:pt x="44" y="11"/>
                      <a:pt x="44" y="11"/>
                    </a:cubicBezTo>
                    <a:cubicBezTo>
                      <a:pt x="48" y="9"/>
                      <a:pt x="48" y="9"/>
                      <a:pt x="48" y="9"/>
                    </a:cubicBezTo>
                    <a:cubicBezTo>
                      <a:pt x="48" y="10"/>
                      <a:pt x="48" y="10"/>
                      <a:pt x="48" y="10"/>
                    </a:cubicBezTo>
                    <a:cubicBezTo>
                      <a:pt x="47" y="10"/>
                      <a:pt x="47" y="10"/>
                      <a:pt x="47" y="10"/>
                    </a:cubicBezTo>
                    <a:cubicBezTo>
                      <a:pt x="47" y="10"/>
                      <a:pt x="47" y="10"/>
                      <a:pt x="47" y="10"/>
                    </a:cubicBezTo>
                    <a:cubicBezTo>
                      <a:pt x="47" y="10"/>
                      <a:pt x="47" y="11"/>
                      <a:pt x="47" y="11"/>
                    </a:cubicBezTo>
                    <a:cubicBezTo>
                      <a:pt x="53" y="24"/>
                      <a:pt x="53" y="24"/>
                      <a:pt x="53" y="24"/>
                    </a:cubicBezTo>
                    <a:cubicBezTo>
                      <a:pt x="53" y="24"/>
                      <a:pt x="53" y="24"/>
                      <a:pt x="53" y="24"/>
                    </a:cubicBezTo>
                    <a:cubicBezTo>
                      <a:pt x="53" y="24"/>
                      <a:pt x="53" y="24"/>
                      <a:pt x="53" y="24"/>
                    </a:cubicBezTo>
                    <a:cubicBezTo>
                      <a:pt x="40" y="15"/>
                      <a:pt x="40" y="15"/>
                      <a:pt x="40" y="15"/>
                    </a:cubicBezTo>
                    <a:cubicBezTo>
                      <a:pt x="40" y="15"/>
                      <a:pt x="40" y="15"/>
                      <a:pt x="40" y="15"/>
                    </a:cubicBezTo>
                    <a:cubicBezTo>
                      <a:pt x="46" y="26"/>
                      <a:pt x="46" y="26"/>
                      <a:pt x="46" y="26"/>
                    </a:cubicBezTo>
                    <a:cubicBezTo>
                      <a:pt x="46" y="26"/>
                      <a:pt x="46" y="26"/>
                      <a:pt x="46" y="26"/>
                    </a:cubicBezTo>
                    <a:cubicBezTo>
                      <a:pt x="47" y="26"/>
                      <a:pt x="47" y="26"/>
                      <a:pt x="47" y="26"/>
                    </a:cubicBezTo>
                    <a:cubicBezTo>
                      <a:pt x="48" y="26"/>
                      <a:pt x="48" y="26"/>
                      <a:pt x="48" y="26"/>
                    </a:cubicBezTo>
                    <a:cubicBezTo>
                      <a:pt x="48" y="26"/>
                      <a:pt x="48" y="26"/>
                      <a:pt x="48" y="26"/>
                    </a:cubicBezTo>
                    <a:cubicBezTo>
                      <a:pt x="45" y="28"/>
                      <a:pt x="45" y="28"/>
                      <a:pt x="45" y="28"/>
                    </a:cubicBezTo>
                    <a:cubicBezTo>
                      <a:pt x="44" y="28"/>
                      <a:pt x="44" y="28"/>
                      <a:pt x="44" y="28"/>
                    </a:cubicBezTo>
                    <a:cubicBezTo>
                      <a:pt x="45" y="27"/>
                      <a:pt x="45" y="27"/>
                      <a:pt x="45" y="27"/>
                    </a:cubicBezTo>
                    <a:cubicBezTo>
                      <a:pt x="45" y="27"/>
                      <a:pt x="45" y="27"/>
                      <a:pt x="45" y="27"/>
                    </a:cubicBezTo>
                    <a:cubicBezTo>
                      <a:pt x="46" y="27"/>
                      <a:pt x="46" y="26"/>
                      <a:pt x="45" y="26"/>
                    </a:cubicBezTo>
                    <a:cubicBezTo>
                      <a:pt x="39" y="15"/>
                      <a:pt x="39" y="15"/>
                      <a:pt x="39" y="15"/>
                    </a:cubicBezTo>
                    <a:cubicBezTo>
                      <a:pt x="39" y="14"/>
                      <a:pt x="39" y="14"/>
                      <a:pt x="39" y="14"/>
                    </a:cubicBezTo>
                    <a:cubicBezTo>
                      <a:pt x="39" y="14"/>
                      <a:pt x="39" y="14"/>
                      <a:pt x="38" y="14"/>
                    </a:cubicBezTo>
                    <a:cubicBezTo>
                      <a:pt x="38" y="15"/>
                      <a:pt x="38" y="15"/>
                      <a:pt x="38" y="15"/>
                    </a:cubicBezTo>
                    <a:cubicBezTo>
                      <a:pt x="37" y="14"/>
                      <a:pt x="37" y="14"/>
                      <a:pt x="37" y="14"/>
                    </a:cubicBezTo>
                    <a:cubicBezTo>
                      <a:pt x="40" y="13"/>
                      <a:pt x="40" y="13"/>
                      <a:pt x="40" y="13"/>
                    </a:cubicBezTo>
                    <a:cubicBezTo>
                      <a:pt x="51" y="21"/>
                      <a:pt x="51" y="21"/>
                      <a:pt x="51" y="21"/>
                    </a:cubicBezTo>
                    <a:close/>
                    <a:moveTo>
                      <a:pt x="70" y="17"/>
                    </a:moveTo>
                    <a:cubicBezTo>
                      <a:pt x="70" y="17"/>
                      <a:pt x="71" y="17"/>
                      <a:pt x="72" y="16"/>
                    </a:cubicBezTo>
                    <a:cubicBezTo>
                      <a:pt x="72" y="15"/>
                      <a:pt x="72" y="14"/>
                      <a:pt x="72" y="14"/>
                    </a:cubicBezTo>
                    <a:cubicBezTo>
                      <a:pt x="70" y="3"/>
                      <a:pt x="70" y="3"/>
                      <a:pt x="70" y="3"/>
                    </a:cubicBezTo>
                    <a:cubicBezTo>
                      <a:pt x="70" y="3"/>
                      <a:pt x="69" y="3"/>
                      <a:pt x="69" y="3"/>
                    </a:cubicBezTo>
                    <a:cubicBezTo>
                      <a:pt x="69" y="3"/>
                      <a:pt x="69" y="3"/>
                      <a:pt x="69" y="3"/>
                    </a:cubicBezTo>
                    <a:cubicBezTo>
                      <a:pt x="68" y="3"/>
                      <a:pt x="68" y="3"/>
                      <a:pt x="68" y="3"/>
                    </a:cubicBezTo>
                    <a:cubicBezTo>
                      <a:pt x="68" y="2"/>
                      <a:pt x="68" y="2"/>
                      <a:pt x="68" y="2"/>
                    </a:cubicBezTo>
                    <a:cubicBezTo>
                      <a:pt x="71" y="1"/>
                      <a:pt x="71" y="1"/>
                      <a:pt x="71" y="1"/>
                    </a:cubicBezTo>
                    <a:cubicBezTo>
                      <a:pt x="71" y="2"/>
                      <a:pt x="71" y="2"/>
                      <a:pt x="71" y="2"/>
                    </a:cubicBezTo>
                    <a:cubicBezTo>
                      <a:pt x="71" y="2"/>
                      <a:pt x="71" y="2"/>
                      <a:pt x="71" y="2"/>
                    </a:cubicBezTo>
                    <a:cubicBezTo>
                      <a:pt x="71" y="2"/>
                      <a:pt x="70" y="2"/>
                      <a:pt x="70" y="2"/>
                    </a:cubicBezTo>
                    <a:cubicBezTo>
                      <a:pt x="70" y="3"/>
                      <a:pt x="70" y="3"/>
                      <a:pt x="70" y="3"/>
                    </a:cubicBezTo>
                    <a:cubicBezTo>
                      <a:pt x="73" y="13"/>
                      <a:pt x="73" y="13"/>
                      <a:pt x="73" y="13"/>
                    </a:cubicBezTo>
                    <a:cubicBezTo>
                      <a:pt x="73" y="15"/>
                      <a:pt x="73" y="16"/>
                      <a:pt x="72" y="16"/>
                    </a:cubicBezTo>
                    <a:cubicBezTo>
                      <a:pt x="71" y="17"/>
                      <a:pt x="71" y="18"/>
                      <a:pt x="70" y="18"/>
                    </a:cubicBezTo>
                    <a:cubicBezTo>
                      <a:pt x="68" y="18"/>
                      <a:pt x="67" y="18"/>
                      <a:pt x="66" y="18"/>
                    </a:cubicBezTo>
                    <a:cubicBezTo>
                      <a:pt x="66" y="17"/>
                      <a:pt x="65" y="17"/>
                      <a:pt x="65" y="15"/>
                    </a:cubicBezTo>
                    <a:cubicBezTo>
                      <a:pt x="62" y="5"/>
                      <a:pt x="62" y="5"/>
                      <a:pt x="62" y="5"/>
                    </a:cubicBezTo>
                    <a:cubicBezTo>
                      <a:pt x="62" y="5"/>
                      <a:pt x="62" y="4"/>
                      <a:pt x="62" y="4"/>
                    </a:cubicBezTo>
                    <a:cubicBezTo>
                      <a:pt x="62" y="4"/>
                      <a:pt x="62" y="4"/>
                      <a:pt x="61" y="4"/>
                    </a:cubicBezTo>
                    <a:cubicBezTo>
                      <a:pt x="61" y="4"/>
                      <a:pt x="61" y="4"/>
                      <a:pt x="61" y="4"/>
                    </a:cubicBezTo>
                    <a:cubicBezTo>
                      <a:pt x="61" y="4"/>
                      <a:pt x="61" y="4"/>
                      <a:pt x="61" y="4"/>
                    </a:cubicBezTo>
                    <a:cubicBezTo>
                      <a:pt x="65" y="3"/>
                      <a:pt x="65" y="3"/>
                      <a:pt x="65" y="3"/>
                    </a:cubicBezTo>
                    <a:cubicBezTo>
                      <a:pt x="65" y="4"/>
                      <a:pt x="65" y="4"/>
                      <a:pt x="65" y="4"/>
                    </a:cubicBezTo>
                    <a:cubicBezTo>
                      <a:pt x="64" y="4"/>
                      <a:pt x="64" y="4"/>
                      <a:pt x="64" y="4"/>
                    </a:cubicBezTo>
                    <a:cubicBezTo>
                      <a:pt x="64" y="4"/>
                      <a:pt x="64" y="4"/>
                      <a:pt x="64" y="4"/>
                    </a:cubicBezTo>
                    <a:cubicBezTo>
                      <a:pt x="64" y="4"/>
                      <a:pt x="64" y="4"/>
                      <a:pt x="64" y="5"/>
                    </a:cubicBezTo>
                    <a:cubicBezTo>
                      <a:pt x="66" y="15"/>
                      <a:pt x="66" y="15"/>
                      <a:pt x="66" y="15"/>
                    </a:cubicBezTo>
                    <a:cubicBezTo>
                      <a:pt x="66" y="16"/>
                      <a:pt x="67" y="17"/>
                      <a:pt x="67" y="17"/>
                    </a:cubicBezTo>
                    <a:cubicBezTo>
                      <a:pt x="68" y="18"/>
                      <a:pt x="69" y="18"/>
                      <a:pt x="70" y="17"/>
                    </a:cubicBezTo>
                    <a:close/>
                    <a:moveTo>
                      <a:pt x="84" y="12"/>
                    </a:moveTo>
                    <a:cubicBezTo>
                      <a:pt x="84" y="12"/>
                      <a:pt x="84" y="12"/>
                      <a:pt x="84" y="12"/>
                    </a:cubicBezTo>
                    <a:cubicBezTo>
                      <a:pt x="84" y="1"/>
                      <a:pt x="84" y="1"/>
                      <a:pt x="84" y="1"/>
                    </a:cubicBezTo>
                    <a:cubicBezTo>
                      <a:pt x="84" y="1"/>
                      <a:pt x="84" y="1"/>
                      <a:pt x="83" y="1"/>
                    </a:cubicBezTo>
                    <a:cubicBezTo>
                      <a:pt x="83" y="1"/>
                      <a:pt x="83" y="1"/>
                      <a:pt x="83" y="1"/>
                    </a:cubicBezTo>
                    <a:cubicBezTo>
                      <a:pt x="82" y="1"/>
                      <a:pt x="82" y="1"/>
                      <a:pt x="82" y="1"/>
                    </a:cubicBezTo>
                    <a:cubicBezTo>
                      <a:pt x="82" y="0"/>
                      <a:pt x="82" y="0"/>
                      <a:pt x="82" y="0"/>
                    </a:cubicBezTo>
                    <a:cubicBezTo>
                      <a:pt x="86" y="0"/>
                      <a:pt x="86" y="0"/>
                      <a:pt x="86" y="0"/>
                    </a:cubicBezTo>
                    <a:cubicBezTo>
                      <a:pt x="86" y="1"/>
                      <a:pt x="86" y="1"/>
                      <a:pt x="86" y="1"/>
                    </a:cubicBezTo>
                    <a:cubicBezTo>
                      <a:pt x="85" y="1"/>
                      <a:pt x="85" y="1"/>
                      <a:pt x="85" y="1"/>
                    </a:cubicBezTo>
                    <a:cubicBezTo>
                      <a:pt x="85" y="1"/>
                      <a:pt x="85" y="1"/>
                      <a:pt x="84" y="1"/>
                    </a:cubicBezTo>
                    <a:cubicBezTo>
                      <a:pt x="84" y="1"/>
                      <a:pt x="84" y="1"/>
                      <a:pt x="84" y="1"/>
                    </a:cubicBezTo>
                    <a:cubicBezTo>
                      <a:pt x="85" y="16"/>
                      <a:pt x="85" y="16"/>
                      <a:pt x="85" y="16"/>
                    </a:cubicBezTo>
                    <a:cubicBezTo>
                      <a:pt x="85" y="16"/>
                      <a:pt x="85" y="16"/>
                      <a:pt x="85" y="16"/>
                    </a:cubicBezTo>
                    <a:cubicBezTo>
                      <a:pt x="85" y="16"/>
                      <a:pt x="85" y="16"/>
                      <a:pt x="85" y="16"/>
                    </a:cubicBezTo>
                    <a:cubicBezTo>
                      <a:pt x="77" y="3"/>
                      <a:pt x="77" y="3"/>
                      <a:pt x="77" y="3"/>
                    </a:cubicBezTo>
                    <a:cubicBezTo>
                      <a:pt x="77" y="3"/>
                      <a:pt x="77" y="3"/>
                      <a:pt x="77" y="3"/>
                    </a:cubicBezTo>
                    <a:cubicBezTo>
                      <a:pt x="77" y="15"/>
                      <a:pt x="77" y="15"/>
                      <a:pt x="77" y="15"/>
                    </a:cubicBezTo>
                    <a:cubicBezTo>
                      <a:pt x="77" y="15"/>
                      <a:pt x="78" y="15"/>
                      <a:pt x="78" y="16"/>
                    </a:cubicBezTo>
                    <a:cubicBezTo>
                      <a:pt x="78" y="16"/>
                      <a:pt x="78" y="16"/>
                      <a:pt x="78" y="16"/>
                    </a:cubicBezTo>
                    <a:cubicBezTo>
                      <a:pt x="79" y="16"/>
                      <a:pt x="79" y="16"/>
                      <a:pt x="79" y="16"/>
                    </a:cubicBezTo>
                    <a:cubicBezTo>
                      <a:pt x="79" y="16"/>
                      <a:pt x="79" y="16"/>
                      <a:pt x="79" y="16"/>
                    </a:cubicBezTo>
                    <a:cubicBezTo>
                      <a:pt x="75" y="16"/>
                      <a:pt x="75" y="16"/>
                      <a:pt x="75" y="16"/>
                    </a:cubicBezTo>
                    <a:cubicBezTo>
                      <a:pt x="75" y="16"/>
                      <a:pt x="75" y="16"/>
                      <a:pt x="75" y="16"/>
                    </a:cubicBezTo>
                    <a:cubicBezTo>
                      <a:pt x="76" y="16"/>
                      <a:pt x="76" y="16"/>
                      <a:pt x="76" y="16"/>
                    </a:cubicBezTo>
                    <a:cubicBezTo>
                      <a:pt x="76" y="16"/>
                      <a:pt x="77" y="16"/>
                      <a:pt x="77" y="16"/>
                    </a:cubicBezTo>
                    <a:cubicBezTo>
                      <a:pt x="77" y="15"/>
                      <a:pt x="77" y="15"/>
                      <a:pt x="77" y="15"/>
                    </a:cubicBezTo>
                    <a:cubicBezTo>
                      <a:pt x="76" y="2"/>
                      <a:pt x="76" y="2"/>
                      <a:pt x="76" y="2"/>
                    </a:cubicBezTo>
                    <a:cubicBezTo>
                      <a:pt x="76" y="2"/>
                      <a:pt x="76" y="2"/>
                      <a:pt x="76" y="1"/>
                    </a:cubicBezTo>
                    <a:cubicBezTo>
                      <a:pt x="76" y="1"/>
                      <a:pt x="75" y="1"/>
                      <a:pt x="75" y="1"/>
                    </a:cubicBezTo>
                    <a:cubicBezTo>
                      <a:pt x="74" y="1"/>
                      <a:pt x="74" y="1"/>
                      <a:pt x="74" y="1"/>
                    </a:cubicBezTo>
                    <a:cubicBezTo>
                      <a:pt x="74" y="1"/>
                      <a:pt x="74" y="1"/>
                      <a:pt x="74" y="1"/>
                    </a:cubicBezTo>
                    <a:cubicBezTo>
                      <a:pt x="77" y="1"/>
                      <a:pt x="77" y="1"/>
                      <a:pt x="77" y="1"/>
                    </a:cubicBezTo>
                    <a:cubicBezTo>
                      <a:pt x="84" y="12"/>
                      <a:pt x="84" y="12"/>
                      <a:pt x="84" y="12"/>
                    </a:cubicBezTo>
                    <a:close/>
                    <a:moveTo>
                      <a:pt x="90" y="1"/>
                    </a:moveTo>
                    <a:cubicBezTo>
                      <a:pt x="90" y="0"/>
                      <a:pt x="90" y="0"/>
                      <a:pt x="90" y="0"/>
                    </a:cubicBezTo>
                    <a:cubicBezTo>
                      <a:pt x="98" y="1"/>
                      <a:pt x="98" y="1"/>
                      <a:pt x="98" y="1"/>
                    </a:cubicBezTo>
                    <a:cubicBezTo>
                      <a:pt x="98" y="1"/>
                      <a:pt x="98" y="1"/>
                      <a:pt x="98" y="1"/>
                    </a:cubicBezTo>
                    <a:cubicBezTo>
                      <a:pt x="96" y="1"/>
                      <a:pt x="96" y="1"/>
                      <a:pt x="96" y="1"/>
                    </a:cubicBezTo>
                    <a:cubicBezTo>
                      <a:pt x="95" y="1"/>
                      <a:pt x="95" y="1"/>
                      <a:pt x="95" y="1"/>
                    </a:cubicBezTo>
                    <a:cubicBezTo>
                      <a:pt x="95" y="1"/>
                      <a:pt x="95" y="1"/>
                      <a:pt x="95" y="2"/>
                    </a:cubicBezTo>
                    <a:cubicBezTo>
                      <a:pt x="94" y="15"/>
                      <a:pt x="94" y="15"/>
                      <a:pt x="94" y="15"/>
                    </a:cubicBezTo>
                    <a:cubicBezTo>
                      <a:pt x="94" y="15"/>
                      <a:pt x="94" y="15"/>
                      <a:pt x="94" y="15"/>
                    </a:cubicBezTo>
                    <a:cubicBezTo>
                      <a:pt x="94" y="15"/>
                      <a:pt x="94" y="15"/>
                      <a:pt x="95" y="15"/>
                    </a:cubicBezTo>
                    <a:cubicBezTo>
                      <a:pt x="97" y="16"/>
                      <a:pt x="97" y="16"/>
                      <a:pt x="97" y="16"/>
                    </a:cubicBezTo>
                    <a:cubicBezTo>
                      <a:pt x="97" y="16"/>
                      <a:pt x="97" y="16"/>
                      <a:pt x="97" y="16"/>
                    </a:cubicBezTo>
                    <a:cubicBezTo>
                      <a:pt x="89" y="16"/>
                      <a:pt x="89" y="16"/>
                      <a:pt x="89" y="16"/>
                    </a:cubicBezTo>
                    <a:cubicBezTo>
                      <a:pt x="89" y="15"/>
                      <a:pt x="89" y="15"/>
                      <a:pt x="89" y="15"/>
                    </a:cubicBezTo>
                    <a:cubicBezTo>
                      <a:pt x="91" y="15"/>
                      <a:pt x="91" y="15"/>
                      <a:pt x="91" y="15"/>
                    </a:cubicBezTo>
                    <a:cubicBezTo>
                      <a:pt x="92" y="15"/>
                      <a:pt x="92" y="15"/>
                      <a:pt x="92" y="15"/>
                    </a:cubicBezTo>
                    <a:cubicBezTo>
                      <a:pt x="92" y="15"/>
                      <a:pt x="92" y="15"/>
                      <a:pt x="92" y="15"/>
                    </a:cubicBezTo>
                    <a:cubicBezTo>
                      <a:pt x="93" y="2"/>
                      <a:pt x="93" y="2"/>
                      <a:pt x="93" y="2"/>
                    </a:cubicBezTo>
                    <a:cubicBezTo>
                      <a:pt x="93" y="1"/>
                      <a:pt x="93" y="1"/>
                      <a:pt x="93" y="1"/>
                    </a:cubicBezTo>
                    <a:cubicBezTo>
                      <a:pt x="93" y="1"/>
                      <a:pt x="93" y="1"/>
                      <a:pt x="92" y="1"/>
                    </a:cubicBezTo>
                    <a:cubicBezTo>
                      <a:pt x="90" y="1"/>
                      <a:pt x="90" y="1"/>
                      <a:pt x="90" y="1"/>
                    </a:cubicBezTo>
                    <a:close/>
                    <a:moveTo>
                      <a:pt x="109" y="3"/>
                    </a:moveTo>
                    <a:cubicBezTo>
                      <a:pt x="109" y="2"/>
                      <a:pt x="109" y="2"/>
                      <a:pt x="109" y="2"/>
                    </a:cubicBezTo>
                    <a:cubicBezTo>
                      <a:pt x="113" y="3"/>
                      <a:pt x="113" y="3"/>
                      <a:pt x="113" y="3"/>
                    </a:cubicBezTo>
                    <a:cubicBezTo>
                      <a:pt x="113" y="3"/>
                      <a:pt x="113" y="3"/>
                      <a:pt x="113" y="3"/>
                    </a:cubicBezTo>
                    <a:cubicBezTo>
                      <a:pt x="112" y="3"/>
                      <a:pt x="112" y="3"/>
                      <a:pt x="112" y="3"/>
                    </a:cubicBezTo>
                    <a:cubicBezTo>
                      <a:pt x="112" y="3"/>
                      <a:pt x="112" y="3"/>
                      <a:pt x="111" y="4"/>
                    </a:cubicBezTo>
                    <a:cubicBezTo>
                      <a:pt x="111" y="4"/>
                      <a:pt x="111" y="4"/>
                      <a:pt x="111" y="4"/>
                    </a:cubicBezTo>
                    <a:cubicBezTo>
                      <a:pt x="105" y="17"/>
                      <a:pt x="105" y="17"/>
                      <a:pt x="105" y="17"/>
                    </a:cubicBezTo>
                    <a:cubicBezTo>
                      <a:pt x="104" y="17"/>
                      <a:pt x="104" y="17"/>
                      <a:pt x="104" y="17"/>
                    </a:cubicBezTo>
                    <a:cubicBezTo>
                      <a:pt x="103" y="3"/>
                      <a:pt x="103" y="3"/>
                      <a:pt x="103" y="3"/>
                    </a:cubicBezTo>
                    <a:cubicBezTo>
                      <a:pt x="103" y="3"/>
                      <a:pt x="103" y="2"/>
                      <a:pt x="103" y="2"/>
                    </a:cubicBezTo>
                    <a:cubicBezTo>
                      <a:pt x="103" y="2"/>
                      <a:pt x="103" y="2"/>
                      <a:pt x="102" y="2"/>
                    </a:cubicBezTo>
                    <a:cubicBezTo>
                      <a:pt x="102" y="2"/>
                      <a:pt x="102" y="2"/>
                      <a:pt x="102" y="2"/>
                    </a:cubicBezTo>
                    <a:cubicBezTo>
                      <a:pt x="102" y="1"/>
                      <a:pt x="102" y="1"/>
                      <a:pt x="102" y="1"/>
                    </a:cubicBezTo>
                    <a:cubicBezTo>
                      <a:pt x="106" y="2"/>
                      <a:pt x="106" y="2"/>
                      <a:pt x="106" y="2"/>
                    </a:cubicBezTo>
                    <a:cubicBezTo>
                      <a:pt x="106" y="2"/>
                      <a:pt x="106" y="2"/>
                      <a:pt x="106" y="2"/>
                    </a:cubicBezTo>
                    <a:cubicBezTo>
                      <a:pt x="105" y="2"/>
                      <a:pt x="105" y="2"/>
                      <a:pt x="105" y="2"/>
                    </a:cubicBezTo>
                    <a:cubicBezTo>
                      <a:pt x="105" y="2"/>
                      <a:pt x="105" y="2"/>
                      <a:pt x="105" y="2"/>
                    </a:cubicBezTo>
                    <a:cubicBezTo>
                      <a:pt x="105" y="3"/>
                      <a:pt x="105" y="3"/>
                      <a:pt x="105" y="3"/>
                    </a:cubicBezTo>
                    <a:cubicBezTo>
                      <a:pt x="105" y="14"/>
                      <a:pt x="105" y="14"/>
                      <a:pt x="105" y="14"/>
                    </a:cubicBezTo>
                    <a:cubicBezTo>
                      <a:pt x="106" y="14"/>
                      <a:pt x="106" y="14"/>
                      <a:pt x="106" y="14"/>
                    </a:cubicBezTo>
                    <a:cubicBezTo>
                      <a:pt x="110" y="4"/>
                      <a:pt x="110" y="4"/>
                      <a:pt x="110" y="4"/>
                    </a:cubicBezTo>
                    <a:cubicBezTo>
                      <a:pt x="110" y="4"/>
                      <a:pt x="110" y="4"/>
                      <a:pt x="110" y="3"/>
                    </a:cubicBezTo>
                    <a:cubicBezTo>
                      <a:pt x="110" y="3"/>
                      <a:pt x="110" y="3"/>
                      <a:pt x="110" y="3"/>
                    </a:cubicBezTo>
                    <a:cubicBezTo>
                      <a:pt x="109" y="3"/>
                      <a:pt x="109" y="3"/>
                      <a:pt x="109" y="3"/>
                    </a:cubicBezTo>
                    <a:close/>
                    <a:moveTo>
                      <a:pt x="116" y="5"/>
                    </a:moveTo>
                    <a:cubicBezTo>
                      <a:pt x="116" y="5"/>
                      <a:pt x="116" y="5"/>
                      <a:pt x="116" y="5"/>
                    </a:cubicBezTo>
                    <a:cubicBezTo>
                      <a:pt x="117" y="5"/>
                      <a:pt x="117" y="5"/>
                      <a:pt x="117" y="5"/>
                    </a:cubicBezTo>
                    <a:cubicBezTo>
                      <a:pt x="117" y="5"/>
                      <a:pt x="117" y="6"/>
                      <a:pt x="117" y="6"/>
                    </a:cubicBezTo>
                    <a:cubicBezTo>
                      <a:pt x="113" y="18"/>
                      <a:pt x="113" y="18"/>
                      <a:pt x="113" y="18"/>
                    </a:cubicBezTo>
                    <a:cubicBezTo>
                      <a:pt x="113" y="18"/>
                      <a:pt x="113" y="19"/>
                      <a:pt x="113" y="19"/>
                    </a:cubicBezTo>
                    <a:cubicBezTo>
                      <a:pt x="112" y="19"/>
                      <a:pt x="112" y="19"/>
                      <a:pt x="112" y="19"/>
                    </a:cubicBezTo>
                    <a:cubicBezTo>
                      <a:pt x="111" y="18"/>
                      <a:pt x="111" y="18"/>
                      <a:pt x="111" y="18"/>
                    </a:cubicBezTo>
                    <a:cubicBezTo>
                      <a:pt x="111" y="19"/>
                      <a:pt x="111" y="19"/>
                      <a:pt x="111" y="19"/>
                    </a:cubicBezTo>
                    <a:cubicBezTo>
                      <a:pt x="120" y="22"/>
                      <a:pt x="120" y="22"/>
                      <a:pt x="120" y="22"/>
                    </a:cubicBezTo>
                    <a:cubicBezTo>
                      <a:pt x="122" y="19"/>
                      <a:pt x="122" y="19"/>
                      <a:pt x="122" y="19"/>
                    </a:cubicBezTo>
                    <a:cubicBezTo>
                      <a:pt x="122" y="18"/>
                      <a:pt x="122" y="18"/>
                      <a:pt x="122" y="18"/>
                    </a:cubicBezTo>
                    <a:cubicBezTo>
                      <a:pt x="121" y="19"/>
                      <a:pt x="120" y="20"/>
                      <a:pt x="120" y="20"/>
                    </a:cubicBezTo>
                    <a:cubicBezTo>
                      <a:pt x="119" y="21"/>
                      <a:pt x="118" y="21"/>
                      <a:pt x="117" y="20"/>
                    </a:cubicBezTo>
                    <a:cubicBezTo>
                      <a:pt x="115" y="20"/>
                      <a:pt x="115" y="20"/>
                      <a:pt x="115" y="20"/>
                    </a:cubicBezTo>
                    <a:cubicBezTo>
                      <a:pt x="115" y="20"/>
                      <a:pt x="114" y="19"/>
                      <a:pt x="114" y="19"/>
                    </a:cubicBezTo>
                    <a:cubicBezTo>
                      <a:pt x="114" y="19"/>
                      <a:pt x="114" y="19"/>
                      <a:pt x="114" y="19"/>
                    </a:cubicBezTo>
                    <a:cubicBezTo>
                      <a:pt x="116" y="12"/>
                      <a:pt x="116" y="12"/>
                      <a:pt x="116" y="12"/>
                    </a:cubicBezTo>
                    <a:cubicBezTo>
                      <a:pt x="119" y="13"/>
                      <a:pt x="119" y="13"/>
                      <a:pt x="119" y="13"/>
                    </a:cubicBezTo>
                    <a:cubicBezTo>
                      <a:pt x="120" y="13"/>
                      <a:pt x="120" y="13"/>
                      <a:pt x="120" y="14"/>
                    </a:cubicBezTo>
                    <a:cubicBezTo>
                      <a:pt x="120" y="14"/>
                      <a:pt x="120" y="15"/>
                      <a:pt x="120" y="15"/>
                    </a:cubicBezTo>
                    <a:cubicBezTo>
                      <a:pt x="120" y="16"/>
                      <a:pt x="120" y="16"/>
                      <a:pt x="120" y="16"/>
                    </a:cubicBezTo>
                    <a:cubicBezTo>
                      <a:pt x="120" y="16"/>
                      <a:pt x="120" y="16"/>
                      <a:pt x="120" y="16"/>
                    </a:cubicBezTo>
                    <a:cubicBezTo>
                      <a:pt x="122" y="11"/>
                      <a:pt x="122" y="11"/>
                      <a:pt x="122" y="11"/>
                    </a:cubicBezTo>
                    <a:cubicBezTo>
                      <a:pt x="122" y="11"/>
                      <a:pt x="122" y="11"/>
                      <a:pt x="122" y="11"/>
                    </a:cubicBezTo>
                    <a:cubicBezTo>
                      <a:pt x="121" y="11"/>
                      <a:pt x="121" y="11"/>
                      <a:pt x="121" y="11"/>
                    </a:cubicBezTo>
                    <a:cubicBezTo>
                      <a:pt x="121" y="12"/>
                      <a:pt x="121" y="12"/>
                      <a:pt x="121" y="12"/>
                    </a:cubicBezTo>
                    <a:cubicBezTo>
                      <a:pt x="120" y="13"/>
                      <a:pt x="120" y="13"/>
                      <a:pt x="119" y="12"/>
                    </a:cubicBezTo>
                    <a:cubicBezTo>
                      <a:pt x="117" y="12"/>
                      <a:pt x="117" y="12"/>
                      <a:pt x="117" y="12"/>
                    </a:cubicBezTo>
                    <a:cubicBezTo>
                      <a:pt x="118" y="6"/>
                      <a:pt x="118" y="6"/>
                      <a:pt x="118" y="6"/>
                    </a:cubicBezTo>
                    <a:cubicBezTo>
                      <a:pt x="118" y="6"/>
                      <a:pt x="119" y="6"/>
                      <a:pt x="119" y="6"/>
                    </a:cubicBezTo>
                    <a:cubicBezTo>
                      <a:pt x="119" y="6"/>
                      <a:pt x="119" y="6"/>
                      <a:pt x="119" y="6"/>
                    </a:cubicBezTo>
                    <a:cubicBezTo>
                      <a:pt x="122" y="7"/>
                      <a:pt x="122" y="7"/>
                      <a:pt x="122" y="7"/>
                    </a:cubicBezTo>
                    <a:cubicBezTo>
                      <a:pt x="122" y="7"/>
                      <a:pt x="123" y="7"/>
                      <a:pt x="123" y="8"/>
                    </a:cubicBezTo>
                    <a:cubicBezTo>
                      <a:pt x="124" y="8"/>
                      <a:pt x="124" y="9"/>
                      <a:pt x="124" y="10"/>
                    </a:cubicBezTo>
                    <a:cubicBezTo>
                      <a:pt x="125" y="10"/>
                      <a:pt x="125" y="10"/>
                      <a:pt x="125" y="10"/>
                    </a:cubicBezTo>
                    <a:cubicBezTo>
                      <a:pt x="125" y="7"/>
                      <a:pt x="125" y="7"/>
                      <a:pt x="125" y="7"/>
                    </a:cubicBezTo>
                    <a:cubicBezTo>
                      <a:pt x="116" y="4"/>
                      <a:pt x="116" y="4"/>
                      <a:pt x="116" y="4"/>
                    </a:cubicBezTo>
                    <a:cubicBezTo>
                      <a:pt x="116" y="5"/>
                      <a:pt x="116" y="5"/>
                      <a:pt x="116" y="5"/>
                    </a:cubicBezTo>
                    <a:close/>
                    <a:moveTo>
                      <a:pt x="136" y="17"/>
                    </a:moveTo>
                    <a:cubicBezTo>
                      <a:pt x="136" y="18"/>
                      <a:pt x="135" y="19"/>
                      <a:pt x="134" y="19"/>
                    </a:cubicBezTo>
                    <a:cubicBezTo>
                      <a:pt x="133" y="19"/>
                      <a:pt x="133" y="19"/>
                      <a:pt x="132" y="19"/>
                    </a:cubicBezTo>
                    <a:cubicBezTo>
                      <a:pt x="131" y="26"/>
                      <a:pt x="131" y="26"/>
                      <a:pt x="131" y="26"/>
                    </a:cubicBezTo>
                    <a:cubicBezTo>
                      <a:pt x="131" y="26"/>
                      <a:pt x="131" y="27"/>
                      <a:pt x="131" y="27"/>
                    </a:cubicBezTo>
                    <a:cubicBezTo>
                      <a:pt x="131" y="27"/>
                      <a:pt x="131" y="27"/>
                      <a:pt x="132" y="27"/>
                    </a:cubicBezTo>
                    <a:cubicBezTo>
                      <a:pt x="132" y="27"/>
                      <a:pt x="132" y="27"/>
                      <a:pt x="132" y="27"/>
                    </a:cubicBezTo>
                    <a:cubicBezTo>
                      <a:pt x="132" y="28"/>
                      <a:pt x="132" y="28"/>
                      <a:pt x="132" y="28"/>
                    </a:cubicBezTo>
                    <a:cubicBezTo>
                      <a:pt x="130" y="27"/>
                      <a:pt x="130" y="27"/>
                      <a:pt x="130" y="27"/>
                    </a:cubicBezTo>
                    <a:cubicBezTo>
                      <a:pt x="130" y="18"/>
                      <a:pt x="130" y="18"/>
                      <a:pt x="130" y="18"/>
                    </a:cubicBezTo>
                    <a:cubicBezTo>
                      <a:pt x="129" y="17"/>
                      <a:pt x="129" y="17"/>
                      <a:pt x="129" y="17"/>
                    </a:cubicBezTo>
                    <a:cubicBezTo>
                      <a:pt x="126" y="23"/>
                      <a:pt x="126" y="23"/>
                      <a:pt x="126" y="23"/>
                    </a:cubicBezTo>
                    <a:cubicBezTo>
                      <a:pt x="125" y="24"/>
                      <a:pt x="125" y="24"/>
                      <a:pt x="126" y="24"/>
                    </a:cubicBezTo>
                    <a:cubicBezTo>
                      <a:pt x="126" y="24"/>
                      <a:pt x="126" y="24"/>
                      <a:pt x="126" y="24"/>
                    </a:cubicBezTo>
                    <a:cubicBezTo>
                      <a:pt x="126" y="25"/>
                      <a:pt x="126" y="25"/>
                      <a:pt x="126" y="25"/>
                    </a:cubicBezTo>
                    <a:cubicBezTo>
                      <a:pt x="126" y="25"/>
                      <a:pt x="126" y="25"/>
                      <a:pt x="126" y="25"/>
                    </a:cubicBezTo>
                    <a:cubicBezTo>
                      <a:pt x="122" y="23"/>
                      <a:pt x="122" y="23"/>
                      <a:pt x="122" y="23"/>
                    </a:cubicBezTo>
                    <a:cubicBezTo>
                      <a:pt x="123" y="23"/>
                      <a:pt x="123" y="23"/>
                      <a:pt x="123" y="23"/>
                    </a:cubicBezTo>
                    <a:cubicBezTo>
                      <a:pt x="123" y="23"/>
                      <a:pt x="123" y="23"/>
                      <a:pt x="123" y="23"/>
                    </a:cubicBezTo>
                    <a:cubicBezTo>
                      <a:pt x="123" y="23"/>
                      <a:pt x="124" y="23"/>
                      <a:pt x="124" y="23"/>
                    </a:cubicBezTo>
                    <a:cubicBezTo>
                      <a:pt x="124" y="23"/>
                      <a:pt x="124" y="23"/>
                      <a:pt x="124" y="23"/>
                    </a:cubicBezTo>
                    <a:cubicBezTo>
                      <a:pt x="130" y="11"/>
                      <a:pt x="130" y="11"/>
                      <a:pt x="130" y="11"/>
                    </a:cubicBezTo>
                    <a:cubicBezTo>
                      <a:pt x="130" y="11"/>
                      <a:pt x="130" y="11"/>
                      <a:pt x="130" y="10"/>
                    </a:cubicBezTo>
                    <a:cubicBezTo>
                      <a:pt x="130" y="10"/>
                      <a:pt x="130" y="10"/>
                      <a:pt x="130" y="10"/>
                    </a:cubicBezTo>
                    <a:cubicBezTo>
                      <a:pt x="129" y="10"/>
                      <a:pt x="129" y="10"/>
                      <a:pt x="129" y="10"/>
                    </a:cubicBezTo>
                    <a:cubicBezTo>
                      <a:pt x="130" y="9"/>
                      <a:pt x="130" y="9"/>
                      <a:pt x="130" y="9"/>
                    </a:cubicBezTo>
                    <a:cubicBezTo>
                      <a:pt x="134" y="12"/>
                      <a:pt x="134" y="12"/>
                      <a:pt x="134" y="12"/>
                    </a:cubicBezTo>
                    <a:cubicBezTo>
                      <a:pt x="135" y="12"/>
                      <a:pt x="136" y="13"/>
                      <a:pt x="137" y="14"/>
                    </a:cubicBezTo>
                    <a:cubicBezTo>
                      <a:pt x="137" y="15"/>
                      <a:pt x="137" y="16"/>
                      <a:pt x="136" y="17"/>
                    </a:cubicBezTo>
                    <a:close/>
                    <a:moveTo>
                      <a:pt x="129" y="17"/>
                    </a:moveTo>
                    <a:cubicBezTo>
                      <a:pt x="131" y="18"/>
                      <a:pt x="131" y="18"/>
                      <a:pt x="131" y="18"/>
                    </a:cubicBezTo>
                    <a:cubicBezTo>
                      <a:pt x="131" y="18"/>
                      <a:pt x="132" y="18"/>
                      <a:pt x="133" y="18"/>
                    </a:cubicBezTo>
                    <a:cubicBezTo>
                      <a:pt x="134" y="18"/>
                      <a:pt x="134" y="17"/>
                      <a:pt x="135" y="16"/>
                    </a:cubicBezTo>
                    <a:cubicBezTo>
                      <a:pt x="135" y="15"/>
                      <a:pt x="136" y="15"/>
                      <a:pt x="135" y="14"/>
                    </a:cubicBezTo>
                    <a:cubicBezTo>
                      <a:pt x="135" y="13"/>
                      <a:pt x="135" y="12"/>
                      <a:pt x="133" y="12"/>
                    </a:cubicBezTo>
                    <a:cubicBezTo>
                      <a:pt x="133" y="11"/>
                      <a:pt x="133" y="11"/>
                      <a:pt x="133" y="11"/>
                    </a:cubicBezTo>
                    <a:cubicBezTo>
                      <a:pt x="132" y="11"/>
                      <a:pt x="132" y="11"/>
                      <a:pt x="132" y="11"/>
                    </a:cubicBezTo>
                    <a:cubicBezTo>
                      <a:pt x="132" y="11"/>
                      <a:pt x="132" y="11"/>
                      <a:pt x="132" y="12"/>
                    </a:cubicBezTo>
                    <a:cubicBezTo>
                      <a:pt x="129" y="17"/>
                      <a:pt x="129" y="17"/>
                      <a:pt x="129" y="17"/>
                    </a:cubicBezTo>
                    <a:close/>
                    <a:moveTo>
                      <a:pt x="141" y="25"/>
                    </a:moveTo>
                    <a:cubicBezTo>
                      <a:pt x="142" y="27"/>
                      <a:pt x="142" y="28"/>
                      <a:pt x="142" y="28"/>
                    </a:cubicBezTo>
                    <a:cubicBezTo>
                      <a:pt x="142" y="29"/>
                      <a:pt x="142" y="30"/>
                      <a:pt x="142" y="30"/>
                    </a:cubicBezTo>
                    <a:cubicBezTo>
                      <a:pt x="141" y="31"/>
                      <a:pt x="141" y="32"/>
                      <a:pt x="140" y="32"/>
                    </a:cubicBezTo>
                    <a:cubicBezTo>
                      <a:pt x="139" y="32"/>
                      <a:pt x="138" y="32"/>
                      <a:pt x="137" y="32"/>
                    </a:cubicBezTo>
                    <a:cubicBezTo>
                      <a:pt x="137" y="31"/>
                      <a:pt x="136" y="30"/>
                      <a:pt x="136" y="29"/>
                    </a:cubicBezTo>
                    <a:cubicBezTo>
                      <a:pt x="135" y="28"/>
                      <a:pt x="136" y="27"/>
                      <a:pt x="136" y="26"/>
                    </a:cubicBezTo>
                    <a:cubicBezTo>
                      <a:pt x="136" y="26"/>
                      <a:pt x="136" y="26"/>
                      <a:pt x="136" y="26"/>
                    </a:cubicBezTo>
                    <a:cubicBezTo>
                      <a:pt x="134" y="30"/>
                      <a:pt x="134" y="30"/>
                      <a:pt x="134" y="30"/>
                    </a:cubicBezTo>
                    <a:cubicBezTo>
                      <a:pt x="134" y="30"/>
                      <a:pt x="134" y="30"/>
                      <a:pt x="134" y="30"/>
                    </a:cubicBezTo>
                    <a:cubicBezTo>
                      <a:pt x="135" y="30"/>
                      <a:pt x="135" y="30"/>
                      <a:pt x="135" y="30"/>
                    </a:cubicBezTo>
                    <a:cubicBezTo>
                      <a:pt x="135" y="30"/>
                      <a:pt x="135" y="30"/>
                      <a:pt x="136" y="31"/>
                    </a:cubicBezTo>
                    <a:cubicBezTo>
                      <a:pt x="136" y="31"/>
                      <a:pt x="136" y="32"/>
                      <a:pt x="137" y="32"/>
                    </a:cubicBezTo>
                    <a:cubicBezTo>
                      <a:pt x="138" y="33"/>
                      <a:pt x="139" y="33"/>
                      <a:pt x="140" y="33"/>
                    </a:cubicBezTo>
                    <a:cubicBezTo>
                      <a:pt x="142" y="33"/>
                      <a:pt x="142" y="32"/>
                      <a:pt x="143" y="31"/>
                    </a:cubicBezTo>
                    <a:cubicBezTo>
                      <a:pt x="144" y="30"/>
                      <a:pt x="144" y="29"/>
                      <a:pt x="144" y="28"/>
                    </a:cubicBezTo>
                    <a:cubicBezTo>
                      <a:pt x="144" y="27"/>
                      <a:pt x="143" y="26"/>
                      <a:pt x="142" y="25"/>
                    </a:cubicBezTo>
                    <a:cubicBezTo>
                      <a:pt x="141" y="23"/>
                      <a:pt x="141" y="22"/>
                      <a:pt x="141" y="22"/>
                    </a:cubicBezTo>
                    <a:cubicBezTo>
                      <a:pt x="141" y="21"/>
                      <a:pt x="141" y="20"/>
                      <a:pt x="141" y="20"/>
                    </a:cubicBezTo>
                    <a:cubicBezTo>
                      <a:pt x="142" y="19"/>
                      <a:pt x="142" y="19"/>
                      <a:pt x="143" y="19"/>
                    </a:cubicBezTo>
                    <a:cubicBezTo>
                      <a:pt x="144" y="18"/>
                      <a:pt x="144" y="18"/>
                      <a:pt x="145" y="19"/>
                    </a:cubicBezTo>
                    <a:cubicBezTo>
                      <a:pt x="146" y="20"/>
                      <a:pt x="147" y="20"/>
                      <a:pt x="147" y="21"/>
                    </a:cubicBezTo>
                    <a:cubicBezTo>
                      <a:pt x="147" y="22"/>
                      <a:pt x="147" y="23"/>
                      <a:pt x="147" y="24"/>
                    </a:cubicBezTo>
                    <a:cubicBezTo>
                      <a:pt x="147" y="24"/>
                      <a:pt x="147" y="24"/>
                      <a:pt x="147" y="24"/>
                    </a:cubicBezTo>
                    <a:cubicBezTo>
                      <a:pt x="149" y="21"/>
                      <a:pt x="149" y="21"/>
                      <a:pt x="149" y="21"/>
                    </a:cubicBezTo>
                    <a:cubicBezTo>
                      <a:pt x="149" y="21"/>
                      <a:pt x="149" y="21"/>
                      <a:pt x="148" y="21"/>
                    </a:cubicBezTo>
                    <a:cubicBezTo>
                      <a:pt x="148" y="21"/>
                      <a:pt x="148" y="21"/>
                      <a:pt x="148" y="21"/>
                    </a:cubicBezTo>
                    <a:cubicBezTo>
                      <a:pt x="148" y="21"/>
                      <a:pt x="147" y="20"/>
                      <a:pt x="147" y="20"/>
                    </a:cubicBezTo>
                    <a:cubicBezTo>
                      <a:pt x="147" y="19"/>
                      <a:pt x="146" y="19"/>
                      <a:pt x="146" y="19"/>
                    </a:cubicBezTo>
                    <a:cubicBezTo>
                      <a:pt x="145" y="18"/>
                      <a:pt x="144" y="18"/>
                      <a:pt x="143" y="18"/>
                    </a:cubicBezTo>
                    <a:cubicBezTo>
                      <a:pt x="141" y="18"/>
                      <a:pt x="141" y="19"/>
                      <a:pt x="140" y="19"/>
                    </a:cubicBezTo>
                    <a:cubicBezTo>
                      <a:pt x="139" y="20"/>
                      <a:pt x="139" y="21"/>
                      <a:pt x="139" y="22"/>
                    </a:cubicBezTo>
                    <a:cubicBezTo>
                      <a:pt x="140" y="23"/>
                      <a:pt x="140" y="24"/>
                      <a:pt x="141" y="25"/>
                    </a:cubicBezTo>
                    <a:close/>
                    <a:moveTo>
                      <a:pt x="154" y="26"/>
                    </a:moveTo>
                    <a:cubicBezTo>
                      <a:pt x="154" y="26"/>
                      <a:pt x="154" y="26"/>
                      <a:pt x="154" y="26"/>
                    </a:cubicBezTo>
                    <a:cubicBezTo>
                      <a:pt x="159" y="31"/>
                      <a:pt x="159" y="31"/>
                      <a:pt x="159" y="31"/>
                    </a:cubicBezTo>
                    <a:cubicBezTo>
                      <a:pt x="159" y="31"/>
                      <a:pt x="159" y="31"/>
                      <a:pt x="159" y="31"/>
                    </a:cubicBezTo>
                    <a:cubicBezTo>
                      <a:pt x="158" y="30"/>
                      <a:pt x="158" y="30"/>
                      <a:pt x="158" y="30"/>
                    </a:cubicBezTo>
                    <a:cubicBezTo>
                      <a:pt x="157" y="29"/>
                      <a:pt x="157" y="29"/>
                      <a:pt x="157" y="29"/>
                    </a:cubicBezTo>
                    <a:cubicBezTo>
                      <a:pt x="157" y="29"/>
                      <a:pt x="157" y="29"/>
                      <a:pt x="156" y="30"/>
                    </a:cubicBezTo>
                    <a:cubicBezTo>
                      <a:pt x="147" y="39"/>
                      <a:pt x="147" y="39"/>
                      <a:pt x="147" y="39"/>
                    </a:cubicBezTo>
                    <a:cubicBezTo>
                      <a:pt x="147" y="39"/>
                      <a:pt x="147" y="39"/>
                      <a:pt x="147" y="40"/>
                    </a:cubicBezTo>
                    <a:cubicBezTo>
                      <a:pt x="147" y="40"/>
                      <a:pt x="147" y="40"/>
                      <a:pt x="148" y="40"/>
                    </a:cubicBezTo>
                    <a:cubicBezTo>
                      <a:pt x="149" y="42"/>
                      <a:pt x="149" y="42"/>
                      <a:pt x="149" y="42"/>
                    </a:cubicBezTo>
                    <a:cubicBezTo>
                      <a:pt x="149" y="42"/>
                      <a:pt x="149" y="42"/>
                      <a:pt x="149" y="42"/>
                    </a:cubicBezTo>
                    <a:cubicBezTo>
                      <a:pt x="143" y="37"/>
                      <a:pt x="143" y="37"/>
                      <a:pt x="143" y="37"/>
                    </a:cubicBezTo>
                    <a:cubicBezTo>
                      <a:pt x="144" y="37"/>
                      <a:pt x="144" y="37"/>
                      <a:pt x="144" y="37"/>
                    </a:cubicBezTo>
                    <a:cubicBezTo>
                      <a:pt x="145" y="38"/>
                      <a:pt x="145" y="38"/>
                      <a:pt x="145" y="38"/>
                    </a:cubicBezTo>
                    <a:cubicBezTo>
                      <a:pt x="146" y="38"/>
                      <a:pt x="146" y="38"/>
                      <a:pt x="146" y="38"/>
                    </a:cubicBezTo>
                    <a:cubicBezTo>
                      <a:pt x="146" y="38"/>
                      <a:pt x="146" y="38"/>
                      <a:pt x="146" y="38"/>
                    </a:cubicBezTo>
                    <a:cubicBezTo>
                      <a:pt x="155" y="29"/>
                      <a:pt x="155" y="29"/>
                      <a:pt x="155" y="29"/>
                    </a:cubicBezTo>
                    <a:cubicBezTo>
                      <a:pt x="155" y="28"/>
                      <a:pt x="156" y="28"/>
                      <a:pt x="156" y="28"/>
                    </a:cubicBezTo>
                    <a:cubicBezTo>
                      <a:pt x="156" y="28"/>
                      <a:pt x="155" y="28"/>
                      <a:pt x="155" y="27"/>
                    </a:cubicBezTo>
                    <a:cubicBezTo>
                      <a:pt x="154" y="26"/>
                      <a:pt x="154" y="26"/>
                      <a:pt x="154" y="26"/>
                    </a:cubicBezTo>
                    <a:close/>
                    <a:moveTo>
                      <a:pt x="155" y="50"/>
                    </a:moveTo>
                    <a:cubicBezTo>
                      <a:pt x="156" y="50"/>
                      <a:pt x="156" y="50"/>
                      <a:pt x="156" y="50"/>
                    </a:cubicBezTo>
                    <a:cubicBezTo>
                      <a:pt x="155" y="49"/>
                      <a:pt x="155" y="49"/>
                      <a:pt x="155" y="49"/>
                    </a:cubicBezTo>
                    <a:cubicBezTo>
                      <a:pt x="155" y="49"/>
                      <a:pt x="155" y="49"/>
                      <a:pt x="155" y="49"/>
                    </a:cubicBezTo>
                    <a:cubicBezTo>
                      <a:pt x="155" y="49"/>
                      <a:pt x="155" y="48"/>
                      <a:pt x="155" y="48"/>
                    </a:cubicBezTo>
                    <a:cubicBezTo>
                      <a:pt x="165" y="40"/>
                      <a:pt x="165" y="40"/>
                      <a:pt x="165" y="40"/>
                    </a:cubicBezTo>
                    <a:cubicBezTo>
                      <a:pt x="166" y="40"/>
                      <a:pt x="166" y="40"/>
                      <a:pt x="166" y="40"/>
                    </a:cubicBezTo>
                    <a:cubicBezTo>
                      <a:pt x="166" y="40"/>
                      <a:pt x="166" y="40"/>
                      <a:pt x="167" y="40"/>
                    </a:cubicBezTo>
                    <a:cubicBezTo>
                      <a:pt x="167" y="41"/>
                      <a:pt x="167" y="42"/>
                      <a:pt x="167" y="42"/>
                    </a:cubicBezTo>
                    <a:cubicBezTo>
                      <a:pt x="167" y="43"/>
                      <a:pt x="167" y="43"/>
                      <a:pt x="166" y="45"/>
                    </a:cubicBezTo>
                    <a:cubicBezTo>
                      <a:pt x="166" y="45"/>
                      <a:pt x="166" y="45"/>
                      <a:pt x="166" y="45"/>
                    </a:cubicBezTo>
                    <a:cubicBezTo>
                      <a:pt x="169" y="42"/>
                      <a:pt x="169" y="42"/>
                      <a:pt x="169" y="42"/>
                    </a:cubicBezTo>
                    <a:cubicBezTo>
                      <a:pt x="163" y="35"/>
                      <a:pt x="163" y="35"/>
                      <a:pt x="163" y="35"/>
                    </a:cubicBezTo>
                    <a:cubicBezTo>
                      <a:pt x="160" y="37"/>
                      <a:pt x="160" y="37"/>
                      <a:pt x="160" y="37"/>
                    </a:cubicBezTo>
                    <a:cubicBezTo>
                      <a:pt x="160" y="37"/>
                      <a:pt x="160" y="37"/>
                      <a:pt x="160" y="37"/>
                    </a:cubicBezTo>
                    <a:cubicBezTo>
                      <a:pt x="162" y="37"/>
                      <a:pt x="163" y="37"/>
                      <a:pt x="163" y="37"/>
                    </a:cubicBezTo>
                    <a:cubicBezTo>
                      <a:pt x="163" y="37"/>
                      <a:pt x="164" y="37"/>
                      <a:pt x="164" y="38"/>
                    </a:cubicBezTo>
                    <a:cubicBezTo>
                      <a:pt x="165" y="38"/>
                      <a:pt x="165" y="38"/>
                      <a:pt x="165" y="38"/>
                    </a:cubicBezTo>
                    <a:cubicBezTo>
                      <a:pt x="165" y="39"/>
                      <a:pt x="165" y="39"/>
                      <a:pt x="164" y="39"/>
                    </a:cubicBezTo>
                    <a:cubicBezTo>
                      <a:pt x="154" y="47"/>
                      <a:pt x="154" y="47"/>
                      <a:pt x="154" y="47"/>
                    </a:cubicBezTo>
                    <a:cubicBezTo>
                      <a:pt x="154" y="47"/>
                      <a:pt x="154" y="47"/>
                      <a:pt x="154" y="47"/>
                    </a:cubicBezTo>
                    <a:cubicBezTo>
                      <a:pt x="154" y="47"/>
                      <a:pt x="153" y="47"/>
                      <a:pt x="153" y="47"/>
                    </a:cubicBezTo>
                    <a:cubicBezTo>
                      <a:pt x="153" y="46"/>
                      <a:pt x="153" y="46"/>
                      <a:pt x="153" y="46"/>
                    </a:cubicBezTo>
                    <a:cubicBezTo>
                      <a:pt x="152" y="47"/>
                      <a:pt x="152" y="47"/>
                      <a:pt x="152" y="47"/>
                    </a:cubicBezTo>
                    <a:cubicBezTo>
                      <a:pt x="155" y="50"/>
                      <a:pt x="155" y="50"/>
                      <a:pt x="155" y="50"/>
                    </a:cubicBezTo>
                    <a:close/>
                    <a:moveTo>
                      <a:pt x="174" y="54"/>
                    </a:moveTo>
                    <a:cubicBezTo>
                      <a:pt x="174" y="54"/>
                      <a:pt x="175" y="54"/>
                      <a:pt x="175" y="53"/>
                    </a:cubicBezTo>
                    <a:cubicBezTo>
                      <a:pt x="175" y="53"/>
                      <a:pt x="175" y="53"/>
                      <a:pt x="174" y="53"/>
                    </a:cubicBezTo>
                    <a:cubicBezTo>
                      <a:pt x="174" y="52"/>
                      <a:pt x="174" y="52"/>
                      <a:pt x="174" y="52"/>
                    </a:cubicBezTo>
                    <a:cubicBezTo>
                      <a:pt x="175" y="52"/>
                      <a:pt x="175" y="52"/>
                      <a:pt x="175" y="52"/>
                    </a:cubicBezTo>
                    <a:cubicBezTo>
                      <a:pt x="177" y="55"/>
                      <a:pt x="177" y="55"/>
                      <a:pt x="177" y="55"/>
                    </a:cubicBezTo>
                    <a:cubicBezTo>
                      <a:pt x="176" y="55"/>
                      <a:pt x="176" y="55"/>
                      <a:pt x="176" y="55"/>
                    </a:cubicBezTo>
                    <a:cubicBezTo>
                      <a:pt x="176" y="55"/>
                      <a:pt x="176" y="55"/>
                      <a:pt x="176" y="55"/>
                    </a:cubicBezTo>
                    <a:cubicBezTo>
                      <a:pt x="176" y="55"/>
                      <a:pt x="176" y="55"/>
                      <a:pt x="175" y="55"/>
                    </a:cubicBezTo>
                    <a:cubicBezTo>
                      <a:pt x="175" y="55"/>
                      <a:pt x="175" y="55"/>
                      <a:pt x="174" y="55"/>
                    </a:cubicBezTo>
                    <a:cubicBezTo>
                      <a:pt x="166" y="56"/>
                      <a:pt x="166" y="56"/>
                      <a:pt x="166" y="56"/>
                    </a:cubicBezTo>
                    <a:cubicBezTo>
                      <a:pt x="162" y="58"/>
                      <a:pt x="162" y="58"/>
                      <a:pt x="162" y="58"/>
                    </a:cubicBezTo>
                    <a:cubicBezTo>
                      <a:pt x="162" y="59"/>
                      <a:pt x="162" y="59"/>
                      <a:pt x="162" y="59"/>
                    </a:cubicBezTo>
                    <a:cubicBezTo>
                      <a:pt x="161" y="59"/>
                      <a:pt x="162" y="59"/>
                      <a:pt x="162" y="60"/>
                    </a:cubicBezTo>
                    <a:cubicBezTo>
                      <a:pt x="162" y="60"/>
                      <a:pt x="162" y="60"/>
                      <a:pt x="162" y="60"/>
                    </a:cubicBezTo>
                    <a:cubicBezTo>
                      <a:pt x="162" y="61"/>
                      <a:pt x="162" y="61"/>
                      <a:pt x="162" y="61"/>
                    </a:cubicBezTo>
                    <a:cubicBezTo>
                      <a:pt x="159" y="56"/>
                      <a:pt x="159" y="56"/>
                      <a:pt x="159" y="56"/>
                    </a:cubicBezTo>
                    <a:cubicBezTo>
                      <a:pt x="160" y="56"/>
                      <a:pt x="160" y="56"/>
                      <a:pt x="160" y="56"/>
                    </a:cubicBezTo>
                    <a:cubicBezTo>
                      <a:pt x="160" y="57"/>
                      <a:pt x="160" y="57"/>
                      <a:pt x="160" y="57"/>
                    </a:cubicBezTo>
                    <a:cubicBezTo>
                      <a:pt x="160" y="57"/>
                      <a:pt x="160" y="57"/>
                      <a:pt x="161" y="57"/>
                    </a:cubicBezTo>
                    <a:cubicBezTo>
                      <a:pt x="161" y="57"/>
                      <a:pt x="161" y="57"/>
                      <a:pt x="161" y="57"/>
                    </a:cubicBezTo>
                    <a:cubicBezTo>
                      <a:pt x="165" y="55"/>
                      <a:pt x="165" y="55"/>
                      <a:pt x="165" y="55"/>
                    </a:cubicBezTo>
                    <a:cubicBezTo>
                      <a:pt x="171" y="48"/>
                      <a:pt x="171" y="48"/>
                      <a:pt x="171" y="48"/>
                    </a:cubicBezTo>
                    <a:cubicBezTo>
                      <a:pt x="171" y="48"/>
                      <a:pt x="171" y="48"/>
                      <a:pt x="171" y="47"/>
                    </a:cubicBezTo>
                    <a:cubicBezTo>
                      <a:pt x="171" y="47"/>
                      <a:pt x="171" y="47"/>
                      <a:pt x="171" y="47"/>
                    </a:cubicBezTo>
                    <a:cubicBezTo>
                      <a:pt x="171" y="46"/>
                      <a:pt x="171" y="46"/>
                      <a:pt x="171" y="46"/>
                    </a:cubicBezTo>
                    <a:cubicBezTo>
                      <a:pt x="171" y="46"/>
                      <a:pt x="171" y="46"/>
                      <a:pt x="171" y="46"/>
                    </a:cubicBezTo>
                    <a:cubicBezTo>
                      <a:pt x="173" y="50"/>
                      <a:pt x="173" y="50"/>
                      <a:pt x="173" y="50"/>
                    </a:cubicBezTo>
                    <a:cubicBezTo>
                      <a:pt x="173" y="50"/>
                      <a:pt x="173" y="50"/>
                      <a:pt x="173" y="50"/>
                    </a:cubicBezTo>
                    <a:cubicBezTo>
                      <a:pt x="173" y="49"/>
                      <a:pt x="173" y="49"/>
                      <a:pt x="173" y="49"/>
                    </a:cubicBezTo>
                    <a:cubicBezTo>
                      <a:pt x="172" y="49"/>
                      <a:pt x="172" y="49"/>
                      <a:pt x="172" y="49"/>
                    </a:cubicBezTo>
                    <a:cubicBezTo>
                      <a:pt x="172" y="49"/>
                      <a:pt x="172" y="49"/>
                      <a:pt x="171" y="49"/>
                    </a:cubicBezTo>
                    <a:cubicBezTo>
                      <a:pt x="167" y="55"/>
                      <a:pt x="167" y="55"/>
                      <a:pt x="167" y="55"/>
                    </a:cubicBezTo>
                    <a:cubicBezTo>
                      <a:pt x="167" y="55"/>
                      <a:pt x="167" y="55"/>
                      <a:pt x="167" y="55"/>
                    </a:cubicBezTo>
                    <a:lnTo>
                      <a:pt x="174" y="54"/>
                    </a:lnTo>
                    <a:close/>
                  </a:path>
                </a:pathLst>
              </a:custGeom>
              <a:solidFill>
                <a:srgbClr val="FFFFFF"/>
              </a:solidFill>
              <a:ln w="3175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17" name="ïśľíḓé">
                <a:extLst>
                  <a:ext uri="{FF2B5EF4-FFF2-40B4-BE49-F238E27FC236}">
                    <a16:creationId xmlns:a16="http://schemas.microsoft.com/office/drawing/2014/main" id="{2FFE866E-3AA3-CD7B-DD08-EF131C332C5E}"/>
                  </a:ext>
                </a:extLst>
              </p:cNvPr>
              <p:cNvSpPr/>
              <p:nvPr/>
            </p:nvSpPr>
            <p:spPr bwMode="auto">
              <a:xfrm>
                <a:off x="3667126" y="3184525"/>
                <a:ext cx="492125" cy="496888"/>
              </a:xfrm>
              <a:custGeom>
                <a:avLst/>
                <a:gdLst>
                  <a:gd name="T0" fmla="*/ 74 w 149"/>
                  <a:gd name="T1" fmla="*/ 0 h 149"/>
                  <a:gd name="T2" fmla="*/ 149 w 149"/>
                  <a:gd name="T3" fmla="*/ 74 h 149"/>
                  <a:gd name="T4" fmla="*/ 74 w 149"/>
                  <a:gd name="T5" fmla="*/ 149 h 149"/>
                  <a:gd name="T6" fmla="*/ 0 w 149"/>
                  <a:gd name="T7" fmla="*/ 74 h 149"/>
                  <a:gd name="T8" fmla="*/ 74 w 149"/>
                  <a:gd name="T9" fmla="*/ 0 h 149"/>
                  <a:gd name="T10" fmla="*/ 74 w 149"/>
                  <a:gd name="T11" fmla="*/ 2 h 149"/>
                  <a:gd name="T12" fmla="*/ 2 w 149"/>
                  <a:gd name="T13" fmla="*/ 74 h 149"/>
                  <a:gd name="T14" fmla="*/ 74 w 149"/>
                  <a:gd name="T15" fmla="*/ 146 h 149"/>
                  <a:gd name="T16" fmla="*/ 146 w 149"/>
                  <a:gd name="T17" fmla="*/ 74 h 149"/>
                  <a:gd name="T18" fmla="*/ 74 w 149"/>
                  <a:gd name="T19" fmla="*/ 2 h 1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9" h="149">
                    <a:moveTo>
                      <a:pt x="74" y="0"/>
                    </a:moveTo>
                    <a:cubicBezTo>
                      <a:pt x="115" y="0"/>
                      <a:pt x="149" y="33"/>
                      <a:pt x="149" y="74"/>
                    </a:cubicBezTo>
                    <a:cubicBezTo>
                      <a:pt x="149" y="115"/>
                      <a:pt x="115" y="149"/>
                      <a:pt x="74" y="149"/>
                    </a:cubicBezTo>
                    <a:cubicBezTo>
                      <a:pt x="33" y="149"/>
                      <a:pt x="0" y="115"/>
                      <a:pt x="0" y="74"/>
                    </a:cubicBezTo>
                    <a:cubicBezTo>
                      <a:pt x="0" y="33"/>
                      <a:pt x="33" y="0"/>
                      <a:pt x="74" y="0"/>
                    </a:cubicBezTo>
                    <a:close/>
                    <a:moveTo>
                      <a:pt x="74" y="2"/>
                    </a:moveTo>
                    <a:cubicBezTo>
                      <a:pt x="35" y="2"/>
                      <a:pt x="2" y="34"/>
                      <a:pt x="2" y="74"/>
                    </a:cubicBezTo>
                    <a:cubicBezTo>
                      <a:pt x="2" y="114"/>
                      <a:pt x="35" y="146"/>
                      <a:pt x="74" y="146"/>
                    </a:cubicBezTo>
                    <a:cubicBezTo>
                      <a:pt x="114" y="146"/>
                      <a:pt x="146" y="114"/>
                      <a:pt x="146" y="74"/>
                    </a:cubicBezTo>
                    <a:cubicBezTo>
                      <a:pt x="146" y="34"/>
                      <a:pt x="114" y="2"/>
                      <a:pt x="74" y="2"/>
                    </a:cubicBezTo>
                    <a:close/>
                  </a:path>
                </a:pathLst>
              </a:custGeom>
              <a:solidFill>
                <a:srgbClr val="00523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18" name="ïslíḍê">
                <a:extLst>
                  <a:ext uri="{FF2B5EF4-FFF2-40B4-BE49-F238E27FC236}">
                    <a16:creationId xmlns:a16="http://schemas.microsoft.com/office/drawing/2014/main" id="{9F60633E-6EEF-FC88-9D2B-F35A2F5498DD}"/>
                  </a:ext>
                </a:extLst>
              </p:cNvPr>
              <p:cNvSpPr/>
              <p:nvPr/>
            </p:nvSpPr>
            <p:spPr bwMode="auto">
              <a:xfrm>
                <a:off x="3775076" y="3248025"/>
                <a:ext cx="274638" cy="146050"/>
              </a:xfrm>
              <a:custGeom>
                <a:avLst/>
                <a:gdLst>
                  <a:gd name="T0" fmla="*/ 10 w 83"/>
                  <a:gd name="T1" fmla="*/ 43 h 44"/>
                  <a:gd name="T2" fmla="*/ 18 w 83"/>
                  <a:gd name="T3" fmla="*/ 39 h 44"/>
                  <a:gd name="T4" fmla="*/ 67 w 83"/>
                  <a:gd name="T5" fmla="*/ 39 h 44"/>
                  <a:gd name="T6" fmla="*/ 73 w 83"/>
                  <a:gd name="T7" fmla="*/ 42 h 44"/>
                  <a:gd name="T8" fmla="*/ 76 w 83"/>
                  <a:gd name="T9" fmla="*/ 43 h 44"/>
                  <a:gd name="T10" fmla="*/ 83 w 83"/>
                  <a:gd name="T11" fmla="*/ 35 h 44"/>
                  <a:gd name="T12" fmla="*/ 76 w 83"/>
                  <a:gd name="T13" fmla="*/ 37 h 44"/>
                  <a:gd name="T14" fmla="*/ 69 w 83"/>
                  <a:gd name="T15" fmla="*/ 33 h 44"/>
                  <a:gd name="T16" fmla="*/ 70 w 83"/>
                  <a:gd name="T17" fmla="*/ 26 h 44"/>
                  <a:gd name="T18" fmla="*/ 64 w 83"/>
                  <a:gd name="T19" fmla="*/ 30 h 44"/>
                  <a:gd name="T20" fmla="*/ 59 w 83"/>
                  <a:gd name="T21" fmla="*/ 31 h 44"/>
                  <a:gd name="T22" fmla="*/ 56 w 83"/>
                  <a:gd name="T23" fmla="*/ 29 h 44"/>
                  <a:gd name="T24" fmla="*/ 56 w 83"/>
                  <a:gd name="T25" fmla="*/ 24 h 44"/>
                  <a:gd name="T26" fmla="*/ 58 w 83"/>
                  <a:gd name="T27" fmla="*/ 23 h 44"/>
                  <a:gd name="T28" fmla="*/ 58 w 83"/>
                  <a:gd name="T29" fmla="*/ 19 h 44"/>
                  <a:gd name="T30" fmla="*/ 54 w 83"/>
                  <a:gd name="T31" fmla="*/ 19 h 44"/>
                  <a:gd name="T32" fmla="*/ 53 w 83"/>
                  <a:gd name="T33" fmla="*/ 21 h 44"/>
                  <a:gd name="T34" fmla="*/ 44 w 83"/>
                  <a:gd name="T35" fmla="*/ 21 h 44"/>
                  <a:gd name="T36" fmla="*/ 43 w 83"/>
                  <a:gd name="T37" fmla="*/ 18 h 44"/>
                  <a:gd name="T38" fmla="*/ 44 w 83"/>
                  <a:gd name="T39" fmla="*/ 13 h 44"/>
                  <a:gd name="T40" fmla="*/ 43 w 83"/>
                  <a:gd name="T41" fmla="*/ 8 h 44"/>
                  <a:gd name="T42" fmla="*/ 43 w 83"/>
                  <a:gd name="T43" fmla="*/ 6 h 44"/>
                  <a:gd name="T44" fmla="*/ 43 w 83"/>
                  <a:gd name="T45" fmla="*/ 2 h 44"/>
                  <a:gd name="T46" fmla="*/ 43 w 83"/>
                  <a:gd name="T47" fmla="*/ 0 h 44"/>
                  <a:gd name="T48" fmla="*/ 40 w 83"/>
                  <a:gd name="T49" fmla="*/ 0 h 44"/>
                  <a:gd name="T50" fmla="*/ 39 w 83"/>
                  <a:gd name="T51" fmla="*/ 2 h 44"/>
                  <a:gd name="T52" fmla="*/ 39 w 83"/>
                  <a:gd name="T53" fmla="*/ 6 h 44"/>
                  <a:gd name="T54" fmla="*/ 39 w 83"/>
                  <a:gd name="T55" fmla="*/ 8 h 44"/>
                  <a:gd name="T56" fmla="*/ 38 w 83"/>
                  <a:gd name="T57" fmla="*/ 13 h 44"/>
                  <a:gd name="T58" fmla="*/ 38 w 83"/>
                  <a:gd name="T59" fmla="*/ 18 h 44"/>
                  <a:gd name="T60" fmla="*/ 38 w 83"/>
                  <a:gd name="T61" fmla="*/ 21 h 44"/>
                  <a:gd name="T62" fmla="*/ 30 w 83"/>
                  <a:gd name="T63" fmla="*/ 21 h 44"/>
                  <a:gd name="T64" fmla="*/ 29 w 83"/>
                  <a:gd name="T65" fmla="*/ 19 h 44"/>
                  <a:gd name="T66" fmla="*/ 25 w 83"/>
                  <a:gd name="T67" fmla="*/ 19 h 44"/>
                  <a:gd name="T68" fmla="*/ 25 w 83"/>
                  <a:gd name="T69" fmla="*/ 23 h 44"/>
                  <a:gd name="T70" fmla="*/ 26 w 83"/>
                  <a:gd name="T71" fmla="*/ 24 h 44"/>
                  <a:gd name="T72" fmla="*/ 27 w 83"/>
                  <a:gd name="T73" fmla="*/ 29 h 44"/>
                  <a:gd name="T74" fmla="*/ 22 w 83"/>
                  <a:gd name="T75" fmla="*/ 31 h 44"/>
                  <a:gd name="T76" fmla="*/ 13 w 83"/>
                  <a:gd name="T77" fmla="*/ 26 h 44"/>
                  <a:gd name="T78" fmla="*/ 13 w 83"/>
                  <a:gd name="T79" fmla="*/ 35 h 44"/>
                  <a:gd name="T80" fmla="*/ 7 w 83"/>
                  <a:gd name="T81" fmla="*/ 37 h 44"/>
                  <a:gd name="T82" fmla="*/ 0 w 83"/>
                  <a:gd name="T83" fmla="*/ 34 h 44"/>
                  <a:gd name="T84" fmla="*/ 5 w 83"/>
                  <a:gd name="T85" fmla="*/ 42 h 44"/>
                  <a:gd name="T86" fmla="*/ 10 w 83"/>
                  <a:gd name="T87" fmla="*/ 43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83" h="44">
                    <a:moveTo>
                      <a:pt x="10" y="43"/>
                    </a:moveTo>
                    <a:cubicBezTo>
                      <a:pt x="18" y="39"/>
                      <a:pt x="18" y="39"/>
                      <a:pt x="18" y="39"/>
                    </a:cubicBezTo>
                    <a:cubicBezTo>
                      <a:pt x="67" y="39"/>
                      <a:pt x="67" y="39"/>
                      <a:pt x="67" y="39"/>
                    </a:cubicBezTo>
                    <a:cubicBezTo>
                      <a:pt x="73" y="42"/>
                      <a:pt x="73" y="42"/>
                      <a:pt x="73" y="42"/>
                    </a:cubicBezTo>
                    <a:cubicBezTo>
                      <a:pt x="74" y="43"/>
                      <a:pt x="75" y="43"/>
                      <a:pt x="76" y="43"/>
                    </a:cubicBezTo>
                    <a:cubicBezTo>
                      <a:pt x="80" y="42"/>
                      <a:pt x="83" y="35"/>
                      <a:pt x="83" y="35"/>
                    </a:cubicBezTo>
                    <a:cubicBezTo>
                      <a:pt x="83" y="35"/>
                      <a:pt x="79" y="38"/>
                      <a:pt x="76" y="37"/>
                    </a:cubicBezTo>
                    <a:cubicBezTo>
                      <a:pt x="73" y="37"/>
                      <a:pt x="69" y="36"/>
                      <a:pt x="69" y="33"/>
                    </a:cubicBezTo>
                    <a:cubicBezTo>
                      <a:pt x="69" y="30"/>
                      <a:pt x="70" y="27"/>
                      <a:pt x="70" y="26"/>
                    </a:cubicBezTo>
                    <a:cubicBezTo>
                      <a:pt x="70" y="26"/>
                      <a:pt x="67" y="29"/>
                      <a:pt x="64" y="30"/>
                    </a:cubicBezTo>
                    <a:cubicBezTo>
                      <a:pt x="61" y="32"/>
                      <a:pt x="60" y="31"/>
                      <a:pt x="59" y="31"/>
                    </a:cubicBezTo>
                    <a:cubicBezTo>
                      <a:pt x="57" y="30"/>
                      <a:pt x="56" y="29"/>
                      <a:pt x="56" y="29"/>
                    </a:cubicBezTo>
                    <a:cubicBezTo>
                      <a:pt x="56" y="24"/>
                      <a:pt x="56" y="24"/>
                      <a:pt x="56" y="24"/>
                    </a:cubicBezTo>
                    <a:cubicBezTo>
                      <a:pt x="58" y="23"/>
                      <a:pt x="58" y="23"/>
                      <a:pt x="58" y="23"/>
                    </a:cubicBezTo>
                    <a:cubicBezTo>
                      <a:pt x="58" y="19"/>
                      <a:pt x="58" y="19"/>
                      <a:pt x="58" y="19"/>
                    </a:cubicBezTo>
                    <a:cubicBezTo>
                      <a:pt x="54" y="19"/>
                      <a:pt x="54" y="19"/>
                      <a:pt x="54" y="19"/>
                    </a:cubicBezTo>
                    <a:cubicBezTo>
                      <a:pt x="54" y="19"/>
                      <a:pt x="54" y="21"/>
                      <a:pt x="53" y="21"/>
                    </a:cubicBezTo>
                    <a:cubicBezTo>
                      <a:pt x="52" y="21"/>
                      <a:pt x="44" y="21"/>
                      <a:pt x="44" y="21"/>
                    </a:cubicBezTo>
                    <a:cubicBezTo>
                      <a:pt x="44" y="21"/>
                      <a:pt x="43" y="20"/>
                      <a:pt x="43" y="18"/>
                    </a:cubicBezTo>
                    <a:cubicBezTo>
                      <a:pt x="44" y="17"/>
                      <a:pt x="44" y="17"/>
                      <a:pt x="44" y="13"/>
                    </a:cubicBezTo>
                    <a:cubicBezTo>
                      <a:pt x="44" y="10"/>
                      <a:pt x="44" y="9"/>
                      <a:pt x="43" y="8"/>
                    </a:cubicBezTo>
                    <a:cubicBezTo>
                      <a:pt x="43" y="7"/>
                      <a:pt x="42" y="7"/>
                      <a:pt x="43" y="6"/>
                    </a:cubicBezTo>
                    <a:cubicBezTo>
                      <a:pt x="44" y="5"/>
                      <a:pt x="44" y="4"/>
                      <a:pt x="43" y="2"/>
                    </a:cubicBezTo>
                    <a:cubicBezTo>
                      <a:pt x="42" y="1"/>
                      <a:pt x="43" y="2"/>
                      <a:pt x="43" y="0"/>
                    </a:cubicBezTo>
                    <a:cubicBezTo>
                      <a:pt x="40" y="0"/>
                      <a:pt x="40" y="0"/>
                      <a:pt x="40" y="0"/>
                    </a:cubicBezTo>
                    <a:cubicBezTo>
                      <a:pt x="39" y="0"/>
                      <a:pt x="40" y="1"/>
                      <a:pt x="39" y="2"/>
                    </a:cubicBezTo>
                    <a:cubicBezTo>
                      <a:pt x="38" y="3"/>
                      <a:pt x="38" y="5"/>
                      <a:pt x="39" y="6"/>
                    </a:cubicBezTo>
                    <a:cubicBezTo>
                      <a:pt x="39" y="7"/>
                      <a:pt x="40" y="7"/>
                      <a:pt x="39" y="8"/>
                    </a:cubicBezTo>
                    <a:cubicBezTo>
                      <a:pt x="38" y="9"/>
                      <a:pt x="38" y="10"/>
                      <a:pt x="38" y="13"/>
                    </a:cubicBezTo>
                    <a:cubicBezTo>
                      <a:pt x="38" y="16"/>
                      <a:pt x="38" y="17"/>
                      <a:pt x="38" y="18"/>
                    </a:cubicBezTo>
                    <a:cubicBezTo>
                      <a:pt x="39" y="20"/>
                      <a:pt x="38" y="21"/>
                      <a:pt x="38" y="21"/>
                    </a:cubicBezTo>
                    <a:cubicBezTo>
                      <a:pt x="37" y="21"/>
                      <a:pt x="30" y="21"/>
                      <a:pt x="30" y="21"/>
                    </a:cubicBezTo>
                    <a:cubicBezTo>
                      <a:pt x="30" y="21"/>
                      <a:pt x="29" y="20"/>
                      <a:pt x="29" y="19"/>
                    </a:cubicBezTo>
                    <a:cubicBezTo>
                      <a:pt x="25" y="19"/>
                      <a:pt x="25" y="19"/>
                      <a:pt x="25" y="19"/>
                    </a:cubicBezTo>
                    <a:cubicBezTo>
                      <a:pt x="25" y="23"/>
                      <a:pt x="25" y="23"/>
                      <a:pt x="25" y="23"/>
                    </a:cubicBezTo>
                    <a:cubicBezTo>
                      <a:pt x="26" y="24"/>
                      <a:pt x="26" y="24"/>
                      <a:pt x="26" y="24"/>
                    </a:cubicBezTo>
                    <a:cubicBezTo>
                      <a:pt x="27" y="29"/>
                      <a:pt x="27" y="29"/>
                      <a:pt x="27" y="29"/>
                    </a:cubicBezTo>
                    <a:cubicBezTo>
                      <a:pt x="27" y="29"/>
                      <a:pt x="24" y="31"/>
                      <a:pt x="22" y="31"/>
                    </a:cubicBezTo>
                    <a:cubicBezTo>
                      <a:pt x="19" y="31"/>
                      <a:pt x="13" y="26"/>
                      <a:pt x="13" y="26"/>
                    </a:cubicBezTo>
                    <a:cubicBezTo>
                      <a:pt x="13" y="26"/>
                      <a:pt x="14" y="33"/>
                      <a:pt x="13" y="35"/>
                    </a:cubicBezTo>
                    <a:cubicBezTo>
                      <a:pt x="13" y="37"/>
                      <a:pt x="10" y="37"/>
                      <a:pt x="7" y="37"/>
                    </a:cubicBezTo>
                    <a:cubicBezTo>
                      <a:pt x="4" y="37"/>
                      <a:pt x="0" y="35"/>
                      <a:pt x="0" y="34"/>
                    </a:cubicBezTo>
                    <a:cubicBezTo>
                      <a:pt x="0" y="34"/>
                      <a:pt x="3" y="40"/>
                      <a:pt x="5" y="42"/>
                    </a:cubicBezTo>
                    <a:cubicBezTo>
                      <a:pt x="7" y="44"/>
                      <a:pt x="10" y="43"/>
                      <a:pt x="10" y="43"/>
                    </a:cubicBez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19" name="íṡļïdê">
                <a:extLst>
                  <a:ext uri="{FF2B5EF4-FFF2-40B4-BE49-F238E27FC236}">
                    <a16:creationId xmlns:a16="http://schemas.microsoft.com/office/drawing/2014/main" id="{9A04CD98-D40C-0600-1D9C-EE35192E4B4F}"/>
                  </a:ext>
                </a:extLst>
              </p:cNvPr>
              <p:cNvSpPr/>
              <p:nvPr/>
            </p:nvSpPr>
            <p:spPr bwMode="auto">
              <a:xfrm>
                <a:off x="3614738" y="3370263"/>
                <a:ext cx="596900" cy="241300"/>
              </a:xfrm>
              <a:custGeom>
                <a:avLst/>
                <a:gdLst>
                  <a:gd name="T0" fmla="*/ 58 w 181"/>
                  <a:gd name="T1" fmla="*/ 72 h 72"/>
                  <a:gd name="T2" fmla="*/ 8 w 181"/>
                  <a:gd name="T3" fmla="*/ 72 h 72"/>
                  <a:gd name="T4" fmla="*/ 3 w 181"/>
                  <a:gd name="T5" fmla="*/ 63 h 72"/>
                  <a:gd name="T6" fmla="*/ 6 w 181"/>
                  <a:gd name="T7" fmla="*/ 63 h 72"/>
                  <a:gd name="T8" fmla="*/ 11 w 181"/>
                  <a:gd name="T9" fmla="*/ 55 h 72"/>
                  <a:gd name="T10" fmla="*/ 14 w 181"/>
                  <a:gd name="T11" fmla="*/ 55 h 72"/>
                  <a:gd name="T12" fmla="*/ 14 w 181"/>
                  <a:gd name="T13" fmla="*/ 29 h 72"/>
                  <a:gd name="T14" fmla="*/ 0 w 181"/>
                  <a:gd name="T15" fmla="*/ 4 h 72"/>
                  <a:gd name="T16" fmla="*/ 30 w 181"/>
                  <a:gd name="T17" fmla="*/ 0 h 72"/>
                  <a:gd name="T18" fmla="*/ 58 w 181"/>
                  <a:gd name="T19" fmla="*/ 8 h 72"/>
                  <a:gd name="T20" fmla="*/ 51 w 181"/>
                  <a:gd name="T21" fmla="*/ 25 h 72"/>
                  <a:gd name="T22" fmla="*/ 131 w 181"/>
                  <a:gd name="T23" fmla="*/ 25 h 72"/>
                  <a:gd name="T24" fmla="*/ 122 w 181"/>
                  <a:gd name="T25" fmla="*/ 8 h 72"/>
                  <a:gd name="T26" fmla="*/ 150 w 181"/>
                  <a:gd name="T27" fmla="*/ 0 h 72"/>
                  <a:gd name="T28" fmla="*/ 181 w 181"/>
                  <a:gd name="T29" fmla="*/ 5 h 72"/>
                  <a:gd name="T30" fmla="*/ 166 w 181"/>
                  <a:gd name="T31" fmla="*/ 28 h 72"/>
                  <a:gd name="T32" fmla="*/ 166 w 181"/>
                  <a:gd name="T33" fmla="*/ 55 h 72"/>
                  <a:gd name="T34" fmla="*/ 171 w 181"/>
                  <a:gd name="T35" fmla="*/ 55 h 72"/>
                  <a:gd name="T36" fmla="*/ 178 w 181"/>
                  <a:gd name="T37" fmla="*/ 65 h 72"/>
                  <a:gd name="T38" fmla="*/ 174 w 181"/>
                  <a:gd name="T39" fmla="*/ 72 h 72"/>
                  <a:gd name="T40" fmla="*/ 58 w 181"/>
                  <a:gd name="T41" fmla="*/ 72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81" h="72">
                    <a:moveTo>
                      <a:pt x="58" y="72"/>
                    </a:moveTo>
                    <a:cubicBezTo>
                      <a:pt x="8" y="72"/>
                      <a:pt x="8" y="72"/>
                      <a:pt x="8" y="72"/>
                    </a:cubicBezTo>
                    <a:cubicBezTo>
                      <a:pt x="3" y="63"/>
                      <a:pt x="3" y="63"/>
                      <a:pt x="3" y="63"/>
                    </a:cubicBezTo>
                    <a:cubicBezTo>
                      <a:pt x="6" y="63"/>
                      <a:pt x="6" y="63"/>
                      <a:pt x="6" y="63"/>
                    </a:cubicBezTo>
                    <a:cubicBezTo>
                      <a:pt x="7" y="61"/>
                      <a:pt x="10" y="57"/>
                      <a:pt x="11" y="55"/>
                    </a:cubicBezTo>
                    <a:cubicBezTo>
                      <a:pt x="12" y="55"/>
                      <a:pt x="13" y="55"/>
                      <a:pt x="14" y="55"/>
                    </a:cubicBezTo>
                    <a:cubicBezTo>
                      <a:pt x="14" y="45"/>
                      <a:pt x="14" y="39"/>
                      <a:pt x="14" y="29"/>
                    </a:cubicBezTo>
                    <a:cubicBezTo>
                      <a:pt x="6" y="25"/>
                      <a:pt x="0" y="19"/>
                      <a:pt x="0" y="4"/>
                    </a:cubicBezTo>
                    <a:cubicBezTo>
                      <a:pt x="13" y="19"/>
                      <a:pt x="25" y="20"/>
                      <a:pt x="30" y="0"/>
                    </a:cubicBezTo>
                    <a:cubicBezTo>
                      <a:pt x="40" y="22"/>
                      <a:pt x="50" y="16"/>
                      <a:pt x="58" y="8"/>
                    </a:cubicBezTo>
                    <a:cubicBezTo>
                      <a:pt x="59" y="17"/>
                      <a:pt x="51" y="24"/>
                      <a:pt x="51" y="25"/>
                    </a:cubicBezTo>
                    <a:cubicBezTo>
                      <a:pt x="131" y="25"/>
                      <a:pt x="131" y="25"/>
                      <a:pt x="131" y="25"/>
                    </a:cubicBezTo>
                    <a:cubicBezTo>
                      <a:pt x="128" y="21"/>
                      <a:pt x="123" y="15"/>
                      <a:pt x="122" y="8"/>
                    </a:cubicBezTo>
                    <a:cubicBezTo>
                      <a:pt x="131" y="18"/>
                      <a:pt x="141" y="23"/>
                      <a:pt x="150" y="0"/>
                    </a:cubicBezTo>
                    <a:cubicBezTo>
                      <a:pt x="160" y="23"/>
                      <a:pt x="169" y="16"/>
                      <a:pt x="181" y="5"/>
                    </a:cubicBezTo>
                    <a:cubicBezTo>
                      <a:pt x="178" y="23"/>
                      <a:pt x="174" y="23"/>
                      <a:pt x="166" y="28"/>
                    </a:cubicBezTo>
                    <a:cubicBezTo>
                      <a:pt x="166" y="38"/>
                      <a:pt x="166" y="45"/>
                      <a:pt x="166" y="55"/>
                    </a:cubicBezTo>
                    <a:cubicBezTo>
                      <a:pt x="168" y="55"/>
                      <a:pt x="169" y="55"/>
                      <a:pt x="171" y="55"/>
                    </a:cubicBezTo>
                    <a:cubicBezTo>
                      <a:pt x="178" y="65"/>
                      <a:pt x="178" y="65"/>
                      <a:pt x="178" y="65"/>
                    </a:cubicBezTo>
                    <a:cubicBezTo>
                      <a:pt x="174" y="72"/>
                      <a:pt x="174" y="72"/>
                      <a:pt x="174" y="72"/>
                    </a:cubicBezTo>
                    <a:lnTo>
                      <a:pt x="58" y="7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20" name="iş1ïďe">
                <a:extLst>
                  <a:ext uri="{FF2B5EF4-FFF2-40B4-BE49-F238E27FC236}">
                    <a16:creationId xmlns:a16="http://schemas.microsoft.com/office/drawing/2014/main" id="{51EDB429-2156-31E1-65FE-9C61BED567FC}"/>
                  </a:ext>
                </a:extLst>
              </p:cNvPr>
              <p:cNvSpPr/>
              <p:nvPr/>
            </p:nvSpPr>
            <p:spPr bwMode="auto">
              <a:xfrm>
                <a:off x="3624263" y="3381375"/>
                <a:ext cx="577850" cy="200025"/>
              </a:xfrm>
              <a:custGeom>
                <a:avLst/>
                <a:gdLst>
                  <a:gd name="T0" fmla="*/ 130 w 175"/>
                  <a:gd name="T1" fmla="*/ 51 h 60"/>
                  <a:gd name="T2" fmla="*/ 130 w 175"/>
                  <a:gd name="T3" fmla="*/ 50 h 60"/>
                  <a:gd name="T4" fmla="*/ 48 w 175"/>
                  <a:gd name="T5" fmla="*/ 50 h 60"/>
                  <a:gd name="T6" fmla="*/ 48 w 175"/>
                  <a:gd name="T7" fmla="*/ 51 h 60"/>
                  <a:gd name="T8" fmla="*/ 52 w 175"/>
                  <a:gd name="T9" fmla="*/ 51 h 60"/>
                  <a:gd name="T10" fmla="*/ 48 w 175"/>
                  <a:gd name="T11" fmla="*/ 60 h 60"/>
                  <a:gd name="T12" fmla="*/ 7 w 175"/>
                  <a:gd name="T13" fmla="*/ 60 h 60"/>
                  <a:gd name="T14" fmla="*/ 10 w 175"/>
                  <a:gd name="T15" fmla="*/ 54 h 60"/>
                  <a:gd name="T16" fmla="*/ 14 w 175"/>
                  <a:gd name="T17" fmla="*/ 54 h 60"/>
                  <a:gd name="T18" fmla="*/ 13 w 175"/>
                  <a:gd name="T19" fmla="*/ 25 h 60"/>
                  <a:gd name="T20" fmla="*/ 0 w 175"/>
                  <a:gd name="T21" fmla="*/ 7 h 60"/>
                  <a:gd name="T22" fmla="*/ 28 w 175"/>
                  <a:gd name="T23" fmla="*/ 0 h 60"/>
                  <a:gd name="T24" fmla="*/ 55 w 175"/>
                  <a:gd name="T25" fmla="*/ 7 h 60"/>
                  <a:gd name="T26" fmla="*/ 48 w 175"/>
                  <a:gd name="T27" fmla="*/ 22 h 60"/>
                  <a:gd name="T28" fmla="*/ 127 w 175"/>
                  <a:gd name="T29" fmla="*/ 22 h 60"/>
                  <a:gd name="T30" fmla="*/ 119 w 175"/>
                  <a:gd name="T31" fmla="*/ 7 h 60"/>
                  <a:gd name="T32" fmla="*/ 147 w 175"/>
                  <a:gd name="T33" fmla="*/ 0 h 60"/>
                  <a:gd name="T34" fmla="*/ 175 w 175"/>
                  <a:gd name="T35" fmla="*/ 7 h 60"/>
                  <a:gd name="T36" fmla="*/ 161 w 175"/>
                  <a:gd name="T37" fmla="*/ 24 h 60"/>
                  <a:gd name="T38" fmla="*/ 161 w 175"/>
                  <a:gd name="T39" fmla="*/ 53 h 60"/>
                  <a:gd name="T40" fmla="*/ 165 w 175"/>
                  <a:gd name="T41" fmla="*/ 53 h 60"/>
                  <a:gd name="T42" fmla="*/ 169 w 175"/>
                  <a:gd name="T43" fmla="*/ 60 h 60"/>
                  <a:gd name="T44" fmla="*/ 128 w 175"/>
                  <a:gd name="T45" fmla="*/ 60 h 60"/>
                  <a:gd name="T46" fmla="*/ 124 w 175"/>
                  <a:gd name="T47" fmla="*/ 51 h 60"/>
                  <a:gd name="T48" fmla="*/ 130 w 175"/>
                  <a:gd name="T49" fmla="*/ 51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75" h="60">
                    <a:moveTo>
                      <a:pt x="130" y="51"/>
                    </a:moveTo>
                    <a:cubicBezTo>
                      <a:pt x="130" y="50"/>
                      <a:pt x="130" y="50"/>
                      <a:pt x="130" y="50"/>
                    </a:cubicBezTo>
                    <a:cubicBezTo>
                      <a:pt x="48" y="50"/>
                      <a:pt x="48" y="50"/>
                      <a:pt x="48" y="50"/>
                    </a:cubicBezTo>
                    <a:cubicBezTo>
                      <a:pt x="48" y="51"/>
                      <a:pt x="48" y="51"/>
                      <a:pt x="48" y="51"/>
                    </a:cubicBezTo>
                    <a:cubicBezTo>
                      <a:pt x="52" y="51"/>
                      <a:pt x="52" y="51"/>
                      <a:pt x="52" y="51"/>
                    </a:cubicBezTo>
                    <a:cubicBezTo>
                      <a:pt x="48" y="60"/>
                      <a:pt x="48" y="60"/>
                      <a:pt x="48" y="60"/>
                    </a:cubicBezTo>
                    <a:cubicBezTo>
                      <a:pt x="34" y="60"/>
                      <a:pt x="20" y="60"/>
                      <a:pt x="7" y="60"/>
                    </a:cubicBezTo>
                    <a:cubicBezTo>
                      <a:pt x="8" y="58"/>
                      <a:pt x="9" y="56"/>
                      <a:pt x="10" y="54"/>
                    </a:cubicBezTo>
                    <a:cubicBezTo>
                      <a:pt x="11" y="54"/>
                      <a:pt x="12" y="54"/>
                      <a:pt x="14" y="54"/>
                    </a:cubicBezTo>
                    <a:cubicBezTo>
                      <a:pt x="14" y="44"/>
                      <a:pt x="13" y="34"/>
                      <a:pt x="13" y="25"/>
                    </a:cubicBezTo>
                    <a:cubicBezTo>
                      <a:pt x="5" y="20"/>
                      <a:pt x="1" y="14"/>
                      <a:pt x="0" y="7"/>
                    </a:cubicBezTo>
                    <a:cubicBezTo>
                      <a:pt x="12" y="18"/>
                      <a:pt x="22" y="17"/>
                      <a:pt x="28" y="0"/>
                    </a:cubicBezTo>
                    <a:cubicBezTo>
                      <a:pt x="37" y="22"/>
                      <a:pt x="47" y="15"/>
                      <a:pt x="55" y="7"/>
                    </a:cubicBezTo>
                    <a:cubicBezTo>
                      <a:pt x="55" y="14"/>
                      <a:pt x="50" y="17"/>
                      <a:pt x="48" y="22"/>
                    </a:cubicBezTo>
                    <a:cubicBezTo>
                      <a:pt x="127" y="22"/>
                      <a:pt x="127" y="22"/>
                      <a:pt x="127" y="22"/>
                    </a:cubicBezTo>
                    <a:cubicBezTo>
                      <a:pt x="125" y="18"/>
                      <a:pt x="120" y="14"/>
                      <a:pt x="119" y="7"/>
                    </a:cubicBezTo>
                    <a:cubicBezTo>
                      <a:pt x="127" y="15"/>
                      <a:pt x="137" y="22"/>
                      <a:pt x="147" y="0"/>
                    </a:cubicBezTo>
                    <a:cubicBezTo>
                      <a:pt x="153" y="17"/>
                      <a:pt x="163" y="18"/>
                      <a:pt x="175" y="7"/>
                    </a:cubicBezTo>
                    <a:cubicBezTo>
                      <a:pt x="173" y="14"/>
                      <a:pt x="169" y="19"/>
                      <a:pt x="161" y="24"/>
                    </a:cubicBezTo>
                    <a:cubicBezTo>
                      <a:pt x="161" y="34"/>
                      <a:pt x="161" y="44"/>
                      <a:pt x="161" y="53"/>
                    </a:cubicBezTo>
                    <a:cubicBezTo>
                      <a:pt x="162" y="53"/>
                      <a:pt x="164" y="53"/>
                      <a:pt x="165" y="53"/>
                    </a:cubicBezTo>
                    <a:cubicBezTo>
                      <a:pt x="166" y="55"/>
                      <a:pt x="167" y="58"/>
                      <a:pt x="169" y="60"/>
                    </a:cubicBezTo>
                    <a:cubicBezTo>
                      <a:pt x="155" y="60"/>
                      <a:pt x="142" y="60"/>
                      <a:pt x="128" y="60"/>
                    </a:cubicBezTo>
                    <a:cubicBezTo>
                      <a:pt x="124" y="51"/>
                      <a:pt x="124" y="51"/>
                      <a:pt x="124" y="51"/>
                    </a:cubicBezTo>
                    <a:lnTo>
                      <a:pt x="130" y="51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21" name="ïṩḷíḍé">
                <a:extLst>
                  <a:ext uri="{FF2B5EF4-FFF2-40B4-BE49-F238E27FC236}">
                    <a16:creationId xmlns:a16="http://schemas.microsoft.com/office/drawing/2014/main" id="{C590065B-1EB9-F92E-D366-06C7C06B98BC}"/>
                  </a:ext>
                </a:extLst>
              </p:cNvPr>
              <p:cNvSpPr/>
              <p:nvPr/>
            </p:nvSpPr>
            <p:spPr bwMode="auto">
              <a:xfrm>
                <a:off x="4065588" y="3490913"/>
                <a:ext cx="17463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22" name="ïśľíḍè">
                <a:extLst>
                  <a:ext uri="{FF2B5EF4-FFF2-40B4-BE49-F238E27FC236}">
                    <a16:creationId xmlns:a16="http://schemas.microsoft.com/office/drawing/2014/main" id="{69C585A1-9C28-75C5-C5D6-B3108EEC5C36}"/>
                  </a:ext>
                </a:extLst>
              </p:cNvPr>
              <p:cNvSpPr/>
              <p:nvPr/>
            </p:nvSpPr>
            <p:spPr bwMode="auto">
              <a:xfrm>
                <a:off x="3740151" y="3490913"/>
                <a:ext cx="1587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23" name="í$ḻîḋè">
                <a:extLst>
                  <a:ext uri="{FF2B5EF4-FFF2-40B4-BE49-F238E27FC236}">
                    <a16:creationId xmlns:a16="http://schemas.microsoft.com/office/drawing/2014/main" id="{B30FCF56-005F-729C-CFBA-F55FCA78EF1B}"/>
                  </a:ext>
                </a:extLst>
              </p:cNvPr>
              <p:cNvSpPr/>
              <p:nvPr/>
            </p:nvSpPr>
            <p:spPr bwMode="auto">
              <a:xfrm>
                <a:off x="4125913" y="3490913"/>
                <a:ext cx="1587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24" name="iṣļíḋe">
                <a:extLst>
                  <a:ext uri="{FF2B5EF4-FFF2-40B4-BE49-F238E27FC236}">
                    <a16:creationId xmlns:a16="http://schemas.microsoft.com/office/drawing/2014/main" id="{45B32116-40BD-E0E3-EA17-F8E022DFA21F}"/>
                  </a:ext>
                </a:extLst>
              </p:cNvPr>
              <p:cNvSpPr/>
              <p:nvPr/>
            </p:nvSpPr>
            <p:spPr bwMode="auto">
              <a:xfrm>
                <a:off x="3709988" y="3490913"/>
                <a:ext cx="15875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25" name="iṩḷiḓé">
                <a:extLst>
                  <a:ext uri="{FF2B5EF4-FFF2-40B4-BE49-F238E27FC236}">
                    <a16:creationId xmlns:a16="http://schemas.microsoft.com/office/drawing/2014/main" id="{CD6EEB63-0B59-DD4D-D1D3-36A2893242E2}"/>
                  </a:ext>
                </a:extLst>
              </p:cNvPr>
              <p:cNvSpPr/>
              <p:nvPr/>
            </p:nvSpPr>
            <p:spPr bwMode="auto">
              <a:xfrm>
                <a:off x="4095751" y="3490913"/>
                <a:ext cx="17463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26" name="iSľiḍè">
                <a:extLst>
                  <a:ext uri="{FF2B5EF4-FFF2-40B4-BE49-F238E27FC236}">
                    <a16:creationId xmlns:a16="http://schemas.microsoft.com/office/drawing/2014/main" id="{4561638F-4AFD-083B-425F-AA6DAE4E6414}"/>
                  </a:ext>
                </a:extLst>
              </p:cNvPr>
              <p:cNvSpPr/>
              <p:nvPr/>
            </p:nvSpPr>
            <p:spPr bwMode="auto">
              <a:xfrm>
                <a:off x="3663951" y="3460750"/>
                <a:ext cx="495300" cy="317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27" name="ïṩḷîḍe">
                <a:extLst>
                  <a:ext uri="{FF2B5EF4-FFF2-40B4-BE49-F238E27FC236}">
                    <a16:creationId xmlns:a16="http://schemas.microsoft.com/office/drawing/2014/main" id="{EBF7CC77-0EA4-413B-3982-7988968F8056}"/>
                  </a:ext>
                </a:extLst>
              </p:cNvPr>
              <p:cNvSpPr/>
              <p:nvPr/>
            </p:nvSpPr>
            <p:spPr bwMode="auto">
              <a:xfrm>
                <a:off x="3663951" y="3473450"/>
                <a:ext cx="115888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28" name="íšḻiḑê">
                <a:extLst>
                  <a:ext uri="{FF2B5EF4-FFF2-40B4-BE49-F238E27FC236}">
                    <a16:creationId xmlns:a16="http://schemas.microsoft.com/office/drawing/2014/main" id="{FDC9BAB5-84B2-AF37-727E-3248A197F9D8}"/>
                  </a:ext>
                </a:extLst>
              </p:cNvPr>
              <p:cNvSpPr/>
              <p:nvPr/>
            </p:nvSpPr>
            <p:spPr bwMode="auto">
              <a:xfrm>
                <a:off x="3789363" y="3473450"/>
                <a:ext cx="4286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29" name="ïṩļïďè">
                <a:extLst>
                  <a:ext uri="{FF2B5EF4-FFF2-40B4-BE49-F238E27FC236}">
                    <a16:creationId xmlns:a16="http://schemas.microsoft.com/office/drawing/2014/main" id="{0223CA4E-5E22-18AB-1965-733B60881FCF}"/>
                  </a:ext>
                </a:extLst>
              </p:cNvPr>
              <p:cNvSpPr/>
              <p:nvPr/>
            </p:nvSpPr>
            <p:spPr bwMode="auto">
              <a:xfrm>
                <a:off x="3851276" y="3473450"/>
                <a:ext cx="57150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30" name="îṥlïḋê">
                <a:extLst>
                  <a:ext uri="{FF2B5EF4-FFF2-40B4-BE49-F238E27FC236}">
                    <a16:creationId xmlns:a16="http://schemas.microsoft.com/office/drawing/2014/main" id="{D60CEEAB-952A-355A-61C2-79F56F4ECEF9}"/>
                  </a:ext>
                </a:extLst>
              </p:cNvPr>
              <p:cNvSpPr/>
              <p:nvPr/>
            </p:nvSpPr>
            <p:spPr bwMode="auto">
              <a:xfrm>
                <a:off x="3917951" y="3473450"/>
                <a:ext cx="5556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31" name="îṧľïdè">
                <a:extLst>
                  <a:ext uri="{FF2B5EF4-FFF2-40B4-BE49-F238E27FC236}">
                    <a16:creationId xmlns:a16="http://schemas.microsoft.com/office/drawing/2014/main" id="{AAA0FAB7-A26F-515B-8EF1-A5D897D93BCC}"/>
                  </a:ext>
                </a:extLst>
              </p:cNvPr>
              <p:cNvSpPr/>
              <p:nvPr/>
            </p:nvSpPr>
            <p:spPr bwMode="auto">
              <a:xfrm>
                <a:off x="3994151" y="3473450"/>
                <a:ext cx="4286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32" name="iSḷîḓê">
                <a:extLst>
                  <a:ext uri="{FF2B5EF4-FFF2-40B4-BE49-F238E27FC236}">
                    <a16:creationId xmlns:a16="http://schemas.microsoft.com/office/drawing/2014/main" id="{6DAE7672-3ED5-0AA6-D5D3-892118FA5CCD}"/>
                  </a:ext>
                </a:extLst>
              </p:cNvPr>
              <p:cNvSpPr/>
              <p:nvPr/>
            </p:nvSpPr>
            <p:spPr bwMode="auto">
              <a:xfrm>
                <a:off x="4046538" y="3473450"/>
                <a:ext cx="112713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33" name="îślíďè">
                <a:extLst>
                  <a:ext uri="{FF2B5EF4-FFF2-40B4-BE49-F238E27FC236}">
                    <a16:creationId xmlns:a16="http://schemas.microsoft.com/office/drawing/2014/main" id="{3025F05B-C9AB-638F-5DF2-ED1725774BD1}"/>
                  </a:ext>
                </a:extLst>
              </p:cNvPr>
              <p:cNvSpPr/>
              <p:nvPr/>
            </p:nvSpPr>
            <p:spPr bwMode="auto">
              <a:xfrm>
                <a:off x="3979863" y="3473450"/>
                <a:ext cx="7938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34" name="iSḻïḍè">
                <a:extLst>
                  <a:ext uri="{FF2B5EF4-FFF2-40B4-BE49-F238E27FC236}">
                    <a16:creationId xmlns:a16="http://schemas.microsoft.com/office/drawing/2014/main" id="{D1E9D31C-3966-956A-CA8F-DC31D4E7D7B2}"/>
                  </a:ext>
                </a:extLst>
              </p:cNvPr>
              <p:cNvSpPr/>
              <p:nvPr/>
            </p:nvSpPr>
            <p:spPr bwMode="auto">
              <a:xfrm>
                <a:off x="3838576" y="3473450"/>
                <a:ext cx="6350" cy="4763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35" name="ïṡliḑê">
                <a:extLst>
                  <a:ext uri="{FF2B5EF4-FFF2-40B4-BE49-F238E27FC236}">
                    <a16:creationId xmlns:a16="http://schemas.microsoft.com/office/drawing/2014/main" id="{943D0F81-E94F-A4F0-D16C-778BC9A2FA31}"/>
                  </a:ext>
                </a:extLst>
              </p:cNvPr>
              <p:cNvSpPr/>
              <p:nvPr/>
            </p:nvSpPr>
            <p:spPr bwMode="auto">
              <a:xfrm>
                <a:off x="3851276" y="3384550"/>
                <a:ext cx="26988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36" name="islïďé">
                <a:extLst>
                  <a:ext uri="{FF2B5EF4-FFF2-40B4-BE49-F238E27FC236}">
                    <a16:creationId xmlns:a16="http://schemas.microsoft.com/office/drawing/2014/main" id="{3D33F3B8-5910-5C2F-4D50-F2D125ACD15D}"/>
                  </a:ext>
                </a:extLst>
              </p:cNvPr>
              <p:cNvSpPr/>
              <p:nvPr/>
            </p:nvSpPr>
            <p:spPr bwMode="auto">
              <a:xfrm>
                <a:off x="3817938" y="3384550"/>
                <a:ext cx="26988" cy="15875"/>
              </a:xfrm>
              <a:custGeom>
                <a:avLst/>
                <a:gdLst>
                  <a:gd name="T0" fmla="*/ 7 w 8"/>
                  <a:gd name="T1" fmla="*/ 0 h 5"/>
                  <a:gd name="T2" fmla="*/ 8 w 8"/>
                  <a:gd name="T3" fmla="*/ 2 h 5"/>
                  <a:gd name="T4" fmla="*/ 1 w 8"/>
                  <a:gd name="T5" fmla="*/ 5 h 5"/>
                  <a:gd name="T6" fmla="*/ 7 w 8"/>
                  <a:gd name="T7" fmla="*/ 0 h 5"/>
                  <a:gd name="T8" fmla="*/ 7 w 8"/>
                  <a:gd name="T9" fmla="*/ 0 h 5"/>
                  <a:gd name="T10" fmla="*/ 7 w 8"/>
                  <a:gd name="T11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5">
                    <a:moveTo>
                      <a:pt x="7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1" y="5"/>
                      <a:pt x="0" y="2"/>
                      <a:pt x="7" y="0"/>
                    </a:cubicBezTo>
                    <a:close/>
                    <a:moveTo>
                      <a:pt x="7" y="0"/>
                    </a:moveTo>
                    <a:cubicBezTo>
                      <a:pt x="7" y="0"/>
                      <a:pt x="7" y="0"/>
                      <a:pt x="7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37" name="îṥḷîdé">
                <a:extLst>
                  <a:ext uri="{FF2B5EF4-FFF2-40B4-BE49-F238E27FC236}">
                    <a16:creationId xmlns:a16="http://schemas.microsoft.com/office/drawing/2014/main" id="{69633B73-0764-EBDE-4E4F-26387A2753E1}"/>
                  </a:ext>
                </a:extLst>
              </p:cNvPr>
              <p:cNvSpPr/>
              <p:nvPr/>
            </p:nvSpPr>
            <p:spPr bwMode="auto">
              <a:xfrm>
                <a:off x="3983038" y="3384550"/>
                <a:ext cx="26988" cy="15875"/>
              </a:xfrm>
              <a:custGeom>
                <a:avLst/>
                <a:gdLst>
                  <a:gd name="T0" fmla="*/ 1 w 8"/>
                  <a:gd name="T1" fmla="*/ 0 h 5"/>
                  <a:gd name="T2" fmla="*/ 0 w 8"/>
                  <a:gd name="T3" fmla="*/ 2 h 5"/>
                  <a:gd name="T4" fmla="*/ 7 w 8"/>
                  <a:gd name="T5" fmla="*/ 5 h 5"/>
                  <a:gd name="T6" fmla="*/ 1 w 8"/>
                  <a:gd name="T7" fmla="*/ 0 h 5"/>
                  <a:gd name="T8" fmla="*/ 1 w 8"/>
                  <a:gd name="T9" fmla="*/ 0 h 5"/>
                  <a:gd name="T10" fmla="*/ 1 w 8"/>
                  <a:gd name="T11" fmla="*/ 0 h 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5">
                    <a:moveTo>
                      <a:pt x="1" y="0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7" y="5"/>
                      <a:pt x="7" y="5"/>
                      <a:pt x="7" y="5"/>
                    </a:cubicBezTo>
                    <a:cubicBezTo>
                      <a:pt x="7" y="5"/>
                      <a:pt x="8" y="2"/>
                      <a:pt x="1" y="0"/>
                    </a:cubicBezTo>
                    <a:close/>
                    <a:moveTo>
                      <a:pt x="1" y="0"/>
                    </a:moveTo>
                    <a:cubicBezTo>
                      <a:pt x="1" y="0"/>
                      <a:pt x="1" y="0"/>
                      <a:pt x="1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38" name="isḷîḋé">
                <a:extLst>
                  <a:ext uri="{FF2B5EF4-FFF2-40B4-BE49-F238E27FC236}">
                    <a16:creationId xmlns:a16="http://schemas.microsoft.com/office/drawing/2014/main" id="{E232CCF2-1141-BB21-9263-5598FFE4E950}"/>
                  </a:ext>
                </a:extLst>
              </p:cNvPr>
              <p:cNvSpPr/>
              <p:nvPr/>
            </p:nvSpPr>
            <p:spPr bwMode="auto">
              <a:xfrm>
                <a:off x="3884613" y="3384550"/>
                <a:ext cx="26988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39" name="iśḷïḑè">
                <a:extLst>
                  <a:ext uri="{FF2B5EF4-FFF2-40B4-BE49-F238E27FC236}">
                    <a16:creationId xmlns:a16="http://schemas.microsoft.com/office/drawing/2014/main" id="{507234B5-EE72-7252-F372-B9DAE162EFB0}"/>
                  </a:ext>
                </a:extLst>
              </p:cNvPr>
              <p:cNvSpPr/>
              <p:nvPr/>
            </p:nvSpPr>
            <p:spPr bwMode="auto">
              <a:xfrm>
                <a:off x="3917951" y="3384550"/>
                <a:ext cx="25400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40" name="iṧľiďé">
                <a:extLst>
                  <a:ext uri="{FF2B5EF4-FFF2-40B4-BE49-F238E27FC236}">
                    <a16:creationId xmlns:a16="http://schemas.microsoft.com/office/drawing/2014/main" id="{48F280CA-B4CF-8DDA-B13C-3A5BA99BC39D}"/>
                  </a:ext>
                </a:extLst>
              </p:cNvPr>
              <p:cNvSpPr/>
              <p:nvPr/>
            </p:nvSpPr>
            <p:spPr bwMode="auto">
              <a:xfrm>
                <a:off x="3951288" y="3384550"/>
                <a:ext cx="25400" cy="6350"/>
              </a:xfrm>
              <a:custGeom>
                <a:avLst/>
                <a:gdLst>
                  <a:gd name="T0" fmla="*/ 8 w 8"/>
                  <a:gd name="T1" fmla="*/ 0 h 2"/>
                  <a:gd name="T2" fmla="*/ 8 w 8"/>
                  <a:gd name="T3" fmla="*/ 2 h 2"/>
                  <a:gd name="T4" fmla="*/ 0 w 8"/>
                  <a:gd name="T5" fmla="*/ 2 h 2"/>
                  <a:gd name="T6" fmla="*/ 8 w 8"/>
                  <a:gd name="T7" fmla="*/ 0 h 2"/>
                  <a:gd name="T8" fmla="*/ 8 w 8"/>
                  <a:gd name="T9" fmla="*/ 0 h 2"/>
                  <a:gd name="T10" fmla="*/ 8 w 8"/>
                  <a:gd name="T11" fmla="*/ 0 h 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" h="2">
                    <a:moveTo>
                      <a:pt x="8" y="0"/>
                    </a:moveTo>
                    <a:cubicBezTo>
                      <a:pt x="8" y="2"/>
                      <a:pt x="8" y="2"/>
                      <a:pt x="8" y="2"/>
                    </a:cubicBezTo>
                    <a:cubicBezTo>
                      <a:pt x="0" y="2"/>
                      <a:pt x="0" y="2"/>
                      <a:pt x="0" y="2"/>
                    </a:cubicBezTo>
                    <a:cubicBezTo>
                      <a:pt x="0" y="2"/>
                      <a:pt x="0" y="0"/>
                      <a:pt x="8" y="0"/>
                    </a:cubicBezTo>
                    <a:close/>
                    <a:moveTo>
                      <a:pt x="8" y="0"/>
                    </a:moveTo>
                    <a:cubicBezTo>
                      <a:pt x="8" y="0"/>
                      <a:pt x="8" y="0"/>
                      <a:pt x="8" y="0"/>
                    </a:cubicBezTo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41" name="išľïḍé">
                <a:extLst>
                  <a:ext uri="{FF2B5EF4-FFF2-40B4-BE49-F238E27FC236}">
                    <a16:creationId xmlns:a16="http://schemas.microsoft.com/office/drawing/2014/main" id="{8A3CC313-3D24-2496-BF7C-33690A6AF75E}"/>
                  </a:ext>
                </a:extLst>
              </p:cNvPr>
              <p:cNvSpPr/>
              <p:nvPr/>
            </p:nvSpPr>
            <p:spPr bwMode="auto">
              <a:xfrm>
                <a:off x="3771901" y="3484563"/>
                <a:ext cx="7938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42" name="îŝlîḑè">
                <a:extLst>
                  <a:ext uri="{FF2B5EF4-FFF2-40B4-BE49-F238E27FC236}">
                    <a16:creationId xmlns:a16="http://schemas.microsoft.com/office/drawing/2014/main" id="{A6C023BA-9F85-3122-150B-3417D0AC4D6C}"/>
                  </a:ext>
                </a:extLst>
              </p:cNvPr>
              <p:cNvSpPr/>
              <p:nvPr/>
            </p:nvSpPr>
            <p:spPr bwMode="auto">
              <a:xfrm>
                <a:off x="3786188" y="3484563"/>
                <a:ext cx="46038" cy="60325"/>
              </a:xfrm>
              <a:custGeom>
                <a:avLst/>
                <a:gdLst>
                  <a:gd name="T0" fmla="*/ 8 w 29"/>
                  <a:gd name="T1" fmla="*/ 0 h 38"/>
                  <a:gd name="T2" fmla="*/ 20 w 29"/>
                  <a:gd name="T3" fmla="*/ 0 h 38"/>
                  <a:gd name="T4" fmla="*/ 29 w 29"/>
                  <a:gd name="T5" fmla="*/ 8 h 38"/>
                  <a:gd name="T6" fmla="*/ 29 w 29"/>
                  <a:gd name="T7" fmla="*/ 38 h 38"/>
                  <a:gd name="T8" fmla="*/ 0 w 29"/>
                  <a:gd name="T9" fmla="*/ 38 h 38"/>
                  <a:gd name="T10" fmla="*/ 0 w 29"/>
                  <a:gd name="T11" fmla="*/ 8 h 38"/>
                  <a:gd name="T12" fmla="*/ 8 w 29"/>
                  <a:gd name="T13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38">
                    <a:moveTo>
                      <a:pt x="8" y="0"/>
                    </a:moveTo>
                    <a:lnTo>
                      <a:pt x="20" y="0"/>
                    </a:lnTo>
                    <a:lnTo>
                      <a:pt x="29" y="8"/>
                    </a:lnTo>
                    <a:lnTo>
                      <a:pt x="29" y="38"/>
                    </a:lnTo>
                    <a:lnTo>
                      <a:pt x="0" y="38"/>
                    </a:lnTo>
                    <a:lnTo>
                      <a:pt x="0" y="8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43" name="îṩḻíḓe">
                <a:extLst>
                  <a:ext uri="{FF2B5EF4-FFF2-40B4-BE49-F238E27FC236}">
                    <a16:creationId xmlns:a16="http://schemas.microsoft.com/office/drawing/2014/main" id="{24D651F1-BDCC-23C8-0206-108CD7ABF534}"/>
                  </a:ext>
                </a:extLst>
              </p:cNvPr>
              <p:cNvSpPr/>
              <p:nvPr/>
            </p:nvSpPr>
            <p:spPr bwMode="auto">
              <a:xfrm>
                <a:off x="3994151" y="3484563"/>
                <a:ext cx="46038" cy="60325"/>
              </a:xfrm>
              <a:custGeom>
                <a:avLst/>
                <a:gdLst>
                  <a:gd name="T0" fmla="*/ 8 w 29"/>
                  <a:gd name="T1" fmla="*/ 0 h 38"/>
                  <a:gd name="T2" fmla="*/ 18 w 29"/>
                  <a:gd name="T3" fmla="*/ 0 h 38"/>
                  <a:gd name="T4" fmla="*/ 29 w 29"/>
                  <a:gd name="T5" fmla="*/ 8 h 38"/>
                  <a:gd name="T6" fmla="*/ 29 w 29"/>
                  <a:gd name="T7" fmla="*/ 38 h 38"/>
                  <a:gd name="T8" fmla="*/ 0 w 29"/>
                  <a:gd name="T9" fmla="*/ 38 h 38"/>
                  <a:gd name="T10" fmla="*/ 0 w 29"/>
                  <a:gd name="T11" fmla="*/ 8 h 38"/>
                  <a:gd name="T12" fmla="*/ 8 w 29"/>
                  <a:gd name="T13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38">
                    <a:moveTo>
                      <a:pt x="8" y="0"/>
                    </a:moveTo>
                    <a:lnTo>
                      <a:pt x="18" y="0"/>
                    </a:lnTo>
                    <a:lnTo>
                      <a:pt x="29" y="8"/>
                    </a:lnTo>
                    <a:lnTo>
                      <a:pt x="29" y="38"/>
                    </a:lnTo>
                    <a:lnTo>
                      <a:pt x="0" y="38"/>
                    </a:lnTo>
                    <a:lnTo>
                      <a:pt x="0" y="8"/>
                    </a:lnTo>
                    <a:lnTo>
                      <a:pt x="8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44" name="î$1îdè">
                <a:extLst>
                  <a:ext uri="{FF2B5EF4-FFF2-40B4-BE49-F238E27FC236}">
                    <a16:creationId xmlns:a16="http://schemas.microsoft.com/office/drawing/2014/main" id="{E04388FD-D7D6-B423-2CF6-4D9DD3C0E6F0}"/>
                  </a:ext>
                </a:extLst>
              </p:cNvPr>
              <p:cNvSpPr/>
              <p:nvPr/>
            </p:nvSpPr>
            <p:spPr bwMode="auto">
              <a:xfrm>
                <a:off x="3851276" y="3484563"/>
                <a:ext cx="122238" cy="60325"/>
              </a:xfrm>
              <a:custGeom>
                <a:avLst/>
                <a:gdLst>
                  <a:gd name="T0" fmla="*/ 9 w 77"/>
                  <a:gd name="T1" fmla="*/ 0 h 38"/>
                  <a:gd name="T2" fmla="*/ 69 w 77"/>
                  <a:gd name="T3" fmla="*/ 0 h 38"/>
                  <a:gd name="T4" fmla="*/ 77 w 77"/>
                  <a:gd name="T5" fmla="*/ 8 h 38"/>
                  <a:gd name="T6" fmla="*/ 77 w 77"/>
                  <a:gd name="T7" fmla="*/ 38 h 38"/>
                  <a:gd name="T8" fmla="*/ 0 w 77"/>
                  <a:gd name="T9" fmla="*/ 38 h 38"/>
                  <a:gd name="T10" fmla="*/ 0 w 77"/>
                  <a:gd name="T11" fmla="*/ 8 h 38"/>
                  <a:gd name="T12" fmla="*/ 9 w 77"/>
                  <a:gd name="T13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7" h="38">
                    <a:moveTo>
                      <a:pt x="9" y="0"/>
                    </a:moveTo>
                    <a:lnTo>
                      <a:pt x="69" y="0"/>
                    </a:lnTo>
                    <a:lnTo>
                      <a:pt x="77" y="8"/>
                    </a:lnTo>
                    <a:lnTo>
                      <a:pt x="77" y="38"/>
                    </a:lnTo>
                    <a:lnTo>
                      <a:pt x="0" y="38"/>
                    </a:lnTo>
                    <a:lnTo>
                      <a:pt x="0" y="8"/>
                    </a:lnTo>
                    <a:lnTo>
                      <a:pt x="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45" name="iśľïḓe">
                <a:extLst>
                  <a:ext uri="{FF2B5EF4-FFF2-40B4-BE49-F238E27FC236}">
                    <a16:creationId xmlns:a16="http://schemas.microsoft.com/office/drawing/2014/main" id="{FE656554-FAE5-75E4-8310-F4D3AA1856C4}"/>
                  </a:ext>
                </a:extLst>
              </p:cNvPr>
              <p:cNvSpPr/>
              <p:nvPr/>
            </p:nvSpPr>
            <p:spPr bwMode="auto">
              <a:xfrm>
                <a:off x="4046538" y="3484563"/>
                <a:ext cx="6350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46" name="iṣļïḑè">
                <a:extLst>
                  <a:ext uri="{FF2B5EF4-FFF2-40B4-BE49-F238E27FC236}">
                    <a16:creationId xmlns:a16="http://schemas.microsoft.com/office/drawing/2014/main" id="{F9FE8321-0C80-9302-3284-633A8E4C793D}"/>
                  </a:ext>
                </a:extLst>
              </p:cNvPr>
              <p:cNvSpPr/>
              <p:nvPr/>
            </p:nvSpPr>
            <p:spPr bwMode="auto">
              <a:xfrm>
                <a:off x="3838576" y="3484563"/>
                <a:ext cx="6350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47" name="iṡḷidé">
                <a:extLst>
                  <a:ext uri="{FF2B5EF4-FFF2-40B4-BE49-F238E27FC236}">
                    <a16:creationId xmlns:a16="http://schemas.microsoft.com/office/drawing/2014/main" id="{1B64788A-96C8-8F5B-8CBA-C2FE282D9479}"/>
                  </a:ext>
                </a:extLst>
              </p:cNvPr>
              <p:cNvSpPr/>
              <p:nvPr/>
            </p:nvSpPr>
            <p:spPr bwMode="auto">
              <a:xfrm>
                <a:off x="3979863" y="3484563"/>
                <a:ext cx="3175" cy="60325"/>
              </a:xfrm>
              <a:prstGeom prst="rect">
                <a:avLst/>
              </a:prstGeom>
              <a:solidFill>
                <a:srgbClr val="FFFFFF"/>
              </a:solidFill>
              <a:ln w="0" cap="flat">
                <a:solidFill>
                  <a:srgbClr val="FFFFFF"/>
                </a:solidFill>
                <a:prstDash val="solid"/>
                <a:miter lim="800000"/>
              </a:ln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48" name="íṡḷíḋe">
                <a:extLst>
                  <a:ext uri="{FF2B5EF4-FFF2-40B4-BE49-F238E27FC236}">
                    <a16:creationId xmlns:a16="http://schemas.microsoft.com/office/drawing/2014/main" id="{9FFF8E5B-8CCD-6F37-E094-BB5579E001FA}"/>
                  </a:ext>
                </a:extLst>
              </p:cNvPr>
              <p:cNvSpPr/>
              <p:nvPr/>
            </p:nvSpPr>
            <p:spPr bwMode="auto">
              <a:xfrm>
                <a:off x="3811588" y="3551238"/>
                <a:ext cx="20478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49" name="íŝ1iḑê">
                <a:extLst>
                  <a:ext uri="{FF2B5EF4-FFF2-40B4-BE49-F238E27FC236}">
                    <a16:creationId xmlns:a16="http://schemas.microsoft.com/office/drawing/2014/main" id="{1615832C-E8D2-5B65-3A0E-F210D57AFD35}"/>
                  </a:ext>
                </a:extLst>
              </p:cNvPr>
              <p:cNvSpPr/>
              <p:nvPr/>
            </p:nvSpPr>
            <p:spPr bwMode="auto">
              <a:xfrm>
                <a:off x="3805238" y="3557588"/>
                <a:ext cx="214313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50" name="îṩḷiḑe">
                <a:extLst>
                  <a:ext uri="{FF2B5EF4-FFF2-40B4-BE49-F238E27FC236}">
                    <a16:creationId xmlns:a16="http://schemas.microsoft.com/office/drawing/2014/main" id="{45677F08-65E5-FBF2-87CF-B79AC346A5BA}"/>
                  </a:ext>
                </a:extLst>
              </p:cNvPr>
              <p:cNvSpPr/>
              <p:nvPr/>
            </p:nvSpPr>
            <p:spPr bwMode="auto">
              <a:xfrm>
                <a:off x="3802063" y="3567113"/>
                <a:ext cx="220663" cy="1588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51" name="iṧḻiḑê">
                <a:extLst>
                  <a:ext uri="{FF2B5EF4-FFF2-40B4-BE49-F238E27FC236}">
                    <a16:creationId xmlns:a16="http://schemas.microsoft.com/office/drawing/2014/main" id="{5A7433D2-E0A6-005E-E8B8-476DA0B103BF}"/>
                  </a:ext>
                </a:extLst>
              </p:cNvPr>
              <p:cNvSpPr/>
              <p:nvPr/>
            </p:nvSpPr>
            <p:spPr bwMode="auto">
              <a:xfrm>
                <a:off x="3802063" y="3570288"/>
                <a:ext cx="22383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52" name="ïṣḻîḋè">
                <a:extLst>
                  <a:ext uri="{FF2B5EF4-FFF2-40B4-BE49-F238E27FC236}">
                    <a16:creationId xmlns:a16="http://schemas.microsoft.com/office/drawing/2014/main" id="{1D592870-471E-9510-032D-FF0A869F80D5}"/>
                  </a:ext>
                </a:extLst>
              </p:cNvPr>
              <p:cNvSpPr/>
              <p:nvPr/>
            </p:nvSpPr>
            <p:spPr bwMode="auto">
              <a:xfrm>
                <a:off x="3795713" y="3581400"/>
                <a:ext cx="234950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53" name="îṡ1îḍé">
                <a:extLst>
                  <a:ext uri="{FF2B5EF4-FFF2-40B4-BE49-F238E27FC236}">
                    <a16:creationId xmlns:a16="http://schemas.microsoft.com/office/drawing/2014/main" id="{F2881167-C6C0-3D3C-CFB3-3551F7E3FE50}"/>
                  </a:ext>
                </a:extLst>
              </p:cNvPr>
              <p:cNvSpPr/>
              <p:nvPr/>
            </p:nvSpPr>
            <p:spPr bwMode="auto">
              <a:xfrm>
                <a:off x="3633788" y="3587750"/>
                <a:ext cx="560388" cy="6350"/>
              </a:xfrm>
              <a:custGeom>
                <a:avLst/>
                <a:gdLst>
                  <a:gd name="T0" fmla="*/ 0 w 353"/>
                  <a:gd name="T1" fmla="*/ 0 h 4"/>
                  <a:gd name="T2" fmla="*/ 353 w 353"/>
                  <a:gd name="T3" fmla="*/ 0 h 4"/>
                  <a:gd name="T4" fmla="*/ 351 w 353"/>
                  <a:gd name="T5" fmla="*/ 4 h 4"/>
                  <a:gd name="T6" fmla="*/ 2 w 353"/>
                  <a:gd name="T7" fmla="*/ 4 h 4"/>
                  <a:gd name="T8" fmla="*/ 0 w 353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53" h="4">
                    <a:moveTo>
                      <a:pt x="0" y="0"/>
                    </a:moveTo>
                    <a:lnTo>
                      <a:pt x="353" y="0"/>
                    </a:lnTo>
                    <a:lnTo>
                      <a:pt x="351" y="4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54" name="îš1íḑe">
                <a:extLst>
                  <a:ext uri="{FF2B5EF4-FFF2-40B4-BE49-F238E27FC236}">
                    <a16:creationId xmlns:a16="http://schemas.microsoft.com/office/drawing/2014/main" id="{36D970CA-88C8-7E8F-2DB0-9952116C379A}"/>
                  </a:ext>
                </a:extLst>
              </p:cNvPr>
              <p:cNvSpPr/>
              <p:nvPr/>
            </p:nvSpPr>
            <p:spPr bwMode="auto">
              <a:xfrm>
                <a:off x="3640138" y="3600450"/>
                <a:ext cx="547688" cy="6350"/>
              </a:xfrm>
              <a:custGeom>
                <a:avLst/>
                <a:gdLst>
                  <a:gd name="T0" fmla="*/ 0 w 345"/>
                  <a:gd name="T1" fmla="*/ 0 h 4"/>
                  <a:gd name="T2" fmla="*/ 345 w 345"/>
                  <a:gd name="T3" fmla="*/ 0 h 4"/>
                  <a:gd name="T4" fmla="*/ 343 w 345"/>
                  <a:gd name="T5" fmla="*/ 4 h 4"/>
                  <a:gd name="T6" fmla="*/ 2 w 345"/>
                  <a:gd name="T7" fmla="*/ 4 h 4"/>
                  <a:gd name="T8" fmla="*/ 0 w 345"/>
                  <a:gd name="T9" fmla="*/ 0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45" h="4">
                    <a:moveTo>
                      <a:pt x="0" y="0"/>
                    </a:moveTo>
                    <a:lnTo>
                      <a:pt x="345" y="0"/>
                    </a:lnTo>
                    <a:lnTo>
                      <a:pt x="343" y="4"/>
                    </a:lnTo>
                    <a:lnTo>
                      <a:pt x="2" y="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55" name="iš1ïḍe">
                <a:extLst>
                  <a:ext uri="{FF2B5EF4-FFF2-40B4-BE49-F238E27FC236}">
                    <a16:creationId xmlns:a16="http://schemas.microsoft.com/office/drawing/2014/main" id="{7441C9C1-F6DC-F176-67B9-52C618B15532}"/>
                  </a:ext>
                </a:extLst>
              </p:cNvPr>
              <p:cNvSpPr/>
              <p:nvPr/>
            </p:nvSpPr>
            <p:spPr bwMode="auto">
              <a:xfrm>
                <a:off x="3736976" y="3406775"/>
                <a:ext cx="352425" cy="4763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56" name="îSḻîde">
                <a:extLst>
                  <a:ext uri="{FF2B5EF4-FFF2-40B4-BE49-F238E27FC236}">
                    <a16:creationId xmlns:a16="http://schemas.microsoft.com/office/drawing/2014/main" id="{7EECB86D-593A-39E5-8002-117BC7CC4A05}"/>
                  </a:ext>
                </a:extLst>
              </p:cNvPr>
              <p:cNvSpPr/>
              <p:nvPr/>
            </p:nvSpPr>
            <p:spPr bwMode="auto">
              <a:xfrm>
                <a:off x="3746501" y="3417888"/>
                <a:ext cx="3333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57" name="î$ḻîḑé">
                <a:extLst>
                  <a:ext uri="{FF2B5EF4-FFF2-40B4-BE49-F238E27FC236}">
                    <a16:creationId xmlns:a16="http://schemas.microsoft.com/office/drawing/2014/main" id="{098DC500-7376-4FB7-32B6-9B6CD3532B9B}"/>
                  </a:ext>
                </a:extLst>
              </p:cNvPr>
              <p:cNvSpPr/>
              <p:nvPr/>
            </p:nvSpPr>
            <p:spPr bwMode="auto">
              <a:xfrm>
                <a:off x="3805238" y="3417888"/>
                <a:ext cx="211138" cy="1588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58" name="íŝļïḓe">
                <a:extLst>
                  <a:ext uri="{FF2B5EF4-FFF2-40B4-BE49-F238E27FC236}">
                    <a16:creationId xmlns:a16="http://schemas.microsoft.com/office/drawing/2014/main" id="{17DA752A-198D-1BA8-5A9E-9E5E2290A5AA}"/>
                  </a:ext>
                </a:extLst>
              </p:cNvPr>
              <p:cNvSpPr/>
              <p:nvPr/>
            </p:nvSpPr>
            <p:spPr bwMode="auto">
              <a:xfrm>
                <a:off x="3811588" y="3421063"/>
                <a:ext cx="3175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59" name="îS1iḍé">
                <a:extLst>
                  <a:ext uri="{FF2B5EF4-FFF2-40B4-BE49-F238E27FC236}">
                    <a16:creationId xmlns:a16="http://schemas.microsoft.com/office/drawing/2014/main" id="{C7ABE6FC-E82F-3D5F-00AB-42657D1159CB}"/>
                  </a:ext>
                </a:extLst>
              </p:cNvPr>
              <p:cNvSpPr/>
              <p:nvPr/>
            </p:nvSpPr>
            <p:spPr bwMode="auto">
              <a:xfrm>
                <a:off x="3802063" y="3421063"/>
                <a:ext cx="3175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60" name="išlïdé">
                <a:extLst>
                  <a:ext uri="{FF2B5EF4-FFF2-40B4-BE49-F238E27FC236}">
                    <a16:creationId xmlns:a16="http://schemas.microsoft.com/office/drawing/2014/main" id="{98450C07-B1CB-6249-EF14-E85249CC524D}"/>
                  </a:ext>
                </a:extLst>
              </p:cNvPr>
              <p:cNvSpPr/>
              <p:nvPr/>
            </p:nvSpPr>
            <p:spPr bwMode="auto">
              <a:xfrm>
                <a:off x="3789363" y="3421063"/>
                <a:ext cx="6350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61" name="ïSlïde">
                <a:extLst>
                  <a:ext uri="{FF2B5EF4-FFF2-40B4-BE49-F238E27FC236}">
                    <a16:creationId xmlns:a16="http://schemas.microsoft.com/office/drawing/2014/main" id="{7B615071-0CCE-0EEF-494E-D0D506EB65D9}"/>
                  </a:ext>
                </a:extLst>
              </p:cNvPr>
              <p:cNvSpPr/>
              <p:nvPr/>
            </p:nvSpPr>
            <p:spPr bwMode="auto">
              <a:xfrm>
                <a:off x="3822701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62" name="îşľïďe">
                <a:extLst>
                  <a:ext uri="{FF2B5EF4-FFF2-40B4-BE49-F238E27FC236}">
                    <a16:creationId xmlns:a16="http://schemas.microsoft.com/office/drawing/2014/main" id="{1C636F3C-A6A0-4D5C-EC3B-26DD0D0E49E2}"/>
                  </a:ext>
                </a:extLst>
              </p:cNvPr>
              <p:cNvSpPr/>
              <p:nvPr/>
            </p:nvSpPr>
            <p:spPr bwMode="auto">
              <a:xfrm>
                <a:off x="3832226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63" name="ïşľíďê">
                <a:extLst>
                  <a:ext uri="{FF2B5EF4-FFF2-40B4-BE49-F238E27FC236}">
                    <a16:creationId xmlns:a16="http://schemas.microsoft.com/office/drawing/2014/main" id="{B1092727-A2C9-2ECC-55E6-FCA5B96FBE2F}"/>
                  </a:ext>
                </a:extLst>
              </p:cNvPr>
              <p:cNvSpPr/>
              <p:nvPr/>
            </p:nvSpPr>
            <p:spPr bwMode="auto">
              <a:xfrm>
                <a:off x="3844926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64" name="íś1ïdè">
                <a:extLst>
                  <a:ext uri="{FF2B5EF4-FFF2-40B4-BE49-F238E27FC236}">
                    <a16:creationId xmlns:a16="http://schemas.microsoft.com/office/drawing/2014/main" id="{844248DE-9FBF-4C82-52BA-54BA2668C055}"/>
                  </a:ext>
                </a:extLst>
              </p:cNvPr>
              <p:cNvSpPr/>
              <p:nvPr/>
            </p:nvSpPr>
            <p:spPr bwMode="auto">
              <a:xfrm>
                <a:off x="3854451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0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65" name="iṩḷiḍe">
                <a:extLst>
                  <a:ext uri="{FF2B5EF4-FFF2-40B4-BE49-F238E27FC236}">
                    <a16:creationId xmlns:a16="http://schemas.microsoft.com/office/drawing/2014/main" id="{3A8D90DF-A0DE-E1FE-AF34-284F4C364471}"/>
                  </a:ext>
                </a:extLst>
              </p:cNvPr>
              <p:cNvSpPr/>
              <p:nvPr/>
            </p:nvSpPr>
            <p:spPr bwMode="auto">
              <a:xfrm>
                <a:off x="3865563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66" name="ïŝ1iďè">
                <a:extLst>
                  <a:ext uri="{FF2B5EF4-FFF2-40B4-BE49-F238E27FC236}">
                    <a16:creationId xmlns:a16="http://schemas.microsoft.com/office/drawing/2014/main" id="{592ECA4B-0907-6C4F-ABDF-1436314BBC80}"/>
                  </a:ext>
                </a:extLst>
              </p:cNvPr>
              <p:cNvSpPr/>
              <p:nvPr/>
            </p:nvSpPr>
            <p:spPr bwMode="auto">
              <a:xfrm>
                <a:off x="3878263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67" name="íṩļíḋê">
                <a:extLst>
                  <a:ext uri="{FF2B5EF4-FFF2-40B4-BE49-F238E27FC236}">
                    <a16:creationId xmlns:a16="http://schemas.microsoft.com/office/drawing/2014/main" id="{779BA225-6587-46EE-80F6-1DA317A68325}"/>
                  </a:ext>
                </a:extLst>
              </p:cNvPr>
              <p:cNvSpPr/>
              <p:nvPr/>
            </p:nvSpPr>
            <p:spPr bwMode="auto">
              <a:xfrm>
                <a:off x="3887788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68" name="ïṧ1ïdè">
                <a:extLst>
                  <a:ext uri="{FF2B5EF4-FFF2-40B4-BE49-F238E27FC236}">
                    <a16:creationId xmlns:a16="http://schemas.microsoft.com/office/drawing/2014/main" id="{8A66CC63-E37B-D1CA-6CD8-7D4892A3E005}"/>
                  </a:ext>
                </a:extLst>
              </p:cNvPr>
              <p:cNvSpPr/>
              <p:nvPr/>
            </p:nvSpPr>
            <p:spPr bwMode="auto">
              <a:xfrm>
                <a:off x="3897313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69" name="íŝḻîḍé">
                <a:extLst>
                  <a:ext uri="{FF2B5EF4-FFF2-40B4-BE49-F238E27FC236}">
                    <a16:creationId xmlns:a16="http://schemas.microsoft.com/office/drawing/2014/main" id="{510D33DE-6360-7A95-E724-0F776C95F3D7}"/>
                  </a:ext>
                </a:extLst>
              </p:cNvPr>
              <p:cNvSpPr/>
              <p:nvPr/>
            </p:nvSpPr>
            <p:spPr bwMode="auto">
              <a:xfrm>
                <a:off x="3908426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70" name="îşḻïḓé">
                <a:extLst>
                  <a:ext uri="{FF2B5EF4-FFF2-40B4-BE49-F238E27FC236}">
                    <a16:creationId xmlns:a16="http://schemas.microsoft.com/office/drawing/2014/main" id="{3AF371FE-F9DA-03BA-EDB1-20B2DCAC7B50}"/>
                  </a:ext>
                </a:extLst>
              </p:cNvPr>
              <p:cNvSpPr/>
              <p:nvPr/>
            </p:nvSpPr>
            <p:spPr bwMode="auto">
              <a:xfrm>
                <a:off x="3921126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71" name="íśļíďè">
                <a:extLst>
                  <a:ext uri="{FF2B5EF4-FFF2-40B4-BE49-F238E27FC236}">
                    <a16:creationId xmlns:a16="http://schemas.microsoft.com/office/drawing/2014/main" id="{92216857-C168-EB3D-2059-C72E6AB86D7D}"/>
                  </a:ext>
                </a:extLst>
              </p:cNvPr>
              <p:cNvSpPr/>
              <p:nvPr/>
            </p:nvSpPr>
            <p:spPr bwMode="auto">
              <a:xfrm>
                <a:off x="3930651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72" name="iŝ1ïdé">
                <a:extLst>
                  <a:ext uri="{FF2B5EF4-FFF2-40B4-BE49-F238E27FC236}">
                    <a16:creationId xmlns:a16="http://schemas.microsoft.com/office/drawing/2014/main" id="{0F293195-3B48-1BE2-B7E1-F7DFDA0EF52A}"/>
                  </a:ext>
                </a:extLst>
              </p:cNvPr>
              <p:cNvSpPr/>
              <p:nvPr/>
            </p:nvSpPr>
            <p:spPr bwMode="auto">
              <a:xfrm>
                <a:off x="3940176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73" name="is1ídè">
                <a:extLst>
                  <a:ext uri="{FF2B5EF4-FFF2-40B4-BE49-F238E27FC236}">
                    <a16:creationId xmlns:a16="http://schemas.microsoft.com/office/drawing/2014/main" id="{8ADE9D9D-D3A5-0034-722B-0A048175A242}"/>
                  </a:ext>
                </a:extLst>
              </p:cNvPr>
              <p:cNvSpPr/>
              <p:nvPr/>
            </p:nvSpPr>
            <p:spPr bwMode="auto">
              <a:xfrm>
                <a:off x="3951288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2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74" name="islíďê">
                <a:extLst>
                  <a:ext uri="{FF2B5EF4-FFF2-40B4-BE49-F238E27FC236}">
                    <a16:creationId xmlns:a16="http://schemas.microsoft.com/office/drawing/2014/main" id="{F0902FF2-30DF-927F-D0BD-664D7E5D4064}"/>
                  </a:ext>
                </a:extLst>
              </p:cNvPr>
              <p:cNvSpPr/>
              <p:nvPr/>
            </p:nvSpPr>
            <p:spPr bwMode="auto">
              <a:xfrm>
                <a:off x="3963988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75" name="iṩlíḑê">
                <a:extLst>
                  <a:ext uri="{FF2B5EF4-FFF2-40B4-BE49-F238E27FC236}">
                    <a16:creationId xmlns:a16="http://schemas.microsoft.com/office/drawing/2014/main" id="{9AC443CB-DCF5-09EC-F849-5F7BA6E784EC}"/>
                  </a:ext>
                </a:extLst>
              </p:cNvPr>
              <p:cNvSpPr/>
              <p:nvPr/>
            </p:nvSpPr>
            <p:spPr bwMode="auto">
              <a:xfrm>
                <a:off x="3973513" y="3421063"/>
                <a:ext cx="6350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76" name="îṥḷïďê">
                <a:extLst>
                  <a:ext uri="{FF2B5EF4-FFF2-40B4-BE49-F238E27FC236}">
                    <a16:creationId xmlns:a16="http://schemas.microsoft.com/office/drawing/2014/main" id="{117FC1B6-4228-93F0-54FD-08FFD60702F1}"/>
                  </a:ext>
                </a:extLst>
              </p:cNvPr>
              <p:cNvSpPr/>
              <p:nvPr/>
            </p:nvSpPr>
            <p:spPr bwMode="auto">
              <a:xfrm>
                <a:off x="3983038" y="3421063"/>
                <a:ext cx="7938" cy="30163"/>
              </a:xfrm>
              <a:custGeom>
                <a:avLst/>
                <a:gdLst>
                  <a:gd name="T0" fmla="*/ 0 w 2"/>
                  <a:gd name="T1" fmla="*/ 0 h 9"/>
                  <a:gd name="T2" fmla="*/ 2 w 2"/>
                  <a:gd name="T3" fmla="*/ 0 h 9"/>
                  <a:gd name="T4" fmla="*/ 2 w 2"/>
                  <a:gd name="T5" fmla="*/ 9 h 9"/>
                  <a:gd name="T6" fmla="*/ 0 w 2"/>
                  <a:gd name="T7" fmla="*/ 9 h 9"/>
                  <a:gd name="T8" fmla="*/ 0 w 2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" h="9">
                    <a:moveTo>
                      <a:pt x="0" y="0"/>
                    </a:moveTo>
                    <a:cubicBezTo>
                      <a:pt x="1" y="0"/>
                      <a:pt x="1" y="0"/>
                      <a:pt x="2" y="0"/>
                    </a:cubicBezTo>
                    <a:cubicBezTo>
                      <a:pt x="2" y="3"/>
                      <a:pt x="2" y="6"/>
                      <a:pt x="2" y="9"/>
                    </a:cubicBezTo>
                    <a:cubicBezTo>
                      <a:pt x="1" y="9"/>
                      <a:pt x="1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77" name="íṥḻïďè">
                <a:extLst>
                  <a:ext uri="{FF2B5EF4-FFF2-40B4-BE49-F238E27FC236}">
                    <a16:creationId xmlns:a16="http://schemas.microsoft.com/office/drawing/2014/main" id="{1E6797F0-30F2-56EF-D175-0CE1BFFB46D6}"/>
                  </a:ext>
                </a:extLst>
              </p:cNvPr>
              <p:cNvSpPr/>
              <p:nvPr/>
            </p:nvSpPr>
            <p:spPr bwMode="auto">
              <a:xfrm>
                <a:off x="3997326" y="3421063"/>
                <a:ext cx="3175" cy="30163"/>
              </a:xfrm>
              <a:custGeom>
                <a:avLst/>
                <a:gdLst>
                  <a:gd name="T0" fmla="*/ 0 w 1"/>
                  <a:gd name="T1" fmla="*/ 0 h 9"/>
                  <a:gd name="T2" fmla="*/ 1 w 1"/>
                  <a:gd name="T3" fmla="*/ 0 h 9"/>
                  <a:gd name="T4" fmla="*/ 1 w 1"/>
                  <a:gd name="T5" fmla="*/ 9 h 9"/>
                  <a:gd name="T6" fmla="*/ 0 w 1"/>
                  <a:gd name="T7" fmla="*/ 9 h 9"/>
                  <a:gd name="T8" fmla="*/ 0 w 1"/>
                  <a:gd name="T9" fmla="*/ 0 h 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" h="9">
                    <a:moveTo>
                      <a:pt x="0" y="0"/>
                    </a:moveTo>
                    <a:cubicBezTo>
                      <a:pt x="0" y="0"/>
                      <a:pt x="1" y="0"/>
                      <a:pt x="1" y="0"/>
                    </a:cubicBezTo>
                    <a:cubicBezTo>
                      <a:pt x="1" y="3"/>
                      <a:pt x="1" y="6"/>
                      <a:pt x="1" y="9"/>
                    </a:cubicBezTo>
                    <a:cubicBezTo>
                      <a:pt x="1" y="9"/>
                      <a:pt x="0" y="9"/>
                      <a:pt x="0" y="9"/>
                    </a:cubicBezTo>
                    <a:cubicBezTo>
                      <a:pt x="0" y="6"/>
                      <a:pt x="0" y="3"/>
                      <a:pt x="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78" name="íṡḷíḍè">
                <a:extLst>
                  <a:ext uri="{FF2B5EF4-FFF2-40B4-BE49-F238E27FC236}">
                    <a16:creationId xmlns:a16="http://schemas.microsoft.com/office/drawing/2014/main" id="{08D2C848-B833-F550-1125-AE6812FAE90C}"/>
                  </a:ext>
                </a:extLst>
              </p:cNvPr>
              <p:cNvSpPr/>
              <p:nvPr/>
            </p:nvSpPr>
            <p:spPr bwMode="auto">
              <a:xfrm>
                <a:off x="4006851" y="3421063"/>
                <a:ext cx="3175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79" name="î$ḷîḑé">
                <a:extLst>
                  <a:ext uri="{FF2B5EF4-FFF2-40B4-BE49-F238E27FC236}">
                    <a16:creationId xmlns:a16="http://schemas.microsoft.com/office/drawing/2014/main" id="{2D7043CF-7A42-61B7-E0CC-44105C476D58}"/>
                  </a:ext>
                </a:extLst>
              </p:cNvPr>
              <p:cNvSpPr/>
              <p:nvPr/>
            </p:nvSpPr>
            <p:spPr bwMode="auto">
              <a:xfrm>
                <a:off x="4016376" y="3421063"/>
                <a:ext cx="6350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80" name="í$ľîdè">
                <a:extLst>
                  <a:ext uri="{FF2B5EF4-FFF2-40B4-BE49-F238E27FC236}">
                    <a16:creationId xmlns:a16="http://schemas.microsoft.com/office/drawing/2014/main" id="{C677A04E-1E60-52EA-0192-787FEEFF8CA0}"/>
                  </a:ext>
                </a:extLst>
              </p:cNvPr>
              <p:cNvSpPr/>
              <p:nvPr/>
            </p:nvSpPr>
            <p:spPr bwMode="auto">
              <a:xfrm>
                <a:off x="4025901" y="3421063"/>
                <a:ext cx="7938" cy="30163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81" name="iṥ1iḍè">
                <a:extLst>
                  <a:ext uri="{FF2B5EF4-FFF2-40B4-BE49-F238E27FC236}">
                    <a16:creationId xmlns:a16="http://schemas.microsoft.com/office/drawing/2014/main" id="{CA851FC8-FB52-88C7-B4D8-3A07C224F52B}"/>
                  </a:ext>
                </a:extLst>
              </p:cNvPr>
              <p:cNvSpPr/>
              <p:nvPr/>
            </p:nvSpPr>
            <p:spPr bwMode="auto">
              <a:xfrm>
                <a:off x="4040188" y="3417888"/>
                <a:ext cx="39688" cy="3175"/>
              </a:xfrm>
              <a:prstGeom prst="rect">
                <a:avLst/>
              </a:pr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82" name="ïslidé">
                <a:extLst>
                  <a:ext uri="{FF2B5EF4-FFF2-40B4-BE49-F238E27FC236}">
                    <a16:creationId xmlns:a16="http://schemas.microsoft.com/office/drawing/2014/main" id="{5CAEE028-D240-974D-0CBB-16389D447222}"/>
                  </a:ext>
                </a:extLst>
              </p:cNvPr>
              <p:cNvSpPr/>
              <p:nvPr/>
            </p:nvSpPr>
            <p:spPr bwMode="auto">
              <a:xfrm>
                <a:off x="3679826" y="3490913"/>
                <a:ext cx="17463" cy="635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83" name="íṡlïďè">
                <a:extLst>
                  <a:ext uri="{FF2B5EF4-FFF2-40B4-BE49-F238E27FC236}">
                    <a16:creationId xmlns:a16="http://schemas.microsoft.com/office/drawing/2014/main" id="{BFF8174B-C5C6-E531-C8DE-2A163E839B1B}"/>
                  </a:ext>
                </a:extLst>
              </p:cNvPr>
              <p:cNvSpPr/>
              <p:nvPr/>
            </p:nvSpPr>
            <p:spPr bwMode="auto">
              <a:xfrm>
                <a:off x="3884613" y="3490913"/>
                <a:ext cx="55563" cy="53975"/>
              </a:xfrm>
              <a:custGeom>
                <a:avLst/>
                <a:gdLst>
                  <a:gd name="T0" fmla="*/ 0 w 35"/>
                  <a:gd name="T1" fmla="*/ 0 h 34"/>
                  <a:gd name="T2" fmla="*/ 35 w 35"/>
                  <a:gd name="T3" fmla="*/ 0 h 34"/>
                  <a:gd name="T4" fmla="*/ 35 w 35"/>
                  <a:gd name="T5" fmla="*/ 34 h 34"/>
                  <a:gd name="T6" fmla="*/ 0 w 35"/>
                  <a:gd name="T7" fmla="*/ 34 h 34"/>
                  <a:gd name="T8" fmla="*/ 0 w 35"/>
                  <a:gd name="T9" fmla="*/ 0 h 34"/>
                  <a:gd name="T10" fmla="*/ 0 w 35"/>
                  <a:gd name="T11" fmla="*/ 0 h 34"/>
                  <a:gd name="T12" fmla="*/ 4 w 35"/>
                  <a:gd name="T13" fmla="*/ 8 h 34"/>
                  <a:gd name="T14" fmla="*/ 4 w 35"/>
                  <a:gd name="T15" fmla="*/ 27 h 34"/>
                  <a:gd name="T16" fmla="*/ 8 w 35"/>
                  <a:gd name="T17" fmla="*/ 27 h 34"/>
                  <a:gd name="T18" fmla="*/ 8 w 35"/>
                  <a:gd name="T19" fmla="*/ 8 h 34"/>
                  <a:gd name="T20" fmla="*/ 4 w 35"/>
                  <a:gd name="T21" fmla="*/ 8 h 34"/>
                  <a:gd name="T22" fmla="*/ 4 w 35"/>
                  <a:gd name="T23" fmla="*/ 8 h 34"/>
                  <a:gd name="T24" fmla="*/ 29 w 35"/>
                  <a:gd name="T25" fmla="*/ 8 h 34"/>
                  <a:gd name="T26" fmla="*/ 29 w 35"/>
                  <a:gd name="T27" fmla="*/ 27 h 34"/>
                  <a:gd name="T28" fmla="*/ 31 w 35"/>
                  <a:gd name="T29" fmla="*/ 27 h 34"/>
                  <a:gd name="T30" fmla="*/ 31 w 35"/>
                  <a:gd name="T31" fmla="*/ 8 h 34"/>
                  <a:gd name="T32" fmla="*/ 29 w 35"/>
                  <a:gd name="T33" fmla="*/ 8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35" h="34">
                    <a:moveTo>
                      <a:pt x="0" y="0"/>
                    </a:moveTo>
                    <a:lnTo>
                      <a:pt x="35" y="0"/>
                    </a:lnTo>
                    <a:lnTo>
                      <a:pt x="35" y="34"/>
                    </a:lnTo>
                    <a:lnTo>
                      <a:pt x="0" y="34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  <a:moveTo>
                      <a:pt x="4" y="8"/>
                    </a:moveTo>
                    <a:lnTo>
                      <a:pt x="4" y="27"/>
                    </a:lnTo>
                    <a:lnTo>
                      <a:pt x="8" y="27"/>
                    </a:lnTo>
                    <a:lnTo>
                      <a:pt x="8" y="8"/>
                    </a:lnTo>
                    <a:lnTo>
                      <a:pt x="4" y="8"/>
                    </a:lnTo>
                    <a:lnTo>
                      <a:pt x="4" y="8"/>
                    </a:lnTo>
                    <a:close/>
                    <a:moveTo>
                      <a:pt x="29" y="8"/>
                    </a:moveTo>
                    <a:lnTo>
                      <a:pt x="29" y="27"/>
                    </a:lnTo>
                    <a:lnTo>
                      <a:pt x="31" y="27"/>
                    </a:lnTo>
                    <a:lnTo>
                      <a:pt x="31" y="8"/>
                    </a:lnTo>
                    <a:lnTo>
                      <a:pt x="29" y="8"/>
                    </a:ln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  <p:sp>
            <p:nvSpPr>
              <p:cNvPr id="84" name="iṧ1ïḓè">
                <a:extLst>
                  <a:ext uri="{FF2B5EF4-FFF2-40B4-BE49-F238E27FC236}">
                    <a16:creationId xmlns:a16="http://schemas.microsoft.com/office/drawing/2014/main" id="{E6DE686A-4E40-8125-ACFA-2A8D07ADDAAF}"/>
                  </a:ext>
                </a:extLst>
              </p:cNvPr>
              <p:cNvSpPr/>
              <p:nvPr/>
            </p:nvSpPr>
            <p:spPr bwMode="auto">
              <a:xfrm>
                <a:off x="3551238" y="3067050"/>
                <a:ext cx="722313" cy="727075"/>
              </a:xfrm>
              <a:custGeom>
                <a:avLst/>
                <a:gdLst>
                  <a:gd name="T0" fmla="*/ 109 w 219"/>
                  <a:gd name="T1" fmla="*/ 0 h 218"/>
                  <a:gd name="T2" fmla="*/ 219 w 219"/>
                  <a:gd name="T3" fmla="*/ 109 h 218"/>
                  <a:gd name="T4" fmla="*/ 109 w 219"/>
                  <a:gd name="T5" fmla="*/ 218 h 218"/>
                  <a:gd name="T6" fmla="*/ 0 w 219"/>
                  <a:gd name="T7" fmla="*/ 109 h 218"/>
                  <a:gd name="T8" fmla="*/ 109 w 219"/>
                  <a:gd name="T9" fmla="*/ 0 h 218"/>
                  <a:gd name="T10" fmla="*/ 109 w 219"/>
                  <a:gd name="T11" fmla="*/ 3 h 218"/>
                  <a:gd name="T12" fmla="*/ 4 w 219"/>
                  <a:gd name="T13" fmla="*/ 109 h 218"/>
                  <a:gd name="T14" fmla="*/ 109 w 219"/>
                  <a:gd name="T15" fmla="*/ 215 h 218"/>
                  <a:gd name="T16" fmla="*/ 215 w 219"/>
                  <a:gd name="T17" fmla="*/ 109 h 218"/>
                  <a:gd name="T18" fmla="*/ 109 w 219"/>
                  <a:gd name="T19" fmla="*/ 3 h 2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19" h="218">
                    <a:moveTo>
                      <a:pt x="109" y="0"/>
                    </a:moveTo>
                    <a:cubicBezTo>
                      <a:pt x="170" y="0"/>
                      <a:pt x="219" y="49"/>
                      <a:pt x="219" y="109"/>
                    </a:cubicBezTo>
                    <a:cubicBezTo>
                      <a:pt x="219" y="169"/>
                      <a:pt x="170" y="218"/>
                      <a:pt x="109" y="218"/>
                    </a:cubicBezTo>
                    <a:cubicBezTo>
                      <a:pt x="49" y="218"/>
                      <a:pt x="0" y="169"/>
                      <a:pt x="0" y="109"/>
                    </a:cubicBezTo>
                    <a:cubicBezTo>
                      <a:pt x="0" y="49"/>
                      <a:pt x="49" y="0"/>
                      <a:pt x="109" y="0"/>
                    </a:cubicBezTo>
                    <a:close/>
                    <a:moveTo>
                      <a:pt x="109" y="3"/>
                    </a:moveTo>
                    <a:cubicBezTo>
                      <a:pt x="51" y="3"/>
                      <a:pt x="4" y="51"/>
                      <a:pt x="4" y="109"/>
                    </a:cubicBezTo>
                    <a:cubicBezTo>
                      <a:pt x="4" y="167"/>
                      <a:pt x="51" y="215"/>
                      <a:pt x="109" y="215"/>
                    </a:cubicBezTo>
                    <a:cubicBezTo>
                      <a:pt x="168" y="215"/>
                      <a:pt x="215" y="167"/>
                      <a:pt x="215" y="109"/>
                    </a:cubicBezTo>
                    <a:cubicBezTo>
                      <a:pt x="215" y="51"/>
                      <a:pt x="168" y="3"/>
                      <a:pt x="109" y="3"/>
                    </a:cubicBezTo>
                    <a:close/>
                  </a:path>
                </a:pathLst>
              </a:custGeom>
              <a:solidFill>
                <a:srgbClr val="1E267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 sz="1800"/>
              </a:p>
            </p:txBody>
          </p:sp>
        </p:grpSp>
      </p:grpSp>
      <p:pic>
        <p:nvPicPr>
          <p:cNvPr id="86" name="图片 85">
            <a:extLst>
              <a:ext uri="{FF2B5EF4-FFF2-40B4-BE49-F238E27FC236}">
                <a16:creationId xmlns:a16="http://schemas.microsoft.com/office/drawing/2014/main" id="{1EEA4CE6-A349-ADE0-E225-EDAEE4B144A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66702" y="268906"/>
            <a:ext cx="710933" cy="1592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787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CA30A6B9-FB66-FB7C-F538-E9DF3D0749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000"/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673244" y="-1"/>
            <a:ext cx="7356956" cy="6858001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4F9BBCEF-E051-D600-43DC-FAB30DA9BA1D}"/>
              </a:ext>
            </a:extLst>
          </p:cNvPr>
          <p:cNvSpPr/>
          <p:nvPr userDrawn="1"/>
        </p:nvSpPr>
        <p:spPr>
          <a:xfrm>
            <a:off x="-12646" y="0"/>
            <a:ext cx="177972" cy="6858000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图片占位符 8">
            <a:extLst>
              <a:ext uri="{FF2B5EF4-FFF2-40B4-BE49-F238E27FC236}">
                <a16:creationId xmlns:a16="http://schemas.microsoft.com/office/drawing/2014/main" id="{0CC870C2-1623-19BB-2761-41B4DC15235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 flipH="1">
            <a:off x="170624" y="0"/>
            <a:ext cx="2928003" cy="6858000"/>
          </a:xfrm>
          <a:custGeom>
            <a:avLst/>
            <a:gdLst>
              <a:gd name="connsiteX0" fmla="*/ 533952 w 4167120"/>
              <a:gd name="connsiteY0" fmla="*/ 0 h 6858000"/>
              <a:gd name="connsiteX1" fmla="*/ 4167120 w 4167120"/>
              <a:gd name="connsiteY1" fmla="*/ 0 h 6858000"/>
              <a:gd name="connsiteX2" fmla="*/ 4167120 w 4167120"/>
              <a:gd name="connsiteY2" fmla="*/ 6858000 h 6858000"/>
              <a:gd name="connsiteX3" fmla="*/ 427599 w 4167120"/>
              <a:gd name="connsiteY3" fmla="*/ 6858000 h 6858000"/>
              <a:gd name="connsiteX4" fmla="*/ 322189 w 4167120"/>
              <a:gd name="connsiteY4" fmla="*/ 6466939 h 6858000"/>
              <a:gd name="connsiteX5" fmla="*/ 0 w 4167120"/>
              <a:gd name="connsiteY5" fmla="*/ 3599121 h 6858000"/>
              <a:gd name="connsiteX6" fmla="*/ 455902 w 4167120"/>
              <a:gd name="connsiteY6" fmla="*/ 23524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120" h="6858000">
                <a:moveTo>
                  <a:pt x="533952" y="0"/>
                </a:moveTo>
                <a:lnTo>
                  <a:pt x="4167120" y="0"/>
                </a:lnTo>
                <a:lnTo>
                  <a:pt x="4167120" y="6858000"/>
                </a:lnTo>
                <a:lnTo>
                  <a:pt x="427599" y="6858000"/>
                </a:lnTo>
                <a:lnTo>
                  <a:pt x="322189" y="6466939"/>
                </a:lnTo>
                <a:cubicBezTo>
                  <a:pt x="116715" y="5614442"/>
                  <a:pt x="0" y="4637502"/>
                  <a:pt x="0" y="3599121"/>
                </a:cubicBezTo>
                <a:cubicBezTo>
                  <a:pt x="0" y="2353065"/>
                  <a:pt x="168069" y="1195481"/>
                  <a:pt x="455902" y="235243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kumimoji="1" lang="zh-CN" altLang="en-US"/>
          </a:p>
        </p:txBody>
      </p:sp>
      <p:sp>
        <p:nvSpPr>
          <p:cNvPr id="10" name="任意形状 9">
            <a:extLst>
              <a:ext uri="{FF2B5EF4-FFF2-40B4-BE49-F238E27FC236}">
                <a16:creationId xmlns:a16="http://schemas.microsoft.com/office/drawing/2014/main" id="{AE80DCFE-E636-36F0-7FC0-63B810560F95}"/>
              </a:ext>
            </a:extLst>
          </p:cNvPr>
          <p:cNvSpPr/>
          <p:nvPr userDrawn="1"/>
        </p:nvSpPr>
        <p:spPr>
          <a:xfrm flipH="1">
            <a:off x="33862" y="-98854"/>
            <a:ext cx="3064764" cy="7039443"/>
          </a:xfrm>
          <a:custGeom>
            <a:avLst/>
            <a:gdLst>
              <a:gd name="connsiteX0" fmla="*/ 533952 w 4167120"/>
              <a:gd name="connsiteY0" fmla="*/ 0 h 6858000"/>
              <a:gd name="connsiteX1" fmla="*/ 4167120 w 4167120"/>
              <a:gd name="connsiteY1" fmla="*/ 0 h 6858000"/>
              <a:gd name="connsiteX2" fmla="*/ 4167120 w 4167120"/>
              <a:gd name="connsiteY2" fmla="*/ 6858000 h 6858000"/>
              <a:gd name="connsiteX3" fmla="*/ 427599 w 4167120"/>
              <a:gd name="connsiteY3" fmla="*/ 6858000 h 6858000"/>
              <a:gd name="connsiteX4" fmla="*/ 322189 w 4167120"/>
              <a:gd name="connsiteY4" fmla="*/ 6466939 h 6858000"/>
              <a:gd name="connsiteX5" fmla="*/ 0 w 4167120"/>
              <a:gd name="connsiteY5" fmla="*/ 3599121 h 6858000"/>
              <a:gd name="connsiteX6" fmla="*/ 455902 w 4167120"/>
              <a:gd name="connsiteY6" fmla="*/ 23524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120" h="6858000">
                <a:moveTo>
                  <a:pt x="533952" y="0"/>
                </a:moveTo>
                <a:lnTo>
                  <a:pt x="4167120" y="0"/>
                </a:lnTo>
                <a:lnTo>
                  <a:pt x="4167120" y="6858000"/>
                </a:lnTo>
                <a:lnTo>
                  <a:pt x="427599" y="6858000"/>
                </a:lnTo>
                <a:lnTo>
                  <a:pt x="322189" y="6466939"/>
                </a:lnTo>
                <a:cubicBezTo>
                  <a:pt x="116715" y="5614442"/>
                  <a:pt x="0" y="4637502"/>
                  <a:pt x="0" y="3599121"/>
                </a:cubicBezTo>
                <a:cubicBezTo>
                  <a:pt x="0" y="2353065"/>
                  <a:pt x="168069" y="1195481"/>
                  <a:pt x="455902" y="235243"/>
                </a:cubicBezTo>
                <a:close/>
              </a:path>
            </a:pathLst>
          </a:cu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180000" rIns="180000" bIns="180000" numCol="1" spcCol="0" rtlCol="0" fromWordArt="0" anchor="t" anchorCtr="0" forceAA="0" compatLnSpc="1">
            <a:noAutofit/>
          </a:bodyPr>
          <a:lstStyle/>
          <a:p>
            <a:pPr algn="l">
              <a:lnSpc>
                <a:spcPct val="130000"/>
              </a:lnSpc>
            </a:pPr>
            <a:endParaRPr kumimoji="1" lang="zh-CN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0377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B9CE803F-A538-F53B-10CB-75CB2C7D8FE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000"/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2882793" y="1029268"/>
            <a:ext cx="5784639" cy="5818800"/>
          </a:xfrm>
          <a:prstGeom prst="rect">
            <a:avLst/>
          </a:prstGeom>
        </p:spPr>
      </p:pic>
      <p:sp>
        <p:nvSpPr>
          <p:cNvPr id="3" name="标题 1">
            <a:extLst>
              <a:ext uri="{FF2B5EF4-FFF2-40B4-BE49-F238E27FC236}">
                <a16:creationId xmlns:a16="http://schemas.microsoft.com/office/drawing/2014/main" id="{921EA3A3-752F-4CAD-82A9-F6AD69157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1101" y="342900"/>
            <a:ext cx="6896099" cy="663575"/>
          </a:xfrm>
          <a:prstGeom prst="rect">
            <a:avLst/>
          </a:prstGeom>
        </p:spPr>
        <p:txBody>
          <a:bodyPr lIns="0"/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4" name="图片 3" descr="图片包含 天空, 户外, 建筑物, 日落&#10;&#10;描述已自动生成">
            <a:extLst>
              <a:ext uri="{FF2B5EF4-FFF2-40B4-BE49-F238E27FC236}">
                <a16:creationId xmlns:a16="http://schemas.microsoft.com/office/drawing/2014/main" id="{77CB1816-02B1-FE08-F801-E58B5665F19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9500" l="10000" r="98000">
                        <a14:foregroundMark x1="45583" y1="28625" x2="72750" y2="47875"/>
                        <a14:foregroundMark x1="72750" y1="47875" x2="79000" y2="48875"/>
                        <a14:foregroundMark x1="79000" y1="48875" x2="87083" y2="44750"/>
                        <a14:foregroundMark x1="87083" y1="44750" x2="89333" y2="42875"/>
                        <a14:foregroundMark x1="49697" y1="28104" x2="51500" y2="30625"/>
                        <a14:foregroundMark x1="46583" y1="23750" x2="49595" y2="27961"/>
                        <a14:foregroundMark x1="46917" y1="21000" x2="48333" y2="17125"/>
                        <a14:foregroundMark x1="62917" y1="48125" x2="65250" y2="51750"/>
                        <a14:foregroundMark x1="65250" y1="51750" x2="86750" y2="67750"/>
                        <a14:foregroundMark x1="94417" y1="36500" x2="92917" y2="90875"/>
                        <a14:foregroundMark x1="98000" y1="30875" x2="91667" y2="84250"/>
                        <a14:foregroundMark x1="91667" y1="84250" x2="91333" y2="85500"/>
                        <a14:foregroundMark x1="70000" y1="67000" x2="89333" y2="84250"/>
                        <a14:foregroundMark x1="89333" y1="84250" x2="89333" y2="84250"/>
                        <a14:foregroundMark x1="70500" y1="67000" x2="66333" y2="64125"/>
                        <a14:foregroundMark x1="66333" y1="64125" x2="59333" y2="53500"/>
                        <a14:foregroundMark x1="79333" y1="90625" x2="80167" y2="96250"/>
                        <a14:foregroundMark x1="80167" y1="96250" x2="85167" y2="96625"/>
                        <a14:foregroundMark x1="85167" y1="96625" x2="88083" y2="94625"/>
                        <a14:foregroundMark x1="88083" y1="94625" x2="88167" y2="94625"/>
                        <a14:foregroundMark x1="96750" y1="97500" x2="76750" y2="99500"/>
                        <a14:foregroundMark x1="77799" y1="89875" x2="77667" y2="86250"/>
                        <a14:foregroundMark x1="77984" y1="94938" x2="77927" y2="93375"/>
                        <a14:foregroundMark x1="78000" y1="95375" x2="78056" y2="96909"/>
                        <a14:foregroundMark x1="68667" y1="40875" x2="68417" y2="41125"/>
                        <a14:backgroundMark x1="77667" y1="89875" x2="77667" y2="93375"/>
                        <a14:backgroundMark x1="77833" y1="95625" x2="78167" y2="90625"/>
                        <a14:backgroundMark x1="78500" y1="96125" x2="79000" y2="90375"/>
                        <a14:backgroundMark x1="19833" y1="30625" x2="46417" y2="71000"/>
                        <a14:backgroundMark x1="46417" y1="71000" x2="46417" y2="71000"/>
                        <a14:backgroundMark x1="17000" y1="72500" x2="23583" y2="72625"/>
                        <a14:backgroundMark x1="23583" y1="72625" x2="37833" y2="71875"/>
                        <a14:backgroundMark x1="37833" y1="71875" x2="57167" y2="75375"/>
                        <a14:backgroundMark x1="61667" y1="37000" x2="62000" y2="37375"/>
                        <a14:backgroundMark x1="66667" y1="39375" x2="66917" y2="39750"/>
                        <a14:backgroundMark x1="50917" y1="27125" x2="51000" y2="27625"/>
                      </a14:backgroundRemoval>
                    </a14:imgEffect>
                    <a14:imgEffect>
                      <a14:brightnessContrast bright="72000"/>
                    </a14:imgEffect>
                    <a14:imgEffect>
                      <a14:colorTemperature colorTemp="9660"/>
                    </a14:imgEffect>
                    <a14:imgEffect>
                      <a14:saturation sat="11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8743" t="8413"/>
          <a:stretch>
            <a:fillRect/>
          </a:stretch>
        </p:blipFill>
        <p:spPr>
          <a:xfrm flipH="1">
            <a:off x="-1" y="60500"/>
            <a:ext cx="958611" cy="955500"/>
          </a:xfrm>
          <a:prstGeom prst="rect">
            <a:avLst/>
          </a:prstGeom>
        </p:spPr>
      </p:pic>
      <p:cxnSp>
        <p:nvCxnSpPr>
          <p:cNvPr id="5" name="直线连接符 3">
            <a:extLst>
              <a:ext uri="{FF2B5EF4-FFF2-40B4-BE49-F238E27FC236}">
                <a16:creationId xmlns:a16="http://schemas.microsoft.com/office/drawing/2014/main" id="{662E81E6-3573-3FDF-002C-3996EB470EF3}"/>
              </a:ext>
            </a:extLst>
          </p:cNvPr>
          <p:cNvCxnSpPr/>
          <p:nvPr userDrawn="1"/>
        </p:nvCxnSpPr>
        <p:spPr>
          <a:xfrm>
            <a:off x="0" y="1016000"/>
            <a:ext cx="12192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0DC1D5B-5D66-2155-3547-232A3E943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57200" y="6253087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pPr>
              <a:defRPr/>
            </a:pPr>
            <a:fld id="{6B3369F9-03CD-4B48-86A9-9EE39A82955A}" type="slidenum">
              <a:rPr lang="zh-CN" altLang="en-US" smtClean="0"/>
              <a:pPr>
                <a:defRPr/>
              </a:pPr>
              <a:t>‹#›</a:t>
            </a:fld>
            <a:endParaRPr lang="zh-CN" altLang="en-US" dirty="0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D771E48F-CF5A-0487-08FA-323BD57B7A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000"/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214702" y="1006475"/>
            <a:ext cx="5784639" cy="5818800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EEEE5049-FD18-BB28-D869-AC546BF9646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8077" y="381000"/>
            <a:ext cx="1729645" cy="543942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77601FA8-FCFA-ECE1-1637-72AE1A6A0A8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4932" y="6172200"/>
            <a:ext cx="468068" cy="474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801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7343F9-C151-84D3-38BE-60FE909E4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CAFD998-9DB5-81F9-9F8A-230F554C9AC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D3D17276-05B6-4FB5-8471-FDF81119229E}" type="datetimeFigureOut">
              <a:rPr lang="zh-CN" altLang="en-US" smtClean="0"/>
              <a:t>2025-03-27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AA2F881-9097-C50E-B6EC-AA05FE4795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14ACB21-A1D6-0FCA-7884-030EBB0D8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32753CF6-A5B6-4A05-8D23-BE5C94EDF1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7113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95368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>
            <a:alphaModFix amt="3000"/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2882793" y="1029268"/>
            <a:ext cx="5784639" cy="5818800"/>
          </a:xfrm>
          <a:prstGeom prst="rect">
            <a:avLst/>
          </a:prstGeom>
        </p:spPr>
      </p:pic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1181101" y="342900"/>
            <a:ext cx="6896099" cy="663575"/>
          </a:xfrm>
          <a:prstGeom prst="rect">
            <a:avLst/>
          </a:prstGeom>
        </p:spPr>
        <p:txBody>
          <a:bodyPr lIns="0"/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109" name="图片 108" descr="图片包含 天空, 户外, 建筑物, 日落&#10;&#10;描述已自动生成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9500" l="10000" r="98000">
                        <a14:foregroundMark x1="45583" y1="28625" x2="72750" y2="47875"/>
                        <a14:foregroundMark x1="72750" y1="47875" x2="79000" y2="48875"/>
                        <a14:foregroundMark x1="79000" y1="48875" x2="87083" y2="44750"/>
                        <a14:foregroundMark x1="87083" y1="44750" x2="89333" y2="42875"/>
                        <a14:foregroundMark x1="49697" y1="28104" x2="51500" y2="30625"/>
                        <a14:foregroundMark x1="46583" y1="23750" x2="49595" y2="27961"/>
                        <a14:foregroundMark x1="46917" y1="21000" x2="48333" y2="17125"/>
                        <a14:foregroundMark x1="62917" y1="48125" x2="65250" y2="51750"/>
                        <a14:foregroundMark x1="65250" y1="51750" x2="86750" y2="67750"/>
                        <a14:foregroundMark x1="94417" y1="36500" x2="92917" y2="90875"/>
                        <a14:foregroundMark x1="98000" y1="30875" x2="91667" y2="84250"/>
                        <a14:foregroundMark x1="91667" y1="84250" x2="91333" y2="85500"/>
                        <a14:foregroundMark x1="70000" y1="67000" x2="89333" y2="84250"/>
                        <a14:foregroundMark x1="89333" y1="84250" x2="89333" y2="84250"/>
                        <a14:foregroundMark x1="70500" y1="67000" x2="66333" y2="64125"/>
                        <a14:foregroundMark x1="66333" y1="64125" x2="59333" y2="53500"/>
                        <a14:foregroundMark x1="79333" y1="90625" x2="80167" y2="96250"/>
                        <a14:foregroundMark x1="80167" y1="96250" x2="85167" y2="96625"/>
                        <a14:foregroundMark x1="85167" y1="96625" x2="88083" y2="94625"/>
                        <a14:foregroundMark x1="88083" y1="94625" x2="88167" y2="94625"/>
                        <a14:foregroundMark x1="96750" y1="97500" x2="76750" y2="99500"/>
                        <a14:foregroundMark x1="77799" y1="89875" x2="77667" y2="86250"/>
                        <a14:foregroundMark x1="77984" y1="94938" x2="77927" y2="93375"/>
                        <a14:foregroundMark x1="78000" y1="95375" x2="78056" y2="96909"/>
                        <a14:foregroundMark x1="68667" y1="40875" x2="68417" y2="41125"/>
                        <a14:backgroundMark x1="77667" y1="89875" x2="77667" y2="93375"/>
                        <a14:backgroundMark x1="77833" y1="95625" x2="78167" y2="90625"/>
                        <a14:backgroundMark x1="78500" y1="96125" x2="79000" y2="90375"/>
                        <a14:backgroundMark x1="19833" y1="30625" x2="46417" y2="71000"/>
                        <a14:backgroundMark x1="46417" y1="71000" x2="46417" y2="71000"/>
                        <a14:backgroundMark x1="17000" y1="72500" x2="23583" y2="72625"/>
                        <a14:backgroundMark x1="23583" y1="72625" x2="37833" y2="71875"/>
                        <a14:backgroundMark x1="37833" y1="71875" x2="57167" y2="75375"/>
                        <a14:backgroundMark x1="61667" y1="37000" x2="62000" y2="37375"/>
                        <a14:backgroundMark x1="66667" y1="39375" x2="66917" y2="39750"/>
                        <a14:backgroundMark x1="50917" y1="27125" x2="51000" y2="27625"/>
                      </a14:backgroundRemoval>
                    </a14:imgEffect>
                    <a14:imgEffect>
                      <a14:brightnessContrast bright="72000"/>
                    </a14:imgEffect>
                    <a14:imgEffect>
                      <a14:colorTemperature colorTemp="9660"/>
                    </a14:imgEffect>
                    <a14:imgEffect>
                      <a14:saturation sat="11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8743" t="8413"/>
          <a:stretch>
            <a:fillRect/>
          </a:stretch>
        </p:blipFill>
        <p:spPr>
          <a:xfrm flipH="1">
            <a:off x="-1" y="60500"/>
            <a:ext cx="958611" cy="955500"/>
          </a:xfrm>
          <a:prstGeom prst="rect">
            <a:avLst/>
          </a:prstGeom>
        </p:spPr>
      </p:pic>
      <p:cxnSp>
        <p:nvCxnSpPr>
          <p:cNvPr id="112" name="直线连接符 3"/>
          <p:cNvCxnSpPr/>
          <p:nvPr userDrawn="1"/>
        </p:nvCxnSpPr>
        <p:spPr>
          <a:xfrm>
            <a:off x="0" y="1016000"/>
            <a:ext cx="121920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457200" y="6253087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3369F9-03CD-4B48-86A9-9EE39A82955A}" type="slidenum">
              <a:rPr lang="zh-CN" altLang="en-US"/>
              <a:t>‹#›</a:t>
            </a:fld>
            <a:endParaRPr lang="zh-CN" altLang="en-US" dirty="0"/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alphaModFix amt="3000"/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214702" y="1006475"/>
            <a:ext cx="5784639" cy="58188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8077" y="381000"/>
            <a:ext cx="1729645" cy="543942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4932" y="6172200"/>
            <a:ext cx="468068" cy="474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66338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159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2" r:id="rId4"/>
    <p:sldLayoutId id="2147483768" r:id="rId5"/>
    <p:sldLayoutId id="2147483769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slideLayout" Target="../slideLayouts/slideLayout2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image" Target="../media/image7.jpeg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cran.r-project.org/package=ggplot2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2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9F30AEFC-3034-D0E1-71BE-E064440E04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 fontAlgn="base">
              <a:spcAft>
                <a:spcPct val="0"/>
              </a:spcAft>
            </a:pPr>
            <a:r>
              <a:rPr lang="zh-CN" altLang="en-US" b="1" dirty="0">
                <a:solidFill>
                  <a:srgbClr val="074996"/>
                </a:solidFill>
                <a:latin typeface="+mj-ea"/>
              </a:rPr>
              <a:t>第七章 </a:t>
            </a:r>
            <a:r>
              <a:rPr lang="en-US" altLang="zh-CN" b="1" dirty="0">
                <a:solidFill>
                  <a:srgbClr val="074996"/>
                </a:solidFill>
                <a:latin typeface="+mj-ea"/>
              </a:rPr>
              <a:t>ggplot2</a:t>
            </a:r>
            <a:r>
              <a:rPr lang="zh-CN" altLang="en-US" b="1" dirty="0">
                <a:solidFill>
                  <a:srgbClr val="074996"/>
                </a:solidFill>
                <a:latin typeface="+mj-ea"/>
              </a:rPr>
              <a:t>函数包可视化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/>
          <a:lstStyle/>
          <a:p>
            <a:pPr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</a:pP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卢宾宾</a:t>
            </a:r>
            <a:endParaRPr lang="en-US" altLang="zh-CN" sz="180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  <a:p>
            <a:pPr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</a:pP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武汉大学遥感信息工程学院</a:t>
            </a:r>
          </a:p>
          <a:p>
            <a:pPr eaLnBrk="1" hangingPunct="1">
              <a:lnSpc>
                <a:spcPct val="200000"/>
              </a:lnSpc>
            </a:pPr>
            <a:endParaRPr lang="en-US" altLang="zh-CN" sz="2000" dirty="0">
              <a:solidFill>
                <a:schemeClr val="tx1"/>
              </a:solidFill>
              <a:latin typeface="Times New Roman" panose="02020503050405090304" charset="0"/>
              <a:ea typeface="黑体" pitchFamily="2" charset="-122"/>
              <a:cs typeface="Times New Roman" panose="02020503050405090304" charset="0"/>
            </a:endParaRPr>
          </a:p>
        </p:txBody>
      </p:sp>
    </p:spTree>
  </p:cSld>
  <p:clrMapOvr>
    <a:masterClrMapping/>
  </p:clrMapOvr>
  <p:transition spd="slow" advTm="5148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占位符 6">
            <a:extLst>
              <a:ext uri="{FF2B5EF4-FFF2-40B4-BE49-F238E27FC236}">
                <a16:creationId xmlns:a16="http://schemas.microsoft.com/office/drawing/2014/main" id="{668FE0E0-0472-8501-F6B2-74D8F4D7408A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87" r="20087"/>
          <a:stretch/>
        </p:blipFill>
        <p:spPr/>
      </p:pic>
      <p:sp>
        <p:nvSpPr>
          <p:cNvPr id="5" name="标题 1">
            <a:extLst>
              <a:ext uri="{FF2B5EF4-FFF2-40B4-BE49-F238E27FC236}">
                <a16:creationId xmlns:a16="http://schemas.microsoft.com/office/drawing/2014/main" id="{D41C54F0-3E09-6B2D-46E9-0A2F43B48D40}"/>
              </a:ext>
            </a:extLst>
          </p:cNvPr>
          <p:cNvSpPr txBox="1">
            <a:spLocks/>
          </p:cNvSpPr>
          <p:nvPr/>
        </p:nvSpPr>
        <p:spPr>
          <a:xfrm>
            <a:off x="3797406" y="660112"/>
            <a:ext cx="4889394" cy="11430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4800" b="1" dirty="0">
                <a:solidFill>
                  <a:schemeClr val="accent1"/>
                </a:solidFill>
                <a:latin typeface="+mj-ea"/>
                <a:cs typeface="Times New Roman" panose="02020603050405020304" charset="0"/>
              </a:rPr>
              <a:t>目录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3E4D58AD-04B4-2542-62E8-AAD154A86EFD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3797406" y="2006024"/>
            <a:ext cx="6334019" cy="749588"/>
            <a:chOff x="3797406" y="1425837"/>
            <a:chExt cx="6334019" cy="749588"/>
          </a:xfrm>
        </p:grpSpPr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1126B1F8-6DF1-6109-F30F-5E5416F7065E}"/>
                </a:ext>
              </a:extLst>
            </p:cNvPr>
            <p:cNvSpPr txBox="1"/>
            <p:nvPr>
              <p:custDataLst>
                <p:tags r:id="rId10"/>
              </p:custDataLst>
            </p:nvPr>
          </p:nvSpPr>
          <p:spPr>
            <a:xfrm>
              <a:off x="3797406" y="1559872"/>
              <a:ext cx="825867" cy="615553"/>
            </a:xfrm>
            <a:prstGeom prst="rect">
              <a:avLst/>
            </a:prstGeom>
            <a:noFill/>
          </p:spPr>
          <p:txBody>
            <a:bodyPr wrap="none" tIns="0" bIns="0" rtlCol="0" anchor="b" anchorCtr="0">
              <a:spAutoFit/>
            </a:bodyPr>
            <a:lstStyle/>
            <a:p>
              <a:r>
                <a:rPr kumimoji="1" lang="en-US" altLang="zh-CN" sz="4000" b="1" dirty="0">
                  <a:solidFill>
                    <a:schemeClr val="accen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7.1</a:t>
              </a:r>
            </a:p>
          </p:txBody>
        </p:sp>
        <p:sp>
          <p:nvSpPr>
            <p:cNvPr id="8" name="文本占位符 27">
              <a:extLst>
                <a:ext uri="{FF2B5EF4-FFF2-40B4-BE49-F238E27FC236}">
                  <a16:creationId xmlns:a16="http://schemas.microsoft.com/office/drawing/2014/main" id="{283B9FB0-F490-AF50-EF7C-AAF99CD688FD}"/>
                </a:ext>
              </a:extLst>
            </p:cNvPr>
            <p:cNvSpPr txBox="1"/>
            <p:nvPr>
              <p:custDataLst>
                <p:tags r:id="rId11"/>
              </p:custDataLst>
            </p:nvPr>
          </p:nvSpPr>
          <p:spPr>
            <a:xfrm>
              <a:off x="4838700" y="1425837"/>
              <a:ext cx="5292725" cy="708025"/>
            </a:xfrm>
            <a:prstGeom prst="rect">
              <a:avLst/>
            </a:prstGeom>
          </p:spPr>
          <p:txBody>
            <a:bodyPr lIns="0" rIns="0" bIns="0" anchor="b" anchorCtr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3600" b="1" kern="1200">
                  <a:solidFill>
                    <a:schemeClr val="accent2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dirty="0">
                  <a:solidFill>
                    <a:schemeClr val="accen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章节</a:t>
              </a:r>
              <a:r>
                <a:rPr lang="en-US" altLang="zh-CN" dirty="0">
                  <a:solidFill>
                    <a:schemeClr val="accen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</a:t>
              </a:r>
              <a:r>
                <a:rPr lang="zh-CN" altLang="en-US" dirty="0">
                  <a:solidFill>
                    <a:schemeClr val="accen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函数包准备</a:t>
              </a:r>
              <a:endParaRPr kumimoji="1" lang="zh-CN" alt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9" name="直线连接符 13">
              <a:extLst>
                <a:ext uri="{FF2B5EF4-FFF2-40B4-BE49-F238E27FC236}">
                  <a16:creationId xmlns:a16="http://schemas.microsoft.com/office/drawing/2014/main" id="{0AC40634-A87A-5174-A1D9-01B8C35E647E}"/>
                </a:ext>
              </a:extLst>
            </p:cNvPr>
            <p:cNvCxnSpPr/>
            <p:nvPr>
              <p:custDataLst>
                <p:tags r:id="rId12"/>
              </p:custDataLst>
            </p:nvPr>
          </p:nvCxnSpPr>
          <p:spPr>
            <a:xfrm>
              <a:off x="3797406" y="2133862"/>
              <a:ext cx="6334019" cy="0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202900F5-C806-6057-ACB1-057AB1A645BA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3797406" y="3504768"/>
            <a:ext cx="6334019" cy="749588"/>
            <a:chOff x="3797406" y="2539558"/>
            <a:chExt cx="6334019" cy="749588"/>
          </a:xfrm>
        </p:grpSpPr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04F026FE-C2F8-B29D-2681-26FF552611DE}"/>
                </a:ext>
              </a:extLst>
            </p:cNvPr>
            <p:cNvSpPr txBox="1"/>
            <p:nvPr>
              <p:custDataLst>
                <p:tags r:id="rId7"/>
              </p:custDataLst>
            </p:nvPr>
          </p:nvSpPr>
          <p:spPr>
            <a:xfrm>
              <a:off x="3797406" y="2673593"/>
              <a:ext cx="825867" cy="615553"/>
            </a:xfrm>
            <a:prstGeom prst="rect">
              <a:avLst/>
            </a:prstGeom>
            <a:noFill/>
          </p:spPr>
          <p:txBody>
            <a:bodyPr wrap="none" tIns="0" bIns="0" rtlCol="0" anchor="b" anchorCtr="0">
              <a:spAutoFit/>
            </a:bodyPr>
            <a:lstStyle/>
            <a:p>
              <a:r>
                <a:rPr kumimoji="1" lang="en-US" altLang="zh-CN" sz="4000" b="1" dirty="0">
                  <a:solidFill>
                    <a:schemeClr val="accen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7.2</a:t>
              </a:r>
            </a:p>
          </p:txBody>
        </p:sp>
        <p:sp>
          <p:nvSpPr>
            <p:cNvPr id="12" name="文本占位符 27">
              <a:extLst>
                <a:ext uri="{FF2B5EF4-FFF2-40B4-BE49-F238E27FC236}">
                  <a16:creationId xmlns:a16="http://schemas.microsoft.com/office/drawing/2014/main" id="{7BCC548D-7A78-D189-CC96-4C16EEB7592C}"/>
                </a:ext>
              </a:extLst>
            </p:cNvPr>
            <p:cNvSpPr txBox="1"/>
            <p:nvPr>
              <p:custDataLst>
                <p:tags r:id="rId8"/>
              </p:custDataLst>
            </p:nvPr>
          </p:nvSpPr>
          <p:spPr>
            <a:xfrm>
              <a:off x="4838700" y="2539558"/>
              <a:ext cx="5292725" cy="708025"/>
            </a:xfrm>
            <a:prstGeom prst="rect">
              <a:avLst/>
            </a:prstGeom>
          </p:spPr>
          <p:txBody>
            <a:bodyPr lIns="0" rIns="0" bIns="0" anchor="b" anchorCtr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3600" b="1" kern="1200">
                  <a:solidFill>
                    <a:schemeClr val="accent2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dirty="0">
                  <a:solidFill>
                    <a:schemeClr val="accen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ggplot2</a:t>
              </a:r>
              <a:r>
                <a:rPr lang="zh-CN" altLang="en-US" dirty="0">
                  <a:solidFill>
                    <a:schemeClr val="accen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统计可视化</a:t>
              </a:r>
              <a:endParaRPr kumimoji="1" lang="zh-CN" alt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3" name="直线连接符 16">
              <a:extLst>
                <a:ext uri="{FF2B5EF4-FFF2-40B4-BE49-F238E27FC236}">
                  <a16:creationId xmlns:a16="http://schemas.microsoft.com/office/drawing/2014/main" id="{1A8CBEA9-1ED7-EC20-CC68-0A10112B9FA4}"/>
                </a:ext>
              </a:extLst>
            </p:cNvPr>
            <p:cNvCxnSpPr/>
            <p:nvPr>
              <p:custDataLst>
                <p:tags r:id="rId9"/>
              </p:custDataLst>
            </p:nvPr>
          </p:nvCxnSpPr>
          <p:spPr>
            <a:xfrm>
              <a:off x="3797406" y="3247583"/>
              <a:ext cx="6334019" cy="0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43282CF3-B3F5-3B72-FCBC-D4D96848904E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3797406" y="5003512"/>
            <a:ext cx="6334019" cy="749588"/>
            <a:chOff x="3797406" y="3632531"/>
            <a:chExt cx="6334019" cy="749588"/>
          </a:xfrm>
        </p:grpSpPr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67D514F5-4123-4E31-72DA-F3DA4BAA5FA0}"/>
                </a:ext>
              </a:extLst>
            </p:cNvPr>
            <p:cNvSpPr txBox="1"/>
            <p:nvPr>
              <p:custDataLst>
                <p:tags r:id="rId4"/>
              </p:custDataLst>
            </p:nvPr>
          </p:nvSpPr>
          <p:spPr>
            <a:xfrm>
              <a:off x="3797406" y="3766566"/>
              <a:ext cx="825867" cy="615553"/>
            </a:xfrm>
            <a:prstGeom prst="rect">
              <a:avLst/>
            </a:prstGeom>
            <a:noFill/>
          </p:spPr>
          <p:txBody>
            <a:bodyPr wrap="none" tIns="0" bIns="0" rtlCol="0" anchor="b" anchorCtr="0">
              <a:spAutoFit/>
            </a:bodyPr>
            <a:lstStyle/>
            <a:p>
              <a:r>
                <a:rPr kumimoji="1" lang="en-US" altLang="zh-CN" sz="4000" b="1" dirty="0">
                  <a:solidFill>
                    <a:schemeClr val="accen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7.3</a:t>
              </a:r>
            </a:p>
          </p:txBody>
        </p:sp>
        <p:sp>
          <p:nvSpPr>
            <p:cNvPr id="16" name="文本占位符 27">
              <a:extLst>
                <a:ext uri="{FF2B5EF4-FFF2-40B4-BE49-F238E27FC236}">
                  <a16:creationId xmlns:a16="http://schemas.microsoft.com/office/drawing/2014/main" id="{1ED0F364-6BD9-AF0E-38D1-388CF2D189CF}"/>
                </a:ext>
              </a:extLst>
            </p:cNvPr>
            <p:cNvSpPr txBox="1"/>
            <p:nvPr>
              <p:custDataLst>
                <p:tags r:id="rId5"/>
              </p:custDataLst>
            </p:nvPr>
          </p:nvSpPr>
          <p:spPr>
            <a:xfrm>
              <a:off x="4838700" y="3632531"/>
              <a:ext cx="5292725" cy="708025"/>
            </a:xfrm>
            <a:prstGeom prst="rect">
              <a:avLst/>
            </a:prstGeom>
          </p:spPr>
          <p:txBody>
            <a:bodyPr lIns="0" rIns="0" bIns="0" anchor="b" anchorCtr="0">
              <a:noAutofit/>
            </a:bodyPr>
            <a:lstStyle>
              <a:lvl1pPr marL="0" indent="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3600" b="1" kern="1200">
                  <a:solidFill>
                    <a:schemeClr val="accent2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altLang="zh-CN" dirty="0">
                  <a:solidFill>
                    <a:schemeClr val="accen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ggplot2</a:t>
              </a:r>
              <a:r>
                <a:rPr lang="zh-CN" altLang="en-US" dirty="0">
                  <a:solidFill>
                    <a:schemeClr val="accen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空间可视化</a:t>
              </a:r>
              <a:endParaRPr kumimoji="1" lang="zh-CN" altLang="en-US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7" name="直线连接符 19">
              <a:extLst>
                <a:ext uri="{FF2B5EF4-FFF2-40B4-BE49-F238E27FC236}">
                  <a16:creationId xmlns:a16="http://schemas.microsoft.com/office/drawing/2014/main" id="{8C505BE0-89D2-D311-A035-83725CEA1774}"/>
                </a:ext>
              </a:extLst>
            </p:cNvPr>
            <p:cNvCxnSpPr/>
            <p:nvPr>
              <p:custDataLst>
                <p:tags r:id="rId6"/>
              </p:custDataLst>
            </p:nvPr>
          </p:nvCxnSpPr>
          <p:spPr>
            <a:xfrm>
              <a:off x="3797406" y="4340556"/>
              <a:ext cx="6334019" cy="0"/>
            </a:xfrm>
            <a:prstGeom prst="line">
              <a:avLst/>
            </a:prstGeom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6B8F2C16-2202-4392-8818-2A0A6C7280C3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zh-CN" sz="3600" dirty="0"/>
              <a:t>7.1 </a:t>
            </a:r>
            <a:r>
              <a:rPr lang="zh-CN" altLang="en-US" sz="3600" dirty="0"/>
              <a:t>章节</a:t>
            </a:r>
            <a:r>
              <a:rPr lang="en-US" altLang="zh-CN" sz="3600" dirty="0"/>
              <a:t>R</a:t>
            </a:r>
            <a:r>
              <a:rPr lang="zh-CN" altLang="en-US" sz="3600" dirty="0"/>
              <a:t>函数包准备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C7436B85-48D0-8899-BD00-BB0005BDE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B3369F9-03CD-4B48-86A9-9EE39A82955A}" type="slidenum">
              <a:rPr lang="zh-CN" altLang="en-US" smtClean="0"/>
              <a:pPr>
                <a:defRPr/>
              </a:pPr>
              <a:t>3</a:t>
            </a:fld>
            <a:endParaRPr lang="zh-CN" altLang="en-US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6ACC306-9AE4-A705-F5A3-74E59ED90E72}"/>
              </a:ext>
            </a:extLst>
          </p:cNvPr>
          <p:cNvSpPr/>
          <p:nvPr/>
        </p:nvSpPr>
        <p:spPr>
          <a:xfrm>
            <a:off x="790903" y="2315214"/>
            <a:ext cx="3892315" cy="25364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+mj-ea"/>
                <a:sym typeface="Consolas" panose="020B0609020204030204" pitchFamily="49" charset="0"/>
              </a:rPr>
              <a:t># 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+mj-ea"/>
                <a:sym typeface="Consolas" panose="020B0609020204030204" pitchFamily="49" charset="0"/>
              </a:rPr>
              <a:t>安装函数包</a:t>
            </a:r>
          </a:p>
          <a:p>
            <a:pPr>
              <a:lnSpc>
                <a:spcPct val="150000"/>
              </a:lnSpc>
            </a:pPr>
            <a:r>
              <a:rPr lang="en-US" altLang="zh-CN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+mj-ea"/>
                <a:sym typeface="Consolas" panose="020B0609020204030204" pitchFamily="49" charset="0"/>
              </a:rPr>
              <a:t>install.packages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+mj-ea"/>
                <a:sym typeface="Consolas" panose="020B0609020204030204" pitchFamily="49" charset="0"/>
              </a:rPr>
              <a:t>("ggplot2")</a:t>
            </a:r>
          </a:p>
          <a:p>
            <a:pPr>
              <a:lnSpc>
                <a:spcPct val="150000"/>
              </a:lnSpc>
            </a:pPr>
            <a:r>
              <a:rPr lang="en-US" altLang="zh-CN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+mj-ea"/>
                <a:sym typeface="Consolas" panose="020B0609020204030204" pitchFamily="49" charset="0"/>
              </a:rPr>
              <a:t>install.packages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+mj-ea"/>
                <a:sym typeface="Consolas" panose="020B0609020204030204" pitchFamily="49" charset="0"/>
              </a:rPr>
              <a:t>("</a:t>
            </a:r>
            <a:r>
              <a:rPr lang="en-US" altLang="zh-CN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+mj-ea"/>
                <a:sym typeface="Consolas" panose="020B0609020204030204" pitchFamily="49" charset="0"/>
              </a:rPr>
              <a:t>ggspatial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+mj-ea"/>
                <a:sym typeface="Consolas" panose="020B0609020204030204" pitchFamily="49" charset="0"/>
              </a:rPr>
              <a:t>")</a:t>
            </a:r>
          </a:p>
          <a:p>
            <a:pPr>
              <a:lnSpc>
                <a:spcPct val="150000"/>
              </a:lnSpc>
            </a:pPr>
            <a:r>
              <a:rPr lang="en-US" altLang="zh-CN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+mj-ea"/>
                <a:sym typeface="Consolas" panose="020B0609020204030204" pitchFamily="49" charset="0"/>
              </a:rPr>
              <a:t>install.packages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+mj-ea"/>
                <a:sym typeface="Consolas" panose="020B0609020204030204" pitchFamily="49" charset="0"/>
              </a:rPr>
              <a:t>("maps")</a:t>
            </a:r>
          </a:p>
          <a:p>
            <a:pPr>
              <a:lnSpc>
                <a:spcPct val="150000"/>
              </a:lnSpc>
            </a:pPr>
            <a:r>
              <a:rPr lang="en-US" altLang="zh-CN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+mj-ea"/>
                <a:sym typeface="Consolas" panose="020B0609020204030204" pitchFamily="49" charset="0"/>
              </a:rPr>
              <a:t>install.packages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+mj-ea"/>
                <a:sym typeface="Consolas" panose="020B0609020204030204" pitchFamily="49" charset="0"/>
              </a:rPr>
              <a:t>("patchwork")</a:t>
            </a:r>
          </a:p>
          <a:p>
            <a:pPr>
              <a:lnSpc>
                <a:spcPct val="150000"/>
              </a:lnSpc>
            </a:pPr>
            <a:r>
              <a:rPr lang="en-US" altLang="zh-CN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+mj-ea"/>
                <a:sym typeface="Consolas" panose="020B0609020204030204" pitchFamily="49" charset="0"/>
              </a:rPr>
              <a:t>install.packages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+mj-ea"/>
                <a:sym typeface="Consolas" panose="020B0609020204030204" pitchFamily="49" charset="0"/>
              </a:rPr>
              <a:t>("</a:t>
            </a:r>
            <a:r>
              <a:rPr lang="en-US" altLang="zh-CN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+mj-ea"/>
                <a:sym typeface="Consolas" panose="020B0609020204030204" pitchFamily="49" charset="0"/>
              </a:rPr>
              <a:t>ggthemes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+mj-ea"/>
                <a:sym typeface="Consolas" panose="020B0609020204030204" pitchFamily="49" charset="0"/>
              </a:rPr>
              <a:t>")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BFE6E59-B0FE-568B-A345-E03CF1B13BEA}"/>
              </a:ext>
            </a:extLst>
          </p:cNvPr>
          <p:cNvSpPr/>
          <p:nvPr/>
        </p:nvSpPr>
        <p:spPr>
          <a:xfrm>
            <a:off x="5105400" y="2315214"/>
            <a:ext cx="2857500" cy="25364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+mj-ea"/>
                <a:sym typeface="Consolas" panose="020B0609020204030204" pitchFamily="49" charset="0"/>
              </a:rPr>
              <a:t># 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+mj-ea"/>
                <a:sym typeface="Consolas" panose="020B0609020204030204" pitchFamily="49" charset="0"/>
              </a:rPr>
              <a:t>加载函数包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+mj-ea"/>
                <a:sym typeface="Consolas" panose="020B0609020204030204" pitchFamily="49" charset="0"/>
              </a:rPr>
              <a:t>library(ggplot2)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+mj-ea"/>
                <a:sym typeface="Consolas" panose="020B0609020204030204" pitchFamily="49" charset="0"/>
              </a:rPr>
              <a:t>library(</a:t>
            </a:r>
            <a:r>
              <a:rPr lang="en-US" altLang="zh-CN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+mj-ea"/>
                <a:sym typeface="Consolas" panose="020B0609020204030204" pitchFamily="49" charset="0"/>
              </a:rPr>
              <a:t>ggspatial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+mj-ea"/>
                <a:sym typeface="Consolas" panose="020B0609020204030204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+mj-ea"/>
                <a:sym typeface="Consolas" panose="020B0609020204030204" pitchFamily="49" charset="0"/>
              </a:rPr>
              <a:t>library(maps)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+mj-ea"/>
                <a:sym typeface="Consolas" panose="020B0609020204030204" pitchFamily="49" charset="0"/>
              </a:rPr>
              <a:t>library(patchwork)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+mj-ea"/>
                <a:sym typeface="Consolas" panose="020B0609020204030204" pitchFamily="49" charset="0"/>
              </a:rPr>
              <a:t>library(</a:t>
            </a:r>
            <a:r>
              <a:rPr lang="en-US" altLang="zh-CN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+mj-ea"/>
                <a:sym typeface="Consolas" panose="020B0609020204030204" pitchFamily="49" charset="0"/>
              </a:rPr>
              <a:t>ggthemes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+mj-ea"/>
                <a:sym typeface="Consolas" panose="020B0609020204030204" pitchFamily="49" charset="0"/>
              </a:rPr>
              <a:t>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FAE90F5A-C099-48D9-89B7-EC495E070D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1100" y="1295400"/>
            <a:ext cx="3200400" cy="4860583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76E22F91-BAF6-411E-8F2D-A6F24625A2C9}"/>
              </a:ext>
            </a:extLst>
          </p:cNvPr>
          <p:cNvSpPr/>
          <p:nvPr/>
        </p:nvSpPr>
        <p:spPr>
          <a:xfrm>
            <a:off x="419100" y="1790700"/>
            <a:ext cx="4267200" cy="38831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 latinLnBrk="1">
              <a:lnSpc>
                <a:spcPct val="20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ggplot2</a:t>
            </a: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函数包是由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Hadley Wickham</a:t>
            </a: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等人开发和维护（</a:t>
            </a:r>
            <a:r>
              <a:rPr lang="en-US" altLang="zh-CN" u="sng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https://CRAN.R-project.org/package=ggplot2</a:t>
            </a: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），是</a:t>
            </a: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R</a:t>
            </a: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语言中广泛使用的数据可视化包。它建立在图形语法理论的基础上，其名字中的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“gg”</a:t>
            </a: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即代表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“grammar of graphics”</a:t>
            </a: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，表示构建图形的语法，而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“plot”</a:t>
            </a: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则表示绘图。</a:t>
            </a:r>
            <a:endParaRPr lang="zh-CN" altLang="en-US" dirty="0"/>
          </a:p>
        </p:txBody>
      </p:sp>
      <p:sp>
        <p:nvSpPr>
          <p:cNvPr id="4" name="标题 3">
            <a:extLst>
              <a:ext uri="{FF2B5EF4-FFF2-40B4-BE49-F238E27FC236}">
                <a16:creationId xmlns:a16="http://schemas.microsoft.com/office/drawing/2014/main" id="{CB4DFFE2-D3F2-FFC0-DE86-C2A542F70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1101" y="342900"/>
            <a:ext cx="6896099" cy="663575"/>
          </a:xfrm>
          <a:prstGeom prst="rect">
            <a:avLst/>
          </a:prstGeom>
        </p:spPr>
        <p:txBody>
          <a:bodyPr/>
          <a:lstStyle/>
          <a:p>
            <a:r>
              <a:rPr lang="en-US" altLang="zh-CN" sz="3600" dirty="0"/>
              <a:t>7.1 </a:t>
            </a:r>
            <a:r>
              <a:rPr lang="zh-CN" altLang="en-US" sz="3600" dirty="0"/>
              <a:t>章节</a:t>
            </a:r>
            <a:r>
              <a:rPr lang="en-US" altLang="zh-CN" sz="3600" dirty="0"/>
              <a:t>R</a:t>
            </a:r>
            <a:r>
              <a:rPr lang="zh-CN" altLang="en-US" sz="3600" dirty="0"/>
              <a:t>函数包准备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64350A4E-20E7-3A24-BA57-DDCB585EF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B3369F9-03CD-4B48-86A9-9EE39A82955A}" type="slidenum">
              <a:rPr lang="zh-CN" altLang="en-US" smtClean="0"/>
              <a:pPr>
                <a:defRPr/>
              </a:pPr>
              <a:t>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114493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1A5C5-FA40-67C2-6506-191ABB243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20F20D11-946E-153A-6146-27DFEDDF0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7.2 ggplot2</a:t>
            </a:r>
            <a:r>
              <a:rPr lang="zh-CN" altLang="en-US" sz="3600" dirty="0"/>
              <a:t>统计可视化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3686086-DB26-517E-6873-6D5A0E374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fld id="{5DD3DB80-B894-403A-B48E-6FDC1A72010E}" type="slidenum">
              <a:rPr lang="zh-CN" altLang="en-US" smtClean="0">
                <a:cs typeface="+mn-ea"/>
                <a:sym typeface="+mn-lt"/>
              </a:rPr>
              <a:t>5</a:t>
            </a:fld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BE602CA-DDB8-71DC-C108-25BCC63D9DD7}"/>
              </a:ext>
            </a:extLst>
          </p:cNvPr>
          <p:cNvSpPr/>
          <p:nvPr/>
        </p:nvSpPr>
        <p:spPr>
          <a:xfrm>
            <a:off x="1679196" y="1219200"/>
            <a:ext cx="5521704" cy="532677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400" b="1" dirty="0">
                <a:solidFill>
                  <a:schemeClr val="accent1"/>
                </a:solidFill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7.2.1 ggplot2 </a:t>
            </a:r>
            <a:r>
              <a:rPr lang="zh-CN" altLang="en-US" sz="2400" b="1" dirty="0">
                <a:solidFill>
                  <a:schemeClr val="accent1"/>
                </a:solidFill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基础语法</a:t>
            </a:r>
            <a:endParaRPr lang="en-US" altLang="zh-CN" sz="2400" b="1" dirty="0">
              <a:solidFill>
                <a:schemeClr val="accent1"/>
              </a:solidFill>
              <a:latin typeface="+mn-lt"/>
              <a:ea typeface="微软雅黑" panose="020B0503020204020204" pitchFamily="34" charset="-122"/>
              <a:cs typeface="+mn-ea"/>
              <a:sym typeface="Consolas" panose="020B0609020204030204" pitchFamily="49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2400" b="1" dirty="0">
                <a:solidFill>
                  <a:schemeClr val="accent1"/>
                </a:solidFill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7.2.2 </a:t>
            </a:r>
            <a:r>
              <a:rPr lang="zh-CN" altLang="en-US" sz="2400" b="1" dirty="0">
                <a:solidFill>
                  <a:schemeClr val="accent1"/>
                </a:solidFill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数据（</a:t>
            </a:r>
            <a:r>
              <a:rPr lang="en-US" altLang="zh-CN" sz="2400" b="1" dirty="0">
                <a:solidFill>
                  <a:schemeClr val="accent1"/>
                </a:solidFill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data</a:t>
            </a:r>
            <a:r>
              <a:rPr lang="zh-CN" altLang="en-US" sz="2400" b="1" dirty="0">
                <a:solidFill>
                  <a:schemeClr val="accent1"/>
                </a:solidFill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）</a:t>
            </a:r>
            <a:endParaRPr lang="en-US" altLang="zh-CN" sz="2400" b="1" dirty="0">
              <a:solidFill>
                <a:schemeClr val="accent1"/>
              </a:solidFill>
              <a:latin typeface="+mn-lt"/>
              <a:ea typeface="微软雅黑" panose="020B0503020204020204" pitchFamily="34" charset="-122"/>
              <a:cs typeface="+mn-ea"/>
              <a:sym typeface="Consolas" panose="020B0609020204030204" pitchFamily="49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2400" b="1" dirty="0">
                <a:solidFill>
                  <a:schemeClr val="accent1"/>
                </a:solidFill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7.2.3 </a:t>
            </a:r>
            <a:r>
              <a:rPr lang="zh-CN" altLang="en-US" sz="2400" b="1" dirty="0">
                <a:solidFill>
                  <a:schemeClr val="accent1"/>
                </a:solidFill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美学映射（</a:t>
            </a:r>
            <a:r>
              <a:rPr lang="en-US" altLang="zh-CN" sz="2400" b="1" dirty="0">
                <a:solidFill>
                  <a:schemeClr val="accent1"/>
                </a:solidFill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aesthetic mappings</a:t>
            </a:r>
            <a:r>
              <a:rPr lang="zh-CN" altLang="en-US" sz="2400" b="1" dirty="0">
                <a:solidFill>
                  <a:schemeClr val="accent1"/>
                </a:solidFill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）</a:t>
            </a:r>
            <a:endParaRPr lang="en-US" altLang="zh-CN" sz="2400" b="1" dirty="0">
              <a:solidFill>
                <a:schemeClr val="accent1"/>
              </a:solidFill>
              <a:latin typeface="+mn-lt"/>
              <a:ea typeface="微软雅黑" panose="020B0503020204020204" pitchFamily="34" charset="-122"/>
              <a:cs typeface="+mn-ea"/>
              <a:sym typeface="Consolas" panose="020B0609020204030204" pitchFamily="49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2400" b="1" dirty="0">
                <a:solidFill>
                  <a:schemeClr val="accent1"/>
                </a:solidFill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7.2.4 </a:t>
            </a:r>
            <a:r>
              <a:rPr lang="zh-CN" altLang="en-US" sz="2400" b="1" dirty="0">
                <a:solidFill>
                  <a:schemeClr val="accent1"/>
                </a:solidFill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几何对象（</a:t>
            </a:r>
            <a:r>
              <a:rPr lang="en-US" altLang="zh-CN" sz="2400" b="1" dirty="0">
                <a:solidFill>
                  <a:schemeClr val="accent1"/>
                </a:solidFill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geometric</a:t>
            </a:r>
            <a:r>
              <a:rPr lang="zh-CN" altLang="en-US" sz="2400" b="1" dirty="0">
                <a:solidFill>
                  <a:schemeClr val="accent1"/>
                </a:solidFill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）</a:t>
            </a:r>
            <a:endParaRPr lang="en-US" altLang="zh-CN" sz="2400" b="1" dirty="0">
              <a:solidFill>
                <a:schemeClr val="accent1"/>
              </a:solidFill>
              <a:latin typeface="+mn-lt"/>
              <a:ea typeface="微软雅黑" panose="020B0503020204020204" pitchFamily="34" charset="-122"/>
              <a:cs typeface="+mn-ea"/>
              <a:sym typeface="Consolas" panose="020B0609020204030204" pitchFamily="49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2400" b="1" dirty="0">
                <a:solidFill>
                  <a:schemeClr val="accent1"/>
                </a:solidFill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7.2.5 </a:t>
            </a:r>
            <a:r>
              <a:rPr lang="zh-CN" altLang="en-US" sz="2400" b="1" dirty="0">
                <a:solidFill>
                  <a:schemeClr val="accent1"/>
                </a:solidFill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标度（</a:t>
            </a:r>
            <a:r>
              <a:rPr lang="en-US" altLang="zh-CN" sz="2400" b="1" dirty="0">
                <a:solidFill>
                  <a:schemeClr val="accent1"/>
                </a:solidFill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scale</a:t>
            </a:r>
            <a:r>
              <a:rPr lang="zh-CN" altLang="en-US" sz="2400" b="1" dirty="0">
                <a:solidFill>
                  <a:schemeClr val="accent1"/>
                </a:solidFill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）</a:t>
            </a:r>
            <a:endParaRPr lang="en-US" altLang="zh-CN" sz="2400" b="1" dirty="0">
              <a:solidFill>
                <a:schemeClr val="accent1"/>
              </a:solidFill>
              <a:latin typeface="+mn-lt"/>
              <a:ea typeface="微软雅黑" panose="020B0503020204020204" pitchFamily="34" charset="-122"/>
              <a:cs typeface="+mn-ea"/>
              <a:sym typeface="Consolas" panose="020B0609020204030204" pitchFamily="49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2400" b="1" dirty="0">
                <a:solidFill>
                  <a:schemeClr val="accent1"/>
                </a:solidFill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7.2.6 </a:t>
            </a:r>
            <a:r>
              <a:rPr lang="zh-CN" altLang="en-US" sz="2400" b="1" dirty="0">
                <a:solidFill>
                  <a:schemeClr val="accent1"/>
                </a:solidFill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统计变换（</a:t>
            </a:r>
            <a:r>
              <a:rPr lang="en-US" altLang="zh-CN" sz="2400" b="1" dirty="0">
                <a:solidFill>
                  <a:schemeClr val="accent1"/>
                </a:solidFill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Statistics</a:t>
            </a:r>
            <a:r>
              <a:rPr lang="zh-CN" altLang="en-US" sz="2400" b="1" dirty="0">
                <a:solidFill>
                  <a:schemeClr val="accent1"/>
                </a:solidFill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）</a:t>
            </a:r>
          </a:p>
          <a:p>
            <a:pPr>
              <a:lnSpc>
                <a:spcPct val="130000"/>
              </a:lnSpc>
            </a:pPr>
            <a:r>
              <a:rPr lang="en-US" altLang="zh-CN" sz="2400" b="1" dirty="0">
                <a:solidFill>
                  <a:schemeClr val="accent1"/>
                </a:solidFill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7.2.7 </a:t>
            </a:r>
            <a:r>
              <a:rPr lang="zh-CN" altLang="en-US" sz="2400" b="1" dirty="0">
                <a:solidFill>
                  <a:schemeClr val="accent1"/>
                </a:solidFill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坐标系（</a:t>
            </a:r>
            <a:r>
              <a:rPr lang="en-US" altLang="zh-CN" sz="2400" b="1" dirty="0">
                <a:solidFill>
                  <a:schemeClr val="accent1"/>
                </a:solidFill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Coordinate</a:t>
            </a:r>
            <a:r>
              <a:rPr lang="zh-CN" altLang="en-US" sz="2400" b="1" dirty="0">
                <a:solidFill>
                  <a:schemeClr val="accent1"/>
                </a:solidFill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）</a:t>
            </a:r>
            <a:endParaRPr lang="en-US" altLang="zh-CN" sz="2400" b="1" dirty="0">
              <a:solidFill>
                <a:schemeClr val="accent1"/>
              </a:solidFill>
              <a:latin typeface="+mn-lt"/>
              <a:ea typeface="微软雅黑" panose="020B0503020204020204" pitchFamily="34" charset="-122"/>
              <a:cs typeface="+mn-ea"/>
              <a:sym typeface="Consolas" panose="020B0609020204030204" pitchFamily="49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2400" b="1" dirty="0">
                <a:solidFill>
                  <a:schemeClr val="accent1"/>
                </a:solidFill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7.2.8 </a:t>
            </a:r>
            <a:r>
              <a:rPr lang="zh-CN" altLang="en-US" sz="2400" b="1" dirty="0">
                <a:solidFill>
                  <a:schemeClr val="accent1"/>
                </a:solidFill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位置调整（</a:t>
            </a:r>
            <a:r>
              <a:rPr lang="en-US" altLang="zh-CN" sz="2400" b="1" dirty="0">
                <a:solidFill>
                  <a:schemeClr val="accent1"/>
                </a:solidFill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Position Adjustments</a:t>
            </a:r>
            <a:r>
              <a:rPr lang="zh-CN" altLang="en-US" sz="2400" b="1" dirty="0">
                <a:solidFill>
                  <a:schemeClr val="accent1"/>
                </a:solidFill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）</a:t>
            </a:r>
            <a:endParaRPr lang="en-US" altLang="zh-CN" sz="2400" b="1" dirty="0">
              <a:solidFill>
                <a:schemeClr val="accent1"/>
              </a:solidFill>
              <a:latin typeface="+mn-lt"/>
              <a:ea typeface="微软雅黑" panose="020B0503020204020204" pitchFamily="34" charset="-122"/>
              <a:cs typeface="+mn-ea"/>
              <a:sym typeface="Consolas" panose="020B0609020204030204" pitchFamily="49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2400" b="1" dirty="0">
                <a:solidFill>
                  <a:schemeClr val="accent1"/>
                </a:solidFill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7.2.9 </a:t>
            </a:r>
            <a:r>
              <a:rPr lang="zh-CN" altLang="en-US" sz="2400" b="1" dirty="0">
                <a:solidFill>
                  <a:schemeClr val="accent1"/>
                </a:solidFill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分面（</a:t>
            </a:r>
            <a:r>
              <a:rPr lang="en-US" altLang="zh-CN" sz="2400" b="1" dirty="0">
                <a:solidFill>
                  <a:schemeClr val="accent1"/>
                </a:solidFill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facet</a:t>
            </a:r>
            <a:r>
              <a:rPr lang="zh-CN" altLang="en-US" sz="2400" b="1" dirty="0">
                <a:solidFill>
                  <a:schemeClr val="accent1"/>
                </a:solidFill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）</a:t>
            </a:r>
            <a:endParaRPr lang="en-US" altLang="zh-CN" sz="2400" b="1" dirty="0">
              <a:solidFill>
                <a:schemeClr val="accent1"/>
              </a:solidFill>
              <a:latin typeface="+mn-lt"/>
              <a:ea typeface="微软雅黑" panose="020B0503020204020204" pitchFamily="34" charset="-122"/>
              <a:cs typeface="+mn-ea"/>
              <a:sym typeface="Consolas" panose="020B0609020204030204" pitchFamily="49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2400" b="1" dirty="0">
                <a:solidFill>
                  <a:schemeClr val="accent1"/>
                </a:solidFill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7.2.10 </a:t>
            </a:r>
            <a:r>
              <a:rPr lang="zh-CN" altLang="en-US" sz="2400" b="1" dirty="0">
                <a:solidFill>
                  <a:schemeClr val="accent1"/>
                </a:solidFill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主题（</a:t>
            </a:r>
            <a:r>
              <a:rPr lang="en-US" altLang="zh-CN" sz="2400" b="1" dirty="0">
                <a:solidFill>
                  <a:schemeClr val="accent1"/>
                </a:solidFill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theme</a:t>
            </a:r>
            <a:r>
              <a:rPr lang="zh-CN" altLang="en-US" sz="2400" b="1" dirty="0">
                <a:solidFill>
                  <a:schemeClr val="accent1"/>
                </a:solidFill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）</a:t>
            </a:r>
            <a:endParaRPr lang="en-US" altLang="zh-CN" sz="2400" b="1" dirty="0">
              <a:solidFill>
                <a:schemeClr val="accent1"/>
              </a:solidFill>
              <a:latin typeface="+mn-lt"/>
              <a:ea typeface="微软雅黑" panose="020B0503020204020204" pitchFamily="34" charset="-122"/>
              <a:cs typeface="+mn-ea"/>
              <a:sym typeface="Consolas" panose="020B0609020204030204" pitchFamily="49" charset="0"/>
            </a:endParaRPr>
          </a:p>
          <a:p>
            <a:pPr>
              <a:lnSpc>
                <a:spcPct val="130000"/>
              </a:lnSpc>
            </a:pPr>
            <a:r>
              <a:rPr lang="en-US" altLang="zh-CN" sz="2400" b="1" dirty="0">
                <a:solidFill>
                  <a:schemeClr val="accent1"/>
                </a:solidFill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7.2.11 </a:t>
            </a:r>
            <a:r>
              <a:rPr lang="zh-CN" altLang="en-US" sz="2400" b="1" dirty="0">
                <a:solidFill>
                  <a:schemeClr val="accent1"/>
                </a:solidFill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输出（</a:t>
            </a:r>
            <a:r>
              <a:rPr lang="en-US" altLang="zh-CN" sz="2400" b="1" dirty="0">
                <a:solidFill>
                  <a:schemeClr val="accent1"/>
                </a:solidFill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output</a:t>
            </a:r>
            <a:r>
              <a:rPr lang="zh-CN" altLang="en-US" sz="2400" b="1" dirty="0">
                <a:solidFill>
                  <a:schemeClr val="accent1"/>
                </a:solidFill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4064524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963757E8-3D86-4C00-EC30-09810CCCA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7.2.1 ggplot2</a:t>
            </a:r>
            <a:r>
              <a:rPr lang="zh-CN" altLang="en-US" sz="3600" dirty="0"/>
              <a:t>基础语法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fld id="{5DD3DB80-B894-403A-B48E-6FDC1A72010E}" type="slidenum">
              <a:rPr lang="zh-CN" altLang="en-US" smtClean="0">
                <a:cs typeface="+mn-ea"/>
                <a:sym typeface="+mn-lt"/>
              </a:rPr>
              <a:t>6</a:t>
            </a:fld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5EF2105-8272-4BEB-9E97-F468A7013A81}"/>
              </a:ext>
            </a:extLst>
          </p:cNvPr>
          <p:cNvSpPr/>
          <p:nvPr/>
        </p:nvSpPr>
        <p:spPr>
          <a:xfrm>
            <a:off x="1495425" y="3419468"/>
            <a:ext cx="6191250" cy="26430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57530" indent="254000">
              <a:lnSpc>
                <a:spcPct val="150000"/>
              </a:lnSpc>
              <a:spcAft>
                <a:spcPts val="0"/>
              </a:spcAft>
            </a:pPr>
            <a:r>
              <a:rPr lang="en-US" altLang="zh-CN" sz="1400" dirty="0" err="1">
                <a:solidFill>
                  <a:srgbClr val="8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ggplot</a:t>
            </a:r>
            <a:r>
              <a:rPr lang="en-US" altLang="zh-CN" sz="1400" dirty="0">
                <a:solidFill>
                  <a:srgbClr val="8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(data = &lt;DATA&gt;, mapping = </a:t>
            </a:r>
            <a:r>
              <a:rPr lang="en-US" altLang="zh-CN" sz="1400" dirty="0" err="1">
                <a:solidFill>
                  <a:srgbClr val="8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aes</a:t>
            </a:r>
            <a:r>
              <a:rPr lang="en-US" altLang="zh-CN" sz="1400" dirty="0">
                <a:solidFill>
                  <a:srgbClr val="8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(&lt;MAPPINGS&gt;)) + </a:t>
            </a:r>
            <a:endParaRPr lang="zh-CN" altLang="zh-CN" sz="1400" dirty="0">
              <a:solidFill>
                <a:srgbClr val="8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04800" indent="69215">
              <a:lnSpc>
                <a:spcPct val="150000"/>
              </a:lnSpc>
              <a:spcAft>
                <a:spcPts val="0"/>
              </a:spcAft>
            </a:pPr>
            <a:r>
              <a:rPr lang="en-US" altLang="zh-CN" sz="1400" dirty="0">
                <a:solidFill>
                  <a:srgbClr val="8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&lt;GEOM_FUNCTION&gt;(mapping = </a:t>
            </a:r>
            <a:r>
              <a:rPr lang="en-US" altLang="zh-CN" sz="1400" dirty="0" err="1">
                <a:solidFill>
                  <a:srgbClr val="8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aes</a:t>
            </a:r>
            <a:r>
              <a:rPr lang="en-US" altLang="zh-CN" sz="1400" dirty="0">
                <a:solidFill>
                  <a:srgbClr val="8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(&lt;MAPPINGS&gt;), </a:t>
            </a:r>
            <a:endParaRPr lang="zh-CN" altLang="zh-CN" sz="1400" dirty="0">
              <a:solidFill>
                <a:srgbClr val="8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04800" indent="69215">
              <a:lnSpc>
                <a:spcPct val="150000"/>
              </a:lnSpc>
              <a:spcAft>
                <a:spcPts val="0"/>
              </a:spcAft>
            </a:pPr>
            <a:r>
              <a:rPr lang="en-US" altLang="zh-CN" sz="1400" dirty="0">
                <a:solidFill>
                  <a:srgbClr val="8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stat = &lt;STAT&gt;, </a:t>
            </a:r>
            <a:endParaRPr lang="zh-CN" altLang="zh-CN" sz="1400" dirty="0">
              <a:solidFill>
                <a:srgbClr val="8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04800" indent="69215">
              <a:lnSpc>
                <a:spcPct val="150000"/>
              </a:lnSpc>
              <a:spcAft>
                <a:spcPts val="0"/>
              </a:spcAft>
            </a:pPr>
            <a:r>
              <a:rPr lang="en-US" altLang="zh-CN" sz="1400" dirty="0">
                <a:solidFill>
                  <a:srgbClr val="8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position = &lt;POSITION&gt;) + </a:t>
            </a:r>
            <a:endParaRPr lang="zh-CN" altLang="zh-CN" sz="1400" dirty="0">
              <a:solidFill>
                <a:srgbClr val="8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557530" indent="254000">
              <a:lnSpc>
                <a:spcPct val="150000"/>
              </a:lnSpc>
              <a:spcAft>
                <a:spcPts val="0"/>
              </a:spcAft>
            </a:pPr>
            <a:r>
              <a:rPr lang="en-US" altLang="zh-CN" sz="1400" dirty="0">
                <a:solidFill>
                  <a:srgbClr val="8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&lt;SCALE_FUNCTION&gt; +</a:t>
            </a:r>
            <a:endParaRPr lang="zh-CN" altLang="zh-CN" sz="1400" dirty="0">
              <a:solidFill>
                <a:srgbClr val="8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557530" indent="254000">
              <a:lnSpc>
                <a:spcPct val="150000"/>
              </a:lnSpc>
              <a:spcAft>
                <a:spcPts val="0"/>
              </a:spcAft>
            </a:pPr>
            <a:r>
              <a:rPr lang="en-US" altLang="zh-CN" sz="1400" dirty="0">
                <a:solidFill>
                  <a:srgbClr val="8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&lt;COORDINATE_FUNCTION&gt; + </a:t>
            </a:r>
            <a:endParaRPr lang="zh-CN" altLang="zh-CN" sz="1400" dirty="0">
              <a:solidFill>
                <a:srgbClr val="8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557530" indent="254000">
              <a:lnSpc>
                <a:spcPct val="150000"/>
              </a:lnSpc>
              <a:spcAft>
                <a:spcPts val="0"/>
              </a:spcAft>
            </a:pPr>
            <a:r>
              <a:rPr lang="en-US" altLang="zh-CN" sz="1400" dirty="0">
                <a:solidFill>
                  <a:srgbClr val="8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&lt;FACET_FUNCTION&gt; + </a:t>
            </a:r>
            <a:endParaRPr lang="zh-CN" altLang="zh-CN" sz="1400" dirty="0">
              <a:solidFill>
                <a:srgbClr val="8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557530" indent="254000">
              <a:lnSpc>
                <a:spcPct val="150000"/>
              </a:lnSpc>
              <a:spcAft>
                <a:spcPts val="0"/>
              </a:spcAft>
            </a:pPr>
            <a:r>
              <a:rPr lang="en-US" altLang="zh-CN" sz="1400" dirty="0">
                <a:solidFill>
                  <a:srgbClr val="8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&lt;THEME_FUNCTION&gt;</a:t>
            </a:r>
            <a:endParaRPr lang="zh-CN" altLang="zh-CN" sz="1400" dirty="0">
              <a:solidFill>
                <a:srgbClr val="8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11D7449-B9FC-44EE-8520-F7BA8695E794}"/>
              </a:ext>
            </a:extLst>
          </p:cNvPr>
          <p:cNvSpPr/>
          <p:nvPr/>
        </p:nvSpPr>
        <p:spPr>
          <a:xfrm>
            <a:off x="457200" y="1371600"/>
            <a:ext cx="8267700" cy="17052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>
              <a:lnSpc>
                <a:spcPct val="15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ggplot2</a:t>
            </a:r>
            <a:r>
              <a:rPr lang="zh-CN" altLang="zh-CN" dirty="0">
                <a:latin typeface="+mn-lt"/>
                <a:ea typeface="+mj-ea"/>
                <a:cs typeface="Times New Roman" panose="02020603050405020304" pitchFamily="18" charset="0"/>
              </a:rPr>
              <a:t>的可视化函数语法包括数据（</a:t>
            </a:r>
            <a:r>
              <a:rPr lang="en-US" altLang="zh-CN" dirty="0">
                <a:latin typeface="+mn-lt"/>
                <a:ea typeface="+mj-ea"/>
              </a:rPr>
              <a:t>data</a:t>
            </a:r>
            <a:r>
              <a:rPr lang="zh-CN" altLang="zh-CN" dirty="0">
                <a:latin typeface="+mn-lt"/>
                <a:ea typeface="+mj-ea"/>
                <a:cs typeface="Times New Roman" panose="02020603050405020304" pitchFamily="18" charset="0"/>
              </a:rPr>
              <a:t>）、映射（</a:t>
            </a:r>
            <a:r>
              <a:rPr lang="en-US" altLang="zh-CN" dirty="0">
                <a:latin typeface="+mn-lt"/>
                <a:ea typeface="+mj-ea"/>
              </a:rPr>
              <a:t>mapping</a:t>
            </a:r>
            <a:r>
              <a:rPr lang="zh-CN" altLang="zh-CN" dirty="0">
                <a:latin typeface="+mn-lt"/>
                <a:ea typeface="+mj-ea"/>
                <a:cs typeface="Times New Roman" panose="02020603050405020304" pitchFamily="18" charset="0"/>
              </a:rPr>
              <a:t>）、几何对象（</a:t>
            </a:r>
            <a:r>
              <a:rPr lang="en-US" altLang="zh-CN" dirty="0">
                <a:latin typeface="+mn-lt"/>
                <a:ea typeface="+mj-ea"/>
              </a:rPr>
              <a:t>geometric</a:t>
            </a:r>
            <a:r>
              <a:rPr lang="zh-CN" altLang="zh-CN" dirty="0">
                <a:latin typeface="+mn-lt"/>
                <a:ea typeface="+mj-ea"/>
                <a:cs typeface="Times New Roman" panose="02020603050405020304" pitchFamily="18" charset="0"/>
              </a:rPr>
              <a:t>）、标度（</a:t>
            </a:r>
            <a:r>
              <a:rPr lang="en-US" altLang="zh-CN" dirty="0">
                <a:latin typeface="+mn-lt"/>
                <a:ea typeface="+mj-ea"/>
              </a:rPr>
              <a:t>scale</a:t>
            </a:r>
            <a:r>
              <a:rPr lang="zh-CN" altLang="zh-CN" dirty="0">
                <a:latin typeface="+mn-lt"/>
                <a:ea typeface="+mj-ea"/>
                <a:cs typeface="Times New Roman" panose="02020603050405020304" pitchFamily="18" charset="0"/>
              </a:rPr>
              <a:t>）、统计变换（</a:t>
            </a:r>
            <a:r>
              <a:rPr lang="en-US" altLang="zh-CN" dirty="0">
                <a:latin typeface="+mn-lt"/>
                <a:ea typeface="+mj-ea"/>
              </a:rPr>
              <a:t>statistics</a:t>
            </a:r>
            <a:r>
              <a:rPr lang="zh-CN" altLang="zh-CN" dirty="0">
                <a:latin typeface="+mn-lt"/>
                <a:ea typeface="+mj-ea"/>
                <a:cs typeface="Times New Roman" panose="02020603050405020304" pitchFamily="18" charset="0"/>
              </a:rPr>
              <a:t>）、坐标系（</a:t>
            </a:r>
            <a:r>
              <a:rPr lang="en-US" altLang="zh-CN" dirty="0">
                <a:latin typeface="+mn-lt"/>
                <a:ea typeface="+mj-ea"/>
              </a:rPr>
              <a:t>coordinate</a:t>
            </a:r>
            <a:r>
              <a:rPr lang="zh-CN" altLang="zh-CN" dirty="0">
                <a:latin typeface="+mn-lt"/>
                <a:ea typeface="+mj-ea"/>
                <a:cs typeface="Times New Roman" panose="02020603050405020304" pitchFamily="18" charset="0"/>
              </a:rPr>
              <a:t>）、位置调整（</a:t>
            </a:r>
            <a:r>
              <a:rPr lang="en-US" altLang="zh-CN" dirty="0">
                <a:latin typeface="+mn-lt"/>
                <a:ea typeface="+mj-ea"/>
              </a:rPr>
              <a:t>position adjustments</a:t>
            </a:r>
            <a:r>
              <a:rPr lang="zh-CN" altLang="zh-CN" dirty="0">
                <a:latin typeface="+mn-lt"/>
                <a:ea typeface="+mj-ea"/>
                <a:cs typeface="Times New Roman" panose="02020603050405020304" pitchFamily="18" charset="0"/>
              </a:rPr>
              <a:t>）、分面（</a:t>
            </a:r>
            <a:r>
              <a:rPr lang="en-US" altLang="zh-CN" dirty="0">
                <a:latin typeface="+mn-lt"/>
                <a:ea typeface="+mj-ea"/>
              </a:rPr>
              <a:t>facet</a:t>
            </a:r>
            <a:r>
              <a:rPr lang="zh-CN" altLang="zh-CN" dirty="0">
                <a:latin typeface="+mn-lt"/>
                <a:ea typeface="+mj-ea"/>
                <a:cs typeface="Times New Roman" panose="02020603050405020304" pitchFamily="18" charset="0"/>
              </a:rPr>
              <a:t>）、主题（</a:t>
            </a:r>
            <a:r>
              <a:rPr lang="en-US" altLang="zh-CN" dirty="0">
                <a:latin typeface="+mn-lt"/>
                <a:ea typeface="+mj-ea"/>
              </a:rPr>
              <a:t>theme</a:t>
            </a:r>
            <a:r>
              <a:rPr lang="zh-CN" altLang="zh-CN" dirty="0">
                <a:latin typeface="+mn-lt"/>
                <a:ea typeface="+mj-ea"/>
                <a:cs typeface="Times New Roman" panose="02020603050405020304" pitchFamily="18" charset="0"/>
              </a:rPr>
              <a:t>）和输出（</a:t>
            </a:r>
            <a:r>
              <a:rPr lang="en-US" altLang="zh-CN" dirty="0">
                <a:latin typeface="+mn-lt"/>
                <a:ea typeface="+mj-ea"/>
              </a:rPr>
              <a:t>output</a:t>
            </a:r>
            <a:r>
              <a:rPr lang="zh-CN" altLang="zh-CN" dirty="0">
                <a:latin typeface="+mn-lt"/>
                <a:ea typeface="+mj-ea"/>
                <a:cs typeface="Times New Roman" panose="02020603050405020304" pitchFamily="18" charset="0"/>
              </a:rPr>
              <a:t>）十个部件。</a:t>
            </a:r>
            <a:r>
              <a:rPr lang="zh-CN" altLang="en-US" dirty="0">
                <a:latin typeface="+mn-lt"/>
                <a:ea typeface="+mj-ea"/>
                <a:cs typeface="Times New Roman" panose="02020603050405020304" pitchFamily="18" charset="0"/>
              </a:rPr>
              <a:t>在此十个部件中，前</a:t>
            </a:r>
            <a:r>
              <a:rPr lang="en-US" altLang="zh-CN" dirty="0">
                <a:latin typeface="+mn-lt"/>
                <a:ea typeface="+mj-ea"/>
                <a:cs typeface="Times New Roman" panose="02020603050405020304" pitchFamily="18" charset="0"/>
              </a:rPr>
              <a:t>3</a:t>
            </a:r>
            <a:r>
              <a:rPr lang="zh-CN" altLang="en-US" dirty="0">
                <a:latin typeface="+mn-lt"/>
                <a:ea typeface="+mj-ea"/>
                <a:cs typeface="Times New Roman" panose="02020603050405020304" pitchFamily="18" charset="0"/>
              </a:rPr>
              <a:t>个是最为重要且必须的，其他部件为可选项。</a:t>
            </a:r>
          </a:p>
        </p:txBody>
      </p:sp>
    </p:spTree>
    <p:extLst>
      <p:ext uri="{BB962C8B-B14F-4D97-AF65-F5344CB8AC3E}">
        <p14:creationId xmlns:p14="http://schemas.microsoft.com/office/powerpoint/2010/main" val="23153817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fld id="{5DD3DB80-B894-403A-B48E-6FDC1A72010E}" type="slidenum">
              <a:rPr lang="zh-CN" altLang="en-US" smtClean="0">
                <a:cs typeface="+mn-ea"/>
                <a:sym typeface="+mn-lt"/>
              </a:rPr>
              <a:t>7</a:t>
            </a:fld>
            <a:endParaRPr lang="zh-CN" altLang="en-US">
              <a:cs typeface="+mn-ea"/>
              <a:sym typeface="+mn-lt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DC7E0C4-6EB3-4675-A618-545DD78A58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5013878"/>
              </p:ext>
            </p:extLst>
          </p:nvPr>
        </p:nvGraphicFramePr>
        <p:xfrm>
          <a:off x="3252470" y="2781643"/>
          <a:ext cx="5472430" cy="3460750"/>
        </p:xfrm>
        <a:graphic>
          <a:graphicData uri="http://schemas.openxmlformats.org/drawingml/2006/table">
            <a:tbl>
              <a:tblPr firstRow="1" firstCol="1" bandRow="1"/>
              <a:tblGrid>
                <a:gridCol w="1988185">
                  <a:extLst>
                    <a:ext uri="{9D8B030D-6E8A-4147-A177-3AD203B41FA5}">
                      <a16:colId xmlns:a16="http://schemas.microsoft.com/office/drawing/2014/main" val="657639783"/>
                    </a:ext>
                  </a:extLst>
                </a:gridCol>
                <a:gridCol w="3484245">
                  <a:extLst>
                    <a:ext uri="{9D8B030D-6E8A-4147-A177-3AD203B41FA5}">
                      <a16:colId xmlns:a16="http://schemas.microsoft.com/office/drawing/2014/main" val="2278798301"/>
                    </a:ext>
                  </a:extLst>
                </a:gridCol>
              </a:tblGrid>
              <a:tr h="34607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参数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含义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6203286"/>
                  </a:ext>
                </a:extLst>
              </a:tr>
              <a:tr h="34607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&lt;DATA&gt;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数据集名称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3631157"/>
                  </a:ext>
                </a:extLst>
              </a:tr>
              <a:tr h="34607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&lt;MAPPINGS&gt;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将数据变量映射到图形的美学属性参数，如横轴坐标、纵轴坐标、颜色、形状等</a:t>
                      </a:r>
                      <a:endParaRPr lang="zh-CN" sz="12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6395644"/>
                  </a:ext>
                </a:extLst>
              </a:tr>
              <a:tr h="34607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&lt;GEOM_FUNCTION&gt;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图形函数，用于指定要绘制的几何对象，比如点、线、多边形等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4370100"/>
                  </a:ext>
                </a:extLst>
              </a:tr>
              <a:tr h="34607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&lt;STAT&gt;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统计函数，用于指定对数据应用的统计变换，比如计数、求和等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9435764"/>
                  </a:ext>
                </a:extLst>
              </a:tr>
              <a:tr h="34607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&lt;POSITION&gt;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位置参数，用于指定几何对象的布局方式，如堆叠等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3623572"/>
                  </a:ext>
                </a:extLst>
              </a:tr>
              <a:tr h="34607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&lt;SCALE_FUNCTION&gt;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标度函数，用于调整图形中各种美学属性的标度，如颜色、大小等</a:t>
                      </a:r>
                      <a:endParaRPr lang="zh-CN" sz="12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6919630"/>
                  </a:ext>
                </a:extLst>
              </a:tr>
              <a:tr h="34607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&lt;COORDINATE_FUNCTION&gt;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坐标系函数，用于调整坐标轴的显示方式，如翻转坐标轴、设置坐标轴范围等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6301316"/>
                  </a:ext>
                </a:extLst>
              </a:tr>
              <a:tr h="34607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&lt;FACET_FUNCTION&gt;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分面函数，用于根据某变量将数据分成多个子图进行展示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8251523"/>
                  </a:ext>
                </a:extLst>
              </a:tr>
              <a:tr h="34607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&lt;THEME_FUNCTION&gt;</a:t>
                      </a:r>
                      <a:endParaRPr lang="zh-CN" sz="12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主题函数，用于设置图形的整体样式，如背景色、标题等</a:t>
                      </a:r>
                      <a:endParaRPr lang="zh-CN" sz="12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60217852"/>
                  </a:ext>
                </a:extLst>
              </a:tr>
            </a:tbl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152051ED-CB5D-4C68-A72E-8CAA313DAEAF}"/>
              </a:ext>
            </a:extLst>
          </p:cNvPr>
          <p:cNvSpPr/>
          <p:nvPr/>
        </p:nvSpPr>
        <p:spPr>
          <a:xfrm>
            <a:off x="-76200" y="2895600"/>
            <a:ext cx="3595371" cy="32893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57530" indent="254000">
              <a:lnSpc>
                <a:spcPct val="150000"/>
              </a:lnSpc>
              <a:spcAft>
                <a:spcPts val="0"/>
              </a:spcAft>
            </a:pPr>
            <a:r>
              <a:rPr lang="en-US" altLang="zh-CN" sz="1400" dirty="0" err="1">
                <a:solidFill>
                  <a:srgbClr val="8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ggplot</a:t>
            </a:r>
            <a:r>
              <a:rPr lang="en-US" altLang="zh-CN" sz="1400" dirty="0">
                <a:solidFill>
                  <a:srgbClr val="8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(data = &lt;DATA&gt;, mapping = </a:t>
            </a:r>
            <a:r>
              <a:rPr lang="en-US" altLang="zh-CN" sz="1400" dirty="0" err="1">
                <a:solidFill>
                  <a:srgbClr val="8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aes</a:t>
            </a:r>
            <a:r>
              <a:rPr lang="en-US" altLang="zh-CN" sz="1400" dirty="0">
                <a:solidFill>
                  <a:srgbClr val="8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(&lt;MAPPINGS&gt;)) + </a:t>
            </a:r>
            <a:endParaRPr lang="zh-CN" altLang="zh-CN" sz="1400" dirty="0">
              <a:solidFill>
                <a:srgbClr val="8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04800" indent="69215">
              <a:lnSpc>
                <a:spcPct val="150000"/>
              </a:lnSpc>
              <a:spcAft>
                <a:spcPts val="0"/>
              </a:spcAft>
            </a:pPr>
            <a:r>
              <a:rPr lang="en-US" altLang="zh-CN" sz="1400" dirty="0">
                <a:solidFill>
                  <a:srgbClr val="8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&lt;GEOM_FUNCTION&gt;(mapping = </a:t>
            </a:r>
            <a:r>
              <a:rPr lang="en-US" altLang="zh-CN" sz="1400" dirty="0" err="1">
                <a:solidFill>
                  <a:srgbClr val="8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aes</a:t>
            </a:r>
            <a:r>
              <a:rPr lang="en-US" altLang="zh-CN" sz="1400" dirty="0">
                <a:solidFill>
                  <a:srgbClr val="8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(&lt;MAPPINGS&gt;), </a:t>
            </a:r>
            <a:endParaRPr lang="zh-CN" altLang="zh-CN" sz="1400" dirty="0">
              <a:solidFill>
                <a:srgbClr val="8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04800" indent="69215">
              <a:lnSpc>
                <a:spcPct val="150000"/>
              </a:lnSpc>
              <a:spcAft>
                <a:spcPts val="0"/>
              </a:spcAft>
            </a:pPr>
            <a:r>
              <a:rPr lang="en-US" altLang="zh-CN" sz="1400" dirty="0">
                <a:solidFill>
                  <a:srgbClr val="8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stat = &lt;STAT&gt;, </a:t>
            </a:r>
            <a:endParaRPr lang="zh-CN" altLang="zh-CN" sz="1400" dirty="0">
              <a:solidFill>
                <a:srgbClr val="8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304800" indent="69215">
              <a:lnSpc>
                <a:spcPct val="150000"/>
              </a:lnSpc>
              <a:spcAft>
                <a:spcPts val="0"/>
              </a:spcAft>
            </a:pPr>
            <a:r>
              <a:rPr lang="en-US" altLang="zh-CN" sz="1400" dirty="0">
                <a:solidFill>
                  <a:srgbClr val="8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position = &lt;POSITION&gt;) + </a:t>
            </a:r>
            <a:endParaRPr lang="zh-CN" altLang="zh-CN" sz="1400" dirty="0">
              <a:solidFill>
                <a:srgbClr val="8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557530" indent="254000">
              <a:lnSpc>
                <a:spcPct val="150000"/>
              </a:lnSpc>
              <a:spcAft>
                <a:spcPts val="0"/>
              </a:spcAft>
            </a:pPr>
            <a:r>
              <a:rPr lang="en-US" altLang="zh-CN" sz="1400" dirty="0">
                <a:solidFill>
                  <a:srgbClr val="8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&lt;SCALE_FUNCTION&gt; +</a:t>
            </a:r>
            <a:endParaRPr lang="zh-CN" altLang="zh-CN" sz="1400" dirty="0">
              <a:solidFill>
                <a:srgbClr val="8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557530" indent="254000">
              <a:lnSpc>
                <a:spcPct val="150000"/>
              </a:lnSpc>
              <a:spcAft>
                <a:spcPts val="0"/>
              </a:spcAft>
            </a:pPr>
            <a:r>
              <a:rPr lang="en-US" altLang="zh-CN" sz="1400" dirty="0">
                <a:solidFill>
                  <a:srgbClr val="8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&lt;COORDINATE_FUNCTION&gt; + </a:t>
            </a:r>
            <a:endParaRPr lang="zh-CN" altLang="zh-CN" sz="1400" dirty="0">
              <a:solidFill>
                <a:srgbClr val="8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557530" indent="254000">
              <a:lnSpc>
                <a:spcPct val="150000"/>
              </a:lnSpc>
              <a:spcAft>
                <a:spcPts val="0"/>
              </a:spcAft>
            </a:pPr>
            <a:r>
              <a:rPr lang="en-US" altLang="zh-CN" sz="1400" dirty="0">
                <a:solidFill>
                  <a:srgbClr val="8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&lt;FACET_FUNCTION&gt; + </a:t>
            </a:r>
            <a:endParaRPr lang="zh-CN" altLang="zh-CN" sz="1400" dirty="0">
              <a:solidFill>
                <a:srgbClr val="8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557530" indent="254000">
              <a:lnSpc>
                <a:spcPct val="150000"/>
              </a:lnSpc>
              <a:spcAft>
                <a:spcPts val="0"/>
              </a:spcAft>
            </a:pPr>
            <a:r>
              <a:rPr lang="en-US" altLang="zh-CN" sz="1400" dirty="0">
                <a:solidFill>
                  <a:srgbClr val="8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&lt;THEME_FUNCTION&gt;</a:t>
            </a:r>
            <a:endParaRPr lang="zh-CN" altLang="zh-CN" sz="1400" dirty="0">
              <a:solidFill>
                <a:srgbClr val="8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135A43B-75AD-3EC7-138B-288CAB707608}"/>
              </a:ext>
            </a:extLst>
          </p:cNvPr>
          <p:cNvSpPr/>
          <p:nvPr/>
        </p:nvSpPr>
        <p:spPr>
          <a:xfrm>
            <a:off x="419100" y="1295400"/>
            <a:ext cx="8267700" cy="17052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just">
              <a:lnSpc>
                <a:spcPct val="150000"/>
              </a:lnSpc>
            </a:pPr>
            <a:r>
              <a:rPr lang="en-US" altLang="zh-CN" b="1" dirty="0">
                <a:latin typeface="Times New Roman" panose="02020603050405020304" pitchFamily="18" charset="0"/>
                <a:ea typeface="宋体" panose="02010600030101010101" pitchFamily="2" charset="-122"/>
              </a:rPr>
              <a:t>ggplot2</a:t>
            </a:r>
            <a:r>
              <a:rPr lang="zh-CN" altLang="zh-CN" dirty="0">
                <a:latin typeface="+mn-lt"/>
                <a:ea typeface="+mj-ea"/>
                <a:cs typeface="Times New Roman" panose="02020603050405020304" pitchFamily="18" charset="0"/>
              </a:rPr>
              <a:t>的可视化函数语法包括数据（</a:t>
            </a:r>
            <a:r>
              <a:rPr lang="en-US" altLang="zh-CN" dirty="0">
                <a:latin typeface="+mn-lt"/>
                <a:ea typeface="+mj-ea"/>
              </a:rPr>
              <a:t>data</a:t>
            </a:r>
            <a:r>
              <a:rPr lang="zh-CN" altLang="zh-CN" dirty="0">
                <a:latin typeface="+mn-lt"/>
                <a:ea typeface="+mj-ea"/>
                <a:cs typeface="Times New Roman" panose="02020603050405020304" pitchFamily="18" charset="0"/>
              </a:rPr>
              <a:t>）、映射（</a:t>
            </a:r>
            <a:r>
              <a:rPr lang="en-US" altLang="zh-CN" dirty="0">
                <a:latin typeface="+mn-lt"/>
                <a:ea typeface="+mj-ea"/>
              </a:rPr>
              <a:t>mapping</a:t>
            </a:r>
            <a:r>
              <a:rPr lang="zh-CN" altLang="zh-CN" dirty="0">
                <a:latin typeface="+mn-lt"/>
                <a:ea typeface="+mj-ea"/>
                <a:cs typeface="Times New Roman" panose="02020603050405020304" pitchFamily="18" charset="0"/>
              </a:rPr>
              <a:t>）、几何对象（</a:t>
            </a:r>
            <a:r>
              <a:rPr lang="en-US" altLang="zh-CN" dirty="0">
                <a:latin typeface="+mn-lt"/>
                <a:ea typeface="+mj-ea"/>
              </a:rPr>
              <a:t>geometric</a:t>
            </a:r>
            <a:r>
              <a:rPr lang="zh-CN" altLang="zh-CN" dirty="0">
                <a:latin typeface="+mn-lt"/>
                <a:ea typeface="+mj-ea"/>
                <a:cs typeface="Times New Roman" panose="02020603050405020304" pitchFamily="18" charset="0"/>
              </a:rPr>
              <a:t>）、标度（</a:t>
            </a:r>
            <a:r>
              <a:rPr lang="en-US" altLang="zh-CN" dirty="0">
                <a:latin typeface="+mn-lt"/>
                <a:ea typeface="+mj-ea"/>
              </a:rPr>
              <a:t>scale</a:t>
            </a:r>
            <a:r>
              <a:rPr lang="zh-CN" altLang="zh-CN" dirty="0">
                <a:latin typeface="+mn-lt"/>
                <a:ea typeface="+mj-ea"/>
                <a:cs typeface="Times New Roman" panose="02020603050405020304" pitchFamily="18" charset="0"/>
              </a:rPr>
              <a:t>）、统计变换（</a:t>
            </a:r>
            <a:r>
              <a:rPr lang="en-US" altLang="zh-CN" dirty="0">
                <a:latin typeface="+mn-lt"/>
                <a:ea typeface="+mj-ea"/>
              </a:rPr>
              <a:t>statistics</a:t>
            </a:r>
            <a:r>
              <a:rPr lang="zh-CN" altLang="zh-CN" dirty="0">
                <a:latin typeface="+mn-lt"/>
                <a:ea typeface="+mj-ea"/>
                <a:cs typeface="Times New Roman" panose="02020603050405020304" pitchFamily="18" charset="0"/>
              </a:rPr>
              <a:t>）、坐标系（</a:t>
            </a:r>
            <a:r>
              <a:rPr lang="en-US" altLang="zh-CN" dirty="0">
                <a:latin typeface="+mn-lt"/>
                <a:ea typeface="+mj-ea"/>
              </a:rPr>
              <a:t>coordinate</a:t>
            </a:r>
            <a:r>
              <a:rPr lang="zh-CN" altLang="zh-CN" dirty="0">
                <a:latin typeface="+mn-lt"/>
                <a:ea typeface="+mj-ea"/>
                <a:cs typeface="Times New Roman" panose="02020603050405020304" pitchFamily="18" charset="0"/>
              </a:rPr>
              <a:t>）、位置调整（</a:t>
            </a:r>
            <a:r>
              <a:rPr lang="en-US" altLang="zh-CN" dirty="0">
                <a:latin typeface="+mn-lt"/>
                <a:ea typeface="+mj-ea"/>
              </a:rPr>
              <a:t>position adjustments</a:t>
            </a:r>
            <a:r>
              <a:rPr lang="zh-CN" altLang="zh-CN" dirty="0">
                <a:latin typeface="+mn-lt"/>
                <a:ea typeface="+mj-ea"/>
                <a:cs typeface="Times New Roman" panose="02020603050405020304" pitchFamily="18" charset="0"/>
              </a:rPr>
              <a:t>）、分面（</a:t>
            </a:r>
            <a:r>
              <a:rPr lang="en-US" altLang="zh-CN" dirty="0">
                <a:latin typeface="+mn-lt"/>
                <a:ea typeface="+mj-ea"/>
              </a:rPr>
              <a:t>facet</a:t>
            </a:r>
            <a:r>
              <a:rPr lang="zh-CN" altLang="zh-CN" dirty="0">
                <a:latin typeface="+mn-lt"/>
                <a:ea typeface="+mj-ea"/>
                <a:cs typeface="Times New Roman" panose="02020603050405020304" pitchFamily="18" charset="0"/>
              </a:rPr>
              <a:t>）、主题（</a:t>
            </a:r>
            <a:r>
              <a:rPr lang="en-US" altLang="zh-CN" dirty="0">
                <a:latin typeface="+mn-lt"/>
                <a:ea typeface="+mj-ea"/>
              </a:rPr>
              <a:t>theme</a:t>
            </a:r>
            <a:r>
              <a:rPr lang="zh-CN" altLang="zh-CN" dirty="0">
                <a:latin typeface="+mn-lt"/>
                <a:ea typeface="+mj-ea"/>
                <a:cs typeface="Times New Roman" panose="02020603050405020304" pitchFamily="18" charset="0"/>
              </a:rPr>
              <a:t>）和输出（</a:t>
            </a:r>
            <a:r>
              <a:rPr lang="en-US" altLang="zh-CN" dirty="0">
                <a:latin typeface="+mn-lt"/>
                <a:ea typeface="+mj-ea"/>
              </a:rPr>
              <a:t>output</a:t>
            </a:r>
            <a:r>
              <a:rPr lang="zh-CN" altLang="zh-CN" dirty="0">
                <a:latin typeface="+mn-lt"/>
                <a:ea typeface="+mj-ea"/>
                <a:cs typeface="Times New Roman" panose="02020603050405020304" pitchFamily="18" charset="0"/>
              </a:rPr>
              <a:t>）十个部件。</a:t>
            </a:r>
            <a:endParaRPr lang="zh-CN" altLang="en-US" dirty="0">
              <a:latin typeface="+mn-lt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7" name="标题 2">
            <a:extLst>
              <a:ext uri="{FF2B5EF4-FFF2-40B4-BE49-F238E27FC236}">
                <a16:creationId xmlns:a16="http://schemas.microsoft.com/office/drawing/2014/main" id="{B2F7A006-1AE6-6135-82F3-9C382419E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1101" y="342900"/>
            <a:ext cx="6896099" cy="663575"/>
          </a:xfrm>
        </p:spPr>
        <p:txBody>
          <a:bodyPr/>
          <a:lstStyle/>
          <a:p>
            <a:r>
              <a:rPr lang="en-US" altLang="zh-CN" sz="3600" dirty="0"/>
              <a:t>7.2.1 ggplot2</a:t>
            </a:r>
            <a:r>
              <a:rPr lang="zh-CN" altLang="en-US" sz="3600" dirty="0"/>
              <a:t>基础语法</a:t>
            </a:r>
          </a:p>
        </p:txBody>
      </p:sp>
    </p:spTree>
    <p:extLst>
      <p:ext uri="{BB962C8B-B14F-4D97-AF65-F5344CB8AC3E}">
        <p14:creationId xmlns:p14="http://schemas.microsoft.com/office/powerpoint/2010/main" val="20367526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88214679-4F9E-FE31-D723-E68AED94D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7.2.2 </a:t>
            </a:r>
            <a:r>
              <a:rPr lang="zh-CN" altLang="en-US" sz="3600" dirty="0"/>
              <a:t>数据（</a:t>
            </a:r>
            <a:r>
              <a:rPr lang="en-US" altLang="zh-CN" sz="3600" dirty="0"/>
              <a:t>data</a:t>
            </a:r>
            <a:r>
              <a:rPr lang="zh-CN" altLang="en-US" sz="3600" dirty="0"/>
              <a:t>）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fld id="{5DD3DB80-B894-403A-B48E-6FDC1A72010E}" type="slidenum">
              <a:rPr lang="zh-CN" altLang="en-US" smtClean="0">
                <a:cs typeface="+mn-ea"/>
                <a:sym typeface="+mn-lt"/>
              </a:rPr>
              <a:t>8</a:t>
            </a:fld>
            <a:endParaRPr lang="zh-CN" altLang="en-US">
              <a:cs typeface="+mn-ea"/>
              <a:sym typeface="+mn-lt"/>
            </a:endParaRPr>
          </a:p>
        </p:txBody>
      </p:sp>
      <p:pic>
        <p:nvPicPr>
          <p:cNvPr id="8" name="Picture" title="fig:">
            <a:extLst>
              <a:ext uri="{FF2B5EF4-FFF2-40B4-BE49-F238E27FC236}">
                <a16:creationId xmlns:a16="http://schemas.microsoft.com/office/drawing/2014/main" id="{9CA1EA27-AE3B-48A1-9789-B35DB1F51ED9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123950" y="2292120"/>
            <a:ext cx="6896100" cy="32004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10C958D0-004D-4EAD-A0FF-3E7D02754458}"/>
              </a:ext>
            </a:extLst>
          </p:cNvPr>
          <p:cNvSpPr/>
          <p:nvPr/>
        </p:nvSpPr>
        <p:spPr>
          <a:xfrm>
            <a:off x="3902586" y="5802868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+mj-ea"/>
                <a:ea typeface="+mj-ea"/>
              </a:rPr>
              <a:t>空白的图形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3404327-1A78-0CA2-DCFB-2D0F38584F50}"/>
              </a:ext>
            </a:extLst>
          </p:cNvPr>
          <p:cNvSpPr txBox="1"/>
          <p:nvPr/>
        </p:nvSpPr>
        <p:spPr>
          <a:xfrm>
            <a:off x="3276613" y="1562100"/>
            <a:ext cx="25907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ggplot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(data = WHHP)</a:t>
            </a:r>
            <a:endParaRPr lang="zh-CN" altLang="zh-CN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009553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4A599563-331B-3A66-9B81-C08934FE5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1101" y="342900"/>
            <a:ext cx="7162799" cy="663575"/>
          </a:xfrm>
        </p:spPr>
        <p:txBody>
          <a:bodyPr/>
          <a:lstStyle/>
          <a:p>
            <a:r>
              <a:rPr lang="en-US" altLang="zh-CN" sz="3600" dirty="0"/>
              <a:t>7.2.3 </a:t>
            </a:r>
            <a:r>
              <a:rPr lang="zh-CN" altLang="en-US" sz="3600" b="1" dirty="0">
                <a:latin typeface="Consolas" panose="020B0609020204030204" pitchFamily="49" charset="0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美学映射</a:t>
            </a:r>
            <a:endParaRPr lang="zh-CN" altLang="en-US" sz="3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fld id="{5DD3DB80-B894-403A-B48E-6FDC1A72010E}" type="slidenum">
              <a:rPr lang="zh-CN" altLang="en-US" smtClean="0">
                <a:cs typeface="+mn-ea"/>
                <a:sym typeface="+mn-lt"/>
              </a:rPr>
              <a:t>9</a:t>
            </a:fld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62D6042-CE21-4831-8C84-0D4A26DCD566}"/>
              </a:ext>
            </a:extLst>
          </p:cNvPr>
          <p:cNvSpPr/>
          <p:nvPr/>
        </p:nvSpPr>
        <p:spPr>
          <a:xfrm>
            <a:off x="800100" y="1676336"/>
            <a:ext cx="7543800" cy="878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en-US" altLang="zh-CN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ggplot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(data = WHHP, mapping = </a:t>
            </a:r>
            <a:r>
              <a:rPr lang="en-US" altLang="zh-CN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aes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(x = </a:t>
            </a:r>
            <a:r>
              <a:rPr lang="en-US" altLang="zh-CN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GDP_per_Land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y = </a:t>
            </a:r>
            <a:r>
              <a:rPr lang="en-US" altLang="zh-CN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FAI_per_Land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color = </a:t>
            </a:r>
            <a:r>
              <a:rPr lang="en-US" altLang="zh-CN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HP_level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))</a:t>
            </a:r>
            <a:endParaRPr lang="zh-CN" altLang="zh-CN" sz="18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0C958D0-004D-4EAD-A0FF-3E7D02754458}"/>
              </a:ext>
            </a:extLst>
          </p:cNvPr>
          <p:cNvSpPr/>
          <p:nvPr/>
        </p:nvSpPr>
        <p:spPr>
          <a:xfrm>
            <a:off x="3671753" y="6260068"/>
            <a:ext cx="18004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>
                <a:latin typeface="+mj-ea"/>
                <a:ea typeface="+mj-ea"/>
              </a:rPr>
              <a:t>添加美学映射后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A6DE70F-1E23-431E-AB6C-54CF81CAA860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2656547"/>
            <a:ext cx="5181600" cy="3477553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C0CD5BF1-01A0-2357-8B86-8C0BACA655CD}"/>
              </a:ext>
            </a:extLst>
          </p:cNvPr>
          <p:cNvSpPr/>
          <p:nvPr/>
        </p:nvSpPr>
        <p:spPr>
          <a:xfrm>
            <a:off x="2302996" y="1066800"/>
            <a:ext cx="4536819" cy="5024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400" b="1" dirty="0">
                <a:latin typeface="Consolas" panose="020B0609020204030204" pitchFamily="49" charset="0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美学映射（</a:t>
            </a:r>
            <a:r>
              <a:rPr lang="en-US" altLang="zh-CN" sz="2400" b="1" dirty="0"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aesthetic mappings</a:t>
            </a:r>
            <a:r>
              <a:rPr lang="zh-CN" altLang="en-US" sz="2400" b="1" dirty="0">
                <a:latin typeface="Consolas" panose="020B0609020204030204" pitchFamily="49" charset="0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5390677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4A79290B-3B10-C790-ECA0-783882B3D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7.2.4 </a:t>
            </a:r>
            <a:r>
              <a:rPr lang="zh-CN" altLang="en-US" sz="3600" b="1" dirty="0">
                <a:latin typeface="Consolas" panose="020B0609020204030204" pitchFamily="49" charset="0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几何对象（</a:t>
            </a:r>
            <a:r>
              <a:rPr lang="en-US" altLang="zh-CN" sz="3600" b="1" dirty="0"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geometric</a:t>
            </a:r>
            <a:r>
              <a:rPr lang="zh-CN" altLang="en-US" sz="3600" b="1" dirty="0">
                <a:latin typeface="Consolas" panose="020B0609020204030204" pitchFamily="49" charset="0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）</a:t>
            </a:r>
            <a:endParaRPr lang="zh-CN" altLang="en-US" sz="36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fld id="{5DD3DB80-B894-403A-B48E-6FDC1A72010E}" type="slidenum">
              <a:rPr lang="zh-CN" altLang="en-US" smtClean="0">
                <a:cs typeface="+mn-ea"/>
                <a:sym typeface="+mn-lt"/>
              </a:rPr>
              <a:t>10</a:t>
            </a:fld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62D6042-CE21-4831-8C84-0D4A26DCD566}"/>
              </a:ext>
            </a:extLst>
          </p:cNvPr>
          <p:cNvSpPr/>
          <p:nvPr/>
        </p:nvSpPr>
        <p:spPr>
          <a:xfrm>
            <a:off x="781050" y="2095500"/>
            <a:ext cx="7581900" cy="33718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57530" indent="254000">
              <a:lnSpc>
                <a:spcPct val="150000"/>
              </a:lnSpc>
              <a:spcAft>
                <a:spcPts val="0"/>
              </a:spcAft>
            </a:pP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p1&lt;-</a:t>
            </a:r>
            <a:r>
              <a:rPr lang="en-US" altLang="zh-CN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ggplot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(WHHP, </a:t>
            </a:r>
            <a:r>
              <a:rPr lang="en-US" altLang="zh-CN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aes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GDP_per_Land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FAI_per_Land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)) + </a:t>
            </a:r>
          </a:p>
          <a:p>
            <a:pPr marL="557530" indent="254000">
              <a:lnSpc>
                <a:spcPct val="150000"/>
              </a:lnSpc>
              <a:spcAft>
                <a:spcPts val="0"/>
              </a:spcAft>
            </a:pP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geom_point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()</a:t>
            </a:r>
          </a:p>
          <a:p>
            <a:pPr marL="557530" indent="254000">
              <a:lnSpc>
                <a:spcPct val="150000"/>
              </a:lnSpc>
              <a:spcAft>
                <a:spcPts val="0"/>
              </a:spcAft>
            </a:pP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p2&lt;-</a:t>
            </a:r>
            <a:r>
              <a:rPr lang="en-US" altLang="zh-CN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ggplot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(WHHP, </a:t>
            </a:r>
            <a:r>
              <a:rPr lang="en-US" altLang="zh-CN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aes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Avg_HP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)) +</a:t>
            </a:r>
          </a:p>
          <a:p>
            <a:pPr marL="557530" indent="254000">
              <a:lnSpc>
                <a:spcPct val="150000"/>
              </a:lnSpc>
              <a:spcAft>
                <a:spcPts val="0"/>
              </a:spcAft>
            </a:pP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geom_density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()</a:t>
            </a:r>
          </a:p>
          <a:p>
            <a:pPr marL="557530" indent="254000">
              <a:lnSpc>
                <a:spcPct val="150000"/>
              </a:lnSpc>
              <a:spcAft>
                <a:spcPts val="0"/>
              </a:spcAft>
            </a:pP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p3&lt;-</a:t>
            </a:r>
            <a:r>
              <a:rPr lang="en-US" altLang="zh-CN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ggplot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(WHHP, </a:t>
            </a:r>
            <a:r>
              <a:rPr lang="en-US" altLang="zh-CN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aes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Green_Rate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Avg_HP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)) + </a:t>
            </a:r>
          </a:p>
          <a:p>
            <a:pPr marL="557530" indent="254000">
              <a:lnSpc>
                <a:spcPct val="150000"/>
              </a:lnSpc>
              <a:spcAft>
                <a:spcPts val="0"/>
              </a:spcAft>
            </a:pP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geom_line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()</a:t>
            </a:r>
          </a:p>
          <a:p>
            <a:pPr marL="557530" indent="254000">
              <a:lnSpc>
                <a:spcPct val="150000"/>
              </a:lnSpc>
              <a:spcAft>
                <a:spcPts val="0"/>
              </a:spcAft>
            </a:pP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p4&lt;-</a:t>
            </a:r>
            <a:r>
              <a:rPr lang="en-US" altLang="zh-CN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ggplot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(WHHP, </a:t>
            </a:r>
            <a:r>
              <a:rPr lang="en-US" altLang="zh-CN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aes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Avg_HP,color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= HP_level2)) + </a:t>
            </a:r>
          </a:p>
          <a:p>
            <a:pPr marL="557530" indent="254000">
              <a:lnSpc>
                <a:spcPct val="150000"/>
              </a:lnSpc>
              <a:spcAft>
                <a:spcPts val="0"/>
              </a:spcAft>
            </a:pP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geom_histogram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()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5D3CEFC-8D29-638D-EFF9-D621D0AC56B4}"/>
              </a:ext>
            </a:extLst>
          </p:cNvPr>
          <p:cNvSpPr/>
          <p:nvPr/>
        </p:nvSpPr>
        <p:spPr>
          <a:xfrm>
            <a:off x="3555742" y="1066800"/>
            <a:ext cx="2031325" cy="5026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400" b="1" dirty="0">
                <a:latin typeface="Consolas" panose="020B0609020204030204" pitchFamily="49" charset="0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添加几何对象</a:t>
            </a:r>
          </a:p>
        </p:txBody>
      </p:sp>
    </p:spTree>
    <p:extLst>
      <p:ext uri="{BB962C8B-B14F-4D97-AF65-F5344CB8AC3E}">
        <p14:creationId xmlns:p14="http://schemas.microsoft.com/office/powerpoint/2010/main" val="30538663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fld id="{5DD3DB80-B894-403A-B48E-6FDC1A72010E}" type="slidenum">
              <a:rPr lang="zh-CN" altLang="en-US" smtClean="0">
                <a:cs typeface="+mn-ea"/>
                <a:sym typeface="+mn-lt"/>
              </a:rPr>
              <a:t>11</a:t>
            </a:fld>
            <a:endParaRPr lang="zh-CN" altLang="en-US">
              <a:cs typeface="+mn-ea"/>
              <a:sym typeface="+mn-lt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0AC49AA-6FD4-4BB0-95C8-2F7A46EC1CC0}"/>
              </a:ext>
            </a:extLst>
          </p:cNvPr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2482"/>
          <a:stretch/>
        </p:blipFill>
        <p:spPr>
          <a:xfrm>
            <a:off x="839514" y="1641587"/>
            <a:ext cx="7200900" cy="4762500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60AA5EB8-1A7E-9FF5-3259-835FA406B0B7}"/>
              </a:ext>
            </a:extLst>
          </p:cNvPr>
          <p:cNvSpPr/>
          <p:nvPr/>
        </p:nvSpPr>
        <p:spPr>
          <a:xfrm>
            <a:off x="3555742" y="1066800"/>
            <a:ext cx="2031325" cy="5026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400" b="1" dirty="0">
                <a:latin typeface="Consolas" panose="020B0609020204030204" pitchFamily="49" charset="0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添加几何对象</a:t>
            </a: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94002FF8-0982-D83F-4751-E082AD44B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1101" y="342900"/>
            <a:ext cx="6896099" cy="663575"/>
          </a:xfrm>
        </p:spPr>
        <p:txBody>
          <a:bodyPr/>
          <a:lstStyle/>
          <a:p>
            <a:r>
              <a:rPr lang="en-US" altLang="zh-CN" sz="3600" dirty="0"/>
              <a:t>7.2.4 </a:t>
            </a:r>
            <a:r>
              <a:rPr lang="zh-CN" altLang="en-US" sz="3600" b="1" dirty="0">
                <a:latin typeface="Consolas" panose="020B0609020204030204" pitchFamily="49" charset="0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几何对象（</a:t>
            </a:r>
            <a:r>
              <a:rPr lang="en-US" altLang="zh-CN" sz="3600" b="1" dirty="0"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geometric</a:t>
            </a:r>
            <a:r>
              <a:rPr lang="zh-CN" altLang="en-US" sz="3600" b="1" dirty="0">
                <a:latin typeface="Consolas" panose="020B0609020204030204" pitchFamily="49" charset="0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）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7664202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fld id="{5DD3DB80-B894-403A-B48E-6FDC1A72010E}" type="slidenum">
              <a:rPr lang="zh-CN" altLang="en-US" smtClean="0">
                <a:cs typeface="+mn-ea"/>
                <a:sym typeface="+mn-lt"/>
              </a:rPr>
              <a:t>12</a:t>
            </a:fld>
            <a:endParaRPr lang="zh-CN" altLang="en-US">
              <a:cs typeface="+mn-ea"/>
              <a:sym typeface="+mn-lt"/>
            </a:endParaRP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989FEE9C-5902-4298-A447-80BAC64EBA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6741039"/>
              </p:ext>
            </p:extLst>
          </p:nvPr>
        </p:nvGraphicFramePr>
        <p:xfrm>
          <a:off x="552450" y="1673225"/>
          <a:ext cx="8039099" cy="4498975"/>
        </p:xfrm>
        <a:graphic>
          <a:graphicData uri="http://schemas.openxmlformats.org/drawingml/2006/table">
            <a:tbl>
              <a:tblPr firstRow="1" firstCol="1" bandRow="1"/>
              <a:tblGrid>
                <a:gridCol w="3692128">
                  <a:extLst>
                    <a:ext uri="{9D8B030D-6E8A-4147-A177-3AD203B41FA5}">
                      <a16:colId xmlns:a16="http://schemas.microsoft.com/office/drawing/2014/main" val="1646407225"/>
                    </a:ext>
                  </a:extLst>
                </a:gridCol>
                <a:gridCol w="4346971">
                  <a:extLst>
                    <a:ext uri="{9D8B030D-6E8A-4147-A177-3AD203B41FA5}">
                      <a16:colId xmlns:a16="http://schemas.microsoft.com/office/drawing/2014/main" val="537200222"/>
                    </a:ext>
                  </a:extLst>
                </a:gridCol>
              </a:tblGrid>
              <a:tr h="34607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几何对象函数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绘制效果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2988435"/>
                  </a:ext>
                </a:extLst>
              </a:tr>
              <a:tr h="34607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i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geom_point()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绘制散点图，多用于展示连续型数据变量关系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5347761"/>
                  </a:ext>
                </a:extLst>
              </a:tr>
              <a:tr h="34607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i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geom_line()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绘制折线图，多用于展示数据变量的连续变化趋势或路径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5636297"/>
                  </a:ext>
                </a:extLst>
              </a:tr>
              <a:tr h="34607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i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geom_histogram()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绘制直方图，多用于表示数据变量的数值或频率分布情况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0649886"/>
                  </a:ext>
                </a:extLst>
              </a:tr>
              <a:tr h="34607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i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geom_density()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绘制概率密度图，用于展示连续型数据变量的分布密度估计，可与直方图结合展示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96128"/>
                  </a:ext>
                </a:extLst>
              </a:tr>
              <a:tr h="34607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i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geom_boxplot()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绘制箱线图，用于显示数据变量数值四分位数区间分布信息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9436353"/>
                  </a:ext>
                </a:extLst>
              </a:tr>
              <a:tr h="34607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i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geom_bar() / geom_col()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绘制条形图，一般用于表示分类或离散型数据变量的频率或计数分布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4828101"/>
                  </a:ext>
                </a:extLst>
              </a:tr>
              <a:tr h="34607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i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geom_tile()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绘制热力图，一般用于展示二维坐标约束下的数据变量分布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993661"/>
                  </a:ext>
                </a:extLst>
              </a:tr>
              <a:tr h="34607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i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geom_violin()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绘制小提琴图，同时展示数据变量的分布密度和四分位数分布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8288648"/>
                  </a:ext>
                </a:extLst>
              </a:tr>
              <a:tr h="34607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i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geom_smooth()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绘制拟合曲线，用于显示连续型变量关系的拟合模型结果，多与散点图结合使用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6411392"/>
                  </a:ext>
                </a:extLst>
              </a:tr>
              <a:tr h="34607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i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geom_abline()/geom_hline()/geom_vline()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按照特定方程绘制参考直线，多与散点图结合使用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564943"/>
                  </a:ext>
                </a:extLst>
              </a:tr>
              <a:tr h="34607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i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geom_area()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绘制面积图，表示二维数据的范围或区域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2455232"/>
                  </a:ext>
                </a:extLst>
              </a:tr>
              <a:tr h="34607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50" i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geom_text()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5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添加文本标签或注释</a:t>
                      </a:r>
                      <a:endParaRPr lang="zh-CN" sz="12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25199"/>
                  </a:ext>
                </a:extLst>
              </a:tr>
            </a:tbl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B4440091-0124-3B33-B330-C49EC82F9BF4}"/>
              </a:ext>
            </a:extLst>
          </p:cNvPr>
          <p:cNvSpPr/>
          <p:nvPr/>
        </p:nvSpPr>
        <p:spPr>
          <a:xfrm>
            <a:off x="3555742" y="1066800"/>
            <a:ext cx="2031325" cy="5026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400" b="1" dirty="0">
                <a:latin typeface="Consolas" panose="020B0609020204030204" pitchFamily="49" charset="0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添加几何对象</a:t>
            </a:r>
          </a:p>
        </p:txBody>
      </p:sp>
      <p:sp>
        <p:nvSpPr>
          <p:cNvPr id="7" name="标题 4">
            <a:extLst>
              <a:ext uri="{FF2B5EF4-FFF2-40B4-BE49-F238E27FC236}">
                <a16:creationId xmlns:a16="http://schemas.microsoft.com/office/drawing/2014/main" id="{136BA305-5405-ECDD-475D-7E56068D3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1101" y="342900"/>
            <a:ext cx="6896099" cy="663575"/>
          </a:xfrm>
        </p:spPr>
        <p:txBody>
          <a:bodyPr/>
          <a:lstStyle/>
          <a:p>
            <a:r>
              <a:rPr lang="en-US" altLang="zh-CN" sz="3600" dirty="0"/>
              <a:t>7.2.4 </a:t>
            </a:r>
            <a:r>
              <a:rPr lang="zh-CN" altLang="en-US" sz="3600" b="1" dirty="0">
                <a:latin typeface="Consolas" panose="020B0609020204030204" pitchFamily="49" charset="0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几何对象（</a:t>
            </a:r>
            <a:r>
              <a:rPr lang="en-US" altLang="zh-CN" sz="3600" b="1" dirty="0"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geometric</a:t>
            </a:r>
            <a:r>
              <a:rPr lang="zh-CN" altLang="en-US" sz="3600" b="1" dirty="0">
                <a:latin typeface="Consolas" panose="020B0609020204030204" pitchFamily="49" charset="0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）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0682348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fld id="{5DD3DB80-B894-403A-B48E-6FDC1A72010E}" type="slidenum">
              <a:rPr lang="zh-CN" altLang="en-US" smtClean="0">
                <a:cs typeface="+mn-ea"/>
                <a:sym typeface="+mn-lt"/>
              </a:rPr>
              <a:t>13</a:t>
            </a:fld>
            <a:endParaRPr lang="zh-CN" altLang="en-US">
              <a:cs typeface="+mn-ea"/>
              <a:sym typeface="+mn-lt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AE1C5A7-22B6-4F5A-8DDB-4C14C38EE814}"/>
              </a:ext>
            </a:extLst>
          </p:cNvPr>
          <p:cNvPicPr/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383"/>
          <a:stretch/>
        </p:blipFill>
        <p:spPr>
          <a:xfrm>
            <a:off x="1028700" y="1638300"/>
            <a:ext cx="7124700" cy="4930775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D9D72953-905F-DE0D-BBC3-EC9D28BC0308}"/>
              </a:ext>
            </a:extLst>
          </p:cNvPr>
          <p:cNvSpPr/>
          <p:nvPr/>
        </p:nvSpPr>
        <p:spPr>
          <a:xfrm>
            <a:off x="3555742" y="1066800"/>
            <a:ext cx="2031325" cy="5026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400" b="1" dirty="0">
                <a:latin typeface="Consolas" panose="020B0609020204030204" pitchFamily="49" charset="0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添加几何对象</a:t>
            </a:r>
          </a:p>
        </p:txBody>
      </p:sp>
      <p:sp>
        <p:nvSpPr>
          <p:cNvPr id="12" name="标题 4">
            <a:extLst>
              <a:ext uri="{FF2B5EF4-FFF2-40B4-BE49-F238E27FC236}">
                <a16:creationId xmlns:a16="http://schemas.microsoft.com/office/drawing/2014/main" id="{E956A9C6-CC36-E97B-CC6D-361745C92F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1101" y="342900"/>
            <a:ext cx="6896099" cy="663575"/>
          </a:xfrm>
        </p:spPr>
        <p:txBody>
          <a:bodyPr/>
          <a:lstStyle/>
          <a:p>
            <a:r>
              <a:rPr lang="en-US" altLang="zh-CN" sz="3600" dirty="0"/>
              <a:t>7.2.4 </a:t>
            </a:r>
            <a:r>
              <a:rPr lang="zh-CN" altLang="en-US" sz="3600" b="1" dirty="0">
                <a:latin typeface="Consolas" panose="020B0609020204030204" pitchFamily="49" charset="0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几何对象（</a:t>
            </a:r>
            <a:r>
              <a:rPr lang="en-US" altLang="zh-CN" sz="3600" b="1" dirty="0"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geometric</a:t>
            </a:r>
            <a:r>
              <a:rPr lang="zh-CN" altLang="en-US" sz="3600" b="1" dirty="0">
                <a:latin typeface="Consolas" panose="020B0609020204030204" pitchFamily="49" charset="0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）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35012057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fld id="{5DD3DB80-B894-403A-B48E-6FDC1A72010E}" type="slidenum">
              <a:rPr lang="zh-CN" altLang="en-US" smtClean="0">
                <a:cs typeface="+mn-ea"/>
                <a:sym typeface="+mn-lt"/>
              </a:rPr>
              <a:t>14</a:t>
            </a:fld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41B88FE-7613-44EB-AF50-36B09FE46302}"/>
              </a:ext>
            </a:extLst>
          </p:cNvPr>
          <p:cNvSpPr/>
          <p:nvPr/>
        </p:nvSpPr>
        <p:spPr>
          <a:xfrm>
            <a:off x="666750" y="1333500"/>
            <a:ext cx="78105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latin typeface="+mn-lt"/>
                <a:ea typeface="+mj-ea"/>
              </a:rPr>
              <a:t>将数据变量映射为美学属性（如位置、颜色、大小等）时所使用的转换函数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067B30C3-9D7A-491C-841F-1BCCDD4120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2952579"/>
              </p:ext>
            </p:extLst>
          </p:nvPr>
        </p:nvGraphicFramePr>
        <p:xfrm>
          <a:off x="1883091" y="1943100"/>
          <a:ext cx="5376627" cy="4525957"/>
        </p:xfrm>
        <a:graphic>
          <a:graphicData uri="http://schemas.openxmlformats.org/drawingml/2006/table">
            <a:tbl>
              <a:tblPr firstRow="1" firstCol="1" bandRow="1"/>
              <a:tblGrid>
                <a:gridCol w="2204180">
                  <a:extLst>
                    <a:ext uri="{9D8B030D-6E8A-4147-A177-3AD203B41FA5}">
                      <a16:colId xmlns:a16="http://schemas.microsoft.com/office/drawing/2014/main" val="2710653156"/>
                    </a:ext>
                  </a:extLst>
                </a:gridCol>
                <a:gridCol w="3172447">
                  <a:extLst>
                    <a:ext uri="{9D8B030D-6E8A-4147-A177-3AD203B41FA5}">
                      <a16:colId xmlns:a16="http://schemas.microsoft.com/office/drawing/2014/main" val="1357101032"/>
                    </a:ext>
                  </a:extLst>
                </a:gridCol>
              </a:tblGrid>
              <a:tr h="34001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标度函数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7379" marR="67379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作用效果</a:t>
                      </a:r>
                      <a:endParaRPr lang="zh-CN" sz="12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7379" marR="67379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621266"/>
                  </a:ext>
                </a:extLst>
              </a:tr>
              <a:tr h="445765">
                <a:tc>
                  <a:txBody>
                    <a:bodyPr/>
                    <a:lstStyle/>
                    <a:p>
                      <a:pPr indent="30607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000" i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nsolas" panose="020B0609020204030204" pitchFamily="49" charset="0"/>
                        </a:rPr>
                        <a:t>scale_x_continuous()/scale_y_continuous()</a:t>
                      </a:r>
                      <a:endParaRPr lang="zh-CN" sz="120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7379" marR="67379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设置</a:t>
                      </a:r>
                      <a:r>
                        <a:rPr lang="en-US" sz="10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lang="zh-CN" sz="10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、</a:t>
                      </a:r>
                      <a:r>
                        <a:rPr lang="en-US" sz="10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y</a:t>
                      </a:r>
                      <a:r>
                        <a:rPr lang="zh-CN" sz="10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轴上的连续型变量的标度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7379" marR="67379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2026655"/>
                  </a:ext>
                </a:extLst>
              </a:tr>
              <a:tr h="34001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i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scale_x_discrete()/scale_y_discrete()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7379" marR="67379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设置</a:t>
                      </a:r>
                      <a:r>
                        <a:rPr lang="en-US" sz="10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lang="zh-CN" sz="10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、</a:t>
                      </a:r>
                      <a:r>
                        <a:rPr lang="en-US" sz="10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y</a:t>
                      </a:r>
                      <a:r>
                        <a:rPr lang="zh-CN" sz="10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轴上的离散型变量的标度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7379" marR="67379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9099211"/>
                  </a:ext>
                </a:extLst>
              </a:tr>
              <a:tr h="34001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i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scale_color_manual()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7379" marR="67379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手动设置离散型变量的颜色映射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7379" marR="67379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540688"/>
                  </a:ext>
                </a:extLst>
              </a:tr>
              <a:tr h="34001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i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scale_fill_manual()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7379" marR="67379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手动设置离散型变量的填充颜色映射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7379" marR="67379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4172022"/>
                  </a:ext>
                </a:extLst>
              </a:tr>
              <a:tr h="34001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i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scale_color_gradient()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7379" marR="67379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创建连续型变量的颜色渐变映射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7379" marR="67379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2715804"/>
                  </a:ext>
                </a:extLst>
              </a:tr>
              <a:tr h="34001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i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scale_fill_gradient()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7379" marR="67379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创建连续型变量的填充颜色渐变映射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7379" marR="67379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2726916"/>
                  </a:ext>
                </a:extLst>
              </a:tr>
              <a:tr h="34001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i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scale_size()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7379" marR="67379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设置几何对象的大小，可以通过数据值映射大小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7379" marR="67379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8547893"/>
                  </a:ext>
                </a:extLst>
              </a:tr>
              <a:tr h="34001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i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scale_linetype_manual()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7379" marR="67379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手动设置离散变量的线型映射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7379" marR="67379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170879"/>
                  </a:ext>
                </a:extLst>
              </a:tr>
              <a:tr h="34001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i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scale_shape_manual()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7379" marR="67379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手动设置离散型变量的点形状映射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7379" marR="67379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3568517"/>
                  </a:ext>
                </a:extLst>
              </a:tr>
              <a:tr h="34001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i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scale_shape_identity()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7379" marR="67379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使用数据变量原始的值作为点形状映射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7379" marR="67379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7366681"/>
                  </a:ext>
                </a:extLst>
              </a:tr>
              <a:tr h="34001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i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scale_alpha_continuous()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7379" marR="67379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创建连续型变量的透明度映射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7379" marR="67379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2140532"/>
                  </a:ext>
                </a:extLst>
              </a:tr>
              <a:tr h="340016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i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scale_alpha_manual()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7379" marR="67379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0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手动设置离散型变量的透明度映射</a:t>
                      </a:r>
                      <a:endParaRPr lang="zh-CN" sz="12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7379" marR="67379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8854632"/>
                  </a:ext>
                </a:extLst>
              </a:tr>
            </a:tbl>
          </a:graphicData>
        </a:graphic>
      </p:graphicFrame>
      <p:sp>
        <p:nvSpPr>
          <p:cNvPr id="7" name="标题 4">
            <a:extLst>
              <a:ext uri="{FF2B5EF4-FFF2-40B4-BE49-F238E27FC236}">
                <a16:creationId xmlns:a16="http://schemas.microsoft.com/office/drawing/2014/main" id="{3337ACFA-3EEE-E1FE-FD7C-83A6895D9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1101" y="342900"/>
            <a:ext cx="6896099" cy="663575"/>
          </a:xfrm>
        </p:spPr>
        <p:txBody>
          <a:bodyPr/>
          <a:lstStyle/>
          <a:p>
            <a:r>
              <a:rPr lang="en-US" altLang="zh-CN" sz="3600" dirty="0"/>
              <a:t>7.2.5 </a:t>
            </a:r>
            <a:r>
              <a:rPr lang="zh-CN" altLang="en-US" sz="3600" b="1" dirty="0">
                <a:latin typeface="Consolas" panose="020B0609020204030204" pitchFamily="49" charset="0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标度（</a:t>
            </a:r>
            <a:r>
              <a:rPr lang="en-US" altLang="zh-CN" sz="3600" b="1" dirty="0"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scale</a:t>
            </a:r>
            <a:r>
              <a:rPr lang="zh-CN" altLang="en-US" sz="3600" b="1" dirty="0">
                <a:latin typeface="Consolas" panose="020B0609020204030204" pitchFamily="49" charset="0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）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6615611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fld id="{5DD3DB80-B894-403A-B48E-6FDC1A72010E}" type="slidenum">
              <a:rPr lang="zh-CN" altLang="en-US" smtClean="0">
                <a:cs typeface="+mn-ea"/>
                <a:sym typeface="+mn-lt"/>
              </a:rPr>
              <a:t>15</a:t>
            </a:fld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03393DA-66ED-4B8B-A1C7-CC0867A9577B}"/>
              </a:ext>
            </a:extLst>
          </p:cNvPr>
          <p:cNvSpPr/>
          <p:nvPr/>
        </p:nvSpPr>
        <p:spPr>
          <a:xfrm>
            <a:off x="634278" y="1828800"/>
            <a:ext cx="7989743" cy="630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algn="l">
              <a:lnSpc>
                <a:spcPts val="1425"/>
              </a:lnSpc>
              <a:buNone/>
            </a:pP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ggplot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(WHHP,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aes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GDP_per_Land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FAI_per_Land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)) +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geom_point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() +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scale_x_continuous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(breaks = seq(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7500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2500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), labels = c(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"0"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"2500"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"5000"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"7500"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)) +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scale_y_continuous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(breaks = seq(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3000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1000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), labels = c(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"0"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"1000"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"2000"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"3000"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))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B5AC33C-5720-4800-801A-414D795F1D4B}"/>
              </a:ext>
            </a:extLst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6850" y="2682222"/>
            <a:ext cx="6210299" cy="4012357"/>
          </a:xfrm>
          <a:prstGeom prst="rect">
            <a:avLst/>
          </a:prstGeom>
        </p:spPr>
      </p:pic>
      <p:sp>
        <p:nvSpPr>
          <p:cNvPr id="6" name="标题 4">
            <a:extLst>
              <a:ext uri="{FF2B5EF4-FFF2-40B4-BE49-F238E27FC236}">
                <a16:creationId xmlns:a16="http://schemas.microsoft.com/office/drawing/2014/main" id="{19A7CAF7-953A-B415-4F45-6BD6B8D0A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1101" y="342900"/>
            <a:ext cx="6896099" cy="663575"/>
          </a:xfrm>
        </p:spPr>
        <p:txBody>
          <a:bodyPr/>
          <a:lstStyle/>
          <a:p>
            <a:r>
              <a:rPr lang="en-US" altLang="zh-CN" sz="3600" dirty="0"/>
              <a:t>7.2.5 </a:t>
            </a:r>
            <a:r>
              <a:rPr lang="zh-CN" altLang="en-US" sz="3600" b="1" dirty="0">
                <a:latin typeface="Consolas" panose="020B0609020204030204" pitchFamily="49" charset="0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标度（</a:t>
            </a:r>
            <a:r>
              <a:rPr lang="en-US" altLang="zh-CN" sz="3600" b="1" dirty="0"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scale</a:t>
            </a:r>
            <a:r>
              <a:rPr lang="zh-CN" altLang="en-US" sz="3600" b="1" dirty="0">
                <a:latin typeface="Consolas" panose="020B0609020204030204" pitchFamily="49" charset="0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）</a:t>
            </a:r>
            <a:endParaRPr lang="zh-CN" altLang="en-US" sz="3600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9BB2CAE-6023-A052-9927-D65E1F0448DF}"/>
              </a:ext>
            </a:extLst>
          </p:cNvPr>
          <p:cNvSpPr/>
          <p:nvPr/>
        </p:nvSpPr>
        <p:spPr>
          <a:xfrm>
            <a:off x="666750" y="1333500"/>
            <a:ext cx="78105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latin typeface="+mn-lt"/>
                <a:ea typeface="+mj-ea"/>
              </a:rPr>
              <a:t>将数据变量映射为美学属性（如位置、颜色、大小等）时所使用的转换函数</a:t>
            </a:r>
          </a:p>
        </p:txBody>
      </p:sp>
    </p:spTree>
    <p:extLst>
      <p:ext uri="{BB962C8B-B14F-4D97-AF65-F5344CB8AC3E}">
        <p14:creationId xmlns:p14="http://schemas.microsoft.com/office/powerpoint/2010/main" val="18674924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fld id="{5DD3DB80-B894-403A-B48E-6FDC1A72010E}" type="slidenum">
              <a:rPr lang="zh-CN" altLang="en-US" smtClean="0">
                <a:cs typeface="+mn-ea"/>
                <a:sym typeface="+mn-lt"/>
              </a:rPr>
              <a:t>16</a:t>
            </a:fld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03393DA-66ED-4B8B-A1C7-CC0867A9577B}"/>
              </a:ext>
            </a:extLst>
          </p:cNvPr>
          <p:cNvSpPr/>
          <p:nvPr/>
        </p:nvSpPr>
        <p:spPr>
          <a:xfrm>
            <a:off x="838200" y="2819400"/>
            <a:ext cx="3619500" cy="26058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algn="l">
              <a:lnSpc>
                <a:spcPts val="1425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p1 &lt;-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ggplot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(WHHP,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aes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GDP_per_Land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FAI_per_Land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color = HP_level2, shape=HP_level2)) + 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geom_point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() +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scale_color_manual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(values = c(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"#C51B7D"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"#7fbc41"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"#f46d43"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))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</a:p>
          <a:p>
            <a:pPr marL="0" marR="0" algn="l">
              <a:lnSpc>
                <a:spcPts val="1425"/>
              </a:lnSpc>
              <a:buNone/>
            </a:pP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p2 &lt;-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ggplot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(WHHP,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aes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GDP_per_Land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FAI_per_Land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color =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Avg_HP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)) +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geom_point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() +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scale_color_continuous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(low = 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"green"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high = 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"red"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</a:pP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p1/p2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CD41B9B5-C642-448E-8B73-8C53E0FC4765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648200" y="1752600"/>
            <a:ext cx="3505200" cy="4812983"/>
          </a:xfrm>
          <a:prstGeom prst="rect">
            <a:avLst/>
          </a:prstGeom>
        </p:spPr>
      </p:pic>
      <p:sp>
        <p:nvSpPr>
          <p:cNvPr id="6" name="标题 4">
            <a:extLst>
              <a:ext uri="{FF2B5EF4-FFF2-40B4-BE49-F238E27FC236}">
                <a16:creationId xmlns:a16="http://schemas.microsoft.com/office/drawing/2014/main" id="{4A312097-4BD2-736A-0A55-ED15C86C0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1101" y="342900"/>
            <a:ext cx="6896099" cy="663575"/>
          </a:xfrm>
        </p:spPr>
        <p:txBody>
          <a:bodyPr/>
          <a:lstStyle/>
          <a:p>
            <a:r>
              <a:rPr lang="en-US" altLang="zh-CN" sz="3600" dirty="0"/>
              <a:t>7.2.5 </a:t>
            </a:r>
            <a:r>
              <a:rPr lang="zh-CN" altLang="en-US" sz="3600" b="1" dirty="0">
                <a:latin typeface="Consolas" panose="020B0609020204030204" pitchFamily="49" charset="0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标度（</a:t>
            </a:r>
            <a:r>
              <a:rPr lang="en-US" altLang="zh-CN" sz="3600" b="1" dirty="0"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scale</a:t>
            </a:r>
            <a:r>
              <a:rPr lang="zh-CN" altLang="en-US" sz="3600" b="1" dirty="0">
                <a:latin typeface="Consolas" panose="020B0609020204030204" pitchFamily="49" charset="0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）</a:t>
            </a:r>
            <a:endParaRPr lang="zh-CN" altLang="en-US" sz="3600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DE3F678-3710-9E79-971B-148DA3E074DB}"/>
              </a:ext>
            </a:extLst>
          </p:cNvPr>
          <p:cNvSpPr/>
          <p:nvPr/>
        </p:nvSpPr>
        <p:spPr>
          <a:xfrm>
            <a:off x="666750" y="1333500"/>
            <a:ext cx="78105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latin typeface="+mn-lt"/>
                <a:ea typeface="+mj-ea"/>
              </a:rPr>
              <a:t>将数据变量映射为美学属性（如位置、颜色、大小等）时所使用的转换函数</a:t>
            </a:r>
          </a:p>
        </p:txBody>
      </p:sp>
    </p:spTree>
    <p:extLst>
      <p:ext uri="{BB962C8B-B14F-4D97-AF65-F5344CB8AC3E}">
        <p14:creationId xmlns:p14="http://schemas.microsoft.com/office/powerpoint/2010/main" val="17990082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fld id="{5DD3DB80-B894-403A-B48E-6FDC1A72010E}" type="slidenum">
              <a:rPr lang="zh-CN" altLang="en-US" smtClean="0">
                <a:cs typeface="+mn-ea"/>
                <a:sym typeface="+mn-lt"/>
              </a:rPr>
              <a:t>17</a:t>
            </a:fld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41B88FE-7613-44EB-AF50-36B09FE46302}"/>
              </a:ext>
            </a:extLst>
          </p:cNvPr>
          <p:cNvSpPr/>
          <p:nvPr/>
        </p:nvSpPr>
        <p:spPr>
          <a:xfrm>
            <a:off x="951902" y="1436995"/>
            <a:ext cx="7239000" cy="8695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dirty="0">
                <a:latin typeface="+mn-lt"/>
                <a:ea typeface="+mj-ea"/>
              </a:rPr>
              <a:t>统计变换（</a:t>
            </a:r>
            <a:r>
              <a:rPr lang="en-US" altLang="zh-CN" dirty="0">
                <a:latin typeface="+mn-lt"/>
                <a:ea typeface="+mj-ea"/>
              </a:rPr>
              <a:t>Statistics</a:t>
            </a:r>
            <a:r>
              <a:rPr lang="zh-CN" altLang="en-US" dirty="0">
                <a:latin typeface="+mn-lt"/>
                <a:ea typeface="+mj-ea"/>
              </a:rPr>
              <a:t>）是指通过对数据变量进行特定的统计处理以生成新的数据变量，进而用于图形元素绘制。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0580FED6-048C-4C2D-82C4-BC6EB6181E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7430627"/>
              </p:ext>
            </p:extLst>
          </p:nvPr>
        </p:nvGraphicFramePr>
        <p:xfrm>
          <a:off x="752505" y="2816838"/>
          <a:ext cx="7637795" cy="2788285"/>
        </p:xfrm>
        <a:graphic>
          <a:graphicData uri="http://schemas.openxmlformats.org/drawingml/2006/table">
            <a:tbl>
              <a:tblPr firstRow="1" firstCol="1" bandRow="1"/>
              <a:tblGrid>
                <a:gridCol w="2754498">
                  <a:extLst>
                    <a:ext uri="{9D8B030D-6E8A-4147-A177-3AD203B41FA5}">
                      <a16:colId xmlns:a16="http://schemas.microsoft.com/office/drawing/2014/main" val="1898066369"/>
                    </a:ext>
                  </a:extLst>
                </a:gridCol>
                <a:gridCol w="4883297">
                  <a:extLst>
                    <a:ext uri="{9D8B030D-6E8A-4147-A177-3AD203B41FA5}">
                      <a16:colId xmlns:a16="http://schemas.microsoft.com/office/drawing/2014/main" val="2795599736"/>
                    </a:ext>
                  </a:extLst>
                </a:gridCol>
              </a:tblGrid>
              <a:tr h="34607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统计变换函数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作用效果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3371792"/>
                  </a:ext>
                </a:extLst>
              </a:tr>
              <a:tr h="346075">
                <a:tc>
                  <a:txBody>
                    <a:bodyPr/>
                    <a:lstStyle/>
                    <a:p>
                      <a:pPr indent="30607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 i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nsolas" panose="020B0609020204030204" pitchFamily="49" charset="0"/>
                        </a:rPr>
                        <a:t>stat_summary()</a:t>
                      </a:r>
                      <a:endParaRPr lang="zh-CN" sz="120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计算汇总统计值（如均值、标准差等）并将其进行绘制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4657002"/>
                  </a:ext>
                </a:extLst>
              </a:tr>
              <a:tr h="34607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i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stat_bin()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对数据进行分箱处理（如直方图中的数据分组），并针对每个箱的频数进行绘制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0609036"/>
                  </a:ext>
                </a:extLst>
              </a:tr>
              <a:tr h="34607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i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stat_density()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通过核密度估计方法计算连续变量的密度分布，并绘制密度曲线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1468379"/>
                  </a:ext>
                </a:extLst>
              </a:tr>
              <a:tr h="34607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i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stat_smooth()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进行平滑拟合，通常用于计算回归或其他平滑曲线，然后将其绘制出来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7722883"/>
                  </a:ext>
                </a:extLst>
              </a:tr>
              <a:tr h="34607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i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stat_count()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计算分类变量频数，并将频数值用于绘图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7655280"/>
                  </a:ext>
                </a:extLst>
              </a:tr>
              <a:tr h="34607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i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stat_ecdf()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计算经验累积分布函数并进行绘制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2414960"/>
                  </a:ext>
                </a:extLst>
              </a:tr>
              <a:tr h="34607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 i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stat_identity()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直接使用原始数据进行绘制，不进行任何统计变换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1357910"/>
                  </a:ext>
                </a:extLst>
              </a:tr>
            </a:tbl>
          </a:graphicData>
        </a:graphic>
      </p:graphicFrame>
      <p:sp>
        <p:nvSpPr>
          <p:cNvPr id="7" name="标题 4">
            <a:extLst>
              <a:ext uri="{FF2B5EF4-FFF2-40B4-BE49-F238E27FC236}">
                <a16:creationId xmlns:a16="http://schemas.microsoft.com/office/drawing/2014/main" id="{88FE4760-CB81-34EF-F7B0-122DA2843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1101" y="342900"/>
            <a:ext cx="6896099" cy="663575"/>
          </a:xfrm>
        </p:spPr>
        <p:txBody>
          <a:bodyPr/>
          <a:lstStyle/>
          <a:p>
            <a:r>
              <a:rPr lang="en-US" altLang="zh-CN" sz="3600" dirty="0"/>
              <a:t>7.2.6 </a:t>
            </a:r>
            <a:r>
              <a:rPr lang="zh-CN" altLang="en-US" sz="3600" b="1" dirty="0">
                <a:latin typeface="Consolas" panose="020B0609020204030204" pitchFamily="49" charset="0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统计变换（</a:t>
            </a:r>
            <a:r>
              <a:rPr lang="en-US" altLang="zh-CN" sz="3600" b="1" dirty="0"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Statistics</a:t>
            </a:r>
            <a:r>
              <a:rPr lang="zh-CN" altLang="en-US" sz="3600" b="1" dirty="0">
                <a:latin typeface="Consolas" panose="020B0609020204030204" pitchFamily="49" charset="0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）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3201560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fld id="{5DD3DB80-B894-403A-B48E-6FDC1A72010E}" type="slidenum">
              <a:rPr lang="zh-CN" altLang="en-US" smtClean="0">
                <a:cs typeface="+mn-ea"/>
                <a:sym typeface="+mn-lt"/>
              </a:rPr>
              <a:t>18</a:t>
            </a:fld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ADDCA9C-D4CC-4523-BA0C-E4590E28FA9B}"/>
              </a:ext>
            </a:extLst>
          </p:cNvPr>
          <p:cNvSpPr/>
          <p:nvPr/>
        </p:nvSpPr>
        <p:spPr>
          <a:xfrm>
            <a:off x="1228128" y="2400300"/>
            <a:ext cx="6686550" cy="7405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algn="l">
              <a:lnSpc>
                <a:spcPct val="120000"/>
              </a:lnSpc>
              <a:buNone/>
            </a:pP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ggplot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(WHHP,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aes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(x =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Green_level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y =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Avg_HP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)) +</a:t>
            </a:r>
            <a:endParaRPr lang="en-US" altLang="zh-CN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ct val="120000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stat_summary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 fun = mean,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geom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"bar"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fill = 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200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skyblue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) +</a:t>
            </a:r>
            <a:endParaRPr lang="en-US" altLang="zh-CN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ct val="120000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stat_summary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fun.data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mean_cl_normal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geom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200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errorbar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 width = 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0.2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)</a:t>
            </a:r>
            <a:endParaRPr lang="en-US" altLang="zh-CN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4FB2F8B-0705-43F0-8E18-BF5F33F831A3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457025" y="3272113"/>
            <a:ext cx="6228753" cy="3350040"/>
          </a:xfrm>
          <a:prstGeom prst="rect">
            <a:avLst/>
          </a:prstGeom>
        </p:spPr>
      </p:pic>
      <p:sp>
        <p:nvSpPr>
          <p:cNvPr id="6" name="标题 4">
            <a:extLst>
              <a:ext uri="{FF2B5EF4-FFF2-40B4-BE49-F238E27FC236}">
                <a16:creationId xmlns:a16="http://schemas.microsoft.com/office/drawing/2014/main" id="{02250A40-9D48-4311-A49E-343588942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1101" y="342900"/>
            <a:ext cx="6896099" cy="663575"/>
          </a:xfrm>
        </p:spPr>
        <p:txBody>
          <a:bodyPr/>
          <a:lstStyle/>
          <a:p>
            <a:r>
              <a:rPr lang="en-US" altLang="zh-CN" sz="3600" dirty="0"/>
              <a:t>7.2.6 </a:t>
            </a:r>
            <a:r>
              <a:rPr lang="zh-CN" altLang="en-US" sz="3600" b="1" dirty="0">
                <a:latin typeface="Consolas" panose="020B0609020204030204" pitchFamily="49" charset="0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统计变换（</a:t>
            </a:r>
            <a:r>
              <a:rPr lang="en-US" altLang="zh-CN" sz="3600" b="1" dirty="0"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Statistics</a:t>
            </a:r>
            <a:r>
              <a:rPr lang="zh-CN" altLang="en-US" sz="3600" b="1" dirty="0">
                <a:latin typeface="Consolas" panose="020B0609020204030204" pitchFamily="49" charset="0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）</a:t>
            </a:r>
            <a:endParaRPr lang="zh-CN" altLang="en-US" sz="3600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CFE610E-E245-355A-87AC-BADDB806A06A}"/>
              </a:ext>
            </a:extLst>
          </p:cNvPr>
          <p:cNvSpPr/>
          <p:nvPr/>
        </p:nvSpPr>
        <p:spPr>
          <a:xfrm>
            <a:off x="951902" y="1436995"/>
            <a:ext cx="7239000" cy="8695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dirty="0">
                <a:latin typeface="+mn-lt"/>
                <a:ea typeface="+mj-ea"/>
              </a:rPr>
              <a:t>统计变换（</a:t>
            </a:r>
            <a:r>
              <a:rPr lang="en-US" altLang="zh-CN" dirty="0">
                <a:latin typeface="+mn-lt"/>
                <a:ea typeface="+mj-ea"/>
              </a:rPr>
              <a:t>Statistics</a:t>
            </a:r>
            <a:r>
              <a:rPr lang="zh-CN" altLang="en-US" dirty="0">
                <a:latin typeface="+mn-lt"/>
                <a:ea typeface="+mj-ea"/>
              </a:rPr>
              <a:t>）是指通过对数据变量进行特定的统计处理以生成新的数据变量，进而用于图形元素绘制。</a:t>
            </a:r>
          </a:p>
        </p:txBody>
      </p:sp>
    </p:spTree>
    <p:extLst>
      <p:ext uri="{BB962C8B-B14F-4D97-AF65-F5344CB8AC3E}">
        <p14:creationId xmlns:p14="http://schemas.microsoft.com/office/powerpoint/2010/main" val="33427287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fld id="{5DD3DB80-B894-403A-B48E-6FDC1A72010E}" type="slidenum">
              <a:rPr lang="zh-CN" altLang="en-US" smtClean="0">
                <a:cs typeface="+mn-ea"/>
                <a:sym typeface="+mn-lt"/>
              </a:rPr>
              <a:t>19</a:t>
            </a:fld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41B88FE-7613-44EB-AF50-36B09FE46302}"/>
              </a:ext>
            </a:extLst>
          </p:cNvPr>
          <p:cNvSpPr/>
          <p:nvPr/>
        </p:nvSpPr>
        <p:spPr>
          <a:xfrm>
            <a:off x="533400" y="1257300"/>
            <a:ext cx="8077200" cy="8695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dirty="0">
                <a:latin typeface="+mn-lt"/>
                <a:ea typeface="+mn-ea"/>
              </a:rPr>
              <a:t>坐标系（</a:t>
            </a:r>
            <a:r>
              <a:rPr lang="en-US" altLang="zh-CN" dirty="0">
                <a:latin typeface="+mn-lt"/>
                <a:ea typeface="+mn-ea"/>
              </a:rPr>
              <a:t>Coordinate</a:t>
            </a:r>
            <a:r>
              <a:rPr lang="zh-CN" altLang="en-US" dirty="0">
                <a:latin typeface="+mn-lt"/>
                <a:ea typeface="+mn-ea"/>
              </a:rPr>
              <a:t>）是可视化过程中的另一基础元素，直接决定了图形的呈现形式，一般主要包括笛卡尔坐标系和极坐标系两种。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B27931CB-6BC4-4A6A-8B0E-40EF380BACDF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657499" y="2951101"/>
            <a:ext cx="5829002" cy="373628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575D6524-BE9E-4238-917A-D8155BC574E7}"/>
              </a:ext>
            </a:extLst>
          </p:cNvPr>
          <p:cNvSpPr/>
          <p:nvPr/>
        </p:nvSpPr>
        <p:spPr>
          <a:xfrm>
            <a:off x="609600" y="2209800"/>
            <a:ext cx="8267700" cy="630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algn="l">
              <a:lnSpc>
                <a:spcPts val="1425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p1 &lt;-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ggplot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(WHHP,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aes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(x =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Green_level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y =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Avg_HP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)) +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geom_boxplot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(width=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0.8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p2 &lt;- 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ggplot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(WHHP,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aes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(x =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Green_level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y =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Avg_HP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)) +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geom_boxplot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(width=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0.8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 +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coord_flip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()</a:t>
            </a:r>
            <a:endParaRPr lang="en-US" altLang="zh-CN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</a:pP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p1|p2</a:t>
            </a:r>
            <a:endParaRPr lang="en-US" altLang="zh-CN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7" name="标题 4">
            <a:extLst>
              <a:ext uri="{FF2B5EF4-FFF2-40B4-BE49-F238E27FC236}">
                <a16:creationId xmlns:a16="http://schemas.microsoft.com/office/drawing/2014/main" id="{844D0C76-AC9F-E17D-03DE-ED34396B3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1101" y="342900"/>
            <a:ext cx="6896099" cy="663575"/>
          </a:xfrm>
        </p:spPr>
        <p:txBody>
          <a:bodyPr/>
          <a:lstStyle/>
          <a:p>
            <a:r>
              <a:rPr lang="en-US" altLang="zh-CN" sz="3600" dirty="0"/>
              <a:t>7.2.7 </a:t>
            </a:r>
            <a:r>
              <a:rPr lang="zh-CN" altLang="en-US" sz="3600" b="1" dirty="0">
                <a:latin typeface="Consolas" panose="020B0609020204030204" pitchFamily="49" charset="0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坐标系</a:t>
            </a:r>
            <a:r>
              <a:rPr lang="zh-CN" altLang="en-US" sz="3600" b="1" dirty="0"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（</a:t>
            </a:r>
            <a:r>
              <a:rPr lang="en-US" altLang="zh-CN" sz="3600" b="1" dirty="0"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Coordinate</a:t>
            </a:r>
            <a:r>
              <a:rPr lang="zh-CN" altLang="en-US" sz="3600" b="1" dirty="0"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）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643366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fld id="{5DD3DB80-B894-403A-B48E-6FDC1A72010E}" type="slidenum">
              <a:rPr lang="zh-CN" altLang="en-US" smtClean="0">
                <a:cs typeface="+mn-ea"/>
                <a:sym typeface="+mn-lt"/>
              </a:rPr>
              <a:t>20</a:t>
            </a:fld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75D6524-BE9E-4238-917A-D8155BC574E7}"/>
              </a:ext>
            </a:extLst>
          </p:cNvPr>
          <p:cNvSpPr/>
          <p:nvPr/>
        </p:nvSpPr>
        <p:spPr>
          <a:xfrm>
            <a:off x="951903" y="2883566"/>
            <a:ext cx="7239000" cy="24263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algn="l">
              <a:lnSpc>
                <a:spcPts val="1425"/>
              </a:lnSpc>
              <a:buNone/>
            </a:pP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wind_data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&lt;-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data.frame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Direction = factor(c(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zh-CN" altLang="en-US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北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zh-CN" altLang="en-US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东北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zh-CN" altLang="en-US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东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zh-CN" altLang="en-US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东南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zh-CN" altLang="en-US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南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zh-CN" altLang="en-US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西南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zh-CN" altLang="en-US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西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zh-CN" altLang="en-US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西北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)),</a:t>
            </a:r>
            <a:endParaRPr lang="zh-CN" altLang="en-US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zh-CN" altLang="en-US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Frequency = c(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10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15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20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30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20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15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10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10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))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p1 &lt;-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ggplot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wind_data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aes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(x = Direction, y = Frequency, fill = Direction)) +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geom_bar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(width = 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stat = 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"identity"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p2 &lt;-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ggplot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wind_data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aes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(x = 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""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y = Frequency, fill = Direction)) +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geom_bar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(width = 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stat = 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"identity"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 +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coord_polar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"y"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p3&lt;-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ggplot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wind_data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aes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(x = Direction, y = Frequency, fill = Direction)) +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geom_bar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(stat = 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"identity"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 +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coord_polar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(start = 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p4 &lt;-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ggplot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wind_data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aes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(x = 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y = Frequency, fill = Direction)) +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geom_bar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(width = 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stat = 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"identity"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 +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coord_polar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"y"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start = 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 +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xlim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0.5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2.5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F242CE7-C9FF-4FE6-33FA-3CCE3DECA567}"/>
              </a:ext>
            </a:extLst>
          </p:cNvPr>
          <p:cNvSpPr/>
          <p:nvPr/>
        </p:nvSpPr>
        <p:spPr>
          <a:xfrm>
            <a:off x="533400" y="1257300"/>
            <a:ext cx="8077200" cy="8695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dirty="0">
                <a:latin typeface="+mn-lt"/>
                <a:ea typeface="+mn-ea"/>
              </a:rPr>
              <a:t>坐标系（</a:t>
            </a:r>
            <a:r>
              <a:rPr lang="en-US" altLang="zh-CN" dirty="0">
                <a:latin typeface="+mn-lt"/>
                <a:ea typeface="+mn-ea"/>
              </a:rPr>
              <a:t>Coordinate</a:t>
            </a:r>
            <a:r>
              <a:rPr lang="zh-CN" altLang="en-US" dirty="0">
                <a:latin typeface="+mn-lt"/>
                <a:ea typeface="+mn-ea"/>
              </a:rPr>
              <a:t>）是可视化过程中的另一基础元素，直接决定了图形的呈现形式，一般主要包括笛卡尔坐标系和极坐标系两种。</a:t>
            </a:r>
          </a:p>
        </p:txBody>
      </p:sp>
      <p:sp>
        <p:nvSpPr>
          <p:cNvPr id="8" name="标题 4">
            <a:extLst>
              <a:ext uri="{FF2B5EF4-FFF2-40B4-BE49-F238E27FC236}">
                <a16:creationId xmlns:a16="http://schemas.microsoft.com/office/drawing/2014/main" id="{82D3E2CD-EE67-ECBA-4883-2F4A1C018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1101" y="342900"/>
            <a:ext cx="6896099" cy="663575"/>
          </a:xfrm>
        </p:spPr>
        <p:txBody>
          <a:bodyPr/>
          <a:lstStyle/>
          <a:p>
            <a:r>
              <a:rPr lang="en-US" altLang="zh-CN" sz="3600" dirty="0"/>
              <a:t>7.2.7 </a:t>
            </a:r>
            <a:r>
              <a:rPr lang="zh-CN" altLang="en-US" sz="3600" b="1" dirty="0">
                <a:latin typeface="Consolas" panose="020B0609020204030204" pitchFamily="49" charset="0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坐标系</a:t>
            </a:r>
            <a:r>
              <a:rPr lang="zh-CN" altLang="en-US" sz="3600" b="1" dirty="0"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（</a:t>
            </a:r>
            <a:r>
              <a:rPr lang="en-US" altLang="zh-CN" sz="3600" b="1" dirty="0"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Coordinate</a:t>
            </a:r>
            <a:r>
              <a:rPr lang="zh-CN" altLang="en-US" sz="3600" b="1" dirty="0"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）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1362357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fld id="{5DD3DB80-B894-403A-B48E-6FDC1A72010E}" type="slidenum">
              <a:rPr lang="zh-CN" altLang="en-US" smtClean="0">
                <a:cs typeface="+mn-ea"/>
                <a:sym typeface="+mn-lt"/>
              </a:rPr>
              <a:t>21</a:t>
            </a:fld>
            <a:endParaRPr lang="zh-CN" altLang="en-US">
              <a:cs typeface="+mn-ea"/>
              <a:sym typeface="+mn-lt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475E73C-5C20-4011-BE02-3A24FAFBA199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152052" y="2438400"/>
            <a:ext cx="4838702" cy="4419600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62097EC6-7D90-C35C-8FAF-B6A00FDD6AC2}"/>
              </a:ext>
            </a:extLst>
          </p:cNvPr>
          <p:cNvSpPr/>
          <p:nvPr/>
        </p:nvSpPr>
        <p:spPr>
          <a:xfrm>
            <a:off x="533400" y="1257300"/>
            <a:ext cx="8077200" cy="8695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dirty="0">
                <a:latin typeface="+mn-lt"/>
                <a:ea typeface="+mn-ea"/>
              </a:rPr>
              <a:t>坐标系（</a:t>
            </a:r>
            <a:r>
              <a:rPr lang="en-US" altLang="zh-CN" dirty="0">
                <a:latin typeface="+mn-lt"/>
                <a:ea typeface="+mn-ea"/>
              </a:rPr>
              <a:t>Coordinate</a:t>
            </a:r>
            <a:r>
              <a:rPr lang="zh-CN" altLang="en-US" dirty="0">
                <a:latin typeface="+mn-lt"/>
                <a:ea typeface="+mn-ea"/>
              </a:rPr>
              <a:t>）是可视化过程中的另一基础元素，直接决定了图形的呈现形式，一般主要包括笛卡尔坐标系和极坐标系两种。</a:t>
            </a:r>
          </a:p>
        </p:txBody>
      </p:sp>
      <p:sp>
        <p:nvSpPr>
          <p:cNvPr id="8" name="标题 4">
            <a:extLst>
              <a:ext uri="{FF2B5EF4-FFF2-40B4-BE49-F238E27FC236}">
                <a16:creationId xmlns:a16="http://schemas.microsoft.com/office/drawing/2014/main" id="{8E957ECD-4E7E-F441-41DC-1D737BAFA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1101" y="342900"/>
            <a:ext cx="6896099" cy="663575"/>
          </a:xfrm>
        </p:spPr>
        <p:txBody>
          <a:bodyPr/>
          <a:lstStyle/>
          <a:p>
            <a:r>
              <a:rPr lang="en-US" altLang="zh-CN" sz="3600" dirty="0"/>
              <a:t>7.2.7 </a:t>
            </a:r>
            <a:r>
              <a:rPr lang="zh-CN" altLang="en-US" sz="3600" b="1" dirty="0">
                <a:latin typeface="Consolas" panose="020B0609020204030204" pitchFamily="49" charset="0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坐标系</a:t>
            </a:r>
            <a:r>
              <a:rPr lang="zh-CN" altLang="en-US" sz="3600" b="1" dirty="0"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（</a:t>
            </a:r>
            <a:r>
              <a:rPr lang="en-US" altLang="zh-CN" sz="3600" b="1" dirty="0"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Coordinate</a:t>
            </a:r>
            <a:r>
              <a:rPr lang="zh-CN" altLang="en-US" sz="3600" b="1" dirty="0"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）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4883574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fld id="{5DD3DB80-B894-403A-B48E-6FDC1A72010E}" type="slidenum">
              <a:rPr lang="zh-CN" altLang="en-US" smtClean="0">
                <a:cs typeface="+mn-ea"/>
                <a:sym typeface="+mn-lt"/>
              </a:rPr>
              <a:t>22</a:t>
            </a:fld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41B88FE-7613-44EB-AF50-36B09FE46302}"/>
              </a:ext>
            </a:extLst>
          </p:cNvPr>
          <p:cNvSpPr/>
          <p:nvPr/>
        </p:nvSpPr>
        <p:spPr>
          <a:xfrm>
            <a:off x="952500" y="1678486"/>
            <a:ext cx="7239000" cy="874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dirty="0">
                <a:latin typeface="+mn-lt"/>
                <a:ea typeface="+mn-ea"/>
              </a:rPr>
              <a:t>针对绘图过程中图形元素位置调整（</a:t>
            </a:r>
            <a:r>
              <a:rPr lang="en-US" altLang="zh-CN" dirty="0">
                <a:latin typeface="+mn-lt"/>
                <a:ea typeface="+mn-ea"/>
              </a:rPr>
              <a:t>Position Adjustments</a:t>
            </a:r>
            <a:r>
              <a:rPr lang="zh-CN" altLang="en-US" dirty="0">
                <a:latin typeface="+mn-lt"/>
                <a:ea typeface="+mn-ea"/>
              </a:rPr>
              <a:t>），主要有两个函数：</a:t>
            </a:r>
            <a:r>
              <a:rPr lang="en-US" altLang="zh-CN" dirty="0" err="1">
                <a:latin typeface="+mn-lt"/>
                <a:ea typeface="+mn-ea"/>
              </a:rPr>
              <a:t>position_jitter</a:t>
            </a:r>
            <a:r>
              <a:rPr lang="en-US" altLang="zh-CN" dirty="0">
                <a:latin typeface="+mn-lt"/>
                <a:ea typeface="+mn-ea"/>
              </a:rPr>
              <a:t>()</a:t>
            </a:r>
            <a:r>
              <a:rPr lang="zh-CN" altLang="en-US" dirty="0">
                <a:latin typeface="+mn-lt"/>
                <a:ea typeface="+mn-ea"/>
              </a:rPr>
              <a:t>函数和</a:t>
            </a:r>
            <a:r>
              <a:rPr lang="en-US" altLang="zh-CN" dirty="0" err="1">
                <a:latin typeface="+mn-lt"/>
                <a:ea typeface="+mn-ea"/>
              </a:rPr>
              <a:t>position_dodge</a:t>
            </a:r>
            <a:r>
              <a:rPr lang="en-US" altLang="zh-CN" dirty="0">
                <a:latin typeface="+mn-lt"/>
                <a:ea typeface="+mn-ea"/>
              </a:rPr>
              <a:t>()</a:t>
            </a:r>
            <a:r>
              <a:rPr lang="zh-CN" altLang="en-US" dirty="0">
                <a:latin typeface="+mn-lt"/>
                <a:ea typeface="+mn-ea"/>
              </a:rPr>
              <a:t>函数。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687B075-26F6-4F4A-A483-E162D3858C3A}"/>
              </a:ext>
            </a:extLst>
          </p:cNvPr>
          <p:cNvSpPr/>
          <p:nvPr/>
        </p:nvSpPr>
        <p:spPr>
          <a:xfrm>
            <a:off x="1662276" y="2826286"/>
            <a:ext cx="5933747" cy="29649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algn="l">
              <a:lnSpc>
                <a:spcPts val="1425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data &lt;-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data.frame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endParaRPr lang="en-US" altLang="zh-CN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category = rep(c(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"A"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"B"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"C"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), each = 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30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),</a:t>
            </a:r>
            <a:endParaRPr lang="en-US" altLang="zh-CN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value = c(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rnorm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30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mean = 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10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sd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0.5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), </a:t>
            </a:r>
            <a:endParaRPr lang="en-US" altLang="zh-CN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         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rnorm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30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mean = 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15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sd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0.5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), </a:t>
            </a:r>
            <a:endParaRPr lang="en-US" altLang="zh-CN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         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rnorm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30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mean = 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20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sd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0.5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))</a:t>
            </a:r>
            <a:endParaRPr lang="en-US" altLang="zh-CN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p1&lt;-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ggplot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(data,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aes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(x = category, y = value)) +</a:t>
            </a:r>
            <a:endParaRPr lang="en-US" altLang="zh-CN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geom_point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() +</a:t>
            </a:r>
            <a:endParaRPr lang="en-US" altLang="zh-CN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labs(title = 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"Scatter Plot without Jitter"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endParaRPr lang="en-US" altLang="zh-CN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     x = 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"Category"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endParaRPr lang="en-US" altLang="zh-CN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     y = 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"Value"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p2&lt;-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ggplot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(data,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aes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(x = category, y = value)) +</a:t>
            </a:r>
            <a:endParaRPr lang="en-US" altLang="zh-CN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geom_point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(position =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position_jitter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(width = 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0.2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height = 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)) +</a:t>
            </a:r>
            <a:endParaRPr lang="en-US" altLang="zh-CN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labs(title = 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"Scatter Plot with Jitter"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endParaRPr lang="en-US" altLang="zh-CN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     x = 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"Category"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endParaRPr lang="en-US" altLang="zh-CN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</a:pP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     y = 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"Value"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" name="标题 4">
            <a:extLst>
              <a:ext uri="{FF2B5EF4-FFF2-40B4-BE49-F238E27FC236}">
                <a16:creationId xmlns:a16="http://schemas.microsoft.com/office/drawing/2014/main" id="{069CD0A1-CCAD-5D50-8F3A-A38F89FE95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1101" y="342900"/>
            <a:ext cx="6896099" cy="663575"/>
          </a:xfrm>
        </p:spPr>
        <p:txBody>
          <a:bodyPr/>
          <a:lstStyle/>
          <a:p>
            <a:r>
              <a:rPr lang="en-US" altLang="zh-CN" sz="3600" dirty="0"/>
              <a:t>7.2.8 </a:t>
            </a:r>
            <a:r>
              <a:rPr lang="zh-CN" altLang="en-US" sz="3600" b="1" dirty="0"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位置调整</a:t>
            </a:r>
            <a:br>
              <a:rPr lang="zh-CN" altLang="en-US" sz="3600" b="1" dirty="0"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</a:br>
            <a:endParaRPr lang="zh-CN" altLang="en-US" sz="36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97A2987-5732-5444-4797-CE672FC8D39B}"/>
              </a:ext>
            </a:extLst>
          </p:cNvPr>
          <p:cNvSpPr/>
          <p:nvPr/>
        </p:nvSpPr>
        <p:spPr>
          <a:xfrm>
            <a:off x="2156801" y="1066800"/>
            <a:ext cx="4829206" cy="4977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400" b="1" dirty="0"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位置调整（</a:t>
            </a:r>
            <a:r>
              <a:rPr lang="en-US" altLang="zh-CN" sz="2400" b="1" dirty="0"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Position Adjustments</a:t>
            </a:r>
            <a:r>
              <a:rPr lang="zh-CN" altLang="en-US" sz="2400" b="1" dirty="0"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33535500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fld id="{5DD3DB80-B894-403A-B48E-6FDC1A72010E}" type="slidenum">
              <a:rPr lang="zh-CN" altLang="en-US" smtClean="0">
                <a:cs typeface="+mn-ea"/>
                <a:sym typeface="+mn-lt"/>
              </a:rPr>
              <a:t>23</a:t>
            </a:fld>
            <a:endParaRPr lang="zh-CN" altLang="en-US">
              <a:cs typeface="+mn-ea"/>
              <a:sym typeface="+mn-lt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AD16110-E5BC-4167-9F54-E8FFE53C1349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351954" y="2674938"/>
            <a:ext cx="6438900" cy="4030662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9FEB5F9C-98C7-5BFF-5C51-40D63CB15239}"/>
              </a:ext>
            </a:extLst>
          </p:cNvPr>
          <p:cNvSpPr/>
          <p:nvPr/>
        </p:nvSpPr>
        <p:spPr>
          <a:xfrm>
            <a:off x="952500" y="1684338"/>
            <a:ext cx="7239000" cy="874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dirty="0">
                <a:latin typeface="+mn-lt"/>
                <a:ea typeface="+mn-ea"/>
              </a:rPr>
              <a:t>针对绘图过程中图形元素位置调整（</a:t>
            </a:r>
            <a:r>
              <a:rPr lang="en-US" altLang="zh-CN" dirty="0">
                <a:latin typeface="+mn-lt"/>
                <a:ea typeface="+mn-ea"/>
              </a:rPr>
              <a:t>Position Adjustments</a:t>
            </a:r>
            <a:r>
              <a:rPr lang="zh-CN" altLang="en-US" dirty="0">
                <a:latin typeface="+mn-lt"/>
                <a:ea typeface="+mn-ea"/>
              </a:rPr>
              <a:t>），主要有两个函数：</a:t>
            </a:r>
            <a:r>
              <a:rPr lang="en-US" altLang="zh-CN" dirty="0" err="1">
                <a:latin typeface="+mn-lt"/>
                <a:ea typeface="+mn-ea"/>
              </a:rPr>
              <a:t>position_jitter</a:t>
            </a:r>
            <a:r>
              <a:rPr lang="en-US" altLang="zh-CN" dirty="0">
                <a:latin typeface="+mn-lt"/>
                <a:ea typeface="+mn-ea"/>
              </a:rPr>
              <a:t>()</a:t>
            </a:r>
            <a:r>
              <a:rPr lang="zh-CN" altLang="en-US" dirty="0">
                <a:latin typeface="+mn-lt"/>
                <a:ea typeface="+mn-ea"/>
              </a:rPr>
              <a:t>函数和</a:t>
            </a:r>
            <a:r>
              <a:rPr lang="en-US" altLang="zh-CN" dirty="0" err="1">
                <a:latin typeface="+mn-lt"/>
                <a:ea typeface="+mn-ea"/>
              </a:rPr>
              <a:t>position_dodge</a:t>
            </a:r>
            <a:r>
              <a:rPr lang="en-US" altLang="zh-CN" dirty="0">
                <a:latin typeface="+mn-lt"/>
                <a:ea typeface="+mn-ea"/>
              </a:rPr>
              <a:t>()</a:t>
            </a:r>
            <a:r>
              <a:rPr lang="zh-CN" altLang="en-US" dirty="0">
                <a:latin typeface="+mn-lt"/>
                <a:ea typeface="+mn-ea"/>
              </a:rPr>
              <a:t>函数。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93F4206-81DA-8371-8E30-BE6E34069DA5}"/>
              </a:ext>
            </a:extLst>
          </p:cNvPr>
          <p:cNvSpPr/>
          <p:nvPr/>
        </p:nvSpPr>
        <p:spPr>
          <a:xfrm>
            <a:off x="2156801" y="1066800"/>
            <a:ext cx="4829206" cy="4977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400" b="1" dirty="0"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位置调整（</a:t>
            </a:r>
            <a:r>
              <a:rPr lang="en-US" altLang="zh-CN" sz="2400" b="1" dirty="0"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Position Adjustments</a:t>
            </a:r>
            <a:r>
              <a:rPr lang="zh-CN" altLang="en-US" sz="2400" b="1" dirty="0"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）</a:t>
            </a:r>
          </a:p>
        </p:txBody>
      </p:sp>
      <p:sp>
        <p:nvSpPr>
          <p:cNvPr id="11" name="标题 4">
            <a:extLst>
              <a:ext uri="{FF2B5EF4-FFF2-40B4-BE49-F238E27FC236}">
                <a16:creationId xmlns:a16="http://schemas.microsoft.com/office/drawing/2014/main" id="{385719C0-406F-2C2C-0466-BC2436B86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1101" y="342900"/>
            <a:ext cx="6896099" cy="663575"/>
          </a:xfrm>
        </p:spPr>
        <p:txBody>
          <a:bodyPr/>
          <a:lstStyle/>
          <a:p>
            <a:r>
              <a:rPr lang="en-US" altLang="zh-CN" sz="3600" dirty="0"/>
              <a:t>7.2.8 </a:t>
            </a:r>
            <a:r>
              <a:rPr lang="zh-CN" altLang="en-US" sz="3600" b="1" dirty="0"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位置调整</a:t>
            </a:r>
            <a:br>
              <a:rPr lang="zh-CN" altLang="en-US" sz="3600" b="1" dirty="0"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</a:b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8237556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fld id="{5DD3DB80-B894-403A-B48E-6FDC1A72010E}" type="slidenum">
              <a:rPr lang="zh-CN" altLang="en-US" smtClean="0">
                <a:cs typeface="+mn-ea"/>
                <a:sym typeface="+mn-lt"/>
              </a:rPr>
              <a:t>24</a:t>
            </a:fld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B2D63CD-757E-4D5E-B094-A901E429A473}"/>
              </a:ext>
            </a:extLst>
          </p:cNvPr>
          <p:cNvSpPr/>
          <p:nvPr/>
        </p:nvSpPr>
        <p:spPr>
          <a:xfrm>
            <a:off x="184500" y="3010467"/>
            <a:ext cx="4253493" cy="27853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algn="l">
              <a:lnSpc>
                <a:spcPts val="1425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data &lt;-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data.frame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endParaRPr lang="en-US" altLang="zh-CN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category = rep(c(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"A"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"B"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"C"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), times = 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),</a:t>
            </a:r>
            <a:endParaRPr lang="en-US" altLang="zh-CN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group = rep(c(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"G1"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"G2"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"G3"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), each = 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),</a:t>
            </a:r>
            <a:endParaRPr lang="en-US" altLang="zh-CN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value = c(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10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15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20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12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17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22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11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16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21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))</a:t>
            </a:r>
            <a:endParaRPr lang="en-US" altLang="zh-CN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p1&lt;-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ggplot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(data,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aes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(x = category, y = value, fill = group)) +</a:t>
            </a:r>
            <a:endParaRPr lang="en-US" altLang="zh-CN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geom_bar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(stat = 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"identity"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width=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0.5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 +</a:t>
            </a:r>
            <a:endParaRPr lang="en-US" altLang="zh-CN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labs(title = 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"Grouped Bar Plot without Dodge"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endParaRPr lang="en-US" altLang="zh-CN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     x = 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"Category"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y = 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"Value"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p2&lt;-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ggplot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(data,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aes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(x = category, y = value, fill = group)) +</a:t>
            </a:r>
            <a:endParaRPr lang="en-US" altLang="zh-CN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geom_bar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(stat = 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"identity"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position =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position_dodge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(width = 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0.8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)) +</a:t>
            </a:r>
            <a:endParaRPr lang="en-US" altLang="zh-CN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labs(title = 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"Grouped Bar Plot with Dodge"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endParaRPr lang="en-US" altLang="zh-CN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</a:pP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     x = 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"Category"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y = 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"Value"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184DE63-E05A-4A66-8CE5-71B043355B80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343400" y="2859519"/>
            <a:ext cx="4616100" cy="3198381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DC81A214-FB77-2014-BEEE-13719BC1BC70}"/>
              </a:ext>
            </a:extLst>
          </p:cNvPr>
          <p:cNvSpPr/>
          <p:nvPr/>
        </p:nvSpPr>
        <p:spPr>
          <a:xfrm>
            <a:off x="952500" y="1678486"/>
            <a:ext cx="7239000" cy="874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dirty="0">
                <a:latin typeface="+mn-lt"/>
                <a:ea typeface="+mn-ea"/>
              </a:rPr>
              <a:t>针对绘图过程中图形元素位置调整（</a:t>
            </a:r>
            <a:r>
              <a:rPr lang="en-US" altLang="zh-CN" dirty="0">
                <a:latin typeface="+mn-lt"/>
                <a:ea typeface="+mn-ea"/>
              </a:rPr>
              <a:t>Position Adjustments</a:t>
            </a:r>
            <a:r>
              <a:rPr lang="zh-CN" altLang="en-US" dirty="0">
                <a:latin typeface="+mn-lt"/>
                <a:ea typeface="+mn-ea"/>
              </a:rPr>
              <a:t>），主要有两个函数：</a:t>
            </a:r>
            <a:r>
              <a:rPr lang="en-US" altLang="zh-CN" dirty="0" err="1">
                <a:latin typeface="+mn-lt"/>
                <a:ea typeface="+mn-ea"/>
              </a:rPr>
              <a:t>position_jitter</a:t>
            </a:r>
            <a:r>
              <a:rPr lang="en-US" altLang="zh-CN" dirty="0">
                <a:latin typeface="+mn-lt"/>
                <a:ea typeface="+mn-ea"/>
              </a:rPr>
              <a:t>()</a:t>
            </a:r>
            <a:r>
              <a:rPr lang="zh-CN" altLang="en-US" dirty="0">
                <a:latin typeface="+mn-lt"/>
                <a:ea typeface="+mn-ea"/>
              </a:rPr>
              <a:t>函数和</a:t>
            </a:r>
            <a:r>
              <a:rPr lang="en-US" altLang="zh-CN" dirty="0" err="1">
                <a:latin typeface="+mn-lt"/>
                <a:ea typeface="+mn-ea"/>
              </a:rPr>
              <a:t>position_dodge</a:t>
            </a:r>
            <a:r>
              <a:rPr lang="en-US" altLang="zh-CN" dirty="0">
                <a:latin typeface="+mn-lt"/>
                <a:ea typeface="+mn-ea"/>
              </a:rPr>
              <a:t>()</a:t>
            </a:r>
            <a:r>
              <a:rPr lang="zh-CN" altLang="en-US" dirty="0">
                <a:latin typeface="+mn-lt"/>
                <a:ea typeface="+mn-ea"/>
              </a:rPr>
              <a:t>函数。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36FDE11-620A-9C42-6CA4-D6E1F09CCAD7}"/>
              </a:ext>
            </a:extLst>
          </p:cNvPr>
          <p:cNvSpPr/>
          <p:nvPr/>
        </p:nvSpPr>
        <p:spPr>
          <a:xfrm>
            <a:off x="2156801" y="1066800"/>
            <a:ext cx="4829206" cy="4977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400" b="1" dirty="0"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位置调整（</a:t>
            </a:r>
            <a:r>
              <a:rPr lang="en-US" altLang="zh-CN" sz="2400" b="1" dirty="0"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Position Adjustments</a:t>
            </a:r>
            <a:r>
              <a:rPr lang="zh-CN" altLang="en-US" sz="2400" b="1" dirty="0"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）</a:t>
            </a:r>
          </a:p>
        </p:txBody>
      </p:sp>
      <p:sp>
        <p:nvSpPr>
          <p:cNvPr id="8" name="标题 4">
            <a:extLst>
              <a:ext uri="{FF2B5EF4-FFF2-40B4-BE49-F238E27FC236}">
                <a16:creationId xmlns:a16="http://schemas.microsoft.com/office/drawing/2014/main" id="{5E9389D5-0A53-08F3-577F-2AE9FDA4C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1101" y="342900"/>
            <a:ext cx="6896099" cy="663575"/>
          </a:xfrm>
        </p:spPr>
        <p:txBody>
          <a:bodyPr/>
          <a:lstStyle/>
          <a:p>
            <a:r>
              <a:rPr lang="en-US" altLang="zh-CN" sz="3600" dirty="0"/>
              <a:t>7.2.8 </a:t>
            </a:r>
            <a:r>
              <a:rPr lang="zh-CN" altLang="en-US" sz="3600" b="1" dirty="0"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位置调整</a:t>
            </a:r>
            <a:br>
              <a:rPr lang="zh-CN" altLang="en-US" sz="3600" b="1" dirty="0"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</a:b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5849433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fld id="{5DD3DB80-B894-403A-B48E-6FDC1A72010E}" type="slidenum">
              <a:rPr lang="zh-CN" altLang="en-US" smtClean="0">
                <a:cs typeface="+mn-ea"/>
                <a:sym typeface="+mn-lt"/>
              </a:rPr>
              <a:t>25</a:t>
            </a:fld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41B88FE-7613-44EB-AF50-36B09FE46302}"/>
              </a:ext>
            </a:extLst>
          </p:cNvPr>
          <p:cNvSpPr/>
          <p:nvPr/>
        </p:nvSpPr>
        <p:spPr>
          <a:xfrm>
            <a:off x="514350" y="1295400"/>
            <a:ext cx="8115300" cy="874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ctr">
              <a:lnSpc>
                <a:spcPct val="150000"/>
              </a:lnSpc>
            </a:pPr>
            <a:r>
              <a:rPr lang="zh-CN" altLang="en-US" dirty="0">
                <a:latin typeface="+mn-lt"/>
                <a:ea typeface="+mn-ea"/>
              </a:rPr>
              <a:t>分面（</a:t>
            </a:r>
            <a:r>
              <a:rPr lang="en-US" altLang="zh-CN" dirty="0">
                <a:latin typeface="+mn-lt"/>
                <a:ea typeface="+mn-ea"/>
              </a:rPr>
              <a:t>facet</a:t>
            </a:r>
            <a:r>
              <a:rPr lang="zh-CN" altLang="en-US" dirty="0">
                <a:latin typeface="+mn-lt"/>
                <a:ea typeface="+mn-ea"/>
              </a:rPr>
              <a:t>）：根据特定分组条件将数据进行拆分，并将拆分后的数据在多个小面板中进行分别绘制，一维分面（</a:t>
            </a:r>
            <a:r>
              <a:rPr lang="en-US" altLang="zh-CN" dirty="0" err="1">
                <a:latin typeface="+mn-lt"/>
                <a:ea typeface="+mn-ea"/>
              </a:rPr>
              <a:t>facet_wrap</a:t>
            </a:r>
            <a:r>
              <a:rPr lang="zh-CN" altLang="en-US" dirty="0">
                <a:latin typeface="+mn-lt"/>
                <a:ea typeface="+mn-ea"/>
              </a:rPr>
              <a:t>）和二维分面（</a:t>
            </a:r>
            <a:r>
              <a:rPr lang="en-US" altLang="zh-CN" dirty="0" err="1">
                <a:latin typeface="+mn-lt"/>
                <a:ea typeface="+mn-ea"/>
              </a:rPr>
              <a:t>facet_grid</a:t>
            </a:r>
            <a:r>
              <a:rPr lang="zh-CN" altLang="en-US" dirty="0">
                <a:latin typeface="+mn-lt"/>
                <a:ea typeface="+mn-ea"/>
              </a:rPr>
              <a:t>）</a:t>
            </a:r>
          </a:p>
        </p:txBody>
      </p:sp>
      <p:pic>
        <p:nvPicPr>
          <p:cNvPr id="6" name="Picture" title="fig:">
            <a:extLst>
              <a:ext uri="{FF2B5EF4-FFF2-40B4-BE49-F238E27FC236}">
                <a16:creationId xmlns:a16="http://schemas.microsoft.com/office/drawing/2014/main" id="{EE151D6A-4FC1-45A3-B377-11305ABB433F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257300" y="2400300"/>
            <a:ext cx="6667500" cy="35433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3DA792AF-A64B-4B85-9E17-23DE2EF6FCDD}"/>
              </a:ext>
            </a:extLst>
          </p:cNvPr>
          <p:cNvSpPr/>
          <p:nvPr/>
        </p:nvSpPr>
        <p:spPr>
          <a:xfrm>
            <a:off x="5486399" y="5932849"/>
            <a:ext cx="2087111" cy="38004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306070" algn="ctr">
              <a:lnSpc>
                <a:spcPct val="150000"/>
              </a:lnSpc>
              <a:spcAft>
                <a:spcPts val="0"/>
              </a:spcAft>
            </a:pPr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facet_wrap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(~variable)</a:t>
            </a:r>
            <a:endParaRPr lang="zh-CN" altLang="zh-CN" sz="1400" dirty="0">
              <a:latin typeface="Consolas" panose="020B0609020204030204" pitchFamily="49" charset="0"/>
              <a:ea typeface="宋体" panose="02010600030101010101" pitchFamily="2" charset="-122"/>
              <a:cs typeface="Consolas" panose="020B0609020204030204" pitchFamily="49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1824948-4F78-4C65-B3CC-47645FB7774D}"/>
              </a:ext>
            </a:extLst>
          </p:cNvPr>
          <p:cNvSpPr/>
          <p:nvPr/>
        </p:nvSpPr>
        <p:spPr>
          <a:xfrm>
            <a:off x="2057399" y="5973187"/>
            <a:ext cx="235513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facet_grid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row_var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 ~ </a:t>
            </a:r>
            <a:r>
              <a:rPr lang="en-US" altLang="zh-CN" sz="1400" dirty="0" err="1">
                <a:latin typeface="Times New Roman" panose="02020603050405020304" pitchFamily="18" charset="0"/>
                <a:ea typeface="宋体" panose="02010600030101010101" pitchFamily="2" charset="-122"/>
              </a:rPr>
              <a:t>col_var</a:t>
            </a:r>
            <a:r>
              <a:rPr lang="en-US" altLang="zh-CN" sz="1400" dirty="0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endParaRPr lang="zh-CN" altLang="en-US" sz="14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" name="标题 4">
            <a:extLst>
              <a:ext uri="{FF2B5EF4-FFF2-40B4-BE49-F238E27FC236}">
                <a16:creationId xmlns:a16="http://schemas.microsoft.com/office/drawing/2014/main" id="{3EF1F273-6DD8-0E85-564F-24F23F16D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1101" y="342900"/>
            <a:ext cx="6896099" cy="663575"/>
          </a:xfrm>
        </p:spPr>
        <p:txBody>
          <a:bodyPr/>
          <a:lstStyle/>
          <a:p>
            <a:r>
              <a:rPr lang="en-US" altLang="zh-CN" sz="3600" dirty="0"/>
              <a:t>7.2.9 </a:t>
            </a:r>
            <a:r>
              <a:rPr lang="zh-CN" altLang="en-US" sz="3600" b="1" dirty="0"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分面（</a:t>
            </a:r>
            <a:r>
              <a:rPr lang="en-US" altLang="zh-CN" sz="3600" b="1" dirty="0"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facet</a:t>
            </a:r>
            <a:r>
              <a:rPr lang="zh-CN" altLang="en-US" sz="3600" b="1" dirty="0"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）</a:t>
            </a:r>
            <a:br>
              <a:rPr lang="zh-CN" altLang="en-US" sz="3600" b="1" dirty="0"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</a:b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34218625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fld id="{5DD3DB80-B894-403A-B48E-6FDC1A72010E}" type="slidenum">
              <a:rPr lang="zh-CN" altLang="en-US" smtClean="0">
                <a:cs typeface="+mn-ea"/>
                <a:sym typeface="+mn-lt"/>
              </a:rPr>
              <a:t>26</a:t>
            </a:fld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DA2B20B-A10A-4A2C-8820-2C82ED153C10}"/>
              </a:ext>
            </a:extLst>
          </p:cNvPr>
          <p:cNvSpPr/>
          <p:nvPr/>
        </p:nvSpPr>
        <p:spPr>
          <a:xfrm>
            <a:off x="2070459" y="2247900"/>
            <a:ext cx="5003082" cy="630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algn="l">
              <a:lnSpc>
                <a:spcPts val="1425"/>
              </a:lnSpc>
              <a:buNone/>
            </a:pP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ggplot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(WHHP,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aes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(x =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GDP_per_Land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y =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FAI_per_Land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)) +</a:t>
            </a:r>
            <a:endParaRPr lang="en-US" altLang="zh-CN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geom_point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() +</a:t>
            </a:r>
            <a:endParaRPr lang="en-US" altLang="zh-CN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</a:pP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facet_grid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HP_level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~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Green_level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D1E8AB5-1AB9-4133-B999-5658338A485F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515912" y="3009900"/>
            <a:ext cx="4075388" cy="36957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510F3BB1-47CB-F58D-5207-9B702C2711BD}"/>
              </a:ext>
            </a:extLst>
          </p:cNvPr>
          <p:cNvSpPr/>
          <p:nvPr/>
        </p:nvSpPr>
        <p:spPr>
          <a:xfrm>
            <a:off x="514350" y="1295400"/>
            <a:ext cx="8115300" cy="874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ctr">
              <a:lnSpc>
                <a:spcPct val="150000"/>
              </a:lnSpc>
            </a:pPr>
            <a:r>
              <a:rPr lang="zh-CN" altLang="en-US" dirty="0">
                <a:latin typeface="+mn-lt"/>
                <a:ea typeface="+mn-ea"/>
              </a:rPr>
              <a:t>分面（</a:t>
            </a:r>
            <a:r>
              <a:rPr lang="en-US" altLang="zh-CN" dirty="0">
                <a:latin typeface="+mn-lt"/>
                <a:ea typeface="+mn-ea"/>
              </a:rPr>
              <a:t>facet</a:t>
            </a:r>
            <a:r>
              <a:rPr lang="zh-CN" altLang="en-US" dirty="0">
                <a:latin typeface="+mn-lt"/>
                <a:ea typeface="+mn-ea"/>
              </a:rPr>
              <a:t>）：根据特定分组条件将数据进行拆分，并将拆分后的数据在多个小面板中进行分别绘制，一维分面（</a:t>
            </a:r>
            <a:r>
              <a:rPr lang="en-US" altLang="zh-CN" dirty="0" err="1">
                <a:latin typeface="+mn-lt"/>
                <a:ea typeface="+mn-ea"/>
              </a:rPr>
              <a:t>facet_wrap</a:t>
            </a:r>
            <a:r>
              <a:rPr lang="zh-CN" altLang="en-US" dirty="0">
                <a:latin typeface="+mn-lt"/>
                <a:ea typeface="+mn-ea"/>
              </a:rPr>
              <a:t>）和二维分面（</a:t>
            </a:r>
            <a:r>
              <a:rPr lang="en-US" altLang="zh-CN" dirty="0" err="1">
                <a:latin typeface="+mn-lt"/>
                <a:ea typeface="+mn-ea"/>
              </a:rPr>
              <a:t>facet_grid</a:t>
            </a:r>
            <a:r>
              <a:rPr lang="zh-CN" altLang="en-US" dirty="0">
                <a:latin typeface="+mn-lt"/>
                <a:ea typeface="+mn-ea"/>
              </a:rPr>
              <a:t>）</a:t>
            </a:r>
          </a:p>
        </p:txBody>
      </p:sp>
      <p:sp>
        <p:nvSpPr>
          <p:cNvPr id="8" name="标题 4">
            <a:extLst>
              <a:ext uri="{FF2B5EF4-FFF2-40B4-BE49-F238E27FC236}">
                <a16:creationId xmlns:a16="http://schemas.microsoft.com/office/drawing/2014/main" id="{9334105F-15B6-1A98-3C42-5A70C4277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1101" y="342900"/>
            <a:ext cx="6896099" cy="663575"/>
          </a:xfrm>
        </p:spPr>
        <p:txBody>
          <a:bodyPr/>
          <a:lstStyle/>
          <a:p>
            <a:r>
              <a:rPr lang="en-US" altLang="zh-CN" sz="3600" dirty="0"/>
              <a:t>7.2.9 </a:t>
            </a:r>
            <a:r>
              <a:rPr lang="zh-CN" altLang="en-US" sz="3600" b="1" dirty="0"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分面（</a:t>
            </a:r>
            <a:r>
              <a:rPr lang="en-US" altLang="zh-CN" sz="3600" b="1" dirty="0"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facet</a:t>
            </a:r>
            <a:r>
              <a:rPr lang="zh-CN" altLang="en-US" sz="3600" b="1" dirty="0"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）</a:t>
            </a:r>
            <a:br>
              <a:rPr lang="zh-CN" altLang="en-US" sz="3600" b="1" dirty="0"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</a:b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19868868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fld id="{5DD3DB80-B894-403A-B48E-6FDC1A72010E}" type="slidenum">
              <a:rPr lang="zh-CN" altLang="en-US" smtClean="0">
                <a:cs typeface="+mn-ea"/>
                <a:sym typeface="+mn-lt"/>
              </a:rPr>
              <a:t>27</a:t>
            </a:fld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DA2B20B-A10A-4A2C-8820-2C82ED153C10}"/>
              </a:ext>
            </a:extLst>
          </p:cNvPr>
          <p:cNvSpPr/>
          <p:nvPr/>
        </p:nvSpPr>
        <p:spPr>
          <a:xfrm>
            <a:off x="2094903" y="2237522"/>
            <a:ext cx="4953000" cy="8104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algn="l">
              <a:lnSpc>
                <a:spcPts val="1425"/>
              </a:lnSpc>
              <a:buNone/>
            </a:pP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ggplot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(WHHP,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aes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(x =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GDP_per_Land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y =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FAI_per_Land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)) +</a:t>
            </a:r>
            <a:endParaRPr lang="en-US" altLang="zh-CN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geom_point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() +</a:t>
            </a:r>
            <a:endParaRPr lang="en-US" altLang="zh-CN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</a:pP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facet_wrap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~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HP_level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nrow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200" dirty="0">
              <a:solidFill>
                <a:srgbClr val="8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endParaRPr lang="zh-CN" altLang="zh-CN" sz="1200" dirty="0">
              <a:solidFill>
                <a:srgbClr val="8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7BA18B8-F2A8-41C7-8AAB-5B2F93002D7D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1523382" y="2957348"/>
            <a:ext cx="6097235" cy="3886200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17608AC9-8274-DEDB-B306-0DCB1AA831F5}"/>
              </a:ext>
            </a:extLst>
          </p:cNvPr>
          <p:cNvSpPr/>
          <p:nvPr/>
        </p:nvSpPr>
        <p:spPr>
          <a:xfrm>
            <a:off x="514350" y="1295400"/>
            <a:ext cx="8115300" cy="874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 algn="ctr">
              <a:lnSpc>
                <a:spcPct val="150000"/>
              </a:lnSpc>
            </a:pPr>
            <a:r>
              <a:rPr lang="zh-CN" altLang="en-US" dirty="0">
                <a:latin typeface="+mn-lt"/>
                <a:ea typeface="+mn-ea"/>
              </a:rPr>
              <a:t>分面（</a:t>
            </a:r>
            <a:r>
              <a:rPr lang="en-US" altLang="zh-CN" dirty="0">
                <a:latin typeface="+mn-lt"/>
                <a:ea typeface="+mn-ea"/>
              </a:rPr>
              <a:t>facet</a:t>
            </a:r>
            <a:r>
              <a:rPr lang="zh-CN" altLang="en-US" dirty="0">
                <a:latin typeface="+mn-lt"/>
                <a:ea typeface="+mn-ea"/>
              </a:rPr>
              <a:t>）：根据特定分组条件将数据进行拆分，并将拆分后的数据在多个小面板中进行分别绘制，一维分面（</a:t>
            </a:r>
            <a:r>
              <a:rPr lang="en-US" altLang="zh-CN" dirty="0" err="1">
                <a:latin typeface="+mn-lt"/>
                <a:ea typeface="+mn-ea"/>
              </a:rPr>
              <a:t>facet_wrap</a:t>
            </a:r>
            <a:r>
              <a:rPr lang="zh-CN" altLang="en-US" dirty="0">
                <a:latin typeface="+mn-lt"/>
                <a:ea typeface="+mn-ea"/>
              </a:rPr>
              <a:t>）和二维分面（</a:t>
            </a:r>
            <a:r>
              <a:rPr lang="en-US" altLang="zh-CN" dirty="0" err="1">
                <a:latin typeface="+mn-lt"/>
                <a:ea typeface="+mn-ea"/>
              </a:rPr>
              <a:t>facet_grid</a:t>
            </a:r>
            <a:r>
              <a:rPr lang="zh-CN" altLang="en-US" dirty="0">
                <a:latin typeface="+mn-lt"/>
                <a:ea typeface="+mn-ea"/>
              </a:rPr>
              <a:t>）</a:t>
            </a:r>
          </a:p>
        </p:txBody>
      </p:sp>
      <p:sp>
        <p:nvSpPr>
          <p:cNvPr id="8" name="标题 4">
            <a:extLst>
              <a:ext uri="{FF2B5EF4-FFF2-40B4-BE49-F238E27FC236}">
                <a16:creationId xmlns:a16="http://schemas.microsoft.com/office/drawing/2014/main" id="{F51BFD02-039F-63DC-ED8E-3D91AA75B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1101" y="342900"/>
            <a:ext cx="6896099" cy="663575"/>
          </a:xfrm>
        </p:spPr>
        <p:txBody>
          <a:bodyPr/>
          <a:lstStyle/>
          <a:p>
            <a:r>
              <a:rPr lang="en-US" altLang="zh-CN" sz="3600" dirty="0"/>
              <a:t>7.2.9 </a:t>
            </a:r>
            <a:r>
              <a:rPr lang="zh-CN" altLang="en-US" sz="3600" b="1" dirty="0"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分面（</a:t>
            </a:r>
            <a:r>
              <a:rPr lang="en-US" altLang="zh-CN" sz="3600" b="1" dirty="0"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facet</a:t>
            </a:r>
            <a:r>
              <a:rPr lang="zh-CN" altLang="en-US" sz="3600" b="1" dirty="0"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）</a:t>
            </a:r>
            <a:br>
              <a:rPr lang="zh-CN" altLang="en-US" sz="3600" b="1" dirty="0"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</a:b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39628585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fld id="{5DD3DB80-B894-403A-B48E-6FDC1A72010E}" type="slidenum">
              <a:rPr lang="zh-CN" altLang="en-US" smtClean="0">
                <a:cs typeface="+mn-ea"/>
                <a:sym typeface="+mn-lt"/>
              </a:rPr>
              <a:t>28</a:t>
            </a:fld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41B88FE-7613-44EB-AF50-36B09FE46302}"/>
              </a:ext>
            </a:extLst>
          </p:cNvPr>
          <p:cNvSpPr/>
          <p:nvPr/>
        </p:nvSpPr>
        <p:spPr>
          <a:xfrm>
            <a:off x="628053" y="1257300"/>
            <a:ext cx="7886700" cy="874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dirty="0">
                <a:latin typeface="+mn-lt"/>
                <a:ea typeface="+mn-ea"/>
              </a:rPr>
              <a:t>ggplot2</a:t>
            </a:r>
            <a:r>
              <a:rPr lang="zh-CN" altLang="en-US" dirty="0">
                <a:latin typeface="+mn-lt"/>
                <a:ea typeface="+mn-ea"/>
              </a:rPr>
              <a:t>函数包提供了丰富的主题（</a:t>
            </a:r>
            <a:r>
              <a:rPr lang="en-US" altLang="zh-CN" dirty="0">
                <a:latin typeface="+mn-lt"/>
                <a:ea typeface="+mn-ea"/>
              </a:rPr>
              <a:t>theme</a:t>
            </a:r>
            <a:r>
              <a:rPr lang="zh-CN" altLang="en-US" dirty="0">
                <a:latin typeface="+mn-lt"/>
                <a:ea typeface="+mn-ea"/>
              </a:rPr>
              <a:t>）选项，用于控制图形的外观和布局，包括背景颜色、坐标轴样式、标题字体、图例等视觉元素样式。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BA004CB-1B1F-4EC4-8721-6CC868DBF7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0300" y="3581400"/>
            <a:ext cx="4305302" cy="3171572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E2AA96EA-B34A-45E8-832C-6EE12A3D35CA}"/>
              </a:ext>
            </a:extLst>
          </p:cNvPr>
          <p:cNvSpPr/>
          <p:nvPr/>
        </p:nvSpPr>
        <p:spPr>
          <a:xfrm>
            <a:off x="970953" y="2167013"/>
            <a:ext cx="7200900" cy="13381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ggplot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(WHHP, 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aes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GDP_per_Land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FAI_per_Land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color = 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HP_level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)) +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geom_point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() +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labs(x = 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zh-CN" altLang="en-US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地均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GDP"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y = 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zh-CN" altLang="en-US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地均固定资产投入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color = 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zh-CN" altLang="en-US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房价水平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endParaRPr lang="zh-CN" altLang="en-US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zh-CN" altLang="en-US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     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title = 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zh-CN" altLang="en-US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地均固定资产投入随地均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GDP</a:t>
            </a:r>
            <a:r>
              <a:rPr lang="zh-CN" altLang="en-US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的变化图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endParaRPr lang="zh-CN" altLang="en-US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zh-CN" altLang="en-US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     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subtitle = 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zh-CN" altLang="en-US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武汉市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2015</a:t>
            </a:r>
            <a:r>
              <a:rPr lang="zh-CN" altLang="en-US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年数据，点颜色表示不同平均房价水平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endParaRPr lang="zh-CN" altLang="en-US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zh-CN" altLang="en-US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     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caption = 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zh-CN" altLang="en-US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制图时间：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2024-08-08"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)+</a:t>
            </a:r>
            <a:endParaRPr lang="zh-CN" altLang="en-US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zh-CN" altLang="en-US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theme(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axis.title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element_text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(size=</a:t>
            </a:r>
            <a:r>
              <a:rPr lang="en-US" altLang="zh-CN" sz="105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9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), 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axis.text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element_text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(size=</a:t>
            </a:r>
            <a:r>
              <a:rPr lang="en-US" altLang="zh-CN" sz="105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8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),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      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plot.title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element_text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(size=</a:t>
            </a:r>
            <a:r>
              <a:rPr lang="en-US" altLang="zh-CN" sz="105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13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,face = </a:t>
            </a:r>
            <a:r>
              <a:rPr lang="en-US" altLang="zh-CN" sz="105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"bold"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), 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legend.text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05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element_text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(size = </a:t>
            </a:r>
            <a:r>
              <a:rPr lang="en-US" altLang="zh-CN" sz="105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8</a:t>
            </a:r>
            <a:r>
              <a:rPr lang="en-US" altLang="zh-CN" sz="105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))</a:t>
            </a:r>
            <a:endParaRPr lang="en-US" altLang="zh-CN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" name="标题 4">
            <a:extLst>
              <a:ext uri="{FF2B5EF4-FFF2-40B4-BE49-F238E27FC236}">
                <a16:creationId xmlns:a16="http://schemas.microsoft.com/office/drawing/2014/main" id="{D30CA5B0-867C-6648-E771-DF8E481AF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1101" y="342900"/>
            <a:ext cx="6896099" cy="663575"/>
          </a:xfrm>
        </p:spPr>
        <p:txBody>
          <a:bodyPr/>
          <a:lstStyle/>
          <a:p>
            <a:r>
              <a:rPr lang="en-US" altLang="zh-CN" sz="3600" dirty="0"/>
              <a:t>7.2.10 </a:t>
            </a:r>
            <a:r>
              <a:rPr lang="zh-CN" altLang="en-US" sz="3600" b="1" dirty="0"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主题（</a:t>
            </a:r>
            <a:r>
              <a:rPr lang="en-US" altLang="zh-CN" sz="3600" b="1" dirty="0"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theme</a:t>
            </a:r>
            <a:r>
              <a:rPr lang="zh-CN" altLang="en-US" sz="3600" b="1" dirty="0"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）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3133000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fld id="{5DD3DB80-B894-403A-B48E-6FDC1A72010E}" type="slidenum">
              <a:rPr lang="zh-CN" altLang="en-US" smtClean="0">
                <a:cs typeface="+mn-ea"/>
                <a:sym typeface="+mn-lt"/>
              </a:rPr>
              <a:t>29</a:t>
            </a:fld>
            <a:endParaRPr lang="zh-CN" altLang="en-US">
              <a:cs typeface="+mn-ea"/>
              <a:sym typeface="+mn-lt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D7E55FE-F5C5-45B3-86F0-C55864BEEA81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971550" y="2209800"/>
            <a:ext cx="7200900" cy="4161428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AACF1CBC-050C-83D4-1101-BE625278E5D5}"/>
              </a:ext>
            </a:extLst>
          </p:cNvPr>
          <p:cNvSpPr/>
          <p:nvPr/>
        </p:nvSpPr>
        <p:spPr>
          <a:xfrm>
            <a:off x="628053" y="1257300"/>
            <a:ext cx="7886700" cy="874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dirty="0">
                <a:latin typeface="+mn-lt"/>
                <a:ea typeface="+mn-ea"/>
              </a:rPr>
              <a:t>ggplot2</a:t>
            </a:r>
            <a:r>
              <a:rPr lang="zh-CN" altLang="en-US" dirty="0">
                <a:latin typeface="+mn-lt"/>
                <a:ea typeface="+mn-ea"/>
              </a:rPr>
              <a:t>函数包提供了丰富的主题（</a:t>
            </a:r>
            <a:r>
              <a:rPr lang="en-US" altLang="zh-CN" dirty="0">
                <a:latin typeface="+mn-lt"/>
                <a:ea typeface="+mn-ea"/>
              </a:rPr>
              <a:t>theme</a:t>
            </a:r>
            <a:r>
              <a:rPr lang="zh-CN" altLang="en-US" dirty="0">
                <a:latin typeface="+mn-lt"/>
                <a:ea typeface="+mn-ea"/>
              </a:rPr>
              <a:t>）选项，用于控制图形的外观和布局，包括背景颜色、坐标轴样式、标题字体、图例等视觉元素样式。</a:t>
            </a:r>
          </a:p>
        </p:txBody>
      </p:sp>
      <p:sp>
        <p:nvSpPr>
          <p:cNvPr id="12" name="标题 4">
            <a:extLst>
              <a:ext uri="{FF2B5EF4-FFF2-40B4-BE49-F238E27FC236}">
                <a16:creationId xmlns:a16="http://schemas.microsoft.com/office/drawing/2014/main" id="{D0AAABF5-BBC2-E97A-28E3-B6FF8D005E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1101" y="342900"/>
            <a:ext cx="6896099" cy="663575"/>
          </a:xfrm>
        </p:spPr>
        <p:txBody>
          <a:bodyPr/>
          <a:lstStyle/>
          <a:p>
            <a:r>
              <a:rPr lang="en-US" altLang="zh-CN" sz="3600" dirty="0"/>
              <a:t>7.2.10 </a:t>
            </a:r>
            <a:r>
              <a:rPr lang="zh-CN" altLang="en-US" sz="3600" b="1" dirty="0"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主题（</a:t>
            </a:r>
            <a:r>
              <a:rPr lang="en-US" altLang="zh-CN" sz="3600" b="1" dirty="0"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theme</a:t>
            </a:r>
            <a:r>
              <a:rPr lang="zh-CN" altLang="en-US" sz="3600" b="1" dirty="0"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）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4981563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fld id="{5DD3DB80-B894-403A-B48E-6FDC1A72010E}" type="slidenum">
              <a:rPr lang="zh-CN" altLang="en-US" smtClean="0">
                <a:cs typeface="+mn-ea"/>
                <a:sym typeface="+mn-lt"/>
              </a:rPr>
              <a:t>30</a:t>
            </a:fld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01BFE05-26DF-4DF2-8BCD-DC1BB7035BC8}"/>
              </a:ext>
            </a:extLst>
          </p:cNvPr>
          <p:cNvSpPr/>
          <p:nvPr/>
        </p:nvSpPr>
        <p:spPr>
          <a:xfrm>
            <a:off x="809327" y="1752600"/>
            <a:ext cx="7525346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algn="l">
              <a:lnSpc>
                <a:spcPts val="1425"/>
              </a:lnSpc>
              <a:buNone/>
            </a:pP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lty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&lt;- c(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"solid"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"dashed"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"dotted"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200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dotdash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200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longdash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200" dirty="0" err="1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twodash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linetypes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&lt;-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data.frame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(y =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seq_along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lty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),</a:t>
            </a:r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lty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lty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 </a:t>
            </a:r>
            <a:endParaRPr lang="en-US" altLang="zh-CN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ggplot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linetypes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aes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y)) +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geom_segment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aes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xend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5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yend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y,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linetype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lty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)) + </a:t>
            </a:r>
            <a:endParaRPr lang="en-US" altLang="zh-CN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scale_linetype_identity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() +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geom_text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aes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(label =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lty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),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hjust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nudge_y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0.2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 +</a:t>
            </a:r>
            <a:endParaRPr lang="en-US" altLang="zh-CN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scale_x_continuous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NULL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breaks = </a:t>
            </a:r>
            <a:r>
              <a:rPr lang="en-US" altLang="zh-CN" sz="1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NULL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 + </a:t>
            </a:r>
            <a:endParaRPr lang="en-US" altLang="zh-CN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</a:pP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scale_y_reverse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NULL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breaks = </a:t>
            </a:r>
            <a:r>
              <a:rPr lang="en-US" altLang="zh-CN" sz="1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NULL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026" name="Picture 2" descr="A series of 6 horizontal lines with different line types.&#10; From top-to-bottom they are titled 'solid', 'dashed', 'dotted',&#10; 'dotdash', 'longdash', 'twodash'.">
            <a:extLst>
              <a:ext uri="{FF2B5EF4-FFF2-40B4-BE49-F238E27FC236}">
                <a16:creationId xmlns:a16="http://schemas.microsoft.com/office/drawing/2014/main" id="{C8CD1EA5-B973-4A8D-B09A-27E137DB8B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3044832"/>
            <a:ext cx="5829300" cy="3601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A54C7CF2-E99A-F774-2933-B049B9E205E3}"/>
              </a:ext>
            </a:extLst>
          </p:cNvPr>
          <p:cNvSpPr/>
          <p:nvPr/>
        </p:nvSpPr>
        <p:spPr>
          <a:xfrm>
            <a:off x="3094076" y="1066800"/>
            <a:ext cx="2954655" cy="4977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400" b="1" dirty="0"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可视化参数视觉优化</a:t>
            </a:r>
          </a:p>
        </p:txBody>
      </p:sp>
      <p:sp>
        <p:nvSpPr>
          <p:cNvPr id="6" name="标题 4">
            <a:extLst>
              <a:ext uri="{FF2B5EF4-FFF2-40B4-BE49-F238E27FC236}">
                <a16:creationId xmlns:a16="http://schemas.microsoft.com/office/drawing/2014/main" id="{137AC63A-D6B0-C9F4-2FE6-3000BE96E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1101" y="342900"/>
            <a:ext cx="6896099" cy="663575"/>
          </a:xfrm>
        </p:spPr>
        <p:txBody>
          <a:bodyPr/>
          <a:lstStyle/>
          <a:p>
            <a:r>
              <a:rPr lang="en-US" altLang="zh-CN" sz="3600" dirty="0"/>
              <a:t>7.2.10 </a:t>
            </a:r>
            <a:r>
              <a:rPr lang="zh-CN" altLang="en-US" sz="3600" b="1" dirty="0"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主题（</a:t>
            </a:r>
            <a:r>
              <a:rPr lang="en-US" altLang="zh-CN" sz="3600" b="1" dirty="0"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theme</a:t>
            </a:r>
            <a:r>
              <a:rPr lang="zh-CN" altLang="en-US" sz="3600" b="1" dirty="0"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）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133469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fld id="{5DD3DB80-B894-403A-B48E-6FDC1A72010E}" type="slidenum">
              <a:rPr lang="zh-CN" altLang="en-US" smtClean="0">
                <a:cs typeface="+mn-ea"/>
                <a:sym typeface="+mn-lt"/>
              </a:rPr>
              <a:t>31</a:t>
            </a:fld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01BFE05-26DF-4DF2-8BCD-DC1BB7035BC8}"/>
              </a:ext>
            </a:extLst>
          </p:cNvPr>
          <p:cNvSpPr/>
          <p:nvPr/>
        </p:nvSpPr>
        <p:spPr>
          <a:xfrm>
            <a:off x="316356" y="1901110"/>
            <a:ext cx="8510095" cy="1447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df &lt;- </a:t>
            </a:r>
            <a:r>
              <a:rPr lang="en-US" altLang="zh-CN" sz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data.frame</a:t>
            </a:r>
            <a:r>
              <a:rPr lang="en-US" altLang="zh-CN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(x = 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  <a:r>
              <a:rPr lang="en-US" altLang="zh-CN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</a:rPr>
              <a:t>3</a:t>
            </a:r>
            <a:r>
              <a:rPr lang="en-US" altLang="zh-CN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y = c(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</a:rPr>
              <a:t>4</a:t>
            </a:r>
            <a:r>
              <a:rPr lang="en-US" altLang="zh-CN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  <a:r>
              <a:rPr lang="en-US" altLang="zh-CN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</a:rPr>
              <a:t>9</a:t>
            </a:r>
            <a:r>
              <a:rPr lang="en-US" altLang="zh-CN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))</a:t>
            </a:r>
          </a:p>
          <a:p>
            <a:pPr>
              <a:lnSpc>
                <a:spcPct val="150000"/>
              </a:lnSpc>
            </a:pPr>
            <a:r>
              <a:rPr lang="en-US" altLang="zh-CN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base &lt;- </a:t>
            </a:r>
            <a:r>
              <a:rPr lang="en-US" altLang="zh-CN" sz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ggplot</a:t>
            </a:r>
            <a:r>
              <a:rPr lang="en-US" altLang="zh-CN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(df, </a:t>
            </a:r>
            <a:r>
              <a:rPr lang="en-US" altLang="zh-CN" sz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aes</a:t>
            </a:r>
            <a:r>
              <a:rPr lang="en-US" altLang="zh-CN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(x, y)) + </a:t>
            </a:r>
            <a:r>
              <a:rPr lang="en-US" altLang="zh-CN" sz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xlim</a:t>
            </a:r>
            <a:r>
              <a:rPr lang="en-US" altLang="zh-CN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</a:rPr>
              <a:t>0.5</a:t>
            </a:r>
            <a:r>
              <a:rPr lang="en-US" altLang="zh-CN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</a:rPr>
              <a:t>3.5</a:t>
            </a:r>
            <a:r>
              <a:rPr lang="en-US" altLang="zh-CN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 + </a:t>
            </a:r>
            <a:r>
              <a:rPr lang="en-US" altLang="zh-CN" sz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ylim</a:t>
            </a:r>
            <a:r>
              <a:rPr lang="en-US" altLang="zh-CN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</a:rPr>
              <a:t>0</a:t>
            </a:r>
            <a:r>
              <a:rPr lang="en-US" altLang="zh-CN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</a:rPr>
              <a:t>10</a:t>
            </a:r>
            <a:r>
              <a:rPr lang="en-US" altLang="zh-CN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base +   </a:t>
            </a:r>
            <a:r>
              <a:rPr lang="en-US" altLang="zh-CN" sz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geom_path</a:t>
            </a:r>
            <a:r>
              <a:rPr lang="en-US" altLang="zh-CN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(linewidth = 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</a:rPr>
              <a:t>10</a:t>
            </a:r>
            <a:r>
              <a:rPr lang="en-US" altLang="zh-CN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) +   </a:t>
            </a:r>
            <a:r>
              <a:rPr lang="en-US" altLang="zh-CN" sz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geom_path</a:t>
            </a:r>
            <a:r>
              <a:rPr lang="en-US" altLang="zh-CN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(linewidth = 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  <a:r>
              <a:rPr lang="en-US" altLang="zh-CN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colour</a:t>
            </a:r>
            <a:r>
              <a:rPr lang="en-US" altLang="zh-CN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= 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</a:rPr>
              <a:t>"red")</a:t>
            </a:r>
          </a:p>
          <a:p>
            <a:pPr>
              <a:lnSpc>
                <a:spcPct val="150000"/>
              </a:lnSpc>
            </a:pPr>
            <a:r>
              <a:rPr lang="en-US" altLang="zh-CN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base + </a:t>
            </a:r>
            <a:r>
              <a:rPr lang="en-US" altLang="zh-CN" sz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geom_path</a:t>
            </a:r>
            <a:r>
              <a:rPr lang="en-US" altLang="zh-CN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(linewidth = 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</a:rPr>
              <a:t>10</a:t>
            </a:r>
            <a:r>
              <a:rPr lang="en-US" altLang="zh-CN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lineend</a:t>
            </a:r>
            <a:r>
              <a:rPr lang="en-US" altLang="zh-CN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= 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</a:rPr>
              <a:t>"round"</a:t>
            </a:r>
            <a:r>
              <a:rPr lang="en-US" altLang="zh-CN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</a:rPr>
              <a:t>) </a:t>
            </a:r>
            <a:r>
              <a:rPr lang="en-US" altLang="zh-CN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+   </a:t>
            </a:r>
            <a:r>
              <a:rPr lang="en-US" altLang="zh-CN" sz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geom_path</a:t>
            </a:r>
            <a:r>
              <a:rPr lang="en-US" altLang="zh-CN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(linewidth = 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  <a:r>
              <a:rPr lang="en-US" altLang="zh-CN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colour</a:t>
            </a:r>
            <a:r>
              <a:rPr lang="en-US" altLang="zh-CN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</a:rPr>
              <a:t>= "red"</a:t>
            </a:r>
            <a:r>
              <a:rPr lang="en-US" altLang="zh-CN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base +   </a:t>
            </a:r>
            <a:r>
              <a:rPr lang="en-US" altLang="zh-CN" sz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geom_path</a:t>
            </a:r>
            <a:r>
              <a:rPr lang="en-US" altLang="zh-CN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(linewidth = 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</a:rPr>
              <a:t>10</a:t>
            </a:r>
            <a:r>
              <a:rPr lang="en-US" altLang="zh-CN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lineend</a:t>
            </a:r>
            <a:r>
              <a:rPr lang="en-US" altLang="zh-CN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= 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</a:rPr>
              <a:t>"square"</a:t>
            </a:r>
            <a:r>
              <a:rPr lang="en-US" altLang="zh-CN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</a:rPr>
              <a:t>)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</a:rPr>
              <a:t> </a:t>
            </a:r>
            <a:r>
              <a:rPr lang="en-US" altLang="zh-CN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+ </a:t>
            </a:r>
            <a:r>
              <a:rPr lang="en-US" altLang="zh-CN" sz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geom_path</a:t>
            </a:r>
            <a:r>
              <a:rPr lang="en-US" altLang="zh-CN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(linewidth = 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  <a:r>
              <a:rPr lang="en-US" altLang="zh-CN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, </a:t>
            </a:r>
            <a:r>
              <a:rPr lang="en-US" altLang="zh-CN" sz="1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colour</a:t>
            </a:r>
            <a:r>
              <a:rPr lang="en-US" altLang="zh-CN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</a:rPr>
              <a:t>= "red"</a:t>
            </a:r>
            <a:r>
              <a:rPr lang="en-US" altLang="zh-CN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</a:rPr>
              <a:t>)</a:t>
            </a:r>
            <a:endParaRPr lang="zh-CN" altLang="en-US" sz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AC4AF46-1635-4AD9-87FE-A33E301C5A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72" y="3589477"/>
            <a:ext cx="9000061" cy="1965375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4252F1D5-0B70-4AAE-EC8A-9E5680D6501C}"/>
              </a:ext>
            </a:extLst>
          </p:cNvPr>
          <p:cNvSpPr/>
          <p:nvPr/>
        </p:nvSpPr>
        <p:spPr>
          <a:xfrm>
            <a:off x="3094076" y="1066800"/>
            <a:ext cx="2954655" cy="4977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400" b="1" dirty="0"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可视化参数视觉优化</a:t>
            </a:r>
          </a:p>
        </p:txBody>
      </p:sp>
      <p:sp>
        <p:nvSpPr>
          <p:cNvPr id="8" name="标题 4">
            <a:extLst>
              <a:ext uri="{FF2B5EF4-FFF2-40B4-BE49-F238E27FC236}">
                <a16:creationId xmlns:a16="http://schemas.microsoft.com/office/drawing/2014/main" id="{2DEFC9C0-5ED8-8C8F-6605-AABE8AD82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1101" y="342900"/>
            <a:ext cx="6896099" cy="663575"/>
          </a:xfrm>
        </p:spPr>
        <p:txBody>
          <a:bodyPr/>
          <a:lstStyle/>
          <a:p>
            <a:r>
              <a:rPr lang="en-US" altLang="zh-CN" sz="3600" dirty="0"/>
              <a:t>7.2.10 </a:t>
            </a:r>
            <a:r>
              <a:rPr lang="zh-CN" altLang="en-US" sz="3600" b="1" dirty="0"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主题（</a:t>
            </a:r>
            <a:r>
              <a:rPr lang="en-US" altLang="zh-CN" sz="3600" b="1" dirty="0"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theme</a:t>
            </a:r>
            <a:r>
              <a:rPr lang="zh-CN" altLang="en-US" sz="3600" b="1" dirty="0"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）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9751778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4C971FA-8621-4B6C-B788-0602F5BA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249AAD-C4CE-4867-BD5F-40E9451B1B86}" type="slidenum">
              <a:rPr lang="zh-CN" altLang="en-US" smtClean="0"/>
              <a:t>32</a:t>
            </a:fld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9473F5B-0D6A-49A0-8761-0648C3F66784}"/>
              </a:ext>
            </a:extLst>
          </p:cNvPr>
          <p:cNvSpPr/>
          <p:nvPr/>
        </p:nvSpPr>
        <p:spPr>
          <a:xfrm>
            <a:off x="666750" y="1638300"/>
            <a:ext cx="7810500" cy="9900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algn="l">
              <a:lnSpc>
                <a:spcPts val="1425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shapes &lt;-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data.frame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(shape = c(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en-US" altLang="zh-CN" sz="1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: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19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22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21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24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23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20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),</a:t>
            </a:r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x = 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en-US" altLang="zh-CN" sz="1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: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24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%/% 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5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y = -(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en-US" altLang="zh-CN" sz="1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: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24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%% 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5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))</a:t>
            </a:r>
            <a:endParaRPr lang="en-US" altLang="zh-CN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ggplot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(shapes,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aes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(x, y)) +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geom_point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aes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(shape = shape), size = 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5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fill = 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"red"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 +</a:t>
            </a:r>
            <a:endParaRPr lang="en-US" altLang="zh-CN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geom_text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aes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(label = shape),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hjust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nudge_x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0.15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 +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scale_shape_identity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() +</a:t>
            </a:r>
            <a:endParaRPr lang="en-US" altLang="zh-CN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expand_limits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(x = 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4.1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 +</a:t>
            </a:r>
            <a:endParaRPr lang="en-US" altLang="zh-CN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</a:pP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theme_void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()</a:t>
            </a:r>
            <a:endParaRPr lang="en-US" altLang="zh-CN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3E66606-5395-4792-BF93-D94745C665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250" y="2704515"/>
            <a:ext cx="6334307" cy="3913697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57CE48A3-3598-6A6B-22C0-0D6FC2E3F132}"/>
              </a:ext>
            </a:extLst>
          </p:cNvPr>
          <p:cNvSpPr/>
          <p:nvPr/>
        </p:nvSpPr>
        <p:spPr>
          <a:xfrm>
            <a:off x="3094076" y="1066800"/>
            <a:ext cx="2954655" cy="4977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400" b="1" dirty="0"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可视化参数视觉优化</a:t>
            </a:r>
          </a:p>
        </p:txBody>
      </p:sp>
      <p:sp>
        <p:nvSpPr>
          <p:cNvPr id="7" name="标题 4">
            <a:extLst>
              <a:ext uri="{FF2B5EF4-FFF2-40B4-BE49-F238E27FC236}">
                <a16:creationId xmlns:a16="http://schemas.microsoft.com/office/drawing/2014/main" id="{B8BBD348-CE34-4A98-4473-BBB1B34E9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1101" y="342900"/>
            <a:ext cx="6896099" cy="663575"/>
          </a:xfrm>
        </p:spPr>
        <p:txBody>
          <a:bodyPr/>
          <a:lstStyle/>
          <a:p>
            <a:r>
              <a:rPr lang="en-US" altLang="zh-CN" sz="3600" dirty="0"/>
              <a:t>7.2.10 </a:t>
            </a:r>
            <a:r>
              <a:rPr lang="zh-CN" altLang="en-US" sz="3600" b="1" dirty="0"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主题（</a:t>
            </a:r>
            <a:r>
              <a:rPr lang="en-US" altLang="zh-CN" sz="3600" b="1" dirty="0"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theme</a:t>
            </a:r>
            <a:r>
              <a:rPr lang="zh-CN" altLang="en-US" sz="3600" b="1" dirty="0"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）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3688854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4C971FA-8621-4B6C-B788-0602F5BA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249AAD-C4CE-4867-BD5F-40E9451B1B86}" type="slidenum">
              <a:rPr lang="zh-CN" altLang="en-US" smtClean="0"/>
              <a:t>33</a:t>
            </a:fld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9473F5B-0D6A-49A0-8761-0648C3F66784}"/>
              </a:ext>
            </a:extLst>
          </p:cNvPr>
          <p:cNvSpPr/>
          <p:nvPr/>
        </p:nvSpPr>
        <p:spPr>
          <a:xfrm>
            <a:off x="1294804" y="1638300"/>
            <a:ext cx="6553200" cy="8104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algn="l">
              <a:lnSpc>
                <a:spcPts val="1425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sizes &lt;-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expand.grid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(size = (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en-US" altLang="zh-CN" sz="1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: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 * 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stroke = (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0</a:t>
            </a:r>
            <a:r>
              <a:rPr lang="en-US" altLang="zh-CN" sz="1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: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 * 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ggplot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(sizes,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aes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(size, stroke, size = size, stroke = stroke)) + </a:t>
            </a:r>
            <a:endParaRPr lang="en-US" altLang="zh-CN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geom_abline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(slope = -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intercept = 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6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colour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"white"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linewidth = 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6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 + </a:t>
            </a:r>
            <a:endParaRPr lang="en-US" altLang="zh-CN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geom_point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(shape = 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21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fill = 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"red"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 +</a:t>
            </a:r>
            <a:r>
              <a:rPr lang="en-US" altLang="zh-CN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scale_size_identity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()</a:t>
            </a:r>
            <a:endParaRPr lang="en-US" altLang="zh-CN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6E3F1DC3-EE83-439F-923B-1F10D546A0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2552700"/>
            <a:ext cx="6553200" cy="4048941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809E09E7-C246-F562-4705-F2708634F626}"/>
              </a:ext>
            </a:extLst>
          </p:cNvPr>
          <p:cNvSpPr/>
          <p:nvPr/>
        </p:nvSpPr>
        <p:spPr>
          <a:xfrm>
            <a:off x="3094076" y="1066800"/>
            <a:ext cx="2954655" cy="4977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400" b="1" dirty="0"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可视化参数视觉优化</a:t>
            </a:r>
          </a:p>
        </p:txBody>
      </p:sp>
      <p:sp>
        <p:nvSpPr>
          <p:cNvPr id="10" name="标题 4">
            <a:extLst>
              <a:ext uri="{FF2B5EF4-FFF2-40B4-BE49-F238E27FC236}">
                <a16:creationId xmlns:a16="http://schemas.microsoft.com/office/drawing/2014/main" id="{B1DC14CF-8E60-6C63-1891-97970B207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1101" y="342900"/>
            <a:ext cx="6896099" cy="663575"/>
          </a:xfrm>
        </p:spPr>
        <p:txBody>
          <a:bodyPr/>
          <a:lstStyle/>
          <a:p>
            <a:r>
              <a:rPr lang="en-US" altLang="zh-CN" sz="3600" dirty="0"/>
              <a:t>7.2.10 </a:t>
            </a:r>
            <a:r>
              <a:rPr lang="zh-CN" altLang="en-US" sz="3600" b="1" dirty="0"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主题（</a:t>
            </a:r>
            <a:r>
              <a:rPr lang="en-US" altLang="zh-CN" sz="3600" b="1" dirty="0"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theme</a:t>
            </a:r>
            <a:r>
              <a:rPr lang="zh-CN" altLang="en-US" sz="3600" b="1" dirty="0"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）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417865718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4C971FA-8621-4B6C-B788-0602F5BA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249AAD-C4CE-4867-BD5F-40E9451B1B86}" type="slidenum">
              <a:rPr lang="zh-CN" altLang="en-US" smtClean="0"/>
              <a:t>34</a:t>
            </a:fld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9473F5B-0D6A-49A0-8761-0648C3F66784}"/>
              </a:ext>
            </a:extLst>
          </p:cNvPr>
          <p:cNvSpPr/>
          <p:nvPr/>
        </p:nvSpPr>
        <p:spPr>
          <a:xfrm>
            <a:off x="1390054" y="1611420"/>
            <a:ext cx="6362700" cy="4514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</a:rPr>
              <a:t>df &lt;-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</a:rPr>
              <a:t>data.frame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</a:rPr>
              <a:t>(x = 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</a:rPr>
              <a:t>, y = 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</a:rPr>
              <a:t>3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</a:rPr>
              <a:t>: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</a:rPr>
              <a:t>, family = c</a:t>
            </a:r>
            <a:r>
              <a:rPr lang="en-US" altLang="zh-CN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</a:rPr>
              <a:t>(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</a:rPr>
              <a:t>"sans"</a:t>
            </a:r>
            <a:r>
              <a:rPr lang="en-US" altLang="zh-CN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</a:rPr>
              <a:t>,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</a:rPr>
              <a:t> "serif"</a:t>
            </a:r>
            <a:r>
              <a:rPr lang="en-US" altLang="zh-CN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</a:rPr>
              <a:t>,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</a:rPr>
              <a:t> "mono"</a:t>
            </a:r>
            <a:r>
              <a:rPr lang="en-US" altLang="zh-CN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</a:rPr>
              <a:t>))</a:t>
            </a:r>
          </a:p>
          <a:p>
            <a:pPr>
              <a:lnSpc>
                <a:spcPts val="1425"/>
              </a:lnSpc>
            </a:pP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</a:rPr>
              <a:t>ggplot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</a:rPr>
              <a:t>(df,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</a:rPr>
              <a:t>aes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</a:rPr>
              <a:t>(x, y)) +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</a:rPr>
              <a:t>geom_text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</a:rPr>
              <a:t>(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</a:rPr>
              <a:t>aes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</a:rPr>
              <a:t>(label = family, family = family))</a:t>
            </a:r>
            <a:endParaRPr lang="zh-CN" altLang="en-US" sz="12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ECD80AD-71C1-4509-8CE6-4214D70A83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104" y="2174694"/>
            <a:ext cx="7086600" cy="4378506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F5C7D801-99FC-FF9C-E21D-6ABF224FDC2A}"/>
              </a:ext>
            </a:extLst>
          </p:cNvPr>
          <p:cNvSpPr/>
          <p:nvPr/>
        </p:nvSpPr>
        <p:spPr>
          <a:xfrm>
            <a:off x="3094076" y="1066800"/>
            <a:ext cx="2954655" cy="4977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400" b="1" dirty="0"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可视化参数视觉优化</a:t>
            </a:r>
          </a:p>
        </p:txBody>
      </p:sp>
      <p:sp>
        <p:nvSpPr>
          <p:cNvPr id="7" name="标题 4">
            <a:extLst>
              <a:ext uri="{FF2B5EF4-FFF2-40B4-BE49-F238E27FC236}">
                <a16:creationId xmlns:a16="http://schemas.microsoft.com/office/drawing/2014/main" id="{DB770811-36CF-64E4-2011-3B9E89D0F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1101" y="342900"/>
            <a:ext cx="6896099" cy="663575"/>
          </a:xfrm>
        </p:spPr>
        <p:txBody>
          <a:bodyPr/>
          <a:lstStyle/>
          <a:p>
            <a:r>
              <a:rPr lang="en-US" altLang="zh-CN" sz="3600" dirty="0"/>
              <a:t>7.2.10 </a:t>
            </a:r>
            <a:r>
              <a:rPr lang="zh-CN" altLang="en-US" sz="3600" b="1" dirty="0"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主题（</a:t>
            </a:r>
            <a:r>
              <a:rPr lang="en-US" altLang="zh-CN" sz="3600" b="1" dirty="0"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theme</a:t>
            </a:r>
            <a:r>
              <a:rPr lang="zh-CN" altLang="en-US" sz="3600" b="1" dirty="0"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）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341256807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4C971FA-8621-4B6C-B788-0602F5BA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A249AAD-C4CE-4867-BD5F-40E9451B1B86}" type="slidenum">
              <a:rPr lang="zh-CN" altLang="en-US" smtClean="0"/>
              <a:t>35</a:t>
            </a:fld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9473F5B-0D6A-49A0-8761-0648C3F66784}"/>
              </a:ext>
            </a:extLst>
          </p:cNvPr>
          <p:cNvSpPr/>
          <p:nvPr/>
        </p:nvSpPr>
        <p:spPr>
          <a:xfrm>
            <a:off x="1275754" y="1600200"/>
            <a:ext cx="6591299" cy="8104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</a:rPr>
              <a:t>just &lt;-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</a:rPr>
              <a:t>expand.grid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</a:rPr>
              <a:t>(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</a:rPr>
              <a:t>hjust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</a:rPr>
              <a:t> = c(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</a:rPr>
              <a:t>0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</a:rPr>
              <a:t>, 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</a:rPr>
              <a:t>0.5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</a:rPr>
              <a:t>, 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</a:rPr>
              <a:t>),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</a:rPr>
              <a:t>vjust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</a:rPr>
              <a:t> = c(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</a:rPr>
              <a:t>0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</a:rPr>
              <a:t>, 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</a:rPr>
              <a:t>0.5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</a:rPr>
              <a:t>, 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</a:rPr>
              <a:t>1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</a:rPr>
              <a:t>))</a:t>
            </a:r>
          </a:p>
          <a:p>
            <a:pPr>
              <a:lnSpc>
                <a:spcPts val="1425"/>
              </a:lnSpc>
            </a:pP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</a:rPr>
              <a:t>just$label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</a:rPr>
              <a:t> &lt;- paste0(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</a:rPr>
              <a:t>just$hjust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</a:rPr>
              <a:t>, 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</a:rPr>
              <a:t>", "</a:t>
            </a:r>
            <a:r>
              <a:rPr lang="en-US" altLang="zh-CN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</a:rPr>
              <a:t>,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</a:rPr>
              <a:t>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</a:rPr>
              <a:t>just$vjust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</a:rPr>
              <a:t>ggplot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</a:rPr>
              <a:t>(just,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</a:rPr>
              <a:t>aes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</a:rPr>
              <a:t>(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</a:rPr>
              <a:t>hjust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</a:rPr>
              <a:t>,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</a:rPr>
              <a:t>vjust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</a:rPr>
              <a:t>)) + 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</a:rPr>
              <a:t>geom_point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</a:rPr>
              <a:t>(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</a:rPr>
              <a:t>colour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</a:rPr>
              <a:t> = 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</a:rPr>
              <a:t>"grey70"</a:t>
            </a:r>
            <a:r>
              <a:rPr lang="en-US" altLang="zh-CN" sz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</a:rPr>
              <a:t>, 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</a:rPr>
              <a:t>size = 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</a:rPr>
              <a:t>5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</a:rPr>
              <a:t>) + </a:t>
            </a:r>
          </a:p>
          <a:p>
            <a:pPr>
              <a:lnSpc>
                <a:spcPts val="1425"/>
              </a:lnSpc>
            </a:pP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</a:rPr>
              <a:t>geom_text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</a:rPr>
              <a:t>(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</a:rPr>
              <a:t>aes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</a:rPr>
              <a:t>(label = label,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</a:rPr>
              <a:t>hjust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</a:rPr>
              <a:t> =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</a:rPr>
              <a:t>hjust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</a:rPr>
              <a:t>,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</a:rPr>
              <a:t>vjust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</a:rPr>
              <a:t> =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</a:rPr>
              <a:t>vjust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</a:rPr>
              <a:t>))</a:t>
            </a:r>
            <a:endParaRPr lang="zh-CN" altLang="en-US" sz="120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  <a:ea typeface="宋体" panose="02010600030101010101" pitchFamily="2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FC634D8-CE49-4625-8ACB-7EF2BF64EB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708" y="2500821"/>
            <a:ext cx="6743700" cy="4166644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9C1C0C10-88AF-4638-2573-B18E5F3EAE72}"/>
              </a:ext>
            </a:extLst>
          </p:cNvPr>
          <p:cNvSpPr/>
          <p:nvPr/>
        </p:nvSpPr>
        <p:spPr>
          <a:xfrm>
            <a:off x="3094076" y="1066800"/>
            <a:ext cx="2954655" cy="4977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400" b="1" dirty="0"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可视化参数视觉优化</a:t>
            </a:r>
          </a:p>
        </p:txBody>
      </p:sp>
      <p:sp>
        <p:nvSpPr>
          <p:cNvPr id="10" name="标题 4">
            <a:extLst>
              <a:ext uri="{FF2B5EF4-FFF2-40B4-BE49-F238E27FC236}">
                <a16:creationId xmlns:a16="http://schemas.microsoft.com/office/drawing/2014/main" id="{0E6245B3-3279-A488-0741-12AE46C5A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1101" y="342900"/>
            <a:ext cx="6896099" cy="663575"/>
          </a:xfrm>
        </p:spPr>
        <p:txBody>
          <a:bodyPr/>
          <a:lstStyle/>
          <a:p>
            <a:r>
              <a:rPr lang="en-US" altLang="zh-CN" sz="3600" dirty="0"/>
              <a:t>7.2.10 </a:t>
            </a:r>
            <a:r>
              <a:rPr lang="zh-CN" altLang="en-US" sz="3600" b="1" dirty="0"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主题（</a:t>
            </a:r>
            <a:r>
              <a:rPr lang="en-US" altLang="zh-CN" sz="3600" b="1" dirty="0"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theme</a:t>
            </a:r>
            <a:r>
              <a:rPr lang="zh-CN" altLang="en-US" sz="3600" b="1" dirty="0"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）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14302896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fld id="{5DD3DB80-B894-403A-B48E-6FDC1A72010E}" type="slidenum">
              <a:rPr lang="zh-CN" altLang="en-US" smtClean="0">
                <a:cs typeface="+mn-ea"/>
                <a:sym typeface="+mn-lt"/>
              </a:rPr>
              <a:t>36</a:t>
            </a:fld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41B88FE-7613-44EB-AF50-36B09FE46302}"/>
              </a:ext>
            </a:extLst>
          </p:cNvPr>
          <p:cNvSpPr/>
          <p:nvPr/>
        </p:nvSpPr>
        <p:spPr>
          <a:xfrm>
            <a:off x="628650" y="1295400"/>
            <a:ext cx="7886700" cy="874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zh-CN" altLang="en-US" dirty="0">
                <a:latin typeface="+mn-lt"/>
                <a:ea typeface="+mn-ea"/>
              </a:rPr>
              <a:t>在</a:t>
            </a:r>
            <a:r>
              <a:rPr lang="en-US" altLang="zh-CN" dirty="0">
                <a:latin typeface="+mn-lt"/>
                <a:ea typeface="+mn-ea"/>
              </a:rPr>
              <a:t>ggplot2</a:t>
            </a:r>
            <a:r>
              <a:rPr lang="zh-CN" altLang="en-US" dirty="0">
                <a:latin typeface="+mn-lt"/>
                <a:ea typeface="+mn-ea"/>
              </a:rPr>
              <a:t>函数包中，通过</a:t>
            </a:r>
            <a:r>
              <a:rPr lang="en-US" altLang="zh-CN" dirty="0" err="1">
                <a:latin typeface="+mn-lt"/>
                <a:ea typeface="+mn-ea"/>
              </a:rPr>
              <a:t>ggsave</a:t>
            </a:r>
            <a:r>
              <a:rPr lang="en-US" altLang="zh-CN" dirty="0">
                <a:latin typeface="+mn-lt"/>
                <a:ea typeface="+mn-ea"/>
              </a:rPr>
              <a:t>()</a:t>
            </a:r>
            <a:r>
              <a:rPr lang="zh-CN" altLang="en-US" dirty="0">
                <a:latin typeface="+mn-lt"/>
                <a:ea typeface="+mn-ea"/>
              </a:rPr>
              <a:t>函数可将当前绘制的图形保存为常见的图像格式，例如</a:t>
            </a:r>
            <a:r>
              <a:rPr lang="en-US" altLang="zh-CN" dirty="0">
                <a:latin typeface="+mn-lt"/>
                <a:ea typeface="+mn-ea"/>
              </a:rPr>
              <a:t>PNG</a:t>
            </a:r>
            <a:r>
              <a:rPr lang="zh-CN" altLang="en-US" dirty="0">
                <a:latin typeface="+mn-lt"/>
                <a:ea typeface="+mn-ea"/>
              </a:rPr>
              <a:t>、</a:t>
            </a:r>
            <a:r>
              <a:rPr lang="en-US" altLang="zh-CN" dirty="0">
                <a:latin typeface="+mn-lt"/>
                <a:ea typeface="+mn-ea"/>
              </a:rPr>
              <a:t>JPEG</a:t>
            </a:r>
            <a:r>
              <a:rPr lang="zh-CN" altLang="en-US" dirty="0">
                <a:latin typeface="+mn-lt"/>
                <a:ea typeface="+mn-ea"/>
              </a:rPr>
              <a:t>、</a:t>
            </a:r>
            <a:r>
              <a:rPr lang="en-US" altLang="zh-CN" dirty="0">
                <a:latin typeface="+mn-lt"/>
                <a:ea typeface="+mn-ea"/>
              </a:rPr>
              <a:t>PDF</a:t>
            </a:r>
            <a:r>
              <a:rPr lang="zh-CN" altLang="en-US" dirty="0">
                <a:latin typeface="+mn-lt"/>
                <a:ea typeface="+mn-ea"/>
              </a:rPr>
              <a:t>等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28679B36-055E-4F95-BEB7-7B4759002D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1645735"/>
              </p:ext>
            </p:extLst>
          </p:nvPr>
        </p:nvGraphicFramePr>
        <p:xfrm>
          <a:off x="1527492" y="2458539"/>
          <a:ext cx="6089015" cy="3690303"/>
        </p:xfrm>
        <a:graphic>
          <a:graphicData uri="http://schemas.openxmlformats.org/drawingml/2006/table">
            <a:tbl>
              <a:tblPr firstRow="1" firstCol="1" bandRow="1"/>
              <a:tblGrid>
                <a:gridCol w="1911207">
                  <a:extLst>
                    <a:ext uri="{9D8B030D-6E8A-4147-A177-3AD203B41FA5}">
                      <a16:colId xmlns:a16="http://schemas.microsoft.com/office/drawing/2014/main" val="2986297248"/>
                    </a:ext>
                  </a:extLst>
                </a:gridCol>
                <a:gridCol w="4177808">
                  <a:extLst>
                    <a:ext uri="{9D8B030D-6E8A-4147-A177-3AD203B41FA5}">
                      <a16:colId xmlns:a16="http://schemas.microsoft.com/office/drawing/2014/main" val="2220286751"/>
                    </a:ext>
                  </a:extLst>
                </a:gridCol>
              </a:tblGrid>
              <a:tr h="34607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b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参数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说明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2599140"/>
                  </a:ext>
                </a:extLst>
              </a:tr>
              <a:tr h="346075">
                <a:tc>
                  <a:txBody>
                    <a:bodyPr/>
                    <a:lstStyle/>
                    <a:p>
                      <a:pPr indent="30607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nsolas" panose="020B0609020204030204" pitchFamily="49" charset="0"/>
                        </a:rPr>
                        <a:t>filename</a:t>
                      </a:r>
                      <a:endParaRPr lang="zh-CN" sz="120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以字符向量声明的文件名（包含文件扩展名），如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"plot.png"</a:t>
                      </a:r>
                      <a:r>
                        <a:rPr lang="zh-CN" sz="12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或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"path/to/plot.png"</a:t>
                      </a:r>
                      <a:endParaRPr lang="zh-CN" sz="12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4522629"/>
                  </a:ext>
                </a:extLst>
              </a:tr>
              <a:tr h="34607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plot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2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待保存的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nsolas" panose="020B0609020204030204" pitchFamily="49" charset="0"/>
                        </a:rPr>
                        <a:t>ggplot2</a:t>
                      </a:r>
                      <a:r>
                        <a:rPr lang="zh-CN" sz="12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图形对象，默认为最后一个绘制的图形（通过</a:t>
                      </a:r>
                      <a:r>
                        <a:rPr lang="en-US" sz="1200" i="1" dirty="0" err="1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nsolas" panose="020B0609020204030204" pitchFamily="49" charset="0"/>
                        </a:rPr>
                        <a:t>last_plot</a:t>
                      </a:r>
                      <a:r>
                        <a:rPr lang="en-US" sz="1200" i="1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nsolas" panose="020B0609020204030204" pitchFamily="49" charset="0"/>
                        </a:rPr>
                        <a:t>()</a:t>
                      </a:r>
                      <a:r>
                        <a:rPr lang="zh-CN" sz="12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函数获取）</a:t>
                      </a:r>
                      <a:endParaRPr lang="zh-CN" sz="1200" dirty="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3794536"/>
                  </a:ext>
                </a:extLst>
              </a:tr>
              <a:tr h="34607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device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使用的可视化设备，如果未指定，则根据保存的文件扩展名自动选择设备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3784570"/>
                  </a:ext>
                </a:extLst>
              </a:tr>
              <a:tr h="34607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path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文件保存路径，默认值为当前工作目录</a:t>
                      </a:r>
                      <a:endParaRPr lang="zh-CN" sz="120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4103145"/>
                  </a:ext>
                </a:extLst>
              </a:tr>
              <a:tr h="34607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scale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图形缩放比例，默认为</a:t>
                      </a: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9541377"/>
                  </a:ext>
                </a:extLst>
              </a:tr>
              <a:tr h="34607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width</a:t>
                      </a:r>
                      <a:r>
                        <a:rPr lang="zh-CN" sz="12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、</a:t>
                      </a: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height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图形宽度和高度，默认为图形对象大小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7883443"/>
                  </a:ext>
                </a:extLst>
              </a:tr>
              <a:tr h="34607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units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图形宽度和高度单位，可赋值为英寸（“</a:t>
                      </a: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in</a:t>
                      </a:r>
                      <a:r>
                        <a:rPr lang="zh-CN" sz="12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”）、厘米（“</a:t>
                      </a: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cm</a:t>
                      </a:r>
                      <a:r>
                        <a:rPr lang="zh-CN" sz="12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”）或毫米（“</a:t>
                      </a: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mm</a:t>
                      </a:r>
                      <a:r>
                        <a:rPr lang="zh-CN" sz="12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”）</a:t>
                      </a: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6928658"/>
                  </a:ext>
                </a:extLst>
              </a:tr>
              <a:tr h="34607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dpi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2667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zh-CN" sz="12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输出文件的分辨率（每英寸点数），默认值为</a:t>
                      </a: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  <a:cs typeface="Consolas" panose="020B0609020204030204" pitchFamily="49" charset="0"/>
                        </a:rPr>
                        <a:t>300 dpi</a:t>
                      </a:r>
                      <a:endParaRPr lang="zh-CN" sz="1200">
                        <a:effectLst/>
                        <a:latin typeface="Consolas" panose="020B0609020204030204" pitchFamily="49" charset="0"/>
                        <a:ea typeface="宋体" panose="02010600030101010101" pitchFamily="2" charset="-122"/>
                        <a:cs typeface="Consolas" panose="020B0609020204030204" pitchFamily="49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9377771"/>
                  </a:ext>
                </a:extLst>
              </a:tr>
              <a:tr h="346075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limitsize</a:t>
                      </a:r>
                      <a:endParaRPr lang="zh-CN" sz="12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zh-CN" sz="12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逻辑值，指示是否限制输出图像的最大尺寸，默认为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TRUE</a:t>
                      </a:r>
                      <a:endParaRPr lang="zh-CN" sz="12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6942574"/>
                  </a:ext>
                </a:extLst>
              </a:tr>
            </a:tbl>
          </a:graphicData>
        </a:graphic>
      </p:graphicFrame>
      <p:sp>
        <p:nvSpPr>
          <p:cNvPr id="7" name="标题 4">
            <a:extLst>
              <a:ext uri="{FF2B5EF4-FFF2-40B4-BE49-F238E27FC236}">
                <a16:creationId xmlns:a16="http://schemas.microsoft.com/office/drawing/2014/main" id="{8B8B8E5C-3215-D9CF-034A-E8DBDA043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1101" y="342900"/>
            <a:ext cx="6896099" cy="663575"/>
          </a:xfrm>
        </p:spPr>
        <p:txBody>
          <a:bodyPr/>
          <a:lstStyle/>
          <a:p>
            <a:r>
              <a:rPr lang="en-US" altLang="zh-CN" sz="3600" dirty="0"/>
              <a:t>7.2.11 </a:t>
            </a:r>
            <a:r>
              <a:rPr lang="zh-CN" altLang="en-US" sz="3600" b="1" dirty="0"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输出（</a:t>
            </a:r>
            <a:r>
              <a:rPr lang="en-US" altLang="zh-CN" sz="3600" b="1" dirty="0"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output</a:t>
            </a:r>
            <a:r>
              <a:rPr lang="zh-CN" altLang="en-US" sz="3600" b="1" dirty="0"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）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118092784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D3A6D5-D73A-F893-9991-F7E0472BF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3607CFA0-ED33-CB32-8ABB-C99FC9CCC8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7.3 ggplot2</a:t>
            </a:r>
            <a:r>
              <a:rPr lang="zh-CN" altLang="en-US" sz="3600" dirty="0"/>
              <a:t>空间可视化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9B1308A-8609-56A5-873D-BF5C2DF6D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fld id="{5DD3DB80-B894-403A-B48E-6FDC1A72010E}" type="slidenum">
              <a:rPr lang="zh-CN" altLang="en-US" smtClean="0">
                <a:cs typeface="+mn-ea"/>
                <a:sym typeface="+mn-lt"/>
              </a:rPr>
              <a:t>37</a:t>
            </a:fld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3B3C9B6-A5C2-4F05-F49E-3922921B76F9}"/>
              </a:ext>
            </a:extLst>
          </p:cNvPr>
          <p:cNvSpPr/>
          <p:nvPr/>
        </p:nvSpPr>
        <p:spPr>
          <a:xfrm>
            <a:off x="1524000" y="2094193"/>
            <a:ext cx="4224233" cy="24397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300000"/>
              </a:lnSpc>
            </a:pPr>
            <a:r>
              <a:rPr lang="en-US" altLang="zh-CN" sz="2800" b="1" dirty="0">
                <a:solidFill>
                  <a:schemeClr val="accent1"/>
                </a:solidFill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7.3.1 </a:t>
            </a:r>
            <a:r>
              <a:rPr lang="zh-CN" altLang="en-US" sz="2800" b="1" dirty="0">
                <a:solidFill>
                  <a:schemeClr val="accent1"/>
                </a:solidFill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空间几何数据绘图</a:t>
            </a:r>
            <a:endParaRPr lang="en-US" altLang="zh-CN" sz="2800" b="1" dirty="0">
              <a:solidFill>
                <a:schemeClr val="accent1"/>
              </a:solidFill>
              <a:latin typeface="+mn-lt"/>
              <a:ea typeface="微软雅黑" panose="020B0503020204020204" pitchFamily="34" charset="-122"/>
              <a:cs typeface="+mn-ea"/>
              <a:sym typeface="Consolas" panose="020B0609020204030204" pitchFamily="49" charset="0"/>
            </a:endParaRPr>
          </a:p>
          <a:p>
            <a:pPr>
              <a:lnSpc>
                <a:spcPct val="300000"/>
              </a:lnSpc>
            </a:pPr>
            <a:r>
              <a:rPr lang="en-US" altLang="zh-CN" sz="2800" b="1" dirty="0">
                <a:solidFill>
                  <a:schemeClr val="accent1"/>
                </a:solidFill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7.3.2 </a:t>
            </a:r>
            <a:r>
              <a:rPr lang="zh-CN" altLang="en-US" sz="2800" b="1" dirty="0">
                <a:solidFill>
                  <a:schemeClr val="accent1"/>
                </a:solidFill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空间属性数据可视化</a:t>
            </a:r>
            <a:endParaRPr lang="en-US" altLang="zh-CN" sz="2800" b="1" dirty="0">
              <a:solidFill>
                <a:schemeClr val="accent1"/>
              </a:solidFill>
              <a:latin typeface="+mn-lt"/>
              <a:ea typeface="微软雅黑" panose="020B0503020204020204" pitchFamily="34" charset="-122"/>
              <a:cs typeface="+mn-ea"/>
              <a:sym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082263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fld id="{5DD3DB80-B894-403A-B48E-6FDC1A72010E}" type="slidenum">
              <a:rPr lang="zh-CN" altLang="en-US" smtClean="0">
                <a:cs typeface="+mn-ea"/>
                <a:sym typeface="+mn-lt"/>
              </a:rPr>
              <a:t>38</a:t>
            </a:fld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789F1EF-BC4E-4FC0-95A7-EDC51F1973B6}"/>
              </a:ext>
            </a:extLst>
          </p:cNvPr>
          <p:cNvSpPr/>
          <p:nvPr/>
        </p:nvSpPr>
        <p:spPr>
          <a:xfrm>
            <a:off x="457200" y="1524000"/>
            <a:ext cx="8229600" cy="874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dirty="0" err="1">
                <a:latin typeface="+mn-lt"/>
                <a:ea typeface="+mn-ea"/>
              </a:rPr>
              <a:t>geom_sf</a:t>
            </a:r>
            <a:r>
              <a:rPr lang="en-US" altLang="zh-CN" dirty="0">
                <a:latin typeface="+mn-lt"/>
                <a:ea typeface="+mn-ea"/>
              </a:rPr>
              <a:t>()</a:t>
            </a:r>
            <a:r>
              <a:rPr lang="zh-CN" altLang="zh-CN" dirty="0">
                <a:latin typeface="+mn-lt"/>
                <a:ea typeface="+mn-ea"/>
              </a:rPr>
              <a:t>函数对</a:t>
            </a:r>
            <a:r>
              <a:rPr lang="en-US" altLang="zh-CN" dirty="0">
                <a:latin typeface="+mn-lt"/>
                <a:ea typeface="+mn-ea"/>
              </a:rPr>
              <a:t>Simple Feature</a:t>
            </a:r>
            <a:r>
              <a:rPr lang="zh-CN" altLang="zh-CN" dirty="0">
                <a:latin typeface="+mn-lt"/>
                <a:ea typeface="+mn-ea"/>
              </a:rPr>
              <a:t>对象几何对象进行可视化，自动获取空间数据坐标系信息。</a:t>
            </a:r>
            <a:endParaRPr lang="zh-CN" altLang="en-US" dirty="0">
              <a:latin typeface="+mn-lt"/>
              <a:ea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404EEDA-53A4-4048-9978-BDB21B65C45B}"/>
              </a:ext>
            </a:extLst>
          </p:cNvPr>
          <p:cNvSpPr/>
          <p:nvPr/>
        </p:nvSpPr>
        <p:spPr>
          <a:xfrm>
            <a:off x="6601810" y="2410105"/>
            <a:ext cx="2355960" cy="8104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algn="l">
              <a:lnSpc>
                <a:spcPts val="1425"/>
              </a:lnSpc>
              <a:buNone/>
            </a:pP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ggplot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(data=WHHP)+</a:t>
            </a:r>
            <a:endParaRPr lang="en-US" altLang="zh-CN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geom_sf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()+</a:t>
            </a: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labs(title =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zh-CN" altLang="en-US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面数据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 +</a:t>
            </a:r>
            <a:endParaRPr lang="zh-CN" altLang="en-US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</a:pPr>
            <a:r>
              <a:rPr lang="zh-CN" altLang="en-US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theme_gray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()</a:t>
            </a:r>
            <a:endParaRPr lang="en-US" altLang="zh-CN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BAE639D3-6677-4B49-A251-A7B8A5CF4062}"/>
              </a:ext>
            </a:extLst>
          </p:cNvPr>
          <p:cNvPicPr/>
          <p:nvPr/>
        </p:nvPicPr>
        <p:blipFill rotWithShape="1">
          <a:blip r:embed="rId2"/>
          <a:srcRect t="8680" b="8247"/>
          <a:stretch/>
        </p:blipFill>
        <p:spPr bwMode="auto">
          <a:xfrm>
            <a:off x="76200" y="3428999"/>
            <a:ext cx="2971800" cy="272227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CDABB706-A08A-41C7-A77D-C85E80F81946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3048000" y="3344792"/>
            <a:ext cx="2628900" cy="2806479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BA653614-FA61-4746-82A7-69B3C9AC43E8}"/>
              </a:ext>
            </a:extLst>
          </p:cNvPr>
          <p:cNvPicPr/>
          <p:nvPr/>
        </p:nvPicPr>
        <p:blipFill rotWithShape="1">
          <a:blip r:embed="rId4"/>
          <a:srcRect t="8767" b="8588"/>
          <a:stretch/>
        </p:blipFill>
        <p:spPr bwMode="auto">
          <a:xfrm>
            <a:off x="5676900" y="3384771"/>
            <a:ext cx="3390900" cy="278742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标题 5">
            <a:extLst>
              <a:ext uri="{FF2B5EF4-FFF2-40B4-BE49-F238E27FC236}">
                <a16:creationId xmlns:a16="http://schemas.microsoft.com/office/drawing/2014/main" id="{54324593-EEED-9AC0-B1CB-A891F3E54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3600" dirty="0"/>
              <a:t>7.3.1 </a:t>
            </a:r>
            <a:r>
              <a:rPr lang="zh-CN" altLang="en-US" sz="3600" dirty="0"/>
              <a:t>空间几何数据绘图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B741ADC-7889-D81F-FE9F-CCD00ED62E00}"/>
              </a:ext>
            </a:extLst>
          </p:cNvPr>
          <p:cNvSpPr txBox="1"/>
          <p:nvPr/>
        </p:nvSpPr>
        <p:spPr>
          <a:xfrm>
            <a:off x="7883" y="2457701"/>
            <a:ext cx="3230617" cy="810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ts val="1425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WHHP_cen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&lt;-</a:t>
            </a: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st_centroid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(WHHP)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ts val="1425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ggplot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(data=</a:t>
            </a: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WHHP_cen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)+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ts val="1425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geom_sf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()+ labs(title =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点数据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 +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ts val="1425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theme_minimal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()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4AF0764-0243-55EC-AE69-699E63638845}"/>
              </a:ext>
            </a:extLst>
          </p:cNvPr>
          <p:cNvSpPr txBox="1"/>
          <p:nvPr/>
        </p:nvSpPr>
        <p:spPr>
          <a:xfrm>
            <a:off x="3270031" y="2453773"/>
            <a:ext cx="3300248" cy="8104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ts val="1425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WHRD&lt;-</a:t>
            </a: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read_sf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WHRD.shp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ts val="1425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ggplot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(data=WHRD)+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ts val="1425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geom_sf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()+ labs(title =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线数据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 +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lvl="0" indent="0" algn="l" defTabSz="914400" rtl="0" eaLnBrk="0" fontAlgn="base" latinLnBrk="0" hangingPunct="0">
              <a:lnSpc>
                <a:spcPts val="1425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theme_bw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()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B347A8D-B880-8905-D6D8-ED33F6045118}"/>
              </a:ext>
            </a:extLst>
          </p:cNvPr>
          <p:cNvSpPr/>
          <p:nvPr/>
        </p:nvSpPr>
        <p:spPr>
          <a:xfrm>
            <a:off x="3170603" y="1066800"/>
            <a:ext cx="2801601" cy="4977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2400" b="1" dirty="0"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Simple Feature</a:t>
            </a:r>
            <a:r>
              <a:rPr lang="zh-CN" altLang="en-US" sz="2400" b="1" dirty="0"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对象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fld id="{5DD3DB80-B894-403A-B48E-6FDC1A72010E}" type="slidenum">
              <a:rPr lang="zh-CN" altLang="en-US" smtClean="0">
                <a:cs typeface="+mn-ea"/>
                <a:sym typeface="+mn-lt"/>
              </a:rPr>
              <a:t>39</a:t>
            </a:fld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789F1EF-BC4E-4FC0-95A7-EDC51F1973B6}"/>
              </a:ext>
            </a:extLst>
          </p:cNvPr>
          <p:cNvSpPr/>
          <p:nvPr/>
        </p:nvSpPr>
        <p:spPr>
          <a:xfrm>
            <a:off x="463769" y="1492667"/>
            <a:ext cx="8229600" cy="8695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dirty="0" err="1">
                <a:latin typeface="+mn-lt"/>
                <a:ea typeface="+mn-ea"/>
              </a:rPr>
              <a:t>ggspatial</a:t>
            </a:r>
            <a:r>
              <a:rPr lang="zh-CN" altLang="en-US" dirty="0">
                <a:latin typeface="+mn-lt"/>
                <a:ea typeface="+mn-ea"/>
              </a:rPr>
              <a:t>函数包的</a:t>
            </a:r>
            <a:r>
              <a:rPr lang="en-US" altLang="zh-CN" dirty="0" err="1">
                <a:latin typeface="+mn-lt"/>
                <a:ea typeface="+mn-ea"/>
              </a:rPr>
              <a:t>annotation_scale</a:t>
            </a:r>
            <a:r>
              <a:rPr lang="en-US" altLang="zh-CN" dirty="0">
                <a:latin typeface="+mn-lt"/>
                <a:ea typeface="+mn-ea"/>
              </a:rPr>
              <a:t>()</a:t>
            </a:r>
            <a:r>
              <a:rPr lang="zh-CN" altLang="en-US" dirty="0">
                <a:latin typeface="+mn-lt"/>
                <a:ea typeface="+mn-ea"/>
              </a:rPr>
              <a:t>函数和</a:t>
            </a:r>
            <a:r>
              <a:rPr lang="en-US" altLang="zh-CN" dirty="0" err="1">
                <a:latin typeface="+mn-lt"/>
                <a:ea typeface="+mn-ea"/>
              </a:rPr>
              <a:t>annotation_north_arrow</a:t>
            </a:r>
            <a:r>
              <a:rPr lang="en-US" altLang="zh-CN" dirty="0">
                <a:latin typeface="+mn-lt"/>
                <a:ea typeface="+mn-ea"/>
              </a:rPr>
              <a:t>()</a:t>
            </a:r>
            <a:r>
              <a:rPr lang="zh-CN" altLang="en-US" dirty="0">
                <a:latin typeface="+mn-lt"/>
                <a:ea typeface="+mn-ea"/>
              </a:rPr>
              <a:t>函数分别添加比例尺和指南针。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F298FC6-E703-4A8E-89E0-2D3B7ECD6CD9}"/>
              </a:ext>
            </a:extLst>
          </p:cNvPr>
          <p:cNvSpPr/>
          <p:nvPr/>
        </p:nvSpPr>
        <p:spPr>
          <a:xfrm>
            <a:off x="1409700" y="2368540"/>
            <a:ext cx="6667500" cy="1708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algn="l">
              <a:lnSpc>
                <a:spcPts val="1425"/>
              </a:lnSpc>
              <a:buNone/>
            </a:pP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WHHP_cen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&lt;-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st_centroid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(WHHP)</a:t>
            </a:r>
            <a:endParaRPr lang="en-US" altLang="zh-CN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ggplot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(WHHP)+</a:t>
            </a:r>
            <a:endParaRPr lang="en-US" altLang="zh-CN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geom_sf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()+</a:t>
            </a:r>
            <a:endParaRPr lang="en-US" altLang="zh-CN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geom_sf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(data =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WHHP_cen,pch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=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16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,aes(color=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Avg_HP,size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=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Avg_HP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))+</a:t>
            </a:r>
            <a:endParaRPr lang="en-US" altLang="zh-CN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scale_size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(range = c(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3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))+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scale_color_gradient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(trans = 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"reverse"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 +</a:t>
            </a:r>
            <a:endParaRPr lang="en-US" altLang="zh-CN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annotation_scale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(location = 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"bl"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width_hint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0.1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 + </a:t>
            </a:r>
            <a:endParaRPr lang="en-US" altLang="zh-CN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annotation_north_arrow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(location = 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"tr"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which_north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"true"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endParaRPr lang="en-US" altLang="zh-CN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                      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pad_x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unit(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0.1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"in"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),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pad_y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unit(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0.1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"in"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),</a:t>
            </a:r>
            <a:endParaRPr lang="en-US" altLang="zh-CN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</a:pP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                       style =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north_arrow_fancy_orienteering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5A6489F8-E915-441C-81A4-7E343EE4B94A}"/>
              </a:ext>
            </a:extLst>
          </p:cNvPr>
          <p:cNvPicPr/>
          <p:nvPr/>
        </p:nvPicPr>
        <p:blipFill rotWithShape="1">
          <a:blip r:embed="rId2"/>
          <a:srcRect l="8565" r="8912"/>
          <a:stretch/>
        </p:blipFill>
        <p:spPr bwMode="auto">
          <a:xfrm>
            <a:off x="2712908" y="4076700"/>
            <a:ext cx="3718183" cy="271352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8" name="标题 5">
            <a:extLst>
              <a:ext uri="{FF2B5EF4-FFF2-40B4-BE49-F238E27FC236}">
                <a16:creationId xmlns:a16="http://schemas.microsoft.com/office/drawing/2014/main" id="{1AAFD00C-C6E2-1D2C-E2D5-3A9E16F29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1101" y="342900"/>
            <a:ext cx="6896099" cy="663575"/>
          </a:xfrm>
        </p:spPr>
        <p:txBody>
          <a:bodyPr/>
          <a:lstStyle/>
          <a:p>
            <a:r>
              <a:rPr lang="en-US" altLang="zh-CN" sz="3600" dirty="0"/>
              <a:t>7.3.2 </a:t>
            </a:r>
            <a:r>
              <a:rPr lang="zh-CN" altLang="en-US" sz="3600" b="1" dirty="0"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空间属性数据可视化</a:t>
            </a:r>
            <a:endParaRPr lang="zh-CN" altLang="en-US" sz="36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2759201-2432-0843-4E68-C54D6310B388}"/>
              </a:ext>
            </a:extLst>
          </p:cNvPr>
          <p:cNvSpPr/>
          <p:nvPr/>
        </p:nvSpPr>
        <p:spPr>
          <a:xfrm>
            <a:off x="2940189" y="1066800"/>
            <a:ext cx="3262433" cy="4977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400" b="1" dirty="0"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空间点属性数据可视化</a:t>
            </a:r>
          </a:p>
        </p:txBody>
      </p:sp>
    </p:spTree>
    <p:extLst>
      <p:ext uri="{BB962C8B-B14F-4D97-AF65-F5344CB8AC3E}">
        <p14:creationId xmlns:p14="http://schemas.microsoft.com/office/powerpoint/2010/main" val="106904763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fld id="{5DD3DB80-B894-403A-B48E-6FDC1A72010E}" type="slidenum">
              <a:rPr lang="zh-CN" altLang="en-US" smtClean="0">
                <a:cs typeface="+mn-ea"/>
                <a:sym typeface="+mn-lt"/>
              </a:rPr>
              <a:t>40</a:t>
            </a:fld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F298FC6-E703-4A8E-89E0-2D3B7ECD6CD9}"/>
              </a:ext>
            </a:extLst>
          </p:cNvPr>
          <p:cNvSpPr/>
          <p:nvPr/>
        </p:nvSpPr>
        <p:spPr>
          <a:xfrm>
            <a:off x="1329558" y="2335649"/>
            <a:ext cx="6484883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algn="l">
              <a:lnSpc>
                <a:spcPts val="1425"/>
              </a:lnSpc>
              <a:buNone/>
            </a:pP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ggplot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(WHRD)+</a:t>
            </a:r>
            <a:endParaRPr lang="en-US" altLang="zh-CN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geom_sf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aes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(col=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new_fclass,linetype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=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new_fclass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))+</a:t>
            </a:r>
            <a:endParaRPr lang="en-US" altLang="zh-CN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annotation_scale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(location = 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"bl"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width_hint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0.1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 + </a:t>
            </a:r>
            <a:endParaRPr lang="en-US" altLang="zh-CN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annotation_north_arrow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(location = 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"tr"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which_north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"true"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endParaRPr lang="en-US" altLang="zh-CN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                      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pad_x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unit(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0.1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"in"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),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pad_y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unit(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0.1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"in"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),</a:t>
            </a:r>
            <a:endParaRPr lang="en-US" altLang="zh-CN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ctr"/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                       style =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north_arrow_fancy_orienteering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50A9F5C-1CEC-4594-92DD-697837665B7E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895600" y="3505200"/>
            <a:ext cx="3352800" cy="3276599"/>
          </a:xfrm>
          <a:prstGeom prst="rect">
            <a:avLst/>
          </a:prstGeom>
        </p:spPr>
      </p:pic>
      <p:sp>
        <p:nvSpPr>
          <p:cNvPr id="10" name="标题 5">
            <a:extLst>
              <a:ext uri="{FF2B5EF4-FFF2-40B4-BE49-F238E27FC236}">
                <a16:creationId xmlns:a16="http://schemas.microsoft.com/office/drawing/2014/main" id="{882AEA0F-F48D-8948-9A48-158D7EBE8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1101" y="342900"/>
            <a:ext cx="6896099" cy="663575"/>
          </a:xfrm>
        </p:spPr>
        <p:txBody>
          <a:bodyPr/>
          <a:lstStyle/>
          <a:p>
            <a:r>
              <a:rPr lang="en-US" altLang="zh-CN" sz="3600" dirty="0"/>
              <a:t>7.3.2</a:t>
            </a:r>
            <a:r>
              <a:rPr lang="zh-CN" altLang="en-US" sz="3600" dirty="0"/>
              <a:t> </a:t>
            </a:r>
            <a:r>
              <a:rPr lang="zh-CN" altLang="en-US" sz="3600" b="1" dirty="0"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空间属性数据可视化</a:t>
            </a:r>
            <a:endParaRPr lang="zh-CN" altLang="en-US" sz="36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E4227A3-2500-AB7A-9FC2-C1235AF688F3}"/>
              </a:ext>
            </a:extLst>
          </p:cNvPr>
          <p:cNvSpPr/>
          <p:nvPr/>
        </p:nvSpPr>
        <p:spPr>
          <a:xfrm>
            <a:off x="2940189" y="1066800"/>
            <a:ext cx="3262433" cy="4977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400" b="1" dirty="0"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空间线属性数据可视化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EFD1C72-FCFD-9D14-EAA4-4D78A7DDE425}"/>
              </a:ext>
            </a:extLst>
          </p:cNvPr>
          <p:cNvSpPr/>
          <p:nvPr/>
        </p:nvSpPr>
        <p:spPr>
          <a:xfrm>
            <a:off x="463769" y="1492667"/>
            <a:ext cx="8229600" cy="8695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dirty="0" err="1">
                <a:latin typeface="+mn-lt"/>
                <a:ea typeface="+mn-ea"/>
              </a:rPr>
              <a:t>ggspatial</a:t>
            </a:r>
            <a:r>
              <a:rPr lang="zh-CN" altLang="en-US" dirty="0">
                <a:latin typeface="+mn-lt"/>
                <a:ea typeface="+mn-ea"/>
              </a:rPr>
              <a:t>函数包的</a:t>
            </a:r>
            <a:r>
              <a:rPr lang="en-US" altLang="zh-CN" dirty="0" err="1">
                <a:latin typeface="+mn-lt"/>
                <a:ea typeface="+mn-ea"/>
              </a:rPr>
              <a:t>annotation_scale</a:t>
            </a:r>
            <a:r>
              <a:rPr lang="en-US" altLang="zh-CN" dirty="0">
                <a:latin typeface="+mn-lt"/>
                <a:ea typeface="+mn-ea"/>
              </a:rPr>
              <a:t>()</a:t>
            </a:r>
            <a:r>
              <a:rPr lang="zh-CN" altLang="en-US" dirty="0">
                <a:latin typeface="+mn-lt"/>
                <a:ea typeface="+mn-ea"/>
              </a:rPr>
              <a:t>函数和</a:t>
            </a:r>
            <a:r>
              <a:rPr lang="en-US" altLang="zh-CN" dirty="0" err="1">
                <a:latin typeface="+mn-lt"/>
                <a:ea typeface="+mn-ea"/>
              </a:rPr>
              <a:t>annotation_north_arrow</a:t>
            </a:r>
            <a:r>
              <a:rPr lang="en-US" altLang="zh-CN" dirty="0">
                <a:latin typeface="+mn-lt"/>
                <a:ea typeface="+mn-ea"/>
              </a:rPr>
              <a:t>()</a:t>
            </a:r>
            <a:r>
              <a:rPr lang="zh-CN" altLang="en-US" dirty="0">
                <a:latin typeface="+mn-lt"/>
                <a:ea typeface="+mn-ea"/>
              </a:rPr>
              <a:t>函数分别添加比例尺和指南针。</a:t>
            </a:r>
          </a:p>
        </p:txBody>
      </p:sp>
    </p:spTree>
    <p:extLst>
      <p:ext uri="{BB962C8B-B14F-4D97-AF65-F5344CB8AC3E}">
        <p14:creationId xmlns:p14="http://schemas.microsoft.com/office/powerpoint/2010/main" val="334722378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fld id="{5DD3DB80-B894-403A-B48E-6FDC1A72010E}" type="slidenum">
              <a:rPr lang="zh-CN" altLang="en-US" smtClean="0">
                <a:cs typeface="+mn-ea"/>
                <a:sym typeface="+mn-lt"/>
              </a:rPr>
              <a:t>41</a:t>
            </a:fld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F298FC6-E703-4A8E-89E0-2D3B7ECD6CD9}"/>
              </a:ext>
            </a:extLst>
          </p:cNvPr>
          <p:cNvSpPr/>
          <p:nvPr/>
        </p:nvSpPr>
        <p:spPr>
          <a:xfrm>
            <a:off x="1371600" y="2308513"/>
            <a:ext cx="6667500" cy="13490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algn="l">
              <a:lnSpc>
                <a:spcPts val="1425"/>
              </a:lnSpc>
              <a:buNone/>
            </a:pP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ggplot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(WHHP)+</a:t>
            </a:r>
            <a:endParaRPr lang="en-US" altLang="zh-CN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geom_sf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aes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(fill=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Avg_HP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))+ 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scale_fill_gradient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(trans = 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"reverse"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 +</a:t>
            </a:r>
            <a:endParaRPr lang="en-US" altLang="zh-CN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annotation_scale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(location = 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"bl"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width_hint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0.1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 + </a:t>
            </a:r>
            <a:endParaRPr lang="en-US" altLang="zh-CN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annotation_north_arrow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(location = 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"tr"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which_north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"true"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endParaRPr lang="en-US" altLang="zh-CN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  <a:buNone/>
            </a:pP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                      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pad_x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unit(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0.1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"in"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),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pad_y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= unit(</a:t>
            </a:r>
            <a:r>
              <a:rPr lang="en-US" altLang="zh-CN" sz="1200" dirty="0">
                <a:solidFill>
                  <a:srgbClr val="09865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0.1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, </a:t>
            </a:r>
            <a:r>
              <a:rPr lang="en-US" altLang="zh-CN" sz="1200" dirty="0">
                <a:solidFill>
                  <a:srgbClr val="A3151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"in"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),</a:t>
            </a:r>
            <a:endParaRPr lang="en-US" altLang="zh-CN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marR="0" algn="l">
              <a:lnSpc>
                <a:spcPts val="1425"/>
              </a:lnSpc>
            </a:pP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                         style = </a:t>
            </a:r>
            <a:r>
              <a:rPr lang="en-US" altLang="zh-CN" sz="1200" dirty="0" err="1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north_arrow_fancy_orienteering</a:t>
            </a:r>
            <a:r>
              <a:rPr lang="en-US" altLang="zh-CN" sz="120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nsolas" panose="020B0609020204030204" pitchFamily="49" charset="0"/>
                <a:ea typeface="宋体" panose="02010600030101010101" pitchFamily="2" charset="-122"/>
                <a:cs typeface="宋体" panose="02010600030101010101" pitchFamily="2" charset="-122"/>
              </a:rPr>
              <a:t>)</a:t>
            </a:r>
            <a:endParaRPr lang="en-US" altLang="zh-CN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ts val="1425"/>
              </a:lnSpc>
              <a:spcAft>
                <a:spcPts val="0"/>
              </a:spcAft>
            </a:pPr>
            <a:endParaRPr lang="zh-CN" altLang="zh-CN" sz="1200" dirty="0">
              <a:solidFill>
                <a:srgbClr val="8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onsolas" panose="020B0609020204030204" pitchFamily="49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6D1ABF2-AE70-4EF4-BE41-1B57D11F120F}"/>
              </a:ext>
            </a:extLst>
          </p:cNvPr>
          <p:cNvPicPr/>
          <p:nvPr/>
        </p:nvPicPr>
        <p:blipFill rotWithShape="1">
          <a:blip r:embed="rId2"/>
          <a:srcRect t="2971" b="2392"/>
          <a:stretch/>
        </p:blipFill>
        <p:spPr bwMode="auto">
          <a:xfrm>
            <a:off x="2321143" y="3505200"/>
            <a:ext cx="4514852" cy="32499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0" name="标题 5">
            <a:extLst>
              <a:ext uri="{FF2B5EF4-FFF2-40B4-BE49-F238E27FC236}">
                <a16:creationId xmlns:a16="http://schemas.microsoft.com/office/drawing/2014/main" id="{B9D4267F-AA53-E56A-4B1D-C38C9911F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1101" y="342900"/>
            <a:ext cx="6896099" cy="663575"/>
          </a:xfrm>
        </p:spPr>
        <p:txBody>
          <a:bodyPr/>
          <a:lstStyle/>
          <a:p>
            <a:r>
              <a:rPr lang="en-US" altLang="zh-CN" sz="3600" dirty="0"/>
              <a:t>7.3.2 </a:t>
            </a:r>
            <a:r>
              <a:rPr lang="zh-CN" altLang="en-US" sz="3600" b="1" dirty="0"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空间属性数据可视化</a:t>
            </a:r>
            <a:endParaRPr lang="zh-CN" altLang="en-US" sz="3600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24EA25E-B55C-C0EE-C773-0B1D9AB57751}"/>
              </a:ext>
            </a:extLst>
          </p:cNvPr>
          <p:cNvSpPr/>
          <p:nvPr/>
        </p:nvSpPr>
        <p:spPr>
          <a:xfrm>
            <a:off x="2940189" y="1066800"/>
            <a:ext cx="3262433" cy="4977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400" b="1" dirty="0">
                <a:latin typeface="+mn-lt"/>
                <a:ea typeface="微软雅黑" panose="020B0503020204020204" pitchFamily="34" charset="-122"/>
                <a:cs typeface="+mn-ea"/>
                <a:sym typeface="Consolas" panose="020B0609020204030204" pitchFamily="49" charset="0"/>
              </a:rPr>
              <a:t>空间面属性数据可视化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F084213-BE0B-04DA-6FA7-F4ED7DBCB6AE}"/>
              </a:ext>
            </a:extLst>
          </p:cNvPr>
          <p:cNvSpPr/>
          <p:nvPr/>
        </p:nvSpPr>
        <p:spPr>
          <a:xfrm>
            <a:off x="463769" y="1492667"/>
            <a:ext cx="8229600" cy="8695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7200">
              <a:lnSpc>
                <a:spcPct val="150000"/>
              </a:lnSpc>
            </a:pPr>
            <a:r>
              <a:rPr lang="en-US" altLang="zh-CN" dirty="0" err="1">
                <a:latin typeface="+mn-lt"/>
                <a:ea typeface="+mn-ea"/>
              </a:rPr>
              <a:t>ggspatial</a:t>
            </a:r>
            <a:r>
              <a:rPr lang="zh-CN" altLang="en-US" dirty="0">
                <a:latin typeface="+mn-lt"/>
                <a:ea typeface="+mn-ea"/>
              </a:rPr>
              <a:t>函数包的</a:t>
            </a:r>
            <a:r>
              <a:rPr lang="en-US" altLang="zh-CN" dirty="0" err="1">
                <a:latin typeface="+mn-lt"/>
                <a:ea typeface="+mn-ea"/>
              </a:rPr>
              <a:t>annotation_scale</a:t>
            </a:r>
            <a:r>
              <a:rPr lang="en-US" altLang="zh-CN" dirty="0">
                <a:latin typeface="+mn-lt"/>
                <a:ea typeface="+mn-ea"/>
              </a:rPr>
              <a:t>()</a:t>
            </a:r>
            <a:r>
              <a:rPr lang="zh-CN" altLang="en-US" dirty="0">
                <a:latin typeface="+mn-lt"/>
                <a:ea typeface="+mn-ea"/>
              </a:rPr>
              <a:t>函数和</a:t>
            </a:r>
            <a:r>
              <a:rPr lang="en-US" altLang="zh-CN" dirty="0" err="1">
                <a:latin typeface="+mn-lt"/>
                <a:ea typeface="+mn-ea"/>
              </a:rPr>
              <a:t>annotation_north_arrow</a:t>
            </a:r>
            <a:r>
              <a:rPr lang="en-US" altLang="zh-CN" dirty="0">
                <a:latin typeface="+mn-lt"/>
                <a:ea typeface="+mn-ea"/>
              </a:rPr>
              <a:t>()</a:t>
            </a:r>
            <a:r>
              <a:rPr lang="zh-CN" altLang="en-US" dirty="0">
                <a:latin typeface="+mn-lt"/>
                <a:ea typeface="+mn-ea"/>
              </a:rPr>
              <a:t>函数分别添加比例尺和指南针。</a:t>
            </a:r>
          </a:p>
        </p:txBody>
      </p:sp>
    </p:spTree>
    <p:extLst>
      <p:ext uri="{BB962C8B-B14F-4D97-AF65-F5344CB8AC3E}">
        <p14:creationId xmlns:p14="http://schemas.microsoft.com/office/powerpoint/2010/main" val="17202584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71550" y="174625"/>
            <a:ext cx="6896099" cy="663575"/>
          </a:xfrm>
        </p:spPr>
        <p:txBody>
          <a:bodyPr/>
          <a:lstStyle/>
          <a:p>
            <a:r>
              <a:rPr lang="zh-CN" altLang="en-US" dirty="0"/>
              <a:t>参考教材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/>
            </a:pPr>
            <a:fld id="{4169501A-70AB-40D4-B144-E9884F45072F}" type="slidenum">
              <a:rPr lang="zh-CN" altLang="en-US" smtClean="0">
                <a:solidFill>
                  <a:schemeClr val="bg1">
                    <a:lumMod val="65000"/>
                  </a:schemeClr>
                </a:solidFill>
              </a:rPr>
              <a:t>42</a:t>
            </a:fld>
            <a:endParaRPr lang="zh-CN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" name="AutoShape 2" descr="https://wx.qq.com/cgi-bin/mmwebwx-bin/webwxgetmsgimg?&amp;MsgID=1011342995928164582&amp;skey=%40crypt_f86d81c0_f5935c9dae5f61551a58979cad691918"/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0490" y="1418579"/>
            <a:ext cx="3274810" cy="4601221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" y="1440809"/>
            <a:ext cx="3353787" cy="4578991"/>
          </a:xfrm>
          <a:prstGeom prst="rect">
            <a:avLst/>
          </a:prstGeom>
          <a:ln>
            <a:solidFill>
              <a:srgbClr val="F9FAFC"/>
            </a:solidFill>
          </a:ln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1.0453543307087,&quot;left&quot;:299.00834645669295,&quot;top&quot;:117.97732283464568,&quot;width&quot;:498.74165354330705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1.0453543307087,&quot;left&quot;:299.00834645669295,&quot;top&quot;:117.97732283464568,&quot;width&quot;:498.74165354330705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1.0453543307087,&quot;left&quot;:299.00834645669295,&quot;top&quot;:117.97732283464568,&quot;width&quot;:498.74165354330705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1.0453543307087,&quot;left&quot;:299.00834645669295,&quot;top&quot;:117.97732283464568,&quot;width&quot;:498.74165354330705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1.0453543307087,&quot;left&quot;:299.00834645669295,&quot;top&quot;:117.97732283464568,&quot;width&quot;:498.74165354330705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1.0453543307087,&quot;left&quot;:299.00834645669295,&quot;top&quot;:117.97732283464568,&quot;width&quot;:498.74165354330705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1.0453543307087,&quot;left&quot;:299.00834645669295,&quot;top&quot;:117.97732283464568,&quot;width&quot;:498.74165354330705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1.0453543307087,&quot;left&quot;:299.00834645669295,&quot;top&quot;:117.97732283464568,&quot;width&quot;:498.74165354330705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1.0453543307087,&quot;left&quot;:299.00834645669295,&quot;top&quot;:117.97732283464568,&quot;width&quot;:498.74165354330705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1.0453543307087,&quot;left&quot;:299.00834645669295,&quot;top&quot;:117.97732283464568,&quot;width&quot;:498.74165354330705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1.0453543307087,&quot;left&quot;:299.00834645669295,&quot;top&quot;:117.97732283464568,&quot;width&quot;:498.74165354330705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91.0453543307087,&quot;left&quot;:299.00834645669295,&quot;top&quot;:117.97732283464568,&quot;width&quot;:498.74165354330705}"/>
</p:tagLst>
</file>

<file path=ppt/theme/theme1.xml><?xml version="1.0" encoding="utf-8"?>
<a:theme xmlns:a="http://schemas.openxmlformats.org/drawingml/2006/main" name="自定义设计方案">
  <a:themeElements>
    <a:clrScheme name="自定义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5390"/>
      </a:accent1>
      <a:accent2>
        <a:srgbClr val="FFC000"/>
      </a:accent2>
      <a:accent3>
        <a:srgbClr val="FFFF00"/>
      </a:accent3>
      <a:accent4>
        <a:srgbClr val="00B050"/>
      </a:accent4>
      <a:accent5>
        <a:srgbClr val="00B0F0"/>
      </a:accent5>
      <a:accent6>
        <a:srgbClr val="0070C0"/>
      </a:accent6>
      <a:hlink>
        <a:srgbClr val="7030A0"/>
      </a:hlink>
      <a:folHlink>
        <a:srgbClr val="954F72"/>
      </a:folHlink>
    </a:clrScheme>
    <a:fontScheme name="自定义 1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2590</TotalTime>
  <Words>5066</Words>
  <Application>Microsoft Office PowerPoint</Application>
  <PresentationFormat>全屏显示(4:3)</PresentationFormat>
  <Paragraphs>436</Paragraphs>
  <Slides>42</Slides>
  <Notes>28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42</vt:i4>
      </vt:variant>
    </vt:vector>
  </HeadingPairs>
  <TitlesOfParts>
    <vt:vector size="48" baseType="lpstr">
      <vt:lpstr>宋体</vt:lpstr>
      <vt:lpstr>Arial</vt:lpstr>
      <vt:lpstr>Calibri</vt:lpstr>
      <vt:lpstr>Consolas</vt:lpstr>
      <vt:lpstr>Times New Roman</vt:lpstr>
      <vt:lpstr>自定义设计方案</vt:lpstr>
      <vt:lpstr>第七章 ggplot2函数包可视化</vt:lpstr>
      <vt:lpstr>PowerPoint 演示文稿</vt:lpstr>
      <vt:lpstr>7.1 章节R函数包准备</vt:lpstr>
      <vt:lpstr>7.1 章节R函数包准备</vt:lpstr>
      <vt:lpstr>7.2 ggplot2统计可视化</vt:lpstr>
      <vt:lpstr>7.2.1 ggplot2基础语法</vt:lpstr>
      <vt:lpstr>7.2.1 ggplot2基础语法</vt:lpstr>
      <vt:lpstr>7.2.2 数据（data）</vt:lpstr>
      <vt:lpstr>7.2.3 美学映射</vt:lpstr>
      <vt:lpstr>7.2.4 几何对象（geometric）</vt:lpstr>
      <vt:lpstr>7.2.4 几何对象（geometric）</vt:lpstr>
      <vt:lpstr>7.2.4 几何对象（geometric）</vt:lpstr>
      <vt:lpstr>7.2.4 几何对象（geometric）</vt:lpstr>
      <vt:lpstr>7.2.5 标度（scale）</vt:lpstr>
      <vt:lpstr>7.2.5 标度（scale）</vt:lpstr>
      <vt:lpstr>7.2.5 标度（scale）</vt:lpstr>
      <vt:lpstr>7.2.6 统计变换（Statistics）</vt:lpstr>
      <vt:lpstr>7.2.6 统计变换（Statistics）</vt:lpstr>
      <vt:lpstr>7.2.7 坐标系（Coordinate）</vt:lpstr>
      <vt:lpstr>7.2.7 坐标系（Coordinate）</vt:lpstr>
      <vt:lpstr>7.2.7 坐标系（Coordinate）</vt:lpstr>
      <vt:lpstr>7.2.8 位置调整 </vt:lpstr>
      <vt:lpstr>7.2.8 位置调整 </vt:lpstr>
      <vt:lpstr>7.2.8 位置调整 </vt:lpstr>
      <vt:lpstr>7.2.9 分面（facet） </vt:lpstr>
      <vt:lpstr>7.2.9 分面（facet） </vt:lpstr>
      <vt:lpstr>7.2.9 分面（facet） </vt:lpstr>
      <vt:lpstr>7.2.10 主题（theme）</vt:lpstr>
      <vt:lpstr>7.2.10 主题（theme）</vt:lpstr>
      <vt:lpstr>7.2.10 主题（theme）</vt:lpstr>
      <vt:lpstr>7.2.10 主题（theme）</vt:lpstr>
      <vt:lpstr>7.2.10 主题（theme）</vt:lpstr>
      <vt:lpstr>7.2.10 主题（theme）</vt:lpstr>
      <vt:lpstr>7.2.10 主题（theme）</vt:lpstr>
      <vt:lpstr>7.2.10 主题（theme）</vt:lpstr>
      <vt:lpstr>7.2.11 输出（output）</vt:lpstr>
      <vt:lpstr>7.3 ggplot2空间可视化</vt:lpstr>
      <vt:lpstr>7.3.1 空间几何数据绘图</vt:lpstr>
      <vt:lpstr>7.3.2 空间属性数据可视化</vt:lpstr>
      <vt:lpstr>7.3.2 空间属性数据可视化</vt:lpstr>
      <vt:lpstr>7.3.2 空间属性数据可视化</vt:lpstr>
      <vt:lpstr>参考教材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怡彤 丁</cp:lastModifiedBy>
  <cp:revision>258</cp:revision>
  <dcterms:created xsi:type="dcterms:W3CDTF">2019-05-21T17:53:53Z</dcterms:created>
  <dcterms:modified xsi:type="dcterms:W3CDTF">2025-03-27T10:04:25Z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1033-1.0.0.1304</vt:lpwstr>
  </property>
</Properties>
</file>