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835" r:id="rId3"/>
    <p:sldId id="867" r:id="rId4"/>
    <p:sldId id="305" r:id="rId5"/>
    <p:sldId id="331" r:id="rId6"/>
    <p:sldId id="306" r:id="rId7"/>
    <p:sldId id="330" r:id="rId8"/>
    <p:sldId id="626" r:id="rId9"/>
    <p:sldId id="335" r:id="rId10"/>
    <p:sldId id="385" r:id="rId11"/>
    <p:sldId id="336" r:id="rId12"/>
    <p:sldId id="836" r:id="rId13"/>
    <p:sldId id="837" r:id="rId14"/>
    <p:sldId id="868" r:id="rId15"/>
    <p:sldId id="838" r:id="rId16"/>
    <p:sldId id="839" r:id="rId17"/>
    <p:sldId id="340" r:id="rId18"/>
    <p:sldId id="840" r:id="rId19"/>
    <p:sldId id="841" r:id="rId20"/>
    <p:sldId id="842" r:id="rId21"/>
    <p:sldId id="843" r:id="rId22"/>
    <p:sldId id="844" r:id="rId23"/>
    <p:sldId id="845" r:id="rId24"/>
    <p:sldId id="846" r:id="rId25"/>
    <p:sldId id="847" r:id="rId26"/>
    <p:sldId id="848" r:id="rId27"/>
    <p:sldId id="849" r:id="rId28"/>
    <p:sldId id="851" r:id="rId29"/>
    <p:sldId id="850" r:id="rId30"/>
    <p:sldId id="852" r:id="rId31"/>
    <p:sldId id="869" r:id="rId32"/>
    <p:sldId id="853" r:id="rId33"/>
    <p:sldId id="854" r:id="rId34"/>
    <p:sldId id="855" r:id="rId35"/>
    <p:sldId id="856" r:id="rId36"/>
    <p:sldId id="857" r:id="rId37"/>
    <p:sldId id="870" r:id="rId38"/>
    <p:sldId id="858" r:id="rId39"/>
    <p:sldId id="860" r:id="rId40"/>
    <p:sldId id="861" r:id="rId41"/>
    <p:sldId id="862" r:id="rId42"/>
    <p:sldId id="863" r:id="rId43"/>
    <p:sldId id="864" r:id="rId44"/>
    <p:sldId id="865" r:id="rId45"/>
    <p:sldId id="624" r:id="rId4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怡彤 丁" initials="怡丁" lastIdx="1" clrIdx="0">
    <p:extLst>
      <p:ext uri="{19B8F6BF-5375-455C-9EA6-DF929625EA0E}">
        <p15:presenceInfo xmlns:p15="http://schemas.microsoft.com/office/powerpoint/2012/main" userId="2f2dd4a306a755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AFC"/>
    <a:srgbClr val="074996"/>
    <a:srgbClr val="2D22C0"/>
    <a:srgbClr val="160A02"/>
    <a:srgbClr val="F13B09"/>
    <a:srgbClr val="F75529"/>
    <a:srgbClr val="170401"/>
    <a:srgbClr val="170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93536" autoAdjust="0"/>
  </p:normalViewPr>
  <p:slideViewPr>
    <p:cSldViewPr showGuides="1">
      <p:cViewPr varScale="1">
        <p:scale>
          <a:sx n="99" d="100"/>
          <a:sy n="99" d="100"/>
        </p:scale>
        <p:origin x="1686" y="84"/>
      </p:cViewPr>
      <p:guideLst>
        <p:guide orient="horz" pos="2184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2299" y="5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7DB12-D159-4442-8014-437DE5BA55C7}" type="datetimeFigureOut">
              <a:rPr lang="zh-CN" altLang="en-US" smtClean="0"/>
              <a:t>2025-04-07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2B4347-C9BC-4556-8FC3-B2E0153CF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128E977-6F5A-48DB-ACA7-C6E15821CB3C}" type="datetimeFigureOut">
              <a:rPr lang="zh-CN" altLang="en-US"/>
              <a:t>2025-04-07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F5AD7FC-C08A-4786-B2D8-ABE422D6354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8FC65C-FC7A-4192-9B2D-44DFEE13D47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图片 15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956"/>
            <a:ext cx="9144000" cy="2932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2934" y="3924304"/>
            <a:ext cx="7772400" cy="746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914904"/>
            <a:ext cx="6400800" cy="746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82" name="任意形状 36"/>
          <p:cNvSpPr/>
          <p:nvPr userDrawn="1"/>
        </p:nvSpPr>
        <p:spPr>
          <a:xfrm>
            <a:off x="-138132" y="-147919"/>
            <a:ext cx="9434532" cy="3238555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矩形 83"/>
          <p:cNvSpPr/>
          <p:nvPr userDrawn="1"/>
        </p:nvSpPr>
        <p:spPr>
          <a:xfrm>
            <a:off x="0" y="0"/>
            <a:ext cx="9144000" cy="1632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3962400" y="2400300"/>
            <a:ext cx="1219200" cy="1231468"/>
            <a:chOff x="6678206" y="3208602"/>
            <a:chExt cx="1219200" cy="1231468"/>
          </a:xfrm>
        </p:grpSpPr>
        <p:sp>
          <p:nvSpPr>
            <p:cNvPr id="86" name="椭圆 85"/>
            <p:cNvSpPr/>
            <p:nvPr/>
          </p:nvSpPr>
          <p:spPr>
            <a:xfrm>
              <a:off x="6683774" y="3226438"/>
              <a:ext cx="1213632" cy="12136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87" name="íšḻîďê"/>
            <p:cNvGrpSpPr/>
            <p:nvPr/>
          </p:nvGrpSpPr>
          <p:grpSpPr>
            <a:xfrm>
              <a:off x="6678206" y="3208602"/>
              <a:ext cx="1219200" cy="1227234"/>
              <a:chOff x="3551238" y="3067050"/>
              <a:chExt cx="722313" cy="727075"/>
            </a:xfrm>
          </p:grpSpPr>
          <p:sp>
            <p:nvSpPr>
              <p:cNvPr id="88" name="ïş1íḍê"/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9" name="íšḻïḍè"/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0" name="ïśľíḓé"/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1" name="ïslíḍê"/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2" name="íṡļïdê"/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3" name="iş1ïďe"/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4" name="ïṩḷíḍé"/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5" name="ïśľíḍè"/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6" name="í$ḻîḋè"/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7" name="iṣļíḋe"/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8" name="iṩḷiḓé"/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99" name="iSľiḍè"/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0" name="ïṩḷîḍe"/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1" name="íšḻiḑê"/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2" name="ïṩļïďè"/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3" name="îṥlïḋê"/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4" name="îṧľïdè"/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5" name="iSḷîḓê"/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6" name="îślíďè"/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7" name="iSḻïḍè"/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8" name="ïṡliḑê"/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09" name="islïďé"/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0" name="îṥḷîdé"/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1" name="isḷîḋé"/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2" name="iśḷïḑè"/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3" name="iṧľiďé"/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4" name="išľïḍé"/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5" name="îŝlîḑè"/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6" name="îṩḻíḓe"/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7" name="î$1îdè"/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8" name="iśľïḓe"/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19" name="iṣļïḑè"/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0" name="iṡḷidé"/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1" name="íṡḷíḋe"/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2" name="íŝ1iḑê"/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3" name="îṩḷiḑe"/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4" name="iṧḻiḑê"/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5" name="ïṣḻîḋè"/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6" name="îṡ1îḍé"/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7" name="îš1íḑe"/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8" name="iš1ïḍe"/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29" name="îSḻîde"/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0" name="î$ḻîḑé"/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1" name="íŝļïḓe"/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2" name="îS1iḍé"/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3" name="išlïdé"/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4" name="ïSlïde"/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5" name="îşľïďe"/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6" name="ïşľíďê"/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7" name="íś1ïdè"/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8" name="iṩḷiḍe"/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39" name="ïŝ1iďè"/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0" name="íṩļíḋê"/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1" name="ïṧ1ïdè"/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2" name="íŝḻîḍé"/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3" name="îşḻïḓé"/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4" name="íśļíďè"/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5" name="iŝ1ïdé"/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6" name="is1ídè"/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7" name="islíďê"/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8" name="iṩlíḑê"/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49" name="îṥḷïďê"/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50" name="íṥḻïďè"/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51" name="íṡḷíḍè"/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52" name="î$ḷîḑé"/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53" name="í$ľîdè"/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54" name="iṥ1iḍè"/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55" name="ïslidé"/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56" name="íṡlïďè"/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57" name="iṧ1ïḓè"/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</p:grpSp>
      </p:grpSp>
      <p:pic>
        <p:nvPicPr>
          <p:cNvPr id="161" name="图片 16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2" y="268906"/>
            <a:ext cx="710933" cy="15928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73244" y="-1"/>
            <a:ext cx="7356956" cy="6858001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12646" y="0"/>
            <a:ext cx="177972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图片占位符 8"/>
          <p:cNvSpPr>
            <a:spLocks noGrp="1"/>
          </p:cNvSpPr>
          <p:nvPr>
            <p:ph type="pic" sz="quarter" idx="15"/>
          </p:nvPr>
        </p:nvSpPr>
        <p:spPr>
          <a:xfrm flipH="1">
            <a:off x="170624" y="0"/>
            <a:ext cx="292800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 dirty="0"/>
          </a:p>
        </p:txBody>
      </p:sp>
      <p:sp>
        <p:nvSpPr>
          <p:cNvPr id="6" name="任意形状 9"/>
          <p:cNvSpPr/>
          <p:nvPr userDrawn="1"/>
        </p:nvSpPr>
        <p:spPr>
          <a:xfrm flipH="1">
            <a:off x="33862" y="-98854"/>
            <a:ext cx="3064764" cy="7039443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B92293E-CE77-91C3-9760-2C6B5AC483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882793" y="1029268"/>
            <a:ext cx="5784639" cy="58188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9" name="图片 108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cxnSp>
        <p:nvCxnSpPr>
          <p:cNvPr id="112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57200" y="625308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369F9-03CD-4B48-86A9-9EE39A82955A}" type="slidenum">
              <a:rPr lang="zh-CN" altLang="en-US"/>
              <a:t>‹#›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4702" y="1006475"/>
            <a:ext cx="5784639" cy="5818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077" y="381000"/>
            <a:ext cx="1729645" cy="5439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4760BFC-9949-C20B-E0E4-82823230169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32" y="6172200"/>
            <a:ext cx="468068" cy="47490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7.jpe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rstudio.com/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sourceforge.net/projects/tinn-r/)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692935" y="3902077"/>
            <a:ext cx="7772400" cy="746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74996"/>
                </a:solidFill>
                <a:latin typeface="+mj-ea"/>
              </a:rPr>
              <a:t>第一章 </a:t>
            </a:r>
            <a:r>
              <a:rPr lang="en-US" altLang="zh-CN" b="1" dirty="0">
                <a:solidFill>
                  <a:srgbClr val="074996"/>
                </a:solidFill>
                <a:latin typeface="+mj-ea"/>
              </a:rPr>
              <a:t>R</a:t>
            </a:r>
            <a:r>
              <a:rPr lang="zh-CN" altLang="en-US" b="1" dirty="0">
                <a:solidFill>
                  <a:srgbClr val="074996"/>
                </a:solidFill>
                <a:latin typeface="+mj-ea"/>
              </a:rPr>
              <a:t>语言基础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371600" y="4914901"/>
            <a:ext cx="6400800" cy="11049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卢宾宾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武汉大学遥感信息工程学院</a:t>
            </a:r>
          </a:p>
          <a:p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 advTm="514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/>
          <p:cNvPicPr>
            <a:picLocks noGrp="1" noChangeAspect="1"/>
          </p:cNvPicPr>
          <p:nvPr>
            <p:ph type="pic" sz="quarter" idx="15"/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7" r="20087"/>
          <a:stretch>
            <a:fillRect/>
          </a:stretch>
        </p:blipFill>
        <p:spPr/>
      </p:pic>
      <p:sp>
        <p:nvSpPr>
          <p:cNvPr id="47105" name="标题 1"/>
          <p:cNvSpPr>
            <a:spLocks noGrp="1"/>
          </p:cNvSpPr>
          <p:nvPr>
            <p:ph type="title" idx="4294967295"/>
          </p:nvPr>
        </p:nvSpPr>
        <p:spPr>
          <a:xfrm>
            <a:off x="3797406" y="342900"/>
            <a:ext cx="4889394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4800" b="1" dirty="0">
                <a:solidFill>
                  <a:schemeClr val="accent1"/>
                </a:solidFill>
                <a:latin typeface="+mj-ea"/>
                <a:cs typeface="Times New Roman" panose="02020603050405020304" charset="0"/>
              </a:rPr>
              <a:t>目录</a:t>
            </a:r>
          </a:p>
        </p:txBody>
      </p:sp>
      <p:grpSp>
        <p:nvGrpSpPr>
          <p:cNvPr id="28" name="组合 27"/>
          <p:cNvGrpSpPr/>
          <p:nvPr>
            <p:custDataLst>
              <p:tags r:id="rId1"/>
            </p:custDataLst>
          </p:nvPr>
        </p:nvGrpSpPr>
        <p:grpSpPr>
          <a:xfrm>
            <a:off x="3797406" y="1765012"/>
            <a:ext cx="6334019" cy="749588"/>
            <a:chOff x="3797406" y="1425837"/>
            <a:chExt cx="6334019" cy="749588"/>
          </a:xfrm>
        </p:grpSpPr>
        <p:sp>
          <p:nvSpPr>
            <p:cNvPr id="12" name="文本框 11"/>
            <p:cNvSpPr txBox="1"/>
            <p:nvPr>
              <p:custDataLst>
                <p:tags r:id="rId14"/>
              </p:custDataLst>
            </p:nvPr>
          </p:nvSpPr>
          <p:spPr>
            <a:xfrm>
              <a:off x="3797406" y="1559872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1.1</a:t>
              </a:r>
            </a:p>
          </p:txBody>
        </p:sp>
        <p:sp>
          <p:nvSpPr>
            <p:cNvPr id="13" name="文本占位符 27"/>
            <p:cNvSpPr txBox="1"/>
            <p:nvPr>
              <p:custDataLst>
                <p:tags r:id="rId15"/>
              </p:custDataLst>
            </p:nvPr>
          </p:nvSpPr>
          <p:spPr>
            <a:xfrm>
              <a:off x="4838700" y="1425837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语言简介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线连接符 13"/>
            <p:cNvCxnSpPr/>
            <p:nvPr>
              <p:custDataLst>
                <p:tags r:id="rId16"/>
              </p:custDataLst>
            </p:nvPr>
          </p:nvCxnSpPr>
          <p:spPr>
            <a:xfrm>
              <a:off x="3797406" y="2133862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>
            <p:custDataLst>
              <p:tags r:id="rId2"/>
            </p:custDataLst>
          </p:nvPr>
        </p:nvGrpSpPr>
        <p:grpSpPr>
          <a:xfrm>
            <a:off x="3797406" y="2831812"/>
            <a:ext cx="6334019" cy="749588"/>
            <a:chOff x="3797406" y="2539558"/>
            <a:chExt cx="6334019" cy="749588"/>
          </a:xfrm>
        </p:grpSpPr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3797406" y="2673593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1.2</a:t>
              </a:r>
            </a:p>
          </p:txBody>
        </p:sp>
        <p:sp>
          <p:nvSpPr>
            <p:cNvPr id="16" name="文本占位符 27"/>
            <p:cNvSpPr txBox="1"/>
            <p:nvPr>
              <p:custDataLst>
                <p:tags r:id="rId12"/>
              </p:custDataLst>
            </p:nvPr>
          </p:nvSpPr>
          <p:spPr>
            <a:xfrm>
              <a:off x="4838700" y="2539558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数据类型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线连接符 16"/>
            <p:cNvCxnSpPr/>
            <p:nvPr>
              <p:custDataLst>
                <p:tags r:id="rId13"/>
              </p:custDataLst>
            </p:nvPr>
          </p:nvCxnSpPr>
          <p:spPr>
            <a:xfrm>
              <a:off x="3797406" y="3247583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>
            <p:custDataLst>
              <p:tags r:id="rId3"/>
            </p:custDataLst>
          </p:nvPr>
        </p:nvGrpSpPr>
        <p:grpSpPr>
          <a:xfrm>
            <a:off x="3797406" y="3899231"/>
            <a:ext cx="6334019" cy="749588"/>
            <a:chOff x="3797406" y="3632531"/>
            <a:chExt cx="6334019" cy="749588"/>
          </a:xfrm>
        </p:grpSpPr>
        <p:sp>
          <p:nvSpPr>
            <p:cNvPr id="18" name="文本框 17"/>
            <p:cNvSpPr txBox="1"/>
            <p:nvPr>
              <p:custDataLst>
                <p:tags r:id="rId8"/>
              </p:custDataLst>
            </p:nvPr>
          </p:nvSpPr>
          <p:spPr>
            <a:xfrm>
              <a:off x="3797406" y="3766566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1.3</a:t>
              </a:r>
            </a:p>
          </p:txBody>
        </p:sp>
        <p:sp>
          <p:nvSpPr>
            <p:cNvPr id="19" name="文本占位符 27"/>
            <p:cNvSpPr txBox="1"/>
            <p:nvPr>
              <p:custDataLst>
                <p:tags r:id="rId9"/>
              </p:custDataLst>
            </p:nvPr>
          </p:nvSpPr>
          <p:spPr>
            <a:xfrm>
              <a:off x="4838700" y="3632531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变量及运算符号</a:t>
              </a:r>
            </a:p>
          </p:txBody>
        </p:sp>
        <p:cxnSp>
          <p:nvCxnSpPr>
            <p:cNvPr id="20" name="直线连接符 19"/>
            <p:cNvCxnSpPr/>
            <p:nvPr>
              <p:custDataLst>
                <p:tags r:id="rId10"/>
              </p:custDataLst>
            </p:nvPr>
          </p:nvCxnSpPr>
          <p:spPr>
            <a:xfrm>
              <a:off x="3797406" y="4340556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>
            <p:custDataLst>
              <p:tags r:id="rId4"/>
            </p:custDataLst>
          </p:nvPr>
        </p:nvGrpSpPr>
        <p:grpSpPr>
          <a:xfrm>
            <a:off x="3797406" y="4953000"/>
            <a:ext cx="6334019" cy="749588"/>
            <a:chOff x="3797406" y="4704550"/>
            <a:chExt cx="6334019" cy="749588"/>
          </a:xfrm>
        </p:grpSpPr>
        <p:sp>
          <p:nvSpPr>
            <p:cNvPr id="21" name="文本框 20"/>
            <p:cNvSpPr txBox="1"/>
            <p:nvPr>
              <p:custDataLst>
                <p:tags r:id="rId5"/>
              </p:custDataLst>
            </p:nvPr>
          </p:nvSpPr>
          <p:spPr>
            <a:xfrm>
              <a:off x="3797406" y="4838585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1.4</a:t>
              </a:r>
            </a:p>
          </p:txBody>
        </p:sp>
        <p:sp>
          <p:nvSpPr>
            <p:cNvPr id="22" name="文本占位符 27"/>
            <p:cNvSpPr txBox="1"/>
            <p:nvPr>
              <p:custDataLst>
                <p:tags r:id="rId6"/>
              </p:custDataLst>
            </p:nvPr>
          </p:nvSpPr>
          <p:spPr>
            <a:xfrm>
              <a:off x="4838700" y="4704550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语言基础编程语法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线连接符 22"/>
            <p:cNvCxnSpPr/>
            <p:nvPr>
              <p:custDataLst>
                <p:tags r:id="rId7"/>
              </p:custDataLst>
            </p:nvPr>
          </p:nvCxnSpPr>
          <p:spPr>
            <a:xfrm>
              <a:off x="3797406" y="5412575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FF858-B5FF-47B2-93F5-221950870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1.1 R</a:t>
            </a:r>
            <a:r>
              <a:rPr lang="zh-CN" altLang="en-US" sz="3600" dirty="0"/>
              <a:t>语言简介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0F5DE-A5A6-6A3C-A949-3BDC078F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3369F9-03CD-4B48-86A9-9EE39A82955A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23B3E4-AEA4-B8DE-7A9E-348A5DD9C940}"/>
              </a:ext>
            </a:extLst>
          </p:cNvPr>
          <p:cNvSpPr txBox="1"/>
          <p:nvPr/>
        </p:nvSpPr>
        <p:spPr>
          <a:xfrm>
            <a:off x="1175846" y="2257995"/>
            <a:ext cx="4326826" cy="274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1.1.1 R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软件安装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1.1.2 R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辅助编程软件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1.1.3 R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函数包安装</a:t>
            </a:r>
          </a:p>
        </p:txBody>
      </p:sp>
    </p:spTree>
    <p:extLst>
      <p:ext uri="{BB962C8B-B14F-4D97-AF65-F5344CB8AC3E}">
        <p14:creationId xmlns:p14="http://schemas.microsoft.com/office/powerpoint/2010/main" val="2534528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语言简介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B3369F9-03CD-4B48-86A9-9EE39A82955A}" type="slidenum">
              <a:rPr lang="zh-CN" altLang="en-US" smtClean="0">
                <a:solidFill>
                  <a:schemeClr val="bg2">
                    <a:lumMod val="75000"/>
                  </a:schemeClr>
                </a:solidFill>
              </a:rPr>
              <a:t>4</a:t>
            </a:fld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0C5716-5C02-C378-2DF5-E7AD22380440}"/>
              </a:ext>
            </a:extLst>
          </p:cNvPr>
          <p:cNvSpPr/>
          <p:nvPr/>
        </p:nvSpPr>
        <p:spPr>
          <a:xfrm>
            <a:off x="-146050" y="1210142"/>
            <a:ext cx="4152900" cy="509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是当前最流行的</a:t>
            </a:r>
            <a:r>
              <a:rPr lang="zh-CN" altLang="en-US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统计计算、数据分析和图形可视化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的数据科学编程语言之一</a:t>
            </a:r>
            <a:endParaRPr lang="en-US" altLang="zh-CN" dirty="0">
              <a:latin typeface="+mj-lt"/>
              <a:ea typeface="微软雅黑" panose="020B0503020204020204" pitchFamily="34" charset="-122"/>
              <a:sym typeface="Consolas" panose="020B0609020204030204" pitchFamily="49" charset="0"/>
            </a:endParaRPr>
          </a:p>
          <a:p>
            <a: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最早起源于贝尔实验室开发的统计语言</a:t>
            </a:r>
            <a:r>
              <a:rPr lang="en-US" altLang="zh-CN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S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，之后由</a:t>
            </a:r>
            <a:r>
              <a:rPr lang="en-US" altLang="zh-CN" dirty="0" err="1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StaSci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公司延申为</a:t>
            </a:r>
            <a:r>
              <a:rPr lang="en-US" altLang="zh-CN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S+</a:t>
            </a:r>
          </a:p>
          <a:p>
            <a: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1993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年，新西兰奥克兰大学的统计学家罗斯</a:t>
            </a:r>
            <a:r>
              <a:rPr lang="en-US" altLang="zh-CN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·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伊哈卡</a:t>
            </a:r>
            <a:r>
              <a:rPr lang="en-US" altLang="zh-CN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(Ross Ihaka)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和罗伯特</a:t>
            </a:r>
            <a:r>
              <a:rPr lang="en-US" altLang="zh-CN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·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杰特曼</a:t>
            </a:r>
            <a:r>
              <a:rPr lang="en-US" altLang="zh-CN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(Robert Gentleman)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正式在</a:t>
            </a:r>
            <a:r>
              <a:rPr lang="en-US" altLang="zh-CN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S+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语言基础上研发了</a:t>
            </a:r>
            <a:r>
              <a:rPr lang="en-US" altLang="zh-CN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软件</a:t>
            </a:r>
            <a:endParaRPr lang="en-US" altLang="zh-CN" dirty="0">
              <a:latin typeface="+mj-lt"/>
              <a:ea typeface="微软雅黑" panose="020B0503020204020204" pitchFamily="34" charset="-122"/>
              <a:sym typeface="Consolas" panose="020B0609020204030204" pitchFamily="49" charset="0"/>
            </a:endParaRPr>
          </a:p>
          <a:p>
            <a: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核心开发团队成立，建立综合</a:t>
            </a:r>
            <a:r>
              <a:rPr lang="en-US" altLang="zh-CN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档案网络</a:t>
            </a:r>
            <a:r>
              <a:rPr lang="en-US" altLang="zh-CN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CRAN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，</a:t>
            </a:r>
            <a:r>
              <a:rPr lang="en-US" altLang="zh-CN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语言社区不断扩大，</a:t>
            </a:r>
            <a:r>
              <a:rPr lang="en-US" altLang="zh-CN" b="1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j-lt"/>
                <a:ea typeface="微软雅黑" panose="020B0503020204020204" pitchFamily="34" charset="-122"/>
                <a:sym typeface="Consolas" panose="020B0609020204030204" pitchFamily="49" charset="0"/>
              </a:rPr>
              <a:t>语言逐步流行</a:t>
            </a:r>
            <a:endParaRPr lang="en-US" altLang="zh-CN" dirty="0">
              <a:latin typeface="+mj-lt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B09BF4-9A44-0037-748F-E4112CDCB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50" y="1333500"/>
            <a:ext cx="4870450" cy="39230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14D0BAF-A36B-A2B2-3434-82D0C1934BEF}"/>
              </a:ext>
            </a:extLst>
          </p:cNvPr>
          <p:cNvSpPr txBox="1"/>
          <p:nvPr/>
        </p:nvSpPr>
        <p:spPr>
          <a:xfrm>
            <a:off x="4498975" y="5256530"/>
            <a:ext cx="4038600" cy="662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algn="ctr">
              <a:lnSpc>
                <a:spcPct val="140000"/>
              </a:lnSpc>
            </a:pPr>
            <a:r>
              <a:rPr lang="en-US" altLang="zh-CN" sz="1400" dirty="0">
                <a:latin typeface="+mj-ea"/>
                <a:ea typeface="+mj-ea"/>
              </a:rPr>
              <a:t>2024</a:t>
            </a:r>
            <a:r>
              <a:rPr lang="zh-CN" altLang="zh-CN" sz="1400" dirty="0">
                <a:latin typeface="+mj-ea"/>
                <a:ea typeface="+mj-ea"/>
              </a:rPr>
              <a:t>年世界上最流行的编程语言排行榜：</a:t>
            </a:r>
            <a:r>
              <a:rPr lang="en-US" altLang="zh-CN" sz="1400" dirty="0">
                <a:latin typeface="+mj-ea"/>
                <a:ea typeface="+mj-ea"/>
              </a:rPr>
              <a:t>TIOB</a:t>
            </a:r>
            <a:r>
              <a:rPr lang="zh-CN" altLang="zh-CN" sz="1400" dirty="0">
                <a:latin typeface="+mj-ea"/>
                <a:ea typeface="+mj-ea"/>
              </a:rPr>
              <a:t>指数（左）和</a:t>
            </a:r>
            <a:r>
              <a:rPr lang="en-US" altLang="zh-CN" sz="1400" dirty="0">
                <a:latin typeface="+mj-ea"/>
                <a:ea typeface="+mj-ea"/>
              </a:rPr>
              <a:t>PYPL</a:t>
            </a:r>
            <a:r>
              <a:rPr lang="zh-CN" altLang="zh-CN" sz="1400" dirty="0">
                <a:latin typeface="+mj-ea"/>
                <a:ea typeface="+mj-ea"/>
              </a:rPr>
              <a:t>指数（右）</a:t>
            </a:r>
            <a:endParaRPr lang="zh-CN" alt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1.1.1 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软件安装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3369F9-03CD-4B48-86A9-9EE39A82955A}" type="slidenum">
              <a:rPr lang="zh-CN" altLang="en-US" smtClean="0">
                <a:solidFill>
                  <a:schemeClr val="bg2">
                    <a:lumMod val="75000"/>
                  </a:schemeClr>
                </a:solidFill>
              </a:rPr>
              <a:t>5</a:t>
            </a:fld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559973-0017-4D13-E75F-737DB5EEECB8}"/>
              </a:ext>
            </a:extLst>
          </p:cNvPr>
          <p:cNvSpPr txBox="1"/>
          <p:nvPr/>
        </p:nvSpPr>
        <p:spPr>
          <a:xfrm>
            <a:off x="795700" y="1524000"/>
            <a:ext cx="4202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lt"/>
                <a:ea typeface="+mn-ea"/>
              </a:rPr>
              <a:t>R</a:t>
            </a:r>
            <a:r>
              <a:rPr lang="zh-CN" altLang="en-US" dirty="0">
                <a:latin typeface="+mn-lt"/>
                <a:ea typeface="+mn-ea"/>
              </a:rPr>
              <a:t>软件下载网址：</a:t>
            </a:r>
            <a:r>
              <a:rPr lang="en-US" altLang="zh-CN" sz="1800" u="sng" dirty="0">
                <a:solidFill>
                  <a:srgbClr val="0563C1"/>
                </a:solidFill>
                <a:effectLst/>
                <a:latin typeface="+mn-lt"/>
                <a:ea typeface="+mn-ea"/>
                <a:hlinkClick r:id="rId2"/>
              </a:rPr>
              <a:t>https://cran.r-project.org</a:t>
            </a:r>
            <a:endParaRPr lang="zh-CN" altLang="en-US" dirty="0">
              <a:latin typeface="+mn-lt"/>
              <a:ea typeface="+mn-ea"/>
            </a:endParaRPr>
          </a:p>
        </p:txBody>
      </p:sp>
      <p:pic>
        <p:nvPicPr>
          <p:cNvPr id="3" name="图片 2" descr="5-1">
            <a:extLst>
              <a:ext uri="{FF2B5EF4-FFF2-40B4-BE49-F238E27FC236}">
                <a16:creationId xmlns:a16="http://schemas.microsoft.com/office/drawing/2014/main" id="{F202E192-DFA4-DC07-A6D9-98E38B6E6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225" y="2171700"/>
            <a:ext cx="6665550" cy="35240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1.1.1 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软件安装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369F9-03CD-4B48-86A9-9EE39A82955A}" type="slidenum">
              <a:rPr lang="zh-CN" altLang="en-US">
                <a:solidFill>
                  <a:schemeClr val="bg2">
                    <a:lumMod val="75000"/>
                  </a:schemeClr>
                </a:solidFill>
              </a:rPr>
              <a:t>6</a:t>
            </a:fld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" name="图片 1" descr="5-3">
            <a:extLst>
              <a:ext uri="{FF2B5EF4-FFF2-40B4-BE49-F238E27FC236}">
                <a16:creationId xmlns:a16="http://schemas.microsoft.com/office/drawing/2014/main" id="{D99D419D-CFC2-7934-9E0A-C28DCB0E3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85900"/>
            <a:ext cx="5596890" cy="39839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6A3E972-B048-C04E-A2C0-FB463C957EA6}"/>
              </a:ext>
            </a:extLst>
          </p:cNvPr>
          <p:cNvSpPr txBox="1"/>
          <p:nvPr/>
        </p:nvSpPr>
        <p:spPr>
          <a:xfrm>
            <a:off x="3710225" y="5664124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n-lt"/>
                <a:ea typeface="+mn-ea"/>
              </a:rPr>
              <a:t>R</a:t>
            </a:r>
            <a:r>
              <a:rPr lang="zh-CN" altLang="en-US" dirty="0">
                <a:latin typeface="+mn-lt"/>
                <a:ea typeface="+mn-ea"/>
              </a:rPr>
              <a:t>软件启动界面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9"/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1.1.2 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辅助编程软件</a:t>
            </a: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369F9-03CD-4B48-86A9-9EE39A82955A}" type="slidenum">
              <a:rPr lang="zh-CN" altLang="en-US">
                <a:solidFill>
                  <a:schemeClr val="bg2">
                    <a:lumMod val="75000"/>
                  </a:schemeClr>
                </a:solidFill>
              </a:rPr>
              <a:t>7</a:t>
            </a:fld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9EDDFA-7A13-1137-C4E6-D7F5E4DA9085}"/>
              </a:ext>
            </a:extLst>
          </p:cNvPr>
          <p:cNvSpPr/>
          <p:nvPr/>
        </p:nvSpPr>
        <p:spPr>
          <a:xfrm>
            <a:off x="419100" y="1085539"/>
            <a:ext cx="50292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(1) </a:t>
            </a: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RStudio</a:t>
            </a:r>
            <a:r>
              <a:rPr lang="zh-CN" altLang="en-US" sz="2400" dirty="0">
                <a:latin typeface="+mn-ea"/>
                <a:ea typeface="+mn-ea"/>
                <a:cs typeface="+mn-ea"/>
                <a:sym typeface="Consolas" panose="020B0609020204030204" pitchFamily="49" charset="0"/>
              </a:rPr>
              <a:t>（推荐初学者使用）</a:t>
            </a:r>
            <a:endParaRPr lang="en-US" altLang="zh-CN" sz="2400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ADED2C-4E53-8531-BB06-CFA0AFF232A0}"/>
              </a:ext>
            </a:extLst>
          </p:cNvPr>
          <p:cNvSpPr/>
          <p:nvPr/>
        </p:nvSpPr>
        <p:spPr>
          <a:xfrm>
            <a:off x="38100" y="1534661"/>
            <a:ext cx="8877300" cy="1213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b="1" dirty="0">
                <a:latin typeface="+mn-lt"/>
                <a:ea typeface="+mn-ea"/>
                <a:sym typeface="Consolas" panose="020B0609020204030204" pitchFamily="49" charset="0"/>
              </a:rPr>
              <a:t>RStudio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提供智能代码编辑器、项目管理、调试工具和数据查看器等功能，极大地提升了</a:t>
            </a:r>
            <a:r>
              <a:rPr lang="en-US" altLang="zh-CN" b="1" dirty="0">
                <a:latin typeface="+mn-lt"/>
                <a:ea typeface="+mn-ea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代码编写和管理的效率</a:t>
            </a:r>
            <a:endParaRPr lang="en-US" altLang="zh-CN" dirty="0">
              <a:latin typeface="+mn-lt"/>
              <a:ea typeface="+mn-ea"/>
              <a:sym typeface="Consolas" panose="020B0609020204030204" pitchFamily="49" charset="0"/>
            </a:endParaRPr>
          </a:p>
          <a:p>
            <a: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官网网址：</a:t>
            </a:r>
            <a:r>
              <a:rPr lang="en-US" altLang="zh-C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2"/>
              </a:rPr>
              <a:t>https://www.rstudio.com</a:t>
            </a:r>
            <a:endParaRPr lang="en-US" altLang="zh-CN" dirty="0">
              <a:latin typeface="+mn-lt"/>
              <a:ea typeface="+mn-ea"/>
              <a:sym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1841B8-E339-C2B8-BC3E-54B0125A1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71700" y="2743200"/>
            <a:ext cx="4525645" cy="3771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4436B14-4157-8E03-D028-7327B755C4C3}"/>
              </a:ext>
            </a:extLst>
          </p:cNvPr>
          <p:cNvSpPr txBox="1"/>
          <p:nvPr/>
        </p:nvSpPr>
        <p:spPr>
          <a:xfrm>
            <a:off x="3826443" y="6515100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effectLst/>
                <a:latin typeface="+mj-lt"/>
                <a:ea typeface="+mn-ea"/>
              </a:rPr>
              <a:t>RStudio</a:t>
            </a:r>
            <a:r>
              <a:rPr lang="zh-CN" altLang="zh-CN" sz="1400" dirty="0">
                <a:effectLst/>
                <a:latin typeface="+mj-lt"/>
                <a:ea typeface="+mn-ea"/>
              </a:rPr>
              <a:t>软件界面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585475-CC41-11A9-52AA-D36626FF6BBA}"/>
              </a:ext>
            </a:extLst>
          </p:cNvPr>
          <p:cNvSpPr/>
          <p:nvPr/>
        </p:nvSpPr>
        <p:spPr>
          <a:xfrm>
            <a:off x="419100" y="3238500"/>
            <a:ext cx="1143000" cy="4953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</a:rPr>
              <a:t>代码编辑器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3C2974-C181-A71A-5059-622ABC37BC7D}"/>
              </a:ext>
            </a:extLst>
          </p:cNvPr>
          <p:cNvSpPr/>
          <p:nvPr/>
        </p:nvSpPr>
        <p:spPr>
          <a:xfrm>
            <a:off x="419100" y="5277161"/>
            <a:ext cx="952500" cy="4953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1"/>
                </a:solidFill>
              </a:rPr>
              <a:t>R</a:t>
            </a:r>
            <a:r>
              <a:rPr lang="zh-CN" altLang="en-US" sz="1400" dirty="0">
                <a:solidFill>
                  <a:schemeClr val="tx1"/>
                </a:solidFill>
              </a:rPr>
              <a:t>控制台程序入口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42121A-EFA0-FB4E-63F1-32229A363C90}"/>
              </a:ext>
            </a:extLst>
          </p:cNvPr>
          <p:cNvSpPr/>
          <p:nvPr/>
        </p:nvSpPr>
        <p:spPr>
          <a:xfrm>
            <a:off x="7162800" y="3181350"/>
            <a:ext cx="1257300" cy="4953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</a:rPr>
              <a:t>工作空间和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历史命令信息</a:t>
            </a:r>
          </a:p>
        </p:txBody>
      </p:sp>
      <p:sp>
        <p:nvSpPr>
          <p:cNvPr id="16" name="标注: 弯曲线形 15">
            <a:extLst>
              <a:ext uri="{FF2B5EF4-FFF2-40B4-BE49-F238E27FC236}">
                <a16:creationId xmlns:a16="http://schemas.microsoft.com/office/drawing/2014/main" id="{28E83315-731A-604A-16B0-D3DD2DC19ACB}"/>
              </a:ext>
            </a:extLst>
          </p:cNvPr>
          <p:cNvSpPr/>
          <p:nvPr/>
        </p:nvSpPr>
        <p:spPr>
          <a:xfrm>
            <a:off x="7162800" y="3181350"/>
            <a:ext cx="1257300" cy="495300"/>
          </a:xfrm>
          <a:prstGeom prst="borderCallout2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注: 弯曲线形 16">
            <a:extLst>
              <a:ext uri="{FF2B5EF4-FFF2-40B4-BE49-F238E27FC236}">
                <a16:creationId xmlns:a16="http://schemas.microsoft.com/office/drawing/2014/main" id="{0EC89E83-CA05-E55C-4499-DB3239A00EF5}"/>
              </a:ext>
            </a:extLst>
          </p:cNvPr>
          <p:cNvSpPr/>
          <p:nvPr/>
        </p:nvSpPr>
        <p:spPr>
          <a:xfrm>
            <a:off x="7162800" y="5029511"/>
            <a:ext cx="1257300" cy="990600"/>
          </a:xfrm>
          <a:prstGeom prst="borderCallout2">
            <a:avLst>
              <a:gd name="adj1" fmla="val 86058"/>
              <a:gd name="adj2" fmla="val -12626"/>
              <a:gd name="adj3" fmla="val 86058"/>
              <a:gd name="adj4" fmla="val -22980"/>
              <a:gd name="adj5" fmla="val 20192"/>
              <a:gd name="adj6" fmla="val -88586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F70FB30-2DDB-CDF2-A5F3-78CC4E68DF14}"/>
              </a:ext>
            </a:extLst>
          </p:cNvPr>
          <p:cNvSpPr txBox="1"/>
          <p:nvPr/>
        </p:nvSpPr>
        <p:spPr>
          <a:xfrm>
            <a:off x="7158216" y="5042211"/>
            <a:ext cx="12618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+mn-lt"/>
                <a:ea typeface="+mn-ea"/>
              </a:rPr>
              <a:t>文件管理、</a:t>
            </a:r>
            <a:endParaRPr lang="en-US" altLang="zh-CN" sz="1400" dirty="0">
              <a:latin typeface="+mn-lt"/>
              <a:ea typeface="+mn-ea"/>
            </a:endParaRPr>
          </a:p>
          <a:p>
            <a:r>
              <a:rPr lang="zh-CN" altLang="en-US" sz="1400" dirty="0">
                <a:latin typeface="+mn-lt"/>
                <a:ea typeface="+mn-ea"/>
              </a:rPr>
              <a:t>可视化窗口、</a:t>
            </a:r>
            <a:endParaRPr lang="en-US" altLang="zh-CN" sz="1400" dirty="0">
              <a:latin typeface="+mn-lt"/>
              <a:ea typeface="+mn-ea"/>
            </a:endParaRPr>
          </a:p>
          <a:p>
            <a:r>
              <a:rPr lang="zh-CN" altLang="en-US" sz="1400" dirty="0">
                <a:latin typeface="+mn-lt"/>
                <a:ea typeface="+mn-ea"/>
              </a:rPr>
              <a:t>函数包管理和</a:t>
            </a:r>
            <a:endParaRPr lang="en-US" altLang="zh-CN" sz="1400" dirty="0">
              <a:latin typeface="+mn-lt"/>
              <a:ea typeface="+mn-ea"/>
            </a:endParaRPr>
          </a:p>
          <a:p>
            <a:r>
              <a:rPr lang="zh-CN" altLang="en-US" sz="1400" dirty="0">
                <a:latin typeface="+mn-lt"/>
                <a:ea typeface="+mn-ea"/>
              </a:rPr>
              <a:t>帮助文档管理</a:t>
            </a:r>
          </a:p>
        </p:txBody>
      </p:sp>
      <p:sp>
        <p:nvSpPr>
          <p:cNvPr id="19" name="标注: 弯曲线形 18">
            <a:extLst>
              <a:ext uri="{FF2B5EF4-FFF2-40B4-BE49-F238E27FC236}">
                <a16:creationId xmlns:a16="http://schemas.microsoft.com/office/drawing/2014/main" id="{AB7B7FDD-9458-1AAC-EE3F-A9F2C5C06254}"/>
              </a:ext>
            </a:extLst>
          </p:cNvPr>
          <p:cNvSpPr/>
          <p:nvPr/>
        </p:nvSpPr>
        <p:spPr>
          <a:xfrm>
            <a:off x="419100" y="5277161"/>
            <a:ext cx="952500" cy="495300"/>
          </a:xfrm>
          <a:prstGeom prst="borderCallout2">
            <a:avLst>
              <a:gd name="adj1" fmla="val 76870"/>
              <a:gd name="adj2" fmla="val 113445"/>
              <a:gd name="adj3" fmla="val 76870"/>
              <a:gd name="adj4" fmla="val 127778"/>
              <a:gd name="adj5" fmla="val -9722"/>
              <a:gd name="adj6" fmla="val 212444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注: 弯曲线形 19">
            <a:extLst>
              <a:ext uri="{FF2B5EF4-FFF2-40B4-BE49-F238E27FC236}">
                <a16:creationId xmlns:a16="http://schemas.microsoft.com/office/drawing/2014/main" id="{FF33947C-3898-BED4-7F1F-5635465DCF87}"/>
              </a:ext>
            </a:extLst>
          </p:cNvPr>
          <p:cNvSpPr/>
          <p:nvPr/>
        </p:nvSpPr>
        <p:spPr>
          <a:xfrm>
            <a:off x="419100" y="3238500"/>
            <a:ext cx="1143000" cy="495300"/>
          </a:xfrm>
          <a:prstGeom prst="borderCallout2">
            <a:avLst>
              <a:gd name="adj1" fmla="val 18964"/>
              <a:gd name="adj2" fmla="val 115186"/>
              <a:gd name="adj3" fmla="val 18750"/>
              <a:gd name="adj4" fmla="val 130000"/>
              <a:gd name="adj5" fmla="val 139851"/>
              <a:gd name="adj6" fmla="val 174814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8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8" name="标题 9"/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1.1.2 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辅助编程软件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D58CB4-B473-99EF-1CA2-F1F301D3A6DE}"/>
              </a:ext>
            </a:extLst>
          </p:cNvPr>
          <p:cNvSpPr/>
          <p:nvPr/>
        </p:nvSpPr>
        <p:spPr>
          <a:xfrm>
            <a:off x="419100" y="1085539"/>
            <a:ext cx="2491451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(2) </a:t>
            </a:r>
            <a:r>
              <a:rPr lang="en-US" altLang="zh-CN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Tinn-R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编辑器</a:t>
            </a:r>
            <a:endParaRPr lang="en-US" altLang="zh-CN" sz="2400" b="1" dirty="0">
              <a:latin typeface="+mn-lt"/>
              <a:ea typeface="+mj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7B367C-0A55-EBCC-176A-E68204D3104E}"/>
              </a:ext>
            </a:extLst>
          </p:cNvPr>
          <p:cNvSpPr/>
          <p:nvPr/>
        </p:nvSpPr>
        <p:spPr>
          <a:xfrm>
            <a:off x="38100" y="1534661"/>
            <a:ext cx="8877300" cy="1213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b="1" dirty="0">
                <a:latin typeface="+mn-lt"/>
                <a:ea typeface="+mn-ea"/>
                <a:sym typeface="Consolas" panose="020B0609020204030204" pitchFamily="49" charset="0"/>
              </a:rPr>
              <a:t>Tinn-R</a:t>
            </a:r>
            <a:r>
              <a:rPr lang="zh-CN" altLang="en-US" b="1" dirty="0">
                <a:latin typeface="+mn-lt"/>
                <a:ea typeface="+mn-ea"/>
                <a:sym typeface="Consolas" panose="020B0609020204030204" pitchFamily="49" charset="0"/>
              </a:rPr>
              <a:t>编辑器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是一款开源、免费、纯粹的</a:t>
            </a:r>
            <a:r>
              <a:rPr lang="en-US" altLang="zh-CN" b="1" dirty="0">
                <a:latin typeface="+mn-lt"/>
                <a:ea typeface="+mn-ea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代码编辑器，提供便捷、标准的</a:t>
            </a:r>
            <a:r>
              <a:rPr lang="en-US" altLang="zh-CN" b="1" dirty="0">
                <a:latin typeface="+mn-lt"/>
                <a:ea typeface="+mn-ea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语言代码编辑功能</a:t>
            </a:r>
            <a:endParaRPr lang="en-US" altLang="zh-CN" dirty="0">
              <a:latin typeface="+mn-lt"/>
              <a:ea typeface="+mn-ea"/>
              <a:sym typeface="Consolas" panose="020B0609020204030204" pitchFamily="49" charset="0"/>
            </a:endParaRPr>
          </a:p>
          <a:p>
            <a: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安装网址：</a:t>
            </a:r>
            <a:r>
              <a:rPr lang="en-US" altLang="zh-C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2"/>
              </a:rPr>
              <a:t> https://sourceforge.net/projects/tinn-r/</a:t>
            </a:r>
            <a:endParaRPr lang="en-US" altLang="zh-CN" dirty="0">
              <a:latin typeface="+mn-lt"/>
              <a:ea typeface="+mn-ea"/>
              <a:sym typeface="Consolas" panose="020B0609020204030204" pitchFamily="49" charset="0"/>
            </a:endParaRPr>
          </a:p>
        </p:txBody>
      </p:sp>
      <p:pic>
        <p:nvPicPr>
          <p:cNvPr id="6" name="图片 5" descr="5-5">
            <a:extLst>
              <a:ext uri="{FF2B5EF4-FFF2-40B4-BE49-F238E27FC236}">
                <a16:creationId xmlns:a16="http://schemas.microsoft.com/office/drawing/2014/main" id="{591BD2DF-3F3C-3554-5AC4-B51B13EE8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251" y="2895600"/>
            <a:ext cx="5761383" cy="2819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E642AFA-B72F-A100-DCF3-E6FFB59CC32C}"/>
              </a:ext>
            </a:extLst>
          </p:cNvPr>
          <p:cNvSpPr/>
          <p:nvPr/>
        </p:nvSpPr>
        <p:spPr>
          <a:xfrm>
            <a:off x="29499" y="2743200"/>
            <a:ext cx="2866101" cy="3387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45720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通过红框处的</a:t>
            </a:r>
            <a:r>
              <a:rPr lang="en-US" altLang="zh-CN" dirty="0">
                <a:latin typeface="+mn-lt"/>
                <a:ea typeface="+mn-ea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图标和控制台图标，可直接启动对应的</a:t>
            </a:r>
            <a:r>
              <a:rPr lang="en-US" altLang="zh-CN" dirty="0" err="1">
                <a:latin typeface="+mn-lt"/>
                <a:ea typeface="+mn-ea"/>
                <a:sym typeface="Consolas" panose="020B0609020204030204" pitchFamily="49" charset="0"/>
              </a:rPr>
              <a:t>Rgui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程序和</a:t>
            </a:r>
            <a:r>
              <a:rPr lang="en-US" altLang="zh-CN" dirty="0" err="1">
                <a:latin typeface="+mn-lt"/>
                <a:ea typeface="+mn-ea"/>
                <a:sym typeface="Consolas" panose="020B0609020204030204" pitchFamily="49" charset="0"/>
              </a:rPr>
              <a:t>Rterm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控制台，之后通过工具栏中的代码传递工具实现</a:t>
            </a:r>
            <a:r>
              <a:rPr lang="en-US" altLang="zh-CN" dirty="0">
                <a:latin typeface="+mn-lt"/>
                <a:ea typeface="+mn-ea"/>
                <a:sym typeface="Consolas" panose="020B0609020204030204" pitchFamily="49" charset="0"/>
              </a:rPr>
              <a:t>Tinn-R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与</a:t>
            </a:r>
            <a:r>
              <a:rPr lang="en-US" altLang="zh-CN" dirty="0" err="1">
                <a:latin typeface="+mn-lt"/>
                <a:ea typeface="+mn-ea"/>
                <a:sym typeface="Consolas" panose="020B0609020204030204" pitchFamily="49" charset="0"/>
              </a:rPr>
              <a:t>Rgui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或</a:t>
            </a:r>
            <a:r>
              <a:rPr lang="en-US" altLang="zh-CN" dirty="0" err="1">
                <a:latin typeface="+mn-lt"/>
                <a:ea typeface="+mn-ea"/>
                <a:sym typeface="Consolas" panose="020B0609020204030204" pitchFamily="49" charset="0"/>
              </a:rPr>
              <a:t>Rterm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之间的代码传递，即可直接在</a:t>
            </a:r>
            <a:r>
              <a:rPr lang="en-US" altLang="zh-CN" dirty="0">
                <a:latin typeface="+mn-lt"/>
                <a:ea typeface="+mn-ea"/>
                <a:sym typeface="Consolas" panose="020B0609020204030204" pitchFamily="49" charset="0"/>
              </a:rPr>
              <a:t>R</a:t>
            </a:r>
            <a:r>
              <a:rPr lang="zh-CN" altLang="en-US" dirty="0">
                <a:latin typeface="+mn-lt"/>
                <a:ea typeface="+mn-ea"/>
                <a:sym typeface="Consolas" panose="020B0609020204030204" pitchFamily="49" charset="0"/>
              </a:rPr>
              <a:t>控制台中执行编辑器中的对应代码。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9</a:t>
            </a:fld>
            <a:endParaRPr lang="zh-CN" altLang="en-US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2" name="标题 9"/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1.1.2 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辅助编程软件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07576C-AB5B-2D16-D6EC-5CDEF00093AE}"/>
              </a:ext>
            </a:extLst>
          </p:cNvPr>
          <p:cNvSpPr/>
          <p:nvPr/>
        </p:nvSpPr>
        <p:spPr>
          <a:xfrm>
            <a:off x="419100" y="1085539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(3) </a:t>
            </a:r>
            <a:r>
              <a:rPr lang="en-US" altLang="zh-CN" sz="2400" b="1" dirty="0" err="1">
                <a:latin typeface="+mn-lt"/>
                <a:ea typeface="+mj-ea"/>
                <a:cs typeface="+mn-ea"/>
                <a:sym typeface="Consolas" panose="020B0609020204030204" pitchFamily="49" charset="0"/>
              </a:rPr>
              <a:t>VScode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、</a:t>
            </a:r>
            <a:r>
              <a:rPr lang="en-US" altLang="zh-CN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Sublime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、</a:t>
            </a:r>
            <a:r>
              <a:rPr lang="en-US" altLang="zh-CN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Notepad++</a:t>
            </a:r>
            <a:r>
              <a:rPr lang="zh-CN" altLang="en-US" sz="2400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等其它多种编辑器</a:t>
            </a:r>
            <a:endParaRPr lang="en-US" altLang="zh-CN" sz="2400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7ADBDE-AF0D-B7DB-B371-3AF8A6E9F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1" y="1668718"/>
            <a:ext cx="2966166" cy="2224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0068537-CD38-9B9F-C279-08754425F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50" y="1623316"/>
            <a:ext cx="3225924" cy="22700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6C9DFB-E9EB-9A44-5E5D-5EAFA3AC3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4080583"/>
            <a:ext cx="2966166" cy="22173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E21AD8-ACCB-33B8-7D12-C9B72DD18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650" y="4067883"/>
            <a:ext cx="3225924" cy="22090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10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1" name="标题 9"/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1.1.3 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函数包安装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DEB85-5B05-4C3A-A933-3BC313980106}"/>
              </a:ext>
            </a:extLst>
          </p:cNvPr>
          <p:cNvSpPr/>
          <p:nvPr/>
        </p:nvSpPr>
        <p:spPr>
          <a:xfrm>
            <a:off x="419100" y="1763582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(1)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通过命令行安装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E06097-A776-0E46-C433-A755E714D377}"/>
              </a:ext>
            </a:extLst>
          </p:cNvPr>
          <p:cNvSpPr txBox="1"/>
          <p:nvPr/>
        </p:nvSpPr>
        <p:spPr>
          <a:xfrm>
            <a:off x="801688" y="2514600"/>
            <a:ext cx="7540624" cy="27647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zh-CN" b="0" dirty="0"/>
              <a:t>通过函数</a:t>
            </a:r>
            <a:r>
              <a:rPr lang="en-US" altLang="zh-CN" i="1" dirty="0" err="1"/>
              <a:t>install.packages</a:t>
            </a:r>
            <a:r>
              <a:rPr lang="zh-CN" altLang="zh-CN" b="0" dirty="0"/>
              <a:t>直接安装对应函数包，如通过以下命令安装</a:t>
            </a:r>
            <a:r>
              <a:rPr lang="en-US" altLang="zh-CN" b="0" dirty="0" err="1"/>
              <a:t>GWmodel</a:t>
            </a:r>
            <a:r>
              <a:rPr lang="zh-CN" altLang="zh-CN" b="0" dirty="0"/>
              <a:t>函数包：</a:t>
            </a:r>
            <a:endParaRPr lang="en-US" altLang="zh-CN" b="0" dirty="0"/>
          </a:p>
          <a:p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尤其在</a:t>
            </a:r>
            <a:r>
              <a:rPr lang="en-US" altLang="zh-CN" b="0" dirty="0"/>
              <a:t>MacOS</a:t>
            </a:r>
            <a:r>
              <a:rPr lang="zh-CN" altLang="en-US" b="0" dirty="0"/>
              <a:t>和</a:t>
            </a:r>
            <a:r>
              <a:rPr lang="en-US" altLang="zh-CN" b="0" dirty="0"/>
              <a:t>Linux</a:t>
            </a:r>
            <a:r>
              <a:rPr lang="zh-CN" altLang="en-US" b="0" dirty="0"/>
              <a:t>系统中，一般可直接通过命令进行对应函数包的安装。这种安装方式较为简单和直接，但如果函数包名称有误，就会出现错误，导致安装不成功。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A77C07-C83D-5DC6-CE7D-6B3E66F6CFC9}"/>
              </a:ext>
            </a:extLst>
          </p:cNvPr>
          <p:cNvSpPr txBox="1"/>
          <p:nvPr/>
        </p:nvSpPr>
        <p:spPr>
          <a:xfrm>
            <a:off x="1524000" y="3429000"/>
            <a:ext cx="8694106" cy="3693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install.packages</a:t>
            </a:r>
            <a:r>
              <a:rPr lang="en-US" altLang="zh-C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GWmodel</a:t>
            </a:r>
            <a:r>
              <a:rPr lang="en-US" altLang="zh-CN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11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2" name="标题 9"/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函数包安装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8A1671-632F-DD85-6804-5240D05E0830}"/>
              </a:ext>
            </a:extLst>
          </p:cNvPr>
          <p:cNvSpPr/>
          <p:nvPr/>
        </p:nvSpPr>
        <p:spPr>
          <a:xfrm>
            <a:off x="419100" y="1283055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(2)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通过菜单栏工具安装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0918B7-ADEE-24C7-151B-3929854630DD}"/>
              </a:ext>
            </a:extLst>
          </p:cNvPr>
          <p:cNvSpPr txBox="1"/>
          <p:nvPr/>
        </p:nvSpPr>
        <p:spPr>
          <a:xfrm>
            <a:off x="339228" y="1866900"/>
            <a:ext cx="4232771" cy="43159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单击菜单栏“程序包”→“安装程序包”</a:t>
            </a:r>
            <a:endParaRPr lang="en-US" altLang="zh-CN" b="0" dirty="0"/>
          </a:p>
          <a:p>
            <a:r>
              <a:rPr lang="zh-CN" altLang="en-US" b="0" dirty="0"/>
              <a:t>第一次单击之后，会出现选择</a:t>
            </a:r>
            <a:r>
              <a:rPr lang="en-US" altLang="zh-CN" b="0" dirty="0"/>
              <a:t>CRAN</a:t>
            </a:r>
            <a:r>
              <a:rPr lang="zh-CN" altLang="en-US" b="0" dirty="0"/>
              <a:t>镜像的对话框，选择标示为</a:t>
            </a:r>
            <a:r>
              <a:rPr lang="en-US" altLang="zh-CN" b="0" dirty="0"/>
              <a:t>China</a:t>
            </a:r>
            <a:r>
              <a:rPr lang="zh-CN" altLang="en-US" b="0" dirty="0"/>
              <a:t>的镜像，在打开的当前</a:t>
            </a:r>
            <a:r>
              <a:rPr lang="en-US" altLang="zh-CN" b="0" dirty="0" err="1"/>
              <a:t>Rgui</a:t>
            </a:r>
            <a:r>
              <a:rPr lang="zh-CN" altLang="en-US" b="0" dirty="0"/>
              <a:t>中，只需选择一次镜像，后续不需重新选择</a:t>
            </a:r>
            <a:endParaRPr lang="en-US" altLang="zh-CN" b="0" dirty="0"/>
          </a:p>
          <a:p>
            <a:r>
              <a:rPr lang="zh-CN" altLang="en-US" b="0" dirty="0"/>
              <a:t>在当前版本的</a:t>
            </a:r>
            <a:r>
              <a:rPr lang="en-US" altLang="zh-CN" b="0" dirty="0"/>
              <a:t>R</a:t>
            </a:r>
            <a:r>
              <a:rPr lang="zh-CN" altLang="en-US" b="0" dirty="0"/>
              <a:t>可用的</a:t>
            </a:r>
            <a:r>
              <a:rPr lang="en-US" altLang="zh-CN" b="0" dirty="0"/>
              <a:t>CRAN</a:t>
            </a:r>
            <a:r>
              <a:rPr lang="zh-CN" altLang="en-US" b="0" dirty="0"/>
              <a:t>上的函数包列表中找到待安装的包，点击确定，该函数包及其关联函数包都会被自动安装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F55970-FC3C-40A3-33C9-60D5D3E02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07438" y="1451672"/>
            <a:ext cx="1828800" cy="37898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E94AC71-D174-3409-72E3-2D76A732B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06821" y="1451672"/>
            <a:ext cx="1697951" cy="37898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263FED7-2B28-1417-8777-D71BA6AF4ED7}"/>
              </a:ext>
            </a:extLst>
          </p:cNvPr>
          <p:cNvSpPr txBox="1"/>
          <p:nvPr/>
        </p:nvSpPr>
        <p:spPr>
          <a:xfrm>
            <a:off x="5027389" y="5325701"/>
            <a:ext cx="1588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effectLst/>
                <a:latin typeface="+mn-ea"/>
                <a:ea typeface="+mn-ea"/>
              </a:rPr>
              <a:t>CRAN</a:t>
            </a:r>
            <a:r>
              <a:rPr lang="zh-CN" altLang="zh-CN" sz="16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镜像选择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C9A9B1-21FE-83F0-F737-3F69193C57B6}"/>
              </a:ext>
            </a:extLst>
          </p:cNvPr>
          <p:cNvSpPr txBox="1"/>
          <p:nvPr/>
        </p:nvSpPr>
        <p:spPr>
          <a:xfrm>
            <a:off x="7357606" y="532570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n-ea"/>
                <a:ea typeface="+mn-ea"/>
              </a:rPr>
              <a:t>函数包列表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2736-FCF6-BFFD-A6F8-7FBF2D9A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B0B070-2947-9D61-5F46-B06139E8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12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2" name="标题 9">
            <a:extLst>
              <a:ext uri="{FF2B5EF4-FFF2-40B4-BE49-F238E27FC236}">
                <a16:creationId xmlns:a16="http://schemas.microsoft.com/office/drawing/2014/main" id="{77CAF9D7-00D5-EE27-F520-1BF284A39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函数包安装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3C8BDA-E8C6-FCCE-2531-AACC69623326}"/>
              </a:ext>
            </a:extLst>
          </p:cNvPr>
          <p:cNvSpPr/>
          <p:nvPr/>
        </p:nvSpPr>
        <p:spPr>
          <a:xfrm>
            <a:off x="419100" y="1102435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(3)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借助</a:t>
            </a:r>
            <a:r>
              <a:rPr lang="en-US" altLang="zh-CN" sz="2400" b="1" dirty="0" err="1">
                <a:latin typeface="+mn-lt"/>
                <a:ea typeface="+mj-ea"/>
                <a:cs typeface="+mn-ea"/>
                <a:sym typeface="Consolas" panose="020B0609020204030204" pitchFamily="49" charset="0"/>
              </a:rPr>
              <a:t>devtools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包中的函数安装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8A1908-7083-B12A-0706-DC3472E59318}"/>
              </a:ext>
            </a:extLst>
          </p:cNvPr>
          <p:cNvSpPr txBox="1"/>
          <p:nvPr/>
        </p:nvSpPr>
        <p:spPr>
          <a:xfrm>
            <a:off x="110628" y="1533178"/>
            <a:ext cx="8652372" cy="160133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针对</a:t>
            </a:r>
            <a:r>
              <a:rPr lang="en-US" altLang="zh-CN" b="0" dirty="0"/>
              <a:t>CRAN</a:t>
            </a:r>
            <a:r>
              <a:rPr lang="zh-CN" altLang="en-US" b="0" dirty="0"/>
              <a:t>中未收录的函数包，例如仅上传到</a:t>
            </a:r>
            <a:r>
              <a:rPr lang="en-US" altLang="zh-CN" b="0" dirty="0"/>
              <a:t>GitHub</a:t>
            </a:r>
            <a:r>
              <a:rPr lang="zh-CN" altLang="en-US" b="0" dirty="0"/>
              <a:t>上的函数包，需要借助</a:t>
            </a:r>
            <a:r>
              <a:rPr lang="en-US" altLang="zh-CN" dirty="0" err="1"/>
              <a:t>devtools</a:t>
            </a:r>
            <a:r>
              <a:rPr lang="zh-CN" altLang="en-US" b="0" dirty="0"/>
              <a:t>包中的函数进行安装，如</a:t>
            </a:r>
            <a:r>
              <a:rPr lang="en-US" altLang="zh-CN" i="1" dirty="0" err="1"/>
              <a:t>install_github</a:t>
            </a:r>
            <a:r>
              <a:rPr lang="zh-CN" altLang="en-US" b="0" dirty="0"/>
              <a:t>函数</a:t>
            </a:r>
            <a:endParaRPr lang="en-US" altLang="zh-CN" b="0" dirty="0"/>
          </a:p>
          <a:p>
            <a:r>
              <a:rPr lang="zh-CN" altLang="en-US" b="0" dirty="0"/>
              <a:t>该包同时也提供了大量开发工具，帮助开发者更轻松地创建、测试和发布</a:t>
            </a:r>
            <a:r>
              <a:rPr lang="en-US" altLang="zh-CN" b="0" dirty="0"/>
              <a:t>R</a:t>
            </a:r>
            <a:r>
              <a:rPr lang="zh-CN" altLang="en-US" b="0" dirty="0"/>
              <a:t>包</a:t>
            </a:r>
            <a:endParaRPr lang="en-US" altLang="zh-CN" b="0" dirty="0"/>
          </a:p>
          <a:p>
            <a:r>
              <a:rPr lang="zh-CN" altLang="en-US" b="0" dirty="0"/>
              <a:t>使用上述功能需要安装并加载</a:t>
            </a:r>
            <a:r>
              <a:rPr lang="en-US" altLang="zh-CN" dirty="0" err="1"/>
              <a:t>devtools</a:t>
            </a:r>
            <a:r>
              <a:rPr lang="zh-CN" altLang="en-US" b="0" dirty="0"/>
              <a:t>函数包，命令如下：</a:t>
            </a:r>
            <a:endParaRPr lang="en-US" altLang="zh-CN" b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1C69D-FEE3-912A-2328-E5DFE91538B1}"/>
              </a:ext>
            </a:extLst>
          </p:cNvPr>
          <p:cNvSpPr txBox="1"/>
          <p:nvPr/>
        </p:nvSpPr>
        <p:spPr>
          <a:xfrm>
            <a:off x="838200" y="3169954"/>
            <a:ext cx="8694106" cy="518091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install.packages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devtools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devtools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690381-9AF5-1CFA-0C9D-B7B518448E2D}"/>
              </a:ext>
            </a:extLst>
          </p:cNvPr>
          <p:cNvSpPr/>
          <p:nvPr/>
        </p:nvSpPr>
        <p:spPr>
          <a:xfrm>
            <a:off x="419100" y="3782332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(4)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通过压缩包文件安装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4C31B3-7EC7-0A17-53DC-1EA557C3A089}"/>
              </a:ext>
            </a:extLst>
          </p:cNvPr>
          <p:cNvSpPr txBox="1"/>
          <p:nvPr/>
        </p:nvSpPr>
        <p:spPr>
          <a:xfrm>
            <a:off x="110628" y="4243858"/>
            <a:ext cx="8694106" cy="19884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当设备未联网或函数包不在</a:t>
            </a:r>
            <a:r>
              <a:rPr lang="en-US" altLang="zh-CN" b="0" dirty="0"/>
              <a:t>CRAN</a:t>
            </a:r>
            <a:r>
              <a:rPr lang="zh-CN" altLang="en-US" b="0" dirty="0"/>
              <a:t>中时，需要通过压缩包文件进行安装</a:t>
            </a:r>
            <a:endParaRPr lang="en-US" altLang="zh-CN" b="0" dirty="0"/>
          </a:p>
          <a:p>
            <a:r>
              <a:rPr lang="zh-CN" altLang="en-US" b="0" dirty="0"/>
              <a:t>在</a:t>
            </a:r>
            <a:r>
              <a:rPr lang="en-US" altLang="zh-CN" b="0" dirty="0"/>
              <a:t>Windows</a:t>
            </a:r>
            <a:r>
              <a:rPr lang="zh-CN" altLang="en-US" b="0" dirty="0"/>
              <a:t>版本的</a:t>
            </a:r>
            <a:r>
              <a:rPr lang="en-US" altLang="zh-CN" dirty="0"/>
              <a:t>R</a:t>
            </a:r>
            <a:r>
              <a:rPr lang="zh-CN" altLang="en-US" b="0" dirty="0"/>
              <a:t>中，下载对应的</a:t>
            </a:r>
            <a:r>
              <a:rPr lang="en-US" altLang="zh-CN" b="0" dirty="0"/>
              <a:t>zip</a:t>
            </a:r>
            <a:r>
              <a:rPr lang="zh-CN" altLang="en-US" b="0" dirty="0"/>
              <a:t>格式压缩文件后，可通过单击菜单栏“程序包”→“从本地</a:t>
            </a:r>
            <a:r>
              <a:rPr lang="en-US" altLang="zh-CN" b="0" dirty="0"/>
              <a:t>ZIP</a:t>
            </a:r>
            <a:r>
              <a:rPr lang="zh-CN" altLang="en-US" b="0" dirty="0"/>
              <a:t>文件安装程序包”安装该函数包；在</a:t>
            </a:r>
            <a:r>
              <a:rPr lang="en-US" altLang="zh-CN" b="0" dirty="0"/>
              <a:t>MacOS</a:t>
            </a:r>
            <a:r>
              <a:rPr lang="zh-CN" altLang="en-US" b="0" dirty="0"/>
              <a:t>版本的</a:t>
            </a:r>
            <a:r>
              <a:rPr lang="en-US" altLang="zh-CN" dirty="0"/>
              <a:t>R</a:t>
            </a:r>
            <a:r>
              <a:rPr lang="zh-CN" altLang="en-US" b="0" dirty="0"/>
              <a:t>中，可通过选择“</a:t>
            </a:r>
            <a:r>
              <a:rPr lang="en-US" altLang="zh-CN" b="0" dirty="0"/>
              <a:t>Install from</a:t>
            </a:r>
            <a:r>
              <a:rPr lang="zh-CN" altLang="en-US" b="0" dirty="0"/>
              <a:t>”</a:t>
            </a:r>
            <a:r>
              <a:rPr lang="en-US" altLang="zh-CN" b="0" dirty="0"/>
              <a:t>→</a:t>
            </a:r>
            <a:r>
              <a:rPr lang="zh-CN" altLang="en-US" b="0" dirty="0"/>
              <a:t>“</a:t>
            </a:r>
            <a:r>
              <a:rPr lang="en-US" altLang="zh-CN" b="0" dirty="0"/>
              <a:t>Package Archive File(.</a:t>
            </a:r>
            <a:r>
              <a:rPr lang="en-US" altLang="zh-CN" b="0" dirty="0" err="1"/>
              <a:t>tgz</a:t>
            </a:r>
            <a:r>
              <a:rPr lang="en-US" altLang="zh-CN" b="0" dirty="0"/>
              <a:t>; .tar; .</a:t>
            </a:r>
            <a:r>
              <a:rPr lang="en-US" altLang="zh-CN" b="0" dirty="0" err="1"/>
              <a:t>gz</a:t>
            </a:r>
            <a:r>
              <a:rPr lang="en-US" altLang="zh-CN" b="0" dirty="0"/>
              <a:t>)</a:t>
            </a:r>
            <a:r>
              <a:rPr lang="zh-CN" altLang="en-US" b="0" dirty="0"/>
              <a:t>”进行安装</a:t>
            </a:r>
            <a:endParaRPr lang="en-US" altLang="zh-CN" b="0" dirty="0"/>
          </a:p>
          <a:p>
            <a:r>
              <a:rPr lang="zh-CN" altLang="en-US" b="0" dirty="0"/>
              <a:t>注意，如果函数包有其他的必要关联（</a:t>
            </a:r>
            <a:r>
              <a:rPr lang="en-US" altLang="zh-CN" b="0" dirty="0"/>
              <a:t>Dependencies</a:t>
            </a:r>
            <a:r>
              <a:rPr lang="zh-CN" altLang="en-US" b="0" dirty="0"/>
              <a:t>），需要提前进行安装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463863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A6BA-1699-AF4D-D328-04FE01BE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12E432-A82E-DC6B-4095-63C11A09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13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2" name="标题 9">
            <a:extLst>
              <a:ext uri="{FF2B5EF4-FFF2-40B4-BE49-F238E27FC236}">
                <a16:creationId xmlns:a16="http://schemas.microsoft.com/office/drawing/2014/main" id="{B471BB05-8F02-B5E8-0B3C-B1023883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函数包安装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9FD3CC-E3AC-3CDE-4C99-82FDA0EC72AF}"/>
              </a:ext>
            </a:extLst>
          </p:cNvPr>
          <p:cNvSpPr/>
          <p:nvPr/>
        </p:nvSpPr>
        <p:spPr>
          <a:xfrm>
            <a:off x="419100" y="1774150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检查函数包是否安装成功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25DDD8-0C86-F347-A312-D969C698F57A}"/>
              </a:ext>
            </a:extLst>
          </p:cNvPr>
          <p:cNvSpPr txBox="1"/>
          <p:nvPr/>
        </p:nvSpPr>
        <p:spPr>
          <a:xfrm>
            <a:off x="110628" y="2453268"/>
            <a:ext cx="8766672" cy="437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可通过</a:t>
            </a:r>
            <a:r>
              <a:rPr lang="en-US" altLang="zh-CN" i="1" dirty="0"/>
              <a:t>library</a:t>
            </a:r>
            <a:r>
              <a:rPr lang="zh-CN" altLang="en-US" b="0" dirty="0"/>
              <a:t>函数检查函数包是否安装成功，以</a:t>
            </a:r>
            <a:r>
              <a:rPr lang="en-US" altLang="zh-CN" b="0" dirty="0" err="1"/>
              <a:t>GWmodel</a:t>
            </a:r>
            <a:r>
              <a:rPr lang="zh-CN" altLang="en-US" b="0" dirty="0"/>
              <a:t>函数包为例，输入：</a:t>
            </a:r>
            <a:endParaRPr lang="en-US" altLang="zh-CN" b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54BC05-0614-B211-51AE-1B5BCCE75D09}"/>
              </a:ext>
            </a:extLst>
          </p:cNvPr>
          <p:cNvSpPr txBox="1"/>
          <p:nvPr/>
        </p:nvSpPr>
        <p:spPr>
          <a:xfrm>
            <a:off x="838200" y="2968344"/>
            <a:ext cx="8694106" cy="285271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GWmodel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E30063-992F-3FEF-324E-00FAFD117A4B}"/>
              </a:ext>
            </a:extLst>
          </p:cNvPr>
          <p:cNvSpPr txBox="1"/>
          <p:nvPr/>
        </p:nvSpPr>
        <p:spPr>
          <a:xfrm>
            <a:off x="838200" y="3683850"/>
            <a:ext cx="7429500" cy="2031325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Loading required package: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maptools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Checking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rgeos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availability: TRUE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Loading required package: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robustbase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Loading required package: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Rcpp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Welcome to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GWmodel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version 2.0-4.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Note: This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verision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has been re-built with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RcppArmadillo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to improve its performance.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65A0D8-4962-AA3F-F679-51492E7C64E9}"/>
              </a:ext>
            </a:extLst>
          </p:cNvPr>
          <p:cNvSpPr txBox="1"/>
          <p:nvPr/>
        </p:nvSpPr>
        <p:spPr>
          <a:xfrm>
            <a:off x="110628" y="3245910"/>
            <a:ext cx="8652372" cy="437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如果顺利出现以下信息，则说明</a:t>
            </a:r>
            <a:r>
              <a:rPr lang="en-US" altLang="zh-CN" b="0" dirty="0" err="1"/>
              <a:t>GWmodel</a:t>
            </a:r>
            <a:r>
              <a:rPr lang="zh-CN" altLang="en-US" b="0" dirty="0"/>
              <a:t>函数包安装成功：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6996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01DD5-E8A8-2907-E603-850A29553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F08F5-F4AA-041F-FC50-0274A54E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1.2 </a:t>
            </a:r>
            <a:r>
              <a:rPr lang="zh-CN" altLang="en-US" sz="3600" dirty="0"/>
              <a:t>数据类型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C8A2F3-7AFE-11B2-5C56-ED172805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3369F9-03CD-4B48-86A9-9EE39A82955A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B3B22A-6B3B-BE7D-73AF-D5BCA8D67A5E}"/>
              </a:ext>
            </a:extLst>
          </p:cNvPr>
          <p:cNvSpPr txBox="1"/>
          <p:nvPr/>
        </p:nvSpPr>
        <p:spPr>
          <a:xfrm>
            <a:off x="1175846" y="1374719"/>
            <a:ext cx="5234125" cy="47166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1.2.1 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基础数据类型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1.2.2 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结构体对象数据类型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57200" eaLnBrk="1" hangingPunct="1">
              <a:spcBef>
                <a:spcPts val="1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1.2.2.1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向量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spcBef>
                <a:spcPts val="1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1.2.2.2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列表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457200" eaLnBrk="1" hangingPunct="1">
              <a:spcBef>
                <a:spcPts val="1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1.2.2.3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spcBef>
                <a:spcPts val="1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1.2.2.4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数据框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spcBef>
                <a:spcPts val="1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1.2.2.5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因子</a:t>
            </a:r>
            <a:endParaRPr lang="en-US" altLang="zh-CN" sz="32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416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E6F0-6C5E-BCAB-BC27-F7BB5DB7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DC84EF-53B7-1104-546B-EDE9CB35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15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5" name="标题 9">
            <a:extLst>
              <a:ext uri="{FF2B5EF4-FFF2-40B4-BE49-F238E27FC236}">
                <a16:creationId xmlns:a16="http://schemas.microsoft.com/office/drawing/2014/main" id="{110DF6EB-9D1E-9B47-23F1-E308EA40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D26C2C-23E5-B786-AE68-5C3448CC3E37}"/>
              </a:ext>
            </a:extLst>
          </p:cNvPr>
          <p:cNvSpPr txBox="1"/>
          <p:nvPr/>
        </p:nvSpPr>
        <p:spPr>
          <a:xfrm>
            <a:off x="914400" y="3619500"/>
            <a:ext cx="7658100" cy="2031325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class(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32.6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'a'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aaaaa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charToRaw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"a"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A3ABEF-A5B2-3E68-9549-8CE2F8B69988}"/>
              </a:ext>
            </a:extLst>
          </p:cNvPr>
          <p:cNvSpPr txBox="1"/>
          <p:nvPr/>
        </p:nvSpPr>
        <p:spPr>
          <a:xfrm>
            <a:off x="152400" y="1562100"/>
            <a:ext cx="8420100" cy="198913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en-US" altLang="zh-CN" b="0" dirty="0"/>
              <a:t>R</a:t>
            </a:r>
            <a:r>
              <a:rPr lang="zh-CN" altLang="en-US" b="0" dirty="0"/>
              <a:t>语言中的数据类型包括</a:t>
            </a:r>
            <a:r>
              <a:rPr lang="zh-CN" altLang="en-US" dirty="0"/>
              <a:t>逻辑型</a:t>
            </a:r>
            <a:r>
              <a:rPr lang="en-US" altLang="zh-CN" dirty="0"/>
              <a:t>(logical)</a:t>
            </a:r>
            <a:r>
              <a:rPr lang="zh-CN" altLang="en-US" b="0" dirty="0"/>
              <a:t>、</a:t>
            </a:r>
            <a:r>
              <a:rPr lang="zh-CN" altLang="en-US" dirty="0"/>
              <a:t>数值型</a:t>
            </a:r>
            <a:r>
              <a:rPr lang="en-US" altLang="zh-CN" dirty="0"/>
              <a:t>(numeric)</a:t>
            </a:r>
            <a:r>
              <a:rPr lang="zh-CN" altLang="en-US" b="0" dirty="0"/>
              <a:t>、</a:t>
            </a:r>
            <a:r>
              <a:rPr lang="zh-CN" altLang="en-US" dirty="0"/>
              <a:t>整数型</a:t>
            </a:r>
            <a:r>
              <a:rPr lang="en-US" altLang="zh-CN" dirty="0"/>
              <a:t>(integer)</a:t>
            </a:r>
            <a:r>
              <a:rPr lang="zh-CN" altLang="en-US" b="0" dirty="0"/>
              <a:t>、</a:t>
            </a:r>
            <a:r>
              <a:rPr lang="zh-CN" altLang="en-US" dirty="0"/>
              <a:t>字符型</a:t>
            </a:r>
            <a:r>
              <a:rPr lang="en-US" altLang="zh-CN" dirty="0"/>
              <a:t>(character)</a:t>
            </a:r>
            <a:r>
              <a:rPr lang="zh-CN" altLang="en-US" b="0" dirty="0"/>
              <a:t>、复数型</a:t>
            </a:r>
            <a:r>
              <a:rPr lang="en-US" altLang="zh-CN" b="0" dirty="0"/>
              <a:t>(complex)</a:t>
            </a:r>
            <a:r>
              <a:rPr lang="zh-CN" altLang="en-US" b="0" dirty="0"/>
              <a:t>和原始类型</a:t>
            </a:r>
            <a:r>
              <a:rPr lang="en-US" altLang="zh-CN" b="0" dirty="0"/>
              <a:t>(raw)</a:t>
            </a:r>
            <a:r>
              <a:rPr lang="zh-CN" altLang="en-US" b="0" dirty="0"/>
              <a:t>，其中，前四种类型的变量是常用的基础数据类型。</a:t>
            </a:r>
            <a:endParaRPr lang="en-US" altLang="zh-CN" b="0" dirty="0"/>
          </a:p>
          <a:p>
            <a:r>
              <a:rPr lang="zh-CN" altLang="en-US" b="0" dirty="0"/>
              <a:t>函数</a:t>
            </a:r>
            <a:r>
              <a:rPr lang="en-US" altLang="zh-CN" i="1" dirty="0"/>
              <a:t>class</a:t>
            </a:r>
            <a:r>
              <a:rPr lang="zh-CN" altLang="en-US" b="0" dirty="0"/>
              <a:t>可用于输出数据和变量类型，输入以下命令，感受一下不同数据类型对应的值域特征：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817047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B6CE3-99B9-845B-A936-4BE7794A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D8A477-DADC-75F4-92E4-73BC17E1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16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5" name="标题 9">
            <a:extLst>
              <a:ext uri="{FF2B5EF4-FFF2-40B4-BE49-F238E27FC236}">
                <a16:creationId xmlns:a16="http://schemas.microsoft.com/office/drawing/2014/main" id="{8863E3B2-9019-1587-EA5D-38CCC577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F11F0A1-04BA-DF18-7B17-37BCE2DCC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76549"/>
              </p:ext>
            </p:extLst>
          </p:nvPr>
        </p:nvGraphicFramePr>
        <p:xfrm>
          <a:off x="581024" y="1447800"/>
          <a:ext cx="7981952" cy="448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488">
                  <a:extLst>
                    <a:ext uri="{9D8B030D-6E8A-4147-A177-3AD203B41FA5}">
                      <a16:colId xmlns:a16="http://schemas.microsoft.com/office/drawing/2014/main" val="2556721169"/>
                    </a:ext>
                  </a:extLst>
                </a:gridCol>
                <a:gridCol w="1681162">
                  <a:extLst>
                    <a:ext uri="{9D8B030D-6E8A-4147-A177-3AD203B41FA5}">
                      <a16:colId xmlns:a16="http://schemas.microsoft.com/office/drawing/2014/main" val="3895629593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4235680607"/>
                    </a:ext>
                  </a:extLst>
                </a:gridCol>
                <a:gridCol w="2057402">
                  <a:extLst>
                    <a:ext uri="{9D8B030D-6E8A-4147-A177-3AD203B41FA5}">
                      <a16:colId xmlns:a16="http://schemas.microsoft.com/office/drawing/2014/main" val="648105189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创建方式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元素访问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特点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20454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向量</a:t>
                      </a:r>
                      <a:r>
                        <a:rPr lang="en-US" altLang="zh-CN" sz="1600" dirty="0"/>
                        <a:t>(vector)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c()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V[index]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由同种类型数据构成的一维向量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82484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列表</a:t>
                      </a:r>
                      <a:r>
                        <a:rPr lang="en-US" altLang="zh-CN" sz="1600" dirty="0"/>
                        <a:t>(list)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list()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L[[index]]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由任意类型数据构成的一维结构体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230866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二维矩阵</a:t>
                      </a:r>
                      <a:r>
                        <a:rPr lang="en-US" altLang="zh-CN" sz="1600" dirty="0"/>
                        <a:t>(matrix)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matrix()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M[index1, index2]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由同种类型数据构成的二维矩阵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2064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多维矩阵</a:t>
                      </a:r>
                      <a:r>
                        <a:rPr lang="en-US" altLang="zh-CN" sz="1600" dirty="0"/>
                        <a:t>(array)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array()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A[index1, …, 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indexn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由同种类型数据构成的多维矩阵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9532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因子</a:t>
                      </a:r>
                      <a:r>
                        <a:rPr lang="en-US" altLang="zh-CN" sz="1600" dirty="0"/>
                        <a:t>(factor)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factor()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F[index]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由同种类型数据构成的一维向量（无重复值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80758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数据框</a:t>
                      </a:r>
                      <a:r>
                        <a:rPr lang="en-US" altLang="zh-CN" sz="1600" dirty="0"/>
                        <a:t>(</a:t>
                      </a:r>
                      <a:r>
                        <a:rPr lang="en-US" altLang="zh-CN" sz="1600" dirty="0" err="1"/>
                        <a:t>dataframe</a:t>
                      </a: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data.frame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DF[index1, index2]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每一列由同种数据类型数据构成的二维表格式结构体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37490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C990112-CED1-D756-269E-61A3624E7BF1}"/>
              </a:ext>
            </a:extLst>
          </p:cNvPr>
          <p:cNvSpPr txBox="1"/>
          <p:nvPr/>
        </p:nvSpPr>
        <p:spPr>
          <a:xfrm>
            <a:off x="3247759" y="6083810"/>
            <a:ext cx="2648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effectLst/>
                <a:latin typeface="+mj-lt"/>
                <a:ea typeface="+mn-ea"/>
              </a:rPr>
              <a:t>R</a:t>
            </a:r>
            <a:r>
              <a:rPr lang="zh-CN" altLang="zh-CN" sz="1400" dirty="0">
                <a:effectLst/>
                <a:latin typeface="+mj-lt"/>
                <a:ea typeface="+mn-ea"/>
                <a:cs typeface="Times New Roman" panose="02020603050405020304" pitchFamily="18" charset="0"/>
              </a:rPr>
              <a:t>语言结构体对象数据类型</a:t>
            </a:r>
            <a:r>
              <a:rPr lang="zh-CN" altLang="en-US" sz="1400" dirty="0">
                <a:latin typeface="+mj-lt"/>
                <a:ea typeface="+mn-ea"/>
                <a:cs typeface="Times New Roman" panose="02020603050405020304" pitchFamily="18" charset="0"/>
              </a:rPr>
              <a:t>列表</a:t>
            </a:r>
            <a:endParaRPr lang="zh-CN" altLang="en-US" sz="1400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97637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17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8E44E5-C183-134D-6709-39F157FF1DC7}"/>
              </a:ext>
            </a:extLst>
          </p:cNvPr>
          <p:cNvSpPr/>
          <p:nvPr/>
        </p:nvSpPr>
        <p:spPr>
          <a:xfrm>
            <a:off x="723900" y="1859933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(1)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向量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ACEA46-AA63-083E-882D-E4F15A909BF7}"/>
              </a:ext>
            </a:extLst>
          </p:cNvPr>
          <p:cNvSpPr txBox="1"/>
          <p:nvPr/>
        </p:nvSpPr>
        <p:spPr>
          <a:xfrm>
            <a:off x="457200" y="2512347"/>
            <a:ext cx="7620000" cy="19884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在</a:t>
            </a:r>
            <a:r>
              <a:rPr lang="en-US" altLang="zh-CN" b="0" dirty="0"/>
              <a:t>R</a:t>
            </a:r>
            <a:r>
              <a:rPr lang="zh-CN" altLang="en-US" b="0" dirty="0"/>
              <a:t>语言中，向量</a:t>
            </a:r>
            <a:r>
              <a:rPr lang="en-US" altLang="zh-CN" b="0" dirty="0"/>
              <a:t>(vector)</a:t>
            </a:r>
            <a:r>
              <a:rPr lang="zh-CN" altLang="en-US" b="0" dirty="0"/>
              <a:t>是最基本的数据结构之一，用于存储同类型元素的序列。向量可以包含数值、字符、逻辑值或复杂类型的数据。</a:t>
            </a:r>
            <a:endParaRPr lang="en-US" altLang="zh-CN" b="0" dirty="0"/>
          </a:p>
          <a:p>
            <a:r>
              <a:rPr lang="zh-CN" altLang="en-US" b="0" dirty="0"/>
              <a:t>三种常用的创建向量的函数：</a:t>
            </a:r>
            <a:endParaRPr lang="en-US" altLang="zh-CN" b="0" dirty="0"/>
          </a:p>
          <a:p>
            <a:pPr indent="0">
              <a:buNone/>
            </a:pPr>
            <a:r>
              <a:rPr lang="en-US" altLang="zh-CN" b="0" dirty="0"/>
              <a:t>        </a:t>
            </a:r>
            <a:r>
              <a:rPr lang="zh-CN" altLang="en-US" b="0" dirty="0"/>
              <a:t>①</a:t>
            </a:r>
            <a:r>
              <a:rPr lang="zh-CN" altLang="en-US" dirty="0"/>
              <a:t>普通向量的创建函数</a:t>
            </a:r>
            <a:r>
              <a:rPr lang="en-US" altLang="zh-CN" i="1" dirty="0"/>
              <a:t>c()</a:t>
            </a:r>
          </a:p>
          <a:p>
            <a:pPr indent="0">
              <a:buNone/>
            </a:pPr>
            <a:endParaRPr lang="en-US" altLang="zh-CN" b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7CE7E6-4254-8C23-0D2E-E79A89AF6EA0}"/>
              </a:ext>
            </a:extLst>
          </p:cNvPr>
          <p:cNvSpPr txBox="1"/>
          <p:nvPr/>
        </p:nvSpPr>
        <p:spPr>
          <a:xfrm>
            <a:off x="1257300" y="4113624"/>
            <a:ext cx="7543800" cy="120032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&lt;- 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x&lt;- 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D055-2B4D-26CE-4056-78BBEC89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1ECB36-6864-4A90-81CF-F1577C83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18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9929AB9E-0534-CE4E-9966-601BCAE71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11A17A-A70F-C50A-4E15-D4B2B96DD94E}"/>
              </a:ext>
            </a:extLst>
          </p:cNvPr>
          <p:cNvSpPr/>
          <p:nvPr/>
        </p:nvSpPr>
        <p:spPr>
          <a:xfrm>
            <a:off x="380998" y="1058250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(1)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向量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6B9DD7-4098-F38C-7B1B-FE129F8BFD7C}"/>
              </a:ext>
            </a:extLst>
          </p:cNvPr>
          <p:cNvSpPr txBox="1"/>
          <p:nvPr/>
        </p:nvSpPr>
        <p:spPr>
          <a:xfrm>
            <a:off x="380998" y="1541283"/>
            <a:ext cx="3429000" cy="8250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pPr indent="0">
              <a:buNone/>
            </a:pPr>
            <a:r>
              <a:rPr lang="zh-CN" altLang="en-US" b="0" dirty="0"/>
              <a:t>②</a:t>
            </a:r>
            <a:r>
              <a:rPr lang="zh-CN" altLang="en-US" dirty="0"/>
              <a:t>等差数值向量的创建函数</a:t>
            </a:r>
            <a:endParaRPr lang="en-US" altLang="zh-CN" dirty="0"/>
          </a:p>
          <a:p>
            <a:pPr indent="0">
              <a:buNone/>
            </a:pPr>
            <a:r>
              <a:rPr lang="en-US" altLang="zh-CN" i="1" dirty="0"/>
              <a:t>seq(</a:t>
            </a:r>
            <a:r>
              <a:rPr lang="en-US" altLang="zh-CN" i="1" dirty="0" err="1"/>
              <a:t>from,to,by,length.out</a:t>
            </a:r>
            <a:r>
              <a:rPr lang="en-US" altLang="zh-CN" i="1" dirty="0"/>
              <a:t>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C68362-F9C2-E859-8FDC-00960928D8BD}"/>
              </a:ext>
            </a:extLst>
          </p:cNvPr>
          <p:cNvSpPr txBox="1"/>
          <p:nvPr/>
        </p:nvSpPr>
        <p:spPr>
          <a:xfrm>
            <a:off x="723898" y="4718777"/>
            <a:ext cx="1862696" cy="120032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seq(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seq(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seq(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94D6C02-DE9A-E099-6A5F-32FDABC48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815283"/>
              </p:ext>
            </p:extLst>
          </p:nvPr>
        </p:nvGraphicFramePr>
        <p:xfrm>
          <a:off x="380998" y="2441125"/>
          <a:ext cx="388909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190">
                  <a:extLst>
                    <a:ext uri="{9D8B030D-6E8A-4147-A177-3AD203B41FA5}">
                      <a16:colId xmlns:a16="http://schemas.microsoft.com/office/drawing/2014/main" val="251807506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757032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11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from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设置首项（默认为1）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06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to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设置尾项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75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by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设置等差值（默认为1或-1）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88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length.out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设置序列长度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35856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C83F2C6-D7D9-99F0-A3B8-8ACE1A8CE2C9}"/>
              </a:ext>
            </a:extLst>
          </p:cNvPr>
          <p:cNvSpPr txBox="1"/>
          <p:nvPr/>
        </p:nvSpPr>
        <p:spPr>
          <a:xfrm>
            <a:off x="4690504" y="1271858"/>
            <a:ext cx="3429000" cy="8250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pPr indent="0">
              <a:buNone/>
            </a:pPr>
            <a:r>
              <a:rPr lang="zh-CN" altLang="en-US" b="0" dirty="0"/>
              <a:t>③</a:t>
            </a:r>
            <a:r>
              <a:rPr lang="zh-CN" altLang="en-US" dirty="0"/>
              <a:t>重复的数值向量创建函数</a:t>
            </a:r>
            <a:endParaRPr lang="en-US" altLang="zh-CN" dirty="0"/>
          </a:p>
          <a:p>
            <a:pPr indent="0">
              <a:buNone/>
            </a:pPr>
            <a:r>
              <a:rPr lang="en-US" altLang="zh-CN" i="1" dirty="0"/>
              <a:t>rep(</a:t>
            </a:r>
            <a:r>
              <a:rPr lang="en-US" altLang="zh-CN" i="1" dirty="0" err="1"/>
              <a:t>x,times,length.out,each</a:t>
            </a:r>
            <a:r>
              <a:rPr lang="en-US" altLang="zh-CN" i="1" dirty="0"/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CA3517-62E6-D8B0-06C0-918C0DBBB6E3}"/>
              </a:ext>
            </a:extLst>
          </p:cNvPr>
          <p:cNvSpPr txBox="1"/>
          <p:nvPr/>
        </p:nvSpPr>
        <p:spPr>
          <a:xfrm>
            <a:off x="4690504" y="4639124"/>
            <a:ext cx="4457700" cy="1477328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rep(x,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rep(x, 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rep(x, each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length.out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rep(x, times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each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7FDDB52-5303-382A-2ADF-22A3CE67D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938674"/>
              </p:ext>
            </p:extLst>
          </p:nvPr>
        </p:nvGraphicFramePr>
        <p:xfrm>
          <a:off x="4690504" y="2171700"/>
          <a:ext cx="388909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1190">
                  <a:extLst>
                    <a:ext uri="{9D8B030D-6E8A-4147-A177-3AD203B41FA5}">
                      <a16:colId xmlns:a16="http://schemas.microsoft.com/office/drawing/2014/main" val="251807506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757032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11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要重复的序列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06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times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设置序列的重复次数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75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length.out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设置所产生的序列的长度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88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each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设置每个元素分别重复的次数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358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481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E0ED-F42A-AC6A-94B6-19BE03DF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4B19B-5F6C-33CE-0424-8B0D1D59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19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603DA0DA-0385-E431-F0E9-E8F55EF5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86339-7A18-B692-7E0D-3CCC777E0DD0}"/>
              </a:ext>
            </a:extLst>
          </p:cNvPr>
          <p:cNvSpPr/>
          <p:nvPr/>
        </p:nvSpPr>
        <p:spPr>
          <a:xfrm>
            <a:off x="380998" y="1058250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(2)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列表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432F6F-C5AE-92D4-3584-3030F5DBB919}"/>
              </a:ext>
            </a:extLst>
          </p:cNvPr>
          <p:cNvSpPr txBox="1"/>
          <p:nvPr/>
        </p:nvSpPr>
        <p:spPr>
          <a:xfrm>
            <a:off x="952500" y="4277660"/>
            <a:ext cx="6705600" cy="2308324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 &lt;- 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(name = </a:t>
            </a:r>
            <a:r>
              <a:rPr lang="en-US" altLang="zh-CN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李明</a:t>
            </a:r>
            <a:r>
              <a:rPr lang="en-US" altLang="zh-CN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age = 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scores = c(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85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76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90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list.1[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list.1[[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scores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 &lt;- 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 &lt;- 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age[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list.1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age[[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list.2 &lt;-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as.list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(c(a = 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 = </a:t>
            </a:r>
            <a:r>
              <a:rPr lang="en-US" altLang="zh-CN" sz="12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list.2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unlist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(list.2)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7C97B9-6E38-DFF5-57D0-782FCE3D2B31}"/>
              </a:ext>
            </a:extLst>
          </p:cNvPr>
          <p:cNvSpPr txBox="1"/>
          <p:nvPr/>
        </p:nvSpPr>
        <p:spPr>
          <a:xfrm>
            <a:off x="0" y="1509250"/>
            <a:ext cx="8953500" cy="27647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在</a:t>
            </a:r>
            <a:r>
              <a:rPr lang="en-US" altLang="zh-CN" b="0" dirty="0"/>
              <a:t>R</a:t>
            </a:r>
            <a:r>
              <a:rPr lang="zh-CN" altLang="en-US" b="0" dirty="0"/>
              <a:t>语言中，列表</a:t>
            </a:r>
            <a:r>
              <a:rPr lang="en-US" altLang="zh-CN" b="0" dirty="0"/>
              <a:t>(list)</a:t>
            </a:r>
            <a:r>
              <a:rPr lang="zh-CN" altLang="en-US" b="0" dirty="0"/>
              <a:t>是一种灵活的数据结构，可以包含不同类型的数据，包括数值、字符、逻辑值、向量、矩阵、数据框，甚至是其它列表。</a:t>
            </a:r>
            <a:endParaRPr lang="en-US" altLang="zh-CN" b="0" dirty="0"/>
          </a:p>
          <a:p>
            <a:r>
              <a:rPr lang="zh-CN" altLang="en-US" b="0" dirty="0"/>
              <a:t>列表非常适合用于存储复杂异构的数据，广泛应用于数据分析、分组计算和结果存储等场景。</a:t>
            </a:r>
            <a:endParaRPr lang="en-US" altLang="zh-CN" b="0" dirty="0"/>
          </a:p>
          <a:p>
            <a:r>
              <a:rPr lang="zh-CN" altLang="en-US" b="0" dirty="0"/>
              <a:t>列表对象通过“</a:t>
            </a:r>
            <a:r>
              <a:rPr lang="en-US" altLang="zh-CN" b="0" dirty="0"/>
              <a:t>[] </a:t>
            </a:r>
            <a:r>
              <a:rPr lang="zh-CN" altLang="en-US" b="0" dirty="0"/>
              <a:t>”进行索引，但需要“</a:t>
            </a:r>
            <a:r>
              <a:rPr lang="en-US" altLang="zh-CN" b="0" dirty="0"/>
              <a:t>[[]] </a:t>
            </a:r>
            <a:r>
              <a:rPr lang="zh-CN" altLang="en-US" b="0" dirty="0"/>
              <a:t>”进行取值操作。</a:t>
            </a:r>
            <a:endParaRPr lang="en-US" altLang="zh-CN" b="0" dirty="0"/>
          </a:p>
          <a:p>
            <a:r>
              <a:rPr lang="zh-CN" altLang="en-US" b="0" dirty="0"/>
              <a:t>下面的代码分别实现了创建列表、使用索引获取列表中的值、修改列表中的值、将向量转化为列表以及将列表转化为向量等操作：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476110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33BE-2846-DAED-1077-68D15D95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4BE57E-7138-F4BD-55CB-96134396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20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766C4673-8B7E-B2A4-89C1-F018E892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C764B5-640E-C3FC-4932-6B375B07B628}"/>
              </a:ext>
            </a:extLst>
          </p:cNvPr>
          <p:cNvSpPr/>
          <p:nvPr/>
        </p:nvSpPr>
        <p:spPr>
          <a:xfrm>
            <a:off x="380998" y="1058250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(3)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矩阵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6BE9DF-2583-C99F-776A-55D9140FE8E9}"/>
              </a:ext>
            </a:extLst>
          </p:cNvPr>
          <p:cNvSpPr txBox="1"/>
          <p:nvPr/>
        </p:nvSpPr>
        <p:spPr>
          <a:xfrm>
            <a:off x="0" y="1509250"/>
            <a:ext cx="8953500" cy="160133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在</a:t>
            </a:r>
            <a:r>
              <a:rPr lang="en-US" altLang="zh-CN" b="0" dirty="0"/>
              <a:t>R</a:t>
            </a:r>
            <a:r>
              <a:rPr lang="zh-CN" altLang="en-US" b="0" dirty="0"/>
              <a:t>语言中，矩阵</a:t>
            </a:r>
            <a:r>
              <a:rPr lang="en-US" altLang="zh-CN" b="0" dirty="0"/>
              <a:t>(matrix)</a:t>
            </a:r>
            <a:r>
              <a:rPr lang="zh-CN" altLang="en-US" b="0" dirty="0"/>
              <a:t>是一种二维的数据结构，可以看作是具有相同行和列的向量。矩阵只能包含同一种类型的数据，通常用于数值计算和线性代数操作。</a:t>
            </a:r>
            <a:endParaRPr lang="en-US" altLang="zh-CN" b="0" dirty="0"/>
          </a:p>
          <a:p>
            <a:r>
              <a:rPr lang="zh-CN" altLang="en-US" b="0" dirty="0"/>
              <a:t>在</a:t>
            </a:r>
            <a:r>
              <a:rPr lang="en-US" altLang="zh-CN" b="0" dirty="0"/>
              <a:t>R</a:t>
            </a:r>
            <a:r>
              <a:rPr lang="zh-CN" altLang="en-US" b="0" dirty="0"/>
              <a:t>语言中，矩阵本质上是一个一维数组，按照某种规定好的顺序排列为一个矩阵，用两个维度来表示和访问，其具体创建函数如下</a:t>
            </a:r>
            <a:endParaRPr lang="en-US" altLang="zh-CN" b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642C18-5E47-883D-B7C9-82A74B516E75}"/>
              </a:ext>
            </a:extLst>
          </p:cNvPr>
          <p:cNvSpPr txBox="1"/>
          <p:nvPr/>
        </p:nvSpPr>
        <p:spPr>
          <a:xfrm>
            <a:off x="800098" y="3091270"/>
            <a:ext cx="6705600" cy="553998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557530" algn="ctr"/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matrix(x, </a:t>
            </a:r>
            <a:r>
              <a:rPr lang="en-US" altLang="zh-CN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nrow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ncol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byrow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dimnames</a:t>
            </a:r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, ...)</a:t>
            </a:r>
            <a:endParaRPr lang="zh-CN" altLang="zh-CN" sz="1800" b="1" dirty="0">
              <a:solidFill>
                <a:srgbClr val="8000FF"/>
              </a:solidFill>
              <a:effectLst/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endParaRPr lang="zh-CN" altLang="zh-CN" sz="1200" b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B5342-EE46-0EA9-4FF6-36E28D652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323268"/>
              </p:ext>
            </p:extLst>
          </p:nvPr>
        </p:nvGraphicFramePr>
        <p:xfrm>
          <a:off x="647700" y="3561586"/>
          <a:ext cx="7848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2824947688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3603104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数据向量，是作为矩阵的元素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5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nrow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矩阵行数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ncol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矩阵列数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3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byrow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设置是否按行填充，默认为FALSE（按列填充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137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dimnames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用字符型向量表示矩阵的行名和列名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442137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C741E61-87A3-B5B5-7094-7FD9C9380876}"/>
              </a:ext>
            </a:extLst>
          </p:cNvPr>
          <p:cNvSpPr txBox="1"/>
          <p:nvPr/>
        </p:nvSpPr>
        <p:spPr>
          <a:xfrm>
            <a:off x="2962669" y="6127872"/>
            <a:ext cx="32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i="1" dirty="0">
                <a:effectLst/>
                <a:latin typeface="+mj-lt"/>
                <a:ea typeface="+mn-ea"/>
              </a:rPr>
              <a:t>matrix</a:t>
            </a:r>
            <a:r>
              <a:rPr lang="zh-CN" altLang="zh-CN" sz="1400" dirty="0">
                <a:effectLst/>
                <a:latin typeface="+mj-lt"/>
                <a:ea typeface="+mn-ea"/>
                <a:cs typeface="Times New Roman" panose="02020603050405020304" pitchFamily="18" charset="0"/>
              </a:rPr>
              <a:t>函数的主要参数及解释</a:t>
            </a:r>
            <a:endParaRPr lang="zh-CN" altLang="en-US" sz="1400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6990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18074-0654-5F01-17EB-071D281D1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DDDD3-42BE-1D40-9263-D72E386A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21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C9883098-57CB-660F-1DB9-94B5EB20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EB4735-8BDB-080A-338B-AF8ECDB18300}"/>
              </a:ext>
            </a:extLst>
          </p:cNvPr>
          <p:cNvSpPr/>
          <p:nvPr/>
        </p:nvSpPr>
        <p:spPr>
          <a:xfrm>
            <a:off x="380998" y="1058250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(3)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矩阵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3FA605-C0BB-E246-3F08-75DFDDB6105D}"/>
              </a:ext>
            </a:extLst>
          </p:cNvPr>
          <p:cNvSpPr txBox="1"/>
          <p:nvPr/>
        </p:nvSpPr>
        <p:spPr>
          <a:xfrm>
            <a:off x="0" y="1509250"/>
            <a:ext cx="8953500" cy="4372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熟悉各参数的用法</a:t>
            </a:r>
            <a:endParaRPr lang="en-US" altLang="zh-CN" b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599F90-DAE8-D6C7-7835-E3CEB8BD916C}"/>
              </a:ext>
            </a:extLst>
          </p:cNvPr>
          <p:cNvSpPr txBox="1"/>
          <p:nvPr/>
        </p:nvSpPr>
        <p:spPr>
          <a:xfrm>
            <a:off x="762000" y="1946549"/>
            <a:ext cx="8001000" cy="4524315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matrix(c(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nrow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byrow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57530" indent="266700">
              <a:buNone/>
            </a:pPr>
            <a:r>
              <a:rPr lang="en-US" altLang="zh-CN" sz="1800" dirty="0">
                <a:solidFill>
                  <a:srgbClr val="8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solidFill>
                <a:srgbClr val="8000FF"/>
              </a:solidFill>
              <a:effectLst/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matrix(c(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nrow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byrow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57530" indent="266700">
              <a:buNone/>
            </a:pPr>
            <a:r>
              <a:rPr lang="en-US" altLang="zh-CN" sz="1800" dirty="0">
                <a:solidFill>
                  <a:srgbClr val="8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solidFill>
                <a:srgbClr val="8000FF"/>
              </a:solidFill>
              <a:effectLst/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matrix(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nrow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byrow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dimnames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"r1"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"r2"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"r3"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c(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"c1"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"c2"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"c3"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 &lt;- matrix(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ncol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rownames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(ml) = c(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"r1"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"r2"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"r3"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(ml) = c(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"c1"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"c2"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"c3"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57530" indent="266700">
              <a:buNone/>
            </a:pPr>
            <a:r>
              <a:rPr lang="en-US" altLang="zh-CN" sz="1800" dirty="0">
                <a:solidFill>
                  <a:srgbClr val="8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solidFill>
                <a:srgbClr val="8000FF"/>
              </a:solidFill>
              <a:effectLst/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diag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nrow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1424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C4ED1-86E4-9F51-A78C-706DC6CE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0AFD8E-DDB4-EA34-1A50-99EA6308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22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6CD96CD6-90B7-3B05-4BFF-6820B471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A102D4-78FD-32EA-1860-26A0E8E33EE4}"/>
              </a:ext>
            </a:extLst>
          </p:cNvPr>
          <p:cNvSpPr/>
          <p:nvPr/>
        </p:nvSpPr>
        <p:spPr>
          <a:xfrm>
            <a:off x="380998" y="1254662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(3)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矩阵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52F61E-B3EB-E886-75AD-6EFAB7552753}"/>
              </a:ext>
            </a:extLst>
          </p:cNvPr>
          <p:cNvSpPr txBox="1"/>
          <p:nvPr/>
        </p:nvSpPr>
        <p:spPr>
          <a:xfrm>
            <a:off x="0" y="1786901"/>
            <a:ext cx="8953500" cy="4372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通过行列号等方式获取矩阵中的元素</a:t>
            </a:r>
            <a:endParaRPr lang="en-US" altLang="zh-CN" b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CB52AD-7CCA-2731-B5C2-9AB3F15543B9}"/>
              </a:ext>
            </a:extLst>
          </p:cNvPr>
          <p:cNvSpPr txBox="1"/>
          <p:nvPr/>
        </p:nvSpPr>
        <p:spPr>
          <a:xfrm>
            <a:off x="762000" y="2309789"/>
            <a:ext cx="8001000" cy="2031325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ml[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ml[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ml[c(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"r1"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"r3"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c(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"c1"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"c3"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)]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ml[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ml[,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ml[-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ml[,-c(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)]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506503-1768-EF8E-692F-A10FE41F1326}"/>
              </a:ext>
            </a:extLst>
          </p:cNvPr>
          <p:cNvSpPr txBox="1"/>
          <p:nvPr/>
        </p:nvSpPr>
        <p:spPr>
          <a:xfrm>
            <a:off x="-17342" y="4572000"/>
            <a:ext cx="8953500" cy="4372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通过函数</a:t>
            </a:r>
            <a:r>
              <a:rPr lang="en-US" altLang="zh-CN" i="1" dirty="0" err="1"/>
              <a:t>as.vector</a:t>
            </a:r>
            <a:r>
              <a:rPr lang="zh-CN" altLang="en-US" b="0" dirty="0"/>
              <a:t>实现矩阵中的元素按列读取转化为向量对象</a:t>
            </a:r>
            <a:endParaRPr lang="en-US" altLang="zh-CN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456019-556E-CCB1-156F-3D3101EFC98C}"/>
              </a:ext>
            </a:extLst>
          </p:cNvPr>
          <p:cNvSpPr txBox="1"/>
          <p:nvPr/>
        </p:nvSpPr>
        <p:spPr>
          <a:xfrm>
            <a:off x="744658" y="5143500"/>
            <a:ext cx="8001000" cy="3693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as.vector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(ml)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451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B5A8-D214-F9B8-83D0-40629513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0632EF-43C0-138B-717F-BE703C3C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23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012542FC-2553-4C88-053A-5E9FA0BC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717446-E761-9C9A-CD1C-6890975AE7B0}"/>
              </a:ext>
            </a:extLst>
          </p:cNvPr>
          <p:cNvSpPr/>
          <p:nvPr/>
        </p:nvSpPr>
        <p:spPr>
          <a:xfrm>
            <a:off x="380998" y="1254662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(4)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数据框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9AA595-AC59-DCE1-0298-825FD7B3D46E}"/>
              </a:ext>
            </a:extLst>
          </p:cNvPr>
          <p:cNvSpPr txBox="1"/>
          <p:nvPr/>
        </p:nvSpPr>
        <p:spPr>
          <a:xfrm>
            <a:off x="0" y="1786901"/>
            <a:ext cx="8839200" cy="121353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在</a:t>
            </a:r>
            <a:r>
              <a:rPr lang="en-US" altLang="zh-CN" b="0" dirty="0"/>
              <a:t>R</a:t>
            </a:r>
            <a:r>
              <a:rPr lang="zh-CN" altLang="en-US" b="0" dirty="0"/>
              <a:t>语言中，数据框</a:t>
            </a:r>
            <a:r>
              <a:rPr lang="en-US" altLang="zh-CN" b="0" dirty="0"/>
              <a:t>(Data Frame)</a:t>
            </a:r>
            <a:r>
              <a:rPr lang="zh-CN" altLang="en-US" b="0" dirty="0"/>
              <a:t>是一种用于存储表格数据的二维数据结构。数据框可以包含不同类型的数据（数值、字符、因子等），每列代表一种数据类型，每行代表一组观测值。</a:t>
            </a:r>
            <a:endParaRPr lang="en-US" altLang="zh-CN" b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206E7C-4AF0-3EA2-D03B-4A57FA478F44}"/>
              </a:ext>
            </a:extLst>
          </p:cNvPr>
          <p:cNvSpPr txBox="1"/>
          <p:nvPr/>
        </p:nvSpPr>
        <p:spPr>
          <a:xfrm>
            <a:off x="571500" y="4260106"/>
            <a:ext cx="3848100" cy="132343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data.frame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name = c(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"Zhang"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"Li"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"Lu"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age = c(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score = c(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90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F34FD89-8E17-2583-163B-94ED9F057F83}"/>
              </a:ext>
            </a:extLst>
          </p:cNvPr>
          <p:cNvSpPr txBox="1"/>
          <p:nvPr/>
        </p:nvSpPr>
        <p:spPr>
          <a:xfrm>
            <a:off x="-17342" y="2979966"/>
            <a:ext cx="4132142" cy="121353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数据框是数据分析和数据处理中的核心数据结构之一，通常用</a:t>
            </a:r>
            <a:r>
              <a:rPr lang="en-US" altLang="zh-CN" i="1" dirty="0" err="1"/>
              <a:t>data.frame</a:t>
            </a:r>
            <a:r>
              <a:rPr lang="zh-CN" altLang="en-US" b="0" dirty="0"/>
              <a:t>函数进行创建</a:t>
            </a:r>
            <a:endParaRPr lang="en-US" altLang="zh-CN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6A0961-E1B0-1C78-3542-158D1E5FC082}"/>
              </a:ext>
            </a:extLst>
          </p:cNvPr>
          <p:cNvSpPr txBox="1"/>
          <p:nvPr/>
        </p:nvSpPr>
        <p:spPr>
          <a:xfrm>
            <a:off x="5140082" y="3857438"/>
            <a:ext cx="2784716" cy="2308324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name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"Alice"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"age"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"score"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]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]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EF397B-20F1-0D1D-5C3C-D79A3D41E62E}"/>
              </a:ext>
            </a:extLst>
          </p:cNvPr>
          <p:cNvSpPr txBox="1"/>
          <p:nvPr/>
        </p:nvSpPr>
        <p:spPr>
          <a:xfrm>
            <a:off x="4398842" y="2979966"/>
            <a:ext cx="4132142" cy="8257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通过行、列名或索引值访问对应的元素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180533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0476-CF3A-BC63-936E-8C549B7D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5904EC-A17E-524C-CD2F-D2DB1244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24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5C7E4BBF-9A9F-774C-11DC-986E003A3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2564C5-C056-6B31-DA1B-EC66206664F6}"/>
              </a:ext>
            </a:extLst>
          </p:cNvPr>
          <p:cNvSpPr/>
          <p:nvPr/>
        </p:nvSpPr>
        <p:spPr>
          <a:xfrm>
            <a:off x="380998" y="1254662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(4)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数据框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21D3F5-3332-08CD-1853-71C0111EC3FB}"/>
              </a:ext>
            </a:extLst>
          </p:cNvPr>
          <p:cNvSpPr txBox="1"/>
          <p:nvPr/>
        </p:nvSpPr>
        <p:spPr>
          <a:xfrm>
            <a:off x="0" y="1786901"/>
            <a:ext cx="8839200" cy="50908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en-US" altLang="zh-CN" b="0" dirty="0"/>
              <a:t>data frame</a:t>
            </a:r>
            <a:r>
              <a:rPr lang="zh-CN" altLang="en-US" b="0" dirty="0"/>
              <a:t>在处理大型数据集或复杂数据类型等方面存在一定的局限性。</a:t>
            </a:r>
            <a:r>
              <a:rPr lang="en-US" altLang="zh-CN" dirty="0" err="1"/>
              <a:t>tibble</a:t>
            </a:r>
            <a:r>
              <a:rPr lang="zh-CN" altLang="en-US" b="0" dirty="0"/>
              <a:t>函数包提供了一种现代化的数据框</a:t>
            </a:r>
            <a:r>
              <a:rPr lang="en-US" altLang="zh-CN" b="0" dirty="0" err="1"/>
              <a:t>tibble</a:t>
            </a:r>
            <a:r>
              <a:rPr lang="zh-CN" altLang="en-US" b="0" dirty="0"/>
              <a:t>，处理方式更人性化、灵活性更强，具有一些与传统数据框不同的特性：</a:t>
            </a:r>
            <a:endParaRPr lang="en-US" altLang="zh-CN" b="0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 err="1"/>
              <a:t>tibble</a:t>
            </a:r>
            <a:r>
              <a:rPr lang="zh-CN" altLang="en-US" dirty="0"/>
              <a:t>比</a:t>
            </a:r>
            <a:r>
              <a:rPr lang="en-US" altLang="zh-CN" dirty="0" err="1"/>
              <a:t>data.frame</a:t>
            </a:r>
            <a:r>
              <a:rPr lang="zh-CN" altLang="en-US" dirty="0"/>
              <a:t>对输入数据改变更少</a:t>
            </a:r>
            <a:r>
              <a:rPr lang="zh-CN" altLang="en-US" b="0" dirty="0"/>
              <a:t>：不改变输入变量的类型（注：</a:t>
            </a:r>
            <a:r>
              <a:rPr lang="en-US" altLang="zh-CN" b="0" dirty="0"/>
              <a:t>R 4.0.0</a:t>
            </a:r>
            <a:r>
              <a:rPr lang="zh-CN" altLang="en-US" b="0" dirty="0"/>
              <a:t>之前默认将字符串转化为因子），不会改变变量名，不会创建行名</a:t>
            </a:r>
            <a:endParaRPr lang="en-US" altLang="zh-CN" b="0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 err="1"/>
              <a:t>tibble</a:t>
            </a:r>
            <a:r>
              <a:rPr lang="zh-CN" altLang="en-US" dirty="0"/>
              <a:t>对象的列名包容性更好</a:t>
            </a:r>
            <a:r>
              <a:rPr lang="zh-CN" altLang="en-US" b="0" dirty="0"/>
              <a:t>：</a:t>
            </a:r>
            <a:r>
              <a:rPr lang="en-US" altLang="zh-CN" b="0" dirty="0" err="1"/>
              <a:t>tibble</a:t>
            </a:r>
            <a:r>
              <a:rPr lang="zh-CN" altLang="en-US" b="0" dirty="0"/>
              <a:t>对象列名可以是</a:t>
            </a:r>
            <a:r>
              <a:rPr lang="en-US" altLang="zh-CN" b="0" dirty="0"/>
              <a:t>R</a:t>
            </a:r>
            <a:r>
              <a:rPr lang="zh-CN" altLang="en-US" b="0" dirty="0"/>
              <a:t>中的“非法名”，如非字母开头、包含空格字符等，但定义和使用变量时都需要用引号进行包括</a:t>
            </a:r>
            <a:endParaRPr lang="en-US" altLang="zh-CN" b="0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/>
              <a:t>输出静默模式</a:t>
            </a:r>
            <a:r>
              <a:rPr lang="zh-CN" altLang="en-US" b="0" dirty="0"/>
              <a:t>：</a:t>
            </a:r>
            <a:r>
              <a:rPr lang="en-US" altLang="zh-CN" b="0" dirty="0" err="1"/>
              <a:t>tibble</a:t>
            </a:r>
            <a:r>
              <a:rPr lang="zh-CN" altLang="en-US" b="0" dirty="0"/>
              <a:t>在输出时不自动显示所有行，避免数据框较大时显示出很多内容</a:t>
            </a:r>
            <a:endParaRPr lang="en-US" altLang="zh-CN" b="0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/>
              <a:t>子集对象一致性</a:t>
            </a:r>
            <a:r>
              <a:rPr lang="zh-CN" altLang="en-US" b="0" dirty="0"/>
              <a:t>：子集对象一致性：在选取列子集时，即使只选取一列，返回结果仍是</a:t>
            </a:r>
            <a:r>
              <a:rPr lang="en-US" altLang="zh-CN" b="0" dirty="0" err="1"/>
              <a:t>tibble</a:t>
            </a:r>
            <a:r>
              <a:rPr lang="zh-CN" altLang="en-US" b="0" dirty="0"/>
              <a:t>，而不自动简化为向量，确保子集对象的一致性</a:t>
            </a:r>
            <a:endParaRPr lang="en-US" altLang="zh-CN" b="0" dirty="0"/>
          </a:p>
          <a:p>
            <a:endParaRPr lang="en-US" altLang="zh-CN" b="0" dirty="0"/>
          </a:p>
          <a:p>
            <a:pPr>
              <a:buFont typeface="Wingdings" panose="05000000000000000000" pitchFamily="2" charset="2"/>
              <a:buChar char="l"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926359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55034-BF81-5740-DFAE-748F9AD8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3A747C-3F22-BF92-E7EE-8027DA86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25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ACD35303-37A4-C56E-A9D9-F5667835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D84474-7162-92F4-F098-4250B2DED4D2}"/>
              </a:ext>
            </a:extLst>
          </p:cNvPr>
          <p:cNvSpPr/>
          <p:nvPr/>
        </p:nvSpPr>
        <p:spPr>
          <a:xfrm>
            <a:off x="380998" y="1254662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(4)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数据框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06502E-11AD-6928-A679-36F6DFAC19FF}"/>
              </a:ext>
            </a:extLst>
          </p:cNvPr>
          <p:cNvSpPr txBox="1"/>
          <p:nvPr/>
        </p:nvSpPr>
        <p:spPr>
          <a:xfrm>
            <a:off x="0" y="1786901"/>
            <a:ext cx="4381500" cy="43794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创建</a:t>
            </a:r>
            <a:r>
              <a:rPr lang="en-US" altLang="zh-CN" b="0" dirty="0" err="1"/>
              <a:t>tibble</a:t>
            </a:r>
            <a:r>
              <a:rPr lang="zh-CN" altLang="en-US" b="0" dirty="0"/>
              <a:t>对象的三种方式</a:t>
            </a:r>
            <a:endParaRPr lang="en-US" altLang="zh-CN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38721B-941F-DABB-9C69-3397EB5B2510}"/>
              </a:ext>
            </a:extLst>
          </p:cNvPr>
          <p:cNvSpPr txBox="1"/>
          <p:nvPr/>
        </p:nvSpPr>
        <p:spPr>
          <a:xfrm>
            <a:off x="714375" y="2259315"/>
            <a:ext cx="3543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latin typeface="+mn-lt"/>
                <a:ea typeface="+mn-ea"/>
              </a:rPr>
              <a:t>① </a:t>
            </a:r>
            <a:r>
              <a:rPr lang="zh-CN" altLang="en-US" dirty="0">
                <a:latin typeface="+mn-lt"/>
                <a:ea typeface="+mn-ea"/>
              </a:rPr>
              <a:t>使用</a:t>
            </a:r>
            <a:r>
              <a:rPr lang="en-US" altLang="zh-CN" b="1" i="1" dirty="0" err="1">
                <a:latin typeface="+mn-lt"/>
                <a:ea typeface="+mn-ea"/>
              </a:rPr>
              <a:t>tibble</a:t>
            </a:r>
            <a:r>
              <a:rPr lang="zh-CN" altLang="en-US" dirty="0">
                <a:latin typeface="+mn-lt"/>
                <a:ea typeface="+mn-ea"/>
              </a:rPr>
              <a:t>函数创建</a:t>
            </a:r>
            <a:r>
              <a:rPr lang="en-US" altLang="zh-CN" dirty="0" err="1">
                <a:latin typeface="+mn-lt"/>
                <a:ea typeface="+mn-ea"/>
              </a:rPr>
              <a:t>tibble</a:t>
            </a:r>
            <a:r>
              <a:rPr lang="zh-CN" altLang="en-US" dirty="0">
                <a:latin typeface="+mn-lt"/>
                <a:ea typeface="+mn-ea"/>
              </a:rPr>
              <a:t>对象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9337F6-57DF-B2C0-8C48-CD6CB141E98F}"/>
              </a:ext>
            </a:extLst>
          </p:cNvPr>
          <p:cNvSpPr txBox="1"/>
          <p:nvPr/>
        </p:nvSpPr>
        <p:spPr>
          <a:xfrm>
            <a:off x="866775" y="2628647"/>
            <a:ext cx="7410450" cy="172156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tibble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person &lt;-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tibble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Name =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"Zhang"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"Li"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"Lu"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Gender =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"Female"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"Male"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"Male"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Age =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"20"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"21"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"27"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Major =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"Remote sensing"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"Data science"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"Physics"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ID =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"203"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"301"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"096"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person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09444A-153C-9509-84DB-D540EA726AB3}"/>
              </a:ext>
            </a:extLst>
          </p:cNvPr>
          <p:cNvSpPr txBox="1"/>
          <p:nvPr/>
        </p:nvSpPr>
        <p:spPr>
          <a:xfrm>
            <a:off x="714375" y="4370882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② 利用</a:t>
            </a:r>
            <a:r>
              <a:rPr lang="en-US" altLang="zh-CN" b="1" i="1" dirty="0">
                <a:latin typeface="+mn-lt"/>
                <a:ea typeface="+mn-ea"/>
              </a:rPr>
              <a:t>tribble</a:t>
            </a:r>
            <a:r>
              <a:rPr lang="zh-CN" altLang="en-US" dirty="0">
                <a:latin typeface="+mn-lt"/>
                <a:ea typeface="+mn-ea"/>
              </a:rPr>
              <a:t>函数通过按行录入数据的方式创建</a:t>
            </a:r>
            <a:r>
              <a:rPr lang="en-US" altLang="zh-CN" dirty="0" err="1">
                <a:latin typeface="+mn-lt"/>
                <a:ea typeface="+mn-ea"/>
              </a:rPr>
              <a:t>tibble</a:t>
            </a:r>
            <a:r>
              <a:rPr lang="zh-CN" altLang="en-US" dirty="0">
                <a:latin typeface="+mn-lt"/>
                <a:ea typeface="+mn-ea"/>
              </a:rPr>
              <a:t>对象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220399-FAC9-8756-26DB-50D02DD561E0}"/>
              </a:ext>
            </a:extLst>
          </p:cNvPr>
          <p:cNvSpPr txBox="1"/>
          <p:nvPr/>
        </p:nvSpPr>
        <p:spPr>
          <a:xfrm>
            <a:off x="866775" y="4740214"/>
            <a:ext cx="7410450" cy="1003416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tribble(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Name,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Gender,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Age,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Major,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ID,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"Zhang"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"Female"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"20"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"Remote sensing"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"203"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"Li"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"Male"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"21"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"Data science"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"301"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"Lu"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"Male"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"27"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"Physics"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"096"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1EFBF4-5459-BD04-E0D8-D21B99E10DA3}"/>
              </a:ext>
            </a:extLst>
          </p:cNvPr>
          <p:cNvSpPr txBox="1"/>
          <p:nvPr/>
        </p:nvSpPr>
        <p:spPr>
          <a:xfrm>
            <a:off x="714375" y="5764303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③ 用</a:t>
            </a:r>
            <a:r>
              <a:rPr lang="en-US" altLang="zh-CN" b="1" i="1" dirty="0" err="1">
                <a:latin typeface="+mn-lt"/>
                <a:ea typeface="+mn-ea"/>
              </a:rPr>
              <a:t>as_tibble</a:t>
            </a:r>
            <a:r>
              <a:rPr lang="zh-CN" altLang="en-US" dirty="0">
                <a:latin typeface="+mn-lt"/>
                <a:ea typeface="+mn-ea"/>
              </a:rPr>
              <a:t>函数将</a:t>
            </a:r>
            <a:r>
              <a:rPr lang="en-US" altLang="zh-CN" dirty="0" err="1">
                <a:latin typeface="+mn-lt"/>
                <a:ea typeface="+mn-ea"/>
              </a:rPr>
              <a:t>data.frame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altLang="zh-CN" dirty="0">
                <a:latin typeface="+mn-lt"/>
                <a:ea typeface="+mn-ea"/>
              </a:rPr>
              <a:t>matrix</a:t>
            </a:r>
            <a:r>
              <a:rPr lang="zh-CN" altLang="en-US" dirty="0">
                <a:latin typeface="+mn-lt"/>
                <a:ea typeface="+mn-ea"/>
              </a:rPr>
              <a:t>转化为</a:t>
            </a:r>
            <a:r>
              <a:rPr lang="en-US" altLang="zh-CN" dirty="0" err="1">
                <a:latin typeface="+mn-lt"/>
                <a:ea typeface="+mn-ea"/>
              </a:rPr>
              <a:t>tibble</a:t>
            </a:r>
            <a:r>
              <a:rPr lang="zh-CN" altLang="en-US" dirty="0">
                <a:latin typeface="+mn-lt"/>
                <a:ea typeface="+mn-ea"/>
              </a:rPr>
              <a:t>对象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2348CB-FEFB-8C65-E73A-859EDF601862}"/>
              </a:ext>
            </a:extLst>
          </p:cNvPr>
          <p:cNvSpPr txBox="1"/>
          <p:nvPr/>
        </p:nvSpPr>
        <p:spPr>
          <a:xfrm>
            <a:off x="866775" y="6163330"/>
            <a:ext cx="7410450" cy="27231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as_tibble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DA3860-2182-2DED-E109-964D0AF2F424}"/>
              </a:ext>
            </a:extLst>
          </p:cNvPr>
          <p:cNvSpPr txBox="1"/>
          <p:nvPr/>
        </p:nvSpPr>
        <p:spPr>
          <a:xfrm>
            <a:off x="5295900" y="1781644"/>
            <a:ext cx="3543300" cy="8250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访问</a:t>
            </a:r>
            <a:r>
              <a:rPr lang="en-US" altLang="zh-CN" b="0" dirty="0" err="1"/>
              <a:t>tibble</a:t>
            </a:r>
            <a:r>
              <a:rPr lang="zh-CN" altLang="en-US" b="0" dirty="0"/>
              <a:t>对象的方式与访问</a:t>
            </a:r>
            <a:r>
              <a:rPr lang="en-US" altLang="zh-CN" b="0" dirty="0"/>
              <a:t>data frame</a:t>
            </a:r>
            <a:r>
              <a:rPr lang="zh-CN" altLang="en-US" b="0" dirty="0"/>
              <a:t>的方式互相适用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412153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B4B33-45F1-D359-9D9F-63C0BE18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1169D-FF8D-90B8-25EB-0CCA351A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26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8F672D1D-99DC-BF54-A7D0-87BDA751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BF9D97-3490-7DAE-EDA7-C5A30D431E3C}"/>
              </a:ext>
            </a:extLst>
          </p:cNvPr>
          <p:cNvSpPr/>
          <p:nvPr/>
        </p:nvSpPr>
        <p:spPr>
          <a:xfrm>
            <a:off x="380998" y="1254662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(4)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数据框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C41186-EC34-AFCC-6F9A-FE5469EC2703}"/>
              </a:ext>
            </a:extLst>
          </p:cNvPr>
          <p:cNvSpPr txBox="1"/>
          <p:nvPr/>
        </p:nvSpPr>
        <p:spPr>
          <a:xfrm>
            <a:off x="0" y="1786901"/>
            <a:ext cx="43815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数据框常用的函数</a:t>
            </a:r>
            <a:endParaRPr lang="en-US" altLang="zh-CN" sz="2000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76019B-548E-45CB-1841-80DF71B35FAE}"/>
              </a:ext>
            </a:extLst>
          </p:cNvPr>
          <p:cNvSpPr txBox="1"/>
          <p:nvPr/>
        </p:nvSpPr>
        <p:spPr>
          <a:xfrm>
            <a:off x="700185" y="2417405"/>
            <a:ext cx="685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latin typeface="+mn-lt"/>
                <a:ea typeface="+mn-ea"/>
              </a:rPr>
              <a:t>① </a:t>
            </a:r>
            <a:r>
              <a:rPr lang="en-US" altLang="zh-CN" b="1" i="1" dirty="0" err="1">
                <a:latin typeface="+mn-lt"/>
                <a:ea typeface="+mn-ea"/>
              </a:rPr>
              <a:t>rbind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altLang="zh-CN" b="1" i="1" dirty="0" err="1">
                <a:latin typeface="+mn-lt"/>
                <a:ea typeface="+mn-ea"/>
              </a:rPr>
              <a:t>cbind</a:t>
            </a:r>
            <a:r>
              <a:rPr lang="zh-CN" altLang="en-US" dirty="0">
                <a:latin typeface="+mn-lt"/>
                <a:ea typeface="+mn-ea"/>
              </a:rPr>
              <a:t>函数：对数据框进行合并操作，二者分别用于增加行和增加列，此外这两个函数也适用于矩阵对象的操作。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4BDC27-EAE9-D1B0-08A7-C8C131D9E8D5}"/>
              </a:ext>
            </a:extLst>
          </p:cNvPr>
          <p:cNvSpPr txBox="1"/>
          <p:nvPr/>
        </p:nvSpPr>
        <p:spPr>
          <a:xfrm>
            <a:off x="914400" y="3309324"/>
            <a:ext cx="8010525" cy="13490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person &lt;-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rbind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(person,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      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tibble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(Name = 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"Jojo"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Gender = 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"Male"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              Age =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Major = 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"History"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ID =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person &lt;-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cbind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(person, 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       Registered = c(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      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Class_ID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c(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</a:pP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5515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0697-7BBC-2D00-6BCB-5D66DD40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3DD274-1B9A-D4BB-88C7-BFE181C9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27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4883D76E-458C-1B3C-7F9A-7AD668AF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707F76-6F79-7318-0571-B2EBC5CFCE6E}"/>
              </a:ext>
            </a:extLst>
          </p:cNvPr>
          <p:cNvSpPr/>
          <p:nvPr/>
        </p:nvSpPr>
        <p:spPr>
          <a:xfrm>
            <a:off x="380998" y="1128493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(4)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数据框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03F4E8-709A-719D-9A4B-A3C15C9A7E25}"/>
              </a:ext>
            </a:extLst>
          </p:cNvPr>
          <p:cNvSpPr txBox="1"/>
          <p:nvPr/>
        </p:nvSpPr>
        <p:spPr>
          <a:xfrm>
            <a:off x="0" y="1620534"/>
            <a:ext cx="43815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数据框常用的函数</a:t>
            </a:r>
            <a:endParaRPr lang="en-US" altLang="zh-CN" sz="2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1384DE-1F61-A5EA-DE3A-94F9E52112F5}"/>
              </a:ext>
            </a:extLst>
          </p:cNvPr>
          <p:cNvSpPr txBox="1"/>
          <p:nvPr/>
        </p:nvSpPr>
        <p:spPr>
          <a:xfrm>
            <a:off x="714374" y="2204544"/>
            <a:ext cx="27743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② </a:t>
            </a:r>
            <a:r>
              <a:rPr lang="en-US" altLang="zh-CN" b="1" i="1" dirty="0">
                <a:latin typeface="+mn-lt"/>
                <a:ea typeface="+mn-ea"/>
              </a:rPr>
              <a:t>str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altLang="zh-CN" b="1" i="1" dirty="0">
                <a:latin typeface="+mn-lt"/>
                <a:ea typeface="+mn-ea"/>
              </a:rPr>
              <a:t>glimpse</a:t>
            </a:r>
            <a:r>
              <a:rPr lang="zh-CN" altLang="en-US" dirty="0">
                <a:latin typeface="+mn-lt"/>
                <a:ea typeface="+mn-ea"/>
              </a:rPr>
              <a:t>函数，显示数据框对象的结构，以更快速、概括性理解数据结构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DAF74F-3E5E-5C38-51F9-A096B1F04793}"/>
              </a:ext>
            </a:extLst>
          </p:cNvPr>
          <p:cNvSpPr txBox="1"/>
          <p:nvPr/>
        </p:nvSpPr>
        <p:spPr>
          <a:xfrm>
            <a:off x="1066800" y="3475560"/>
            <a:ext cx="2219326" cy="487313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str(person)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glimpse(person)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455CC9-315F-DE7D-B384-B536AFBEBD65}"/>
              </a:ext>
            </a:extLst>
          </p:cNvPr>
          <p:cNvSpPr txBox="1"/>
          <p:nvPr/>
        </p:nvSpPr>
        <p:spPr>
          <a:xfrm>
            <a:off x="714375" y="4428998"/>
            <a:ext cx="27743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③ </a:t>
            </a:r>
            <a:r>
              <a:rPr lang="en-US" altLang="zh-CN" b="1" i="1" dirty="0">
                <a:latin typeface="+mn-lt"/>
                <a:ea typeface="+mn-ea"/>
              </a:rPr>
              <a:t>summary</a:t>
            </a:r>
            <a:r>
              <a:rPr lang="zh-CN" altLang="en-US" dirty="0">
                <a:latin typeface="+mn-lt"/>
                <a:ea typeface="+mn-ea"/>
              </a:rPr>
              <a:t>函数：作用在数据框或者列表上，生成对应数据列的汇总信息，如四分位数、最大值、最小值等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19C546-DE9D-4616-70B7-48C35DA24BEE}"/>
              </a:ext>
            </a:extLst>
          </p:cNvPr>
          <p:cNvSpPr txBox="1"/>
          <p:nvPr/>
        </p:nvSpPr>
        <p:spPr>
          <a:xfrm>
            <a:off x="1066800" y="5911056"/>
            <a:ext cx="2774312" cy="27231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as_tibble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EAA1CF-90EC-FD21-648D-B106A7859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219" y="1828800"/>
            <a:ext cx="4779012" cy="2449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0FE9A93-2FCC-B1E3-F3D7-D2E329F3D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888" y="4945097"/>
            <a:ext cx="5274310" cy="615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7218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DE671-89C6-9EB6-EE0E-A0986063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1D2428-CFAC-C29B-D087-B5F3E33E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28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1B8A132C-0F71-EE73-63DE-529482D49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11E694-66D4-6C9F-C232-5104F9F27258}"/>
              </a:ext>
            </a:extLst>
          </p:cNvPr>
          <p:cNvSpPr/>
          <p:nvPr/>
        </p:nvSpPr>
        <p:spPr>
          <a:xfrm>
            <a:off x="380998" y="1058250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(5)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因子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EAE4C0-97E4-8736-26F3-6A8696862AEF}"/>
              </a:ext>
            </a:extLst>
          </p:cNvPr>
          <p:cNvSpPr txBox="1"/>
          <p:nvPr/>
        </p:nvSpPr>
        <p:spPr>
          <a:xfrm>
            <a:off x="0" y="1509250"/>
            <a:ext cx="8953500" cy="198849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b="0" dirty="0"/>
              <a:t>在</a:t>
            </a:r>
            <a:r>
              <a:rPr lang="en-US" altLang="zh-CN" b="0" dirty="0"/>
              <a:t>R</a:t>
            </a:r>
            <a:r>
              <a:rPr lang="zh-CN" altLang="en-US" b="0" dirty="0"/>
              <a:t>语言中，因子</a:t>
            </a:r>
            <a:r>
              <a:rPr lang="en-US" altLang="zh-CN" b="0" dirty="0"/>
              <a:t>(Factor)</a:t>
            </a:r>
            <a:r>
              <a:rPr lang="zh-CN" altLang="en-US" b="0" dirty="0"/>
              <a:t>是一种用于处理具有分类特征数据的结构化数据对象。因子用于存储有限数量的不同值（称为水平，</a:t>
            </a:r>
            <a:r>
              <a:rPr lang="en-US" altLang="zh-CN" b="0" dirty="0"/>
              <a:t>levels</a:t>
            </a:r>
            <a:r>
              <a:rPr lang="zh-CN" altLang="en-US" b="0" dirty="0"/>
              <a:t>），并且针对这些值进行编码。</a:t>
            </a:r>
            <a:endParaRPr lang="en-US" altLang="zh-CN" b="0" dirty="0"/>
          </a:p>
          <a:p>
            <a:r>
              <a:rPr lang="zh-CN" altLang="en-US" b="0" dirty="0"/>
              <a:t>因子数据在统计建模和数据分析中非常有用，特别是在处理定性数据时，将字符型的分类变量转换为因子型有利于进行后续的描述性统计、可视化、建模等操作。</a:t>
            </a:r>
            <a:endParaRPr lang="en-US" altLang="zh-CN" b="0" dirty="0"/>
          </a:p>
          <a:p>
            <a:r>
              <a:rPr lang="zh-CN" altLang="en-US" b="0" dirty="0"/>
              <a:t>可通过如下命令创建与使用因子：</a:t>
            </a:r>
            <a:endParaRPr lang="en-US" altLang="zh-CN" b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74DE45-CE8D-D263-0D54-8E651CC59189}"/>
              </a:ext>
            </a:extLst>
          </p:cNvPr>
          <p:cNvSpPr txBox="1"/>
          <p:nvPr/>
        </p:nvSpPr>
        <p:spPr>
          <a:xfrm>
            <a:off x="800098" y="3453299"/>
            <a:ext cx="6705600" cy="36933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557530" algn="ctr"/>
            <a:r>
              <a:rPr lang="en-US" altLang="zh-CN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factor(x, levels, labels, ordered, ...)</a:t>
            </a:r>
            <a:endParaRPr lang="zh-CN" altLang="zh-CN" sz="1200" b="1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F621367-85BC-692F-3D4A-2C685D74A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811002"/>
              </p:ext>
            </p:extLst>
          </p:nvPr>
        </p:nvGraphicFramePr>
        <p:xfrm>
          <a:off x="647700" y="3948315"/>
          <a:ext cx="7848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824947688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603104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向量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5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levels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指定各水平值，不指定时由x的不同值来求得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labels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水平的标签，不指定时用各水平值的对应字符串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3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ordered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逻辑值，用于指定水平是否有序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13715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E19C441-383C-DDE1-3BFC-277F04DA6390}"/>
              </a:ext>
            </a:extLst>
          </p:cNvPr>
          <p:cNvSpPr txBox="1"/>
          <p:nvPr/>
        </p:nvSpPr>
        <p:spPr>
          <a:xfrm>
            <a:off x="2962669" y="5939235"/>
            <a:ext cx="32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i="1" dirty="0">
                <a:effectLst/>
                <a:latin typeface="+mj-lt"/>
                <a:ea typeface="+mn-ea"/>
              </a:rPr>
              <a:t>factor</a:t>
            </a:r>
            <a:r>
              <a:rPr lang="zh-CN" altLang="en-US" sz="1400" dirty="0">
                <a:effectLst/>
                <a:latin typeface="+mj-lt"/>
                <a:ea typeface="+mn-ea"/>
              </a:rPr>
              <a:t>函数</a:t>
            </a:r>
            <a:r>
              <a:rPr lang="zh-CN" altLang="zh-CN" sz="1400" dirty="0">
                <a:effectLst/>
                <a:latin typeface="+mj-lt"/>
                <a:ea typeface="+mn-ea"/>
                <a:cs typeface="Times New Roman" panose="02020603050405020304" pitchFamily="18" charset="0"/>
              </a:rPr>
              <a:t>的主要参数及解释</a:t>
            </a:r>
            <a:endParaRPr lang="zh-CN" altLang="en-US" sz="1400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5031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27753-6A00-2CFE-57CA-2EDD81AD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10569D-E496-1E4F-F3FF-8C6B08FD9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29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EE350F07-CA5D-53DE-0BEE-EAE502F51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63D99F-1922-9F26-66B2-F920B20F9C4C}"/>
              </a:ext>
            </a:extLst>
          </p:cNvPr>
          <p:cNvSpPr/>
          <p:nvPr/>
        </p:nvSpPr>
        <p:spPr>
          <a:xfrm>
            <a:off x="380998" y="1128493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(5)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因子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999C72-CE93-838F-803C-D94DEEE8E34B}"/>
              </a:ext>
            </a:extLst>
          </p:cNvPr>
          <p:cNvSpPr txBox="1"/>
          <p:nvPr/>
        </p:nvSpPr>
        <p:spPr>
          <a:xfrm>
            <a:off x="0" y="1620534"/>
            <a:ext cx="43815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因子类对象的好处</a:t>
            </a:r>
            <a:endParaRPr lang="en-US" altLang="zh-CN" sz="2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480B77-1A76-AB20-A830-287317EE6DFE}"/>
              </a:ext>
            </a:extLst>
          </p:cNvPr>
          <p:cNvSpPr txBox="1"/>
          <p:nvPr/>
        </p:nvSpPr>
        <p:spPr>
          <a:xfrm>
            <a:off x="714374" y="2204544"/>
            <a:ext cx="7972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① 可以规定标签顺序，例如需要将标签顺序规定为“中</a:t>
            </a:r>
            <a:r>
              <a:rPr lang="en-US" altLang="zh-CN" dirty="0">
                <a:latin typeface="+mn-ea"/>
                <a:ea typeface="+mn-ea"/>
              </a:rPr>
              <a:t>-</a:t>
            </a:r>
            <a:r>
              <a:rPr lang="zh-CN" altLang="en-US" dirty="0">
                <a:latin typeface="+mn-ea"/>
                <a:ea typeface="+mn-ea"/>
              </a:rPr>
              <a:t>良</a:t>
            </a:r>
            <a:r>
              <a:rPr lang="en-US" altLang="zh-CN" dirty="0">
                <a:latin typeface="+mn-ea"/>
                <a:ea typeface="+mn-ea"/>
              </a:rPr>
              <a:t>-</a:t>
            </a:r>
            <a:r>
              <a:rPr lang="zh-CN" altLang="en-US" dirty="0">
                <a:latin typeface="+mn-ea"/>
                <a:ea typeface="+mn-ea"/>
              </a:rPr>
              <a:t>优”，就可以创建因子数据，并利用</a:t>
            </a:r>
            <a:r>
              <a:rPr lang="en-US" altLang="zh-CN" dirty="0">
                <a:latin typeface="+mn-ea"/>
                <a:ea typeface="+mn-ea"/>
              </a:rPr>
              <a:t>levels</a:t>
            </a:r>
            <a:r>
              <a:rPr lang="zh-CN" altLang="en-US" dirty="0">
                <a:latin typeface="+mn-ea"/>
                <a:ea typeface="+mn-ea"/>
              </a:rPr>
              <a:t>参数指定对应的顺序：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40850F-F6CC-2F25-5F98-CCC1D83D87EA}"/>
              </a:ext>
            </a:extLst>
          </p:cNvPr>
          <p:cNvSpPr txBox="1"/>
          <p:nvPr/>
        </p:nvSpPr>
        <p:spPr>
          <a:xfrm>
            <a:off x="876300" y="2929345"/>
            <a:ext cx="6934200" cy="1384995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=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优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良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优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良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良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sort(x)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x1 = factor(x, levels =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良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优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x1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(x1)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B0FB62-6AB6-FF2A-59E0-7224EFCE0557}"/>
              </a:ext>
            </a:extLst>
          </p:cNvPr>
          <p:cNvSpPr txBox="1"/>
          <p:nvPr/>
        </p:nvSpPr>
        <p:spPr>
          <a:xfrm>
            <a:off x="714374" y="4466456"/>
            <a:ext cx="79724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② 可以“识错”，因为因子数据只能识别出现在水平值中的值，否则将识别为</a:t>
            </a:r>
            <a:r>
              <a:rPr lang="en-US" altLang="zh-CN" dirty="0">
                <a:latin typeface="+mn-ea"/>
                <a:ea typeface="+mn-ea"/>
              </a:rPr>
              <a:t>NA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801E40-0E35-7E37-88B6-B9FC82EC3D7A}"/>
              </a:ext>
            </a:extLst>
          </p:cNvPr>
          <p:cNvSpPr txBox="1"/>
          <p:nvPr/>
        </p:nvSpPr>
        <p:spPr>
          <a:xfrm>
            <a:off x="876300" y="5112787"/>
            <a:ext cx="7391400" cy="95410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&lt;-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优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良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优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良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差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print(x)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x1 &lt;- factor(x, levels =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良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优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print(x1)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262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9B378-BF07-C1BC-13BD-5AB58A34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4C46B3-7586-C315-0DE3-6FEC1642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30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8DB722BF-650D-5F29-08FA-02E8AF49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结构体对象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3AF9A2-5C35-2669-6845-AF8B288215F8}"/>
              </a:ext>
            </a:extLst>
          </p:cNvPr>
          <p:cNvSpPr/>
          <p:nvPr/>
        </p:nvSpPr>
        <p:spPr>
          <a:xfrm>
            <a:off x="380998" y="1128493"/>
            <a:ext cx="7543800" cy="49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+mj-lt"/>
                <a:ea typeface="+mj-ea"/>
                <a:cs typeface="+mn-ea"/>
                <a:sym typeface="Consolas" panose="020B0609020204030204" pitchFamily="49" charset="0"/>
              </a:rPr>
              <a:t>(5) </a:t>
            </a:r>
            <a:r>
              <a:rPr lang="zh-CN" altLang="en-US" sz="2400" b="1" dirty="0">
                <a:latin typeface="+mn-lt"/>
                <a:ea typeface="+mj-ea"/>
                <a:cs typeface="+mn-ea"/>
                <a:sym typeface="Consolas" panose="020B0609020204030204" pitchFamily="49" charset="0"/>
              </a:rPr>
              <a:t>因子</a:t>
            </a:r>
            <a:endParaRPr lang="en-US" altLang="zh-CN" sz="2400" b="1" dirty="0">
              <a:latin typeface="+mn-ea"/>
              <a:ea typeface="+mn-ea"/>
              <a:cs typeface="+mn-ea"/>
              <a:sym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31F49D-7FDD-18BE-62D9-91C706609848}"/>
              </a:ext>
            </a:extLst>
          </p:cNvPr>
          <p:cNvSpPr txBox="1"/>
          <p:nvPr/>
        </p:nvSpPr>
        <p:spPr>
          <a:xfrm>
            <a:off x="0" y="1620534"/>
            <a:ext cx="43815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因子对象数据常用的函数</a:t>
            </a:r>
            <a:endParaRPr lang="en-US" altLang="zh-CN" sz="2000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72398C-CB76-89C3-D6F6-6996F35C1A7B}"/>
              </a:ext>
            </a:extLst>
          </p:cNvPr>
          <p:cNvSpPr txBox="1"/>
          <p:nvPr/>
        </p:nvSpPr>
        <p:spPr>
          <a:xfrm>
            <a:off x="378896" y="2086898"/>
            <a:ext cx="7972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① </a:t>
            </a:r>
            <a:r>
              <a:rPr lang="en-US" altLang="zh-CN" b="1" i="1" dirty="0">
                <a:latin typeface="+mn-lt"/>
                <a:ea typeface="+mn-ea"/>
              </a:rPr>
              <a:t>table</a:t>
            </a:r>
            <a:r>
              <a:rPr lang="zh-CN" altLang="en-US" b="1" dirty="0">
                <a:latin typeface="+mn-lt"/>
                <a:ea typeface="+mn-ea"/>
              </a:rPr>
              <a:t>函数</a:t>
            </a:r>
            <a:r>
              <a:rPr lang="zh-CN" altLang="en-US" dirty="0">
                <a:latin typeface="+mn-lt"/>
                <a:ea typeface="+mn-ea"/>
              </a:rPr>
              <a:t>：统计因子各水平（或向量各元素）的出现次数（频数）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A71AC2-4229-5F72-4961-88F8242AB736}"/>
              </a:ext>
            </a:extLst>
          </p:cNvPr>
          <p:cNvSpPr txBox="1"/>
          <p:nvPr/>
        </p:nvSpPr>
        <p:spPr>
          <a:xfrm>
            <a:off x="540822" y="2539024"/>
            <a:ext cx="6934200" cy="285271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table(x)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9E4DA8-EE84-BE4E-E4EF-49A68CC16FDE}"/>
              </a:ext>
            </a:extLst>
          </p:cNvPr>
          <p:cNvSpPr txBox="1"/>
          <p:nvPr/>
        </p:nvSpPr>
        <p:spPr>
          <a:xfrm>
            <a:off x="378896" y="2890322"/>
            <a:ext cx="8224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② </a:t>
            </a:r>
            <a:r>
              <a:rPr lang="en-US" altLang="zh-CN" b="1" i="1" dirty="0">
                <a:latin typeface="+mn-lt"/>
                <a:ea typeface="+mn-ea"/>
              </a:rPr>
              <a:t>cut(x, breaks, labels, ...)</a:t>
            </a:r>
            <a:r>
              <a:rPr lang="zh-CN" altLang="en-US" dirty="0">
                <a:latin typeface="+mn-lt"/>
                <a:ea typeface="+mn-ea"/>
              </a:rPr>
              <a:t>：将连续（数值）变量离散化，即切分为若干区间段，然后返回对应的因子类型数据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A2FD8D-601C-C05F-EE4B-C19E1E1C2A6E}"/>
              </a:ext>
            </a:extLst>
          </p:cNvPr>
          <p:cNvSpPr txBox="1"/>
          <p:nvPr/>
        </p:nvSpPr>
        <p:spPr>
          <a:xfrm>
            <a:off x="540822" y="3516605"/>
            <a:ext cx="7391400" cy="1077218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 = c(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36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47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53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Age_fac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cut(Age, breaks = c(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        labels = c(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Young"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"Middle"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"Old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class(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Age_fac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DF028F-58EA-AC97-4B5D-280CF8F4CABF}"/>
              </a:ext>
            </a:extLst>
          </p:cNvPr>
          <p:cNvSpPr txBox="1"/>
          <p:nvPr/>
        </p:nvSpPr>
        <p:spPr>
          <a:xfrm>
            <a:off x="378896" y="4735057"/>
            <a:ext cx="79724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lt"/>
                <a:ea typeface="+mn-ea"/>
              </a:rPr>
              <a:t>③ </a:t>
            </a:r>
            <a:r>
              <a:rPr lang="en-US" altLang="zh-CN" b="1" i="1" dirty="0" err="1">
                <a:latin typeface="+mn-lt"/>
                <a:ea typeface="+mn-ea"/>
              </a:rPr>
              <a:t>gl</a:t>
            </a:r>
            <a:r>
              <a:rPr lang="en-US" altLang="zh-CN" b="1" i="1" dirty="0">
                <a:latin typeface="+mn-lt"/>
                <a:ea typeface="+mn-ea"/>
              </a:rPr>
              <a:t>(n, k, length, labels, ordered, ...)</a:t>
            </a:r>
            <a:r>
              <a:rPr lang="zh-CN" altLang="en-US" dirty="0">
                <a:latin typeface="+mn-lt"/>
                <a:ea typeface="+mn-ea"/>
              </a:rPr>
              <a:t>：生成有规律水平值的组合因子，可用于多因素的数据对象设计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6B9CA3-92F7-D594-94A3-BE2BB9226994}"/>
              </a:ext>
            </a:extLst>
          </p:cNvPr>
          <p:cNvSpPr txBox="1"/>
          <p:nvPr/>
        </p:nvSpPr>
        <p:spPr>
          <a:xfrm>
            <a:off x="540822" y="5381388"/>
            <a:ext cx="8267700" cy="83099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tibble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(Sex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length=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labels=c(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男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女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)),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Class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length=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labels=c(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甲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乙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丙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)),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   Score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length=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labels=c(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优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良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 </a:t>
            </a:r>
            <a:r>
              <a:rPr lang="zh-CN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及格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3393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9B9A-C707-1FEF-9EEC-33A8A21F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5319C-4E51-0437-5028-624CBDD4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1.3 </a:t>
            </a:r>
            <a:r>
              <a:rPr lang="zh-CN" altLang="en-US" sz="3600" dirty="0"/>
              <a:t>变量及运算符号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A8E980-8CBC-1BAE-FA0E-5B8221A3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3369F9-03CD-4B48-86A9-9EE39A82955A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48DDB9-716B-59F8-815D-1F407E55B563}"/>
              </a:ext>
            </a:extLst>
          </p:cNvPr>
          <p:cNvSpPr txBox="1"/>
          <p:nvPr/>
        </p:nvSpPr>
        <p:spPr>
          <a:xfrm>
            <a:off x="1175846" y="2057400"/>
            <a:ext cx="2989921" cy="2212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20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1.3.1 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变量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1.3.2 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运算符号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851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CF7D-889A-FDDA-F464-F0E9C586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428800-1B64-353A-7099-93F84C77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32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9422070D-170D-3819-B4E0-ACC01A309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61E76C-1AF3-D651-A5E8-FF3ECDF8F43D}"/>
              </a:ext>
            </a:extLst>
          </p:cNvPr>
          <p:cNvSpPr txBox="1"/>
          <p:nvPr/>
        </p:nvSpPr>
        <p:spPr>
          <a:xfrm>
            <a:off x="-11824" y="1447800"/>
            <a:ext cx="9029700" cy="21998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变量的使用是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语言编程过程中的最基本元素</a:t>
            </a:r>
            <a:endParaRPr lang="en-US" altLang="zh-CN" sz="2000" b="0" dirty="0"/>
          </a:p>
          <a:p>
            <a:r>
              <a:rPr lang="zh-CN" altLang="en-US" sz="2000" b="0" dirty="0"/>
              <a:t>一个有效的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语言中的变量可</a:t>
            </a:r>
            <a:r>
              <a:rPr lang="zh-CN" altLang="en-US" sz="2000" dirty="0"/>
              <a:t>由字母（区分大小写）、数字和点或下划线字符组成</a:t>
            </a:r>
            <a:r>
              <a:rPr lang="zh-CN" altLang="en-US" sz="2000" b="0" dirty="0"/>
              <a:t>，变量名称</a:t>
            </a:r>
            <a:r>
              <a:rPr lang="zh-CN" altLang="en-US" sz="2000" dirty="0"/>
              <a:t>以字母开头、或者点后面不带数字</a:t>
            </a:r>
            <a:endParaRPr lang="en-US" altLang="zh-CN" sz="2000" dirty="0"/>
          </a:p>
          <a:p>
            <a:r>
              <a:rPr lang="zh-CN" altLang="en-US" sz="2000" b="0" dirty="0"/>
              <a:t>在变量名称中</a:t>
            </a:r>
            <a:r>
              <a:rPr lang="zh-CN" altLang="en-US" sz="2000" dirty="0"/>
              <a:t>不要</a:t>
            </a:r>
            <a:r>
              <a:rPr lang="zh-CN" altLang="en-US" sz="2000" b="0" dirty="0"/>
              <a:t>使用</a:t>
            </a:r>
            <a:r>
              <a:rPr lang="zh-CN" altLang="en-US" sz="2000" dirty="0"/>
              <a:t>计算符号</a:t>
            </a:r>
            <a:r>
              <a:rPr lang="zh-CN" altLang="en-US" sz="2000" b="0" dirty="0"/>
              <a:t>或者</a:t>
            </a:r>
            <a:r>
              <a:rPr lang="zh-CN" altLang="en-US" sz="2000" dirty="0"/>
              <a:t>与一些特殊字符相同</a:t>
            </a:r>
            <a:r>
              <a:rPr lang="zh-CN" altLang="en-US" sz="2000" b="0" dirty="0"/>
              <a:t>的名称（如</a:t>
            </a:r>
            <a:r>
              <a:rPr lang="en-US" altLang="zh-CN" sz="2000" b="0" dirty="0"/>
              <a:t>pi</a:t>
            </a:r>
            <a:r>
              <a:rPr lang="zh-CN" altLang="en-US" sz="2000" b="0" dirty="0"/>
              <a:t>、</a:t>
            </a:r>
            <a:r>
              <a:rPr lang="en-US" altLang="zh-CN" sz="2000" b="0" dirty="0"/>
              <a:t>F</a:t>
            </a:r>
            <a:r>
              <a:rPr lang="zh-CN" altLang="en-US" sz="2000" b="0" dirty="0"/>
              <a:t>、</a:t>
            </a:r>
            <a:r>
              <a:rPr lang="en-US" altLang="zh-CN" sz="2000" b="0" dirty="0"/>
              <a:t>T</a:t>
            </a:r>
            <a:r>
              <a:rPr lang="zh-CN" altLang="en-US" sz="2000" b="0" dirty="0"/>
              <a:t>、</a:t>
            </a:r>
            <a:r>
              <a:rPr lang="en-US" altLang="zh-CN" sz="2000" b="0" dirty="0"/>
              <a:t>c</a:t>
            </a:r>
            <a:r>
              <a:rPr lang="zh-CN" altLang="en-US" sz="2000" b="0" dirty="0"/>
              <a:t>等）</a:t>
            </a:r>
            <a:endParaRPr lang="en-US" altLang="zh-CN" sz="2000" b="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F24EF07-E65F-83B9-BC60-F3889CD9B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567366"/>
              </p:ext>
            </p:extLst>
          </p:nvPr>
        </p:nvGraphicFramePr>
        <p:xfrm>
          <a:off x="647700" y="4000406"/>
          <a:ext cx="7848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824947688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3603104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函数或符号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作用描述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&lt;-, -&gt;, =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变量赋值符号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5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cat(), print()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变量输出函数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输出变量类型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3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输出当前工作空间下所有变量名称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137153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2BAF5EA-A1F5-A09C-A2EF-FFFDA82DE404}"/>
              </a:ext>
            </a:extLst>
          </p:cNvPr>
          <p:cNvSpPr txBox="1"/>
          <p:nvPr/>
        </p:nvSpPr>
        <p:spPr>
          <a:xfrm>
            <a:off x="2962669" y="5962507"/>
            <a:ext cx="32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effectLst/>
                <a:latin typeface="+mj-lt"/>
                <a:ea typeface="+mn-ea"/>
              </a:rPr>
              <a:t>R</a:t>
            </a:r>
            <a:r>
              <a:rPr lang="zh-CN" altLang="en-US" sz="1400" dirty="0">
                <a:effectLst/>
                <a:latin typeface="+mj-lt"/>
                <a:ea typeface="+mn-ea"/>
              </a:rPr>
              <a:t>语言变量相关的常用函数和符号</a:t>
            </a:r>
            <a:endParaRPr lang="zh-CN" altLang="en-US" sz="1400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0771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4A046-B0C8-F9AE-8A70-E279E5EB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FC536D-0F91-D0E6-8A80-042CE9E3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33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0E848B7E-865A-87ED-4B84-EDFF36C3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6F8A4D-3B52-8EF9-808E-E0D9BDF5CD26}"/>
              </a:ext>
            </a:extLst>
          </p:cNvPr>
          <p:cNvSpPr txBox="1"/>
          <p:nvPr/>
        </p:nvSpPr>
        <p:spPr>
          <a:xfrm>
            <a:off x="-11824" y="2020814"/>
            <a:ext cx="90297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掌握变量相关的常用函数的使用</a:t>
            </a:r>
            <a:endParaRPr lang="en-US" altLang="zh-CN" sz="2000" b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B7F77F-B47F-76AB-BAD3-69C289D5E878}"/>
              </a:ext>
            </a:extLst>
          </p:cNvPr>
          <p:cNvSpPr txBox="1"/>
          <p:nvPr/>
        </p:nvSpPr>
        <p:spPr>
          <a:xfrm>
            <a:off x="1028700" y="2743200"/>
            <a:ext cx="7810500" cy="2308324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ls()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-&gt; V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print(V)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cat(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"The type of variable V is: 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class(V), 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"\n"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cat(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"The 3rd element of variable V is: 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V[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 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"\n"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V[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&lt;-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cat(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"The 3rd element of variable V NOW is: 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V[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 </a:t>
            </a:r>
            <a:r>
              <a:rPr lang="en-US" altLang="zh-CN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"\n"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55169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B56D-3FBC-E985-250F-C7507816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B21D00-9A47-B4AB-DCD9-FE5A03E4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34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0F94E1F9-6B9C-0671-9F25-C4FCBC94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运算符号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79686B-3758-68B5-E141-22FD91177677}"/>
              </a:ext>
            </a:extLst>
          </p:cNvPr>
          <p:cNvSpPr txBox="1"/>
          <p:nvPr/>
        </p:nvSpPr>
        <p:spPr>
          <a:xfrm>
            <a:off x="-76200" y="1485900"/>
            <a:ext cx="9029700" cy="90723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在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语言中，运算符号主要包括</a:t>
            </a:r>
            <a:r>
              <a:rPr lang="zh-CN" altLang="en-US" sz="2000" dirty="0"/>
              <a:t>算术运算符号、关系运算符号、逻辑运算符号和其他杂项符号</a:t>
            </a:r>
            <a:endParaRPr lang="en-US" altLang="zh-CN" sz="2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9632F8C-3A3F-D146-A588-D937FF6D1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60596"/>
              </p:ext>
            </p:extLst>
          </p:nvPr>
        </p:nvGraphicFramePr>
        <p:xfrm>
          <a:off x="647700" y="2628900"/>
          <a:ext cx="7848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654">
                  <a:extLst>
                    <a:ext uri="{9D8B030D-6E8A-4147-A177-3AD203B41FA5}">
                      <a16:colId xmlns:a16="http://schemas.microsoft.com/office/drawing/2014/main" val="2824947688"/>
                    </a:ext>
                  </a:extLst>
                </a:gridCol>
                <a:gridCol w="2963973">
                  <a:extLst>
                    <a:ext uri="{9D8B030D-6E8A-4147-A177-3AD203B41FA5}">
                      <a16:colId xmlns:a16="http://schemas.microsoft.com/office/drawing/2014/main" val="3603104589"/>
                    </a:ext>
                  </a:extLst>
                </a:gridCol>
                <a:gridCol w="2963973">
                  <a:extLst>
                    <a:ext uri="{9D8B030D-6E8A-4147-A177-3AD203B41FA5}">
                      <a16:colId xmlns:a16="http://schemas.microsoft.com/office/drawing/2014/main" val="2022584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符号类型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运算符号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作用描述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7316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算数运算符号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加运算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53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减运算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19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乘运算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341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/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除运算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1371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%%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取余运算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5948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%/%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整除运算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8538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幂运算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2450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D8ACFB7-E5EE-EF62-0840-89CCDDE34A36}"/>
              </a:ext>
            </a:extLst>
          </p:cNvPr>
          <p:cNvSpPr txBox="1"/>
          <p:nvPr/>
        </p:nvSpPr>
        <p:spPr>
          <a:xfrm>
            <a:off x="2962669" y="5677495"/>
            <a:ext cx="32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effectLst/>
                <a:latin typeface="+mj-lt"/>
                <a:ea typeface="+mn-ea"/>
              </a:rPr>
              <a:t>R</a:t>
            </a:r>
            <a:r>
              <a:rPr lang="zh-CN" altLang="en-US" sz="1400" dirty="0">
                <a:effectLst/>
                <a:latin typeface="+mj-lt"/>
                <a:ea typeface="+mn-ea"/>
              </a:rPr>
              <a:t>语言运算符号（算数运算符号）</a:t>
            </a:r>
            <a:endParaRPr lang="zh-CN" altLang="en-US" sz="1400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4444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05603-A6DA-7710-8B79-CF252A72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EBFCD9-B499-1A39-BAA7-611163DF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35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15E9FD52-C373-D449-DC82-B789B65F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运算符号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CB4BF05-A0EC-DC48-F39E-F5C7F960A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803803"/>
              </p:ext>
            </p:extLst>
          </p:nvPr>
        </p:nvGraphicFramePr>
        <p:xfrm>
          <a:off x="647700" y="1295400"/>
          <a:ext cx="78486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654">
                  <a:extLst>
                    <a:ext uri="{9D8B030D-6E8A-4147-A177-3AD203B41FA5}">
                      <a16:colId xmlns:a16="http://schemas.microsoft.com/office/drawing/2014/main" val="2824947688"/>
                    </a:ext>
                  </a:extLst>
                </a:gridCol>
                <a:gridCol w="2963973">
                  <a:extLst>
                    <a:ext uri="{9D8B030D-6E8A-4147-A177-3AD203B41FA5}">
                      <a16:colId xmlns:a16="http://schemas.microsoft.com/office/drawing/2014/main" val="3603104589"/>
                    </a:ext>
                  </a:extLst>
                </a:gridCol>
                <a:gridCol w="2963973">
                  <a:extLst>
                    <a:ext uri="{9D8B030D-6E8A-4147-A177-3AD203B41FA5}">
                      <a16:colId xmlns:a16="http://schemas.microsoft.com/office/drawing/2014/main" val="2022584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符号类型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运算符号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作用描述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7316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关系运算符号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大于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53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19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&gt;=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大于等于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341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lt"/>
                        </a:rPr>
                        <a:t>&lt;=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小于等于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1371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相等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5948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!=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不等于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85386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逻辑运算符号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&amp;, &amp;&amp;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与运算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456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|, ||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或运算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2321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非运算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7553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其它符号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创建序列值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7153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%in%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包含关系运算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2867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%*%</a:t>
                      </a:r>
                      <a:endParaRPr lang="zh-CN" altLang="en-US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矩阵乘法运算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24788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92C77B0-0ED6-EC13-9CEC-40116753E8CC}"/>
              </a:ext>
            </a:extLst>
          </p:cNvPr>
          <p:cNvSpPr txBox="1"/>
          <p:nvPr/>
        </p:nvSpPr>
        <p:spPr>
          <a:xfrm>
            <a:off x="2962669" y="6200316"/>
            <a:ext cx="32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effectLst/>
                <a:latin typeface="+mj-lt"/>
                <a:ea typeface="+mn-ea"/>
              </a:rPr>
              <a:t>R</a:t>
            </a:r>
            <a:r>
              <a:rPr lang="zh-CN" altLang="en-US" sz="1400" dirty="0">
                <a:effectLst/>
                <a:latin typeface="+mj-lt"/>
                <a:ea typeface="+mn-ea"/>
              </a:rPr>
              <a:t>语言运算符号（</a:t>
            </a:r>
            <a:r>
              <a:rPr lang="zh-CN" altLang="en-US" sz="1400" dirty="0">
                <a:latin typeface="+mj-lt"/>
                <a:ea typeface="+mn-ea"/>
              </a:rPr>
              <a:t>续表</a:t>
            </a:r>
            <a:r>
              <a:rPr lang="zh-CN" altLang="en-US" sz="1400" dirty="0">
                <a:effectLst/>
                <a:latin typeface="+mj-lt"/>
                <a:ea typeface="+mn-ea"/>
              </a:rPr>
              <a:t>）</a:t>
            </a:r>
            <a:endParaRPr lang="zh-CN" altLang="en-US" sz="1400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9262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D855-36EB-2ADF-C223-AF1369EC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6BC09-A1F8-E518-4995-D576A7E7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36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80A08DF8-BE5E-E813-8B8D-4B53A368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运算符号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073E77-5EF7-22D9-EDF5-AD7D0EE7FD57}"/>
              </a:ext>
            </a:extLst>
          </p:cNvPr>
          <p:cNvSpPr txBox="1"/>
          <p:nvPr/>
        </p:nvSpPr>
        <p:spPr>
          <a:xfrm>
            <a:off x="114300" y="1485900"/>
            <a:ext cx="90297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掌握每一种运算符号的作用和效果</a:t>
            </a:r>
            <a:endParaRPr lang="en-US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6ED31D-3D14-D1EB-660F-2152B6E0200B}"/>
              </a:ext>
            </a:extLst>
          </p:cNvPr>
          <p:cNvSpPr txBox="1"/>
          <p:nvPr/>
        </p:nvSpPr>
        <p:spPr>
          <a:xfrm>
            <a:off x="1219595" y="2324100"/>
            <a:ext cx="2533650" cy="3970318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+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*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/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+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*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+ 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*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^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^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 &lt;- c(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 &lt;- 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v^s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v%%s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v%/%s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508E2C-A319-454E-C2ED-ADDE0D7A6A07}"/>
              </a:ext>
            </a:extLst>
          </p:cNvPr>
          <p:cNvSpPr txBox="1"/>
          <p:nvPr/>
        </p:nvSpPr>
        <p:spPr>
          <a:xfrm>
            <a:off x="4915689" y="2324100"/>
            <a:ext cx="30853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 &lt;- 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 &lt;- c(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2.5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v&gt;s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v&gt;s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v&gt;=s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v&lt;=s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v==s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v!=s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(v&gt;=s)&amp;(v==s)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(v&gt;s)|(v==s)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 &lt;- 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%in% v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v*t(v)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v%*%t(v)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688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52914-4FEF-00CB-981F-926C6995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E857D-D8BC-8523-2F0D-1B5E9BE2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1.4 R</a:t>
            </a:r>
            <a:r>
              <a:rPr lang="zh-CN" altLang="en-US" sz="3600" dirty="0"/>
              <a:t>语言基础编程语法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1B7BD7-6C83-33C0-C919-8CAADBD4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3369F9-03CD-4B48-86A9-9EE39A82955A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937102-9C52-76F2-C3FF-212AD0FBBF0B}"/>
              </a:ext>
            </a:extLst>
          </p:cNvPr>
          <p:cNvSpPr txBox="1"/>
          <p:nvPr/>
        </p:nvSpPr>
        <p:spPr>
          <a:xfrm>
            <a:off x="1175846" y="2057400"/>
            <a:ext cx="2541080" cy="2677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1.4.1 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判断体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1.4.2 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循环体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000"/>
              </a:spcBef>
            </a:pPr>
            <a:r>
              <a:rPr lang="en-US" altLang="zh-CN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1.4.3 </a:t>
            </a:r>
            <a:r>
              <a:rPr lang="zh-CN" altLang="en-US" sz="3500" b="1" dirty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endParaRPr lang="en-US" altLang="zh-CN" sz="3500" b="1" dirty="0">
              <a:solidFill>
                <a:schemeClr val="accen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280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E795-FFAE-A4EB-19C7-9C0A4661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CCB4F-7162-105A-C9CD-41FB46A1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38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FF7E1DD8-F72A-0FEF-C033-FF522D29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.4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判断体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5777B3-FE9E-DF19-A8CF-B2F6E3212905}"/>
              </a:ext>
            </a:extLst>
          </p:cNvPr>
          <p:cNvSpPr txBox="1"/>
          <p:nvPr/>
        </p:nvSpPr>
        <p:spPr>
          <a:xfrm>
            <a:off x="57149" y="1485900"/>
            <a:ext cx="9029700" cy="90646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在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语言编程中，判断体句法是基础语法之一</a:t>
            </a:r>
            <a:endParaRPr lang="en-US" altLang="zh-CN" sz="2000" b="0" dirty="0"/>
          </a:p>
          <a:p>
            <a:r>
              <a:rPr lang="zh-CN" altLang="en-US" sz="2000" b="0" dirty="0"/>
              <a:t>如果判断体中所执行的语句为单行，</a:t>
            </a:r>
            <a:r>
              <a:rPr lang="en-US" altLang="zh-CN" sz="2000" b="0" dirty="0"/>
              <a:t>{}</a:t>
            </a:r>
            <a:r>
              <a:rPr lang="zh-CN" altLang="en-US" sz="2000" b="0" dirty="0"/>
              <a:t>可缺省</a:t>
            </a:r>
            <a:endParaRPr lang="en-US" altLang="zh-CN" sz="2000" b="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B830B6B-0BC0-9F9C-47A2-9E8C184CC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414094"/>
              </p:ext>
            </p:extLst>
          </p:nvPr>
        </p:nvGraphicFramePr>
        <p:xfrm>
          <a:off x="781049" y="2785424"/>
          <a:ext cx="7581900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82494768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603104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判断体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语法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if…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关系表达式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 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如果关系表达式为真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(TRUE)，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则执行本部分代码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5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if…else…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关系表达式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 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如果关系表达式为真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(TRUE)，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则执行本部分代码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 else {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#如果关系表达式为假(FLASE)，则执行本部分代码.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199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2DA0DD0-3E4B-4FC0-86C6-4E878BFA3658}"/>
              </a:ext>
            </a:extLst>
          </p:cNvPr>
          <p:cNvSpPr txBox="1"/>
          <p:nvPr/>
        </p:nvSpPr>
        <p:spPr>
          <a:xfrm>
            <a:off x="2962669" y="5463698"/>
            <a:ext cx="32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effectLst/>
                <a:latin typeface="+mj-lt"/>
                <a:ea typeface="+mn-ea"/>
              </a:rPr>
              <a:t>R</a:t>
            </a:r>
            <a:r>
              <a:rPr lang="zh-CN" altLang="en-US" sz="1400" dirty="0">
                <a:effectLst/>
                <a:latin typeface="+mj-lt"/>
                <a:ea typeface="+mn-ea"/>
              </a:rPr>
              <a:t>语言判断体语法</a:t>
            </a:r>
            <a:endParaRPr lang="zh-CN" altLang="en-US" sz="1400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1341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D835-2C47-6C40-0E1F-35F3AE54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7612FA-E1C6-26BE-8BC5-4A963256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39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FD79F195-BEF0-DD8A-B77C-8A78E379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.4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判断体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D2BA3E-9124-2E9D-654D-B1A0F6126AE0}"/>
              </a:ext>
            </a:extLst>
          </p:cNvPr>
          <p:cNvSpPr txBox="1"/>
          <p:nvPr/>
        </p:nvSpPr>
        <p:spPr>
          <a:xfrm>
            <a:off x="57149" y="1485900"/>
            <a:ext cx="9029700" cy="90646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在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语言编程中，判断体句法是基础语法之一</a:t>
            </a:r>
            <a:endParaRPr lang="en-US" altLang="zh-CN" sz="2000" b="0" dirty="0"/>
          </a:p>
          <a:p>
            <a:r>
              <a:rPr lang="zh-CN" altLang="en-US" sz="2000" b="0" dirty="0"/>
              <a:t>如果判断体中所执行的语句为单行，</a:t>
            </a:r>
            <a:r>
              <a:rPr lang="en-US" altLang="zh-CN" sz="2000" b="0" dirty="0"/>
              <a:t>{}</a:t>
            </a:r>
            <a:r>
              <a:rPr lang="zh-CN" altLang="en-US" sz="2000" b="0" dirty="0"/>
              <a:t>可缺省</a:t>
            </a:r>
            <a:endParaRPr lang="en-US" altLang="zh-CN" sz="2000" b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3098B2-032F-4618-06C2-BE32E1BE416C}"/>
              </a:ext>
            </a:extLst>
          </p:cNvPr>
          <p:cNvSpPr txBox="1"/>
          <p:nvPr/>
        </p:nvSpPr>
        <p:spPr>
          <a:xfrm>
            <a:off x="2962669" y="5806891"/>
            <a:ext cx="32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effectLst/>
                <a:latin typeface="+mj-lt"/>
                <a:ea typeface="+mn-ea"/>
              </a:rPr>
              <a:t>R</a:t>
            </a:r>
            <a:r>
              <a:rPr lang="zh-CN" altLang="en-US" sz="1400" dirty="0">
                <a:effectLst/>
                <a:latin typeface="+mj-lt"/>
                <a:ea typeface="+mn-ea"/>
              </a:rPr>
              <a:t>语言判断体语法</a:t>
            </a:r>
            <a:endParaRPr lang="zh-CN" altLang="en-US" sz="1400" dirty="0">
              <a:latin typeface="+mj-lt"/>
              <a:ea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7AE0503-450E-A3E6-7A69-337E8ABEF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217732"/>
              </p:ext>
            </p:extLst>
          </p:nvPr>
        </p:nvGraphicFramePr>
        <p:xfrm>
          <a:off x="781049" y="2590800"/>
          <a:ext cx="7581900" cy="302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82494768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603104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判断体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语法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if…else if...else 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if(关系表达式1) {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 如果关系表达式1为真(TRUE)，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则执行本部分代码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 else if(关系表达式2) {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 如果关系表达式2为真(TRUE)，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则执行本部分代码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 else if(关系表达式3) {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 如果关系表达式3为真(TRUE)，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则执行本部分代码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 else {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 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如果以上条件均为假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(FALSE)，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则执行本部分代码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83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switch…case…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switch(expression, case1, case2, case3....)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13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8272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2B91-B1DF-525D-8C7E-D9DB8E88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1DBA06-88D6-60B3-CE18-BEB59DC9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40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AFB875B7-B104-C64C-21A4-3DCC8278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判断体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B62517-4E38-735A-5C97-57F9A9E20389}"/>
              </a:ext>
            </a:extLst>
          </p:cNvPr>
          <p:cNvSpPr txBox="1"/>
          <p:nvPr/>
        </p:nvSpPr>
        <p:spPr>
          <a:xfrm>
            <a:off x="114300" y="1293763"/>
            <a:ext cx="90297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掌握判断体语法的使用，尤其理解不同判断语句的使用技巧与规则</a:t>
            </a:r>
            <a:endParaRPr lang="en-US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77BE1E-183C-7DAA-BD2E-B84CB81103A9}"/>
              </a:ext>
            </a:extLst>
          </p:cNvPr>
          <p:cNvSpPr txBox="1"/>
          <p:nvPr/>
        </p:nvSpPr>
        <p:spPr>
          <a:xfrm>
            <a:off x="1181100" y="1770112"/>
            <a:ext cx="5372100" cy="515525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&lt;-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30L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is.integer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(x))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"X is an Integer"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&lt;- c(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what"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"is"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"truth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"Truth"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%in% x)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"Truth is found"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"Truth is not found"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"Truth"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%in% x)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"Truth is found the first time"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"truth"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%in% x)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"truth is found the second time"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else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"No truth found"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&lt;-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switch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"first"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"second"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"third"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"fourth"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print(x)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87259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C3AB-0F89-3283-8BF1-4E7D7287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8128D-5766-1663-F102-B2011DEA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41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17926CFA-A569-04F4-8950-C2486CDC2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.4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体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CD8AD7-A404-D0DD-125A-9365FC60D51B}"/>
              </a:ext>
            </a:extLst>
          </p:cNvPr>
          <p:cNvSpPr txBox="1"/>
          <p:nvPr/>
        </p:nvSpPr>
        <p:spPr>
          <a:xfrm>
            <a:off x="57149" y="1371600"/>
            <a:ext cx="9029700" cy="90646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在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语言编程中，循环体句法是需要掌握的另一基础语法模块</a:t>
            </a:r>
            <a:endParaRPr lang="en-US" altLang="zh-CN" sz="2000" b="0" dirty="0"/>
          </a:p>
          <a:p>
            <a:r>
              <a:rPr lang="zh-CN" altLang="en-US" sz="2000" b="0" dirty="0"/>
              <a:t>如果判断体中所执行的语句为单行，</a:t>
            </a:r>
            <a:r>
              <a:rPr lang="en-US" altLang="zh-CN" sz="2000" b="0" dirty="0"/>
              <a:t>{}</a:t>
            </a:r>
            <a:r>
              <a:rPr lang="zh-CN" altLang="en-US" sz="2000" b="0" dirty="0"/>
              <a:t>仍可缺省</a:t>
            </a:r>
            <a:endParaRPr lang="en-US" altLang="zh-CN" sz="2000" b="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74B41C6-EE3A-22D1-FA0A-5BC5A494D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325773"/>
              </p:ext>
            </p:extLst>
          </p:nvPr>
        </p:nvGraphicFramePr>
        <p:xfrm>
          <a:off x="781049" y="2497562"/>
          <a:ext cx="75819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824947688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603104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循环体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语法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repeat循环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repeat { 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命令行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if(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关系表达式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break #关系表达式为真(TRUE)，终止循环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}</a:t>
                      </a:r>
                      <a:endParaRPr lang="zh-CN" altLang="zh-C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zh-CN" altLang="en-U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5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循环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(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关系表达式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关系表达式为真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(TRUE)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，执行循环体代码</a:t>
                      </a: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for</a:t>
                      </a:r>
                      <a:r>
                        <a:rPr lang="zh-CN" altLang="en-US" sz="1600" dirty="0"/>
                        <a:t>循环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(value in vector) {</a:t>
                      </a: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#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循环体代码</a:t>
                      </a:r>
                    </a:p>
                    <a:p>
                      <a:pPr indent="-720000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13958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9E4F84E-722C-8B04-35CF-6A6CA319570A}"/>
              </a:ext>
            </a:extLst>
          </p:cNvPr>
          <p:cNvSpPr txBox="1"/>
          <p:nvPr/>
        </p:nvSpPr>
        <p:spPr>
          <a:xfrm>
            <a:off x="2962669" y="6207323"/>
            <a:ext cx="32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effectLst/>
                <a:latin typeface="+mj-lt"/>
                <a:ea typeface="+mn-ea"/>
              </a:rPr>
              <a:t>R</a:t>
            </a:r>
            <a:r>
              <a:rPr lang="zh-CN" altLang="en-US" sz="1400" dirty="0">
                <a:effectLst/>
                <a:latin typeface="+mj-lt"/>
                <a:ea typeface="+mn-ea"/>
              </a:rPr>
              <a:t>语言循环体语法</a:t>
            </a:r>
            <a:endParaRPr lang="zh-CN" altLang="en-US" sz="1400" dirty="0"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54758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0578-7FC5-C6FA-6D52-CC55C053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1F1FFA-C334-2EFD-5562-1AC6EF21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42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1EED572C-94F7-331F-696A-8CDE36FC6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体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792F1F-9074-5425-0FF5-DC39028410E1}"/>
              </a:ext>
            </a:extLst>
          </p:cNvPr>
          <p:cNvSpPr txBox="1"/>
          <p:nvPr/>
        </p:nvSpPr>
        <p:spPr>
          <a:xfrm>
            <a:off x="114300" y="1293763"/>
            <a:ext cx="90297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掌握不同循环体语法的使用方法</a:t>
            </a:r>
            <a:endParaRPr lang="en-US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EA5CBE-535A-CDEB-9FE3-34DD9DA3D57F}"/>
              </a:ext>
            </a:extLst>
          </p:cNvPr>
          <p:cNvSpPr txBox="1"/>
          <p:nvPr/>
        </p:nvSpPr>
        <p:spPr>
          <a:xfrm>
            <a:off x="1181100" y="1972580"/>
            <a:ext cx="5372100" cy="407803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 &lt;- c(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Hello"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"loop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repeat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{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print(v)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cnt+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{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}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 &lt;- c(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Hello"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"while</a:t>
            </a:r>
            <a:r>
              <a:rPr lang="en-US" altLang="zh-CN" sz="1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loop"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{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print(v)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+ 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 &lt;- LETTERS[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6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(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v) {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ts val="1425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90913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0B29-E3ED-2531-FB0E-92984F80E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4DAD35-6F23-72DD-0EE8-CD18A7DC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43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7BD07D39-B9FD-1106-2FE8-80E69FC4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4DA519-24E8-3384-6AA1-D7AC5A226301}"/>
              </a:ext>
            </a:extLst>
          </p:cNvPr>
          <p:cNvSpPr txBox="1"/>
          <p:nvPr/>
        </p:nvSpPr>
        <p:spPr>
          <a:xfrm>
            <a:off x="-76200" y="1144701"/>
            <a:ext cx="9029700" cy="51083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函数是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语言编程过程中的基础单元，通过关键词</a:t>
            </a:r>
            <a:r>
              <a:rPr lang="en-US" altLang="zh-CN" sz="2000" b="0" dirty="0"/>
              <a:t>function</a:t>
            </a:r>
            <a:r>
              <a:rPr lang="zh-CN" altLang="en-US" sz="2000" b="0" dirty="0"/>
              <a:t>进行定义：</a:t>
            </a:r>
            <a:endParaRPr lang="en-US" altLang="zh-CN" sz="2000" b="0" dirty="0"/>
          </a:p>
          <a:p>
            <a:endParaRPr lang="en-US" altLang="zh-CN" sz="2000" b="0" dirty="0"/>
          </a:p>
          <a:p>
            <a:endParaRPr lang="en-US" altLang="zh-CN" sz="1600" b="0" dirty="0"/>
          </a:p>
          <a:p>
            <a:r>
              <a:rPr lang="zh-CN" altLang="en-US" sz="2000" b="0" dirty="0"/>
              <a:t>在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中编写、使用函数时需要注意以下几点：</a:t>
            </a:r>
            <a:endParaRPr lang="en-US" altLang="zh-CN" sz="2000" b="0" dirty="0"/>
          </a:p>
          <a:p>
            <a:pPr marL="74295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b="0" dirty="0"/>
              <a:t>函数的返回值为函数体代码中的最后一个表达式对应的值，因此部分函数会将返回的变量在函数末尾处单独写出来</a:t>
            </a:r>
            <a:endParaRPr lang="en-US" altLang="zh-CN" sz="2000" b="0" dirty="0"/>
          </a:p>
          <a:p>
            <a:pPr marL="74295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b="0" dirty="0"/>
              <a:t>编写一个函数后，需要将函数添加到当前工作空间后才能使用，一般可通过</a:t>
            </a:r>
            <a:r>
              <a:rPr lang="en-US" altLang="zh-CN" sz="2000" i="1" dirty="0"/>
              <a:t>source</a:t>
            </a:r>
            <a:r>
              <a:rPr lang="zh-CN" altLang="en-US" sz="2000" b="0" dirty="0"/>
              <a:t>函数载入代码文件或者将函数体输入到</a:t>
            </a:r>
            <a:r>
              <a:rPr lang="en-US" altLang="zh-CN" sz="2000" b="0" dirty="0"/>
              <a:t>R</a:t>
            </a:r>
            <a:r>
              <a:rPr lang="zh-CN" altLang="en-US" sz="2000" b="0" dirty="0"/>
              <a:t>控制台中</a:t>
            </a:r>
            <a:endParaRPr lang="en-US" altLang="zh-CN" sz="2000" b="0" dirty="0"/>
          </a:p>
          <a:p>
            <a:pPr marL="74295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b="0" dirty="0"/>
              <a:t>R</a:t>
            </a:r>
            <a:r>
              <a:rPr lang="zh-CN" altLang="en-US" sz="2000" b="0" dirty="0"/>
              <a:t>基础软件中的函数，可直接调用，如</a:t>
            </a:r>
            <a:r>
              <a:rPr lang="en-US" altLang="zh-CN" sz="2000" i="1" dirty="0"/>
              <a:t>print</a:t>
            </a:r>
            <a:r>
              <a:rPr lang="zh-CN" altLang="en-US" sz="2000" i="1" dirty="0"/>
              <a:t>、</a:t>
            </a:r>
            <a:r>
              <a:rPr lang="en-US" altLang="zh-CN" sz="2000" i="1" dirty="0"/>
              <a:t>sum</a:t>
            </a:r>
            <a:r>
              <a:rPr lang="zh-CN" altLang="en-US" sz="2000" i="1" dirty="0"/>
              <a:t>、</a:t>
            </a:r>
            <a:r>
              <a:rPr lang="en-US" altLang="zh-CN" sz="2000" i="1" dirty="0"/>
              <a:t>seq</a:t>
            </a:r>
            <a:r>
              <a:rPr lang="zh-CN" altLang="en-US" sz="2000" b="0" dirty="0"/>
              <a:t>等</a:t>
            </a:r>
            <a:endParaRPr lang="en-US" altLang="zh-CN" sz="2000" b="0" dirty="0"/>
          </a:p>
          <a:p>
            <a:pPr marL="74295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b="0" dirty="0"/>
              <a:t>如果需要调用其他函数包中的函数，首先需要通过</a:t>
            </a:r>
            <a:r>
              <a:rPr lang="en-US" altLang="zh-CN" sz="2000" i="1" dirty="0"/>
              <a:t>library</a:t>
            </a:r>
            <a:r>
              <a:rPr lang="zh-CN" altLang="en-US" sz="2000" b="0" dirty="0"/>
              <a:t>或</a:t>
            </a:r>
            <a:r>
              <a:rPr lang="en-US" altLang="zh-CN" sz="2000" i="1" dirty="0"/>
              <a:t>require</a:t>
            </a:r>
            <a:r>
              <a:rPr lang="zh-CN" altLang="en-US" sz="2000" b="0" dirty="0"/>
              <a:t>函数载入函数包后才能使用</a:t>
            </a:r>
            <a:endParaRPr lang="en-US" altLang="zh-CN" sz="2000" b="0" dirty="0"/>
          </a:p>
          <a:p>
            <a:pPr marL="74295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b="0" dirty="0"/>
              <a:t>一般的基础函数或函数包中的函数均提供了详细的用户手册，可通过“ </a:t>
            </a:r>
            <a:r>
              <a:rPr lang="en-US" altLang="zh-CN" sz="2000" b="0" dirty="0"/>
              <a:t>?+</a:t>
            </a:r>
            <a:r>
              <a:rPr lang="zh-CN" altLang="en-US" sz="2000" b="0" dirty="0"/>
              <a:t>函数名称”或“ </a:t>
            </a:r>
            <a:r>
              <a:rPr lang="en-US" altLang="zh-CN" sz="2000" b="0" dirty="0"/>
              <a:t>??+</a:t>
            </a:r>
            <a:r>
              <a:rPr lang="zh-CN" altLang="en-US" sz="2000" b="0" dirty="0"/>
              <a:t>函数名称”调出关于函数的使用说明，以供参考</a:t>
            </a:r>
            <a:endParaRPr lang="en-US" altLang="zh-CN" sz="2000" b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8FDD7B-C976-BD00-FF50-5FDD983E0805}"/>
              </a:ext>
            </a:extLst>
          </p:cNvPr>
          <p:cNvSpPr txBox="1"/>
          <p:nvPr/>
        </p:nvSpPr>
        <p:spPr>
          <a:xfrm>
            <a:off x="2371725" y="1600200"/>
            <a:ext cx="4400550" cy="83099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600" b="1" dirty="0" err="1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function_name</a:t>
            </a:r>
            <a:r>
              <a:rPr lang="en-US" altLang="zh-CN" sz="16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&lt;- function(arg_1, arg_2, ...) {</a:t>
            </a:r>
          </a:p>
          <a:p>
            <a:pPr algn="l">
              <a:buNone/>
            </a:pPr>
            <a:r>
              <a:rPr lang="en-US" altLang="zh-CN" sz="16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  Function body </a:t>
            </a:r>
          </a:p>
          <a:p>
            <a:pPr algn="l">
              <a:buNone/>
            </a:pPr>
            <a:r>
              <a:rPr lang="en-US" altLang="zh-CN" sz="1600" b="1" dirty="0">
                <a:solidFill>
                  <a:srgbClr val="000000"/>
                </a:solidFill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0917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97119-7A91-47BB-6B30-938619E8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048BDC-360C-8A4E-5F14-2C8DEC9B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>
                <a:solidFill>
                  <a:schemeClr val="bg2">
                    <a:lumMod val="75000"/>
                  </a:schemeClr>
                </a:solidFill>
                <a:sym typeface="Consolas" panose="020B0609020204030204" pitchFamily="49" charset="0"/>
              </a:rPr>
              <a:t>44</a:t>
            </a:fld>
            <a:endParaRPr lang="zh-CN" altLang="en-US" dirty="0">
              <a:solidFill>
                <a:schemeClr val="bg2">
                  <a:lumMod val="7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6B9FCE4D-9E07-A485-9715-13A7B172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42900"/>
            <a:ext cx="7007225" cy="663575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00539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628EAC-28C0-A1ED-48C4-4AE101231876}"/>
              </a:ext>
            </a:extLst>
          </p:cNvPr>
          <p:cNvSpPr txBox="1"/>
          <p:nvPr/>
        </p:nvSpPr>
        <p:spPr>
          <a:xfrm>
            <a:off x="114300" y="1293763"/>
            <a:ext cx="9029700" cy="4763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285750" indent="457200" algn="just">
              <a:lnSpc>
                <a:spcPct val="140000"/>
              </a:lnSpc>
              <a:buFont typeface="Wingdings" panose="05000000000000000000" pitchFamily="2" charset="2"/>
              <a:buChar char="ü"/>
              <a:defRPr b="1">
                <a:latin typeface="+mn-lt"/>
                <a:ea typeface="+mn-ea"/>
              </a:defRPr>
            </a:lvl1pPr>
          </a:lstStyle>
          <a:p>
            <a:r>
              <a:rPr lang="zh-CN" altLang="en-US" sz="2000" b="0" dirty="0"/>
              <a:t>掌握如何创建、调用函数</a:t>
            </a:r>
            <a:endParaRPr lang="en-US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488B87-BAA1-0319-244D-6013FE27FFD6}"/>
              </a:ext>
            </a:extLst>
          </p:cNvPr>
          <p:cNvSpPr txBox="1"/>
          <p:nvPr/>
        </p:nvSpPr>
        <p:spPr>
          <a:xfrm>
            <a:off x="1181102" y="1819001"/>
            <a:ext cx="5372100" cy="4616648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new.function1 &lt;-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  print(i^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}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new.function1()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new.function2 &lt;-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a,b,c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result &lt;- a * b + c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print(result)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new.function2(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new.function2(a =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 =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 =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new.function2 &lt;- 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function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 =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 = 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result &lt;- a * b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 print(result)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new.function2()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new.function2(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new.function2(b=</a:t>
            </a:r>
            <a:r>
              <a:rPr lang="en-US" altLang="zh-CN" sz="140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92376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A4116-18C0-76F6-C0EB-76B327487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174625"/>
            <a:ext cx="6896099" cy="663575"/>
          </a:xfrm>
        </p:spPr>
        <p:txBody>
          <a:bodyPr/>
          <a:lstStyle/>
          <a:p>
            <a:r>
              <a:rPr lang="zh-CN" altLang="en-US" dirty="0"/>
              <a:t>参考教材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169501A-70AB-40D4-B144-E9884F45072F}" type="slidenum">
              <a:rPr lang="zh-CN" altLang="en-US" smtClean="0">
                <a:solidFill>
                  <a:schemeClr val="bg1">
                    <a:lumMod val="65000"/>
                  </a:schemeClr>
                </a:solidFill>
              </a:rPr>
              <a:t>45</a:t>
            </a:fld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AutoShape 2" descr="https://wx.qq.com/cgi-bin/mmwebwx-bin/webwxgetmsgimg?&amp;MsgID=1011342995928164582&amp;skey=%40crypt_f86d81c0_f5935c9dae5f61551a58979cad691918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64FBEF-05A7-A185-BB75-88B38013D5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490" y="1418579"/>
            <a:ext cx="3274810" cy="46012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A4ECE16-AA4B-8A19-EB0D-84744197E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440809"/>
            <a:ext cx="3353787" cy="4578991"/>
          </a:xfrm>
          <a:prstGeom prst="rect">
            <a:avLst/>
          </a:prstGeom>
          <a:ln>
            <a:solidFill>
              <a:srgbClr val="F9FAFC"/>
            </a:solidFill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390"/>
      </a:accent1>
      <a:accent2>
        <a:srgbClr val="FFC000"/>
      </a:accent2>
      <a:accent3>
        <a:srgbClr val="FFFF00"/>
      </a:accent3>
      <a:accent4>
        <a:srgbClr val="00B050"/>
      </a:accent4>
      <a:accent5>
        <a:srgbClr val="00B0F0"/>
      </a:accent5>
      <a:accent6>
        <a:srgbClr val="0070C0"/>
      </a:accent6>
      <a:hlink>
        <a:srgbClr val="7030A0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1854</TotalTime>
  <Words>4851</Words>
  <Application>Microsoft Office PowerPoint</Application>
  <PresentationFormat>全屏显示(4:3)</PresentationFormat>
  <Paragraphs>656</Paragraphs>
  <Slides>45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宋体</vt:lpstr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第一章 R语言基础</vt:lpstr>
      <vt:lpstr>目录</vt:lpstr>
      <vt:lpstr>1.1 R语言简介</vt:lpstr>
      <vt:lpstr>1.1 R语言简介</vt:lpstr>
      <vt:lpstr>1.1.1 R软件安装</vt:lpstr>
      <vt:lpstr>1.1.1 R软件安装</vt:lpstr>
      <vt:lpstr>1.1.2 R辅助编程软件</vt:lpstr>
      <vt:lpstr>1.1.2 R辅助编程软件</vt:lpstr>
      <vt:lpstr>1.1.2 R辅助编程软件</vt:lpstr>
      <vt:lpstr>1.1.3 R函数包安装</vt:lpstr>
      <vt:lpstr>1.1.3 R函数包安装</vt:lpstr>
      <vt:lpstr>1.1.3 R函数包安装</vt:lpstr>
      <vt:lpstr>1.1.3 R函数包安装</vt:lpstr>
      <vt:lpstr>1.2 数据类型</vt:lpstr>
      <vt:lpstr>1.2.1 基础数据类型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1.2.2 结构体对象数据类型</vt:lpstr>
      <vt:lpstr>1.3 变量及运算符号</vt:lpstr>
      <vt:lpstr>1.3.1 变量</vt:lpstr>
      <vt:lpstr>1.3.1 变量</vt:lpstr>
      <vt:lpstr>1.3.2 运算符号</vt:lpstr>
      <vt:lpstr>1.3.2 运算符号</vt:lpstr>
      <vt:lpstr>1.3.2 运算符号</vt:lpstr>
      <vt:lpstr>1.4 R语言基础编程语法</vt:lpstr>
      <vt:lpstr>1.4.1 判断体</vt:lpstr>
      <vt:lpstr>1.4.1 判断体</vt:lpstr>
      <vt:lpstr>1.4.1 判断体</vt:lpstr>
      <vt:lpstr>1.4.2 循环体</vt:lpstr>
      <vt:lpstr>1.4.2 循环体</vt:lpstr>
      <vt:lpstr>1.4.3 函数</vt:lpstr>
      <vt:lpstr>1.4.3 函数</vt:lpstr>
      <vt:lpstr>参考教材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Binbin Lu</cp:lastModifiedBy>
  <cp:revision>401</cp:revision>
  <dcterms:created xsi:type="dcterms:W3CDTF">2019-05-21T17:53:00Z</dcterms:created>
  <dcterms:modified xsi:type="dcterms:W3CDTF">2025-04-07T02:12:03Z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2BF106B6094D49028DE9D54E62957DB2_12</vt:lpwstr>
  </property>
</Properties>
</file>