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4" r:id="rId1"/>
  </p:sldMasterIdLst>
  <p:notesMasterIdLst>
    <p:notesMasterId r:id="rId69"/>
  </p:notesMasterIdLst>
  <p:sldIdLst>
    <p:sldId id="256" r:id="rId2"/>
    <p:sldId id="600" r:id="rId3"/>
    <p:sldId id="266" r:id="rId4"/>
    <p:sldId id="305" r:id="rId5"/>
    <p:sldId id="625" r:id="rId6"/>
    <p:sldId id="626" r:id="rId7"/>
    <p:sldId id="627" r:id="rId8"/>
    <p:sldId id="628" r:id="rId9"/>
    <p:sldId id="629" r:id="rId10"/>
    <p:sldId id="630" r:id="rId11"/>
    <p:sldId id="631" r:id="rId12"/>
    <p:sldId id="632" r:id="rId13"/>
    <p:sldId id="633" r:id="rId14"/>
    <p:sldId id="660" r:id="rId15"/>
    <p:sldId id="634" r:id="rId16"/>
    <p:sldId id="407" r:id="rId17"/>
    <p:sldId id="350" r:id="rId18"/>
    <p:sldId id="410" r:id="rId19"/>
    <p:sldId id="661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672" r:id="rId31"/>
    <p:sldId id="372" r:id="rId32"/>
    <p:sldId id="371" r:id="rId33"/>
    <p:sldId id="673" r:id="rId34"/>
    <p:sldId id="375" r:id="rId35"/>
    <p:sldId id="674" r:id="rId36"/>
    <p:sldId id="675" r:id="rId37"/>
    <p:sldId id="676" r:id="rId38"/>
    <p:sldId id="677" r:id="rId39"/>
    <p:sldId id="678" r:id="rId40"/>
    <p:sldId id="679" r:id="rId41"/>
    <p:sldId id="680" r:id="rId42"/>
    <p:sldId id="681" r:id="rId43"/>
    <p:sldId id="682" r:id="rId44"/>
    <p:sldId id="683" r:id="rId45"/>
    <p:sldId id="643" r:id="rId46"/>
    <p:sldId id="684" r:id="rId47"/>
    <p:sldId id="685" r:id="rId48"/>
    <p:sldId id="686" r:id="rId49"/>
    <p:sldId id="687" r:id="rId50"/>
    <p:sldId id="688" r:id="rId51"/>
    <p:sldId id="689" r:id="rId52"/>
    <p:sldId id="690" r:id="rId53"/>
    <p:sldId id="691" r:id="rId54"/>
    <p:sldId id="692" r:id="rId55"/>
    <p:sldId id="693" r:id="rId56"/>
    <p:sldId id="694" r:id="rId57"/>
    <p:sldId id="695" r:id="rId58"/>
    <p:sldId id="696" r:id="rId59"/>
    <p:sldId id="697" r:id="rId60"/>
    <p:sldId id="698" r:id="rId61"/>
    <p:sldId id="699" r:id="rId62"/>
    <p:sldId id="700" r:id="rId63"/>
    <p:sldId id="701" r:id="rId64"/>
    <p:sldId id="702" r:id="rId65"/>
    <p:sldId id="703" r:id="rId66"/>
    <p:sldId id="704" r:id="rId67"/>
    <p:sldId id="624" r:id="rId68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5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2C0"/>
    <a:srgbClr val="160A02"/>
    <a:srgbClr val="F13B09"/>
    <a:srgbClr val="F75529"/>
    <a:srgbClr val="170401"/>
    <a:srgbClr val="170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282" autoAdjust="0"/>
  </p:normalViewPr>
  <p:slideViewPr>
    <p:cSldViewPr showGuides="1">
      <p:cViewPr varScale="1">
        <p:scale>
          <a:sx n="77" d="100"/>
          <a:sy n="77" d="100"/>
        </p:scale>
        <p:origin x="1157" y="67"/>
      </p:cViewPr>
      <p:guideLst>
        <p:guide orient="horz" pos="2352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0128E977-6F5A-48DB-ACA7-C6E15821CB3C}" type="datetimeFigureOut">
              <a:rPr lang="zh-CN" altLang="en-US"/>
              <a:t>2025-04-01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5F5AD7FC-C08A-4786-B2D8-ABE422D6354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29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9pPr>
          </a:lstStyle>
          <a:p>
            <a:fld id="{7C8FC65C-FC7A-4192-9B2D-44DFEE13D47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06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561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DEAAB-BE69-7923-B1DE-F68C5B7D8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14A1E9-F9F8-C8CE-6221-05D7B1DEC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5EA3C3-92E8-D64D-69B4-FFE2D9DC7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300E9F7-993E-71A0-2CDD-67E51B784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354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8162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670EA-E8A6-E862-7B46-93F1733C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77D800-4E83-B244-425B-CBB69A778B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18934B7-D1A1-9F45-7743-9A4151840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AAEDAA-F432-49FB-B35F-404A55A51B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965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5753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80FBE-DCCA-BB11-38A0-89BCDE58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BE26B31-7806-758D-B6B2-2B8BA5CB4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F72CBE-A3DA-49BC-0D45-68F8387E7B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2AC9EE-A015-3AF3-7D48-349894D18B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8736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C1FBA-1EFF-5928-974D-BB21D008C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4F5480-D7E4-4591-924D-F3BF4D6A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C008E8-42B3-3A59-CC57-2EEE58BB8E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E99EF7-AB00-77FD-E075-E4A1F2EFE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1444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437A8-4691-1DB1-BD68-DB058617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CA2816F-7969-0F39-72E5-B0AB6DC639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1DED76-D9AE-1396-091F-66DD5E1D5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47C54F-ED00-CA29-2EED-04D201694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47642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1A1D6-4E71-0C7C-4FD7-50DB8CB7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83BD50-1A3D-2CDC-16E2-767817B48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E7DD56-4821-8685-0AF9-62D9A7624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9A726D-CF6A-2F2F-2ADB-5D3B966C89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684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E8C0-6832-D597-20B3-E4A56E55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0535C3-57F1-7771-CA5E-07D265B76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33F2C4-F03E-E404-4383-CD6C7DCE5D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E6C31E-D30B-601F-6E75-6960142AF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473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8C679-3973-375D-760B-C7399657A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5D8637-C295-A49A-31D2-CA6FF08F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EBA5D-7B52-3A62-F909-65AEC522A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B29F48-52E4-EDA6-B029-72CA6F62C2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489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96C2C-95BD-C61D-841A-3DD85F5D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D5A7FB-0154-47EB-4FC9-2D21BB18D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1BCFEB-007A-C556-305C-3661162C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22038CB-D856-B725-3E79-E59A3A0F8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20067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2AE43-AEF0-B812-4370-825CFA583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9B07538-C783-B0A5-3143-04C08BDDB7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3D3573-440B-4BFC-024E-85C5A9A50D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E42444-2282-EE63-C83D-B55CD4D15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1986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76787-42EF-87BA-2688-8706DD29A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EA3E2-531C-B8E1-DE39-72C2AC7841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F874EEC-C25F-5254-814A-7BF3EAF208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2EDA3E-BBF7-DBB3-9CB1-0BC7FAA8F3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3040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17D45-006E-056B-9E20-F02147864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28E5762-0FEA-A3F4-59BF-5E02B1867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7067D7-DECD-1B34-9211-7CD7B3559C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783B4D-F634-B125-F5A8-1B1C6BF41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63264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B2E79-CF46-E6B3-10C4-C2B1AB338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C9EF9F0-AC44-C863-FEB8-8C39DB4F5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950E571-1EEC-F3A5-8CB5-5165DFDE0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04B3EB-1BE6-72B8-9481-17720F3211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616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FF4F5-9130-752C-F75C-4D3F0BE9A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3D2FCAE-DC0B-8125-E14C-267FDB5EB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F1D37ED-842C-CF99-9259-3808A5BDCA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98898A0-E40E-57B3-F402-F86EF2F5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9260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694B2-9A1F-60D0-C189-A2B5683AC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8581F8-5BA7-8DEF-196A-18738A7258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E774F5-0E34-CC45-44C1-6757020EC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FEAAB3C-0436-FF80-F846-79A6238BA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12608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EC243-21A6-E844-B71F-E09F0A80B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DE517D-5034-65B7-B6B0-910FD5832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17C3C75-8CFD-9BC3-9797-B8B843094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F9E5D0-A5F1-B5B6-4426-BAF08BF91F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8672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E294-C5BC-9425-EF3F-31680CE75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996B15-9B3A-5CB4-0F6D-87C67A0B6A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F0EB94-C62A-8B71-9560-5A226B5AE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AC1A7-A230-3615-E97A-B9B97FAB7E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7040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FCC74-3CAB-267F-CC70-D502A114A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5C0F65B-8BB1-2125-6D47-0251F1306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504CD8-973D-A481-772C-F9C007B7AC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48A40BF-4D77-45E6-D000-9FC8F0F77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9048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FE4AB-1EF5-6401-42B2-B1F9AE08B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44C266-25B6-47B7-E35B-F5F581B2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729308C-F5B8-4FA1-3E5E-6068219472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AF336F-E967-543C-47B6-60FB576D81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1776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1102E-6680-8B87-D488-1971C3E0C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B3812B-17FB-8902-8F68-39811C17C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418BF46-46B0-0B93-11B0-FE27AF32F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D46B4C-8531-2D02-D6B7-734F586BDA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F5AD7FC-C08A-4786-B2D8-ABE422D63548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4494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F7BFE90-15E2-85F1-DC21-9F30F15BE9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956"/>
            <a:ext cx="9144000" cy="293268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0DF95DEE-62C4-726A-8710-98E9D65E92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934" y="3924304"/>
            <a:ext cx="7772400" cy="746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BD5A4C6E-5682-DE35-0D2B-5B7B28334D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914904"/>
            <a:ext cx="6400800" cy="746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任意形状 36">
            <a:extLst>
              <a:ext uri="{FF2B5EF4-FFF2-40B4-BE49-F238E27FC236}">
                <a16:creationId xmlns:a16="http://schemas.microsoft.com/office/drawing/2014/main" id="{5E4D2989-644D-FF21-CB71-0031B192B734}"/>
              </a:ext>
            </a:extLst>
          </p:cNvPr>
          <p:cNvSpPr/>
          <p:nvPr userDrawn="1"/>
        </p:nvSpPr>
        <p:spPr>
          <a:xfrm>
            <a:off x="-138132" y="-147919"/>
            <a:ext cx="9434532" cy="3238555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2B21B49-9233-4894-699A-9F227E3433EA}"/>
              </a:ext>
            </a:extLst>
          </p:cNvPr>
          <p:cNvSpPr/>
          <p:nvPr userDrawn="1"/>
        </p:nvSpPr>
        <p:spPr>
          <a:xfrm>
            <a:off x="0" y="0"/>
            <a:ext cx="9144000" cy="1632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B98C6378-009E-D4A7-2688-4173F37D08B9}"/>
              </a:ext>
            </a:extLst>
          </p:cNvPr>
          <p:cNvGrpSpPr/>
          <p:nvPr userDrawn="1"/>
        </p:nvGrpSpPr>
        <p:grpSpPr>
          <a:xfrm>
            <a:off x="3962400" y="2400300"/>
            <a:ext cx="1219200" cy="1231468"/>
            <a:chOff x="6678206" y="3208602"/>
            <a:chExt cx="1219200" cy="123146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A9E0E4F1-6747-A1B1-7D6E-7E17AF314ED7}"/>
                </a:ext>
              </a:extLst>
            </p:cNvPr>
            <p:cNvSpPr/>
            <p:nvPr/>
          </p:nvSpPr>
          <p:spPr>
            <a:xfrm>
              <a:off x="6683774" y="3226438"/>
              <a:ext cx="1213632" cy="12136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4" name="íšḻîďê">
              <a:extLst>
                <a:ext uri="{FF2B5EF4-FFF2-40B4-BE49-F238E27FC236}">
                  <a16:creationId xmlns:a16="http://schemas.microsoft.com/office/drawing/2014/main" id="{F7347D1F-5813-004C-7200-EADF96CC9CDF}"/>
                </a:ext>
              </a:extLst>
            </p:cNvPr>
            <p:cNvGrpSpPr/>
            <p:nvPr/>
          </p:nvGrpSpPr>
          <p:grpSpPr>
            <a:xfrm>
              <a:off x="6678206" y="3208602"/>
              <a:ext cx="1219200" cy="1227234"/>
              <a:chOff x="3551238" y="3067050"/>
              <a:chExt cx="722313" cy="727075"/>
            </a:xfrm>
          </p:grpSpPr>
          <p:sp>
            <p:nvSpPr>
              <p:cNvPr id="15" name="ïş1íḍê">
                <a:extLst>
                  <a:ext uri="{FF2B5EF4-FFF2-40B4-BE49-F238E27FC236}">
                    <a16:creationId xmlns:a16="http://schemas.microsoft.com/office/drawing/2014/main" id="{95227576-4B82-3143-830D-2935EADCE8A1}"/>
                  </a:ext>
                </a:extLst>
              </p:cNvPr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6" name="íšḻïḍè">
                <a:extLst>
                  <a:ext uri="{FF2B5EF4-FFF2-40B4-BE49-F238E27FC236}">
                    <a16:creationId xmlns:a16="http://schemas.microsoft.com/office/drawing/2014/main" id="{6939B5D1-5527-2568-90BC-67D3BDB29C08}"/>
                  </a:ext>
                </a:extLst>
              </p:cNvPr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7" name="ïśľíḓé">
                <a:extLst>
                  <a:ext uri="{FF2B5EF4-FFF2-40B4-BE49-F238E27FC236}">
                    <a16:creationId xmlns:a16="http://schemas.microsoft.com/office/drawing/2014/main" id="{CA0B3B9D-20FA-9B89-221C-76FC5E166112}"/>
                  </a:ext>
                </a:extLst>
              </p:cNvPr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8" name="ïslíḍê">
                <a:extLst>
                  <a:ext uri="{FF2B5EF4-FFF2-40B4-BE49-F238E27FC236}">
                    <a16:creationId xmlns:a16="http://schemas.microsoft.com/office/drawing/2014/main" id="{33DD538D-078F-4824-89B2-15674CA24731}"/>
                  </a:ext>
                </a:extLst>
              </p:cNvPr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9" name="íṡļïdê">
                <a:extLst>
                  <a:ext uri="{FF2B5EF4-FFF2-40B4-BE49-F238E27FC236}">
                    <a16:creationId xmlns:a16="http://schemas.microsoft.com/office/drawing/2014/main" id="{58B02BF3-D2E7-9778-28CF-7EEDC051FA24}"/>
                  </a:ext>
                </a:extLst>
              </p:cNvPr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0" name="iş1ïďe">
                <a:extLst>
                  <a:ext uri="{FF2B5EF4-FFF2-40B4-BE49-F238E27FC236}">
                    <a16:creationId xmlns:a16="http://schemas.microsoft.com/office/drawing/2014/main" id="{6BF49FBF-6584-29F8-6416-27B5C22C71DE}"/>
                  </a:ext>
                </a:extLst>
              </p:cNvPr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1" name="ïṩḷíḍé">
                <a:extLst>
                  <a:ext uri="{FF2B5EF4-FFF2-40B4-BE49-F238E27FC236}">
                    <a16:creationId xmlns:a16="http://schemas.microsoft.com/office/drawing/2014/main" id="{F99FAB69-C944-B51B-F51E-26B4574BDB68}"/>
                  </a:ext>
                </a:extLst>
              </p:cNvPr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2" name="ïśľíḍè">
                <a:extLst>
                  <a:ext uri="{FF2B5EF4-FFF2-40B4-BE49-F238E27FC236}">
                    <a16:creationId xmlns:a16="http://schemas.microsoft.com/office/drawing/2014/main" id="{97F83C21-BE0A-60BC-BB50-0D2A5731421E}"/>
                  </a:ext>
                </a:extLst>
              </p:cNvPr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3" name="í$ḻîḋè">
                <a:extLst>
                  <a:ext uri="{FF2B5EF4-FFF2-40B4-BE49-F238E27FC236}">
                    <a16:creationId xmlns:a16="http://schemas.microsoft.com/office/drawing/2014/main" id="{8FB660CF-B573-76E3-76B9-7A5D5273BF81}"/>
                  </a:ext>
                </a:extLst>
              </p:cNvPr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4" name="iṣļíḋe">
                <a:extLst>
                  <a:ext uri="{FF2B5EF4-FFF2-40B4-BE49-F238E27FC236}">
                    <a16:creationId xmlns:a16="http://schemas.microsoft.com/office/drawing/2014/main" id="{786DAAD8-39D0-B32D-D13D-A946B84F2673}"/>
                  </a:ext>
                </a:extLst>
              </p:cNvPr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5" name="iṩḷiḓé">
                <a:extLst>
                  <a:ext uri="{FF2B5EF4-FFF2-40B4-BE49-F238E27FC236}">
                    <a16:creationId xmlns:a16="http://schemas.microsoft.com/office/drawing/2014/main" id="{C08C796C-4AAC-1D07-B9E9-64CB7D0F86CB}"/>
                  </a:ext>
                </a:extLst>
              </p:cNvPr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6" name="iSľiḍè">
                <a:extLst>
                  <a:ext uri="{FF2B5EF4-FFF2-40B4-BE49-F238E27FC236}">
                    <a16:creationId xmlns:a16="http://schemas.microsoft.com/office/drawing/2014/main" id="{457A408D-75F0-B8C0-D410-B8396135AA37}"/>
                  </a:ext>
                </a:extLst>
              </p:cNvPr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7" name="ïṩḷîḍe">
                <a:extLst>
                  <a:ext uri="{FF2B5EF4-FFF2-40B4-BE49-F238E27FC236}">
                    <a16:creationId xmlns:a16="http://schemas.microsoft.com/office/drawing/2014/main" id="{E5FD1222-8366-882E-A78A-AE4C18AA9480}"/>
                  </a:ext>
                </a:extLst>
              </p:cNvPr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8" name="íšḻiḑê">
                <a:extLst>
                  <a:ext uri="{FF2B5EF4-FFF2-40B4-BE49-F238E27FC236}">
                    <a16:creationId xmlns:a16="http://schemas.microsoft.com/office/drawing/2014/main" id="{B455352B-04E3-26AC-AA66-02FBA0E50C5A}"/>
                  </a:ext>
                </a:extLst>
              </p:cNvPr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9" name="ïṩļïďè">
                <a:extLst>
                  <a:ext uri="{FF2B5EF4-FFF2-40B4-BE49-F238E27FC236}">
                    <a16:creationId xmlns:a16="http://schemas.microsoft.com/office/drawing/2014/main" id="{0B5BDE9F-35A2-9585-AD63-0657D08E1058}"/>
                  </a:ext>
                </a:extLst>
              </p:cNvPr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0" name="îṥlïḋê">
                <a:extLst>
                  <a:ext uri="{FF2B5EF4-FFF2-40B4-BE49-F238E27FC236}">
                    <a16:creationId xmlns:a16="http://schemas.microsoft.com/office/drawing/2014/main" id="{CA7AA2E7-E751-E5A6-A545-EA2D4130B381}"/>
                  </a:ext>
                </a:extLst>
              </p:cNvPr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1" name="îṧľïdè">
                <a:extLst>
                  <a:ext uri="{FF2B5EF4-FFF2-40B4-BE49-F238E27FC236}">
                    <a16:creationId xmlns:a16="http://schemas.microsoft.com/office/drawing/2014/main" id="{26BC02DE-A6C9-74AE-B674-001380FC91D4}"/>
                  </a:ext>
                </a:extLst>
              </p:cNvPr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2" name="iSḷîḓê">
                <a:extLst>
                  <a:ext uri="{FF2B5EF4-FFF2-40B4-BE49-F238E27FC236}">
                    <a16:creationId xmlns:a16="http://schemas.microsoft.com/office/drawing/2014/main" id="{2D7F4B15-277F-C689-DAD9-96C0CFE3BC23}"/>
                  </a:ext>
                </a:extLst>
              </p:cNvPr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3" name="îślíďè">
                <a:extLst>
                  <a:ext uri="{FF2B5EF4-FFF2-40B4-BE49-F238E27FC236}">
                    <a16:creationId xmlns:a16="http://schemas.microsoft.com/office/drawing/2014/main" id="{59ECE6B0-8978-0427-3DEC-627DCF58E69E}"/>
                  </a:ext>
                </a:extLst>
              </p:cNvPr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4" name="iSḻïḍè">
                <a:extLst>
                  <a:ext uri="{FF2B5EF4-FFF2-40B4-BE49-F238E27FC236}">
                    <a16:creationId xmlns:a16="http://schemas.microsoft.com/office/drawing/2014/main" id="{5824C7F3-0931-08D6-0D06-95851FDC1071}"/>
                  </a:ext>
                </a:extLst>
              </p:cNvPr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5" name="ïṡliḑê">
                <a:extLst>
                  <a:ext uri="{FF2B5EF4-FFF2-40B4-BE49-F238E27FC236}">
                    <a16:creationId xmlns:a16="http://schemas.microsoft.com/office/drawing/2014/main" id="{3895E64E-DE11-80AF-8636-0A9477071DFB}"/>
                  </a:ext>
                </a:extLst>
              </p:cNvPr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6" name="islïďé">
                <a:extLst>
                  <a:ext uri="{FF2B5EF4-FFF2-40B4-BE49-F238E27FC236}">
                    <a16:creationId xmlns:a16="http://schemas.microsoft.com/office/drawing/2014/main" id="{BFA52E9C-D39B-FCC3-C6D2-BC9DE724B7E0}"/>
                  </a:ext>
                </a:extLst>
              </p:cNvPr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7" name="îṥḷîdé">
                <a:extLst>
                  <a:ext uri="{FF2B5EF4-FFF2-40B4-BE49-F238E27FC236}">
                    <a16:creationId xmlns:a16="http://schemas.microsoft.com/office/drawing/2014/main" id="{580A999F-F749-328E-4B79-27E41D42A342}"/>
                  </a:ext>
                </a:extLst>
              </p:cNvPr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8" name="isḷîḋé">
                <a:extLst>
                  <a:ext uri="{FF2B5EF4-FFF2-40B4-BE49-F238E27FC236}">
                    <a16:creationId xmlns:a16="http://schemas.microsoft.com/office/drawing/2014/main" id="{EFDF792B-7CF0-3910-271B-F0A42924DC95}"/>
                  </a:ext>
                </a:extLst>
              </p:cNvPr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9" name="iśḷïḑè">
                <a:extLst>
                  <a:ext uri="{FF2B5EF4-FFF2-40B4-BE49-F238E27FC236}">
                    <a16:creationId xmlns:a16="http://schemas.microsoft.com/office/drawing/2014/main" id="{670C9938-4753-5463-A0AA-380F50055B9F}"/>
                  </a:ext>
                </a:extLst>
              </p:cNvPr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0" name="iṧľiďé">
                <a:extLst>
                  <a:ext uri="{FF2B5EF4-FFF2-40B4-BE49-F238E27FC236}">
                    <a16:creationId xmlns:a16="http://schemas.microsoft.com/office/drawing/2014/main" id="{2AF60DC3-A7D2-1E8F-9F4F-3F87D0BB4B70}"/>
                  </a:ext>
                </a:extLst>
              </p:cNvPr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1" name="išľïḍé">
                <a:extLst>
                  <a:ext uri="{FF2B5EF4-FFF2-40B4-BE49-F238E27FC236}">
                    <a16:creationId xmlns:a16="http://schemas.microsoft.com/office/drawing/2014/main" id="{0FE32492-C4E7-46CE-2899-3DC6BFD9D69F}"/>
                  </a:ext>
                </a:extLst>
              </p:cNvPr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2" name="îŝlîḑè">
                <a:extLst>
                  <a:ext uri="{FF2B5EF4-FFF2-40B4-BE49-F238E27FC236}">
                    <a16:creationId xmlns:a16="http://schemas.microsoft.com/office/drawing/2014/main" id="{AA256656-8770-E6AC-20F9-DA3F7D643669}"/>
                  </a:ext>
                </a:extLst>
              </p:cNvPr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3" name="îṩḻíḓe">
                <a:extLst>
                  <a:ext uri="{FF2B5EF4-FFF2-40B4-BE49-F238E27FC236}">
                    <a16:creationId xmlns:a16="http://schemas.microsoft.com/office/drawing/2014/main" id="{2C365A02-1A2F-953D-2338-0DAE4B589110}"/>
                  </a:ext>
                </a:extLst>
              </p:cNvPr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4" name="î$1îdè">
                <a:extLst>
                  <a:ext uri="{FF2B5EF4-FFF2-40B4-BE49-F238E27FC236}">
                    <a16:creationId xmlns:a16="http://schemas.microsoft.com/office/drawing/2014/main" id="{2BF24C83-BD61-A668-5516-F06B1292023E}"/>
                  </a:ext>
                </a:extLst>
              </p:cNvPr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5" name="iśľïḓe">
                <a:extLst>
                  <a:ext uri="{FF2B5EF4-FFF2-40B4-BE49-F238E27FC236}">
                    <a16:creationId xmlns:a16="http://schemas.microsoft.com/office/drawing/2014/main" id="{724DEE0A-7188-1993-F77C-33EA0F9BC119}"/>
                  </a:ext>
                </a:extLst>
              </p:cNvPr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6" name="iṣļïḑè">
                <a:extLst>
                  <a:ext uri="{FF2B5EF4-FFF2-40B4-BE49-F238E27FC236}">
                    <a16:creationId xmlns:a16="http://schemas.microsoft.com/office/drawing/2014/main" id="{7CB336E7-D5D7-08B4-E447-159C257E6EF1}"/>
                  </a:ext>
                </a:extLst>
              </p:cNvPr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7" name="iṡḷidé">
                <a:extLst>
                  <a:ext uri="{FF2B5EF4-FFF2-40B4-BE49-F238E27FC236}">
                    <a16:creationId xmlns:a16="http://schemas.microsoft.com/office/drawing/2014/main" id="{2CBB26B0-D959-BC67-5ABD-43096B72A79D}"/>
                  </a:ext>
                </a:extLst>
              </p:cNvPr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8" name="íṡḷíḋe">
                <a:extLst>
                  <a:ext uri="{FF2B5EF4-FFF2-40B4-BE49-F238E27FC236}">
                    <a16:creationId xmlns:a16="http://schemas.microsoft.com/office/drawing/2014/main" id="{AF2718BE-5725-BCF8-1B6C-1F9921E65936}"/>
                  </a:ext>
                </a:extLst>
              </p:cNvPr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9" name="íŝ1iḑê">
                <a:extLst>
                  <a:ext uri="{FF2B5EF4-FFF2-40B4-BE49-F238E27FC236}">
                    <a16:creationId xmlns:a16="http://schemas.microsoft.com/office/drawing/2014/main" id="{679F812F-A7A6-7960-559C-57A32C4E0D0A}"/>
                  </a:ext>
                </a:extLst>
              </p:cNvPr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0" name="îṩḷiḑe">
                <a:extLst>
                  <a:ext uri="{FF2B5EF4-FFF2-40B4-BE49-F238E27FC236}">
                    <a16:creationId xmlns:a16="http://schemas.microsoft.com/office/drawing/2014/main" id="{74F53302-BCA0-E517-0D19-9CE7C2BE8520}"/>
                  </a:ext>
                </a:extLst>
              </p:cNvPr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1" name="iṧḻiḑê">
                <a:extLst>
                  <a:ext uri="{FF2B5EF4-FFF2-40B4-BE49-F238E27FC236}">
                    <a16:creationId xmlns:a16="http://schemas.microsoft.com/office/drawing/2014/main" id="{463DC37F-5278-6810-D28D-506D198B78A6}"/>
                  </a:ext>
                </a:extLst>
              </p:cNvPr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2" name="ïṣḻîḋè">
                <a:extLst>
                  <a:ext uri="{FF2B5EF4-FFF2-40B4-BE49-F238E27FC236}">
                    <a16:creationId xmlns:a16="http://schemas.microsoft.com/office/drawing/2014/main" id="{E09CCB22-B9D0-1171-7CE8-24A1A815675B}"/>
                  </a:ext>
                </a:extLst>
              </p:cNvPr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3" name="îṡ1îḍé">
                <a:extLst>
                  <a:ext uri="{FF2B5EF4-FFF2-40B4-BE49-F238E27FC236}">
                    <a16:creationId xmlns:a16="http://schemas.microsoft.com/office/drawing/2014/main" id="{2ACABC2A-57F4-ED13-5C26-E977839A58DA}"/>
                  </a:ext>
                </a:extLst>
              </p:cNvPr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4" name="îš1íḑe">
                <a:extLst>
                  <a:ext uri="{FF2B5EF4-FFF2-40B4-BE49-F238E27FC236}">
                    <a16:creationId xmlns:a16="http://schemas.microsoft.com/office/drawing/2014/main" id="{BD9C4B4E-FA25-5802-F570-0E58F9523EBA}"/>
                  </a:ext>
                </a:extLst>
              </p:cNvPr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5" name="iš1ïḍe">
                <a:extLst>
                  <a:ext uri="{FF2B5EF4-FFF2-40B4-BE49-F238E27FC236}">
                    <a16:creationId xmlns:a16="http://schemas.microsoft.com/office/drawing/2014/main" id="{A3BE1137-8472-A98C-02C1-153CBB78D4D6}"/>
                  </a:ext>
                </a:extLst>
              </p:cNvPr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6" name="îSḻîde">
                <a:extLst>
                  <a:ext uri="{FF2B5EF4-FFF2-40B4-BE49-F238E27FC236}">
                    <a16:creationId xmlns:a16="http://schemas.microsoft.com/office/drawing/2014/main" id="{78EAD72F-248C-4D98-E4A9-EC8644A90777}"/>
                  </a:ext>
                </a:extLst>
              </p:cNvPr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7" name="î$ḻîḑé">
                <a:extLst>
                  <a:ext uri="{FF2B5EF4-FFF2-40B4-BE49-F238E27FC236}">
                    <a16:creationId xmlns:a16="http://schemas.microsoft.com/office/drawing/2014/main" id="{919C1375-0804-88F8-F1F7-94E70E0BDC42}"/>
                  </a:ext>
                </a:extLst>
              </p:cNvPr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8" name="íŝļïḓe">
                <a:extLst>
                  <a:ext uri="{FF2B5EF4-FFF2-40B4-BE49-F238E27FC236}">
                    <a16:creationId xmlns:a16="http://schemas.microsoft.com/office/drawing/2014/main" id="{8562FB7A-23DE-97EB-2F62-AF632EA12ECC}"/>
                  </a:ext>
                </a:extLst>
              </p:cNvPr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9" name="îS1iḍé">
                <a:extLst>
                  <a:ext uri="{FF2B5EF4-FFF2-40B4-BE49-F238E27FC236}">
                    <a16:creationId xmlns:a16="http://schemas.microsoft.com/office/drawing/2014/main" id="{ADF096BE-23BA-BFB9-9F35-4C246783D777}"/>
                  </a:ext>
                </a:extLst>
              </p:cNvPr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0" name="išlïdé">
                <a:extLst>
                  <a:ext uri="{FF2B5EF4-FFF2-40B4-BE49-F238E27FC236}">
                    <a16:creationId xmlns:a16="http://schemas.microsoft.com/office/drawing/2014/main" id="{D8A87E08-D0FE-04A0-4768-20E2580BD206}"/>
                  </a:ext>
                </a:extLst>
              </p:cNvPr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1" name="ïSlïde">
                <a:extLst>
                  <a:ext uri="{FF2B5EF4-FFF2-40B4-BE49-F238E27FC236}">
                    <a16:creationId xmlns:a16="http://schemas.microsoft.com/office/drawing/2014/main" id="{A39918F5-53B4-E03F-4A64-ACE33CC84B67}"/>
                  </a:ext>
                </a:extLst>
              </p:cNvPr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2" name="îşľïďe">
                <a:extLst>
                  <a:ext uri="{FF2B5EF4-FFF2-40B4-BE49-F238E27FC236}">
                    <a16:creationId xmlns:a16="http://schemas.microsoft.com/office/drawing/2014/main" id="{EE54C417-E8E2-7A58-7C2C-B461F02B0C53}"/>
                  </a:ext>
                </a:extLst>
              </p:cNvPr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3" name="ïşľíďê">
                <a:extLst>
                  <a:ext uri="{FF2B5EF4-FFF2-40B4-BE49-F238E27FC236}">
                    <a16:creationId xmlns:a16="http://schemas.microsoft.com/office/drawing/2014/main" id="{42301395-2F05-8859-019F-2B07CA006EBD}"/>
                  </a:ext>
                </a:extLst>
              </p:cNvPr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4" name="íś1ïdè">
                <a:extLst>
                  <a:ext uri="{FF2B5EF4-FFF2-40B4-BE49-F238E27FC236}">
                    <a16:creationId xmlns:a16="http://schemas.microsoft.com/office/drawing/2014/main" id="{5E52B853-DBD6-8CA7-C7D9-7A661423D9B0}"/>
                  </a:ext>
                </a:extLst>
              </p:cNvPr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5" name="iṩḷiḍe">
                <a:extLst>
                  <a:ext uri="{FF2B5EF4-FFF2-40B4-BE49-F238E27FC236}">
                    <a16:creationId xmlns:a16="http://schemas.microsoft.com/office/drawing/2014/main" id="{80AFD4B9-2CE2-42C8-2C32-1DB1E817D4BA}"/>
                  </a:ext>
                </a:extLst>
              </p:cNvPr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6" name="ïŝ1iďè">
                <a:extLst>
                  <a:ext uri="{FF2B5EF4-FFF2-40B4-BE49-F238E27FC236}">
                    <a16:creationId xmlns:a16="http://schemas.microsoft.com/office/drawing/2014/main" id="{8127B9EB-DC87-226F-1DAD-43B351ADF187}"/>
                  </a:ext>
                </a:extLst>
              </p:cNvPr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7" name="íṩļíḋê">
                <a:extLst>
                  <a:ext uri="{FF2B5EF4-FFF2-40B4-BE49-F238E27FC236}">
                    <a16:creationId xmlns:a16="http://schemas.microsoft.com/office/drawing/2014/main" id="{2BE6E714-4DD6-27D6-F86B-6E374AF7A0D5}"/>
                  </a:ext>
                </a:extLst>
              </p:cNvPr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8" name="ïṧ1ïdè">
                <a:extLst>
                  <a:ext uri="{FF2B5EF4-FFF2-40B4-BE49-F238E27FC236}">
                    <a16:creationId xmlns:a16="http://schemas.microsoft.com/office/drawing/2014/main" id="{D95407B6-3EB9-57F5-348F-32CD95843790}"/>
                  </a:ext>
                </a:extLst>
              </p:cNvPr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9" name="íŝḻîḍé">
                <a:extLst>
                  <a:ext uri="{FF2B5EF4-FFF2-40B4-BE49-F238E27FC236}">
                    <a16:creationId xmlns:a16="http://schemas.microsoft.com/office/drawing/2014/main" id="{E6D1B768-E188-32C6-A787-C8C8427D375E}"/>
                  </a:ext>
                </a:extLst>
              </p:cNvPr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0" name="îşḻïḓé">
                <a:extLst>
                  <a:ext uri="{FF2B5EF4-FFF2-40B4-BE49-F238E27FC236}">
                    <a16:creationId xmlns:a16="http://schemas.microsoft.com/office/drawing/2014/main" id="{F8B19DCC-CCC6-9362-BE90-F1E4C14F945B}"/>
                  </a:ext>
                </a:extLst>
              </p:cNvPr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1" name="íśļíďè">
                <a:extLst>
                  <a:ext uri="{FF2B5EF4-FFF2-40B4-BE49-F238E27FC236}">
                    <a16:creationId xmlns:a16="http://schemas.microsoft.com/office/drawing/2014/main" id="{704CF34E-F339-9524-A409-619BD08452B1}"/>
                  </a:ext>
                </a:extLst>
              </p:cNvPr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2" name="iŝ1ïdé">
                <a:extLst>
                  <a:ext uri="{FF2B5EF4-FFF2-40B4-BE49-F238E27FC236}">
                    <a16:creationId xmlns:a16="http://schemas.microsoft.com/office/drawing/2014/main" id="{F504DFAC-0958-89E1-8749-DC2630F3705B}"/>
                  </a:ext>
                </a:extLst>
              </p:cNvPr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3" name="is1ídè">
                <a:extLst>
                  <a:ext uri="{FF2B5EF4-FFF2-40B4-BE49-F238E27FC236}">
                    <a16:creationId xmlns:a16="http://schemas.microsoft.com/office/drawing/2014/main" id="{50120030-B13A-D4D5-481B-0DC0A5D9DCC3}"/>
                  </a:ext>
                </a:extLst>
              </p:cNvPr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4" name="islíďê">
                <a:extLst>
                  <a:ext uri="{FF2B5EF4-FFF2-40B4-BE49-F238E27FC236}">
                    <a16:creationId xmlns:a16="http://schemas.microsoft.com/office/drawing/2014/main" id="{5B1F106B-54DC-B176-F6A6-A7193192C1FC}"/>
                  </a:ext>
                </a:extLst>
              </p:cNvPr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5" name="iṩlíḑê">
                <a:extLst>
                  <a:ext uri="{FF2B5EF4-FFF2-40B4-BE49-F238E27FC236}">
                    <a16:creationId xmlns:a16="http://schemas.microsoft.com/office/drawing/2014/main" id="{5E51A760-64A6-6EAB-0EB5-5FA1B3FD33C8}"/>
                  </a:ext>
                </a:extLst>
              </p:cNvPr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6" name="îṥḷïďê">
                <a:extLst>
                  <a:ext uri="{FF2B5EF4-FFF2-40B4-BE49-F238E27FC236}">
                    <a16:creationId xmlns:a16="http://schemas.microsoft.com/office/drawing/2014/main" id="{C6D07FCF-5660-CDE7-1511-0D63A54E4651}"/>
                  </a:ext>
                </a:extLst>
              </p:cNvPr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7" name="íṥḻïďè">
                <a:extLst>
                  <a:ext uri="{FF2B5EF4-FFF2-40B4-BE49-F238E27FC236}">
                    <a16:creationId xmlns:a16="http://schemas.microsoft.com/office/drawing/2014/main" id="{9B424BE9-FF35-1FC4-F76C-87047CECD12B}"/>
                  </a:ext>
                </a:extLst>
              </p:cNvPr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8" name="íṡḷíḍè">
                <a:extLst>
                  <a:ext uri="{FF2B5EF4-FFF2-40B4-BE49-F238E27FC236}">
                    <a16:creationId xmlns:a16="http://schemas.microsoft.com/office/drawing/2014/main" id="{4CF676BE-1407-1C18-0C7D-521085CA3CA1}"/>
                  </a:ext>
                </a:extLst>
              </p:cNvPr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9" name="î$ḷîḑé">
                <a:extLst>
                  <a:ext uri="{FF2B5EF4-FFF2-40B4-BE49-F238E27FC236}">
                    <a16:creationId xmlns:a16="http://schemas.microsoft.com/office/drawing/2014/main" id="{24BA7A10-8714-098D-6255-BD8A677F468E}"/>
                  </a:ext>
                </a:extLst>
              </p:cNvPr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0" name="í$ľîdè">
                <a:extLst>
                  <a:ext uri="{FF2B5EF4-FFF2-40B4-BE49-F238E27FC236}">
                    <a16:creationId xmlns:a16="http://schemas.microsoft.com/office/drawing/2014/main" id="{E207D6A9-BDD1-E1D6-6286-5573DF83A13D}"/>
                  </a:ext>
                </a:extLst>
              </p:cNvPr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1" name="iṥ1iḍè">
                <a:extLst>
                  <a:ext uri="{FF2B5EF4-FFF2-40B4-BE49-F238E27FC236}">
                    <a16:creationId xmlns:a16="http://schemas.microsoft.com/office/drawing/2014/main" id="{4C61D1C1-2423-0A6A-D750-89470B48FFFB}"/>
                  </a:ext>
                </a:extLst>
              </p:cNvPr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2" name="ïslidé">
                <a:extLst>
                  <a:ext uri="{FF2B5EF4-FFF2-40B4-BE49-F238E27FC236}">
                    <a16:creationId xmlns:a16="http://schemas.microsoft.com/office/drawing/2014/main" id="{B6DFCC82-6533-62FF-B44F-196E3FA68FC2}"/>
                  </a:ext>
                </a:extLst>
              </p:cNvPr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3" name="íṡlïďè">
                <a:extLst>
                  <a:ext uri="{FF2B5EF4-FFF2-40B4-BE49-F238E27FC236}">
                    <a16:creationId xmlns:a16="http://schemas.microsoft.com/office/drawing/2014/main" id="{6BBD9223-2AB2-78C7-9B60-9723E0E31E4F}"/>
                  </a:ext>
                </a:extLst>
              </p:cNvPr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4" name="iṧ1ïḓè">
                <a:extLst>
                  <a:ext uri="{FF2B5EF4-FFF2-40B4-BE49-F238E27FC236}">
                    <a16:creationId xmlns:a16="http://schemas.microsoft.com/office/drawing/2014/main" id="{B344C84A-94B3-AD2A-F4BD-672FCA5F42BC}"/>
                  </a:ext>
                </a:extLst>
              </p:cNvPr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</p:grpSp>
      </p:grpSp>
      <p:pic>
        <p:nvPicPr>
          <p:cNvPr id="85" name="图片 84">
            <a:extLst>
              <a:ext uri="{FF2B5EF4-FFF2-40B4-BE49-F238E27FC236}">
                <a16:creationId xmlns:a16="http://schemas.microsoft.com/office/drawing/2014/main" id="{E80CC54B-1C49-EACA-9420-53E86FCD0F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2" y="268906"/>
            <a:ext cx="710933" cy="1592849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45635AD8-6D63-4989-D463-22260424CF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73244" y="-1"/>
            <a:ext cx="7356956" cy="685800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4AD68DA-1DF2-539C-24AB-2B22C063CB9E}"/>
              </a:ext>
            </a:extLst>
          </p:cNvPr>
          <p:cNvSpPr/>
          <p:nvPr userDrawn="1"/>
        </p:nvSpPr>
        <p:spPr>
          <a:xfrm>
            <a:off x="-12646" y="0"/>
            <a:ext cx="177972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图片占位符 8">
            <a:extLst>
              <a:ext uri="{FF2B5EF4-FFF2-40B4-BE49-F238E27FC236}">
                <a16:creationId xmlns:a16="http://schemas.microsoft.com/office/drawing/2014/main" id="{B19D555D-575E-19B1-1185-A05B73518D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292800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 dirty="0"/>
          </a:p>
        </p:txBody>
      </p:sp>
      <p:sp>
        <p:nvSpPr>
          <p:cNvPr id="18" name="任意形状 9">
            <a:extLst>
              <a:ext uri="{FF2B5EF4-FFF2-40B4-BE49-F238E27FC236}">
                <a16:creationId xmlns:a16="http://schemas.microsoft.com/office/drawing/2014/main" id="{EFCA46E3-39A0-0DD0-1C32-E0A644B6DB06}"/>
              </a:ext>
            </a:extLst>
          </p:cNvPr>
          <p:cNvSpPr/>
          <p:nvPr userDrawn="1"/>
        </p:nvSpPr>
        <p:spPr>
          <a:xfrm flipH="1">
            <a:off x="33862" y="-98854"/>
            <a:ext cx="3064764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ED0BBFC-193B-0FE5-2EEE-974FE7AD8A0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882793" y="1029268"/>
            <a:ext cx="5784639" cy="5818800"/>
          </a:xfrm>
          <a:prstGeom prst="rect">
            <a:avLst/>
          </a:prstGeom>
        </p:spPr>
      </p:pic>
      <p:sp>
        <p:nvSpPr>
          <p:cNvPr id="7" name="标题 1">
            <a:extLst>
              <a:ext uri="{FF2B5EF4-FFF2-40B4-BE49-F238E27FC236}">
                <a16:creationId xmlns:a16="http://schemas.microsoft.com/office/drawing/2014/main" id="{35F98889-12FF-15F2-5B9B-4262BFD2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8" name="图片 7" descr="图片包含 天空, 户外, 建筑物, 日落&#10;&#10;描述已自动生成">
            <a:extLst>
              <a:ext uri="{FF2B5EF4-FFF2-40B4-BE49-F238E27FC236}">
                <a16:creationId xmlns:a16="http://schemas.microsoft.com/office/drawing/2014/main" id="{48995925-D4E6-5C64-1809-8616ABFFDB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cxnSp>
        <p:nvCxnSpPr>
          <p:cNvPr id="9" name="直线连接符 3">
            <a:extLst>
              <a:ext uri="{FF2B5EF4-FFF2-40B4-BE49-F238E27FC236}">
                <a16:creationId xmlns:a16="http://schemas.microsoft.com/office/drawing/2014/main" id="{427B9B23-8D67-0D02-327E-D6D94F1226A8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E1C09901-E14E-7FD7-3D60-E7A7C226D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6B3369F9-03CD-4B48-86A9-9EE39A82955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E43876F-D1CE-C335-C1F3-1B29B61249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4702" y="1006475"/>
            <a:ext cx="5784639" cy="58188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B4C9727-2B2A-8B3F-D850-C6CF5C0CF71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77" y="381000"/>
            <a:ext cx="1729645" cy="5439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92938F0-8FCC-A582-D405-F601EE19FF2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32" y="6172200"/>
            <a:ext cx="468068" cy="4749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882793" y="1029268"/>
            <a:ext cx="5784639" cy="58188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9" name="图片 108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cxnSp>
        <p:nvCxnSpPr>
          <p:cNvPr id="112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369F9-03CD-4B48-86A9-9EE39A82955A}" type="slidenum">
              <a:rPr lang="zh-CN" altLang="en-US"/>
              <a:t>‹#›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4702" y="1006475"/>
            <a:ext cx="5784639" cy="5818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77" y="381000"/>
            <a:ext cx="1729645" cy="5439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32" y="6172200"/>
            <a:ext cx="468068" cy="4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10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50" r:id="rId3"/>
    <p:sldLayoutId id="2147483751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SimSun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7.jp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6">
            <a:extLst>
              <a:ext uri="{FF2B5EF4-FFF2-40B4-BE49-F238E27FC236}">
                <a16:creationId xmlns:a16="http://schemas.microsoft.com/office/drawing/2014/main" id="{7ABD8FCF-9098-A832-3109-B0910EB9F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117" y="3924300"/>
            <a:ext cx="7955765" cy="7461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4000" b="1" dirty="0">
                <a:solidFill>
                  <a:srgbClr val="074996"/>
                </a:solidFill>
                <a:latin typeface="+mj-ea"/>
              </a:rPr>
              <a:t>第五章 基础数据统计可视化</a:t>
            </a:r>
          </a:p>
        </p:txBody>
      </p:sp>
      <p:sp>
        <p:nvSpPr>
          <p:cNvPr id="7" name="副标题 7">
            <a:extLst>
              <a:ext uri="{FF2B5EF4-FFF2-40B4-BE49-F238E27FC236}">
                <a16:creationId xmlns:a16="http://schemas.microsoft.com/office/drawing/2014/main" id="{F31D3CEC-8DB1-D163-FF68-D8F987B2AE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914901"/>
            <a:ext cx="6400800" cy="11049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卢宾宾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武汉大学遥感信息工程学院</a:t>
            </a: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p:transition spd="slow" advTm="514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A432D95B-A87A-BC0F-8C2E-64A0755400EB}"/>
              </a:ext>
            </a:extLst>
          </p:cNvPr>
          <p:cNvSpPr txBox="1">
            <a:spLocks/>
          </p:cNvSpPr>
          <p:nvPr/>
        </p:nvSpPr>
        <p:spPr>
          <a:xfrm>
            <a:off x="3797406" y="342900"/>
            <a:ext cx="4889394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SimSun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SimSun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SimSun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SimSun" panose="02010600030101010101" pitchFamily="2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r>
              <a:rPr lang="zh-CN" altLang="en-US" sz="4800" b="1" dirty="0">
                <a:solidFill>
                  <a:schemeClr val="accent1"/>
                </a:solidFill>
                <a:latin typeface="+mj-ea"/>
                <a:cs typeface="Times New Roman" panose="02020603050405020304" charset="0"/>
              </a:rPr>
              <a:t>目录</a:t>
            </a:r>
          </a:p>
        </p:txBody>
      </p:sp>
      <p:pic>
        <p:nvPicPr>
          <p:cNvPr id="4" name="图片占位符 4">
            <a:extLst>
              <a:ext uri="{FF2B5EF4-FFF2-40B4-BE49-F238E27FC236}">
                <a16:creationId xmlns:a16="http://schemas.microsoft.com/office/drawing/2014/main" id="{B0F93A25-0F72-9080-D999-1BDF82A097E1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7" r="20087"/>
          <a:stretch>
            <a:fillRect/>
          </a:stretch>
        </p:blipFill>
        <p:spPr>
          <a:xfrm flipH="1">
            <a:off x="170624" y="0"/>
            <a:ext cx="2928003" cy="6858000"/>
          </a:xfr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52743B98-D894-DEAC-A124-96B086D92B0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97406" y="1498312"/>
            <a:ext cx="6334019" cy="749588"/>
            <a:chOff x="3797406" y="1425837"/>
            <a:chExt cx="6334019" cy="749588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E0F1717F-2589-3097-866F-6D1D26B26BD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3797406" y="1559872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5.1</a:t>
              </a:r>
            </a:p>
          </p:txBody>
        </p:sp>
        <p:sp>
          <p:nvSpPr>
            <p:cNvPr id="7" name="文本占位符 27">
              <a:extLst>
                <a:ext uri="{FF2B5EF4-FFF2-40B4-BE49-F238E27FC236}">
                  <a16:creationId xmlns:a16="http://schemas.microsoft.com/office/drawing/2014/main" id="{A420D7CE-1016-3621-E40C-9EBB6B22BA63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4838700" y="1425837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章节</a:t>
              </a:r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R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函数包准备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8" name="直线连接符 13">
              <a:extLst>
                <a:ext uri="{FF2B5EF4-FFF2-40B4-BE49-F238E27FC236}">
                  <a16:creationId xmlns:a16="http://schemas.microsoft.com/office/drawing/2014/main" id="{DA314217-02F9-F40D-19B4-9A83F40806E2}"/>
                </a:ext>
              </a:extLst>
            </p:cNvPr>
            <p:cNvCxnSpPr/>
            <p:nvPr>
              <p:custDataLst>
                <p:tags r:id="rId16"/>
              </p:custDataLst>
            </p:nvPr>
          </p:nvCxnSpPr>
          <p:spPr>
            <a:xfrm>
              <a:off x="3797406" y="2133862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986FEA6-171A-8BDE-6D45-BC6FB7A20DE5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797406" y="2865775"/>
            <a:ext cx="6334019" cy="749588"/>
            <a:chOff x="3797406" y="2539558"/>
            <a:chExt cx="6334019" cy="749588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1098C38-1944-376F-055D-9E33F1BEF652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3797406" y="2673593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5.2</a:t>
              </a:r>
            </a:p>
          </p:txBody>
        </p:sp>
        <p:sp>
          <p:nvSpPr>
            <p:cNvPr id="11" name="文本占位符 27">
              <a:extLst>
                <a:ext uri="{FF2B5EF4-FFF2-40B4-BE49-F238E27FC236}">
                  <a16:creationId xmlns:a16="http://schemas.microsoft.com/office/drawing/2014/main" id="{B503F82D-1060-FFD1-7EFF-FEEBD5BCFF70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4838700" y="2539558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基础统计图表绘制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" name="直线连接符 16">
              <a:extLst>
                <a:ext uri="{FF2B5EF4-FFF2-40B4-BE49-F238E27FC236}">
                  <a16:creationId xmlns:a16="http://schemas.microsoft.com/office/drawing/2014/main" id="{C3941D3B-A81D-F01E-AE77-BE4DC45AE77B}"/>
                </a:ext>
              </a:extLst>
            </p:cNvPr>
            <p:cNvCxnSpPr/>
            <p:nvPr>
              <p:custDataLst>
                <p:tags r:id="rId13"/>
              </p:custDataLst>
            </p:nvPr>
          </p:nvCxnSpPr>
          <p:spPr>
            <a:xfrm>
              <a:off x="3797406" y="3247583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8E8B3BF-D4D9-A5AD-4D05-35DB6C738891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797406" y="4233238"/>
            <a:ext cx="6334019" cy="749588"/>
            <a:chOff x="3797406" y="5781255"/>
            <a:chExt cx="6334019" cy="74958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4BCB189-6331-BACE-F177-93B179273E75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3797406" y="5915290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5.3</a:t>
              </a:r>
            </a:p>
          </p:txBody>
        </p:sp>
        <p:sp>
          <p:nvSpPr>
            <p:cNvPr id="15" name="文本占位符 27">
              <a:extLst>
                <a:ext uri="{FF2B5EF4-FFF2-40B4-BE49-F238E27FC236}">
                  <a16:creationId xmlns:a16="http://schemas.microsoft.com/office/drawing/2014/main" id="{720AB859-4DC3-E50B-A63B-014E1A68AC93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4838700" y="5781255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多源数据可视化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6" name="直线连接符 22">
              <a:extLst>
                <a:ext uri="{FF2B5EF4-FFF2-40B4-BE49-F238E27FC236}">
                  <a16:creationId xmlns:a16="http://schemas.microsoft.com/office/drawing/2014/main" id="{B5C1ADF2-FA68-206D-5031-43CF84F152C4}"/>
                </a:ext>
              </a:extLst>
            </p:cNvPr>
            <p:cNvCxnSpPr/>
            <p:nvPr>
              <p:custDataLst>
                <p:tags r:id="rId10"/>
              </p:custDataLst>
            </p:nvPr>
          </p:nvCxnSpPr>
          <p:spPr>
            <a:xfrm>
              <a:off x="3797406" y="6489280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AA6AE07-3765-A118-390E-27DE02657E4C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3797405" y="5600700"/>
            <a:ext cx="6334019" cy="749588"/>
            <a:chOff x="3797406" y="5781255"/>
            <a:chExt cx="6334019" cy="749588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E9E5AF8-1901-55D8-7643-A11C70D84F81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3797406" y="5915290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5.4</a:t>
              </a:r>
            </a:p>
          </p:txBody>
        </p:sp>
        <p:sp>
          <p:nvSpPr>
            <p:cNvPr id="19" name="文本占位符 27">
              <a:extLst>
                <a:ext uri="{FF2B5EF4-FFF2-40B4-BE49-F238E27FC236}">
                  <a16:creationId xmlns:a16="http://schemas.microsoft.com/office/drawing/2014/main" id="{7205C9CA-7825-5D8D-992F-03770E4CBA94}"/>
                </a:ext>
              </a:extLst>
            </p:cNvPr>
            <p:cNvSpPr txBox="1"/>
            <p:nvPr>
              <p:custDataLst>
                <p:tags r:id="rId6"/>
              </p:custDataLst>
            </p:nvPr>
          </p:nvSpPr>
          <p:spPr>
            <a:xfrm>
              <a:off x="4838700" y="5781255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charset="0"/>
                  <a:cs typeface="Times New Roman" panose="02020603050405020304" charset="0"/>
                </a:rPr>
                <a:t>趣味可视化案例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" name="直线连接符 22">
              <a:extLst>
                <a:ext uri="{FF2B5EF4-FFF2-40B4-BE49-F238E27FC236}">
                  <a16:creationId xmlns:a16="http://schemas.microsoft.com/office/drawing/2014/main" id="{0AD10CDD-007B-4FD8-F7A8-22ED467880FC}"/>
                </a:ext>
              </a:extLst>
            </p:cNvPr>
            <p:cNvCxnSpPr/>
            <p:nvPr>
              <p:custDataLst>
                <p:tags r:id="rId7"/>
              </p:custDataLst>
            </p:nvPr>
          </p:nvCxnSpPr>
          <p:spPr>
            <a:xfrm>
              <a:off x="3797406" y="6489280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85D67CD-F6E4-6AE3-9D42-796FA37B5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5.1 </a:t>
            </a:r>
            <a:r>
              <a:rPr lang="zh-CN" altLang="en-US" sz="3600" dirty="0"/>
              <a:t>章节</a:t>
            </a:r>
            <a:r>
              <a:rPr lang="en-US" altLang="zh-CN" sz="3600" dirty="0"/>
              <a:t>R</a:t>
            </a:r>
            <a:r>
              <a:rPr lang="zh-CN" altLang="en-US" sz="3600" dirty="0"/>
              <a:t>函数包准备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3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F2C843E-183E-9EDA-796C-BA916C1A917B}"/>
              </a:ext>
            </a:extLst>
          </p:cNvPr>
          <p:cNvGrpSpPr/>
          <p:nvPr/>
        </p:nvGrpSpPr>
        <p:grpSpPr>
          <a:xfrm>
            <a:off x="533336" y="1602410"/>
            <a:ext cx="8115364" cy="4722190"/>
            <a:chOff x="533336" y="1602410"/>
            <a:chExt cx="8115364" cy="472219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AC362C7-58C2-4EC5-A7F8-E1EC2EF2D51A}"/>
                </a:ext>
              </a:extLst>
            </p:cNvPr>
            <p:cNvSpPr/>
            <p:nvPr/>
          </p:nvSpPr>
          <p:spPr>
            <a:xfrm>
              <a:off x="533336" y="1602410"/>
              <a:ext cx="5372163" cy="47221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# </a:t>
              </a: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安装函数包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("lattice") 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("RColorBrewer")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("MASS")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circlize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corrplot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("ggplot2")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GGally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("psych")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# </a:t>
              </a: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外部函数包</a:t>
              </a:r>
              <a:endParaRPr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8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install.packages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("</a:t>
              </a:r>
              <a:r>
                <a:rPr lang="en-US" altLang="zh-CN" sz="18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BiocManager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")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require(</a:t>
              </a:r>
              <a:r>
                <a:rPr lang="en-US" altLang="zh-CN" sz="18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BiocManager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18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BiocManager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::install("</a:t>
              </a:r>
              <a:r>
                <a:rPr lang="en-US" altLang="zh-CN" sz="18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ComplexHeatmap</a:t>
              </a:r>
              <a:r>
                <a:rPr lang="en-US" altLang="zh-CN" sz="1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")</a:t>
              </a:r>
            </a:p>
            <a:p>
              <a:pPr>
                <a:lnSpc>
                  <a:spcPct val="120000"/>
                </a:lnSpc>
              </a:pPr>
              <a:endPara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76D5C69B-1B0E-EFA2-9E38-8540A166A88C}"/>
                </a:ext>
              </a:extLst>
            </p:cNvPr>
            <p:cNvSpPr/>
            <p:nvPr/>
          </p:nvSpPr>
          <p:spPr>
            <a:xfrm>
              <a:off x="5562600" y="1922103"/>
              <a:ext cx="3086100" cy="37249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# </a:t>
              </a:r>
              <a:r>
                <a:rPr lang="zh-CN" altLang="en-U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加载函数包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library(lattice)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library(RColorBrewer)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library(MASS)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ComplexHeatmap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circlize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corrplot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linkET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library(ggplot2)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</a:t>
              </a:r>
              <a:r>
                <a:rPr lang="en-US" altLang="zh-CN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GGally</a:t>
              </a: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)</a:t>
              </a: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  <a:ea typeface="微软雅黑" panose="020B0503020204020204" pitchFamily="34" charset="-122"/>
                </a:rPr>
                <a:t>library(psych)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4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935C3D8-BC14-4316-8220-88E62645BD26}"/>
              </a:ext>
            </a:extLst>
          </p:cNvPr>
          <p:cNvSpPr/>
          <p:nvPr/>
        </p:nvSpPr>
        <p:spPr>
          <a:xfrm>
            <a:off x="1356419" y="1907362"/>
            <a:ext cx="6431161" cy="2776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plot(x, y = NULL, type = "p",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xlim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NULL,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ylim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NULL,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	log = "", main = NULL, sub = NULL,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xlab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NULL,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ylab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NULL,ann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par("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ann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"), axes = TRUE,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frame.plot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axes,panel.first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NULL,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	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panel.last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= NULL, asp = NA, ...)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6D17E2-0486-4B33-A187-6E4F57E89965}"/>
              </a:ext>
            </a:extLst>
          </p:cNvPr>
          <p:cNvSpPr txBox="1"/>
          <p:nvPr/>
        </p:nvSpPr>
        <p:spPr>
          <a:xfrm>
            <a:off x="527924" y="1326633"/>
            <a:ext cx="8138320" cy="557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dirty="0">
                <a:latin typeface="+mn-ea"/>
                <a:ea typeface="+mn-ea"/>
              </a:rPr>
              <a:t>plot</a:t>
            </a:r>
            <a:r>
              <a:rPr lang="zh-CN" altLang="en-US" dirty="0">
                <a:latin typeface="+mn-ea"/>
                <a:ea typeface="+mn-ea"/>
              </a:rPr>
              <a:t>函数是</a:t>
            </a:r>
            <a:r>
              <a:rPr lang="en-US" altLang="zh-CN" dirty="0">
                <a:latin typeface="+mn-ea"/>
                <a:ea typeface="+mn-ea"/>
              </a:rPr>
              <a:t>R</a:t>
            </a:r>
            <a:r>
              <a:rPr lang="zh-CN" altLang="en-US" dirty="0">
                <a:latin typeface="+mn-ea"/>
                <a:ea typeface="+mn-ea"/>
              </a:rPr>
              <a:t>语言中最常用的绘图函数，它参数众多：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D1C83FC-D959-4C87-BC06-7FCA473FDD1C}"/>
              </a:ext>
            </a:extLst>
          </p:cNvPr>
          <p:cNvSpPr/>
          <p:nvPr/>
        </p:nvSpPr>
        <p:spPr>
          <a:xfrm>
            <a:off x="477756" y="4795173"/>
            <a:ext cx="8209044" cy="11119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ea"/>
                <a:ea typeface="+mn-ea"/>
              </a:rPr>
              <a:t>理解函数</a:t>
            </a:r>
            <a:r>
              <a:rPr lang="en-US" altLang="zh-CN" dirty="0">
                <a:latin typeface="+mn-ea"/>
                <a:ea typeface="+mn-ea"/>
              </a:rPr>
              <a:t>plot</a:t>
            </a:r>
            <a:r>
              <a:rPr lang="zh-CN" altLang="en-US" dirty="0">
                <a:latin typeface="+mn-ea"/>
                <a:ea typeface="+mn-ea"/>
              </a:rPr>
              <a:t>的绘制功能和特点，主要从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点形状（大小）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线型（线宽）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颜色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绘制类型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制图综合</a:t>
            </a:r>
            <a:r>
              <a:rPr lang="zh-CN" altLang="en-US" dirty="0">
                <a:latin typeface="+mn-ea"/>
                <a:ea typeface="+mn-ea"/>
              </a:rPr>
              <a:t>等几个方面进行定义。</a:t>
            </a: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F34A3AB8-1256-CCC2-639B-31970EF5D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 </a:t>
            </a:r>
            <a:r>
              <a:rPr lang="zh-CN" altLang="en-US" sz="3600" dirty="0"/>
              <a:t>基础统计图表绘制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1EC7F7E-99E0-DDC0-FA46-5F3387198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5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C7F096F-F527-43D5-B956-2F0CF938FD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93"/>
          <a:stretch/>
        </p:blipFill>
        <p:spPr>
          <a:xfrm>
            <a:off x="1434994" y="2135266"/>
            <a:ext cx="6266867" cy="4379834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F568329-10F7-494E-ADFB-3C6153A5A894}"/>
              </a:ext>
            </a:extLst>
          </p:cNvPr>
          <p:cNvSpPr/>
          <p:nvPr/>
        </p:nvSpPr>
        <p:spPr>
          <a:xfrm>
            <a:off x="419100" y="1130300"/>
            <a:ext cx="8298657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在函数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中，参数</a:t>
            </a:r>
            <a:r>
              <a:rPr lang="en-US" altLang="zh-CN" dirty="0" err="1">
                <a:solidFill>
                  <a:srgbClr val="FF0000"/>
                </a:solidFill>
                <a:latin typeface="+mn-lt"/>
                <a:ea typeface="+mn-ea"/>
              </a:rPr>
              <a:t>pch</a:t>
            </a:r>
            <a:r>
              <a:rPr lang="zh-CN" altLang="en-US" dirty="0">
                <a:latin typeface="+mn-lt"/>
                <a:ea typeface="+mn-ea"/>
              </a:rPr>
              <a:t>被赋值正整数，对应不同形状的点，这里列举了</a:t>
            </a:r>
            <a:r>
              <a:rPr lang="en-US" altLang="zh-CN" dirty="0">
                <a:latin typeface="+mn-lt"/>
                <a:ea typeface="+mn-ea"/>
              </a:rPr>
              <a:t>25</a:t>
            </a:r>
            <a:r>
              <a:rPr lang="zh-CN" altLang="en-US" dirty="0">
                <a:latin typeface="+mn-lt"/>
                <a:ea typeface="+mn-ea"/>
              </a:rPr>
              <a:t>种常用的赋值及形状。</a:t>
            </a:r>
          </a:p>
        </p:txBody>
      </p:sp>
    </p:spTree>
    <p:extLst>
      <p:ext uri="{BB962C8B-B14F-4D97-AF65-F5344CB8AC3E}">
        <p14:creationId xmlns:p14="http://schemas.microsoft.com/office/powerpoint/2010/main" val="382757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5">
            <a:extLst>
              <a:ext uri="{FF2B5EF4-FFF2-40B4-BE49-F238E27FC236}">
                <a16:creationId xmlns:a16="http://schemas.microsoft.com/office/drawing/2014/main" id="{0DC6C251-0E2B-D845-9A25-176BF852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6</a:t>
            </a:fld>
            <a:endParaRPr lang="zh-CN" altLang="en-US"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6E16C4B-3F4F-4931-A427-1D05988042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99"/>
          <a:stretch/>
        </p:blipFill>
        <p:spPr>
          <a:xfrm>
            <a:off x="1333500" y="2153937"/>
            <a:ext cx="6503716" cy="428171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AADE06F-978B-4A0C-B2DD-D976EAEFBCB8}"/>
              </a:ext>
            </a:extLst>
          </p:cNvPr>
          <p:cNvSpPr/>
          <p:nvPr/>
        </p:nvSpPr>
        <p:spPr>
          <a:xfrm>
            <a:off x="502443" y="1130300"/>
            <a:ext cx="8137922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在函数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中，参数</a:t>
            </a:r>
            <a:r>
              <a:rPr lang="en-US" altLang="zh-CN" dirty="0" err="1">
                <a:solidFill>
                  <a:srgbClr val="FF0000"/>
                </a:solidFill>
                <a:latin typeface="+mn-lt"/>
                <a:ea typeface="+mn-ea"/>
              </a:rPr>
              <a:t>lty</a:t>
            </a:r>
            <a:r>
              <a:rPr lang="zh-CN" altLang="en-US" dirty="0">
                <a:latin typeface="+mn-lt"/>
                <a:ea typeface="+mn-ea"/>
              </a:rPr>
              <a:t>用来定义线型特征的绘制，如果从</a:t>
            </a:r>
            <a:r>
              <a:rPr lang="en-US" altLang="zh-CN" dirty="0">
                <a:latin typeface="+mn-lt"/>
                <a:ea typeface="+mn-ea"/>
              </a:rPr>
              <a:t>1-6</a:t>
            </a:r>
            <a:r>
              <a:rPr lang="zh-CN" altLang="en-US" dirty="0">
                <a:latin typeface="+mn-lt"/>
                <a:ea typeface="+mn-ea"/>
              </a:rPr>
              <a:t>进行赋值，分别对应实线、虚线、点线、点划线、长虚线、长须点划线：</a:t>
            </a:r>
          </a:p>
        </p:txBody>
      </p:sp>
    </p:spTree>
    <p:extLst>
      <p:ext uri="{BB962C8B-B14F-4D97-AF65-F5344CB8AC3E}">
        <p14:creationId xmlns:p14="http://schemas.microsoft.com/office/powerpoint/2010/main" val="822801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>
            <a:extLst>
              <a:ext uri="{FF2B5EF4-FFF2-40B4-BE49-F238E27FC236}">
                <a16:creationId xmlns:a16="http://schemas.microsoft.com/office/drawing/2014/main" id="{790B9685-2AAF-1E96-7CAE-E3EB6A2D0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7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43DCA5-C7A0-4677-913F-52CFCBC7886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9" r="3197" b="9188"/>
          <a:stretch/>
        </p:blipFill>
        <p:spPr>
          <a:xfrm>
            <a:off x="1181101" y="2379386"/>
            <a:ext cx="6819899" cy="4250014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32E995E-25E8-4E28-8B7B-4CBC4522FE1F}"/>
              </a:ext>
            </a:extLst>
          </p:cNvPr>
          <p:cNvSpPr/>
          <p:nvPr/>
        </p:nvSpPr>
        <p:spPr>
          <a:xfrm>
            <a:off x="502443" y="1066800"/>
            <a:ext cx="8137922" cy="1285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绘图的配色可从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色调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饱和度</a:t>
            </a:r>
            <a:r>
              <a:rPr lang="zh-CN" altLang="en-US" dirty="0">
                <a:latin typeface="+mn-lt"/>
                <a:ea typeface="+mn-ea"/>
              </a:rPr>
              <a:t>两个方面进行考虑。</a:t>
            </a:r>
            <a:endParaRPr lang="en-US" altLang="zh-CN" dirty="0">
              <a:latin typeface="+mn-lt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在函数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中，参数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col</a:t>
            </a:r>
            <a:r>
              <a:rPr lang="zh-CN" altLang="en-US" dirty="0">
                <a:latin typeface="+mn-lt"/>
                <a:ea typeface="+mn-ea"/>
              </a:rPr>
              <a:t>用来定义绘制对象的颜色，可直接采用不同颜色（色调）对应的英文单词字符串进行赋值：</a:t>
            </a:r>
          </a:p>
        </p:txBody>
      </p:sp>
    </p:spTree>
    <p:extLst>
      <p:ext uri="{BB962C8B-B14F-4D97-AF65-F5344CB8AC3E}">
        <p14:creationId xmlns:p14="http://schemas.microsoft.com/office/powerpoint/2010/main" val="1067481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5">
            <a:extLst>
              <a:ext uri="{FF2B5EF4-FFF2-40B4-BE49-F238E27FC236}">
                <a16:creationId xmlns:a16="http://schemas.microsoft.com/office/drawing/2014/main" id="{B4B50163-CD49-70F7-09D9-9E105979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8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481952-F829-4FE6-9CF8-DB75ECFC3C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7" b="5653"/>
          <a:stretch/>
        </p:blipFill>
        <p:spPr>
          <a:xfrm>
            <a:off x="938200" y="1909192"/>
            <a:ext cx="7267600" cy="441540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FA9E43B-4C59-44FE-8150-8C877A1F6309}"/>
              </a:ext>
            </a:extLst>
          </p:cNvPr>
          <p:cNvSpPr/>
          <p:nvPr/>
        </p:nvSpPr>
        <p:spPr>
          <a:xfrm>
            <a:off x="807243" y="1317917"/>
            <a:ext cx="7574757" cy="39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在不同颜色对应单词后面加上不同的数字，可以调整对应颜色的饱和度。</a:t>
            </a:r>
          </a:p>
        </p:txBody>
      </p:sp>
    </p:spTree>
    <p:extLst>
      <p:ext uri="{BB962C8B-B14F-4D97-AF65-F5344CB8AC3E}">
        <p14:creationId xmlns:p14="http://schemas.microsoft.com/office/powerpoint/2010/main" val="1750874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5">
            <a:extLst>
              <a:ext uri="{FF2B5EF4-FFF2-40B4-BE49-F238E27FC236}">
                <a16:creationId xmlns:a16="http://schemas.microsoft.com/office/drawing/2014/main" id="{30CAFDC9-1F5E-82F5-5E26-FD5D5625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9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F7BBA4-8863-4157-B8CF-8A4DF2FBEDF6}"/>
              </a:ext>
            </a:extLst>
          </p:cNvPr>
          <p:cNvSpPr/>
          <p:nvPr/>
        </p:nvSpPr>
        <p:spPr>
          <a:xfrm>
            <a:off x="175319" y="1275735"/>
            <a:ext cx="8793361" cy="4992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使用函数</a:t>
            </a:r>
            <a:r>
              <a:rPr lang="en-US" altLang="zh-CN" dirty="0">
                <a:latin typeface="+mn-lt"/>
                <a:ea typeface="+mn-ea"/>
              </a:rPr>
              <a:t>colors</a:t>
            </a:r>
            <a:r>
              <a:rPr lang="zh-CN" altLang="en-US" dirty="0">
                <a:latin typeface="+mn-lt"/>
                <a:ea typeface="+mn-ea"/>
              </a:rPr>
              <a:t>可以查看更多的颜色选项，共计</a:t>
            </a:r>
            <a:r>
              <a:rPr lang="en-US" altLang="zh-CN" dirty="0">
                <a:latin typeface="+mn-lt"/>
                <a:ea typeface="+mn-ea"/>
              </a:rPr>
              <a:t>657</a:t>
            </a:r>
            <a:r>
              <a:rPr lang="zh-CN" altLang="en-US" dirty="0">
                <a:latin typeface="+mn-lt"/>
                <a:ea typeface="+mn-ea"/>
              </a:rPr>
              <a:t>种。</a:t>
            </a: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&gt; colors()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 [1] "white"                "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aliceblue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"            "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antiquewhite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"       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 [4] "antiquewhite1"        "antiquewhite2"        "antiquewhite3"      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 [7] "antiquewhite4"        "aquamarine"           "aquamarine1"        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[10] "aquamarine2"          "aquamarine3"          "aquamarine4"        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[13] "azure"                "azure1"               "azure2"             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[16] "azure3"               "azure4"               "beige" </a:t>
            </a:r>
          </a:p>
          <a:p>
            <a:pPr>
              <a:lnSpc>
                <a:spcPct val="20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  …</a:t>
            </a:r>
          </a:p>
        </p:txBody>
      </p:sp>
    </p:spTree>
    <p:extLst>
      <p:ext uri="{BB962C8B-B14F-4D97-AF65-F5344CB8AC3E}">
        <p14:creationId xmlns:p14="http://schemas.microsoft.com/office/powerpoint/2010/main" val="1616021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5">
            <a:extLst>
              <a:ext uri="{FF2B5EF4-FFF2-40B4-BE49-F238E27FC236}">
                <a16:creationId xmlns:a16="http://schemas.microsoft.com/office/drawing/2014/main" id="{83779F45-50F0-A73A-18A6-E91D20CC1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10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3B2A24-2A02-413E-A156-875E4B062B95}"/>
              </a:ext>
            </a:extLst>
          </p:cNvPr>
          <p:cNvSpPr/>
          <p:nvPr/>
        </p:nvSpPr>
        <p:spPr>
          <a:xfrm>
            <a:off x="503039" y="1219200"/>
            <a:ext cx="8137922" cy="49945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还可以通过以下三个函数定义颜色特征：</a:t>
            </a:r>
          </a:p>
          <a:p>
            <a:pPr marL="28575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rgb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(r, g, b,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maxColorValue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=255, alpha=255):</a:t>
            </a:r>
          </a:p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0-255</a:t>
            </a:r>
            <a:r>
              <a:rPr lang="zh-CN" altLang="en-US" dirty="0">
                <a:latin typeface="+mn-lt"/>
                <a:ea typeface="+mn-ea"/>
              </a:rPr>
              <a:t>范围内的</a:t>
            </a:r>
            <a:r>
              <a:rPr lang="en-US" altLang="zh-CN" dirty="0">
                <a:latin typeface="+mn-lt"/>
                <a:ea typeface="+mn-ea"/>
              </a:rPr>
              <a:t>RGB</a:t>
            </a:r>
            <a:r>
              <a:rPr lang="zh-CN" altLang="en-US" dirty="0">
                <a:latin typeface="+mn-lt"/>
                <a:ea typeface="+mn-ea"/>
              </a:rPr>
              <a:t>三色值定义颜色特征</a:t>
            </a:r>
          </a:p>
          <a:p>
            <a:pPr marL="28575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hsv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(h, s, v, alpha):</a:t>
            </a:r>
          </a:p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通过色调</a:t>
            </a:r>
            <a:r>
              <a:rPr lang="en-US" altLang="zh-CN" dirty="0">
                <a:latin typeface="+mn-lt"/>
                <a:ea typeface="+mn-ea"/>
              </a:rPr>
              <a:t>(Hue)</a:t>
            </a:r>
            <a:r>
              <a:rPr lang="zh-CN" altLang="en-US" dirty="0">
                <a:latin typeface="+mn-lt"/>
                <a:ea typeface="+mn-ea"/>
              </a:rPr>
              <a:t>、饱和度（</a:t>
            </a:r>
            <a:r>
              <a:rPr lang="en-US" altLang="zh-CN" dirty="0">
                <a:latin typeface="+mn-lt"/>
                <a:ea typeface="+mn-ea"/>
              </a:rPr>
              <a:t>Saturation</a:t>
            </a:r>
            <a:r>
              <a:rPr lang="zh-CN" altLang="en-US" dirty="0">
                <a:latin typeface="+mn-lt"/>
                <a:ea typeface="+mn-ea"/>
              </a:rPr>
              <a:t>）和</a:t>
            </a:r>
            <a:r>
              <a:rPr lang="en-US" altLang="zh-CN" dirty="0">
                <a:latin typeface="+mn-lt"/>
                <a:ea typeface="+mn-ea"/>
              </a:rPr>
              <a:t>0-1</a:t>
            </a:r>
            <a:r>
              <a:rPr lang="zh-CN" altLang="en-US" dirty="0">
                <a:latin typeface="+mn-lt"/>
                <a:ea typeface="+mn-ea"/>
              </a:rPr>
              <a:t>之间的值</a:t>
            </a:r>
            <a:r>
              <a:rPr lang="en-US" altLang="zh-CN" dirty="0">
                <a:latin typeface="+mn-lt"/>
                <a:ea typeface="+mn-ea"/>
              </a:rPr>
              <a:t>(Value)</a:t>
            </a:r>
            <a:r>
              <a:rPr lang="zh-CN" altLang="en-US" dirty="0">
                <a:latin typeface="+mn-lt"/>
                <a:ea typeface="+mn-ea"/>
              </a:rPr>
              <a:t>，以及透明度</a:t>
            </a:r>
            <a:r>
              <a:rPr lang="en-US" altLang="zh-CN" dirty="0">
                <a:latin typeface="+mn-lt"/>
                <a:ea typeface="+mn-ea"/>
              </a:rPr>
              <a:t>alpha</a:t>
            </a:r>
            <a:r>
              <a:rPr lang="zh-CN" altLang="en-US" dirty="0">
                <a:latin typeface="+mn-lt"/>
                <a:ea typeface="+mn-ea"/>
              </a:rPr>
              <a:t>值定义颜色特征</a:t>
            </a:r>
          </a:p>
          <a:p>
            <a:pPr marL="285750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hcl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(h, c, l, alpha)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Cambria" panose="02040503050406030204" pitchFamily="18" charset="0"/>
              </a:rPr>
              <a:t>：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Cambria" panose="02040503050406030204" pitchFamily="18" charset="0"/>
            </a:endParaRPr>
          </a:p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通过色调</a:t>
            </a:r>
            <a:r>
              <a:rPr lang="en-US" altLang="zh-CN" dirty="0">
                <a:latin typeface="+mn-lt"/>
                <a:ea typeface="+mn-ea"/>
              </a:rPr>
              <a:t>(Hue)</a:t>
            </a:r>
            <a:r>
              <a:rPr lang="zh-CN" altLang="en-US" dirty="0">
                <a:latin typeface="+mn-lt"/>
                <a:ea typeface="+mn-ea"/>
              </a:rPr>
              <a:t>、饱和度（</a:t>
            </a:r>
            <a:r>
              <a:rPr lang="en-US" altLang="zh-CN" dirty="0">
                <a:latin typeface="+mn-lt"/>
                <a:ea typeface="+mn-ea"/>
              </a:rPr>
              <a:t>Chroma</a:t>
            </a:r>
            <a:r>
              <a:rPr lang="zh-CN" altLang="en-US" dirty="0">
                <a:latin typeface="+mn-lt"/>
                <a:ea typeface="+mn-ea"/>
              </a:rPr>
              <a:t>）和亮度（</a:t>
            </a:r>
            <a:r>
              <a:rPr lang="en-US" altLang="zh-CN" dirty="0">
                <a:latin typeface="+mn-lt"/>
                <a:ea typeface="+mn-ea"/>
              </a:rPr>
              <a:t>Luminance</a:t>
            </a:r>
            <a:r>
              <a:rPr lang="zh-CN" altLang="en-US" dirty="0">
                <a:latin typeface="+mn-lt"/>
                <a:ea typeface="+mn-ea"/>
              </a:rPr>
              <a:t>）</a:t>
            </a:r>
            <a:r>
              <a:rPr lang="en-US" altLang="zh-CN" dirty="0">
                <a:latin typeface="+mn-lt"/>
                <a:ea typeface="+mn-ea"/>
              </a:rPr>
              <a:t>, </a:t>
            </a:r>
            <a:r>
              <a:rPr lang="zh-CN" altLang="en-US" dirty="0">
                <a:latin typeface="+mn-lt"/>
                <a:ea typeface="+mn-ea"/>
              </a:rPr>
              <a:t>以及透明度</a:t>
            </a:r>
            <a:r>
              <a:rPr lang="en-US" altLang="zh-CN" dirty="0">
                <a:latin typeface="+mn-lt"/>
                <a:ea typeface="+mn-ea"/>
              </a:rPr>
              <a:t>alpha</a:t>
            </a:r>
            <a:r>
              <a:rPr lang="zh-CN" altLang="en-US" dirty="0">
                <a:latin typeface="+mn-lt"/>
                <a:ea typeface="+mn-ea"/>
              </a:rPr>
              <a:t>值定义颜色特征</a:t>
            </a:r>
          </a:p>
        </p:txBody>
      </p:sp>
    </p:spTree>
    <p:extLst>
      <p:ext uri="{BB962C8B-B14F-4D97-AF65-F5344CB8AC3E}">
        <p14:creationId xmlns:p14="http://schemas.microsoft.com/office/powerpoint/2010/main" val="1848684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11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3906ADE-DB0E-459B-BB24-0E697F6C31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3" t="9547" r="4102" b="13114"/>
          <a:stretch/>
        </p:blipFill>
        <p:spPr>
          <a:xfrm>
            <a:off x="190500" y="2237953"/>
            <a:ext cx="5943600" cy="412474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08BCCB8-ED07-476C-A3CC-6E52AF477AAE}"/>
              </a:ext>
            </a:extLst>
          </p:cNvPr>
          <p:cNvSpPr/>
          <p:nvPr/>
        </p:nvSpPr>
        <p:spPr>
          <a:xfrm>
            <a:off x="381000" y="1130300"/>
            <a:ext cx="8408721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函数包</a:t>
            </a:r>
            <a:r>
              <a:rPr lang="en-US" altLang="zh-CN" dirty="0" err="1">
                <a:latin typeface="+mn-lt"/>
                <a:ea typeface="+mn-ea"/>
              </a:rPr>
              <a:t>RcolorBrewer</a:t>
            </a:r>
            <a:r>
              <a:rPr lang="zh-CN" altLang="en-US" dirty="0">
                <a:latin typeface="+mn-lt"/>
                <a:ea typeface="+mn-ea"/>
              </a:rPr>
              <a:t>提供了多种现成的配色方案，可采用函数</a:t>
            </a:r>
            <a:r>
              <a:rPr lang="en-US" altLang="zh-CN" dirty="0" err="1">
                <a:latin typeface="+mn-lt"/>
                <a:ea typeface="+mn-ea"/>
              </a:rPr>
              <a:t>display.brewer.all</a:t>
            </a:r>
            <a:r>
              <a:rPr lang="zh-CN" altLang="en-US" dirty="0">
                <a:latin typeface="+mn-lt"/>
                <a:ea typeface="+mn-ea"/>
              </a:rPr>
              <a:t>进行查看显示</a:t>
            </a:r>
            <a:r>
              <a:rPr lang="en-US" altLang="zh-CN" dirty="0">
                <a:latin typeface="+mn-lt"/>
                <a:ea typeface="+mn-ea"/>
              </a:rPr>
              <a:t>,</a:t>
            </a:r>
            <a:r>
              <a:rPr lang="zh-CN" altLang="en-US" dirty="0">
                <a:latin typeface="+mn-lt"/>
                <a:ea typeface="+mn-ea"/>
              </a:rPr>
              <a:t>配色方案大致分为三部分：</a:t>
            </a:r>
          </a:p>
        </p:txBody>
      </p:sp>
      <p:sp>
        <p:nvSpPr>
          <p:cNvPr id="7" name="线形标注 1 9">
            <a:extLst>
              <a:ext uri="{FF2B5EF4-FFF2-40B4-BE49-F238E27FC236}">
                <a16:creationId xmlns:a16="http://schemas.microsoft.com/office/drawing/2014/main" id="{0E8004F8-C721-4B00-BCC7-1844919B8631}"/>
              </a:ext>
            </a:extLst>
          </p:cNvPr>
          <p:cNvSpPr/>
          <p:nvPr/>
        </p:nvSpPr>
        <p:spPr>
          <a:xfrm>
            <a:off x="5548896" y="1856287"/>
            <a:ext cx="3158571" cy="1029866"/>
          </a:xfrm>
          <a:prstGeom prst="borderCallout1">
            <a:avLst>
              <a:gd name="adj1" fmla="val 53173"/>
              <a:gd name="adj2" fmla="val -4279"/>
              <a:gd name="adj3" fmla="val 107922"/>
              <a:gd name="adj4" fmla="val -29957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主要通过</a:t>
            </a:r>
            <a:r>
              <a:rPr lang="zh-CN" altLang="en-US" dirty="0">
                <a:solidFill>
                  <a:srgbClr val="FF0000"/>
                </a:solidFill>
              </a:rPr>
              <a:t>颜色饱和度变化</a:t>
            </a:r>
            <a:r>
              <a:rPr lang="zh-CN" altLang="en-US" dirty="0">
                <a:solidFill>
                  <a:srgbClr val="000000"/>
                </a:solidFill>
              </a:rPr>
              <a:t>进行区分，可用于</a:t>
            </a:r>
            <a:r>
              <a:rPr lang="zh-CN" altLang="en-US" dirty="0">
                <a:solidFill>
                  <a:srgbClr val="FF0000"/>
                </a:solidFill>
              </a:rPr>
              <a:t>序列值</a:t>
            </a:r>
            <a:r>
              <a:rPr lang="zh-CN" altLang="en-US" dirty="0">
                <a:solidFill>
                  <a:srgbClr val="000000"/>
                </a:solidFill>
              </a:rPr>
              <a:t>或</a:t>
            </a:r>
            <a:r>
              <a:rPr lang="zh-CN" altLang="en-US" dirty="0">
                <a:solidFill>
                  <a:srgbClr val="FF0000"/>
                </a:solidFill>
              </a:rPr>
              <a:t>顺序性</a:t>
            </a:r>
            <a:r>
              <a:rPr lang="zh-CN" altLang="en-US" dirty="0">
                <a:solidFill>
                  <a:srgbClr val="000000"/>
                </a:solidFill>
              </a:rPr>
              <a:t>的区间显示方案</a:t>
            </a:r>
          </a:p>
        </p:txBody>
      </p:sp>
      <p:sp>
        <p:nvSpPr>
          <p:cNvPr id="8" name="线形标注 1 10">
            <a:extLst>
              <a:ext uri="{FF2B5EF4-FFF2-40B4-BE49-F238E27FC236}">
                <a16:creationId xmlns:a16="http://schemas.microsoft.com/office/drawing/2014/main" id="{C714F3A5-3C29-4031-999B-FFEEE450CF14}"/>
              </a:ext>
            </a:extLst>
          </p:cNvPr>
          <p:cNvSpPr/>
          <p:nvPr/>
        </p:nvSpPr>
        <p:spPr>
          <a:xfrm>
            <a:off x="6004232" y="4795914"/>
            <a:ext cx="2703235" cy="1361960"/>
          </a:xfrm>
          <a:prstGeom prst="borderCallout1">
            <a:avLst>
              <a:gd name="adj1" fmla="val 48167"/>
              <a:gd name="adj2" fmla="val -379"/>
              <a:gd name="adj3" fmla="val 73142"/>
              <a:gd name="adj4" fmla="val -34125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通过颜色</a:t>
            </a:r>
            <a:r>
              <a:rPr lang="zh-CN" altLang="en-US" dirty="0">
                <a:solidFill>
                  <a:srgbClr val="FF0000"/>
                </a:solidFill>
              </a:rPr>
              <a:t>色调</a:t>
            </a:r>
            <a:r>
              <a:rPr lang="zh-CN" altLang="en-US" dirty="0">
                <a:solidFill>
                  <a:srgbClr val="000000"/>
                </a:solidFill>
              </a:rPr>
              <a:t>和</a:t>
            </a:r>
            <a:r>
              <a:rPr lang="zh-CN" altLang="en-US" dirty="0">
                <a:solidFill>
                  <a:srgbClr val="FF0000"/>
                </a:solidFill>
              </a:rPr>
              <a:t>饱和度</a:t>
            </a:r>
            <a:r>
              <a:rPr lang="zh-CN" altLang="en-US" dirty="0">
                <a:solidFill>
                  <a:srgbClr val="000000"/>
                </a:solidFill>
              </a:rPr>
              <a:t>综合变化形成颜色对比，有更多的颜色变化，可用于更多的分支颜色表示</a:t>
            </a:r>
          </a:p>
        </p:txBody>
      </p:sp>
      <p:sp>
        <p:nvSpPr>
          <p:cNvPr id="9" name="线形标注 1 11">
            <a:extLst>
              <a:ext uri="{FF2B5EF4-FFF2-40B4-BE49-F238E27FC236}">
                <a16:creationId xmlns:a16="http://schemas.microsoft.com/office/drawing/2014/main" id="{64E1DA1F-5D7C-4DD5-B48E-64276932ACDF}"/>
              </a:ext>
            </a:extLst>
          </p:cNvPr>
          <p:cNvSpPr/>
          <p:nvPr/>
        </p:nvSpPr>
        <p:spPr>
          <a:xfrm>
            <a:off x="5548896" y="3211567"/>
            <a:ext cx="3158571" cy="1029865"/>
          </a:xfrm>
          <a:prstGeom prst="borderCallout1">
            <a:avLst>
              <a:gd name="adj1" fmla="val 45115"/>
              <a:gd name="adj2" fmla="val -1580"/>
              <a:gd name="adj3" fmla="val 148366"/>
              <a:gd name="adj4" fmla="val -26345"/>
            </a:avLst>
          </a:prstGeom>
          <a:noFill/>
          <a:ln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r>
              <a:rPr lang="zh-CN" altLang="en-US" dirty="0">
                <a:solidFill>
                  <a:srgbClr val="000000"/>
                </a:solidFill>
              </a:rPr>
              <a:t>主要通过颜色</a:t>
            </a:r>
            <a:r>
              <a:rPr lang="zh-CN" altLang="en-US" dirty="0">
                <a:solidFill>
                  <a:srgbClr val="FF0000"/>
                </a:solidFill>
              </a:rPr>
              <a:t>色调变化</a:t>
            </a:r>
            <a:r>
              <a:rPr lang="zh-CN" altLang="en-US" dirty="0">
                <a:solidFill>
                  <a:srgbClr val="000000"/>
                </a:solidFill>
              </a:rPr>
              <a:t>进行区分，对比明显，可用于</a:t>
            </a:r>
            <a:r>
              <a:rPr lang="zh-CN" altLang="en-US" dirty="0">
                <a:solidFill>
                  <a:srgbClr val="FF0000"/>
                </a:solidFill>
              </a:rPr>
              <a:t>定性属性</a:t>
            </a:r>
            <a:r>
              <a:rPr lang="zh-CN" altLang="en-US" dirty="0">
                <a:solidFill>
                  <a:srgbClr val="000000"/>
                </a:solidFill>
              </a:rPr>
              <a:t>或</a:t>
            </a:r>
            <a:r>
              <a:rPr lang="zh-CN" altLang="en-US" dirty="0">
                <a:solidFill>
                  <a:srgbClr val="FF0000"/>
                </a:solidFill>
              </a:rPr>
              <a:t>类别</a:t>
            </a:r>
            <a:r>
              <a:rPr lang="zh-CN" altLang="en-US" dirty="0">
                <a:solidFill>
                  <a:srgbClr val="000000"/>
                </a:solidFill>
              </a:rPr>
              <a:t>间的差异化显示</a:t>
            </a:r>
          </a:p>
        </p:txBody>
      </p:sp>
      <p:sp>
        <p:nvSpPr>
          <p:cNvPr id="12" name="标题 5">
            <a:extLst>
              <a:ext uri="{FF2B5EF4-FFF2-40B4-BE49-F238E27FC236}">
                <a16:creationId xmlns:a16="http://schemas.microsoft.com/office/drawing/2014/main" id="{5D66A391-EAE1-A4F6-554A-D89D039A5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5.2.1 </a:t>
            </a:r>
            <a:r>
              <a:rPr lang="zh-CN" altLang="en-US" sz="3600" dirty="0"/>
              <a:t>基础绘图参数</a:t>
            </a:r>
          </a:p>
        </p:txBody>
      </p:sp>
    </p:spTree>
    <p:extLst>
      <p:ext uri="{BB962C8B-B14F-4D97-AF65-F5344CB8AC3E}">
        <p14:creationId xmlns:p14="http://schemas.microsoft.com/office/powerpoint/2010/main" val="2480687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5">
            <a:extLst>
              <a:ext uri="{FF2B5EF4-FFF2-40B4-BE49-F238E27FC236}">
                <a16:creationId xmlns:a16="http://schemas.microsoft.com/office/drawing/2014/main" id="{D20C5389-A8CB-5428-BCAC-C3D72EBA2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5.2.2 </a:t>
            </a:r>
            <a:r>
              <a:rPr lang="zh-CN" altLang="en-US" sz="3600" dirty="0"/>
              <a:t>散点图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12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AF6E6F9-3590-4FCA-8F60-552F53EFC742}"/>
              </a:ext>
            </a:extLst>
          </p:cNvPr>
          <p:cNvSpPr/>
          <p:nvPr/>
        </p:nvSpPr>
        <p:spPr>
          <a:xfrm>
            <a:off x="503636" y="1066800"/>
            <a:ext cx="8137127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散点图（</a:t>
            </a:r>
            <a:r>
              <a:rPr lang="en-US" altLang="zh-CN" dirty="0">
                <a:latin typeface="+mn-lt"/>
                <a:ea typeface="+mn-ea"/>
              </a:rPr>
              <a:t>Scatter plot</a:t>
            </a:r>
            <a:r>
              <a:rPr lang="zh-CN" altLang="en-US" dirty="0">
                <a:latin typeface="+mn-lt"/>
                <a:ea typeface="+mn-ea"/>
              </a:rPr>
              <a:t>）将两个等长的变量一一对应构成二维坐标，在二维坐标系中进行绘制，利用观测点的位置分布来展示变量间关系。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E302C44D-ADD9-60D3-652B-1E55BF0A0C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670"/>
          <a:stretch/>
        </p:blipFill>
        <p:spPr>
          <a:xfrm>
            <a:off x="1816968" y="2922214"/>
            <a:ext cx="5510062" cy="389729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63A07A0-8A69-3A8F-4FA4-D57BD74CFF2B}"/>
              </a:ext>
            </a:extLst>
          </p:cNvPr>
          <p:cNvSpPr txBox="1"/>
          <p:nvPr/>
        </p:nvSpPr>
        <p:spPr>
          <a:xfrm>
            <a:off x="1504950" y="1992686"/>
            <a:ext cx="6134099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GDP_per_Land,WHHP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FAI_per_Land,xlab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地均固定资产投入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GDP_per_Land,WHHP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FAI_per_Land,xlab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地均固定资产投入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,pch=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"blue"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14703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>
            <a:extLst>
              <a:ext uri="{FF2B5EF4-FFF2-40B4-BE49-F238E27FC236}">
                <a16:creationId xmlns:a16="http://schemas.microsoft.com/office/drawing/2014/main" id="{2DAEB0BB-CEF4-EFCC-F27B-1F8DDCB887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11"/>
          <a:stretch/>
        </p:blipFill>
        <p:spPr>
          <a:xfrm>
            <a:off x="4659421" y="1694887"/>
            <a:ext cx="4201245" cy="3105713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13</a:t>
            </a:fld>
            <a:endParaRPr lang="zh-CN" altLang="en-US">
              <a:cs typeface="+mn-ea"/>
              <a:sym typeface="Consolas" panose="020B0609020204030204" pitchFamily="49" charset="0"/>
            </a:endParaRPr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9BA25533-67D7-0C27-A9A9-2C55F75EE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5.2.2 </a:t>
            </a:r>
            <a:r>
              <a:rPr lang="zh-CN" altLang="en-US" sz="3600" dirty="0"/>
              <a:t>散点图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681720E-1399-EE22-0944-63FBFB503C09}"/>
              </a:ext>
            </a:extLst>
          </p:cNvPr>
          <p:cNvSpPr txBox="1"/>
          <p:nvPr/>
        </p:nvSpPr>
        <p:spPr>
          <a:xfrm>
            <a:off x="495300" y="1066800"/>
            <a:ext cx="819150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如果数据中含有其他辅助信息，如类别型变量，可利用颜色或形状在散点图中加以区分。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9DA9D34-C6D7-DB6B-4022-87DAB046CF11}"/>
              </a:ext>
            </a:extLst>
          </p:cNvPr>
          <p:cNvSpPr txBox="1"/>
          <p:nvPr/>
        </p:nvSpPr>
        <p:spPr>
          <a:xfrm>
            <a:off x="342900" y="2218899"/>
            <a:ext cx="7086600" cy="4029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dplyr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&lt;-summary(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 &lt;- WHHP %&gt;% 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mutate(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case_when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 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idx1 &lt;- which(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idx2 &lt;- which(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idx3 &lt;- which(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idx4 &lt;- which(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cols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black"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"blue"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"purple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[idx1],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[idx1], col=cols[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ylim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=range(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xlim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=range(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points(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[idx2],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[idx2],col=cols[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points(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[idx3],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[idx3],col=cols[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points(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[idx4],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[idx4],col=cols[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legend(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topright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,legend=c(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),title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房价水平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cols,pch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8912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8AEE2-C529-F16B-5C95-852F3011B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1C90A6-F65B-F378-C0EB-877E872EE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14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9" name="标题 5">
            <a:extLst>
              <a:ext uri="{FF2B5EF4-FFF2-40B4-BE49-F238E27FC236}">
                <a16:creationId xmlns:a16="http://schemas.microsoft.com/office/drawing/2014/main" id="{79F8EE3B-AA3A-4B90-2F13-52EC9DFA7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5.2.2 </a:t>
            </a:r>
            <a:r>
              <a:rPr lang="zh-CN" altLang="en-US" sz="3600" dirty="0"/>
              <a:t>散点图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00AD76-FC4A-9B8D-A42E-F73E1D68B603}"/>
              </a:ext>
            </a:extLst>
          </p:cNvPr>
          <p:cNvSpPr txBox="1"/>
          <p:nvPr/>
        </p:nvSpPr>
        <p:spPr>
          <a:xfrm>
            <a:off x="495300" y="1066800"/>
            <a:ext cx="81915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在制图过程中，一般也可通过添加背景网格线辅助识图。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8D6CE83-BEAA-5A6D-58D4-2E24C017808A}"/>
              </a:ext>
            </a:extLst>
          </p:cNvPr>
          <p:cNvSpPr txBox="1"/>
          <p:nvPr/>
        </p:nvSpPr>
        <p:spPr>
          <a:xfrm>
            <a:off x="2971800" y="1638300"/>
            <a:ext cx="320040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grid(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,ny=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"grey"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grid(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,ny=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"grey"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,lwd=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612F48D-0A2E-F6E9-9D5C-8230B1CD75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0" b="700"/>
          <a:stretch/>
        </p:blipFill>
        <p:spPr>
          <a:xfrm>
            <a:off x="1327815" y="2133600"/>
            <a:ext cx="648837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969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F8B9BF59-7EC0-6C51-4719-F5CE238EF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5.2.3 </a:t>
            </a:r>
            <a:r>
              <a:rPr lang="zh-CN" altLang="en-US" sz="3600" dirty="0"/>
              <a:t>折线图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0F2586B-8A83-D0A2-D631-306DC8852A5B}"/>
              </a:ext>
            </a:extLst>
          </p:cNvPr>
          <p:cNvSpPr txBox="1"/>
          <p:nvPr/>
        </p:nvSpPr>
        <p:spPr>
          <a:xfrm>
            <a:off x="609600" y="1193922"/>
            <a:ext cx="7962900" cy="2224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折线图（</a:t>
            </a:r>
            <a:r>
              <a:rPr lang="en-US" altLang="zh-CN" dirty="0">
                <a:latin typeface="+mn-lt"/>
                <a:ea typeface="+mn-ea"/>
              </a:rPr>
              <a:t>line chart</a:t>
            </a:r>
            <a:r>
              <a:rPr lang="zh-CN" altLang="en-US" dirty="0">
                <a:latin typeface="+mn-lt"/>
                <a:ea typeface="+mn-ea"/>
              </a:rPr>
              <a:t>）是一种通过连接数据点来显示数据变化趋势的可视化手段，通常用来展示纵轴变量随横轴变量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en-US" dirty="0">
                <a:latin typeface="+mn-lt"/>
                <a:ea typeface="+mn-ea"/>
              </a:rPr>
              <a:t>如时间</a:t>
            </a:r>
            <a:r>
              <a:rPr lang="en-US" altLang="zh-CN" dirty="0">
                <a:latin typeface="+mn-lt"/>
                <a:ea typeface="+mn-ea"/>
              </a:rPr>
              <a:t>)</a:t>
            </a:r>
            <a:r>
              <a:rPr lang="zh-CN" altLang="en-US" dirty="0">
                <a:latin typeface="+mn-lt"/>
                <a:ea typeface="+mn-ea"/>
              </a:rPr>
              <a:t>变化而变化的趋势分析。</a:t>
            </a:r>
            <a:endParaRPr lang="en-US" altLang="zh-CN" dirty="0">
              <a:latin typeface="+mn-lt"/>
              <a:ea typeface="+mn-ea"/>
            </a:endParaRPr>
          </a:p>
          <a:p>
            <a:pPr indent="457200"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函数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不仅便于做散点图，还可通过定义参数</a:t>
            </a:r>
            <a:r>
              <a:rPr lang="en-US" altLang="zh-CN" dirty="0">
                <a:latin typeface="+mn-lt"/>
                <a:ea typeface="+mn-ea"/>
              </a:rPr>
              <a:t>type</a:t>
            </a:r>
            <a:r>
              <a:rPr lang="zh-CN" altLang="en-US" dirty="0">
                <a:latin typeface="+mn-lt"/>
                <a:ea typeface="+mn-ea"/>
              </a:rPr>
              <a:t>分别为“</a:t>
            </a:r>
            <a:r>
              <a:rPr lang="en-US" altLang="zh-CN" dirty="0">
                <a:latin typeface="+mn-lt"/>
                <a:ea typeface="+mn-ea"/>
              </a:rPr>
              <a:t>l”</a:t>
            </a:r>
            <a:r>
              <a:rPr lang="zh-CN" altLang="en-US" dirty="0">
                <a:latin typeface="+mn-lt"/>
                <a:ea typeface="+mn-ea"/>
              </a:rPr>
              <a:t>和“</a:t>
            </a:r>
            <a:r>
              <a:rPr lang="en-US" altLang="zh-CN" dirty="0">
                <a:latin typeface="+mn-lt"/>
                <a:ea typeface="+mn-ea"/>
              </a:rPr>
              <a:t>b</a:t>
            </a:r>
            <a:r>
              <a:rPr lang="zh-CN" altLang="en-US" dirty="0">
                <a:latin typeface="+mn-lt"/>
                <a:ea typeface="+mn-ea"/>
              </a:rPr>
              <a:t>，则绘制对应折线图和点线图。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FE7DB8-611F-6AFA-4F18-DFC1A731B02E}"/>
              </a:ext>
            </a:extLst>
          </p:cNvPr>
          <p:cNvSpPr/>
          <p:nvPr/>
        </p:nvSpPr>
        <p:spPr>
          <a:xfrm>
            <a:off x="790575" y="3467100"/>
            <a:ext cx="7562850" cy="27779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200000"/>
              </a:lnSpc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1-character string giving the type of plot desired. The following values are possible, for details, see plot: "p" for points, "l" for lines, "b" for both points and lines, "c" for empty points joined by lines, "o" for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overplotted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and lines, "s" and "S" for stair steps and "h" for histogram-like vertical lines. Finally, "n" does not produce any points or lines.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5883C3E2-EC42-0A60-58DE-6FD15D12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15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703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16</a:t>
            </a:fld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09A8C51-5FCE-ED05-B8D5-F24E7D0396C2}"/>
              </a:ext>
            </a:extLst>
          </p:cNvPr>
          <p:cNvSpPr txBox="1"/>
          <p:nvPr/>
        </p:nvSpPr>
        <p:spPr>
          <a:xfrm>
            <a:off x="2923309" y="1954586"/>
            <a:ext cx="3286991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&lt;- seq(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*pi,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y&lt;- sin(x)+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rnorm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x,y,type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x,y,type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" name="标题 3">
            <a:extLst>
              <a:ext uri="{FF2B5EF4-FFF2-40B4-BE49-F238E27FC236}">
                <a16:creationId xmlns:a16="http://schemas.microsoft.com/office/drawing/2014/main" id="{08809019-48E8-1629-092A-95064FA2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5.2.3 </a:t>
            </a:r>
            <a:r>
              <a:rPr lang="zh-CN" altLang="en-US" sz="3600" dirty="0"/>
              <a:t>折线图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5013E762-8324-BADD-29A4-3ABDD4046F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12" b="1786"/>
          <a:stretch/>
        </p:blipFill>
        <p:spPr>
          <a:xfrm>
            <a:off x="1181100" y="2895600"/>
            <a:ext cx="6781799" cy="386546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F4C7812-9AFE-411F-3CDC-4416768BADD6}"/>
              </a:ext>
            </a:extLst>
          </p:cNvPr>
          <p:cNvSpPr txBox="1"/>
          <p:nvPr/>
        </p:nvSpPr>
        <p:spPr>
          <a:xfrm>
            <a:off x="609600" y="1068886"/>
            <a:ext cx="796290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折线图突出了值域变化趋势，而点线结合的图形更加易于展示相邻数值之间的跳跃，尤其是相邻点之间存在较大变化时。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17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03636" y="1104900"/>
            <a:ext cx="8137127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利用函数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绘图时，通常与</a:t>
            </a:r>
            <a:r>
              <a:rPr lang="en-US" altLang="zh-CN" dirty="0">
                <a:latin typeface="+mn-lt"/>
                <a:ea typeface="+mn-ea"/>
              </a:rPr>
              <a:t>points</a:t>
            </a:r>
            <a:r>
              <a:rPr lang="zh-CN" altLang="en-US" dirty="0">
                <a:latin typeface="+mn-lt"/>
                <a:ea typeface="+mn-ea"/>
              </a:rPr>
              <a:t>、</a:t>
            </a:r>
            <a:r>
              <a:rPr lang="en-US" altLang="zh-CN" dirty="0">
                <a:latin typeface="+mn-lt"/>
                <a:ea typeface="+mn-ea"/>
              </a:rPr>
              <a:t>lines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dirty="0">
                <a:latin typeface="+mn-lt"/>
                <a:ea typeface="+mn-ea"/>
              </a:rPr>
              <a:t>polygon</a:t>
            </a:r>
            <a:r>
              <a:rPr lang="zh-CN" altLang="en-US" dirty="0">
                <a:latin typeface="+mn-lt"/>
                <a:ea typeface="+mn-ea"/>
              </a:rPr>
              <a:t>等函数结合使用，在已有绘制要素的基础上，分别添加点、线和面要素特征，达到综合表达的效果。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8" name="标题 3">
            <a:extLst>
              <a:ext uri="{FF2B5EF4-FFF2-40B4-BE49-F238E27FC236}">
                <a16:creationId xmlns:a16="http://schemas.microsoft.com/office/drawing/2014/main" id="{1E249282-CB4C-4F40-8AD3-3D870119A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5.2.3 </a:t>
            </a:r>
            <a:r>
              <a:rPr lang="zh-CN" altLang="en-US" sz="3600" dirty="0"/>
              <a:t>折线图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73C80E3-38CA-706A-8505-D90AD66CCD6F}"/>
              </a:ext>
            </a:extLst>
          </p:cNvPr>
          <p:cNvSpPr txBox="1"/>
          <p:nvPr/>
        </p:nvSpPr>
        <p:spPr>
          <a:xfrm>
            <a:off x="461472" y="3179540"/>
            <a:ext cx="2891328" cy="169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x,sin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(x), type=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points(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darkred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title(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plot+points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darkred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x,sin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(x),col=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title(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plot+lines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A8CF7271-91A5-F92A-7ADC-59834D18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490" y="2095500"/>
            <a:ext cx="5274310" cy="39547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DAB4D5E6-B359-E82E-CF1D-6B9CBF2C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5.2.4 </a:t>
            </a:r>
            <a:r>
              <a:rPr lang="zh-CN" altLang="en-US" sz="3600" dirty="0"/>
              <a:t>直方图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18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C3B3827-B513-C33C-9C8D-FEDA62CF1A48}"/>
              </a:ext>
            </a:extLst>
          </p:cNvPr>
          <p:cNvSpPr txBox="1"/>
          <p:nvPr/>
        </p:nvSpPr>
        <p:spPr>
          <a:xfrm>
            <a:off x="228600" y="1072488"/>
            <a:ext cx="8686800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直方图（</a:t>
            </a:r>
            <a:r>
              <a:rPr lang="en-US" altLang="zh-CN" dirty="0">
                <a:latin typeface="+mn-lt"/>
                <a:ea typeface="+mn-ea"/>
              </a:rPr>
              <a:t>histogram</a:t>
            </a:r>
            <a:r>
              <a:rPr lang="zh-CN" altLang="en-US" dirty="0">
                <a:latin typeface="+mn-lt"/>
                <a:ea typeface="+mn-ea"/>
              </a:rPr>
              <a:t>）是用来观察数据变量分布特征的常用图形，能够直观地展示数据分布特征，如是数据总体分布以及数值的频率趋势、分布形状、离散程度和极端值等。在</a:t>
            </a:r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语言中，可以使用基础函数包</a:t>
            </a:r>
            <a:r>
              <a:rPr lang="en-US" altLang="zh-CN" dirty="0">
                <a:latin typeface="+mn-lt"/>
                <a:ea typeface="+mn-ea"/>
              </a:rPr>
              <a:t>base</a:t>
            </a:r>
            <a:r>
              <a:rPr lang="zh-CN" altLang="en-US" dirty="0">
                <a:latin typeface="+mn-lt"/>
                <a:ea typeface="+mn-ea"/>
              </a:rPr>
              <a:t>中的</a:t>
            </a:r>
            <a:r>
              <a:rPr lang="en-US" altLang="zh-CN" dirty="0">
                <a:latin typeface="+mn-lt"/>
                <a:ea typeface="+mn-ea"/>
              </a:rPr>
              <a:t>hist</a:t>
            </a:r>
            <a:r>
              <a:rPr lang="zh-CN" altLang="en-US" dirty="0">
                <a:latin typeface="+mn-lt"/>
                <a:ea typeface="+mn-ea"/>
              </a:rPr>
              <a:t>函数绘制直方图。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9686F13-4E52-F45E-4E41-9AD5344E601B}"/>
              </a:ext>
            </a:extLst>
          </p:cNvPr>
          <p:cNvSpPr txBox="1"/>
          <p:nvPr/>
        </p:nvSpPr>
        <p:spPr>
          <a:xfrm>
            <a:off x="228600" y="2400300"/>
            <a:ext cx="8686800" cy="43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hist(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pink"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,border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"grey"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频数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,main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武汉市房价分布直方图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,labels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65E1038-5A4A-0642-C166-C455BC884D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86"/>
          <a:stretch/>
        </p:blipFill>
        <p:spPr>
          <a:xfrm>
            <a:off x="1806681" y="2971800"/>
            <a:ext cx="5530638" cy="3786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699F3-2964-480F-6539-0D304122C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7088F98E-E864-4837-E046-EC8D340B7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5.2.4 </a:t>
            </a:r>
            <a:r>
              <a:rPr lang="zh-CN" altLang="en-US" sz="3600" dirty="0"/>
              <a:t>直方图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BD9595-62E2-AC44-7691-56C9F8A32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19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64A3CC0-E14C-5E51-523E-D672D073CB6B}"/>
              </a:ext>
            </a:extLst>
          </p:cNvPr>
          <p:cNvSpPr txBox="1"/>
          <p:nvPr/>
        </p:nvSpPr>
        <p:spPr>
          <a:xfrm>
            <a:off x="228600" y="1072488"/>
            <a:ext cx="86868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直方图中变量值分布区间可以通过参数</a:t>
            </a:r>
            <a:r>
              <a:rPr lang="en-US" altLang="zh-CN" dirty="0">
                <a:latin typeface="+mn-lt"/>
                <a:ea typeface="+mn-ea"/>
              </a:rPr>
              <a:t>breaks</a:t>
            </a:r>
            <a:r>
              <a:rPr lang="zh-CN" altLang="en-US" dirty="0">
                <a:latin typeface="+mn-lt"/>
                <a:ea typeface="+mn-ea"/>
              </a:rPr>
              <a:t>进行设定。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C82AD28-AAF7-1898-3B7D-6CF50799A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681" y="1714500"/>
            <a:ext cx="6418638" cy="4812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1317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ED207-F9D1-F66D-C01A-EF35B8F7F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DB88EEDC-A361-D829-21DC-7EAE3DA1E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5.2.4 </a:t>
            </a:r>
            <a:r>
              <a:rPr lang="zh-CN" altLang="en-US" sz="3600" dirty="0"/>
              <a:t>直方图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C85A88E-0CBD-7486-3B17-86C2D0696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A5A0BB8-8B41-A557-F9D0-DF953696AB16}"/>
              </a:ext>
            </a:extLst>
          </p:cNvPr>
          <p:cNvSpPr txBox="1"/>
          <p:nvPr/>
        </p:nvSpPr>
        <p:spPr>
          <a:xfrm>
            <a:off x="228600" y="1072488"/>
            <a:ext cx="868680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将</a:t>
            </a:r>
            <a:r>
              <a:rPr lang="en-US" altLang="zh-CN" dirty="0">
                <a:latin typeface="+mn-lt"/>
                <a:ea typeface="+mn-ea"/>
              </a:rPr>
              <a:t>hist</a:t>
            </a:r>
            <a:r>
              <a:rPr lang="zh-CN" altLang="en-US" dirty="0">
                <a:latin typeface="+mn-lt"/>
                <a:ea typeface="+mn-ea"/>
              </a:rPr>
              <a:t>函数的参数</a:t>
            </a:r>
            <a:r>
              <a:rPr lang="en-US" altLang="zh-CN" dirty="0" err="1">
                <a:latin typeface="+mn-lt"/>
                <a:ea typeface="+mn-ea"/>
              </a:rPr>
              <a:t>freq</a:t>
            </a:r>
            <a:r>
              <a:rPr lang="zh-CN" altLang="en-US" dirty="0">
                <a:latin typeface="+mn-lt"/>
                <a:ea typeface="+mn-ea"/>
              </a:rPr>
              <a:t>设置为</a:t>
            </a:r>
            <a:r>
              <a:rPr lang="en-US" altLang="zh-CN" dirty="0">
                <a:latin typeface="+mn-lt"/>
                <a:ea typeface="+mn-ea"/>
              </a:rPr>
              <a:t>FALSE</a:t>
            </a:r>
            <a:r>
              <a:rPr lang="zh-CN" altLang="en-US" dirty="0">
                <a:latin typeface="+mn-lt"/>
                <a:ea typeface="+mn-ea"/>
              </a:rPr>
              <a:t>，则直方图将统计变量值“频率”，在此基础上可以叠加绘制轴须图与核密度曲线，两者均可以用来反映数据分布的密度特征。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4CCB83-B7E4-02DC-A0B3-03BD2889F95D}"/>
              </a:ext>
            </a:extLst>
          </p:cNvPr>
          <p:cNvSpPr txBox="1"/>
          <p:nvPr/>
        </p:nvSpPr>
        <p:spPr>
          <a:xfrm>
            <a:off x="419100" y="1981200"/>
            <a:ext cx="8343900" cy="799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mfrow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hist(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"pink"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,border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,main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武汉市房价频率分布直方图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rug(jitter(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lines(density(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darkgreen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3D3757B-D7F9-812E-8F80-7DAA27521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17"/>
          <a:stretch/>
        </p:blipFill>
        <p:spPr>
          <a:xfrm>
            <a:off x="1676400" y="2868688"/>
            <a:ext cx="5791200" cy="387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030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D93D7-BB69-015F-3B56-17232D6C8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2C1C68CC-2E8F-6244-FB27-F2A6A14C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5.2.4 </a:t>
            </a:r>
            <a:r>
              <a:rPr lang="zh-CN" altLang="en-US" sz="3600" dirty="0"/>
              <a:t>直方图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8B8B95-B410-D444-2B2F-1244F5B9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8FEA07E-D1C4-C237-75C6-6217C925D82A}"/>
              </a:ext>
            </a:extLst>
          </p:cNvPr>
          <p:cNvSpPr txBox="1"/>
          <p:nvPr/>
        </p:nvSpPr>
        <p:spPr>
          <a:xfrm>
            <a:off x="228600" y="1072488"/>
            <a:ext cx="868680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在直方图上添加正态分布曲线，通过将其与直方图进行比较，观察数据的中心趋势与散布情况，同时在一定程度上也可用于识别潜在的异常值。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B6611CB-F54C-42D4-0F65-FA9EC287AE66}"/>
              </a:ext>
            </a:extLst>
          </p:cNvPr>
          <p:cNvSpPr txBox="1"/>
          <p:nvPr/>
        </p:nvSpPr>
        <p:spPr>
          <a:xfrm>
            <a:off x="419100" y="1905000"/>
            <a:ext cx="8343900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hist(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Avg_HP,freq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pink"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,border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频率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,main=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武汉房价频率分布直方图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x&lt;-seq(min(data),max(data),length=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dnorm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x,mean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mean(data),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lines(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darkgreen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F43E890-0F83-A48B-1E34-A17174665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1"/>
          <a:stretch/>
        </p:blipFill>
        <p:spPr>
          <a:xfrm>
            <a:off x="1691322" y="2915287"/>
            <a:ext cx="5761355" cy="382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267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A2715-5474-262D-F0B9-2C593958A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C56F7713-EA7F-EF9D-BA6C-CB6CEF237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5.2.4 </a:t>
            </a:r>
            <a:r>
              <a:rPr lang="zh-CN" altLang="en-US" sz="3600" dirty="0"/>
              <a:t>直方图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A7C4AC-4271-58CE-DD47-278CD6E1F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22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A9CE241-F6F7-4B46-9927-BBD1B5D0C315}"/>
              </a:ext>
            </a:extLst>
          </p:cNvPr>
          <p:cNvSpPr txBox="1"/>
          <p:nvPr/>
        </p:nvSpPr>
        <p:spPr>
          <a:xfrm>
            <a:off x="228600" y="1072488"/>
            <a:ext cx="868680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除了使用</a:t>
            </a:r>
            <a:r>
              <a:rPr lang="en-US" altLang="zh-CN" dirty="0">
                <a:latin typeface="+mn-lt"/>
                <a:ea typeface="+mn-ea"/>
              </a:rPr>
              <a:t>hist</a:t>
            </a:r>
            <a:r>
              <a:rPr lang="zh-CN" altLang="en-US" dirty="0">
                <a:latin typeface="+mn-lt"/>
                <a:ea typeface="+mn-ea"/>
              </a:rPr>
              <a:t>函数绘制直方图，也可以通过将</a:t>
            </a:r>
            <a:r>
              <a:rPr lang="en-US" altLang="zh-CN" dirty="0">
                <a:latin typeface="+mn-lt"/>
                <a:ea typeface="+mn-ea"/>
              </a:rPr>
              <a:t>plot</a:t>
            </a:r>
            <a:r>
              <a:rPr lang="zh-CN" altLang="en-US" dirty="0">
                <a:latin typeface="+mn-lt"/>
                <a:ea typeface="+mn-ea"/>
              </a:rPr>
              <a:t>函数的</a:t>
            </a:r>
            <a:r>
              <a:rPr lang="en-US" altLang="zh-CN" dirty="0">
                <a:latin typeface="+mn-lt"/>
                <a:ea typeface="+mn-ea"/>
              </a:rPr>
              <a:t>type</a:t>
            </a:r>
            <a:r>
              <a:rPr lang="zh-CN" altLang="en-US" dirty="0">
                <a:latin typeface="+mn-lt"/>
                <a:ea typeface="+mn-ea"/>
              </a:rPr>
              <a:t>参数设置为</a:t>
            </a:r>
            <a:r>
              <a:rPr lang="en-US" altLang="zh-CN" dirty="0">
                <a:latin typeface="+mn-lt"/>
                <a:ea typeface="+mn-ea"/>
              </a:rPr>
              <a:t>’h’</a:t>
            </a:r>
            <a:r>
              <a:rPr lang="zh-CN" altLang="en-US" dirty="0">
                <a:latin typeface="+mn-lt"/>
                <a:ea typeface="+mn-ea"/>
              </a:rPr>
              <a:t>绘制。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59E5B7C-5B9F-1BA0-436F-4450DF1D2A8F}"/>
              </a:ext>
            </a:extLst>
          </p:cNvPr>
          <p:cNvSpPr txBox="1"/>
          <p:nvPr/>
        </p:nvSpPr>
        <p:spPr>
          <a:xfrm>
            <a:off x="1181099" y="1611686"/>
            <a:ext cx="6781800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c(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freq_table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table(data)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freq_table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as.character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05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type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skyblue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"Values"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"Frequency"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main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"Histogram Example"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3DA3967-FA7C-8CEF-8188-46BABD395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41"/>
          <a:stretch/>
        </p:blipFill>
        <p:spPr>
          <a:xfrm>
            <a:off x="1809750" y="2723180"/>
            <a:ext cx="5524500" cy="402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0649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07AED-94FD-B200-AA57-D3E1DF54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321C8717-CCA5-8107-C18C-81CD3FAC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5.2.5 </a:t>
            </a:r>
            <a:r>
              <a:rPr lang="zh-CN" altLang="en-US" sz="3600" dirty="0"/>
              <a:t>条形图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BB0EE4-44A4-A2B5-0D23-4A2B8C0C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23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47ED610-9741-7575-747E-03AAF740F764}"/>
              </a:ext>
            </a:extLst>
          </p:cNvPr>
          <p:cNvSpPr txBox="1"/>
          <p:nvPr/>
        </p:nvSpPr>
        <p:spPr>
          <a:xfrm>
            <a:off x="228600" y="1072488"/>
            <a:ext cx="8686800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与直方图类似，条形图（</a:t>
            </a:r>
            <a:r>
              <a:rPr lang="en-US" altLang="zh-CN" dirty="0">
                <a:latin typeface="+mn-lt"/>
                <a:ea typeface="+mn-ea"/>
              </a:rPr>
              <a:t>bar plot</a:t>
            </a:r>
            <a:r>
              <a:rPr lang="zh-CN" altLang="en-US" dirty="0">
                <a:latin typeface="+mn-lt"/>
                <a:ea typeface="+mn-ea"/>
              </a:rPr>
              <a:t>）利用一定宽度和高度（或长度）的条形（或称矩形）表示不同类别下的变量数值特征。在</a:t>
            </a:r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语言中，可以使用基础函数包</a:t>
            </a:r>
            <a:r>
              <a:rPr lang="en-US" altLang="zh-CN" dirty="0">
                <a:latin typeface="+mn-lt"/>
                <a:ea typeface="+mn-ea"/>
              </a:rPr>
              <a:t>base</a:t>
            </a:r>
            <a:r>
              <a:rPr lang="zh-CN" altLang="en-US" dirty="0">
                <a:latin typeface="+mn-lt"/>
                <a:ea typeface="+mn-ea"/>
              </a:rPr>
              <a:t>中的</a:t>
            </a:r>
            <a:r>
              <a:rPr lang="en-US" altLang="zh-CN" dirty="0">
                <a:latin typeface="+mn-lt"/>
                <a:ea typeface="+mn-ea"/>
              </a:rPr>
              <a:t>hist</a:t>
            </a:r>
            <a:r>
              <a:rPr lang="zh-CN" altLang="en-US" dirty="0">
                <a:latin typeface="+mn-lt"/>
                <a:ea typeface="+mn-ea"/>
              </a:rPr>
              <a:t>函数绘制直方图。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6F42E2-FA0C-9B5E-C498-F4CFF02DE91C}"/>
              </a:ext>
            </a:extLst>
          </p:cNvPr>
          <p:cNvSpPr txBox="1"/>
          <p:nvPr/>
        </p:nvSpPr>
        <p:spPr>
          <a:xfrm>
            <a:off x="417227" y="2406977"/>
            <a:ext cx="8345773" cy="438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barplot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gre_level_num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names.arg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gre_level_num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main=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不同水平绿化率对应区域的数量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绿化率水平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区域数量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skyblue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border=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"black"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C369FCD-4031-6579-20F1-637120F2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18"/>
          <a:stretch/>
        </p:blipFill>
        <p:spPr>
          <a:xfrm>
            <a:off x="1934845" y="2895600"/>
            <a:ext cx="5274310" cy="383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21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B4786-8586-4778-AD7A-2C6FE8A5A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E5FA34F6-DC01-A25E-13C5-2B7F4E0F6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5.2.5 </a:t>
            </a:r>
            <a:r>
              <a:rPr lang="zh-CN" altLang="en-US" sz="3600" dirty="0"/>
              <a:t>条形图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86C0FF-9DB7-CEF4-95C4-6DE058BAB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24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D3DA090-3617-BF54-FD86-ECDB825E0037}"/>
              </a:ext>
            </a:extLst>
          </p:cNvPr>
          <p:cNvSpPr txBox="1"/>
          <p:nvPr/>
        </p:nvSpPr>
        <p:spPr>
          <a:xfrm>
            <a:off x="228600" y="1072488"/>
            <a:ext cx="868680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barplot</a:t>
            </a:r>
            <a:r>
              <a:rPr lang="zh-CN" altLang="en-US" dirty="0">
                <a:latin typeface="+mn-lt"/>
                <a:ea typeface="+mn-ea"/>
              </a:rPr>
              <a:t>函数还支持堆砌条形图与分组条形图的绘制。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6A2B7C-B86B-77FA-7F95-36FFDC31EDD4}"/>
              </a:ext>
            </a:extLst>
          </p:cNvPr>
          <p:cNvSpPr txBox="1"/>
          <p:nvPr/>
        </p:nvSpPr>
        <p:spPr>
          <a:xfrm>
            <a:off x="457200" y="1597216"/>
            <a:ext cx="8229600" cy="4634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breaks_green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low&lt;-WHHP[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table(cut(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breaks_green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include.lowest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re_low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&lt;-WHHP[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table(cut(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re_low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breaks_green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include.lowest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re_high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&lt;-WHHP[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table(cut(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re_high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breaks_green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include.lowest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high&lt;-WHHP[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table(cut(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high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breaks_green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include.lowest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l_col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&lt;-c(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re_l_col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&lt;-c(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re_low_table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re_h_col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&lt;-c(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re_high_table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h_col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&lt;-c(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high_table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table&lt;-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cbind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l_col,re_l_col,re_h_col,h_col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(table)&lt;-c(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低绿化率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高绿化率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(table)&lt;-c(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barplot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table,col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red"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"orange"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"yellow"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ylim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265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</a:t>
            </a:r>
            <a:r>
              <a:rPr lang="en-US" altLang="zh-CN" sz="11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#beside=TRUE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legend(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"top"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(table),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fill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"orange"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"yellow"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horiz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60977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8BE5-A1D4-CD99-A520-FF547EBDA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07642D2C-9CBF-EAD1-5D3A-C264683B9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5.2.5 </a:t>
            </a:r>
            <a:r>
              <a:rPr lang="zh-CN" altLang="en-US" sz="3600" dirty="0"/>
              <a:t>条形图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FB8B6E-A77D-DB9C-0EC3-85A2B028B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25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CA1D8B-75D6-DA2A-F26D-41E87DB507C0}"/>
              </a:ext>
            </a:extLst>
          </p:cNvPr>
          <p:cNvSpPr txBox="1"/>
          <p:nvPr/>
        </p:nvSpPr>
        <p:spPr>
          <a:xfrm>
            <a:off x="228600" y="1072488"/>
            <a:ext cx="868680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barplot</a:t>
            </a:r>
            <a:r>
              <a:rPr lang="zh-CN" altLang="en-US" dirty="0">
                <a:latin typeface="+mn-lt"/>
                <a:ea typeface="+mn-ea"/>
              </a:rPr>
              <a:t>函数还支持堆砌条形图与分组条形图的绘制。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A476B8F-C236-C8C1-1E44-1D05346633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35" b="5237"/>
          <a:stretch/>
        </p:blipFill>
        <p:spPr>
          <a:xfrm>
            <a:off x="1066800" y="1790700"/>
            <a:ext cx="70104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949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D926-CD00-C566-16C4-AD9F1FA54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B1FAD91B-36EB-0EEB-7E6A-B7354EBE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5.2.5 </a:t>
            </a:r>
            <a:r>
              <a:rPr lang="zh-CN" altLang="en-US" sz="3600" dirty="0"/>
              <a:t>条形图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06C0AF-0BDC-1DC6-7BAB-9074E0376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462949-86A8-43EA-FA2A-8E53D7F8FF3E}"/>
              </a:ext>
            </a:extLst>
          </p:cNvPr>
          <p:cNvSpPr txBox="1"/>
          <p:nvPr/>
        </p:nvSpPr>
        <p:spPr>
          <a:xfrm>
            <a:off x="228600" y="1072488"/>
            <a:ext cx="868680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分组条形图和堆砌条形图类似，只需要在</a:t>
            </a:r>
            <a:r>
              <a:rPr lang="en-US" altLang="zh-CN" dirty="0" err="1">
                <a:latin typeface="+mn-lt"/>
                <a:ea typeface="+mn-ea"/>
              </a:rPr>
              <a:t>barplot</a:t>
            </a:r>
            <a:r>
              <a:rPr lang="zh-CN" altLang="en-US" dirty="0">
                <a:latin typeface="+mn-lt"/>
                <a:ea typeface="+mn-ea"/>
              </a:rPr>
              <a:t>函数中设置参数</a:t>
            </a:r>
            <a:r>
              <a:rPr lang="en-US" altLang="zh-CN" dirty="0">
                <a:latin typeface="+mn-lt"/>
                <a:ea typeface="+mn-ea"/>
              </a:rPr>
              <a:t>beside = TRUE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FB7B045-3636-286B-24C8-A7BC0878457D}"/>
              </a:ext>
            </a:extLst>
          </p:cNvPr>
          <p:cNvSpPr txBox="1"/>
          <p:nvPr/>
        </p:nvSpPr>
        <p:spPr>
          <a:xfrm>
            <a:off x="1399309" y="1597216"/>
            <a:ext cx="6345382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barplot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table,col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red"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ylim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),beside=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r>
              <a:rPr lang="en-US" altLang="zh-CN" sz="1100" dirty="0">
                <a:solidFill>
                  <a:srgbClr val="008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#beside=TRUE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legend(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"top"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(table),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fill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horiz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16391DD-68BC-6E3B-8A5D-50F1D3B34B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6" b="4667"/>
          <a:stretch/>
        </p:blipFill>
        <p:spPr>
          <a:xfrm>
            <a:off x="1162050" y="2103734"/>
            <a:ext cx="6819900" cy="4535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5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394CA-F094-B10F-88F4-DC85BD8FB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98A311C4-741D-92EB-6389-3FECE206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5.2.6 </a:t>
            </a:r>
            <a:r>
              <a:rPr lang="zh-CN" altLang="en-US" sz="3600" dirty="0"/>
              <a:t>箱线图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248CC1-7AF3-FF3D-4F37-42BF78F9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27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98B1D1-2E7A-D85F-DF20-606D4BA92FBB}"/>
              </a:ext>
            </a:extLst>
          </p:cNvPr>
          <p:cNvSpPr txBox="1"/>
          <p:nvPr/>
        </p:nvSpPr>
        <p:spPr>
          <a:xfrm>
            <a:off x="400050" y="1170229"/>
            <a:ext cx="8343900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col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dirty="0" err="1">
                <a:latin typeface="+mn-lt"/>
                <a:ea typeface="+mn-ea"/>
              </a:rPr>
              <a:t>varwidth</a:t>
            </a:r>
            <a:r>
              <a:rPr lang="zh-CN" altLang="en-US" dirty="0">
                <a:latin typeface="+mn-lt"/>
                <a:ea typeface="+mn-ea"/>
              </a:rPr>
              <a:t>等参数设置可以区别不同水平箱子的颜色以及宽度；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notch</a:t>
            </a:r>
            <a:r>
              <a:rPr lang="zh-CN" altLang="en-US" dirty="0">
                <a:latin typeface="+mn-lt"/>
                <a:ea typeface="+mn-ea"/>
              </a:rPr>
              <a:t>参数设置使箱子带凹槽，以便比较不同组数据的中位数之间的差异；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 err="1">
                <a:latin typeface="+mn-lt"/>
                <a:ea typeface="+mn-ea"/>
              </a:rPr>
              <a:t>pch</a:t>
            </a:r>
            <a:r>
              <a:rPr lang="zh-CN" altLang="en-US" dirty="0">
                <a:latin typeface="+mn-lt"/>
                <a:ea typeface="+mn-ea"/>
              </a:rPr>
              <a:t>参数定义离群点的样式；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horizontal</a:t>
            </a:r>
            <a:r>
              <a:rPr lang="zh-CN" altLang="en-US" dirty="0">
                <a:latin typeface="+mn-lt"/>
                <a:ea typeface="+mn-ea"/>
              </a:rPr>
              <a:t>参数定义箱线图方位特征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en-US" dirty="0">
                <a:latin typeface="+mn-lt"/>
                <a:ea typeface="+mn-ea"/>
              </a:rPr>
              <a:t>垂直分布和水平分布</a:t>
            </a:r>
            <a:r>
              <a:rPr lang="en-US" altLang="zh-CN" dirty="0">
                <a:latin typeface="+mn-lt"/>
                <a:ea typeface="+mn-ea"/>
              </a:rPr>
              <a:t>)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9C72F6-EB89-A1E6-46C1-D32F7F7E56D8}"/>
              </a:ext>
            </a:extLst>
          </p:cNvPr>
          <p:cNvSpPr txBox="1"/>
          <p:nvPr/>
        </p:nvSpPr>
        <p:spPr>
          <a:xfrm>
            <a:off x="762000" y="2931102"/>
            <a:ext cx="7620000" cy="336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&lt;-summary(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 &lt;- WHHP %&gt;%  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mutate(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case_when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  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&gt;=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&amp;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sum_green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]]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boxplot(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Green_level,data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colors()[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varwidth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notch=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,lwd=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,names=c(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绿化水平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boxplot(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Green_level,data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colors()[c(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varwidth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horizontal=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T,notch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'*'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,names=c(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绿化率高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绿化水平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平均房价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8784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731EC-7B73-C5A1-3DDD-EC319A41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3">
            <a:extLst>
              <a:ext uri="{FF2B5EF4-FFF2-40B4-BE49-F238E27FC236}">
                <a16:creationId xmlns:a16="http://schemas.microsoft.com/office/drawing/2014/main" id="{1C164096-72CB-65F4-33F7-34D7436FC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5.2.6 </a:t>
            </a:r>
            <a:r>
              <a:rPr lang="zh-CN" altLang="en-US" sz="3600" dirty="0"/>
              <a:t>箱线图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35B6E0-9587-34B9-E6B9-FE220EC31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28</a:t>
            </a:fld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EE98537-0509-C318-A490-D893B0F4230B}"/>
              </a:ext>
            </a:extLst>
          </p:cNvPr>
          <p:cNvSpPr txBox="1"/>
          <p:nvPr/>
        </p:nvSpPr>
        <p:spPr>
          <a:xfrm>
            <a:off x="400050" y="1170229"/>
            <a:ext cx="8343900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col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dirty="0" err="1">
                <a:latin typeface="+mn-lt"/>
                <a:ea typeface="+mn-ea"/>
              </a:rPr>
              <a:t>varwidth</a:t>
            </a:r>
            <a:r>
              <a:rPr lang="zh-CN" altLang="en-US" dirty="0">
                <a:latin typeface="+mn-lt"/>
                <a:ea typeface="+mn-ea"/>
              </a:rPr>
              <a:t>等参数设置可以区别不同水平箱子的颜色以及宽度；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notch</a:t>
            </a:r>
            <a:r>
              <a:rPr lang="zh-CN" altLang="en-US" dirty="0">
                <a:latin typeface="+mn-lt"/>
                <a:ea typeface="+mn-ea"/>
              </a:rPr>
              <a:t>参数设置使箱子带凹槽，以便比较不同组数据的中位数之间的差异；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 err="1">
                <a:latin typeface="+mn-lt"/>
                <a:ea typeface="+mn-ea"/>
              </a:rPr>
              <a:t>pch</a:t>
            </a:r>
            <a:r>
              <a:rPr lang="zh-CN" altLang="en-US" dirty="0">
                <a:latin typeface="+mn-lt"/>
                <a:ea typeface="+mn-ea"/>
              </a:rPr>
              <a:t>参数定义离群点的样式；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horizontal</a:t>
            </a:r>
            <a:r>
              <a:rPr lang="zh-CN" altLang="en-US" dirty="0">
                <a:latin typeface="+mn-lt"/>
                <a:ea typeface="+mn-ea"/>
              </a:rPr>
              <a:t>参数定义箱线图方位特征</a:t>
            </a:r>
            <a:r>
              <a:rPr lang="en-US" altLang="zh-CN" dirty="0">
                <a:latin typeface="+mn-lt"/>
                <a:ea typeface="+mn-ea"/>
              </a:rPr>
              <a:t>(</a:t>
            </a:r>
            <a:r>
              <a:rPr lang="zh-CN" altLang="en-US" dirty="0">
                <a:latin typeface="+mn-lt"/>
                <a:ea typeface="+mn-ea"/>
              </a:rPr>
              <a:t>垂直分布和水平分布</a:t>
            </a:r>
            <a:r>
              <a:rPr lang="en-US" altLang="zh-CN" dirty="0">
                <a:latin typeface="+mn-lt"/>
                <a:ea typeface="+mn-ea"/>
              </a:rPr>
              <a:t>)</a:t>
            </a:r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6FB7E02-8B96-1975-DED9-57C654A26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853" y="2933700"/>
            <a:ext cx="4263147" cy="319659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F8D36C4-20F9-B0E7-815A-3CFAF2C42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4682" y="2940626"/>
            <a:ext cx="4263147" cy="319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DB16F-8A6C-3FF2-99B1-F5A26F65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00BEBD-BDDF-A193-225C-523F5457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29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ECB0F4-957B-F53F-FC00-821F09F7EB3D}"/>
              </a:ext>
            </a:extLst>
          </p:cNvPr>
          <p:cNvSpPr txBox="1"/>
          <p:nvPr/>
        </p:nvSpPr>
        <p:spPr>
          <a:xfrm>
            <a:off x="304800" y="1104900"/>
            <a:ext cx="8534400" cy="128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语言中， 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lattice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函数包、</a:t>
            </a:r>
            <a:r>
              <a:rPr lang="en-US" altLang="zh-CN" sz="1800" dirty="0">
                <a:effectLst/>
                <a:latin typeface="+mn-lt"/>
                <a:ea typeface="+mn-ea"/>
              </a:rPr>
              <a:t>graphics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函数包、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函数包、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函数包、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linkET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函数包和</a:t>
            </a:r>
            <a:r>
              <a:rPr lang="en-US" altLang="zh-CN" sz="1800" dirty="0">
                <a:effectLst/>
                <a:latin typeface="+mn-lt"/>
                <a:ea typeface="+mn-ea"/>
              </a:rPr>
              <a:t>MASS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函数包均提供了强大和多样的多元变量可视化分析工具，包括散点图矩阵、热力图、相关热力图及组合图以及平行坐标图等可视化技术。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498F77AA-1090-E520-1C35-CD60EB72B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 </a:t>
            </a:r>
            <a:r>
              <a:rPr lang="zh-CN" altLang="en-US" sz="3600" dirty="0"/>
              <a:t>多源数据可视化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15C0411-F98B-24CB-E97E-B42532C6C856}"/>
              </a:ext>
            </a:extLst>
          </p:cNvPr>
          <p:cNvSpPr txBox="1"/>
          <p:nvPr/>
        </p:nvSpPr>
        <p:spPr>
          <a:xfrm>
            <a:off x="762000" y="2438400"/>
            <a:ext cx="4953000" cy="3674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5.3.1 </a:t>
            </a:r>
            <a:r>
              <a:rPr lang="zh-CN" altLang="en-US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高维可视化</a:t>
            </a:r>
            <a:endParaRPr lang="en-US" altLang="zh-CN" sz="2400" b="1" dirty="0">
              <a:solidFill>
                <a:schemeClr val="accent1"/>
              </a:solidFill>
              <a:effectLst/>
              <a:latin typeface="+mn-lt"/>
              <a:ea typeface="+mn-ea"/>
            </a:endParaRPr>
          </a:p>
          <a:p>
            <a:pPr marL="457200" marR="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+mn-ea"/>
              </a:rPr>
              <a:t>5.3.2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+mn-ea"/>
              </a:rPr>
              <a:t>散点图矩阵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+mn-ea"/>
            </a:endParaRPr>
          </a:p>
          <a:p>
            <a:pPr marL="457200" marR="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5.3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+mn-ea"/>
              </a:rPr>
              <a:t>.3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+mn-ea"/>
              </a:rPr>
              <a:t> </a:t>
            </a:r>
            <a:r>
              <a:rPr lang="zh-CN" altLang="en-US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热力图</a:t>
            </a:r>
            <a:endParaRPr lang="en-US" altLang="zh-CN" sz="2400" b="1" dirty="0">
              <a:solidFill>
                <a:schemeClr val="accent1"/>
              </a:solidFill>
              <a:effectLst/>
              <a:latin typeface="+mn-lt"/>
              <a:ea typeface="+mn-ea"/>
            </a:endParaRPr>
          </a:p>
          <a:p>
            <a:pPr marL="457200" marR="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+mn-ea"/>
              </a:rPr>
              <a:t>5.3.4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+mn-ea"/>
              </a:rPr>
              <a:t>相关系数矩阵可视化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+mn-ea"/>
            </a:endParaRPr>
          </a:p>
          <a:p>
            <a:pPr marL="457200" marR="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5.3.5 </a:t>
            </a:r>
            <a:r>
              <a:rPr lang="zh-CN" altLang="en-US" sz="2400" b="1" dirty="0">
                <a:solidFill>
                  <a:schemeClr val="accent1"/>
                </a:solidFill>
                <a:effectLst/>
                <a:latin typeface="+mn-lt"/>
                <a:ea typeface="+mn-ea"/>
              </a:rPr>
              <a:t>平行坐标图</a:t>
            </a:r>
          </a:p>
        </p:txBody>
      </p:sp>
    </p:spTree>
    <p:extLst>
      <p:ext uri="{BB962C8B-B14F-4D97-AF65-F5344CB8AC3E}">
        <p14:creationId xmlns:p14="http://schemas.microsoft.com/office/powerpoint/2010/main" val="14768872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18E98-1443-160A-9698-8A7B3E350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07E7A-5A84-0A96-F484-353274904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cs typeface="+mn-ea"/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30</a:t>
            </a:fld>
            <a:endParaRPr lang="zh-CN" altLang="en-US" dirty="0">
              <a:cs typeface="+mn-ea"/>
              <a:sym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078AEB-28B7-B3E9-5E68-93B27B5DD695}"/>
              </a:ext>
            </a:extLst>
          </p:cNvPr>
          <p:cNvSpPr txBox="1"/>
          <p:nvPr/>
        </p:nvSpPr>
        <p:spPr>
          <a:xfrm>
            <a:off x="304800" y="1206721"/>
            <a:ext cx="8534400" cy="1289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lattice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函数包使用网格图形（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Trellis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）的绘图思想，能够在一个面板同时显示一系列图形，从而对多元数据进行高维可视化。</a:t>
            </a:r>
          </a:p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在函数包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lattice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中，基础绘图函数均遵循如下基本格式：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42F8BC7D-D78A-AC9C-47A3-075DB581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594D4CD-AE98-2CF6-E247-B064AB4BB512}"/>
              </a:ext>
            </a:extLst>
          </p:cNvPr>
          <p:cNvSpPr txBox="1"/>
          <p:nvPr/>
        </p:nvSpPr>
        <p:spPr>
          <a:xfrm>
            <a:off x="800100" y="2579459"/>
            <a:ext cx="75438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en-US" altLang="zh-CN" sz="1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graph_function</a:t>
            </a:r>
            <a:r>
              <a:rPr lang="en-US" altLang="zh-C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800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formula,data</a:t>
            </a:r>
            <a:r>
              <a:rPr lang="en-US" altLang="zh-CN" sz="18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= ,options)</a:t>
            </a:r>
            <a:endParaRPr lang="en-US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E6FBA23-3CC7-5A2B-4644-89C60C218C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312927"/>
              </p:ext>
            </p:extLst>
          </p:nvPr>
        </p:nvGraphicFramePr>
        <p:xfrm>
          <a:off x="601187" y="3724211"/>
          <a:ext cx="7933213" cy="2268284"/>
        </p:xfrm>
        <a:graphic>
          <a:graphicData uri="http://schemas.openxmlformats.org/drawingml/2006/table">
            <a:tbl>
              <a:tblPr/>
              <a:tblGrid>
                <a:gridCol w="2352753">
                  <a:extLst>
                    <a:ext uri="{9D8B030D-6E8A-4147-A177-3AD203B41FA5}">
                      <a16:colId xmlns:a16="http://schemas.microsoft.com/office/drawing/2014/main" val="1681619791"/>
                    </a:ext>
                  </a:extLst>
                </a:gridCol>
                <a:gridCol w="5580460">
                  <a:extLst>
                    <a:ext uri="{9D8B030D-6E8A-4147-A177-3AD203B41FA5}">
                      <a16:colId xmlns:a16="http://schemas.microsoft.com/office/drawing/2014/main" val="25623735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参</a:t>
                      </a:r>
                      <a:r>
                        <a:rPr lang="zh-CN" alt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数</a:t>
                      </a:r>
                      <a:endParaRPr lang="zh-CN" alt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描</a:t>
                      </a: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述</a:t>
                      </a:r>
                      <a:endParaRPr lang="zh-CN" altLang="en-US" sz="1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5481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graph_function()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绘图函数名称（</a:t>
                      </a: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histogram()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</a:t>
                      </a: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xyplot()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</a:t>
                      </a: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densityplot()</a:t>
                      </a:r>
                      <a:r>
                        <a:rPr lang="en-US" sz="18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, etc.</a:t>
                      </a:r>
                      <a:r>
                        <a:rPr 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）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43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formula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可视化的主要变量和条件变量</a:t>
                      </a:r>
                      <a:endParaRPr lang="zh-CN" alt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0588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data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指定</a:t>
                      </a:r>
                      <a:r>
                        <a:rPr lang="en-US" altLang="zh-CN" sz="1800" i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宋体" panose="02010600030101010101" pitchFamily="2" charset="-122"/>
                        </a:rPr>
                        <a:t>d</a:t>
                      </a:r>
                      <a:r>
                        <a:rPr lang="en-US" altLang="zh-CN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ata.frame</a:t>
                      </a:r>
                      <a:r>
                        <a:rPr lang="zh-CN" altLang="en-US" sz="18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类型的可视化数据源参数</a:t>
                      </a:r>
                      <a:r>
                        <a:rPr lang="zh-CN" altLang="en-US" sz="18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2490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8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options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8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定义图形的内容、布局方式和标注等格式参数</a:t>
                      </a:r>
                      <a:endParaRPr lang="zh-CN" altLang="en-US" sz="1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06394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798A49EF-59E3-B0F4-68ED-B3179934DAE9}"/>
              </a:ext>
            </a:extLst>
          </p:cNvPr>
          <p:cNvSpPr txBox="1"/>
          <p:nvPr/>
        </p:nvSpPr>
        <p:spPr>
          <a:xfrm>
            <a:off x="990600" y="3276600"/>
            <a:ext cx="7183582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zh-CN" altLang="en-US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函数包</a:t>
            </a:r>
            <a:r>
              <a:rPr lang="en-US" altLang="zh-CN" sz="1600" b="1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lattice</a:t>
            </a:r>
            <a:r>
              <a:rPr lang="zh-CN" altLang="en-US" sz="16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绘图函数参数表</a:t>
            </a:r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711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70321" y="1219200"/>
            <a:ext cx="7803357" cy="5029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在进行高维可视化时，上述函数中的</a:t>
            </a:r>
            <a:r>
              <a:rPr lang="en-US" altLang="zh-CN" dirty="0">
                <a:latin typeface="+mn-lt"/>
                <a:ea typeface="+mn-ea"/>
              </a:rPr>
              <a:t>formula</a:t>
            </a:r>
            <a:r>
              <a:rPr lang="zh-CN" altLang="en-US" dirty="0">
                <a:latin typeface="+mn-lt"/>
                <a:ea typeface="+mn-ea"/>
              </a:rPr>
              <a:t>参数通常为如下形式：</a:t>
            </a:r>
          </a:p>
          <a:p>
            <a:pPr algn="ctr"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y ~ x | a * b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其中竖线（</a:t>
            </a:r>
            <a:r>
              <a:rPr lang="en-US" altLang="zh-CN" dirty="0">
                <a:latin typeface="+mn-lt"/>
                <a:ea typeface="+mn-ea"/>
              </a:rPr>
              <a:t>|</a:t>
            </a:r>
            <a:r>
              <a:rPr lang="zh-CN" altLang="en-US" dirty="0">
                <a:latin typeface="+mn-lt"/>
                <a:ea typeface="+mn-ea"/>
              </a:rPr>
              <a:t>）左边的变量称为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主要变量</a:t>
            </a:r>
            <a:r>
              <a:rPr lang="zh-CN" altLang="en-US" dirty="0">
                <a:latin typeface="+mn-lt"/>
                <a:ea typeface="+mn-ea"/>
              </a:rPr>
              <a:t>，右边的变量称为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条件变量</a:t>
            </a:r>
            <a:r>
              <a:rPr lang="zh-CN" altLang="en-US" dirty="0">
                <a:latin typeface="+mn-lt"/>
                <a:ea typeface="+mn-ea"/>
              </a:rPr>
              <a:t>。</a:t>
            </a: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150000"/>
              </a:lnSpc>
            </a:pP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注意：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+mn-lt"/>
                <a:ea typeface="+mn-ea"/>
              </a:rPr>
              <a:t>formula</a:t>
            </a:r>
            <a:r>
              <a:rPr lang="zh-CN" altLang="en-US" dirty="0">
                <a:latin typeface="+mn-lt"/>
                <a:ea typeface="+mn-ea"/>
              </a:rPr>
              <a:t>参数至少要有一个主要变量，而条件变量则是可选的。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腭化符号（</a:t>
            </a:r>
            <a:r>
              <a:rPr lang="en-US" altLang="zh-CN" dirty="0">
                <a:latin typeface="+mn-lt"/>
                <a:ea typeface="+mn-ea"/>
              </a:rPr>
              <a:t>~</a:t>
            </a:r>
            <a:r>
              <a:rPr lang="zh-CN" altLang="en-US" dirty="0">
                <a:latin typeface="+mn-lt"/>
                <a:ea typeface="+mn-ea"/>
              </a:rPr>
              <a:t>）表明该项为</a:t>
            </a:r>
            <a:r>
              <a:rPr lang="en-US" altLang="zh-CN" dirty="0">
                <a:latin typeface="+mn-lt"/>
                <a:ea typeface="+mn-ea"/>
              </a:rPr>
              <a:t>formula</a:t>
            </a:r>
            <a:r>
              <a:rPr lang="zh-CN" altLang="en-US" dirty="0">
                <a:latin typeface="+mn-lt"/>
                <a:ea typeface="+mn-ea"/>
              </a:rPr>
              <a:t>参数，不可省略。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没有条件变量时需要去掉竖线。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可以使用星号（*）或者加号添加（</a:t>
            </a:r>
            <a:r>
              <a:rPr lang="en-US" altLang="zh-CN" dirty="0">
                <a:latin typeface="+mn-lt"/>
                <a:ea typeface="+mn-ea"/>
              </a:rPr>
              <a:t>+</a:t>
            </a:r>
            <a:r>
              <a:rPr lang="zh-CN" altLang="en-US" dirty="0">
                <a:latin typeface="+mn-lt"/>
                <a:ea typeface="+mn-ea"/>
              </a:rPr>
              <a:t>）条件变量。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主要变量将变量映射到每个面板的坐标轴上，若添加一个条件变量，每个水平下都会创建一个面板；若添加多个条件变量，则会根据添加的变量各个水平的组合分别创建面板。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06338264-E2C6-9DAB-1B33-AE77C6D5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2443" y="1028700"/>
            <a:ext cx="8137922" cy="1225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sym typeface="+mn-ea"/>
              </a:rPr>
              <a:t>多元数据可视化图形解释：</a:t>
            </a:r>
            <a:endParaRPr lang="en-US" altLang="zh-CN" dirty="0">
              <a:latin typeface="+mn-lt"/>
              <a:ea typeface="+mn-ea"/>
            </a:endParaRPr>
          </a:p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使用</a:t>
            </a:r>
            <a:r>
              <a:rPr lang="en-US" altLang="zh-CN" dirty="0">
                <a:latin typeface="+mn-lt"/>
                <a:ea typeface="+mn-ea"/>
              </a:rPr>
              <a:t>lattice</a:t>
            </a:r>
            <a:r>
              <a:rPr lang="zh-CN" altLang="en-US" dirty="0">
                <a:latin typeface="+mn-lt"/>
                <a:ea typeface="+mn-ea"/>
              </a:rPr>
              <a:t>函数包可以轻松地查看不同绿化率的房屋对应的价格分布。</a:t>
            </a:r>
            <a:endParaRPr lang="en-US" altLang="zh-CN" dirty="0">
              <a:latin typeface="+mn-lt"/>
              <a:ea typeface="+mn-ea"/>
            </a:endParaRPr>
          </a:p>
          <a:p>
            <a:pPr>
              <a:lnSpc>
                <a:spcPct val="120000"/>
              </a:lnSpc>
            </a:pP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E6802277-A9DD-6227-88C3-CC79E313B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2B2917B-F650-4158-3723-4758FEE82319}"/>
              </a:ext>
            </a:extLst>
          </p:cNvPr>
          <p:cNvSpPr txBox="1"/>
          <p:nvPr/>
        </p:nvSpPr>
        <p:spPr>
          <a:xfrm>
            <a:off x="2247900" y="1905000"/>
            <a:ext cx="4648200" cy="979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library(lattice)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histogram(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| factor(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data = WHHP)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dengraph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densityplot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Avg_HP|Green_level,data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WHHP)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dengraph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update(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dengraph,col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,pch=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"+"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14E654B-95BE-279C-F894-BEF32DC4F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69" y="2933700"/>
            <a:ext cx="4519931" cy="338913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B59D868-E652-E937-98DB-8B854D60F8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965"/>
          <a:stretch/>
        </p:blipFill>
        <p:spPr>
          <a:xfrm>
            <a:off x="4457700" y="2933700"/>
            <a:ext cx="4451021" cy="3238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098AA-625B-4A17-1C32-41D2E368E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C9D6F6-0BD8-6CA8-B003-95850656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517B9-D3FD-0435-E107-8D016B64836C}"/>
              </a:ext>
            </a:extLst>
          </p:cNvPr>
          <p:cNvSpPr/>
          <p:nvPr/>
        </p:nvSpPr>
        <p:spPr>
          <a:xfrm>
            <a:off x="502443" y="1217685"/>
            <a:ext cx="8137922" cy="4587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sym typeface="+mn-ea"/>
              </a:rPr>
              <a:t>利用</a:t>
            </a:r>
            <a:r>
              <a:rPr lang="en-US" altLang="zh-CN" dirty="0" err="1">
                <a:latin typeface="+mn-lt"/>
                <a:ea typeface="+mn-ea"/>
                <a:sym typeface="+mn-ea"/>
              </a:rPr>
              <a:t>bwplot</a:t>
            </a:r>
            <a:r>
              <a:rPr lang="zh-CN" altLang="en-US" dirty="0">
                <a:latin typeface="+mn-lt"/>
                <a:ea typeface="+mn-ea"/>
                <a:sym typeface="+mn-ea"/>
              </a:rPr>
              <a:t>函数可以绘制不同绿化率水平下的房屋平均价格箱线图。</a:t>
            </a:r>
            <a:endParaRPr lang="en-US" altLang="zh-CN" dirty="0">
              <a:latin typeface="+mn-lt"/>
              <a:ea typeface="+mn-ea"/>
            </a:endParaRP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64E2C441-2891-4EFC-5B44-A42C6B91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EEA0B9-2CDF-DBD7-0CCA-FF8CC3FF8ED8}"/>
              </a:ext>
            </a:extLst>
          </p:cNvPr>
          <p:cNvSpPr txBox="1"/>
          <p:nvPr/>
        </p:nvSpPr>
        <p:spPr>
          <a:xfrm>
            <a:off x="2389437" y="1866900"/>
            <a:ext cx="4363934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bwplot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Avg_HP|factor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),data=WHHP)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bwplot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Pop_Den|factor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),data=WHHP)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98B15A4-3CE4-1CAC-38F8-A73C28E51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2667001"/>
            <a:ext cx="4572000" cy="342817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4FD86DC-FCED-8DE5-2FE1-FA9EB1A3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2667000"/>
            <a:ext cx="4572000" cy="342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7270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3039" y="1409700"/>
            <a:ext cx="8137922" cy="3327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但是如果条件变量为连续型变量，应该怎么做呢？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</a:rPr>
              <a:t>利用</a:t>
            </a:r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自带的</a:t>
            </a:r>
            <a:r>
              <a:rPr lang="en-US" altLang="zh-CN" dirty="0">
                <a:latin typeface="+mn-lt"/>
                <a:ea typeface="+mn-ea"/>
              </a:rPr>
              <a:t>cut()</a:t>
            </a:r>
            <a:r>
              <a:rPr lang="zh-CN" altLang="en-US" dirty="0">
                <a:latin typeface="+mn-lt"/>
                <a:ea typeface="+mn-ea"/>
              </a:rPr>
              <a:t>函数将连续型变量转换为离散变量；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</a:rPr>
              <a:t>利用</a:t>
            </a:r>
            <a:r>
              <a:rPr lang="en-US" altLang="zh-CN" dirty="0">
                <a:latin typeface="+mn-lt"/>
                <a:ea typeface="+mn-ea"/>
              </a:rPr>
              <a:t>lattice</a:t>
            </a:r>
            <a:r>
              <a:rPr lang="zh-CN" altLang="en-US" dirty="0">
                <a:latin typeface="+mn-lt"/>
                <a:ea typeface="+mn-ea"/>
              </a:rPr>
              <a:t>包中将连续型变量转化为瓦块</a:t>
            </a:r>
            <a:r>
              <a:rPr lang="en-US" altLang="zh-CN" dirty="0">
                <a:latin typeface="+mn-lt"/>
                <a:ea typeface="+mn-ea"/>
              </a:rPr>
              <a:t>(shingle)</a:t>
            </a:r>
            <a:r>
              <a:rPr lang="zh-CN" altLang="en-US" dirty="0">
                <a:latin typeface="+mn-lt"/>
                <a:ea typeface="+mn-ea"/>
              </a:rPr>
              <a:t>数据结构的函数</a:t>
            </a:r>
            <a:r>
              <a:rPr lang="en-US" altLang="zh-CN" dirty="0" err="1">
                <a:latin typeface="+mn-lt"/>
                <a:ea typeface="+mn-ea"/>
              </a:rPr>
              <a:t>equal.count</a:t>
            </a:r>
            <a:r>
              <a:rPr lang="en-US" altLang="zh-CN" dirty="0">
                <a:latin typeface="+mn-lt"/>
                <a:ea typeface="+mn-ea"/>
              </a:rPr>
              <a:t>(x, number=#, overlap=proportion)</a:t>
            </a:r>
            <a:r>
              <a:rPr lang="zh-CN" altLang="en-US" dirty="0">
                <a:latin typeface="+mn-lt"/>
                <a:ea typeface="+mn-ea"/>
              </a:rPr>
              <a:t>，即把连续型变量</a:t>
            </a:r>
            <a:r>
              <a:rPr lang="en-US" altLang="zh-CN" dirty="0">
                <a:latin typeface="+mn-lt"/>
                <a:ea typeface="+mn-ea"/>
              </a:rPr>
              <a:t>x</a:t>
            </a:r>
            <a:r>
              <a:rPr lang="zh-CN" altLang="en-US" dirty="0">
                <a:latin typeface="+mn-lt"/>
                <a:ea typeface="+mn-ea"/>
              </a:rPr>
              <a:t>分割到</a:t>
            </a:r>
            <a:r>
              <a:rPr lang="en-US" altLang="zh-CN" dirty="0">
                <a:latin typeface="+mn-lt"/>
                <a:ea typeface="+mn-ea"/>
              </a:rPr>
              <a:t>number</a:t>
            </a:r>
            <a:r>
              <a:rPr lang="zh-CN" altLang="en-US" dirty="0">
                <a:latin typeface="+mn-lt"/>
                <a:ea typeface="+mn-ea"/>
              </a:rPr>
              <a:t>个区间中，重叠度为</a:t>
            </a:r>
            <a:r>
              <a:rPr lang="en-US" altLang="zh-CN" dirty="0">
                <a:latin typeface="+mn-lt"/>
                <a:ea typeface="+mn-ea"/>
              </a:rPr>
              <a:t>proportion</a:t>
            </a:r>
            <a:r>
              <a:rPr lang="zh-CN" altLang="en-US" dirty="0">
                <a:latin typeface="+mn-lt"/>
                <a:ea typeface="+mn-ea"/>
              </a:rPr>
              <a:t>，每个数值范围内的观测数相等，并返回一个</a:t>
            </a:r>
            <a:r>
              <a:rPr lang="en-US" altLang="zh-CN" dirty="0">
                <a:latin typeface="+mn-lt"/>
                <a:ea typeface="+mn-ea"/>
              </a:rPr>
              <a:t>shingle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F95926F-5E9F-8886-C6FB-FFAA0B625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69A3BC-3B1C-609C-8812-A424E4492F6D}"/>
              </a:ext>
            </a:extLst>
          </p:cNvPr>
          <p:cNvSpPr txBox="1"/>
          <p:nvPr/>
        </p:nvSpPr>
        <p:spPr>
          <a:xfrm>
            <a:off x="647700" y="4967949"/>
            <a:ext cx="7654231" cy="82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equal.count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Avg_HP,number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,overlap=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 = WHHP, main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 Per Land vs FAI Per Land by Average House Price"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layout = 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aspect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E3593-0421-15F5-693D-DA3912A3F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62ECFD8-18B2-EBAA-623E-AC311D53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E4D09-8EB0-E935-3B80-C12AD968900D}"/>
              </a:ext>
            </a:extLst>
          </p:cNvPr>
          <p:cNvSpPr/>
          <p:nvPr/>
        </p:nvSpPr>
        <p:spPr>
          <a:xfrm>
            <a:off x="503039" y="1409700"/>
            <a:ext cx="8137922" cy="33278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+mn-lt"/>
                <a:ea typeface="+mn-ea"/>
              </a:rPr>
              <a:t>但是如果条件变量为连续型变量，应该怎么做呢？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</a:rPr>
              <a:t>利用</a:t>
            </a:r>
            <a:r>
              <a:rPr lang="en-US" altLang="zh-CN" dirty="0">
                <a:latin typeface="+mn-lt"/>
                <a:ea typeface="+mn-ea"/>
              </a:rPr>
              <a:t>R</a:t>
            </a:r>
            <a:r>
              <a:rPr lang="zh-CN" altLang="en-US" dirty="0">
                <a:latin typeface="+mn-lt"/>
                <a:ea typeface="+mn-ea"/>
              </a:rPr>
              <a:t>自带的</a:t>
            </a:r>
            <a:r>
              <a:rPr lang="en-US" altLang="zh-CN" dirty="0">
                <a:latin typeface="+mn-lt"/>
                <a:ea typeface="+mn-ea"/>
              </a:rPr>
              <a:t>cut()</a:t>
            </a:r>
            <a:r>
              <a:rPr lang="zh-CN" altLang="en-US" dirty="0">
                <a:latin typeface="+mn-lt"/>
                <a:ea typeface="+mn-ea"/>
              </a:rPr>
              <a:t>函数将连续型变量转换为离散变量；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+mn-lt"/>
                <a:ea typeface="+mn-ea"/>
              </a:rPr>
              <a:t>利用</a:t>
            </a:r>
            <a:r>
              <a:rPr lang="en-US" altLang="zh-CN" dirty="0">
                <a:latin typeface="+mn-lt"/>
                <a:ea typeface="+mn-ea"/>
              </a:rPr>
              <a:t>lattice</a:t>
            </a:r>
            <a:r>
              <a:rPr lang="zh-CN" altLang="en-US" dirty="0">
                <a:latin typeface="+mn-lt"/>
                <a:ea typeface="+mn-ea"/>
              </a:rPr>
              <a:t>包中将连续型变量转化为瓦块</a:t>
            </a:r>
            <a:r>
              <a:rPr lang="en-US" altLang="zh-CN" dirty="0">
                <a:latin typeface="+mn-lt"/>
                <a:ea typeface="+mn-ea"/>
              </a:rPr>
              <a:t>(shingle)</a:t>
            </a:r>
            <a:r>
              <a:rPr lang="zh-CN" altLang="en-US" dirty="0">
                <a:latin typeface="+mn-lt"/>
                <a:ea typeface="+mn-ea"/>
              </a:rPr>
              <a:t>数据结构的函数</a:t>
            </a:r>
            <a:r>
              <a:rPr lang="en-US" altLang="zh-CN" dirty="0" err="1">
                <a:latin typeface="+mn-lt"/>
                <a:ea typeface="+mn-ea"/>
              </a:rPr>
              <a:t>equal.count</a:t>
            </a:r>
            <a:r>
              <a:rPr lang="en-US" altLang="zh-CN" dirty="0">
                <a:latin typeface="+mn-lt"/>
                <a:ea typeface="+mn-ea"/>
              </a:rPr>
              <a:t>(x, number=#, overlap=proportion)</a:t>
            </a:r>
            <a:r>
              <a:rPr lang="zh-CN" altLang="en-US" dirty="0">
                <a:latin typeface="+mn-lt"/>
                <a:ea typeface="+mn-ea"/>
              </a:rPr>
              <a:t>，即把连续型变量</a:t>
            </a:r>
            <a:r>
              <a:rPr lang="en-US" altLang="zh-CN" dirty="0">
                <a:latin typeface="+mn-lt"/>
                <a:ea typeface="+mn-ea"/>
              </a:rPr>
              <a:t>x</a:t>
            </a:r>
            <a:r>
              <a:rPr lang="zh-CN" altLang="en-US" dirty="0">
                <a:latin typeface="+mn-lt"/>
                <a:ea typeface="+mn-ea"/>
              </a:rPr>
              <a:t>分割到</a:t>
            </a:r>
            <a:r>
              <a:rPr lang="en-US" altLang="zh-CN" dirty="0">
                <a:latin typeface="+mn-lt"/>
                <a:ea typeface="+mn-ea"/>
              </a:rPr>
              <a:t>number</a:t>
            </a:r>
            <a:r>
              <a:rPr lang="zh-CN" altLang="en-US" dirty="0">
                <a:latin typeface="+mn-lt"/>
                <a:ea typeface="+mn-ea"/>
              </a:rPr>
              <a:t>个区间中，重叠度为</a:t>
            </a:r>
            <a:r>
              <a:rPr lang="en-US" altLang="zh-CN" dirty="0">
                <a:latin typeface="+mn-lt"/>
                <a:ea typeface="+mn-ea"/>
              </a:rPr>
              <a:t>proportion</a:t>
            </a:r>
            <a:r>
              <a:rPr lang="zh-CN" altLang="en-US" dirty="0">
                <a:latin typeface="+mn-lt"/>
                <a:ea typeface="+mn-ea"/>
              </a:rPr>
              <a:t>，每个数值范围内的观测数相等，并返回一个</a:t>
            </a:r>
            <a:r>
              <a:rPr lang="en-US" altLang="zh-CN" dirty="0">
                <a:latin typeface="+mn-lt"/>
                <a:ea typeface="+mn-ea"/>
              </a:rPr>
              <a:t>shingle</a:t>
            </a:r>
            <a:r>
              <a:rPr lang="zh-CN" altLang="en-US" dirty="0">
                <a:latin typeface="+mn-lt"/>
                <a:ea typeface="+mn-ea"/>
              </a:rPr>
              <a:t>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F5638B1-A26E-B032-6982-5EA05C1FB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93F6AA-2FA0-002E-F830-D8089B8D6A9D}"/>
              </a:ext>
            </a:extLst>
          </p:cNvPr>
          <p:cNvSpPr txBox="1"/>
          <p:nvPr/>
        </p:nvSpPr>
        <p:spPr>
          <a:xfrm>
            <a:off x="647700" y="5079312"/>
            <a:ext cx="7654231" cy="82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equal.count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Avg_HP,number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,overlap=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 = WHHP, main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 Per Land vs FAI Per Land by Average House Price"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layout = 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aspect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75207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DF04F-DDEE-21B6-487C-1B7E4268F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D164C43-EFDF-EBB6-23DD-CED8E2F9E3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5" b="16282"/>
          <a:stretch/>
        </p:blipFill>
        <p:spPr>
          <a:xfrm>
            <a:off x="872657" y="1224285"/>
            <a:ext cx="7398685" cy="384810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42668-AC1F-3B5F-D52C-BCA3F4F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C7068DC8-4CF9-92C5-C5D2-ED5AAF114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8C23AE2-0A4F-DFF0-89B7-DC436F2F3F4C}"/>
              </a:ext>
            </a:extLst>
          </p:cNvPr>
          <p:cNvSpPr txBox="1"/>
          <p:nvPr/>
        </p:nvSpPr>
        <p:spPr>
          <a:xfrm>
            <a:off x="647700" y="5079312"/>
            <a:ext cx="7654231" cy="826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equal.count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Avg_HP,number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,overlap=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 = WHHP, main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 Per Land vs FAI Per Land by Average House Price"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layout = 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aspect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6490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342B5-F902-C1AC-EB9B-50A069EF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C46AFC4-DBFF-035C-7A8C-0C747EA6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4" b="16845"/>
          <a:stretch/>
        </p:blipFill>
        <p:spPr>
          <a:xfrm>
            <a:off x="969091" y="1485900"/>
            <a:ext cx="7205818" cy="3741680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F63C8D-7987-6FFD-80BE-3C7782FA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5466D623-D856-909B-BDBC-50C852F65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28BE52F-1B63-75A8-20C1-C235556B867C}"/>
              </a:ext>
            </a:extLst>
          </p:cNvPr>
          <p:cNvSpPr txBox="1"/>
          <p:nvPr/>
        </p:nvSpPr>
        <p:spPr>
          <a:xfrm>
            <a:off x="381000" y="4984810"/>
            <a:ext cx="8382000" cy="1339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mypanel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){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x,y,pch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panel.grid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(h = -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v = -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panel.lmline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,lty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 = WHHP, panel=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mypanel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main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 Per Land vs FAI Per Land by Average House Price"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layout = 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aspect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1D2069-21C3-F556-DEFF-1CA7E132FB8E}"/>
              </a:ext>
            </a:extLst>
          </p:cNvPr>
          <p:cNvSpPr txBox="1"/>
          <p:nvPr/>
        </p:nvSpPr>
        <p:spPr>
          <a:xfrm>
            <a:off x="419100" y="1066800"/>
            <a:ext cx="828675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配置图表中的面板参数，可以对上述图表添加格网，改变显示样式、添加回归线等操作。</a:t>
            </a:r>
          </a:p>
        </p:txBody>
      </p:sp>
    </p:spTree>
    <p:extLst>
      <p:ext uri="{BB962C8B-B14F-4D97-AF65-F5344CB8AC3E}">
        <p14:creationId xmlns:p14="http://schemas.microsoft.com/office/powerpoint/2010/main" val="3981561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C272-E057-5E73-46CF-E5BE03AC4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6813E10-FB09-2BF6-1EBE-12B0E73E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354" b="17245"/>
          <a:stretch/>
        </p:blipFill>
        <p:spPr>
          <a:xfrm>
            <a:off x="1127680" y="1485900"/>
            <a:ext cx="6911420" cy="3544745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8A9D2E-68CE-B752-EED6-6671874B4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E26B4075-A719-6D11-3710-3A25C3278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BDDC58-F663-675F-5624-2E3279DB8791}"/>
              </a:ext>
            </a:extLst>
          </p:cNvPr>
          <p:cNvSpPr txBox="1"/>
          <p:nvPr/>
        </p:nvSpPr>
        <p:spPr>
          <a:xfrm>
            <a:off x="381000" y="4724400"/>
            <a:ext cx="8382000" cy="1519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mypanel_1 &lt;-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){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x,y,pch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panel.grid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(h = -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v = -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panel.loess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x,y,lwd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darkblue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panel.abline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(h=mean(y),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darkred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xyplot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FAI_per_Land|hp_rate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 = WHHP, panel=mypanel_1, main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 Per Land vs FAI Per Land by Average House Price"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ylab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layout = 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aspect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2163C2F-64B9-8CAD-2572-919CA588644D}"/>
              </a:ext>
            </a:extLst>
          </p:cNvPr>
          <p:cNvSpPr txBox="1"/>
          <p:nvPr/>
        </p:nvSpPr>
        <p:spPr>
          <a:xfrm>
            <a:off x="419100" y="1066800"/>
            <a:ext cx="82867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可以添加更加精细的拟合曲线和水平均值曲线。</a:t>
            </a:r>
          </a:p>
        </p:txBody>
      </p:sp>
    </p:spTree>
    <p:extLst>
      <p:ext uri="{BB962C8B-B14F-4D97-AF65-F5344CB8AC3E}">
        <p14:creationId xmlns:p14="http://schemas.microsoft.com/office/powerpoint/2010/main" val="8286852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B5581-6628-7FBB-E4EE-81EE3925D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79AAD3-D94E-00DE-E2A3-D943C4D9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0D6AD839-EF91-BD25-13C1-90010037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9D070D-B69E-0DBF-B8EB-C3B325F8AC7F}"/>
              </a:ext>
            </a:extLst>
          </p:cNvPr>
          <p:cNvSpPr txBox="1"/>
          <p:nvPr/>
        </p:nvSpPr>
        <p:spPr>
          <a:xfrm>
            <a:off x="754340" y="6128931"/>
            <a:ext cx="76353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cloud(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*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FAI_per_Land|factor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),data=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WHHP,panel.aspect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0.9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F2DCF41-77AA-2BCC-66DB-7D84F0527A7C}"/>
              </a:ext>
            </a:extLst>
          </p:cNvPr>
          <p:cNvSpPr txBox="1"/>
          <p:nvPr/>
        </p:nvSpPr>
        <p:spPr>
          <a:xfrm>
            <a:off x="152400" y="1089170"/>
            <a:ext cx="887730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除了上述二维散点图的方式，还可以通过绘制三维散点图进行立体观察和可视化。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7EDB8F-0224-F7FA-6B7E-22A55D3659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069" b="4459"/>
          <a:stretch/>
        </p:blipFill>
        <p:spPr>
          <a:xfrm>
            <a:off x="2163445" y="1624278"/>
            <a:ext cx="4846955" cy="443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25953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12EBA-CFF4-01A9-750C-DB907559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07EDCD2-8AF3-AACD-D1B3-5E9CAC935D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73"/>
          <a:stretch/>
        </p:blipFill>
        <p:spPr>
          <a:xfrm>
            <a:off x="1778812" y="2019300"/>
            <a:ext cx="5803088" cy="4147944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46704-FDC7-A729-29B1-E2DF4726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E2ACA9AE-F9BA-478E-54D7-FB51E83BB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5.3.1 </a:t>
            </a:r>
            <a:r>
              <a:rPr lang="zh-CN" altLang="en-US" sz="3600" dirty="0"/>
              <a:t>高维可视化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8421654-0041-35EE-79B2-548693B8E8A2}"/>
              </a:ext>
            </a:extLst>
          </p:cNvPr>
          <p:cNvSpPr txBox="1"/>
          <p:nvPr/>
        </p:nvSpPr>
        <p:spPr>
          <a:xfrm>
            <a:off x="986770" y="6117152"/>
            <a:ext cx="717046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densityplot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data=WHHP, group=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auto.key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 horizontal = T)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E4C8A4-65B4-CD9B-1926-FA122136D535}"/>
              </a:ext>
            </a:extLst>
          </p:cNvPr>
          <p:cNvSpPr txBox="1"/>
          <p:nvPr/>
        </p:nvSpPr>
        <p:spPr>
          <a:xfrm>
            <a:off x="453370" y="1104900"/>
            <a:ext cx="8237260" cy="874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ea"/>
                <a:ea typeface="+mn-ea"/>
              </a:rPr>
              <a:t>如果需要将多个条件变量的结果叠加到一起，则可以将变量设定为分组变量（</a:t>
            </a:r>
            <a:r>
              <a:rPr lang="en-US" altLang="zh-CN" dirty="0">
                <a:latin typeface="+mn-ea"/>
                <a:ea typeface="+mn-ea"/>
              </a:rPr>
              <a:t>grouping variable</a:t>
            </a:r>
            <a:r>
              <a:rPr lang="zh-CN" altLang="en-US" dirty="0">
                <a:latin typeface="+mn-ea"/>
                <a:ea typeface="+mn-ea"/>
              </a:rPr>
              <a:t>）。</a:t>
            </a:r>
          </a:p>
        </p:txBody>
      </p:sp>
    </p:spTree>
    <p:extLst>
      <p:ext uri="{BB962C8B-B14F-4D97-AF65-F5344CB8AC3E}">
        <p14:creationId xmlns:p14="http://schemas.microsoft.com/office/powerpoint/2010/main" val="1438653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848E5-CC12-B26B-ADCB-E83B5962B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39BAD0-7637-1949-C748-C5BE01F4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F3D7B9C1-6658-FEAD-4DB1-632889DEA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5.3.2 </a:t>
            </a:r>
            <a:r>
              <a:rPr lang="zh-CN" altLang="en-US" sz="3600" dirty="0"/>
              <a:t>散点图矩阵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0350E4-0432-A640-B0C4-43FA6E6DCB69}"/>
              </a:ext>
            </a:extLst>
          </p:cNvPr>
          <p:cNvSpPr txBox="1"/>
          <p:nvPr/>
        </p:nvSpPr>
        <p:spPr>
          <a:xfrm>
            <a:off x="304800" y="1104900"/>
            <a:ext cx="8538230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散点图矩阵（</a:t>
            </a:r>
            <a:r>
              <a:rPr lang="en-US" altLang="zh-CN" dirty="0">
                <a:latin typeface="+mn-lt"/>
                <a:ea typeface="+mn-ea"/>
              </a:rPr>
              <a:t>Scatterplot Matrix</a:t>
            </a:r>
            <a:r>
              <a:rPr lang="zh-CN" altLang="en-US" dirty="0">
                <a:latin typeface="+mn-lt"/>
                <a:ea typeface="+mn-ea"/>
              </a:rPr>
              <a:t>）是散点图的高维扩展，在一个图表中展示多个变量两两对应的散点图，以帮助用户快速理解高维数据集中变量之间的关系。用</a:t>
            </a:r>
            <a:r>
              <a:rPr lang="en-US" altLang="zh-CN" dirty="0">
                <a:latin typeface="+mn-lt"/>
                <a:ea typeface="+mn-ea"/>
              </a:rPr>
              <a:t>graphics</a:t>
            </a:r>
            <a:r>
              <a:rPr lang="zh-CN" altLang="en-US" dirty="0">
                <a:latin typeface="+mn-lt"/>
                <a:ea typeface="+mn-ea"/>
              </a:rPr>
              <a:t>函数包提供的</a:t>
            </a:r>
            <a:r>
              <a:rPr lang="en-US" altLang="zh-CN" dirty="0">
                <a:latin typeface="+mn-lt"/>
                <a:ea typeface="+mn-ea"/>
              </a:rPr>
              <a:t>pairs</a:t>
            </a:r>
            <a:r>
              <a:rPr lang="zh-CN" altLang="en-US" dirty="0">
                <a:latin typeface="+mn-lt"/>
                <a:ea typeface="+mn-ea"/>
              </a:rPr>
              <a:t>函数可以绘制基础的散点图矩阵。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997C514-E71C-1AC5-00D5-FE01856D6D73}"/>
              </a:ext>
            </a:extLst>
          </p:cNvPr>
          <p:cNvSpPr txBox="1"/>
          <p:nvPr/>
        </p:nvSpPr>
        <p:spPr>
          <a:xfrm>
            <a:off x="800100" y="2438400"/>
            <a:ext cx="7543800" cy="6200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"Green_Rate"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"Annual_AQI"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pairs(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9F765B-D4CF-B8A4-11FA-DA69AE8A1E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10" b="2978"/>
          <a:stretch/>
        </p:blipFill>
        <p:spPr>
          <a:xfrm>
            <a:off x="1934845" y="3048000"/>
            <a:ext cx="527431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3695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3CB8-2C06-88A8-0604-4D681B6F4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622CAF-388C-B242-9204-08C5512F0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428F1DF3-1762-3B3C-E24E-222B94B21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5.3.2 </a:t>
            </a:r>
            <a:r>
              <a:rPr lang="zh-CN" altLang="en-US" sz="3600" dirty="0"/>
              <a:t>散点图矩阵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07980D4-491A-DA74-C2F4-706D09ABE669}"/>
              </a:ext>
            </a:extLst>
          </p:cNvPr>
          <p:cNvSpPr txBox="1"/>
          <p:nvPr/>
        </p:nvSpPr>
        <p:spPr>
          <a:xfrm>
            <a:off x="304800" y="1104900"/>
            <a:ext cx="853823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可通过</a:t>
            </a:r>
            <a:r>
              <a:rPr lang="en-US" altLang="zh-CN" dirty="0" err="1">
                <a:latin typeface="+mn-lt"/>
                <a:ea typeface="+mn-ea"/>
              </a:rPr>
              <a:t>pch</a:t>
            </a:r>
            <a:r>
              <a:rPr lang="zh-CN" altLang="en-US" dirty="0">
                <a:latin typeface="+mn-lt"/>
                <a:ea typeface="+mn-ea"/>
              </a:rPr>
              <a:t>、</a:t>
            </a:r>
            <a:r>
              <a:rPr lang="en-US" altLang="zh-CN" dirty="0" err="1">
                <a:latin typeface="+mn-lt"/>
                <a:ea typeface="+mn-ea"/>
              </a:rPr>
              <a:t>lower.panel</a:t>
            </a:r>
            <a:r>
              <a:rPr lang="zh-CN" altLang="en-US" dirty="0">
                <a:latin typeface="+mn-lt"/>
                <a:ea typeface="+mn-ea"/>
              </a:rPr>
              <a:t>等参数设置散点图矩阵中点符号大小、颜色等样式，生成不同效果的散点图矩阵。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BDEFA8-3A50-4328-FE10-B4925098E108}"/>
              </a:ext>
            </a:extLst>
          </p:cNvPr>
          <p:cNvSpPr txBox="1"/>
          <p:nvPr/>
        </p:nvSpPr>
        <p:spPr>
          <a:xfrm>
            <a:off x="1581150" y="1943100"/>
            <a:ext cx="5981700" cy="615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pairs(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df,pch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"+"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blue"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,main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='+',col='blue'"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pairs(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df,pch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"*"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lower.panel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,main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lower.panel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=NULL"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B8E3103-E0BF-DE05-859A-BADB4694C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05100"/>
            <a:ext cx="4572001" cy="348415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A937ECB-B1D2-6D73-7753-853163C0E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318" y="2718911"/>
            <a:ext cx="4554682" cy="3415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3010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F49C1-95B5-E99C-A6EA-D9787B51D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DEBBBD-B377-70A7-1EF2-33E528156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79D3E38-5A31-1B1E-5E13-A93807447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5.3.2 </a:t>
            </a:r>
            <a:r>
              <a:rPr lang="zh-CN" altLang="en-US" sz="3600" dirty="0"/>
              <a:t>散点图矩阵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B248F1C-CA8D-9D44-5B18-F429DE6BFDDE}"/>
              </a:ext>
            </a:extLst>
          </p:cNvPr>
          <p:cNvSpPr txBox="1"/>
          <p:nvPr/>
        </p:nvSpPr>
        <p:spPr>
          <a:xfrm>
            <a:off x="304800" y="1255785"/>
            <a:ext cx="853823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通过更加精细的面板控制，能够实现更加灵活的散点图矩阵绘制。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9D154D9-8B71-D0A2-B303-F0BD7977E7D4}"/>
              </a:ext>
            </a:extLst>
          </p:cNvPr>
          <p:cNvSpPr txBox="1"/>
          <p:nvPr/>
        </p:nvSpPr>
        <p:spPr>
          <a:xfrm>
            <a:off x="287482" y="1950720"/>
            <a:ext cx="3600450" cy="393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panel.cor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(x, y){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par(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usr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);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on.exit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(par(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par(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usr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r &lt;- round(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(x, y), digits=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txt &lt;- paste0(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 = 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r)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cex.cor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strwidth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(txt)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text(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txt,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cex.cor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* r)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upper.panel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function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(x, y){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points(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x,y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pairs(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lower.panel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panel.cor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upper.panel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upper.panel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1FA201-9606-51BB-A50C-DC59D0ED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5700" y="2065020"/>
            <a:ext cx="527431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483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20582-48B1-7F9B-DC43-F3461CD0C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00514CD-575A-A83B-CC3D-BA342F07B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A94C0B0F-396E-9FAE-881E-F48731AA3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pPr algn="l"/>
            <a:r>
              <a:rPr lang="en-US" altLang="zh-CN" sz="3600" dirty="0"/>
              <a:t>5.3.2 </a:t>
            </a:r>
            <a:r>
              <a:rPr lang="zh-CN" altLang="en-US" sz="3600" dirty="0"/>
              <a:t>散点图矩阵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51D6F4C-9310-643C-2EE1-D6377BDC5BE4}"/>
              </a:ext>
            </a:extLst>
          </p:cNvPr>
          <p:cNvSpPr txBox="1"/>
          <p:nvPr/>
        </p:nvSpPr>
        <p:spPr>
          <a:xfrm>
            <a:off x="304800" y="1104900"/>
            <a:ext cx="853823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除了上述</a:t>
            </a:r>
            <a:r>
              <a:rPr lang="en-US" altLang="zh-CN" dirty="0">
                <a:latin typeface="+mn-lt"/>
                <a:ea typeface="+mn-ea"/>
              </a:rPr>
              <a:t>graphics</a:t>
            </a:r>
            <a:r>
              <a:rPr lang="zh-CN" altLang="en-US" dirty="0">
                <a:latin typeface="+mn-lt"/>
                <a:ea typeface="+mn-ea"/>
              </a:rPr>
              <a:t>包提供的基础</a:t>
            </a:r>
            <a:r>
              <a:rPr lang="en-US" altLang="zh-CN" dirty="0">
                <a:latin typeface="+mn-lt"/>
                <a:ea typeface="+mn-ea"/>
              </a:rPr>
              <a:t>pairs</a:t>
            </a:r>
            <a:r>
              <a:rPr lang="zh-CN" altLang="en-US" dirty="0">
                <a:latin typeface="+mn-lt"/>
                <a:ea typeface="+mn-ea"/>
              </a:rPr>
              <a:t>函数，</a:t>
            </a:r>
            <a:r>
              <a:rPr lang="en-US" altLang="zh-CN" dirty="0" err="1">
                <a:latin typeface="+mn-lt"/>
                <a:ea typeface="+mn-ea"/>
              </a:rPr>
              <a:t>GGally</a:t>
            </a:r>
            <a:r>
              <a:rPr lang="zh-CN" altLang="en-US" dirty="0">
                <a:latin typeface="+mn-lt"/>
                <a:ea typeface="+mn-ea"/>
              </a:rPr>
              <a:t>函数包中的</a:t>
            </a:r>
            <a:r>
              <a:rPr lang="en-US" altLang="zh-CN" dirty="0" err="1">
                <a:latin typeface="+mn-lt"/>
                <a:ea typeface="+mn-ea"/>
              </a:rPr>
              <a:t>ggpairs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>
                <a:latin typeface="+mn-lt"/>
                <a:ea typeface="+mn-ea"/>
              </a:rPr>
              <a:t>psych</a:t>
            </a:r>
            <a:r>
              <a:rPr lang="zh-CN" altLang="en-US" dirty="0">
                <a:latin typeface="+mn-lt"/>
                <a:ea typeface="+mn-ea"/>
              </a:rPr>
              <a:t>函数包中的</a:t>
            </a:r>
            <a:r>
              <a:rPr lang="en-US" altLang="zh-CN" dirty="0" err="1">
                <a:latin typeface="+mn-lt"/>
                <a:ea typeface="+mn-ea"/>
              </a:rPr>
              <a:t>pairs.panels</a:t>
            </a:r>
            <a:r>
              <a:rPr lang="zh-CN" altLang="en-US" dirty="0">
                <a:latin typeface="+mn-lt"/>
                <a:ea typeface="+mn-ea"/>
              </a:rPr>
              <a:t>函数也可以用于绘制散点图矩阵。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8815C7-0BB8-F86D-95FF-C0AAA7D9E6AC}"/>
              </a:ext>
            </a:extLst>
          </p:cNvPr>
          <p:cNvSpPr txBox="1"/>
          <p:nvPr/>
        </p:nvSpPr>
        <p:spPr>
          <a:xfrm>
            <a:off x="683885" y="1981200"/>
            <a:ext cx="7776230" cy="1169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GGally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ggpairs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library(psych)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pairs.panels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method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pearson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hist.col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"#00AFBB"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density =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ellipses =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5ECD56F-91F5-E4C0-D585-9999ABC14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703" y="3245427"/>
            <a:ext cx="3971611" cy="297799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1D0E4C2-4C7F-5F04-0BE1-DF8DF15D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99" b="2555"/>
          <a:stretch/>
        </p:blipFill>
        <p:spPr>
          <a:xfrm>
            <a:off x="4603565" y="3238500"/>
            <a:ext cx="3892735" cy="29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7358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02A7627-5CBC-1DD3-D41B-D091B046F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137EC45-113B-BB75-47B7-40C61C016D96}"/>
              </a:ext>
            </a:extLst>
          </p:cNvPr>
          <p:cNvSpPr txBox="1"/>
          <p:nvPr/>
        </p:nvSpPr>
        <p:spPr>
          <a:xfrm>
            <a:off x="495300" y="1075950"/>
            <a:ext cx="8191500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热力图（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）是一种用于展示矩阵数据的可视化工具，通过格网单元中的颜色变化将矩阵数值大小进行直观显示。</a:t>
            </a: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ComplexHeatmap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函数包提供了便捷、强大的热力图绘制函数，具体通过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函数对矩阵数据进行可视化。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FF0C96-5F40-CA2D-1B74-9EDA091B5948}"/>
              </a:ext>
            </a:extLst>
          </p:cNvPr>
          <p:cNvSpPr txBox="1"/>
          <p:nvPr/>
        </p:nvSpPr>
        <p:spPr>
          <a:xfrm>
            <a:off x="3402449" y="2362200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修改热力图样式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754DE23-10F3-EEE5-6B21-A702AE39443F}"/>
              </a:ext>
            </a:extLst>
          </p:cNvPr>
          <p:cNvSpPr txBox="1"/>
          <p:nvPr/>
        </p:nvSpPr>
        <p:spPr>
          <a:xfrm>
            <a:off x="481445" y="2945447"/>
            <a:ext cx="4319155" cy="3365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ComplexHeatmap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Annual_AQI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"GDP_per_Land"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Pop_Den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t(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(data) = paste(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 &lt;- apply(data,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scale)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(exp)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 &lt;- t(exp)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Heatmap(exp)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77675EC-638F-03BC-BAA1-3A53494A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146" y="2922032"/>
            <a:ext cx="4766111" cy="357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080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4DDA5-E0C7-9D0E-11D7-CA6B089E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85F02028-909D-DD58-EC79-A410AEDB6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4636" y="2729916"/>
            <a:ext cx="4880264" cy="365931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58AF8-BACF-9604-44E4-6C6F0B970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76A9FA5-6BCB-C0BF-DDD5-2CF2FDB2D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B5C95B-0C64-8DF7-8E46-60FA099CBD74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修改热力图样式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9BB5D8B-38C9-2044-32C3-9A906A51E08C}"/>
              </a:ext>
            </a:extLst>
          </p:cNvPr>
          <p:cNvSpPr txBox="1"/>
          <p:nvPr/>
        </p:nvSpPr>
        <p:spPr>
          <a:xfrm>
            <a:off x="476250" y="1452453"/>
            <a:ext cx="8191500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通过设置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函数中的相关参数，进一步修改热力图配色、添加单元格边框、添加行列标题并设置样式等。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C952998-4B80-A15C-68BF-99FA35E90553}"/>
              </a:ext>
            </a:extLst>
          </p:cNvPr>
          <p:cNvSpPr txBox="1"/>
          <p:nvPr/>
        </p:nvSpPr>
        <p:spPr>
          <a:xfrm>
            <a:off x="529936" y="2356397"/>
            <a:ext cx="3851564" cy="4032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Heatmap(exp, col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border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"black"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rect_gp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 Sample"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column_title_side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"bottom"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column_title_rot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fontface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"italic"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fill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"#01665e"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border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"black"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row_title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 Attribute"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row_title_side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"left"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row_title_gp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fontface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"italic"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fill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"#01665e"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border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"black"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566589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F0E3-98F5-0659-E825-01FB412A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E684E1-601F-3EA1-AD60-46B7486C3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6E198EC-2E0C-1A90-8E75-FADF117DD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56E5EFF-5415-7EFC-26CB-755D892DC3DF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修改热力图样式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7BC46D-E7F2-18A1-6CA4-CC59FC7F136F}"/>
              </a:ext>
            </a:extLst>
          </p:cNvPr>
          <p:cNvSpPr txBox="1"/>
          <p:nvPr/>
        </p:nvSpPr>
        <p:spPr>
          <a:xfrm>
            <a:off x="476250" y="1452453"/>
            <a:ext cx="8191500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可以通过改变距离度量或者聚类分析方法以实现不同的聚类效果。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48DAB17-59FF-7EC8-1C58-4B198652969A}"/>
              </a:ext>
            </a:extLst>
          </p:cNvPr>
          <p:cNvSpPr txBox="1"/>
          <p:nvPr/>
        </p:nvSpPr>
        <p:spPr>
          <a:xfrm>
            <a:off x="114300" y="2991684"/>
            <a:ext cx="3886200" cy="2000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exp,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clustering_distance_columns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"spearman"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clustering_method_rows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"single"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610170-3206-D61C-7FF3-40830A465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226" y="2217420"/>
            <a:ext cx="527431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8240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291259-2B1A-7C8B-D65F-B16A5E905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98F726-3992-13E5-D48B-101DF260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860FA56-1DA3-BD18-FACA-84BCD298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7835F95-0A5F-882D-992B-95A50FB2EBF6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修改热力图样式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E39206-8F43-3E83-CDAE-8D9E40C2BEA0}"/>
              </a:ext>
            </a:extLst>
          </p:cNvPr>
          <p:cNvSpPr txBox="1"/>
          <p:nvPr/>
        </p:nvSpPr>
        <p:spPr>
          <a:xfrm>
            <a:off x="239857" y="1510959"/>
            <a:ext cx="8664286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在数据聚类分析的基础上，对热力图进行区域分割，从而更加直观地了解数据。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3E3A22-6D2D-F130-B60B-855583B9EDF8}"/>
              </a:ext>
            </a:extLst>
          </p:cNvPr>
          <p:cNvSpPr txBox="1"/>
          <p:nvPr/>
        </p:nvSpPr>
        <p:spPr>
          <a:xfrm>
            <a:off x="467591" y="2179320"/>
            <a:ext cx="3342409" cy="3939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hm&lt;-Heatmap(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column_km_repeats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row_km_repeats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column_km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row_km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row_title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att_cluster_%s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zone_cluster_%s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row_gap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"mm"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column_gap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"mm"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50000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draw(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hm,row_title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 Attribute"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B5EDDF-74E1-2134-6A76-019506C707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2179320"/>
            <a:ext cx="527431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9488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AA41-0829-23DF-BFB5-F235855BF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C8C3E2-0F52-B346-C21C-E2FEE332C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7EDEFF7-6A64-E6A2-1658-6B955FBE4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B9ECE4-62DE-308D-1754-5139DDF4E0CB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添加热力图注释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3AAF2C4-1971-B1D3-4817-1D6FA328D9CC}"/>
              </a:ext>
            </a:extLst>
          </p:cNvPr>
          <p:cNvSpPr txBox="1"/>
          <p:nvPr/>
        </p:nvSpPr>
        <p:spPr>
          <a:xfrm>
            <a:off x="239857" y="1510959"/>
            <a:ext cx="8664286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ComplexHeatmap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函数包提供了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HeatmapAnnotation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类函数灵活地添加热力图注释。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6F8351E7-1AF8-9AD0-D0C1-B8A3B1EE44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0542851"/>
              </p:ext>
            </p:extLst>
          </p:nvPr>
        </p:nvGraphicFramePr>
        <p:xfrm>
          <a:off x="5372100" y="2057400"/>
          <a:ext cx="3009900" cy="4351334"/>
        </p:xfrm>
        <a:graphic>
          <a:graphicData uri="http://schemas.openxmlformats.org/drawingml/2006/table">
            <a:tbl>
              <a:tblPr/>
              <a:tblGrid>
                <a:gridCol w="1267691">
                  <a:extLst>
                    <a:ext uri="{9D8B030D-6E8A-4147-A177-3AD203B41FA5}">
                      <a16:colId xmlns:a16="http://schemas.microsoft.com/office/drawing/2014/main" val="1834816031"/>
                    </a:ext>
                  </a:extLst>
                </a:gridCol>
                <a:gridCol w="1742209">
                  <a:extLst>
                    <a:ext uri="{9D8B030D-6E8A-4147-A177-3AD203B41FA5}">
                      <a16:colId xmlns:a16="http://schemas.microsoft.com/office/drawing/2014/main" val="2843517220"/>
                    </a:ext>
                  </a:extLst>
                </a:gridCol>
              </a:tblGrid>
              <a:tr h="288856">
                <a:tc>
                  <a:txBody>
                    <a:bodyPr/>
                    <a:lstStyle/>
                    <a:p>
                      <a:pPr marL="0" marR="0" indent="26797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b="1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函</a:t>
                      </a:r>
                      <a:r>
                        <a:rPr lang="zh-CN" altLang="en-US" sz="1000" b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797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b="1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注</a:t>
                      </a:r>
                      <a:r>
                        <a:rPr lang="zh-CN" altLang="en-US" sz="1000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释类型</a:t>
                      </a:r>
                      <a:endParaRPr lang="zh-CN" altLang="en-US" sz="10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0498680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anno_simple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简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单注释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601249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anno_empty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空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白注释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648508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anno_block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块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5109547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anno_image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图</a:t>
                      </a:r>
                      <a:r>
                        <a:rPr lang="zh-CN" alt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片注释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764965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anno_points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点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5620213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anno_lines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线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311723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anno_barplot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条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形图注释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230518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anno_boxplot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箱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线图注释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828209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anno_histogram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直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方图注释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34819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anno_density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密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度曲线注释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90900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anno_joyplot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山</a:t>
                      </a:r>
                      <a:r>
                        <a:rPr lang="zh-CN" alt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脊图注释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1030143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anno_horizon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地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平线注释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103297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anno_text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文</a:t>
                      </a:r>
                      <a:r>
                        <a:rPr lang="zh-CN" alt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本注释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850627"/>
                  </a:ext>
                </a:extLst>
              </a:tr>
              <a:tr h="290177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anno_mark</a:t>
                      </a:r>
                      <a:endParaRPr lang="en-US" sz="10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0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标</a:t>
                      </a:r>
                      <a:r>
                        <a:rPr lang="zh-CN" altLang="en-US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记注释</a:t>
                      </a:r>
                    </a:p>
                  </a:txBody>
                  <a:tcPr marL="54865" marR="54865" marT="36577" marB="3657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29525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6B494FC-F196-3A53-CDC4-E0D6E4BB9D0D}"/>
              </a:ext>
            </a:extLst>
          </p:cNvPr>
          <p:cNvSpPr txBox="1"/>
          <p:nvPr/>
        </p:nvSpPr>
        <p:spPr>
          <a:xfrm>
            <a:off x="239857" y="2019300"/>
            <a:ext cx="5219700" cy="4267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通过</a:t>
            </a:r>
            <a:r>
              <a:rPr lang="en-US" altLang="zh-CN" dirty="0">
                <a:latin typeface="+mn-lt"/>
                <a:ea typeface="+mn-ea"/>
              </a:rPr>
              <a:t>which</a:t>
            </a:r>
            <a:r>
              <a:rPr lang="zh-CN" altLang="en-US" dirty="0">
                <a:latin typeface="+mn-lt"/>
                <a:ea typeface="+mn-ea"/>
              </a:rPr>
              <a:t>参数指定“</a:t>
            </a:r>
            <a:r>
              <a:rPr lang="en-US" altLang="zh-CN" dirty="0">
                <a:latin typeface="+mn-lt"/>
                <a:ea typeface="+mn-ea"/>
              </a:rPr>
              <a:t>row</a:t>
            </a:r>
            <a:r>
              <a:rPr lang="zh-CN" altLang="en-US" dirty="0">
                <a:latin typeface="+mn-lt"/>
                <a:ea typeface="+mn-ea"/>
              </a:rPr>
              <a:t>”</a:t>
            </a:r>
            <a:r>
              <a:rPr lang="en-US" altLang="zh-CN" dirty="0">
                <a:latin typeface="+mn-lt"/>
                <a:ea typeface="+mn-ea"/>
              </a:rPr>
              <a:t> </a:t>
            </a:r>
            <a:r>
              <a:rPr lang="zh-CN" altLang="en-US" dirty="0">
                <a:latin typeface="+mn-lt"/>
                <a:ea typeface="+mn-ea"/>
              </a:rPr>
              <a:t>或者“</a:t>
            </a:r>
            <a:r>
              <a:rPr lang="en-US" altLang="zh-CN" dirty="0">
                <a:latin typeface="+mn-lt"/>
                <a:ea typeface="+mn-ea"/>
              </a:rPr>
              <a:t>column</a:t>
            </a:r>
            <a:r>
              <a:rPr lang="zh-CN" altLang="en-US" dirty="0">
                <a:latin typeface="+mn-lt"/>
                <a:ea typeface="+mn-ea"/>
              </a:rPr>
              <a:t>”，分别构建行注释和列注释；</a:t>
            </a:r>
            <a:endParaRPr lang="en-US" altLang="zh-CN" dirty="0">
              <a:latin typeface="+mn-lt"/>
              <a:ea typeface="+mn-ea"/>
            </a:endParaRPr>
          </a:p>
          <a:p>
            <a:pPr marL="285750" indent="-285750">
              <a:lnSpc>
                <a:spcPct val="17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+mn-lt"/>
                <a:ea typeface="+mn-ea"/>
              </a:rPr>
              <a:t>直接使用</a:t>
            </a:r>
            <a:r>
              <a:rPr lang="en-US" altLang="zh-CN" dirty="0" err="1">
                <a:latin typeface="+mn-lt"/>
                <a:ea typeface="+mn-ea"/>
              </a:rPr>
              <a:t>rowAnnotation</a:t>
            </a:r>
            <a:r>
              <a:rPr lang="zh-CN" altLang="en-US" dirty="0">
                <a:latin typeface="+mn-lt"/>
                <a:ea typeface="+mn-ea"/>
              </a:rPr>
              <a:t>和</a:t>
            </a:r>
            <a:r>
              <a:rPr lang="en-US" altLang="zh-CN" dirty="0" err="1">
                <a:latin typeface="+mn-lt"/>
                <a:ea typeface="+mn-ea"/>
              </a:rPr>
              <a:t>columnAnnotation</a:t>
            </a:r>
            <a:r>
              <a:rPr lang="zh-CN" altLang="en-US" dirty="0">
                <a:latin typeface="+mn-lt"/>
                <a:ea typeface="+mn-ea"/>
              </a:rPr>
              <a:t>函数来绘制对应的注释。每一个注释均以“</a:t>
            </a:r>
            <a:r>
              <a:rPr lang="en-US" altLang="zh-CN" dirty="0">
                <a:latin typeface="+mn-lt"/>
                <a:ea typeface="+mn-ea"/>
              </a:rPr>
              <a:t>name-value”</a:t>
            </a:r>
            <a:r>
              <a:rPr lang="zh-CN" altLang="en-US" dirty="0">
                <a:latin typeface="+mn-lt"/>
                <a:ea typeface="+mn-ea"/>
              </a:rPr>
              <a:t>二维向量进行赋值，其中“</a:t>
            </a:r>
            <a:r>
              <a:rPr lang="en-US" altLang="zh-CN" dirty="0">
                <a:latin typeface="+mn-lt"/>
                <a:ea typeface="+mn-ea"/>
              </a:rPr>
              <a:t>name”</a:t>
            </a:r>
            <a:r>
              <a:rPr lang="zh-CN" altLang="en-US" dirty="0">
                <a:latin typeface="+mn-lt"/>
                <a:ea typeface="+mn-ea"/>
              </a:rPr>
              <a:t>表示注释名称，“</a:t>
            </a:r>
            <a:r>
              <a:rPr lang="en-US" altLang="zh-CN" dirty="0">
                <a:latin typeface="+mn-lt"/>
                <a:ea typeface="+mn-ea"/>
              </a:rPr>
              <a:t>value”</a:t>
            </a:r>
            <a:r>
              <a:rPr lang="zh-CN" altLang="en-US" dirty="0">
                <a:latin typeface="+mn-lt"/>
                <a:ea typeface="+mn-ea"/>
              </a:rPr>
              <a:t>代表注释的绘制内容。其中，对参数“</a:t>
            </a:r>
            <a:r>
              <a:rPr lang="en-US" altLang="zh-CN" dirty="0">
                <a:latin typeface="+mn-lt"/>
                <a:ea typeface="+mn-ea"/>
              </a:rPr>
              <a:t>value”</a:t>
            </a:r>
            <a:r>
              <a:rPr lang="zh-CN" altLang="en-US" dirty="0">
                <a:latin typeface="+mn-lt"/>
                <a:ea typeface="+mn-ea"/>
              </a:rPr>
              <a:t>而言，</a:t>
            </a:r>
            <a:r>
              <a:rPr lang="en-US" altLang="zh-CN" dirty="0" err="1">
                <a:latin typeface="+mn-lt"/>
                <a:ea typeface="+mn-ea"/>
              </a:rPr>
              <a:t>ComplexHeatmap</a:t>
            </a:r>
            <a:r>
              <a:rPr lang="zh-CN" altLang="en-US" dirty="0">
                <a:latin typeface="+mn-lt"/>
                <a:ea typeface="+mn-ea"/>
              </a:rPr>
              <a:t>函数包提供了多种类型的注释绘制函数，以应对不同的绘制需求。</a:t>
            </a:r>
          </a:p>
        </p:txBody>
      </p:sp>
    </p:spTree>
    <p:extLst>
      <p:ext uri="{BB962C8B-B14F-4D97-AF65-F5344CB8AC3E}">
        <p14:creationId xmlns:p14="http://schemas.microsoft.com/office/powerpoint/2010/main" val="390295916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AB55-AD19-98DD-736E-5A21785A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9314E9-A1AA-EA29-7EA1-1767E14B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E62C859-C3BA-7F67-63C3-E5EF79476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AAF451F-BCE9-5AB3-AC00-691D3D751E15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添加热力图注释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EE5B5CE-75F7-99DD-0FB2-108B4B91CB47}"/>
              </a:ext>
            </a:extLst>
          </p:cNvPr>
          <p:cNvSpPr txBox="1"/>
          <p:nvPr/>
        </p:nvSpPr>
        <p:spPr>
          <a:xfrm>
            <a:off x="38100" y="1510959"/>
            <a:ext cx="9056543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函数中的“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top_annotation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、“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bottom_annotation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、“ 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right_annotation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以及“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left_annotation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”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等参数将注释添加到热力图中的顶部、底部、右侧和左侧位置。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DE08DCD-5FA9-5316-DB65-43B2FF25F191}"/>
              </a:ext>
            </a:extLst>
          </p:cNvPr>
          <p:cNvSpPr txBox="1"/>
          <p:nvPr/>
        </p:nvSpPr>
        <p:spPr>
          <a:xfrm>
            <a:off x="76200" y="2590800"/>
            <a:ext cx="4610100" cy="349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gre_level_num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case_when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"Green_level"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"Green_level"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"Green_level"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"Green_level"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==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zh-CN" altLang="en-US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level&lt;-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gre_level_num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col=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"4"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"pink"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"3"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lightblue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"orange"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"1"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lightcyan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name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"mat"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top_annotation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level)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FD474CB-1495-33A6-57D8-BE4FEDE2B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046" y="2667110"/>
            <a:ext cx="4572954" cy="34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513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EF42-C329-D976-1AC9-19DCA83AF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349DA32-4E2B-DF8A-51F3-7D3975203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552" y="2418298"/>
            <a:ext cx="4660091" cy="3494226"/>
          </a:xfrm>
          <a:prstGeom prst="rect">
            <a:avLst/>
          </a:prstGeo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55FF8-4380-2680-8C3E-8A09324CC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DDC2F36F-A3A4-711F-0C44-346DD43C5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0CB8BD1-3F1F-E263-F166-66D055CC3021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添加热力图注释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826207F-EB36-F07C-72C0-88979D01647D}"/>
              </a:ext>
            </a:extLst>
          </p:cNvPr>
          <p:cNvSpPr txBox="1"/>
          <p:nvPr/>
        </p:nvSpPr>
        <p:spPr>
          <a:xfrm>
            <a:off x="38100" y="1510959"/>
            <a:ext cx="9056543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在添加块注释时，可在热力图基础上添加色块，以区别不同的类别或分组。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5DF7F7-BB2B-F391-43B1-31B39CCC143B}"/>
              </a:ext>
            </a:extLst>
          </p:cNvPr>
          <p:cNvSpPr txBox="1"/>
          <p:nvPr/>
        </p:nvSpPr>
        <p:spPr>
          <a:xfrm>
            <a:off x="228600" y="2411274"/>
            <a:ext cx="4267200" cy="349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exp, name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mat"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top_annotation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anb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anno_block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(fill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labels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"group1"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"group2"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"group3"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labels_gp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column_km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left_annotation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anb1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anno_block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(fill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labels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"group1"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"group2"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labels_gp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fontsize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row_km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222014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79FF3-BCE6-3371-E788-29BDD4DB8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E6792E-7C57-116C-DEE5-2A6747C7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BE5049D-7557-0E09-BFE8-C0E5D37A3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C6ACB0-3FFD-C5A7-35D4-173D8D849AAB}"/>
              </a:ext>
            </a:extLst>
          </p:cNvPr>
          <p:cNvSpPr txBox="1"/>
          <p:nvPr/>
        </p:nvSpPr>
        <p:spPr>
          <a:xfrm>
            <a:off x="3402449" y="1062335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添加热力图注释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C26AB78-96AC-8BD4-7E81-6C818B5E47BE}"/>
              </a:ext>
            </a:extLst>
          </p:cNvPr>
          <p:cNvSpPr txBox="1"/>
          <p:nvPr/>
        </p:nvSpPr>
        <p:spPr>
          <a:xfrm>
            <a:off x="2590800" y="1485900"/>
            <a:ext cx="396240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zh-CN" altLang="en-US" sz="18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在热力图上可以同时添加多个注释。</a:t>
            </a:r>
            <a:endParaRPr lang="zh-CN" altLang="en-US" sz="1800" dirty="0">
              <a:effectLst/>
              <a:latin typeface="+mn-ea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861524-E9D5-BAB2-BB07-BFF1C158FC63}"/>
              </a:ext>
            </a:extLst>
          </p:cNvPr>
          <p:cNvSpPr txBox="1"/>
          <p:nvPr/>
        </p:nvSpPr>
        <p:spPr>
          <a:xfrm>
            <a:off x="266700" y="1764119"/>
            <a:ext cx="4267200" cy="4750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top_annotation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HeatmapAnnotation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FAI_bar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anno_barplot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"FAI_per_Land"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bar_width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fill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colorRampPalette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"#8c510a"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"#01665e"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height = unit(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"cm"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FAI_line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anno_lines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"FAI_per_Land"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"#8c510a"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add_points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pt_gp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"#01665e"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smooth = </a:t>
            </a:r>
            <a:r>
              <a:rPr lang="en-US" altLang="zh-CN" sz="11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height = unit(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1.5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"cm"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),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gap = unit(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"mm"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C5BC93-27F6-625F-ABD3-6AFB5A08F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80" y="2293930"/>
            <a:ext cx="4872020" cy="36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608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C128D-2B5B-F71D-B17B-3E7ED7211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FB3794-F7B3-A52F-AEEA-85F6F17C7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715B517-1E2C-E491-A459-6E36D04B1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2C8167D-F151-8214-11B7-466EC87BD9A0}"/>
              </a:ext>
            </a:extLst>
          </p:cNvPr>
          <p:cNvSpPr txBox="1"/>
          <p:nvPr/>
        </p:nvSpPr>
        <p:spPr>
          <a:xfrm>
            <a:off x="3238500" y="106233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热力图与注释结合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34713F-B061-F489-4E9E-7835B3C80902}"/>
              </a:ext>
            </a:extLst>
          </p:cNvPr>
          <p:cNvSpPr txBox="1"/>
          <p:nvPr/>
        </p:nvSpPr>
        <p:spPr>
          <a:xfrm>
            <a:off x="223404" y="1524000"/>
            <a:ext cx="8697191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>
              <a:lnSpc>
                <a:spcPct val="150000"/>
              </a:lnSpc>
            </a:pP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ComplexHeatmap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函数的另一个重要功能能够提供热力图与注释组合，即在水平或垂直方向上将多个热力图和注释进行组合。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8EBEF3B-95FD-E568-1D69-94EDC669B7DD}"/>
              </a:ext>
            </a:extLst>
          </p:cNvPr>
          <p:cNvSpPr txBox="1"/>
          <p:nvPr/>
        </p:nvSpPr>
        <p:spPr>
          <a:xfrm>
            <a:off x="583622" y="2554652"/>
            <a:ext cx="4597978" cy="3492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columns_1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"Pop"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Pop_Den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att_1&lt;-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[,columns_1]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data_1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(att_1,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data_1 &lt;- 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(data_1))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(data_1) = paste(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columns_2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Annual_AQI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Den_POI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att_2&lt;-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[,columns_2]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data_2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(att_2,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data_2 &lt;- 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(data_2))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(data_2) = paste(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columns_3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Rev_per_Land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TertI_Rate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att_3&lt;-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[,columns_3]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data_3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(att_3,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data_3 &lt;- t(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(data_3))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(data_3) = paste(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"Zone"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3975B32-DB70-4BA5-C0F3-DD4AE4A767CA}"/>
              </a:ext>
            </a:extLst>
          </p:cNvPr>
          <p:cNvSpPr txBox="1"/>
          <p:nvPr/>
        </p:nvSpPr>
        <p:spPr>
          <a:xfrm>
            <a:off x="5448300" y="2915739"/>
            <a:ext cx="3238500" cy="2954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exp_1 &lt;- apply(data_1,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scale)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(exp_1)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(data_1)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exp_2 &lt;- apply(data_2,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scale)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(exp_2)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(data_2)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exp_3 &lt;- apply(data_3,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scale)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(exp_3)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(data_3)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col_fun_1 &lt;- colorRamp2(c(-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"#f46d43"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ffffbf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"#3288bd"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col_fun_2 &lt;- colorRamp2(c(-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"#f7f7f7"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"#de77ae"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"#7fbc41"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col_fun_3 &lt;- colorRamp2(c(-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"pink"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lightyellow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lightblue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328436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E85C-525F-3107-3030-4622AD4C9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D369C9-BE0D-1518-B6D0-E1AA2D94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46BE2DF7-E5DA-E21F-4EEC-569F01C72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29F654B-594A-68E3-5F04-8B7E692ABE29}"/>
              </a:ext>
            </a:extLst>
          </p:cNvPr>
          <p:cNvSpPr txBox="1"/>
          <p:nvPr/>
        </p:nvSpPr>
        <p:spPr>
          <a:xfrm>
            <a:off x="3238500" y="106233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热力图与注释结合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D8B8812-5B67-1D5D-A39B-935ECA63646C}"/>
              </a:ext>
            </a:extLst>
          </p:cNvPr>
          <p:cNvSpPr txBox="1"/>
          <p:nvPr/>
        </p:nvSpPr>
        <p:spPr>
          <a:xfrm>
            <a:off x="223404" y="1524000"/>
            <a:ext cx="8697191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>
              <a:lnSpc>
                <a:spcPct val="150000"/>
              </a:lnSpc>
            </a:pP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ComplexHeatmap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函数的另一个重要功能能够提供热力图与注释组合，即在水平或垂直方向上将多个热力图和注释进行组合。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8ABB994-6316-A92B-5876-71907A06FC9D}"/>
              </a:ext>
            </a:extLst>
          </p:cNvPr>
          <p:cNvSpPr txBox="1"/>
          <p:nvPr/>
        </p:nvSpPr>
        <p:spPr>
          <a:xfrm>
            <a:off x="762000" y="2398214"/>
            <a:ext cx="3581400" cy="4390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ht_pop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Heatmap(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exp_1, name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"Pop"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col_fun_1,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show_column_names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show_row_names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cluster_rows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cluster_columns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rect_gp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"#f7f7f7"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"Heatmap 1"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width = unit(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"cm"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ht_env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Heatmap(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exp_2,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name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"Environment"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col_fun_2,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show_column_names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show_row_names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cluster_rows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cluster_columns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rect_gp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"#f7f7f7"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"Heatmap 2"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width = unit(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"cm"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9FA1DE-B4B6-B6CA-AB85-9973CD5112EA}"/>
              </a:ext>
            </a:extLst>
          </p:cNvPr>
          <p:cNvSpPr txBox="1"/>
          <p:nvPr/>
        </p:nvSpPr>
        <p:spPr>
          <a:xfrm>
            <a:off x="4270666" y="2438400"/>
            <a:ext cx="4720934" cy="367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ht_eco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Heatmap(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exp_3[,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name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"Economy"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column_names_rot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col = col_fun_3,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show_column_names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show_row_names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cluster_rows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cluster_columns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TRUE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rect_gp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"#f7f7f7"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lwd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column_title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"Heatmap 3"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width = unit(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"cm"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right_annotation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rowAnnotation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Avg_HP_point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anno_points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"Avg_HP"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pch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gpar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"#de77ae"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draw(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ht_pop+ht_env+ht_eco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237371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D2656-95FB-002F-C951-26521D0E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84E963-9973-353C-BE76-CD367066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8A3995E-D448-1879-F30B-18EA981B0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5.3.3 </a:t>
            </a:r>
            <a:r>
              <a:rPr lang="zh-CN" altLang="en-US" sz="3600" dirty="0"/>
              <a:t>热力图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342F766-EAC9-4423-CED3-7112FBD246F1}"/>
              </a:ext>
            </a:extLst>
          </p:cNvPr>
          <p:cNvSpPr txBox="1"/>
          <p:nvPr/>
        </p:nvSpPr>
        <p:spPr>
          <a:xfrm>
            <a:off x="3238500" y="1062335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热力图与注释结合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974E0C4-C5E7-B6A6-F3C1-79528BE41E94}"/>
              </a:ext>
            </a:extLst>
          </p:cNvPr>
          <p:cNvSpPr txBox="1"/>
          <p:nvPr/>
        </p:nvSpPr>
        <p:spPr>
          <a:xfrm>
            <a:off x="223404" y="1524000"/>
            <a:ext cx="8697191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>
              <a:lnSpc>
                <a:spcPct val="150000"/>
              </a:lnSpc>
            </a:pP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ComplexHeatmap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函数的另一个重要功能能够提供热力图与注释组合，即在水平或垂直方向上将多个热力图和注释进行组合。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2C55DCF-020B-6C21-F442-59545BE4E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766" y="2467014"/>
            <a:ext cx="5754434" cy="4314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6418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18709-7B7E-3765-3641-4BFFB190B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DEA611-7C03-8CBB-23C8-17A978F6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B856799F-91F9-314D-FE3C-026175DCD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4E153FA-A249-DA20-3339-F5BDC4FB71FE}"/>
              </a:ext>
            </a:extLst>
          </p:cNvPr>
          <p:cNvSpPr txBox="1"/>
          <p:nvPr/>
        </p:nvSpPr>
        <p:spPr>
          <a:xfrm>
            <a:off x="111702" y="1116259"/>
            <a:ext cx="8879898" cy="1705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相关系数矩阵（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Correlation Matrix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）是用于展示多元变量之间两两相关性的矩阵，相关热力图（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Correlation Heatmap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），也被称为相关矩阵图（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Correlation Matrix 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），是一种特定用途的热力图的类型，通过颜色直观展示相关系数的大小和方向。</a:t>
            </a: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函数包中，绘制相关热力图的主要函数为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()</a:t>
            </a:r>
            <a:r>
              <a:rPr lang="zh-CN" altLang="en-US" dirty="0">
                <a:latin typeface="+mn-lt"/>
                <a:ea typeface="+mn-ea"/>
                <a:cs typeface="Times New Roman" panose="02020603050405020304" pitchFamily="18" charset="0"/>
              </a:rPr>
              <a:t>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2BBD806-A547-1A5D-BA8A-AB146063F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5299"/>
              </p:ext>
            </p:extLst>
          </p:nvPr>
        </p:nvGraphicFramePr>
        <p:xfrm>
          <a:off x="561975" y="2978022"/>
          <a:ext cx="8020049" cy="3117978"/>
        </p:xfrm>
        <a:graphic>
          <a:graphicData uri="http://schemas.openxmlformats.org/drawingml/2006/table">
            <a:tbl>
              <a:tblPr/>
              <a:tblGrid>
                <a:gridCol w="1638300">
                  <a:extLst>
                    <a:ext uri="{9D8B030D-6E8A-4147-A177-3AD203B41FA5}">
                      <a16:colId xmlns:a16="http://schemas.microsoft.com/office/drawing/2014/main" val="2039961207"/>
                    </a:ext>
                  </a:extLst>
                </a:gridCol>
                <a:gridCol w="6381749">
                  <a:extLst>
                    <a:ext uri="{9D8B030D-6E8A-4147-A177-3AD203B41FA5}">
                      <a16:colId xmlns:a16="http://schemas.microsoft.com/office/drawing/2014/main" val="4383380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267970"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600" b="1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</a:t>
                      </a:r>
                      <a:r>
                        <a:rPr lang="zh-CN" altLang="en-US" sz="1600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267970"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600" b="1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含</a:t>
                      </a:r>
                      <a:r>
                        <a:rPr lang="zh-CN" altLang="en-US" sz="1600" b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义</a:t>
                      </a:r>
                      <a:endParaRPr lang="zh-CN" altLang="en-US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1319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相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关矩阵，值在</a:t>
                      </a:r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-1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到</a:t>
                      </a:r>
                      <a:r>
                        <a:rPr lang="en-US" altLang="zh-CN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之间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5693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200000"/>
                        </a:lnSpc>
                        <a:buNone/>
                      </a:pP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method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200000"/>
                        </a:lnSpc>
                        <a:buNone/>
                      </a:pP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可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视化方法，包括</a:t>
                      </a:r>
                      <a:r>
                        <a:rPr lang="zh-CN" alt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circle</a:t>
                      </a:r>
                      <a:r>
                        <a:rPr 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square</a:t>
                      </a:r>
                      <a:r>
                        <a:rPr 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ellipse</a:t>
                      </a:r>
                      <a:r>
                        <a:rPr lang="en-US" sz="160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</a:t>
                      </a: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选项</a:t>
                      </a:r>
                      <a:endParaRPr lang="zh-CN" altLang="en-US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73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order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排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序方法，包括</a:t>
                      </a:r>
                      <a:r>
                        <a:rPr 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AOE、FPC、hclust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等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0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diag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逻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型变量，表示是否显示对角线</a:t>
                      </a:r>
                      <a:r>
                        <a:rPr lang="zh-CN" altLang="en-US" sz="160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位置</a:t>
                      </a:r>
                      <a:r>
                        <a:rPr lang="zh-CN" altLang="en-US" sz="16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的单元格</a:t>
                      </a: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39529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26670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i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type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lower</a:t>
                      </a:r>
                      <a:r>
                        <a:rPr lang="en-US" sz="1600" dirty="0" err="1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”、“</a:t>
                      </a:r>
                      <a:r>
                        <a:rPr lang="en-US" sz="1600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upper</a:t>
                      </a:r>
                      <a:r>
                        <a:rPr lang="en-US" sz="16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zh-CN" altLang="en-US" sz="16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“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full</a:t>
                      </a:r>
                      <a:r>
                        <a:rPr lang="en-US" sz="16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”</a:t>
                      </a:r>
                      <a:r>
                        <a:rPr 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分别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表示绘制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热力图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的下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三角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部分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上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三角</a:t>
                      </a:r>
                      <a:r>
                        <a:rPr lang="zh-CN" altLang="en-US" sz="16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部分或全部</a:t>
                      </a:r>
                      <a:r>
                        <a:rPr lang="zh-CN" altLang="en-US" sz="1600" dirty="0"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范围</a:t>
                      </a:r>
                      <a:endParaRPr lang="zh-CN" altLang="en-US" sz="16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17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4146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1B5E-6279-9A49-8F42-DE897671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3A2156D-41B8-B692-0A80-5FB773AE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830FADBB-28CF-B30E-D174-606286217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6E0E2F4-6F12-3D33-9F7C-33CE2449AB75}"/>
              </a:ext>
            </a:extLst>
          </p:cNvPr>
          <p:cNvSpPr txBox="1"/>
          <p:nvPr/>
        </p:nvSpPr>
        <p:spPr>
          <a:xfrm>
            <a:off x="1970809" y="1143000"/>
            <a:ext cx="5202382" cy="1697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corrplot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Green_Rate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"FAI_per_Land"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"TertI_Rate"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cor_data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corrplot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cor_data,method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"square"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07D2351-4B14-8D52-F35A-A430C6FE9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2971800"/>
            <a:ext cx="5111519" cy="383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7972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7F02F-01C2-2D0E-FFB1-E05A0141E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7CE75C-C792-0D66-CF06-8D28BE8D7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0C16D9D4-2173-0178-EFB7-B5A164609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5E660BE-68D7-2D6C-EA02-124DBD3E9EDC}"/>
              </a:ext>
            </a:extLst>
          </p:cNvPr>
          <p:cNvSpPr txBox="1"/>
          <p:nvPr/>
        </p:nvSpPr>
        <p:spPr>
          <a:xfrm>
            <a:off x="111702" y="1116259"/>
            <a:ext cx="8879898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通过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函数的相关参数修改相关性热力图样式，并进行层次聚类以更加直观地显示结果。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FA320B3-FD0D-705D-169C-C618FA4B7C99}"/>
              </a:ext>
            </a:extLst>
          </p:cNvPr>
          <p:cNvSpPr txBox="1"/>
          <p:nvPr/>
        </p:nvSpPr>
        <p:spPr>
          <a:xfrm>
            <a:off x="149802" y="1991766"/>
            <a:ext cx="8879898" cy="26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ts val="1425"/>
              </a:lnSpc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corrplot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order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hclust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addrect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addCoef.col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'black'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tl.pos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'd'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cl.pos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'r'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 = COL2(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PiYG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61184DA-3C2B-6CA2-297E-FB895756F1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734"/>
          <a:stretch/>
        </p:blipFill>
        <p:spPr>
          <a:xfrm>
            <a:off x="2000250" y="2286000"/>
            <a:ext cx="5143500" cy="447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81111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68B99-298D-FAC6-F0F6-B0F9DBBE1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853B17-265C-2D38-6EC2-6D6198C42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285DB214-6966-8BF4-6041-2AC77341F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4644F66-8C9E-01CB-88E9-98F73A659B5F}"/>
              </a:ext>
            </a:extLst>
          </p:cNvPr>
          <p:cNvSpPr txBox="1"/>
          <p:nvPr/>
        </p:nvSpPr>
        <p:spPr>
          <a:xfrm>
            <a:off x="149802" y="1104900"/>
            <a:ext cx="8879898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函数包提供了两种可视化方法混合制图的</a:t>
            </a: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corrplot.mixed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函数，在相关热力图中的上三角面板和下三角面板分别绘制不同的图形，以丰富信息表达。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A6DADA-B382-1EC7-493C-3863CAAF2D05}"/>
              </a:ext>
            </a:extLst>
          </p:cNvPr>
          <p:cNvSpPr txBox="1"/>
          <p:nvPr/>
        </p:nvSpPr>
        <p:spPr>
          <a:xfrm>
            <a:off x="1713201" y="2035995"/>
            <a:ext cx="5717598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corrplot.mixed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order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'AOE'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corrplot.mixed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cor_data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lower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'shade'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upper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'pie'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order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hclust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7D335BF-F1C4-2599-DA0B-52A4561DD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86"/>
          <a:stretch>
            <a:fillRect/>
          </a:stretch>
        </p:blipFill>
        <p:spPr>
          <a:xfrm>
            <a:off x="449315" y="2562130"/>
            <a:ext cx="4130675" cy="3605327"/>
          </a:xfrm>
          <a:prstGeom prst="rect">
            <a:avLst/>
          </a:prstGeom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874705-5EAD-AB7E-79CC-7136D21AF34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629"/>
          <a:stretch>
            <a:fillRect/>
          </a:stretch>
        </p:blipFill>
        <p:spPr>
          <a:xfrm>
            <a:off x="4562278" y="2562130"/>
            <a:ext cx="4200722" cy="360532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40629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F291D-3125-2997-15E9-5C32412D0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3EAEF5-9E7F-3EE3-5620-C07C43C81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5DB11E4C-BB8A-8351-35A4-53E0E6646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8CF6D1-A77C-E6B3-3B7D-EF33808CF61D}"/>
              </a:ext>
            </a:extLst>
          </p:cNvPr>
          <p:cNvSpPr txBox="1"/>
          <p:nvPr/>
        </p:nvSpPr>
        <p:spPr>
          <a:xfrm>
            <a:off x="149802" y="1066800"/>
            <a:ext cx="8879898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当变量较多或相关性特征较为复杂时，需要面对更加复杂的相关性分析需求。在</a:t>
            </a: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linkET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函数包中提供了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mantel_test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函数，能够评估两个矩阵之间的相关性，并将评估结果叠加绘制到相关性热力图中。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C99B06-9254-0389-1299-6B8D6F74E234}"/>
              </a:ext>
            </a:extLst>
          </p:cNvPr>
          <p:cNvSpPr txBox="1"/>
          <p:nvPr/>
        </p:nvSpPr>
        <p:spPr>
          <a:xfrm>
            <a:off x="139411" y="2346121"/>
            <a:ext cx="4546889" cy="40312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linkET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library(RColorBrewer)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dplyr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library(ggplot2)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selected_columns1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Rev_per_Land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,selected_columns1]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data_env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selected_columns2 &lt;- c(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"Pop"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Pop_Den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"Annual_AQI"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"Green_Rate"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Den_POI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"FAI_per_Land"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TertI_Rate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,selected_columns2]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as.data.frame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lapply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WHHP_att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as.numeric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data_spec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as.matrix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numeric_data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data_env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data_env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&lt;-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0.0001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data_spec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[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data_spec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 &lt;-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0.0001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C9BB1BE-963D-D374-04BF-650A11117336}"/>
              </a:ext>
            </a:extLst>
          </p:cNvPr>
          <p:cNvSpPr txBox="1"/>
          <p:nvPr/>
        </p:nvSpPr>
        <p:spPr>
          <a:xfrm>
            <a:off x="4569402" y="2082012"/>
            <a:ext cx="4536498" cy="456984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mantel &lt;-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mantel_test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data_spec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data_env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spec_select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(POP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 ENVIRONMENT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          ECONOMY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%&gt;%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mutate(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rd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cut(r, breaks = c(-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Inf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0.4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Inf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labels = c(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"&lt; 0.2"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"0.2 - 0.4"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"&gt;= 0.4"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pd = cut(p, breaks = c(-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Inf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0.01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0.05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Inf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labels = c(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"&lt; 0.01"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"0.01 - 0.05"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"&gt;= 0.05"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)))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qcorrplot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data_env,type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"lower"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diag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,is_corr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FALSE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geom_square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geom_couple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 = mantel,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colour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pd,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size =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rd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curvature =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nice_curvature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()) + 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scale_fill_gradientn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colours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brewer.pal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9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RdYlGn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scale_size_manual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(values = c(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scale_colour_manual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(values =c(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'#7AA15E'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'#B7B663'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'#CFCECC'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guides(size =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guide_legend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(title =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"Mantel's r"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override.aes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colour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"grey35"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order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colour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guide_legend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(title =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"Mantel's p"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override.aes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9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list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      order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fill = </a:t>
            </a:r>
            <a:r>
              <a:rPr lang="en-US" altLang="zh-CN" sz="9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guide_colorbar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(title = </a:t>
            </a:r>
            <a:r>
              <a:rPr lang="en-US" altLang="zh-CN" sz="9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"Pearson's r"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order = </a:t>
            </a:r>
            <a:r>
              <a:rPr lang="en-US" altLang="zh-CN" sz="9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9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9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097034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DB987-FA17-BFD6-26F4-2904BC636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233135-E1AA-EE1D-9569-ECD59399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3AF2258C-9A3E-ED14-E771-EE65A084F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5.3.4 </a:t>
            </a:r>
            <a:r>
              <a:rPr lang="zh-CN" altLang="en-US" sz="3600" dirty="0"/>
              <a:t>相关系数矩阵可视化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746DBD7-D578-6586-8E8E-0631E04C96A2}"/>
              </a:ext>
            </a:extLst>
          </p:cNvPr>
          <p:cNvSpPr txBox="1"/>
          <p:nvPr/>
        </p:nvSpPr>
        <p:spPr>
          <a:xfrm>
            <a:off x="149802" y="1066800"/>
            <a:ext cx="8879898" cy="1289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当变量较多或相关性特征较为复杂时，需要面对更加复杂的相关性分析需求。在</a:t>
            </a: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linkET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函数包中提供了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mantel_test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函数，能够评估两个矩阵之间的相关性，并将评估结果叠加绘制到相关性热力图中。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464C0C5-2CE0-8FD6-063A-F0D09317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42" b="4743"/>
          <a:stretch/>
        </p:blipFill>
        <p:spPr>
          <a:xfrm>
            <a:off x="1358915" y="2430692"/>
            <a:ext cx="6426170" cy="403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1219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40200-C5F9-36C9-A7DB-EE97E3BD6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1EBC4A-8C66-9366-08CC-4EB0F6C9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9D261577-4876-1B79-CD67-9E627583B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5.3.5 </a:t>
            </a:r>
            <a:r>
              <a:rPr lang="zh-CN" altLang="en-US" sz="3600" dirty="0"/>
              <a:t>平行坐标图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6471660-2F49-601F-0486-747377EC3511}"/>
              </a:ext>
            </a:extLst>
          </p:cNvPr>
          <p:cNvSpPr txBox="1"/>
          <p:nvPr/>
        </p:nvSpPr>
        <p:spPr>
          <a:xfrm>
            <a:off x="149802" y="1066800"/>
            <a:ext cx="8879898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平行坐标图（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Parallel coordinate 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PCP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）也称多线图或轮廓图（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Outline plot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），在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R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语言中，可以使用</a:t>
            </a:r>
            <a:r>
              <a:rPr lang="en-US" altLang="zh-CN" sz="1800" b="1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MASS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函数包中的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parcoord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函数绘制平行坐标图。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CD33E73-F7F9-C19C-92B7-25B3B766B9E2}"/>
              </a:ext>
            </a:extLst>
          </p:cNvPr>
          <p:cNvSpPr txBox="1"/>
          <p:nvPr/>
        </p:nvSpPr>
        <p:spPr>
          <a:xfrm>
            <a:off x="933450" y="1999253"/>
            <a:ext cx="7277100" cy="621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library(MASS)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data&lt;-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(WHHP)[,c(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"GDP_per_Land"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TertI_Rate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parcoord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(data)</a:t>
            </a:r>
            <a:endParaRPr lang="en-US" altLang="zh-CN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B5C649-D996-A82C-7A59-DC9AD88410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78" b="6244"/>
          <a:stretch/>
        </p:blipFill>
        <p:spPr>
          <a:xfrm>
            <a:off x="1522268" y="2727020"/>
            <a:ext cx="6099463" cy="387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295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D138-2D56-5FDF-8092-4A96140E5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2C1E66-A38F-A8CF-728E-31D5CA64A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92F4184-29B3-059A-C535-337DED1D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5.3.5 </a:t>
            </a:r>
            <a:r>
              <a:rPr lang="zh-CN" altLang="en-US" sz="3600" dirty="0"/>
              <a:t>平行坐标图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24C8993-EACD-BF46-9648-5E4137E136DB}"/>
              </a:ext>
            </a:extLst>
          </p:cNvPr>
          <p:cNvSpPr txBox="1"/>
          <p:nvPr/>
        </p:nvSpPr>
        <p:spPr>
          <a:xfrm>
            <a:off x="149802" y="1066800"/>
            <a:ext cx="8879898" cy="458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按照不同平均房价的区间水平进行划分，进而修改平行坐标图的绘制颜色。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02C026-7E39-1544-26B5-318D15CD1A30}"/>
              </a:ext>
            </a:extLst>
          </p:cNvPr>
          <p:cNvSpPr txBox="1"/>
          <p:nvPr/>
        </p:nvSpPr>
        <p:spPr>
          <a:xfrm>
            <a:off x="247650" y="1585840"/>
            <a:ext cx="8782050" cy="1160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st_drop_geometry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(WHHP)[,c(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Rev_per_Land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TertI_Rate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HP_level_num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)]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cols&lt;-c(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"#3288bd"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"#7fbc41"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"#ffffbf"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"#f46d43"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colors &lt;- cols[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</a:t>
            </a:r>
            <a:r>
              <a:rPr lang="en-US" altLang="zh-CN" sz="11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$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HP_level_num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]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parcoord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col = colors)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legend(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top"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,title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房价水平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,legend = c(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较低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较高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高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fill = 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cols,box.lwd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,horiz=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T,inset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=c(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,-</a:t>
            </a:r>
            <a:r>
              <a:rPr lang="en-US" altLang="zh-CN" sz="11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0.06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1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box.col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1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3EDCF0-726C-2942-F971-71F751BB52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86" b="6899"/>
          <a:stretch/>
        </p:blipFill>
        <p:spPr>
          <a:xfrm>
            <a:off x="1371600" y="2746094"/>
            <a:ext cx="6400800" cy="402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7304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5D6DF-CAFC-006B-2DB2-93FBB06A6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EEF385-22CC-43F5-AF7F-87CB27F5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6601D47A-FCFF-7E2E-319E-0118BFB7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5.3.5 </a:t>
            </a:r>
            <a:r>
              <a:rPr lang="zh-CN" altLang="en-US" sz="3600" dirty="0"/>
              <a:t>平行坐标图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6A0ECC7-9870-7806-9970-096A68C625BB}"/>
              </a:ext>
            </a:extLst>
          </p:cNvPr>
          <p:cNvSpPr txBox="1"/>
          <p:nvPr/>
        </p:nvSpPr>
        <p:spPr>
          <a:xfrm>
            <a:off x="149802" y="1066800"/>
            <a:ext cx="8879898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en-US" altLang="zh-CN" sz="1800" b="1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GGally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函数包中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ggparcoord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函数也可以绘制不同风格且集成度较高的平行坐标图，与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parcoord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函数绘制效果有较大不同。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44ED89E-D5A6-FE76-A7C0-51815B7392AE}"/>
              </a:ext>
            </a:extLst>
          </p:cNvPr>
          <p:cNvSpPr txBox="1"/>
          <p:nvPr/>
        </p:nvSpPr>
        <p:spPr>
          <a:xfrm>
            <a:off x="2714625" y="1928537"/>
            <a:ext cx="3714750" cy="44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library(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GGally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ggparcoord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columns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05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groupColumn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85AEA25-FD48-6429-8869-D41ED327C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6306" y="2445450"/>
            <a:ext cx="6211388" cy="417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8350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32C3-BEEA-31ED-596E-D631C1328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C157D4-7D90-69C0-B831-A435F836D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EBF073CA-CD28-9B5D-BB2D-9E7BAAB9A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5.3.5 </a:t>
            </a:r>
            <a:r>
              <a:rPr lang="zh-CN" altLang="en-US" sz="3600" dirty="0"/>
              <a:t>平行坐标图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EEC73FC-7447-222C-F021-3FD424FD99BE}"/>
              </a:ext>
            </a:extLst>
          </p:cNvPr>
          <p:cNvSpPr txBox="1"/>
          <p:nvPr/>
        </p:nvSpPr>
        <p:spPr>
          <a:xfrm>
            <a:off x="149802" y="1066800"/>
            <a:ext cx="8879898" cy="874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457200" algn="just">
              <a:lnSpc>
                <a:spcPct val="150000"/>
              </a:lnSpc>
            </a:pP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ggparcoord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函数默认的归一化方法为标准差归一化方法，而</a:t>
            </a:r>
            <a:r>
              <a:rPr lang="en-US" altLang="zh-CN" sz="1800" dirty="0" err="1">
                <a:effectLst/>
                <a:latin typeface="+mn-lt"/>
                <a:ea typeface="+mn-ea"/>
                <a:cs typeface="Times New Roman" panose="02020603050405020304" pitchFamily="18" charset="0"/>
              </a:rPr>
              <a:t>parcoord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函数采用的归一化方法为最大</a:t>
            </a:r>
            <a:r>
              <a:rPr lang="en-US" altLang="zh-CN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-</a:t>
            </a:r>
            <a:r>
              <a:rPr lang="zh-CN" altLang="en-US" sz="1800" dirty="0">
                <a:effectLst/>
                <a:latin typeface="+mn-lt"/>
                <a:ea typeface="+mn-ea"/>
                <a:cs typeface="Times New Roman" panose="02020603050405020304" pitchFamily="18" charset="0"/>
              </a:rPr>
              <a:t>最小值归一化方法。</a:t>
            </a:r>
            <a:endParaRPr lang="zh-CN" altLang="en-US" sz="1800" dirty="0">
              <a:effectLst/>
              <a:latin typeface="+mn-lt"/>
              <a:ea typeface="+mn-ea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9BE8996-9AB7-DDA8-717F-88D02D899555}"/>
              </a:ext>
            </a:extLst>
          </p:cNvPr>
          <p:cNvSpPr txBox="1"/>
          <p:nvPr/>
        </p:nvSpPr>
        <p:spPr>
          <a:xfrm>
            <a:off x="1009650" y="2001339"/>
            <a:ext cx="712470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ggparcoord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columns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groupColumn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,scale=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uniminmax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'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showPoints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=T)  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F93E35-1A55-EA3C-D147-6E76A537F1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288" y="2392835"/>
            <a:ext cx="5700926" cy="4274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9648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05114-7C78-5D10-7479-CEFFD6664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4">
            <a:extLst>
              <a:ext uri="{FF2B5EF4-FFF2-40B4-BE49-F238E27FC236}">
                <a16:creationId xmlns:a16="http://schemas.microsoft.com/office/drawing/2014/main" id="{A17F6EE7-3551-6EBE-A112-F0AA96A0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CN" sz="3600" dirty="0"/>
              <a:t>5.4 </a:t>
            </a:r>
            <a:r>
              <a:rPr lang="zh-CN" altLang="en-US" sz="3600" dirty="0"/>
              <a:t>趣味可视化案例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2665EA-EACE-6C7D-AA14-7B1CD828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>
                <a:sym typeface="Consolas" panose="020B0609020204030204" pitchFamily="49" charset="0"/>
              </a:rPr>
              <a:pPr>
                <a:lnSpc>
                  <a:spcPct val="120000"/>
                </a:lnSpc>
              </a:pPr>
              <a:t>66</a:t>
            </a:fld>
            <a:endParaRPr lang="zh-CN" altLang="en-US" dirty="0">
              <a:sym typeface="Consolas" panose="020B0609020204030204" pitchFamily="49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AD29DC0-0544-4370-8535-0AAF84B91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637" y="1676400"/>
            <a:ext cx="5038725" cy="50387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8A96BF6-DE87-1A03-A343-8CE1E9D8FB23}"/>
              </a:ext>
            </a:extLst>
          </p:cNvPr>
          <p:cNvSpPr txBox="1"/>
          <p:nvPr/>
        </p:nvSpPr>
        <p:spPr>
          <a:xfrm>
            <a:off x="1418574" y="1219200"/>
            <a:ext cx="6306849" cy="58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跟随书中的代码尝试绘制冰墩墩吧！</a:t>
            </a:r>
            <a:endParaRPr lang="zh-CN" altLang="en-US" sz="2400" b="1" dirty="0">
              <a:solidFill>
                <a:schemeClr val="accent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22912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174625"/>
            <a:ext cx="6896099" cy="663575"/>
          </a:xfrm>
        </p:spPr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169501A-70AB-40D4-B144-E9884F45072F}" type="slidenum">
              <a:rPr lang="zh-CN" altLang="en-US" smtClean="0">
                <a:solidFill>
                  <a:schemeClr val="bg1">
                    <a:lumMod val="65000"/>
                  </a:schemeClr>
                </a:solidFill>
              </a:rPr>
              <a:t>67</a:t>
            </a:fld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AutoShape 2" descr="https://wx.qq.com/cgi-bin/mmwebwx-bin/webwxgetmsgimg?&amp;MsgID=1011342995928164582&amp;skey=%40crypt_f86d81c0_f5935c9dae5f61551a58979cad691918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90" y="1418579"/>
            <a:ext cx="3274810" cy="46012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440809"/>
            <a:ext cx="3353787" cy="4578991"/>
          </a:xfrm>
          <a:prstGeom prst="rect">
            <a:avLst/>
          </a:prstGeom>
          <a:ln>
            <a:solidFill>
              <a:srgbClr val="F9FAFC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90"/>
      </a:accent1>
      <a:accent2>
        <a:srgbClr val="FFC000"/>
      </a:accent2>
      <a:accent3>
        <a:srgbClr val="FFFF00"/>
      </a:accent3>
      <a:accent4>
        <a:srgbClr val="00B050"/>
      </a:accent4>
      <a:accent5>
        <a:srgbClr val="00B0F0"/>
      </a:accent5>
      <a:accent6>
        <a:srgbClr val="0070C0"/>
      </a:accent6>
      <a:hlink>
        <a:srgbClr val="7030A0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澹泊明志宁静致远</Template>
  <TotalTime>1555</TotalTime>
  <Words>8763</Words>
  <Application>Microsoft Office PowerPoint</Application>
  <PresentationFormat>全屏显示(4:3)</PresentationFormat>
  <Paragraphs>762</Paragraphs>
  <Slides>67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67</vt:i4>
      </vt:variant>
    </vt:vector>
  </HeadingPairs>
  <TitlesOfParts>
    <vt:vector size="76" baseType="lpstr">
      <vt:lpstr>等线</vt:lpstr>
      <vt:lpstr>宋体</vt:lpstr>
      <vt:lpstr>Arial</vt:lpstr>
      <vt:lpstr>Calibri</vt:lpstr>
      <vt:lpstr>Cambria</vt:lpstr>
      <vt:lpstr>Consolas</vt:lpstr>
      <vt:lpstr>Times New Roman</vt:lpstr>
      <vt:lpstr>Wingdings</vt:lpstr>
      <vt:lpstr>Office 主题​​</vt:lpstr>
      <vt:lpstr>第五章 基础数据统计可视化</vt:lpstr>
      <vt:lpstr>PowerPoint 演示文稿</vt:lpstr>
      <vt:lpstr>5.1 章节R函数包准备</vt:lpstr>
      <vt:lpstr>5.2 基础统计图表绘制</vt:lpstr>
      <vt:lpstr>5.2.1 基础绘图参数</vt:lpstr>
      <vt:lpstr>5.2.1 基础绘图参数</vt:lpstr>
      <vt:lpstr>5.2.1 基础绘图参数</vt:lpstr>
      <vt:lpstr>5.2.1 基础绘图参数</vt:lpstr>
      <vt:lpstr>5.2.1 基础绘图参数</vt:lpstr>
      <vt:lpstr>5.2.1 基础绘图参数</vt:lpstr>
      <vt:lpstr>5.2.1 基础绘图参数</vt:lpstr>
      <vt:lpstr>5.2.2 散点图</vt:lpstr>
      <vt:lpstr>5.2.2 散点图</vt:lpstr>
      <vt:lpstr>5.2.2 散点图</vt:lpstr>
      <vt:lpstr>5.2.3 折线图</vt:lpstr>
      <vt:lpstr>5.2.3 折线图</vt:lpstr>
      <vt:lpstr>5.2.3 折线图</vt:lpstr>
      <vt:lpstr>5.2.4 直方图</vt:lpstr>
      <vt:lpstr>5.2.4 直方图</vt:lpstr>
      <vt:lpstr>5.2.4 直方图</vt:lpstr>
      <vt:lpstr>5.2.4 直方图</vt:lpstr>
      <vt:lpstr>5.2.4 直方图</vt:lpstr>
      <vt:lpstr>5.2.5 条形图</vt:lpstr>
      <vt:lpstr>5.2.5 条形图</vt:lpstr>
      <vt:lpstr>5.2.5 条形图</vt:lpstr>
      <vt:lpstr>5.2.5 条形图</vt:lpstr>
      <vt:lpstr>5.2.6 箱线图</vt:lpstr>
      <vt:lpstr>5.2.6 箱线图</vt:lpstr>
      <vt:lpstr>5.3 多源数据可视化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5.3.1 高维可视化</vt:lpstr>
      <vt:lpstr>5.3.2 散点图矩阵</vt:lpstr>
      <vt:lpstr>5.3.2 散点图矩阵</vt:lpstr>
      <vt:lpstr>5.3.2 散点图矩阵</vt:lpstr>
      <vt:lpstr>5.3.2 散点图矩阵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5.3.3 热力图</vt:lpstr>
      <vt:lpstr>5.3.4 相关系数矩阵可视化</vt:lpstr>
      <vt:lpstr>5.3.4 相关系数矩阵可视化</vt:lpstr>
      <vt:lpstr>5.3.4 相关系数矩阵可视化</vt:lpstr>
      <vt:lpstr>5.3.4 相关系数矩阵可视化</vt:lpstr>
      <vt:lpstr>5.3.4 相关系数矩阵可视化</vt:lpstr>
      <vt:lpstr>5.3.4 相关系数矩阵可视化</vt:lpstr>
      <vt:lpstr>5.3.5 平行坐标图</vt:lpstr>
      <vt:lpstr>5.3.5 平行坐标图</vt:lpstr>
      <vt:lpstr>5.3.5 平行坐标图</vt:lpstr>
      <vt:lpstr>5.3.5 平行坐标图</vt:lpstr>
      <vt:lpstr>5.4 趣味可视化案例</vt:lpstr>
      <vt:lpstr>参考教材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怡彤 丁</cp:lastModifiedBy>
  <cp:revision>236</cp:revision>
  <dcterms:created xsi:type="dcterms:W3CDTF">2019-05-21T17:53:53Z</dcterms:created>
  <dcterms:modified xsi:type="dcterms:W3CDTF">2025-04-01T09:52:26Z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1033-1.0.0.1304</vt:lpwstr>
  </property>
</Properties>
</file>