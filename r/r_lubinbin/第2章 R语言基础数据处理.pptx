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6"/>
  </p:notesMasterIdLst>
  <p:handoutMasterIdLst>
    <p:handoutMasterId r:id="rId57"/>
  </p:handoutMasterIdLst>
  <p:sldIdLst>
    <p:sldId id="256" r:id="rId2"/>
    <p:sldId id="835" r:id="rId3"/>
    <p:sldId id="867" r:id="rId4"/>
    <p:sldId id="915" r:id="rId5"/>
    <p:sldId id="305" r:id="rId6"/>
    <p:sldId id="331" r:id="rId7"/>
    <p:sldId id="871" r:id="rId8"/>
    <p:sldId id="872" r:id="rId9"/>
    <p:sldId id="873" r:id="rId10"/>
    <p:sldId id="874" r:id="rId11"/>
    <p:sldId id="875" r:id="rId12"/>
    <p:sldId id="876" r:id="rId13"/>
    <p:sldId id="877" r:id="rId14"/>
    <p:sldId id="306" r:id="rId15"/>
    <p:sldId id="878" r:id="rId16"/>
    <p:sldId id="879" r:id="rId17"/>
    <p:sldId id="880" r:id="rId18"/>
    <p:sldId id="330" r:id="rId19"/>
    <p:sldId id="881" r:id="rId20"/>
    <p:sldId id="882" r:id="rId21"/>
    <p:sldId id="883" r:id="rId22"/>
    <p:sldId id="885" r:id="rId23"/>
    <p:sldId id="884" r:id="rId24"/>
    <p:sldId id="886" r:id="rId25"/>
    <p:sldId id="887" r:id="rId26"/>
    <p:sldId id="626" r:id="rId27"/>
    <p:sldId id="335" r:id="rId28"/>
    <p:sldId id="888" r:id="rId29"/>
    <p:sldId id="889" r:id="rId30"/>
    <p:sldId id="891" r:id="rId31"/>
    <p:sldId id="892" r:id="rId32"/>
    <p:sldId id="893" r:id="rId33"/>
    <p:sldId id="895" r:id="rId34"/>
    <p:sldId id="896" r:id="rId35"/>
    <p:sldId id="897" r:id="rId36"/>
    <p:sldId id="385" r:id="rId37"/>
    <p:sldId id="898" r:id="rId38"/>
    <p:sldId id="899" r:id="rId39"/>
    <p:sldId id="900" r:id="rId40"/>
    <p:sldId id="901" r:id="rId41"/>
    <p:sldId id="902" r:id="rId42"/>
    <p:sldId id="903" r:id="rId43"/>
    <p:sldId id="904" r:id="rId44"/>
    <p:sldId id="905" r:id="rId45"/>
    <p:sldId id="906" r:id="rId46"/>
    <p:sldId id="907" r:id="rId47"/>
    <p:sldId id="908" r:id="rId48"/>
    <p:sldId id="909" r:id="rId49"/>
    <p:sldId id="910" r:id="rId50"/>
    <p:sldId id="911" r:id="rId51"/>
    <p:sldId id="912" r:id="rId52"/>
    <p:sldId id="913" r:id="rId53"/>
    <p:sldId id="914" r:id="rId54"/>
    <p:sldId id="624" r:id="rId55"/>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84" userDrawn="1">
          <p15:clr>
            <a:srgbClr val="A4A3A4"/>
          </p15:clr>
        </p15:guide>
        <p15:guide id="2" pos="285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怡彤 丁" initials="怡丁" lastIdx="1" clrIdx="0">
    <p:extLst>
      <p:ext uri="{19B8F6BF-5375-455C-9EA6-DF929625EA0E}">
        <p15:presenceInfo xmlns:p15="http://schemas.microsoft.com/office/powerpoint/2012/main" userId="2f2dd4a306a755cc" providerId="Windows Live"/>
      </p:ext>
    </p:extLst>
  </p:cmAuthor>
  <p:cmAuthor id="2" name="Yiyun Zhang" initials="YZ" lastIdx="1" clrIdx="1">
    <p:extLst>
      <p:ext uri="{19B8F6BF-5375-455C-9EA6-DF929625EA0E}">
        <p15:presenceInfo xmlns:p15="http://schemas.microsoft.com/office/powerpoint/2012/main" userId="ff1f7906396e345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AFC"/>
    <a:srgbClr val="074996"/>
    <a:srgbClr val="2D22C0"/>
    <a:srgbClr val="160A02"/>
    <a:srgbClr val="F13B09"/>
    <a:srgbClr val="F75529"/>
    <a:srgbClr val="170401"/>
    <a:srgbClr val="170A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31" autoAdjust="0"/>
    <p:restoredTop sz="93536" autoAdjust="0"/>
  </p:normalViewPr>
  <p:slideViewPr>
    <p:cSldViewPr showGuides="1">
      <p:cViewPr varScale="1">
        <p:scale>
          <a:sx n="99" d="100"/>
          <a:sy n="99" d="100"/>
        </p:scale>
        <p:origin x="1686" y="84"/>
      </p:cViewPr>
      <p:guideLst>
        <p:guide orient="horz" pos="2184"/>
        <p:guide pos="2856"/>
      </p:guideLst>
    </p:cSldViewPr>
  </p:slideViewPr>
  <p:outlineViewPr>
    <p:cViewPr>
      <p:scale>
        <a:sx n="33" d="100"/>
        <a:sy n="33" d="100"/>
      </p:scale>
      <p:origin x="0" y="0"/>
    </p:cViewPr>
  </p:outlineViewPr>
  <p:notesTextViewPr>
    <p:cViewPr>
      <p:scale>
        <a:sx n="3" d="2"/>
        <a:sy n="3" d="2"/>
      </p:scale>
      <p:origin x="0" y="0"/>
    </p:cViewPr>
  </p:notesTextViewPr>
  <p:notesViewPr>
    <p:cSldViewPr>
      <p:cViewPr varScale="1">
        <p:scale>
          <a:sx n="62" d="100"/>
          <a:sy n="62" d="100"/>
        </p:scale>
        <p:origin x="2299" y="58"/>
      </p:cViewPr>
      <p:guideLst/>
    </p:cSldViewPr>
  </p:notesViewPr>
  <p:gridSpacing cx="38100" cy="381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2C7DB12-D159-4442-8014-437DE5BA55C7}" type="datetimeFigureOut">
              <a:rPr lang="zh-CN" altLang="en-US" smtClean="0"/>
              <a:t>2025-04-07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2B4347-C9BC-4556-8FC3-B2E0153CF995}"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a:latin typeface="Arial" panose="020B0604020202020204" pitchFamily="34" charset="0"/>
                <a:ea typeface="宋体" panose="02010600030101010101"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a:latin typeface="Arial" panose="020B0604020202020204" pitchFamily="34" charset="0"/>
                <a:ea typeface="宋体" panose="02010600030101010101" pitchFamily="2" charset="-122"/>
              </a:defRPr>
            </a:lvl1pPr>
          </a:lstStyle>
          <a:p>
            <a:pPr>
              <a:defRPr/>
            </a:pPr>
            <a:fld id="{0128E977-6F5A-48DB-ACA7-C6E15821CB3C}" type="datetimeFigureOut">
              <a:rPr lang="zh-CN" altLang="en-US"/>
              <a:t>2025-04-07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defRPr sz="1200">
                <a:latin typeface="Arial" panose="020B0604020202020204" pitchFamily="34" charset="0"/>
                <a:ea typeface="宋体" panose="02010600030101010101" pitchFamily="2"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hangingPunct="1">
              <a:defRPr sz="1200">
                <a:latin typeface="Arial" panose="020B0604020202020204" pitchFamily="34" charset="0"/>
                <a:ea typeface="宋体" panose="02010600030101010101" pitchFamily="2" charset="-122"/>
              </a:defRPr>
            </a:lvl1pPr>
          </a:lstStyle>
          <a:p>
            <a:pPr>
              <a:defRPr/>
            </a:pPr>
            <a:fld id="{5F5AD7FC-C08A-4786-B2D8-ABE422D63548}" type="slidenum">
              <a:rPr lang="zh-CN" altLang="en-US"/>
              <a:t>‹#›</a:t>
            </a:fld>
            <a:endParaRPr lang="zh-CN"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F5AD7FC-C08A-4786-B2D8-ABE422D63548}"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幻灯片图像占位符 1"/>
          <p:cNvSpPr>
            <a:spLocks noGrp="1" noRot="1" noChangeAspect="1" noTextEdit="1"/>
          </p:cNvSpPr>
          <p:nvPr>
            <p:ph type="sldImg"/>
          </p:nvPr>
        </p:nvSpPr>
        <p:spPr bwMode="auto">
          <a:xfrm>
            <a:off x="1371600" y="1143000"/>
            <a:ext cx="41148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8130"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48131"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C8FC65C-FC7A-4192-9B2D-44DFEE13D478}" type="slidenum">
              <a:rPr lang="zh-CN" altLang="en-US" smtClean="0"/>
              <a:t>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pic>
        <p:nvPicPr>
          <p:cNvPr id="159" name="图片 15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57956"/>
            <a:ext cx="9144000" cy="2932680"/>
          </a:xfrm>
          <a:prstGeom prst="rect">
            <a:avLst/>
          </a:prstGeom>
        </p:spPr>
      </p:pic>
      <p:sp>
        <p:nvSpPr>
          <p:cNvPr id="2" name="标题 1"/>
          <p:cNvSpPr>
            <a:spLocks noGrp="1"/>
          </p:cNvSpPr>
          <p:nvPr>
            <p:ph type="ctrTitle"/>
          </p:nvPr>
        </p:nvSpPr>
        <p:spPr>
          <a:xfrm>
            <a:off x="692934" y="3924304"/>
            <a:ext cx="7772400" cy="746125"/>
          </a:xfrm>
          <a:prstGeom prst="rect">
            <a:avLst/>
          </a:prstGeom>
        </p:spPr>
        <p:txBody>
          <a:bodyPr/>
          <a:lstStyle/>
          <a:p>
            <a:r>
              <a:rPr lang="zh-CN" altLang="en-US" dirty="0"/>
              <a:t>单击此处编辑母版标题样式</a:t>
            </a:r>
          </a:p>
        </p:txBody>
      </p:sp>
      <p:sp>
        <p:nvSpPr>
          <p:cNvPr id="3" name="副标题 2"/>
          <p:cNvSpPr>
            <a:spLocks noGrp="1"/>
          </p:cNvSpPr>
          <p:nvPr>
            <p:ph type="subTitle" idx="1"/>
          </p:nvPr>
        </p:nvSpPr>
        <p:spPr>
          <a:xfrm>
            <a:off x="1371600" y="4914904"/>
            <a:ext cx="6400800" cy="746125"/>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82" name="任意形状 36"/>
          <p:cNvSpPr/>
          <p:nvPr userDrawn="1"/>
        </p:nvSpPr>
        <p:spPr>
          <a:xfrm>
            <a:off x="-138132" y="-147919"/>
            <a:ext cx="9434532" cy="3238555"/>
          </a:xfrm>
          <a:custGeom>
            <a:avLst/>
            <a:gdLst>
              <a:gd name="connsiteX0" fmla="*/ 0 w 12192000"/>
              <a:gd name="connsiteY0" fmla="*/ 0 h 3632200"/>
              <a:gd name="connsiteX1" fmla="*/ 12192000 w 12192000"/>
              <a:gd name="connsiteY1" fmla="*/ 0 h 3632200"/>
              <a:gd name="connsiteX2" fmla="*/ 12192000 w 12192000"/>
              <a:gd name="connsiteY2" fmla="*/ 2602097 h 3632200"/>
              <a:gd name="connsiteX3" fmla="*/ 11858362 w 12192000"/>
              <a:gd name="connsiteY3" fmla="*/ 2747371 h 3632200"/>
              <a:gd name="connsiteX4" fmla="*/ 6859519 w 12192000"/>
              <a:gd name="connsiteY4" fmla="*/ 3619648 h 3632200"/>
              <a:gd name="connsiteX5" fmla="*/ 6096062 w 12192000"/>
              <a:gd name="connsiteY5" fmla="*/ 3632200 h 3632200"/>
              <a:gd name="connsiteX6" fmla="*/ 6095939 w 12192000"/>
              <a:gd name="connsiteY6" fmla="*/ 3632200 h 3632200"/>
              <a:gd name="connsiteX7" fmla="*/ 5332482 w 12192000"/>
              <a:gd name="connsiteY7" fmla="*/ 3619648 h 3632200"/>
              <a:gd name="connsiteX8" fmla="*/ 333638 w 12192000"/>
              <a:gd name="connsiteY8" fmla="*/ 2747371 h 3632200"/>
              <a:gd name="connsiteX9" fmla="*/ 0 w 12192000"/>
              <a:gd name="connsiteY9" fmla="*/ 2602097 h 363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632200">
                <a:moveTo>
                  <a:pt x="0" y="0"/>
                </a:moveTo>
                <a:lnTo>
                  <a:pt x="12192000" y="0"/>
                </a:lnTo>
                <a:lnTo>
                  <a:pt x="12192000" y="2602097"/>
                </a:lnTo>
                <a:lnTo>
                  <a:pt x="11858362" y="2747371"/>
                </a:lnTo>
                <a:cubicBezTo>
                  <a:pt x="10640880" y="3227716"/>
                  <a:pt x="8867829" y="3553239"/>
                  <a:pt x="6859519" y="3619648"/>
                </a:cubicBezTo>
                <a:lnTo>
                  <a:pt x="6096062" y="3632200"/>
                </a:lnTo>
                <a:lnTo>
                  <a:pt x="6095939" y="3632200"/>
                </a:lnTo>
                <a:lnTo>
                  <a:pt x="5332482" y="3619648"/>
                </a:lnTo>
                <a:cubicBezTo>
                  <a:pt x="3324171" y="3553239"/>
                  <a:pt x="1551120" y="3227716"/>
                  <a:pt x="333638" y="2747371"/>
                </a:cubicBezTo>
                <a:lnTo>
                  <a:pt x="0" y="2602097"/>
                </a:lnTo>
                <a:close/>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Autofit/>
          </a:bodyPr>
          <a:lstStyle/>
          <a:p>
            <a:pPr algn="l">
              <a:lnSpc>
                <a:spcPct val="130000"/>
              </a:lnSpc>
            </a:pPr>
            <a:endParaRPr kumimoji="1" lang="zh-CN" altLang="en-US" sz="2000" dirty="0">
              <a:solidFill>
                <a:schemeClr val="tx1">
                  <a:lumMod val="75000"/>
                  <a:lumOff val="25000"/>
                </a:schemeClr>
              </a:solidFill>
            </a:endParaRPr>
          </a:p>
        </p:txBody>
      </p:sp>
      <p:sp>
        <p:nvSpPr>
          <p:cNvPr id="84" name="矩形 83"/>
          <p:cNvSpPr/>
          <p:nvPr userDrawn="1"/>
        </p:nvSpPr>
        <p:spPr>
          <a:xfrm>
            <a:off x="0" y="0"/>
            <a:ext cx="9144000" cy="163286"/>
          </a:xfrm>
          <a:prstGeom prst="rect">
            <a:avLst/>
          </a:prstGeom>
          <a:solidFill>
            <a:schemeClr val="accent1">
              <a:lumMod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fontScale="25000" lnSpcReduction="20000"/>
          </a:bodyPr>
          <a:lstStyle/>
          <a:p>
            <a:pPr algn="l">
              <a:lnSpc>
                <a:spcPct val="130000"/>
              </a:lnSpc>
            </a:pPr>
            <a:endParaRPr kumimoji="1" lang="zh-CN" altLang="en-US" sz="2000" dirty="0">
              <a:solidFill>
                <a:schemeClr val="tx1">
                  <a:lumMod val="75000"/>
                  <a:lumOff val="25000"/>
                </a:schemeClr>
              </a:solidFill>
            </a:endParaRPr>
          </a:p>
        </p:txBody>
      </p:sp>
      <p:grpSp>
        <p:nvGrpSpPr>
          <p:cNvPr id="85" name="组合 84"/>
          <p:cNvGrpSpPr/>
          <p:nvPr userDrawn="1"/>
        </p:nvGrpSpPr>
        <p:grpSpPr>
          <a:xfrm>
            <a:off x="3962400" y="2400300"/>
            <a:ext cx="1219200" cy="1231468"/>
            <a:chOff x="6678206" y="3208602"/>
            <a:chExt cx="1219200" cy="1231468"/>
          </a:xfrm>
        </p:grpSpPr>
        <p:sp>
          <p:nvSpPr>
            <p:cNvPr id="86" name="椭圆 85"/>
            <p:cNvSpPr/>
            <p:nvPr/>
          </p:nvSpPr>
          <p:spPr>
            <a:xfrm>
              <a:off x="6683774" y="3226438"/>
              <a:ext cx="1213632" cy="12136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rmAutofit/>
            </a:bodyPr>
            <a:lstStyle/>
            <a:p>
              <a:pPr algn="l">
                <a:lnSpc>
                  <a:spcPct val="130000"/>
                </a:lnSpc>
              </a:pPr>
              <a:endParaRPr kumimoji="1" lang="zh-CN" altLang="en-US" sz="2000" dirty="0">
                <a:solidFill>
                  <a:schemeClr val="tx1">
                    <a:lumMod val="75000"/>
                    <a:lumOff val="25000"/>
                  </a:schemeClr>
                </a:solidFill>
              </a:endParaRPr>
            </a:p>
          </p:txBody>
        </p:sp>
        <p:grpSp>
          <p:nvGrpSpPr>
            <p:cNvPr id="87" name="íšḻîďê"/>
            <p:cNvGrpSpPr/>
            <p:nvPr/>
          </p:nvGrpSpPr>
          <p:grpSpPr>
            <a:xfrm>
              <a:off x="6678206" y="3208602"/>
              <a:ext cx="1219200" cy="1227234"/>
              <a:chOff x="3551238" y="3067050"/>
              <a:chExt cx="722313" cy="727075"/>
            </a:xfrm>
          </p:grpSpPr>
          <p:sp>
            <p:nvSpPr>
              <p:cNvPr id="88" name="ïş1íḍê"/>
              <p:cNvSpPr/>
              <p:nvPr/>
            </p:nvSpPr>
            <p:spPr bwMode="auto">
              <a:xfrm>
                <a:off x="3575051" y="3087688"/>
                <a:ext cx="673100" cy="679450"/>
              </a:xfrm>
              <a:custGeom>
                <a:avLst/>
                <a:gdLst>
                  <a:gd name="T0" fmla="*/ 102 w 204"/>
                  <a:gd name="T1" fmla="*/ 0 h 204"/>
                  <a:gd name="T2" fmla="*/ 204 w 204"/>
                  <a:gd name="T3" fmla="*/ 102 h 204"/>
                  <a:gd name="T4" fmla="*/ 102 w 204"/>
                  <a:gd name="T5" fmla="*/ 204 h 204"/>
                  <a:gd name="T6" fmla="*/ 0 w 204"/>
                  <a:gd name="T7" fmla="*/ 102 h 204"/>
                  <a:gd name="T8" fmla="*/ 102 w 204"/>
                  <a:gd name="T9" fmla="*/ 0 h 204"/>
                  <a:gd name="T10" fmla="*/ 102 w 204"/>
                  <a:gd name="T11" fmla="*/ 25 h 204"/>
                  <a:gd name="T12" fmla="*/ 24 w 204"/>
                  <a:gd name="T13" fmla="*/ 103 h 204"/>
                  <a:gd name="T14" fmla="*/ 102 w 204"/>
                  <a:gd name="T15" fmla="*/ 181 h 204"/>
                  <a:gd name="T16" fmla="*/ 180 w 204"/>
                  <a:gd name="T17" fmla="*/ 103 h 204"/>
                  <a:gd name="T18" fmla="*/ 102 w 204"/>
                  <a:gd name="T19" fmla="*/ 25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4" h="204">
                    <a:moveTo>
                      <a:pt x="102" y="0"/>
                    </a:moveTo>
                    <a:cubicBezTo>
                      <a:pt x="159" y="0"/>
                      <a:pt x="204" y="46"/>
                      <a:pt x="204" y="102"/>
                    </a:cubicBezTo>
                    <a:cubicBezTo>
                      <a:pt x="204" y="158"/>
                      <a:pt x="159" y="204"/>
                      <a:pt x="102" y="204"/>
                    </a:cubicBezTo>
                    <a:cubicBezTo>
                      <a:pt x="46" y="204"/>
                      <a:pt x="0" y="158"/>
                      <a:pt x="0" y="102"/>
                    </a:cubicBezTo>
                    <a:cubicBezTo>
                      <a:pt x="0" y="46"/>
                      <a:pt x="46" y="0"/>
                      <a:pt x="102" y="0"/>
                    </a:cubicBezTo>
                    <a:close/>
                    <a:moveTo>
                      <a:pt x="102" y="25"/>
                    </a:moveTo>
                    <a:cubicBezTo>
                      <a:pt x="59" y="25"/>
                      <a:pt x="24" y="60"/>
                      <a:pt x="24" y="103"/>
                    </a:cubicBezTo>
                    <a:cubicBezTo>
                      <a:pt x="24" y="146"/>
                      <a:pt x="59" y="181"/>
                      <a:pt x="102" y="181"/>
                    </a:cubicBezTo>
                    <a:cubicBezTo>
                      <a:pt x="145" y="181"/>
                      <a:pt x="180" y="146"/>
                      <a:pt x="180" y="103"/>
                    </a:cubicBezTo>
                    <a:cubicBezTo>
                      <a:pt x="180" y="60"/>
                      <a:pt x="145" y="25"/>
                      <a:pt x="102" y="25"/>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89" name="íšḻïḍè"/>
              <p:cNvSpPr/>
              <p:nvPr/>
            </p:nvSpPr>
            <p:spPr bwMode="auto">
              <a:xfrm>
                <a:off x="3621088" y="3103563"/>
                <a:ext cx="584200" cy="203200"/>
              </a:xfrm>
              <a:custGeom>
                <a:avLst/>
                <a:gdLst>
                  <a:gd name="T0" fmla="*/ 8 w 177"/>
                  <a:gd name="T1" fmla="*/ 53 h 61"/>
                  <a:gd name="T2" fmla="*/ 0 w 177"/>
                  <a:gd name="T3" fmla="*/ 56 h 61"/>
                  <a:gd name="T4" fmla="*/ 5 w 177"/>
                  <a:gd name="T5" fmla="*/ 52 h 61"/>
                  <a:gd name="T6" fmla="*/ 4 w 177"/>
                  <a:gd name="T7" fmla="*/ 50 h 61"/>
                  <a:gd name="T8" fmla="*/ 5 w 177"/>
                  <a:gd name="T9" fmla="*/ 48 h 61"/>
                  <a:gd name="T10" fmla="*/ 10 w 177"/>
                  <a:gd name="T11" fmla="*/ 41 h 61"/>
                  <a:gd name="T12" fmla="*/ 17 w 177"/>
                  <a:gd name="T13" fmla="*/ 50 h 61"/>
                  <a:gd name="T14" fmla="*/ 14 w 177"/>
                  <a:gd name="T15" fmla="*/ 35 h 61"/>
                  <a:gd name="T16" fmla="*/ 23 w 177"/>
                  <a:gd name="T17" fmla="*/ 46 h 61"/>
                  <a:gd name="T18" fmla="*/ 31 w 177"/>
                  <a:gd name="T19" fmla="*/ 38 h 61"/>
                  <a:gd name="T20" fmla="*/ 29 w 177"/>
                  <a:gd name="T21" fmla="*/ 40 h 61"/>
                  <a:gd name="T22" fmla="*/ 18 w 177"/>
                  <a:gd name="T23" fmla="*/ 32 h 61"/>
                  <a:gd name="T24" fmla="*/ 19 w 177"/>
                  <a:gd name="T25" fmla="*/ 30 h 61"/>
                  <a:gd name="T26" fmla="*/ 21 w 177"/>
                  <a:gd name="T27" fmla="*/ 27 h 61"/>
                  <a:gd name="T28" fmla="*/ 41 w 177"/>
                  <a:gd name="T29" fmla="*/ 29 h 61"/>
                  <a:gd name="T30" fmla="*/ 43 w 177"/>
                  <a:gd name="T31" fmla="*/ 29 h 61"/>
                  <a:gd name="T32" fmla="*/ 35 w 177"/>
                  <a:gd name="T33" fmla="*/ 35 h 61"/>
                  <a:gd name="T34" fmla="*/ 31 w 177"/>
                  <a:gd name="T35" fmla="*/ 21 h 61"/>
                  <a:gd name="T36" fmla="*/ 46 w 177"/>
                  <a:gd name="T37" fmla="*/ 11 h 61"/>
                  <a:gd name="T38" fmla="*/ 47 w 177"/>
                  <a:gd name="T39" fmla="*/ 11 h 61"/>
                  <a:gd name="T40" fmla="*/ 47 w 177"/>
                  <a:gd name="T41" fmla="*/ 26 h 61"/>
                  <a:gd name="T42" fmla="*/ 39 w 177"/>
                  <a:gd name="T43" fmla="*/ 15 h 61"/>
                  <a:gd name="T44" fmla="*/ 72 w 177"/>
                  <a:gd name="T45" fmla="*/ 16 h 61"/>
                  <a:gd name="T46" fmla="*/ 71 w 177"/>
                  <a:gd name="T47" fmla="*/ 2 h 61"/>
                  <a:gd name="T48" fmla="*/ 65 w 177"/>
                  <a:gd name="T49" fmla="*/ 15 h 61"/>
                  <a:gd name="T50" fmla="*/ 64 w 177"/>
                  <a:gd name="T51" fmla="*/ 4 h 61"/>
                  <a:gd name="T52" fmla="*/ 84 w 177"/>
                  <a:gd name="T53" fmla="*/ 1 h 61"/>
                  <a:gd name="T54" fmla="*/ 84 w 177"/>
                  <a:gd name="T55" fmla="*/ 1 h 61"/>
                  <a:gd name="T56" fmla="*/ 78 w 177"/>
                  <a:gd name="T57" fmla="*/ 16 h 61"/>
                  <a:gd name="T58" fmla="*/ 77 w 177"/>
                  <a:gd name="T59" fmla="*/ 15 h 61"/>
                  <a:gd name="T60" fmla="*/ 90 w 177"/>
                  <a:gd name="T61" fmla="*/ 1 h 61"/>
                  <a:gd name="T62" fmla="*/ 94 w 177"/>
                  <a:gd name="T63" fmla="*/ 15 h 61"/>
                  <a:gd name="T64" fmla="*/ 92 w 177"/>
                  <a:gd name="T65" fmla="*/ 15 h 61"/>
                  <a:gd name="T66" fmla="*/ 113 w 177"/>
                  <a:gd name="T67" fmla="*/ 3 h 61"/>
                  <a:gd name="T68" fmla="*/ 102 w 177"/>
                  <a:gd name="T69" fmla="*/ 2 h 61"/>
                  <a:gd name="T70" fmla="*/ 105 w 177"/>
                  <a:gd name="T71" fmla="*/ 14 h 61"/>
                  <a:gd name="T72" fmla="*/ 117 w 177"/>
                  <a:gd name="T73" fmla="*/ 5 h 61"/>
                  <a:gd name="T74" fmla="*/ 122 w 177"/>
                  <a:gd name="T75" fmla="*/ 19 h 61"/>
                  <a:gd name="T76" fmla="*/ 119 w 177"/>
                  <a:gd name="T77" fmla="*/ 13 h 61"/>
                  <a:gd name="T78" fmla="*/ 121 w 177"/>
                  <a:gd name="T79" fmla="*/ 12 h 61"/>
                  <a:gd name="T80" fmla="*/ 124 w 177"/>
                  <a:gd name="T81" fmla="*/ 10 h 61"/>
                  <a:gd name="T82" fmla="*/ 131 w 177"/>
                  <a:gd name="T83" fmla="*/ 26 h 61"/>
                  <a:gd name="T84" fmla="*/ 126 w 177"/>
                  <a:gd name="T85" fmla="*/ 23 h 61"/>
                  <a:gd name="T86" fmla="*/ 124 w 177"/>
                  <a:gd name="T87" fmla="*/ 23 h 61"/>
                  <a:gd name="T88" fmla="*/ 137 w 177"/>
                  <a:gd name="T89" fmla="*/ 14 h 61"/>
                  <a:gd name="T90" fmla="*/ 133 w 177"/>
                  <a:gd name="T91" fmla="*/ 11 h 61"/>
                  <a:gd name="T92" fmla="*/ 137 w 177"/>
                  <a:gd name="T93" fmla="*/ 32 h 61"/>
                  <a:gd name="T94" fmla="*/ 137 w 177"/>
                  <a:gd name="T95" fmla="*/ 32 h 61"/>
                  <a:gd name="T96" fmla="*/ 145 w 177"/>
                  <a:gd name="T97" fmla="*/ 19 h 61"/>
                  <a:gd name="T98" fmla="*/ 146 w 177"/>
                  <a:gd name="T99" fmla="*/ 19 h 61"/>
                  <a:gd name="T100" fmla="*/ 159 w 177"/>
                  <a:gd name="T101" fmla="*/ 31 h 61"/>
                  <a:gd name="T102" fmla="*/ 149 w 177"/>
                  <a:gd name="T103" fmla="*/ 42 h 61"/>
                  <a:gd name="T104" fmla="*/ 155 w 177"/>
                  <a:gd name="T105" fmla="*/ 27 h 61"/>
                  <a:gd name="T106" fmla="*/ 166 w 177"/>
                  <a:gd name="T107" fmla="*/ 40 h 61"/>
                  <a:gd name="T108" fmla="*/ 160 w 177"/>
                  <a:gd name="T109" fmla="*/ 37 h 61"/>
                  <a:gd name="T110" fmla="*/ 153 w 177"/>
                  <a:gd name="T111" fmla="*/ 46 h 61"/>
                  <a:gd name="T112" fmla="*/ 177 w 177"/>
                  <a:gd name="T113" fmla="*/ 55 h 61"/>
                  <a:gd name="T114" fmla="*/ 162 w 177"/>
                  <a:gd name="T115" fmla="*/ 60 h 61"/>
                  <a:gd name="T116" fmla="*/ 165 w 177"/>
                  <a:gd name="T117" fmla="*/ 55 h 61"/>
                  <a:gd name="T118" fmla="*/ 173 w 177"/>
                  <a:gd name="T119" fmla="*/ 4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77" h="61">
                    <a:moveTo>
                      <a:pt x="6" y="46"/>
                    </a:moveTo>
                    <a:cubicBezTo>
                      <a:pt x="6" y="46"/>
                      <a:pt x="6" y="46"/>
                      <a:pt x="6" y="46"/>
                    </a:cubicBezTo>
                    <a:cubicBezTo>
                      <a:pt x="6" y="46"/>
                      <a:pt x="6" y="46"/>
                      <a:pt x="6" y="46"/>
                    </a:cubicBezTo>
                    <a:cubicBezTo>
                      <a:pt x="6" y="46"/>
                      <a:pt x="6" y="47"/>
                      <a:pt x="6" y="47"/>
                    </a:cubicBezTo>
                    <a:cubicBezTo>
                      <a:pt x="6" y="47"/>
                      <a:pt x="6" y="47"/>
                      <a:pt x="6" y="47"/>
                    </a:cubicBezTo>
                    <a:cubicBezTo>
                      <a:pt x="17" y="57"/>
                      <a:pt x="17" y="57"/>
                      <a:pt x="17" y="57"/>
                    </a:cubicBezTo>
                    <a:cubicBezTo>
                      <a:pt x="17" y="57"/>
                      <a:pt x="17" y="57"/>
                      <a:pt x="17" y="57"/>
                    </a:cubicBezTo>
                    <a:cubicBezTo>
                      <a:pt x="8" y="53"/>
                      <a:pt x="8" y="53"/>
                      <a:pt x="8" y="53"/>
                    </a:cubicBezTo>
                    <a:cubicBezTo>
                      <a:pt x="8" y="54"/>
                      <a:pt x="8" y="54"/>
                      <a:pt x="8" y="54"/>
                    </a:cubicBezTo>
                    <a:cubicBezTo>
                      <a:pt x="15" y="60"/>
                      <a:pt x="15" y="60"/>
                      <a:pt x="15" y="60"/>
                    </a:cubicBezTo>
                    <a:cubicBezTo>
                      <a:pt x="15" y="61"/>
                      <a:pt x="15" y="61"/>
                      <a:pt x="15" y="61"/>
                    </a:cubicBezTo>
                    <a:cubicBezTo>
                      <a:pt x="1" y="55"/>
                      <a:pt x="1" y="55"/>
                      <a:pt x="1" y="55"/>
                    </a:cubicBezTo>
                    <a:cubicBezTo>
                      <a:pt x="1" y="55"/>
                      <a:pt x="1" y="55"/>
                      <a:pt x="1" y="55"/>
                    </a:cubicBezTo>
                    <a:cubicBezTo>
                      <a:pt x="1" y="55"/>
                      <a:pt x="1" y="55"/>
                      <a:pt x="1" y="55"/>
                    </a:cubicBezTo>
                    <a:cubicBezTo>
                      <a:pt x="0" y="56"/>
                      <a:pt x="0" y="56"/>
                      <a:pt x="0" y="56"/>
                    </a:cubicBezTo>
                    <a:cubicBezTo>
                      <a:pt x="0" y="56"/>
                      <a:pt x="0" y="56"/>
                      <a:pt x="0" y="56"/>
                    </a:cubicBezTo>
                    <a:cubicBezTo>
                      <a:pt x="2" y="53"/>
                      <a:pt x="2" y="53"/>
                      <a:pt x="2" y="53"/>
                    </a:cubicBezTo>
                    <a:cubicBezTo>
                      <a:pt x="2" y="53"/>
                      <a:pt x="2" y="53"/>
                      <a:pt x="2" y="53"/>
                    </a:cubicBezTo>
                    <a:cubicBezTo>
                      <a:pt x="2" y="53"/>
                      <a:pt x="2" y="53"/>
                      <a:pt x="2" y="53"/>
                    </a:cubicBezTo>
                    <a:cubicBezTo>
                      <a:pt x="2" y="53"/>
                      <a:pt x="2" y="54"/>
                      <a:pt x="2" y="54"/>
                    </a:cubicBezTo>
                    <a:cubicBezTo>
                      <a:pt x="2" y="54"/>
                      <a:pt x="2" y="54"/>
                      <a:pt x="2" y="54"/>
                    </a:cubicBezTo>
                    <a:cubicBezTo>
                      <a:pt x="11" y="58"/>
                      <a:pt x="11" y="58"/>
                      <a:pt x="11" y="58"/>
                    </a:cubicBezTo>
                    <a:cubicBezTo>
                      <a:pt x="12" y="58"/>
                      <a:pt x="12" y="58"/>
                      <a:pt x="12" y="58"/>
                    </a:cubicBezTo>
                    <a:cubicBezTo>
                      <a:pt x="5" y="52"/>
                      <a:pt x="5" y="52"/>
                      <a:pt x="5" y="52"/>
                    </a:cubicBezTo>
                    <a:cubicBezTo>
                      <a:pt x="4" y="52"/>
                      <a:pt x="4" y="52"/>
                      <a:pt x="4" y="52"/>
                    </a:cubicBezTo>
                    <a:cubicBezTo>
                      <a:pt x="3" y="52"/>
                      <a:pt x="3" y="52"/>
                      <a:pt x="3" y="52"/>
                    </a:cubicBezTo>
                    <a:cubicBezTo>
                      <a:pt x="3" y="52"/>
                      <a:pt x="3" y="52"/>
                      <a:pt x="3" y="52"/>
                    </a:cubicBezTo>
                    <a:cubicBezTo>
                      <a:pt x="3" y="52"/>
                      <a:pt x="3" y="52"/>
                      <a:pt x="3" y="52"/>
                    </a:cubicBezTo>
                    <a:cubicBezTo>
                      <a:pt x="2" y="52"/>
                      <a:pt x="2" y="52"/>
                      <a:pt x="2" y="52"/>
                    </a:cubicBezTo>
                    <a:cubicBezTo>
                      <a:pt x="4" y="49"/>
                      <a:pt x="4" y="49"/>
                      <a:pt x="4" y="49"/>
                    </a:cubicBezTo>
                    <a:cubicBezTo>
                      <a:pt x="4" y="49"/>
                      <a:pt x="4" y="49"/>
                      <a:pt x="4" y="49"/>
                    </a:cubicBezTo>
                    <a:cubicBezTo>
                      <a:pt x="4" y="50"/>
                      <a:pt x="4" y="50"/>
                      <a:pt x="4" y="50"/>
                    </a:cubicBezTo>
                    <a:cubicBezTo>
                      <a:pt x="4" y="50"/>
                      <a:pt x="4" y="50"/>
                      <a:pt x="4" y="50"/>
                    </a:cubicBezTo>
                    <a:cubicBezTo>
                      <a:pt x="4" y="50"/>
                      <a:pt x="4" y="50"/>
                      <a:pt x="4" y="51"/>
                    </a:cubicBezTo>
                    <a:cubicBezTo>
                      <a:pt x="13" y="54"/>
                      <a:pt x="13" y="54"/>
                      <a:pt x="13" y="54"/>
                    </a:cubicBezTo>
                    <a:cubicBezTo>
                      <a:pt x="13" y="54"/>
                      <a:pt x="13" y="54"/>
                      <a:pt x="13" y="54"/>
                    </a:cubicBezTo>
                    <a:cubicBezTo>
                      <a:pt x="6" y="48"/>
                      <a:pt x="6" y="48"/>
                      <a:pt x="6" y="48"/>
                    </a:cubicBezTo>
                    <a:cubicBezTo>
                      <a:pt x="6" y="48"/>
                      <a:pt x="6" y="48"/>
                      <a:pt x="5" y="48"/>
                    </a:cubicBezTo>
                    <a:cubicBezTo>
                      <a:pt x="5" y="48"/>
                      <a:pt x="5" y="48"/>
                      <a:pt x="5" y="48"/>
                    </a:cubicBezTo>
                    <a:cubicBezTo>
                      <a:pt x="5" y="48"/>
                      <a:pt x="5" y="48"/>
                      <a:pt x="5" y="48"/>
                    </a:cubicBezTo>
                    <a:cubicBezTo>
                      <a:pt x="4" y="48"/>
                      <a:pt x="4" y="48"/>
                      <a:pt x="4" y="48"/>
                    </a:cubicBezTo>
                    <a:cubicBezTo>
                      <a:pt x="6" y="46"/>
                      <a:pt x="6" y="46"/>
                      <a:pt x="6" y="46"/>
                    </a:cubicBezTo>
                    <a:close/>
                    <a:moveTo>
                      <a:pt x="22" y="48"/>
                    </a:moveTo>
                    <a:cubicBezTo>
                      <a:pt x="22" y="49"/>
                      <a:pt x="21" y="49"/>
                      <a:pt x="21" y="49"/>
                    </a:cubicBezTo>
                    <a:cubicBezTo>
                      <a:pt x="20" y="50"/>
                      <a:pt x="19" y="49"/>
                      <a:pt x="18" y="48"/>
                    </a:cubicBezTo>
                    <a:cubicBezTo>
                      <a:pt x="10" y="42"/>
                      <a:pt x="10" y="42"/>
                      <a:pt x="10" y="42"/>
                    </a:cubicBezTo>
                    <a:cubicBezTo>
                      <a:pt x="10" y="42"/>
                      <a:pt x="10" y="41"/>
                      <a:pt x="10" y="41"/>
                    </a:cubicBezTo>
                    <a:cubicBezTo>
                      <a:pt x="10" y="41"/>
                      <a:pt x="10" y="41"/>
                      <a:pt x="10" y="41"/>
                    </a:cubicBezTo>
                    <a:cubicBezTo>
                      <a:pt x="10" y="40"/>
                      <a:pt x="10" y="40"/>
                      <a:pt x="10" y="40"/>
                    </a:cubicBezTo>
                    <a:cubicBezTo>
                      <a:pt x="10" y="40"/>
                      <a:pt x="10" y="40"/>
                      <a:pt x="10" y="40"/>
                    </a:cubicBezTo>
                    <a:cubicBezTo>
                      <a:pt x="7" y="43"/>
                      <a:pt x="7" y="43"/>
                      <a:pt x="7" y="43"/>
                    </a:cubicBezTo>
                    <a:cubicBezTo>
                      <a:pt x="8" y="43"/>
                      <a:pt x="8" y="43"/>
                      <a:pt x="8" y="43"/>
                    </a:cubicBezTo>
                    <a:cubicBezTo>
                      <a:pt x="8" y="43"/>
                      <a:pt x="8" y="43"/>
                      <a:pt x="8" y="43"/>
                    </a:cubicBezTo>
                    <a:cubicBezTo>
                      <a:pt x="8" y="43"/>
                      <a:pt x="8" y="43"/>
                      <a:pt x="8" y="43"/>
                    </a:cubicBezTo>
                    <a:cubicBezTo>
                      <a:pt x="9" y="43"/>
                      <a:pt x="9" y="43"/>
                      <a:pt x="9" y="43"/>
                    </a:cubicBezTo>
                    <a:cubicBezTo>
                      <a:pt x="17" y="50"/>
                      <a:pt x="17" y="50"/>
                      <a:pt x="17" y="50"/>
                    </a:cubicBezTo>
                    <a:cubicBezTo>
                      <a:pt x="18" y="50"/>
                      <a:pt x="19" y="51"/>
                      <a:pt x="20" y="50"/>
                    </a:cubicBezTo>
                    <a:cubicBezTo>
                      <a:pt x="21" y="50"/>
                      <a:pt x="22" y="50"/>
                      <a:pt x="23" y="49"/>
                    </a:cubicBezTo>
                    <a:cubicBezTo>
                      <a:pt x="24" y="48"/>
                      <a:pt x="24" y="47"/>
                      <a:pt x="24" y="46"/>
                    </a:cubicBezTo>
                    <a:cubicBezTo>
                      <a:pt x="24" y="45"/>
                      <a:pt x="23" y="44"/>
                      <a:pt x="22" y="43"/>
                    </a:cubicBezTo>
                    <a:cubicBezTo>
                      <a:pt x="14" y="36"/>
                      <a:pt x="14" y="36"/>
                      <a:pt x="14" y="36"/>
                    </a:cubicBezTo>
                    <a:cubicBezTo>
                      <a:pt x="14" y="36"/>
                      <a:pt x="14" y="36"/>
                      <a:pt x="14" y="36"/>
                    </a:cubicBezTo>
                    <a:cubicBezTo>
                      <a:pt x="14" y="36"/>
                      <a:pt x="14" y="36"/>
                      <a:pt x="14" y="35"/>
                    </a:cubicBezTo>
                    <a:cubicBezTo>
                      <a:pt x="14" y="35"/>
                      <a:pt x="14" y="35"/>
                      <a:pt x="14" y="35"/>
                    </a:cubicBezTo>
                    <a:cubicBezTo>
                      <a:pt x="14" y="35"/>
                      <a:pt x="14" y="35"/>
                      <a:pt x="14" y="35"/>
                    </a:cubicBezTo>
                    <a:cubicBezTo>
                      <a:pt x="12" y="37"/>
                      <a:pt x="12" y="37"/>
                      <a:pt x="12" y="37"/>
                    </a:cubicBezTo>
                    <a:cubicBezTo>
                      <a:pt x="12" y="38"/>
                      <a:pt x="12" y="38"/>
                      <a:pt x="12" y="38"/>
                    </a:cubicBezTo>
                    <a:cubicBezTo>
                      <a:pt x="13" y="37"/>
                      <a:pt x="13" y="37"/>
                      <a:pt x="13" y="37"/>
                    </a:cubicBezTo>
                    <a:cubicBezTo>
                      <a:pt x="13" y="37"/>
                      <a:pt x="13" y="37"/>
                      <a:pt x="13" y="37"/>
                    </a:cubicBezTo>
                    <a:cubicBezTo>
                      <a:pt x="13" y="37"/>
                      <a:pt x="14" y="37"/>
                      <a:pt x="14" y="37"/>
                    </a:cubicBezTo>
                    <a:cubicBezTo>
                      <a:pt x="22" y="44"/>
                      <a:pt x="22" y="44"/>
                      <a:pt x="22" y="44"/>
                    </a:cubicBezTo>
                    <a:cubicBezTo>
                      <a:pt x="23" y="44"/>
                      <a:pt x="23" y="45"/>
                      <a:pt x="23" y="46"/>
                    </a:cubicBezTo>
                    <a:cubicBezTo>
                      <a:pt x="23" y="47"/>
                      <a:pt x="23" y="47"/>
                      <a:pt x="22" y="48"/>
                    </a:cubicBezTo>
                    <a:close/>
                    <a:moveTo>
                      <a:pt x="33" y="36"/>
                    </a:moveTo>
                    <a:cubicBezTo>
                      <a:pt x="33" y="36"/>
                      <a:pt x="33" y="36"/>
                      <a:pt x="33" y="36"/>
                    </a:cubicBezTo>
                    <a:cubicBezTo>
                      <a:pt x="33" y="36"/>
                      <a:pt x="34" y="36"/>
                      <a:pt x="34" y="36"/>
                    </a:cubicBezTo>
                    <a:cubicBezTo>
                      <a:pt x="34" y="35"/>
                      <a:pt x="34" y="35"/>
                      <a:pt x="34" y="35"/>
                    </a:cubicBezTo>
                    <a:cubicBezTo>
                      <a:pt x="35" y="36"/>
                      <a:pt x="35" y="36"/>
                      <a:pt x="35" y="36"/>
                    </a:cubicBezTo>
                    <a:cubicBezTo>
                      <a:pt x="32" y="39"/>
                      <a:pt x="32" y="39"/>
                      <a:pt x="32" y="39"/>
                    </a:cubicBezTo>
                    <a:cubicBezTo>
                      <a:pt x="31" y="38"/>
                      <a:pt x="31" y="38"/>
                      <a:pt x="31" y="38"/>
                    </a:cubicBezTo>
                    <a:cubicBezTo>
                      <a:pt x="32" y="38"/>
                      <a:pt x="32" y="38"/>
                      <a:pt x="32" y="38"/>
                    </a:cubicBezTo>
                    <a:cubicBezTo>
                      <a:pt x="32" y="38"/>
                      <a:pt x="32" y="37"/>
                      <a:pt x="32" y="37"/>
                    </a:cubicBezTo>
                    <a:cubicBezTo>
                      <a:pt x="32" y="37"/>
                      <a:pt x="32" y="37"/>
                      <a:pt x="32" y="37"/>
                    </a:cubicBezTo>
                    <a:cubicBezTo>
                      <a:pt x="27" y="32"/>
                      <a:pt x="27" y="32"/>
                      <a:pt x="27" y="32"/>
                    </a:cubicBezTo>
                    <a:cubicBezTo>
                      <a:pt x="23" y="36"/>
                      <a:pt x="23" y="36"/>
                      <a:pt x="23" y="36"/>
                    </a:cubicBezTo>
                    <a:cubicBezTo>
                      <a:pt x="28" y="40"/>
                      <a:pt x="28" y="40"/>
                      <a:pt x="28" y="40"/>
                    </a:cubicBezTo>
                    <a:cubicBezTo>
                      <a:pt x="28" y="41"/>
                      <a:pt x="28" y="41"/>
                      <a:pt x="28" y="41"/>
                    </a:cubicBezTo>
                    <a:cubicBezTo>
                      <a:pt x="28" y="41"/>
                      <a:pt x="29" y="41"/>
                      <a:pt x="29" y="40"/>
                    </a:cubicBezTo>
                    <a:cubicBezTo>
                      <a:pt x="29" y="40"/>
                      <a:pt x="29" y="40"/>
                      <a:pt x="29" y="40"/>
                    </a:cubicBezTo>
                    <a:cubicBezTo>
                      <a:pt x="30" y="41"/>
                      <a:pt x="30" y="41"/>
                      <a:pt x="30" y="41"/>
                    </a:cubicBezTo>
                    <a:cubicBezTo>
                      <a:pt x="27" y="43"/>
                      <a:pt x="27" y="43"/>
                      <a:pt x="27" y="43"/>
                    </a:cubicBezTo>
                    <a:cubicBezTo>
                      <a:pt x="26" y="43"/>
                      <a:pt x="26" y="43"/>
                      <a:pt x="26" y="43"/>
                    </a:cubicBezTo>
                    <a:cubicBezTo>
                      <a:pt x="27" y="43"/>
                      <a:pt x="27" y="43"/>
                      <a:pt x="27" y="43"/>
                    </a:cubicBezTo>
                    <a:cubicBezTo>
                      <a:pt x="27" y="42"/>
                      <a:pt x="27" y="42"/>
                      <a:pt x="27" y="42"/>
                    </a:cubicBezTo>
                    <a:cubicBezTo>
                      <a:pt x="27" y="42"/>
                      <a:pt x="27" y="42"/>
                      <a:pt x="27" y="41"/>
                    </a:cubicBezTo>
                    <a:cubicBezTo>
                      <a:pt x="18" y="32"/>
                      <a:pt x="18" y="32"/>
                      <a:pt x="18" y="32"/>
                    </a:cubicBezTo>
                    <a:cubicBezTo>
                      <a:pt x="18" y="32"/>
                      <a:pt x="17" y="32"/>
                      <a:pt x="17" y="32"/>
                    </a:cubicBezTo>
                    <a:cubicBezTo>
                      <a:pt x="17" y="32"/>
                      <a:pt x="17" y="32"/>
                      <a:pt x="17" y="32"/>
                    </a:cubicBezTo>
                    <a:cubicBezTo>
                      <a:pt x="16" y="32"/>
                      <a:pt x="16" y="32"/>
                      <a:pt x="16" y="32"/>
                    </a:cubicBezTo>
                    <a:cubicBezTo>
                      <a:pt x="16" y="32"/>
                      <a:pt x="16" y="32"/>
                      <a:pt x="16" y="32"/>
                    </a:cubicBezTo>
                    <a:cubicBezTo>
                      <a:pt x="19" y="29"/>
                      <a:pt x="19" y="29"/>
                      <a:pt x="19" y="29"/>
                    </a:cubicBezTo>
                    <a:cubicBezTo>
                      <a:pt x="19" y="29"/>
                      <a:pt x="19" y="29"/>
                      <a:pt x="19" y="29"/>
                    </a:cubicBezTo>
                    <a:cubicBezTo>
                      <a:pt x="19" y="30"/>
                      <a:pt x="19" y="30"/>
                      <a:pt x="19" y="30"/>
                    </a:cubicBezTo>
                    <a:cubicBezTo>
                      <a:pt x="19" y="30"/>
                      <a:pt x="19" y="30"/>
                      <a:pt x="19" y="30"/>
                    </a:cubicBezTo>
                    <a:cubicBezTo>
                      <a:pt x="19" y="30"/>
                      <a:pt x="19" y="31"/>
                      <a:pt x="19" y="31"/>
                    </a:cubicBezTo>
                    <a:cubicBezTo>
                      <a:pt x="23" y="35"/>
                      <a:pt x="23" y="35"/>
                      <a:pt x="23" y="35"/>
                    </a:cubicBezTo>
                    <a:cubicBezTo>
                      <a:pt x="27" y="31"/>
                      <a:pt x="27" y="31"/>
                      <a:pt x="27" y="31"/>
                    </a:cubicBezTo>
                    <a:cubicBezTo>
                      <a:pt x="23" y="27"/>
                      <a:pt x="23" y="27"/>
                      <a:pt x="23" y="27"/>
                    </a:cubicBezTo>
                    <a:cubicBezTo>
                      <a:pt x="23" y="27"/>
                      <a:pt x="22" y="27"/>
                      <a:pt x="22" y="27"/>
                    </a:cubicBezTo>
                    <a:cubicBezTo>
                      <a:pt x="22" y="27"/>
                      <a:pt x="22" y="27"/>
                      <a:pt x="22" y="27"/>
                    </a:cubicBezTo>
                    <a:cubicBezTo>
                      <a:pt x="21" y="27"/>
                      <a:pt x="21" y="27"/>
                      <a:pt x="21" y="27"/>
                    </a:cubicBezTo>
                    <a:cubicBezTo>
                      <a:pt x="21" y="27"/>
                      <a:pt x="21" y="27"/>
                      <a:pt x="21" y="27"/>
                    </a:cubicBezTo>
                    <a:cubicBezTo>
                      <a:pt x="24" y="24"/>
                      <a:pt x="24" y="24"/>
                      <a:pt x="24" y="24"/>
                    </a:cubicBezTo>
                    <a:cubicBezTo>
                      <a:pt x="24" y="25"/>
                      <a:pt x="24" y="25"/>
                      <a:pt x="24" y="25"/>
                    </a:cubicBezTo>
                    <a:cubicBezTo>
                      <a:pt x="24" y="25"/>
                      <a:pt x="24" y="25"/>
                      <a:pt x="24" y="25"/>
                    </a:cubicBezTo>
                    <a:cubicBezTo>
                      <a:pt x="24" y="25"/>
                      <a:pt x="24" y="25"/>
                      <a:pt x="24" y="26"/>
                    </a:cubicBezTo>
                    <a:cubicBezTo>
                      <a:pt x="24" y="26"/>
                      <a:pt x="24" y="26"/>
                      <a:pt x="24" y="26"/>
                    </a:cubicBezTo>
                    <a:cubicBezTo>
                      <a:pt x="33" y="36"/>
                      <a:pt x="33" y="36"/>
                      <a:pt x="33" y="36"/>
                    </a:cubicBezTo>
                    <a:close/>
                    <a:moveTo>
                      <a:pt x="38" y="26"/>
                    </a:moveTo>
                    <a:cubicBezTo>
                      <a:pt x="41" y="29"/>
                      <a:pt x="41" y="29"/>
                      <a:pt x="41" y="29"/>
                    </a:cubicBezTo>
                    <a:cubicBezTo>
                      <a:pt x="41" y="29"/>
                      <a:pt x="41" y="30"/>
                      <a:pt x="41" y="30"/>
                    </a:cubicBezTo>
                    <a:cubicBezTo>
                      <a:pt x="41" y="30"/>
                      <a:pt x="41" y="30"/>
                      <a:pt x="41" y="30"/>
                    </a:cubicBezTo>
                    <a:cubicBezTo>
                      <a:pt x="41" y="31"/>
                      <a:pt x="41" y="31"/>
                      <a:pt x="41" y="31"/>
                    </a:cubicBezTo>
                    <a:cubicBezTo>
                      <a:pt x="41" y="31"/>
                      <a:pt x="41" y="31"/>
                      <a:pt x="41" y="31"/>
                    </a:cubicBezTo>
                    <a:cubicBezTo>
                      <a:pt x="44" y="29"/>
                      <a:pt x="44" y="29"/>
                      <a:pt x="44" y="29"/>
                    </a:cubicBezTo>
                    <a:cubicBezTo>
                      <a:pt x="44" y="28"/>
                      <a:pt x="44" y="28"/>
                      <a:pt x="44" y="28"/>
                    </a:cubicBezTo>
                    <a:cubicBezTo>
                      <a:pt x="44" y="29"/>
                      <a:pt x="44" y="29"/>
                      <a:pt x="44" y="29"/>
                    </a:cubicBezTo>
                    <a:cubicBezTo>
                      <a:pt x="43" y="29"/>
                      <a:pt x="43" y="29"/>
                      <a:pt x="43" y="29"/>
                    </a:cubicBezTo>
                    <a:cubicBezTo>
                      <a:pt x="43" y="29"/>
                      <a:pt x="42" y="29"/>
                      <a:pt x="42" y="28"/>
                    </a:cubicBezTo>
                    <a:cubicBezTo>
                      <a:pt x="31" y="18"/>
                      <a:pt x="31" y="18"/>
                      <a:pt x="31" y="18"/>
                    </a:cubicBezTo>
                    <a:cubicBezTo>
                      <a:pt x="30" y="20"/>
                      <a:pt x="30" y="20"/>
                      <a:pt x="30" y="20"/>
                    </a:cubicBezTo>
                    <a:cubicBezTo>
                      <a:pt x="35" y="33"/>
                      <a:pt x="35" y="33"/>
                      <a:pt x="35" y="33"/>
                    </a:cubicBezTo>
                    <a:cubicBezTo>
                      <a:pt x="35" y="33"/>
                      <a:pt x="35" y="34"/>
                      <a:pt x="35" y="34"/>
                    </a:cubicBezTo>
                    <a:cubicBezTo>
                      <a:pt x="35" y="34"/>
                      <a:pt x="35" y="34"/>
                      <a:pt x="35" y="35"/>
                    </a:cubicBezTo>
                    <a:cubicBezTo>
                      <a:pt x="35" y="35"/>
                      <a:pt x="35" y="35"/>
                      <a:pt x="35" y="35"/>
                    </a:cubicBezTo>
                    <a:cubicBezTo>
                      <a:pt x="35" y="35"/>
                      <a:pt x="35" y="35"/>
                      <a:pt x="35" y="35"/>
                    </a:cubicBezTo>
                    <a:cubicBezTo>
                      <a:pt x="38" y="33"/>
                      <a:pt x="38" y="33"/>
                      <a:pt x="38" y="33"/>
                    </a:cubicBezTo>
                    <a:cubicBezTo>
                      <a:pt x="38" y="33"/>
                      <a:pt x="38" y="33"/>
                      <a:pt x="38" y="33"/>
                    </a:cubicBezTo>
                    <a:cubicBezTo>
                      <a:pt x="37" y="33"/>
                      <a:pt x="37" y="33"/>
                      <a:pt x="37" y="33"/>
                    </a:cubicBezTo>
                    <a:cubicBezTo>
                      <a:pt x="37" y="33"/>
                      <a:pt x="37" y="33"/>
                      <a:pt x="36" y="33"/>
                    </a:cubicBezTo>
                    <a:cubicBezTo>
                      <a:pt x="36" y="33"/>
                      <a:pt x="36" y="32"/>
                      <a:pt x="36" y="32"/>
                    </a:cubicBezTo>
                    <a:cubicBezTo>
                      <a:pt x="34" y="29"/>
                      <a:pt x="34" y="29"/>
                      <a:pt x="34" y="29"/>
                    </a:cubicBezTo>
                    <a:cubicBezTo>
                      <a:pt x="38" y="26"/>
                      <a:pt x="38" y="26"/>
                      <a:pt x="38" y="26"/>
                    </a:cubicBezTo>
                    <a:close/>
                    <a:moveTo>
                      <a:pt x="31" y="21"/>
                    </a:moveTo>
                    <a:cubicBezTo>
                      <a:pt x="31" y="21"/>
                      <a:pt x="31" y="21"/>
                      <a:pt x="31" y="21"/>
                    </a:cubicBezTo>
                    <a:cubicBezTo>
                      <a:pt x="34" y="28"/>
                      <a:pt x="34" y="28"/>
                      <a:pt x="34" y="28"/>
                    </a:cubicBezTo>
                    <a:cubicBezTo>
                      <a:pt x="37" y="26"/>
                      <a:pt x="37" y="26"/>
                      <a:pt x="37" y="26"/>
                    </a:cubicBezTo>
                    <a:cubicBezTo>
                      <a:pt x="31" y="21"/>
                      <a:pt x="31" y="21"/>
                      <a:pt x="31" y="21"/>
                    </a:cubicBezTo>
                    <a:close/>
                    <a:moveTo>
                      <a:pt x="51" y="21"/>
                    </a:moveTo>
                    <a:cubicBezTo>
                      <a:pt x="51" y="21"/>
                      <a:pt x="51" y="21"/>
                      <a:pt x="51" y="21"/>
                    </a:cubicBezTo>
                    <a:cubicBezTo>
                      <a:pt x="46" y="11"/>
                      <a:pt x="46" y="11"/>
                      <a:pt x="46" y="11"/>
                    </a:cubicBezTo>
                    <a:cubicBezTo>
                      <a:pt x="46" y="11"/>
                      <a:pt x="46" y="11"/>
                      <a:pt x="46" y="11"/>
                    </a:cubicBezTo>
                    <a:cubicBezTo>
                      <a:pt x="46" y="11"/>
                      <a:pt x="46" y="11"/>
                      <a:pt x="45" y="11"/>
                    </a:cubicBezTo>
                    <a:cubicBezTo>
                      <a:pt x="45" y="11"/>
                      <a:pt x="45" y="11"/>
                      <a:pt x="45" y="11"/>
                    </a:cubicBezTo>
                    <a:cubicBezTo>
                      <a:pt x="44" y="11"/>
                      <a:pt x="44" y="11"/>
                      <a:pt x="44" y="11"/>
                    </a:cubicBezTo>
                    <a:cubicBezTo>
                      <a:pt x="48" y="9"/>
                      <a:pt x="48" y="9"/>
                      <a:pt x="48" y="9"/>
                    </a:cubicBezTo>
                    <a:cubicBezTo>
                      <a:pt x="48" y="10"/>
                      <a:pt x="48" y="10"/>
                      <a:pt x="48" y="10"/>
                    </a:cubicBezTo>
                    <a:cubicBezTo>
                      <a:pt x="47" y="10"/>
                      <a:pt x="47" y="10"/>
                      <a:pt x="47" y="10"/>
                    </a:cubicBezTo>
                    <a:cubicBezTo>
                      <a:pt x="47" y="10"/>
                      <a:pt x="47" y="10"/>
                      <a:pt x="47" y="10"/>
                    </a:cubicBezTo>
                    <a:cubicBezTo>
                      <a:pt x="47" y="10"/>
                      <a:pt x="47" y="11"/>
                      <a:pt x="47" y="11"/>
                    </a:cubicBezTo>
                    <a:cubicBezTo>
                      <a:pt x="53" y="24"/>
                      <a:pt x="53" y="24"/>
                      <a:pt x="53" y="24"/>
                    </a:cubicBezTo>
                    <a:cubicBezTo>
                      <a:pt x="53" y="24"/>
                      <a:pt x="53" y="24"/>
                      <a:pt x="53" y="24"/>
                    </a:cubicBezTo>
                    <a:cubicBezTo>
                      <a:pt x="53" y="24"/>
                      <a:pt x="53" y="24"/>
                      <a:pt x="53" y="24"/>
                    </a:cubicBezTo>
                    <a:cubicBezTo>
                      <a:pt x="40" y="15"/>
                      <a:pt x="40" y="15"/>
                      <a:pt x="40" y="15"/>
                    </a:cubicBezTo>
                    <a:cubicBezTo>
                      <a:pt x="40" y="15"/>
                      <a:pt x="40" y="15"/>
                      <a:pt x="40" y="15"/>
                    </a:cubicBezTo>
                    <a:cubicBezTo>
                      <a:pt x="46" y="26"/>
                      <a:pt x="46" y="26"/>
                      <a:pt x="46" y="26"/>
                    </a:cubicBezTo>
                    <a:cubicBezTo>
                      <a:pt x="46" y="26"/>
                      <a:pt x="46" y="26"/>
                      <a:pt x="46" y="26"/>
                    </a:cubicBezTo>
                    <a:cubicBezTo>
                      <a:pt x="47" y="26"/>
                      <a:pt x="47" y="26"/>
                      <a:pt x="47" y="26"/>
                    </a:cubicBezTo>
                    <a:cubicBezTo>
                      <a:pt x="48" y="26"/>
                      <a:pt x="48" y="26"/>
                      <a:pt x="48" y="26"/>
                    </a:cubicBezTo>
                    <a:cubicBezTo>
                      <a:pt x="48" y="26"/>
                      <a:pt x="48" y="26"/>
                      <a:pt x="48" y="26"/>
                    </a:cubicBezTo>
                    <a:cubicBezTo>
                      <a:pt x="45" y="28"/>
                      <a:pt x="45" y="28"/>
                      <a:pt x="45" y="28"/>
                    </a:cubicBezTo>
                    <a:cubicBezTo>
                      <a:pt x="44" y="28"/>
                      <a:pt x="44" y="28"/>
                      <a:pt x="44" y="28"/>
                    </a:cubicBezTo>
                    <a:cubicBezTo>
                      <a:pt x="45" y="27"/>
                      <a:pt x="45" y="27"/>
                      <a:pt x="45" y="27"/>
                    </a:cubicBezTo>
                    <a:cubicBezTo>
                      <a:pt x="45" y="27"/>
                      <a:pt x="45" y="27"/>
                      <a:pt x="45" y="27"/>
                    </a:cubicBezTo>
                    <a:cubicBezTo>
                      <a:pt x="46" y="27"/>
                      <a:pt x="46" y="26"/>
                      <a:pt x="45" y="26"/>
                    </a:cubicBezTo>
                    <a:cubicBezTo>
                      <a:pt x="39" y="15"/>
                      <a:pt x="39" y="15"/>
                      <a:pt x="39" y="15"/>
                    </a:cubicBezTo>
                    <a:cubicBezTo>
                      <a:pt x="39" y="14"/>
                      <a:pt x="39" y="14"/>
                      <a:pt x="39" y="14"/>
                    </a:cubicBezTo>
                    <a:cubicBezTo>
                      <a:pt x="39" y="14"/>
                      <a:pt x="39" y="14"/>
                      <a:pt x="38" y="14"/>
                    </a:cubicBezTo>
                    <a:cubicBezTo>
                      <a:pt x="38" y="15"/>
                      <a:pt x="38" y="15"/>
                      <a:pt x="38" y="15"/>
                    </a:cubicBezTo>
                    <a:cubicBezTo>
                      <a:pt x="37" y="14"/>
                      <a:pt x="37" y="14"/>
                      <a:pt x="37" y="14"/>
                    </a:cubicBezTo>
                    <a:cubicBezTo>
                      <a:pt x="40" y="13"/>
                      <a:pt x="40" y="13"/>
                      <a:pt x="40" y="13"/>
                    </a:cubicBezTo>
                    <a:cubicBezTo>
                      <a:pt x="51" y="21"/>
                      <a:pt x="51" y="21"/>
                      <a:pt x="51" y="21"/>
                    </a:cubicBezTo>
                    <a:close/>
                    <a:moveTo>
                      <a:pt x="70" y="17"/>
                    </a:moveTo>
                    <a:cubicBezTo>
                      <a:pt x="70" y="17"/>
                      <a:pt x="71" y="17"/>
                      <a:pt x="72" y="16"/>
                    </a:cubicBezTo>
                    <a:cubicBezTo>
                      <a:pt x="72" y="15"/>
                      <a:pt x="72" y="14"/>
                      <a:pt x="72" y="14"/>
                    </a:cubicBezTo>
                    <a:cubicBezTo>
                      <a:pt x="70" y="3"/>
                      <a:pt x="70" y="3"/>
                      <a:pt x="70" y="3"/>
                    </a:cubicBezTo>
                    <a:cubicBezTo>
                      <a:pt x="70" y="3"/>
                      <a:pt x="69" y="3"/>
                      <a:pt x="69" y="3"/>
                    </a:cubicBezTo>
                    <a:cubicBezTo>
                      <a:pt x="69" y="3"/>
                      <a:pt x="69" y="3"/>
                      <a:pt x="69" y="3"/>
                    </a:cubicBezTo>
                    <a:cubicBezTo>
                      <a:pt x="68" y="3"/>
                      <a:pt x="68" y="3"/>
                      <a:pt x="68" y="3"/>
                    </a:cubicBezTo>
                    <a:cubicBezTo>
                      <a:pt x="68" y="2"/>
                      <a:pt x="68" y="2"/>
                      <a:pt x="68" y="2"/>
                    </a:cubicBezTo>
                    <a:cubicBezTo>
                      <a:pt x="71" y="1"/>
                      <a:pt x="71" y="1"/>
                      <a:pt x="71" y="1"/>
                    </a:cubicBezTo>
                    <a:cubicBezTo>
                      <a:pt x="71" y="2"/>
                      <a:pt x="71" y="2"/>
                      <a:pt x="71" y="2"/>
                    </a:cubicBezTo>
                    <a:cubicBezTo>
                      <a:pt x="71" y="2"/>
                      <a:pt x="71" y="2"/>
                      <a:pt x="71" y="2"/>
                    </a:cubicBezTo>
                    <a:cubicBezTo>
                      <a:pt x="71" y="2"/>
                      <a:pt x="70" y="2"/>
                      <a:pt x="70" y="2"/>
                    </a:cubicBezTo>
                    <a:cubicBezTo>
                      <a:pt x="70" y="3"/>
                      <a:pt x="70" y="3"/>
                      <a:pt x="70" y="3"/>
                    </a:cubicBezTo>
                    <a:cubicBezTo>
                      <a:pt x="73" y="13"/>
                      <a:pt x="73" y="13"/>
                      <a:pt x="73" y="13"/>
                    </a:cubicBezTo>
                    <a:cubicBezTo>
                      <a:pt x="73" y="15"/>
                      <a:pt x="73" y="16"/>
                      <a:pt x="72" y="16"/>
                    </a:cubicBezTo>
                    <a:cubicBezTo>
                      <a:pt x="71" y="17"/>
                      <a:pt x="71" y="18"/>
                      <a:pt x="70" y="18"/>
                    </a:cubicBezTo>
                    <a:cubicBezTo>
                      <a:pt x="68" y="18"/>
                      <a:pt x="67" y="18"/>
                      <a:pt x="66" y="18"/>
                    </a:cubicBezTo>
                    <a:cubicBezTo>
                      <a:pt x="66" y="17"/>
                      <a:pt x="65" y="17"/>
                      <a:pt x="65" y="15"/>
                    </a:cubicBezTo>
                    <a:cubicBezTo>
                      <a:pt x="62" y="5"/>
                      <a:pt x="62" y="5"/>
                      <a:pt x="62" y="5"/>
                    </a:cubicBezTo>
                    <a:cubicBezTo>
                      <a:pt x="62" y="5"/>
                      <a:pt x="62" y="4"/>
                      <a:pt x="62" y="4"/>
                    </a:cubicBezTo>
                    <a:cubicBezTo>
                      <a:pt x="62" y="4"/>
                      <a:pt x="62" y="4"/>
                      <a:pt x="61" y="4"/>
                    </a:cubicBezTo>
                    <a:cubicBezTo>
                      <a:pt x="61" y="4"/>
                      <a:pt x="61" y="4"/>
                      <a:pt x="61" y="4"/>
                    </a:cubicBezTo>
                    <a:cubicBezTo>
                      <a:pt x="61" y="4"/>
                      <a:pt x="61" y="4"/>
                      <a:pt x="61" y="4"/>
                    </a:cubicBezTo>
                    <a:cubicBezTo>
                      <a:pt x="65" y="3"/>
                      <a:pt x="65" y="3"/>
                      <a:pt x="65" y="3"/>
                    </a:cubicBezTo>
                    <a:cubicBezTo>
                      <a:pt x="65" y="4"/>
                      <a:pt x="65" y="4"/>
                      <a:pt x="65" y="4"/>
                    </a:cubicBezTo>
                    <a:cubicBezTo>
                      <a:pt x="64" y="4"/>
                      <a:pt x="64" y="4"/>
                      <a:pt x="64" y="4"/>
                    </a:cubicBezTo>
                    <a:cubicBezTo>
                      <a:pt x="64" y="4"/>
                      <a:pt x="64" y="4"/>
                      <a:pt x="64" y="4"/>
                    </a:cubicBezTo>
                    <a:cubicBezTo>
                      <a:pt x="64" y="4"/>
                      <a:pt x="64" y="4"/>
                      <a:pt x="64" y="5"/>
                    </a:cubicBezTo>
                    <a:cubicBezTo>
                      <a:pt x="66" y="15"/>
                      <a:pt x="66" y="15"/>
                      <a:pt x="66" y="15"/>
                    </a:cubicBezTo>
                    <a:cubicBezTo>
                      <a:pt x="66" y="16"/>
                      <a:pt x="67" y="17"/>
                      <a:pt x="67" y="17"/>
                    </a:cubicBezTo>
                    <a:cubicBezTo>
                      <a:pt x="68" y="18"/>
                      <a:pt x="69" y="18"/>
                      <a:pt x="70" y="17"/>
                    </a:cubicBezTo>
                    <a:close/>
                    <a:moveTo>
                      <a:pt x="84" y="12"/>
                    </a:moveTo>
                    <a:cubicBezTo>
                      <a:pt x="84" y="12"/>
                      <a:pt x="84" y="12"/>
                      <a:pt x="84" y="12"/>
                    </a:cubicBezTo>
                    <a:cubicBezTo>
                      <a:pt x="84" y="1"/>
                      <a:pt x="84" y="1"/>
                      <a:pt x="84" y="1"/>
                    </a:cubicBezTo>
                    <a:cubicBezTo>
                      <a:pt x="84" y="1"/>
                      <a:pt x="84" y="1"/>
                      <a:pt x="83" y="1"/>
                    </a:cubicBezTo>
                    <a:cubicBezTo>
                      <a:pt x="83" y="1"/>
                      <a:pt x="83" y="1"/>
                      <a:pt x="83" y="1"/>
                    </a:cubicBezTo>
                    <a:cubicBezTo>
                      <a:pt x="82" y="1"/>
                      <a:pt x="82" y="1"/>
                      <a:pt x="82" y="1"/>
                    </a:cubicBezTo>
                    <a:cubicBezTo>
                      <a:pt x="82" y="0"/>
                      <a:pt x="82" y="0"/>
                      <a:pt x="82" y="0"/>
                    </a:cubicBezTo>
                    <a:cubicBezTo>
                      <a:pt x="86" y="0"/>
                      <a:pt x="86" y="0"/>
                      <a:pt x="86" y="0"/>
                    </a:cubicBezTo>
                    <a:cubicBezTo>
                      <a:pt x="86" y="1"/>
                      <a:pt x="86" y="1"/>
                      <a:pt x="86" y="1"/>
                    </a:cubicBezTo>
                    <a:cubicBezTo>
                      <a:pt x="85" y="1"/>
                      <a:pt x="85" y="1"/>
                      <a:pt x="85" y="1"/>
                    </a:cubicBezTo>
                    <a:cubicBezTo>
                      <a:pt x="85" y="1"/>
                      <a:pt x="85" y="1"/>
                      <a:pt x="84" y="1"/>
                    </a:cubicBezTo>
                    <a:cubicBezTo>
                      <a:pt x="84" y="1"/>
                      <a:pt x="84" y="1"/>
                      <a:pt x="84" y="1"/>
                    </a:cubicBezTo>
                    <a:cubicBezTo>
                      <a:pt x="85" y="16"/>
                      <a:pt x="85" y="16"/>
                      <a:pt x="85" y="16"/>
                    </a:cubicBezTo>
                    <a:cubicBezTo>
                      <a:pt x="85" y="16"/>
                      <a:pt x="85" y="16"/>
                      <a:pt x="85" y="16"/>
                    </a:cubicBezTo>
                    <a:cubicBezTo>
                      <a:pt x="85" y="16"/>
                      <a:pt x="85" y="16"/>
                      <a:pt x="85" y="16"/>
                    </a:cubicBezTo>
                    <a:cubicBezTo>
                      <a:pt x="77" y="3"/>
                      <a:pt x="77" y="3"/>
                      <a:pt x="77" y="3"/>
                    </a:cubicBezTo>
                    <a:cubicBezTo>
                      <a:pt x="77" y="3"/>
                      <a:pt x="77" y="3"/>
                      <a:pt x="77" y="3"/>
                    </a:cubicBezTo>
                    <a:cubicBezTo>
                      <a:pt x="77" y="15"/>
                      <a:pt x="77" y="15"/>
                      <a:pt x="77" y="15"/>
                    </a:cubicBezTo>
                    <a:cubicBezTo>
                      <a:pt x="77" y="15"/>
                      <a:pt x="78" y="15"/>
                      <a:pt x="78" y="16"/>
                    </a:cubicBezTo>
                    <a:cubicBezTo>
                      <a:pt x="78" y="16"/>
                      <a:pt x="78" y="16"/>
                      <a:pt x="78" y="16"/>
                    </a:cubicBezTo>
                    <a:cubicBezTo>
                      <a:pt x="79" y="16"/>
                      <a:pt x="79" y="16"/>
                      <a:pt x="79" y="16"/>
                    </a:cubicBezTo>
                    <a:cubicBezTo>
                      <a:pt x="79" y="16"/>
                      <a:pt x="79" y="16"/>
                      <a:pt x="79" y="16"/>
                    </a:cubicBezTo>
                    <a:cubicBezTo>
                      <a:pt x="75" y="16"/>
                      <a:pt x="75" y="16"/>
                      <a:pt x="75" y="16"/>
                    </a:cubicBezTo>
                    <a:cubicBezTo>
                      <a:pt x="75" y="16"/>
                      <a:pt x="75" y="16"/>
                      <a:pt x="75" y="16"/>
                    </a:cubicBezTo>
                    <a:cubicBezTo>
                      <a:pt x="76" y="16"/>
                      <a:pt x="76" y="16"/>
                      <a:pt x="76" y="16"/>
                    </a:cubicBezTo>
                    <a:cubicBezTo>
                      <a:pt x="76" y="16"/>
                      <a:pt x="77" y="16"/>
                      <a:pt x="77" y="16"/>
                    </a:cubicBezTo>
                    <a:cubicBezTo>
                      <a:pt x="77" y="15"/>
                      <a:pt x="77" y="15"/>
                      <a:pt x="77" y="15"/>
                    </a:cubicBezTo>
                    <a:cubicBezTo>
                      <a:pt x="76" y="2"/>
                      <a:pt x="76" y="2"/>
                      <a:pt x="76" y="2"/>
                    </a:cubicBezTo>
                    <a:cubicBezTo>
                      <a:pt x="76" y="2"/>
                      <a:pt x="76" y="2"/>
                      <a:pt x="76" y="1"/>
                    </a:cubicBezTo>
                    <a:cubicBezTo>
                      <a:pt x="76" y="1"/>
                      <a:pt x="75" y="1"/>
                      <a:pt x="75" y="1"/>
                    </a:cubicBezTo>
                    <a:cubicBezTo>
                      <a:pt x="74" y="1"/>
                      <a:pt x="74" y="1"/>
                      <a:pt x="74" y="1"/>
                    </a:cubicBezTo>
                    <a:cubicBezTo>
                      <a:pt x="74" y="1"/>
                      <a:pt x="74" y="1"/>
                      <a:pt x="74" y="1"/>
                    </a:cubicBezTo>
                    <a:cubicBezTo>
                      <a:pt x="77" y="1"/>
                      <a:pt x="77" y="1"/>
                      <a:pt x="77" y="1"/>
                    </a:cubicBezTo>
                    <a:cubicBezTo>
                      <a:pt x="84" y="12"/>
                      <a:pt x="84" y="12"/>
                      <a:pt x="84" y="12"/>
                    </a:cubicBezTo>
                    <a:close/>
                    <a:moveTo>
                      <a:pt x="90" y="1"/>
                    </a:moveTo>
                    <a:cubicBezTo>
                      <a:pt x="90" y="0"/>
                      <a:pt x="90" y="0"/>
                      <a:pt x="90" y="0"/>
                    </a:cubicBezTo>
                    <a:cubicBezTo>
                      <a:pt x="98" y="1"/>
                      <a:pt x="98" y="1"/>
                      <a:pt x="98" y="1"/>
                    </a:cubicBezTo>
                    <a:cubicBezTo>
                      <a:pt x="98" y="1"/>
                      <a:pt x="98" y="1"/>
                      <a:pt x="98" y="1"/>
                    </a:cubicBezTo>
                    <a:cubicBezTo>
                      <a:pt x="96" y="1"/>
                      <a:pt x="96" y="1"/>
                      <a:pt x="96" y="1"/>
                    </a:cubicBezTo>
                    <a:cubicBezTo>
                      <a:pt x="95" y="1"/>
                      <a:pt x="95" y="1"/>
                      <a:pt x="95" y="1"/>
                    </a:cubicBezTo>
                    <a:cubicBezTo>
                      <a:pt x="95" y="1"/>
                      <a:pt x="95" y="1"/>
                      <a:pt x="95" y="2"/>
                    </a:cubicBezTo>
                    <a:cubicBezTo>
                      <a:pt x="94" y="15"/>
                      <a:pt x="94" y="15"/>
                      <a:pt x="94" y="15"/>
                    </a:cubicBezTo>
                    <a:cubicBezTo>
                      <a:pt x="94" y="15"/>
                      <a:pt x="94" y="15"/>
                      <a:pt x="94" y="15"/>
                    </a:cubicBezTo>
                    <a:cubicBezTo>
                      <a:pt x="94" y="15"/>
                      <a:pt x="94" y="15"/>
                      <a:pt x="95" y="15"/>
                    </a:cubicBezTo>
                    <a:cubicBezTo>
                      <a:pt x="97" y="16"/>
                      <a:pt x="97" y="16"/>
                      <a:pt x="97" y="16"/>
                    </a:cubicBezTo>
                    <a:cubicBezTo>
                      <a:pt x="97" y="16"/>
                      <a:pt x="97" y="16"/>
                      <a:pt x="97" y="16"/>
                    </a:cubicBezTo>
                    <a:cubicBezTo>
                      <a:pt x="89" y="16"/>
                      <a:pt x="89" y="16"/>
                      <a:pt x="89" y="16"/>
                    </a:cubicBezTo>
                    <a:cubicBezTo>
                      <a:pt x="89" y="15"/>
                      <a:pt x="89" y="15"/>
                      <a:pt x="89" y="15"/>
                    </a:cubicBezTo>
                    <a:cubicBezTo>
                      <a:pt x="91" y="15"/>
                      <a:pt x="91" y="15"/>
                      <a:pt x="91" y="15"/>
                    </a:cubicBezTo>
                    <a:cubicBezTo>
                      <a:pt x="92" y="15"/>
                      <a:pt x="92" y="15"/>
                      <a:pt x="92" y="15"/>
                    </a:cubicBezTo>
                    <a:cubicBezTo>
                      <a:pt x="92" y="15"/>
                      <a:pt x="92" y="15"/>
                      <a:pt x="92" y="15"/>
                    </a:cubicBezTo>
                    <a:cubicBezTo>
                      <a:pt x="93" y="2"/>
                      <a:pt x="93" y="2"/>
                      <a:pt x="93" y="2"/>
                    </a:cubicBezTo>
                    <a:cubicBezTo>
                      <a:pt x="93" y="1"/>
                      <a:pt x="93" y="1"/>
                      <a:pt x="93" y="1"/>
                    </a:cubicBezTo>
                    <a:cubicBezTo>
                      <a:pt x="93" y="1"/>
                      <a:pt x="93" y="1"/>
                      <a:pt x="92" y="1"/>
                    </a:cubicBezTo>
                    <a:cubicBezTo>
                      <a:pt x="90" y="1"/>
                      <a:pt x="90" y="1"/>
                      <a:pt x="90" y="1"/>
                    </a:cubicBezTo>
                    <a:close/>
                    <a:moveTo>
                      <a:pt x="109" y="3"/>
                    </a:moveTo>
                    <a:cubicBezTo>
                      <a:pt x="109" y="2"/>
                      <a:pt x="109" y="2"/>
                      <a:pt x="109" y="2"/>
                    </a:cubicBezTo>
                    <a:cubicBezTo>
                      <a:pt x="113" y="3"/>
                      <a:pt x="113" y="3"/>
                      <a:pt x="113" y="3"/>
                    </a:cubicBezTo>
                    <a:cubicBezTo>
                      <a:pt x="113" y="3"/>
                      <a:pt x="113" y="3"/>
                      <a:pt x="113" y="3"/>
                    </a:cubicBezTo>
                    <a:cubicBezTo>
                      <a:pt x="112" y="3"/>
                      <a:pt x="112" y="3"/>
                      <a:pt x="112" y="3"/>
                    </a:cubicBezTo>
                    <a:cubicBezTo>
                      <a:pt x="112" y="3"/>
                      <a:pt x="112" y="3"/>
                      <a:pt x="111" y="4"/>
                    </a:cubicBezTo>
                    <a:cubicBezTo>
                      <a:pt x="111" y="4"/>
                      <a:pt x="111" y="4"/>
                      <a:pt x="111" y="4"/>
                    </a:cubicBezTo>
                    <a:cubicBezTo>
                      <a:pt x="105" y="17"/>
                      <a:pt x="105" y="17"/>
                      <a:pt x="105" y="17"/>
                    </a:cubicBezTo>
                    <a:cubicBezTo>
                      <a:pt x="104" y="17"/>
                      <a:pt x="104" y="17"/>
                      <a:pt x="104" y="17"/>
                    </a:cubicBezTo>
                    <a:cubicBezTo>
                      <a:pt x="103" y="3"/>
                      <a:pt x="103" y="3"/>
                      <a:pt x="103" y="3"/>
                    </a:cubicBezTo>
                    <a:cubicBezTo>
                      <a:pt x="103" y="3"/>
                      <a:pt x="103" y="2"/>
                      <a:pt x="103" y="2"/>
                    </a:cubicBezTo>
                    <a:cubicBezTo>
                      <a:pt x="103" y="2"/>
                      <a:pt x="103" y="2"/>
                      <a:pt x="102" y="2"/>
                    </a:cubicBezTo>
                    <a:cubicBezTo>
                      <a:pt x="102" y="2"/>
                      <a:pt x="102" y="2"/>
                      <a:pt x="102" y="2"/>
                    </a:cubicBezTo>
                    <a:cubicBezTo>
                      <a:pt x="102" y="1"/>
                      <a:pt x="102" y="1"/>
                      <a:pt x="102" y="1"/>
                    </a:cubicBezTo>
                    <a:cubicBezTo>
                      <a:pt x="106" y="2"/>
                      <a:pt x="106" y="2"/>
                      <a:pt x="106" y="2"/>
                    </a:cubicBezTo>
                    <a:cubicBezTo>
                      <a:pt x="106" y="2"/>
                      <a:pt x="106" y="2"/>
                      <a:pt x="106" y="2"/>
                    </a:cubicBezTo>
                    <a:cubicBezTo>
                      <a:pt x="105" y="2"/>
                      <a:pt x="105" y="2"/>
                      <a:pt x="105" y="2"/>
                    </a:cubicBezTo>
                    <a:cubicBezTo>
                      <a:pt x="105" y="2"/>
                      <a:pt x="105" y="2"/>
                      <a:pt x="105" y="2"/>
                    </a:cubicBezTo>
                    <a:cubicBezTo>
                      <a:pt x="105" y="3"/>
                      <a:pt x="105" y="3"/>
                      <a:pt x="105" y="3"/>
                    </a:cubicBezTo>
                    <a:cubicBezTo>
                      <a:pt x="105" y="14"/>
                      <a:pt x="105" y="14"/>
                      <a:pt x="105" y="14"/>
                    </a:cubicBezTo>
                    <a:cubicBezTo>
                      <a:pt x="106" y="14"/>
                      <a:pt x="106" y="14"/>
                      <a:pt x="106" y="14"/>
                    </a:cubicBezTo>
                    <a:cubicBezTo>
                      <a:pt x="110" y="4"/>
                      <a:pt x="110" y="4"/>
                      <a:pt x="110" y="4"/>
                    </a:cubicBezTo>
                    <a:cubicBezTo>
                      <a:pt x="110" y="4"/>
                      <a:pt x="110" y="4"/>
                      <a:pt x="110" y="3"/>
                    </a:cubicBezTo>
                    <a:cubicBezTo>
                      <a:pt x="110" y="3"/>
                      <a:pt x="110" y="3"/>
                      <a:pt x="110" y="3"/>
                    </a:cubicBezTo>
                    <a:cubicBezTo>
                      <a:pt x="109" y="3"/>
                      <a:pt x="109" y="3"/>
                      <a:pt x="109" y="3"/>
                    </a:cubicBezTo>
                    <a:close/>
                    <a:moveTo>
                      <a:pt x="116" y="5"/>
                    </a:moveTo>
                    <a:cubicBezTo>
                      <a:pt x="116" y="5"/>
                      <a:pt x="116" y="5"/>
                      <a:pt x="116" y="5"/>
                    </a:cubicBezTo>
                    <a:cubicBezTo>
                      <a:pt x="117" y="5"/>
                      <a:pt x="117" y="5"/>
                      <a:pt x="117" y="5"/>
                    </a:cubicBezTo>
                    <a:cubicBezTo>
                      <a:pt x="117" y="5"/>
                      <a:pt x="117" y="6"/>
                      <a:pt x="117" y="6"/>
                    </a:cubicBezTo>
                    <a:cubicBezTo>
                      <a:pt x="113" y="18"/>
                      <a:pt x="113" y="18"/>
                      <a:pt x="113" y="18"/>
                    </a:cubicBezTo>
                    <a:cubicBezTo>
                      <a:pt x="113" y="18"/>
                      <a:pt x="113" y="19"/>
                      <a:pt x="113" y="19"/>
                    </a:cubicBezTo>
                    <a:cubicBezTo>
                      <a:pt x="112" y="19"/>
                      <a:pt x="112" y="19"/>
                      <a:pt x="112" y="19"/>
                    </a:cubicBezTo>
                    <a:cubicBezTo>
                      <a:pt x="111" y="18"/>
                      <a:pt x="111" y="18"/>
                      <a:pt x="111" y="18"/>
                    </a:cubicBezTo>
                    <a:cubicBezTo>
                      <a:pt x="111" y="19"/>
                      <a:pt x="111" y="19"/>
                      <a:pt x="111" y="19"/>
                    </a:cubicBezTo>
                    <a:cubicBezTo>
                      <a:pt x="120" y="22"/>
                      <a:pt x="120" y="22"/>
                      <a:pt x="120" y="22"/>
                    </a:cubicBezTo>
                    <a:cubicBezTo>
                      <a:pt x="122" y="19"/>
                      <a:pt x="122" y="19"/>
                      <a:pt x="122" y="19"/>
                    </a:cubicBezTo>
                    <a:cubicBezTo>
                      <a:pt x="122" y="18"/>
                      <a:pt x="122" y="18"/>
                      <a:pt x="122" y="18"/>
                    </a:cubicBezTo>
                    <a:cubicBezTo>
                      <a:pt x="121" y="19"/>
                      <a:pt x="120" y="20"/>
                      <a:pt x="120" y="20"/>
                    </a:cubicBezTo>
                    <a:cubicBezTo>
                      <a:pt x="119" y="21"/>
                      <a:pt x="118" y="21"/>
                      <a:pt x="117" y="20"/>
                    </a:cubicBezTo>
                    <a:cubicBezTo>
                      <a:pt x="115" y="20"/>
                      <a:pt x="115" y="20"/>
                      <a:pt x="115" y="20"/>
                    </a:cubicBezTo>
                    <a:cubicBezTo>
                      <a:pt x="115" y="20"/>
                      <a:pt x="114" y="19"/>
                      <a:pt x="114" y="19"/>
                    </a:cubicBezTo>
                    <a:cubicBezTo>
                      <a:pt x="114" y="19"/>
                      <a:pt x="114" y="19"/>
                      <a:pt x="114" y="19"/>
                    </a:cubicBezTo>
                    <a:cubicBezTo>
                      <a:pt x="116" y="12"/>
                      <a:pt x="116" y="12"/>
                      <a:pt x="116" y="12"/>
                    </a:cubicBezTo>
                    <a:cubicBezTo>
                      <a:pt x="119" y="13"/>
                      <a:pt x="119" y="13"/>
                      <a:pt x="119" y="13"/>
                    </a:cubicBezTo>
                    <a:cubicBezTo>
                      <a:pt x="120" y="13"/>
                      <a:pt x="120" y="13"/>
                      <a:pt x="120" y="14"/>
                    </a:cubicBezTo>
                    <a:cubicBezTo>
                      <a:pt x="120" y="14"/>
                      <a:pt x="120" y="15"/>
                      <a:pt x="120" y="15"/>
                    </a:cubicBezTo>
                    <a:cubicBezTo>
                      <a:pt x="120" y="16"/>
                      <a:pt x="120" y="16"/>
                      <a:pt x="120" y="16"/>
                    </a:cubicBezTo>
                    <a:cubicBezTo>
                      <a:pt x="120" y="16"/>
                      <a:pt x="120" y="16"/>
                      <a:pt x="120" y="16"/>
                    </a:cubicBezTo>
                    <a:cubicBezTo>
                      <a:pt x="122" y="11"/>
                      <a:pt x="122" y="11"/>
                      <a:pt x="122" y="11"/>
                    </a:cubicBezTo>
                    <a:cubicBezTo>
                      <a:pt x="122" y="11"/>
                      <a:pt x="122" y="11"/>
                      <a:pt x="122" y="11"/>
                    </a:cubicBezTo>
                    <a:cubicBezTo>
                      <a:pt x="121" y="11"/>
                      <a:pt x="121" y="11"/>
                      <a:pt x="121" y="11"/>
                    </a:cubicBezTo>
                    <a:cubicBezTo>
                      <a:pt x="121" y="12"/>
                      <a:pt x="121" y="12"/>
                      <a:pt x="121" y="12"/>
                    </a:cubicBezTo>
                    <a:cubicBezTo>
                      <a:pt x="120" y="13"/>
                      <a:pt x="120" y="13"/>
                      <a:pt x="119" y="12"/>
                    </a:cubicBezTo>
                    <a:cubicBezTo>
                      <a:pt x="117" y="12"/>
                      <a:pt x="117" y="12"/>
                      <a:pt x="117" y="12"/>
                    </a:cubicBezTo>
                    <a:cubicBezTo>
                      <a:pt x="118" y="6"/>
                      <a:pt x="118" y="6"/>
                      <a:pt x="118" y="6"/>
                    </a:cubicBezTo>
                    <a:cubicBezTo>
                      <a:pt x="118" y="6"/>
                      <a:pt x="119" y="6"/>
                      <a:pt x="119" y="6"/>
                    </a:cubicBezTo>
                    <a:cubicBezTo>
                      <a:pt x="119" y="6"/>
                      <a:pt x="119" y="6"/>
                      <a:pt x="119" y="6"/>
                    </a:cubicBezTo>
                    <a:cubicBezTo>
                      <a:pt x="122" y="7"/>
                      <a:pt x="122" y="7"/>
                      <a:pt x="122" y="7"/>
                    </a:cubicBezTo>
                    <a:cubicBezTo>
                      <a:pt x="122" y="7"/>
                      <a:pt x="123" y="7"/>
                      <a:pt x="123" y="8"/>
                    </a:cubicBezTo>
                    <a:cubicBezTo>
                      <a:pt x="124" y="8"/>
                      <a:pt x="124" y="9"/>
                      <a:pt x="124" y="10"/>
                    </a:cubicBezTo>
                    <a:cubicBezTo>
                      <a:pt x="125" y="10"/>
                      <a:pt x="125" y="10"/>
                      <a:pt x="125" y="10"/>
                    </a:cubicBezTo>
                    <a:cubicBezTo>
                      <a:pt x="125" y="7"/>
                      <a:pt x="125" y="7"/>
                      <a:pt x="125" y="7"/>
                    </a:cubicBezTo>
                    <a:cubicBezTo>
                      <a:pt x="116" y="4"/>
                      <a:pt x="116" y="4"/>
                      <a:pt x="116" y="4"/>
                    </a:cubicBezTo>
                    <a:cubicBezTo>
                      <a:pt x="116" y="5"/>
                      <a:pt x="116" y="5"/>
                      <a:pt x="116" y="5"/>
                    </a:cubicBezTo>
                    <a:close/>
                    <a:moveTo>
                      <a:pt x="136" y="17"/>
                    </a:moveTo>
                    <a:cubicBezTo>
                      <a:pt x="136" y="18"/>
                      <a:pt x="135" y="19"/>
                      <a:pt x="134" y="19"/>
                    </a:cubicBezTo>
                    <a:cubicBezTo>
                      <a:pt x="133" y="19"/>
                      <a:pt x="133" y="19"/>
                      <a:pt x="132" y="19"/>
                    </a:cubicBezTo>
                    <a:cubicBezTo>
                      <a:pt x="131" y="26"/>
                      <a:pt x="131" y="26"/>
                      <a:pt x="131" y="26"/>
                    </a:cubicBezTo>
                    <a:cubicBezTo>
                      <a:pt x="131" y="26"/>
                      <a:pt x="131" y="27"/>
                      <a:pt x="131" y="27"/>
                    </a:cubicBezTo>
                    <a:cubicBezTo>
                      <a:pt x="131" y="27"/>
                      <a:pt x="131" y="27"/>
                      <a:pt x="132" y="27"/>
                    </a:cubicBezTo>
                    <a:cubicBezTo>
                      <a:pt x="132" y="27"/>
                      <a:pt x="132" y="27"/>
                      <a:pt x="132" y="27"/>
                    </a:cubicBezTo>
                    <a:cubicBezTo>
                      <a:pt x="132" y="28"/>
                      <a:pt x="132" y="28"/>
                      <a:pt x="132" y="28"/>
                    </a:cubicBezTo>
                    <a:cubicBezTo>
                      <a:pt x="130" y="27"/>
                      <a:pt x="130" y="27"/>
                      <a:pt x="130" y="27"/>
                    </a:cubicBezTo>
                    <a:cubicBezTo>
                      <a:pt x="130" y="18"/>
                      <a:pt x="130" y="18"/>
                      <a:pt x="130" y="18"/>
                    </a:cubicBezTo>
                    <a:cubicBezTo>
                      <a:pt x="129" y="17"/>
                      <a:pt x="129" y="17"/>
                      <a:pt x="129" y="17"/>
                    </a:cubicBezTo>
                    <a:cubicBezTo>
                      <a:pt x="126" y="23"/>
                      <a:pt x="126" y="23"/>
                      <a:pt x="126" y="23"/>
                    </a:cubicBezTo>
                    <a:cubicBezTo>
                      <a:pt x="125" y="24"/>
                      <a:pt x="125" y="24"/>
                      <a:pt x="126" y="24"/>
                    </a:cubicBezTo>
                    <a:cubicBezTo>
                      <a:pt x="126" y="24"/>
                      <a:pt x="126" y="24"/>
                      <a:pt x="126" y="24"/>
                    </a:cubicBezTo>
                    <a:cubicBezTo>
                      <a:pt x="126" y="25"/>
                      <a:pt x="126" y="25"/>
                      <a:pt x="126" y="25"/>
                    </a:cubicBezTo>
                    <a:cubicBezTo>
                      <a:pt x="126" y="25"/>
                      <a:pt x="126" y="25"/>
                      <a:pt x="126" y="25"/>
                    </a:cubicBezTo>
                    <a:cubicBezTo>
                      <a:pt x="122" y="23"/>
                      <a:pt x="122" y="23"/>
                      <a:pt x="122" y="23"/>
                    </a:cubicBezTo>
                    <a:cubicBezTo>
                      <a:pt x="123" y="23"/>
                      <a:pt x="123" y="23"/>
                      <a:pt x="123" y="23"/>
                    </a:cubicBezTo>
                    <a:cubicBezTo>
                      <a:pt x="123" y="23"/>
                      <a:pt x="123" y="23"/>
                      <a:pt x="123" y="23"/>
                    </a:cubicBezTo>
                    <a:cubicBezTo>
                      <a:pt x="123" y="23"/>
                      <a:pt x="124" y="23"/>
                      <a:pt x="124" y="23"/>
                    </a:cubicBezTo>
                    <a:cubicBezTo>
                      <a:pt x="124" y="23"/>
                      <a:pt x="124" y="23"/>
                      <a:pt x="124" y="23"/>
                    </a:cubicBezTo>
                    <a:cubicBezTo>
                      <a:pt x="130" y="11"/>
                      <a:pt x="130" y="11"/>
                      <a:pt x="130" y="11"/>
                    </a:cubicBezTo>
                    <a:cubicBezTo>
                      <a:pt x="130" y="11"/>
                      <a:pt x="130" y="11"/>
                      <a:pt x="130" y="10"/>
                    </a:cubicBezTo>
                    <a:cubicBezTo>
                      <a:pt x="130" y="10"/>
                      <a:pt x="130" y="10"/>
                      <a:pt x="130" y="10"/>
                    </a:cubicBezTo>
                    <a:cubicBezTo>
                      <a:pt x="129" y="10"/>
                      <a:pt x="129" y="10"/>
                      <a:pt x="129" y="10"/>
                    </a:cubicBezTo>
                    <a:cubicBezTo>
                      <a:pt x="130" y="9"/>
                      <a:pt x="130" y="9"/>
                      <a:pt x="130" y="9"/>
                    </a:cubicBezTo>
                    <a:cubicBezTo>
                      <a:pt x="134" y="12"/>
                      <a:pt x="134" y="12"/>
                      <a:pt x="134" y="12"/>
                    </a:cubicBezTo>
                    <a:cubicBezTo>
                      <a:pt x="135" y="12"/>
                      <a:pt x="136" y="13"/>
                      <a:pt x="137" y="14"/>
                    </a:cubicBezTo>
                    <a:cubicBezTo>
                      <a:pt x="137" y="15"/>
                      <a:pt x="137" y="16"/>
                      <a:pt x="136" y="17"/>
                    </a:cubicBezTo>
                    <a:close/>
                    <a:moveTo>
                      <a:pt x="129" y="17"/>
                    </a:moveTo>
                    <a:cubicBezTo>
                      <a:pt x="131" y="18"/>
                      <a:pt x="131" y="18"/>
                      <a:pt x="131" y="18"/>
                    </a:cubicBezTo>
                    <a:cubicBezTo>
                      <a:pt x="131" y="18"/>
                      <a:pt x="132" y="18"/>
                      <a:pt x="133" y="18"/>
                    </a:cubicBezTo>
                    <a:cubicBezTo>
                      <a:pt x="134" y="18"/>
                      <a:pt x="134" y="17"/>
                      <a:pt x="135" y="16"/>
                    </a:cubicBezTo>
                    <a:cubicBezTo>
                      <a:pt x="135" y="15"/>
                      <a:pt x="136" y="15"/>
                      <a:pt x="135" y="14"/>
                    </a:cubicBezTo>
                    <a:cubicBezTo>
                      <a:pt x="135" y="13"/>
                      <a:pt x="135" y="12"/>
                      <a:pt x="133" y="12"/>
                    </a:cubicBezTo>
                    <a:cubicBezTo>
                      <a:pt x="133" y="11"/>
                      <a:pt x="133" y="11"/>
                      <a:pt x="133" y="11"/>
                    </a:cubicBezTo>
                    <a:cubicBezTo>
                      <a:pt x="132" y="11"/>
                      <a:pt x="132" y="11"/>
                      <a:pt x="132" y="11"/>
                    </a:cubicBezTo>
                    <a:cubicBezTo>
                      <a:pt x="132" y="11"/>
                      <a:pt x="132" y="11"/>
                      <a:pt x="132" y="12"/>
                    </a:cubicBezTo>
                    <a:cubicBezTo>
                      <a:pt x="129" y="17"/>
                      <a:pt x="129" y="17"/>
                      <a:pt x="129" y="17"/>
                    </a:cubicBezTo>
                    <a:close/>
                    <a:moveTo>
                      <a:pt x="141" y="25"/>
                    </a:moveTo>
                    <a:cubicBezTo>
                      <a:pt x="142" y="27"/>
                      <a:pt x="142" y="28"/>
                      <a:pt x="142" y="28"/>
                    </a:cubicBezTo>
                    <a:cubicBezTo>
                      <a:pt x="142" y="29"/>
                      <a:pt x="142" y="30"/>
                      <a:pt x="142" y="30"/>
                    </a:cubicBezTo>
                    <a:cubicBezTo>
                      <a:pt x="141" y="31"/>
                      <a:pt x="141" y="32"/>
                      <a:pt x="140" y="32"/>
                    </a:cubicBezTo>
                    <a:cubicBezTo>
                      <a:pt x="139" y="32"/>
                      <a:pt x="138" y="32"/>
                      <a:pt x="137" y="32"/>
                    </a:cubicBezTo>
                    <a:cubicBezTo>
                      <a:pt x="137" y="31"/>
                      <a:pt x="136" y="30"/>
                      <a:pt x="136" y="29"/>
                    </a:cubicBezTo>
                    <a:cubicBezTo>
                      <a:pt x="135" y="28"/>
                      <a:pt x="136" y="27"/>
                      <a:pt x="136" y="26"/>
                    </a:cubicBezTo>
                    <a:cubicBezTo>
                      <a:pt x="136" y="26"/>
                      <a:pt x="136" y="26"/>
                      <a:pt x="136" y="26"/>
                    </a:cubicBezTo>
                    <a:cubicBezTo>
                      <a:pt x="134" y="30"/>
                      <a:pt x="134" y="30"/>
                      <a:pt x="134" y="30"/>
                    </a:cubicBezTo>
                    <a:cubicBezTo>
                      <a:pt x="134" y="30"/>
                      <a:pt x="134" y="30"/>
                      <a:pt x="134" y="30"/>
                    </a:cubicBezTo>
                    <a:cubicBezTo>
                      <a:pt x="135" y="30"/>
                      <a:pt x="135" y="30"/>
                      <a:pt x="135" y="30"/>
                    </a:cubicBezTo>
                    <a:cubicBezTo>
                      <a:pt x="135" y="30"/>
                      <a:pt x="135" y="30"/>
                      <a:pt x="136" y="31"/>
                    </a:cubicBezTo>
                    <a:cubicBezTo>
                      <a:pt x="136" y="31"/>
                      <a:pt x="136" y="32"/>
                      <a:pt x="137" y="32"/>
                    </a:cubicBezTo>
                    <a:cubicBezTo>
                      <a:pt x="138" y="33"/>
                      <a:pt x="139" y="33"/>
                      <a:pt x="140" y="33"/>
                    </a:cubicBezTo>
                    <a:cubicBezTo>
                      <a:pt x="142" y="33"/>
                      <a:pt x="142" y="32"/>
                      <a:pt x="143" y="31"/>
                    </a:cubicBezTo>
                    <a:cubicBezTo>
                      <a:pt x="144" y="30"/>
                      <a:pt x="144" y="29"/>
                      <a:pt x="144" y="28"/>
                    </a:cubicBezTo>
                    <a:cubicBezTo>
                      <a:pt x="144" y="27"/>
                      <a:pt x="143" y="26"/>
                      <a:pt x="142" y="25"/>
                    </a:cubicBezTo>
                    <a:cubicBezTo>
                      <a:pt x="141" y="23"/>
                      <a:pt x="141" y="22"/>
                      <a:pt x="141" y="22"/>
                    </a:cubicBezTo>
                    <a:cubicBezTo>
                      <a:pt x="141" y="21"/>
                      <a:pt x="141" y="20"/>
                      <a:pt x="141" y="20"/>
                    </a:cubicBezTo>
                    <a:cubicBezTo>
                      <a:pt x="142" y="19"/>
                      <a:pt x="142" y="19"/>
                      <a:pt x="143" y="19"/>
                    </a:cubicBezTo>
                    <a:cubicBezTo>
                      <a:pt x="144" y="18"/>
                      <a:pt x="144" y="18"/>
                      <a:pt x="145" y="19"/>
                    </a:cubicBezTo>
                    <a:cubicBezTo>
                      <a:pt x="146" y="20"/>
                      <a:pt x="147" y="20"/>
                      <a:pt x="147" y="21"/>
                    </a:cubicBezTo>
                    <a:cubicBezTo>
                      <a:pt x="147" y="22"/>
                      <a:pt x="147" y="23"/>
                      <a:pt x="147" y="24"/>
                    </a:cubicBezTo>
                    <a:cubicBezTo>
                      <a:pt x="147" y="24"/>
                      <a:pt x="147" y="24"/>
                      <a:pt x="147" y="24"/>
                    </a:cubicBezTo>
                    <a:cubicBezTo>
                      <a:pt x="149" y="21"/>
                      <a:pt x="149" y="21"/>
                      <a:pt x="149" y="21"/>
                    </a:cubicBezTo>
                    <a:cubicBezTo>
                      <a:pt x="149" y="21"/>
                      <a:pt x="149" y="21"/>
                      <a:pt x="148" y="21"/>
                    </a:cubicBezTo>
                    <a:cubicBezTo>
                      <a:pt x="148" y="21"/>
                      <a:pt x="148" y="21"/>
                      <a:pt x="148" y="21"/>
                    </a:cubicBezTo>
                    <a:cubicBezTo>
                      <a:pt x="148" y="21"/>
                      <a:pt x="147" y="20"/>
                      <a:pt x="147" y="20"/>
                    </a:cubicBezTo>
                    <a:cubicBezTo>
                      <a:pt x="147" y="19"/>
                      <a:pt x="146" y="19"/>
                      <a:pt x="146" y="19"/>
                    </a:cubicBezTo>
                    <a:cubicBezTo>
                      <a:pt x="145" y="18"/>
                      <a:pt x="144" y="18"/>
                      <a:pt x="143" y="18"/>
                    </a:cubicBezTo>
                    <a:cubicBezTo>
                      <a:pt x="141" y="18"/>
                      <a:pt x="141" y="19"/>
                      <a:pt x="140" y="19"/>
                    </a:cubicBezTo>
                    <a:cubicBezTo>
                      <a:pt x="139" y="20"/>
                      <a:pt x="139" y="21"/>
                      <a:pt x="139" y="22"/>
                    </a:cubicBezTo>
                    <a:cubicBezTo>
                      <a:pt x="140" y="23"/>
                      <a:pt x="140" y="24"/>
                      <a:pt x="141" y="25"/>
                    </a:cubicBezTo>
                    <a:close/>
                    <a:moveTo>
                      <a:pt x="154" y="26"/>
                    </a:moveTo>
                    <a:cubicBezTo>
                      <a:pt x="154" y="26"/>
                      <a:pt x="154" y="26"/>
                      <a:pt x="154" y="26"/>
                    </a:cubicBezTo>
                    <a:cubicBezTo>
                      <a:pt x="159" y="31"/>
                      <a:pt x="159" y="31"/>
                      <a:pt x="159" y="31"/>
                    </a:cubicBezTo>
                    <a:cubicBezTo>
                      <a:pt x="159" y="31"/>
                      <a:pt x="159" y="31"/>
                      <a:pt x="159" y="31"/>
                    </a:cubicBezTo>
                    <a:cubicBezTo>
                      <a:pt x="158" y="30"/>
                      <a:pt x="158" y="30"/>
                      <a:pt x="158" y="30"/>
                    </a:cubicBezTo>
                    <a:cubicBezTo>
                      <a:pt x="157" y="29"/>
                      <a:pt x="157" y="29"/>
                      <a:pt x="157" y="29"/>
                    </a:cubicBezTo>
                    <a:cubicBezTo>
                      <a:pt x="157" y="29"/>
                      <a:pt x="157" y="29"/>
                      <a:pt x="156" y="30"/>
                    </a:cubicBezTo>
                    <a:cubicBezTo>
                      <a:pt x="147" y="39"/>
                      <a:pt x="147" y="39"/>
                      <a:pt x="147" y="39"/>
                    </a:cubicBezTo>
                    <a:cubicBezTo>
                      <a:pt x="147" y="39"/>
                      <a:pt x="147" y="39"/>
                      <a:pt x="147" y="40"/>
                    </a:cubicBezTo>
                    <a:cubicBezTo>
                      <a:pt x="147" y="40"/>
                      <a:pt x="147" y="40"/>
                      <a:pt x="148" y="40"/>
                    </a:cubicBezTo>
                    <a:cubicBezTo>
                      <a:pt x="149" y="42"/>
                      <a:pt x="149" y="42"/>
                      <a:pt x="149" y="42"/>
                    </a:cubicBezTo>
                    <a:cubicBezTo>
                      <a:pt x="149" y="42"/>
                      <a:pt x="149" y="42"/>
                      <a:pt x="149" y="42"/>
                    </a:cubicBezTo>
                    <a:cubicBezTo>
                      <a:pt x="143" y="37"/>
                      <a:pt x="143" y="37"/>
                      <a:pt x="143" y="37"/>
                    </a:cubicBezTo>
                    <a:cubicBezTo>
                      <a:pt x="144" y="37"/>
                      <a:pt x="144" y="37"/>
                      <a:pt x="144" y="37"/>
                    </a:cubicBezTo>
                    <a:cubicBezTo>
                      <a:pt x="145" y="38"/>
                      <a:pt x="145" y="38"/>
                      <a:pt x="145" y="38"/>
                    </a:cubicBezTo>
                    <a:cubicBezTo>
                      <a:pt x="146" y="38"/>
                      <a:pt x="146" y="38"/>
                      <a:pt x="146" y="38"/>
                    </a:cubicBezTo>
                    <a:cubicBezTo>
                      <a:pt x="146" y="38"/>
                      <a:pt x="146" y="38"/>
                      <a:pt x="146" y="38"/>
                    </a:cubicBezTo>
                    <a:cubicBezTo>
                      <a:pt x="155" y="29"/>
                      <a:pt x="155" y="29"/>
                      <a:pt x="155" y="29"/>
                    </a:cubicBezTo>
                    <a:cubicBezTo>
                      <a:pt x="155" y="28"/>
                      <a:pt x="156" y="28"/>
                      <a:pt x="156" y="28"/>
                    </a:cubicBezTo>
                    <a:cubicBezTo>
                      <a:pt x="156" y="28"/>
                      <a:pt x="155" y="28"/>
                      <a:pt x="155" y="27"/>
                    </a:cubicBezTo>
                    <a:cubicBezTo>
                      <a:pt x="154" y="26"/>
                      <a:pt x="154" y="26"/>
                      <a:pt x="154" y="26"/>
                    </a:cubicBezTo>
                    <a:close/>
                    <a:moveTo>
                      <a:pt x="155" y="50"/>
                    </a:moveTo>
                    <a:cubicBezTo>
                      <a:pt x="156" y="50"/>
                      <a:pt x="156" y="50"/>
                      <a:pt x="156" y="50"/>
                    </a:cubicBezTo>
                    <a:cubicBezTo>
                      <a:pt x="155" y="49"/>
                      <a:pt x="155" y="49"/>
                      <a:pt x="155" y="49"/>
                    </a:cubicBezTo>
                    <a:cubicBezTo>
                      <a:pt x="155" y="49"/>
                      <a:pt x="155" y="49"/>
                      <a:pt x="155" y="49"/>
                    </a:cubicBezTo>
                    <a:cubicBezTo>
                      <a:pt x="155" y="49"/>
                      <a:pt x="155" y="48"/>
                      <a:pt x="155" y="48"/>
                    </a:cubicBezTo>
                    <a:cubicBezTo>
                      <a:pt x="165" y="40"/>
                      <a:pt x="165" y="40"/>
                      <a:pt x="165" y="40"/>
                    </a:cubicBezTo>
                    <a:cubicBezTo>
                      <a:pt x="166" y="40"/>
                      <a:pt x="166" y="40"/>
                      <a:pt x="166" y="40"/>
                    </a:cubicBezTo>
                    <a:cubicBezTo>
                      <a:pt x="166" y="40"/>
                      <a:pt x="166" y="40"/>
                      <a:pt x="167" y="40"/>
                    </a:cubicBezTo>
                    <a:cubicBezTo>
                      <a:pt x="167" y="41"/>
                      <a:pt x="167" y="42"/>
                      <a:pt x="167" y="42"/>
                    </a:cubicBezTo>
                    <a:cubicBezTo>
                      <a:pt x="167" y="43"/>
                      <a:pt x="167" y="43"/>
                      <a:pt x="166" y="45"/>
                    </a:cubicBezTo>
                    <a:cubicBezTo>
                      <a:pt x="166" y="45"/>
                      <a:pt x="166" y="45"/>
                      <a:pt x="166" y="45"/>
                    </a:cubicBezTo>
                    <a:cubicBezTo>
                      <a:pt x="169" y="42"/>
                      <a:pt x="169" y="42"/>
                      <a:pt x="169" y="42"/>
                    </a:cubicBezTo>
                    <a:cubicBezTo>
                      <a:pt x="163" y="35"/>
                      <a:pt x="163" y="35"/>
                      <a:pt x="163" y="35"/>
                    </a:cubicBezTo>
                    <a:cubicBezTo>
                      <a:pt x="160" y="37"/>
                      <a:pt x="160" y="37"/>
                      <a:pt x="160" y="37"/>
                    </a:cubicBezTo>
                    <a:cubicBezTo>
                      <a:pt x="160" y="37"/>
                      <a:pt x="160" y="37"/>
                      <a:pt x="160" y="37"/>
                    </a:cubicBezTo>
                    <a:cubicBezTo>
                      <a:pt x="162" y="37"/>
                      <a:pt x="163" y="37"/>
                      <a:pt x="163" y="37"/>
                    </a:cubicBezTo>
                    <a:cubicBezTo>
                      <a:pt x="163" y="37"/>
                      <a:pt x="164" y="37"/>
                      <a:pt x="164" y="38"/>
                    </a:cubicBezTo>
                    <a:cubicBezTo>
                      <a:pt x="165" y="38"/>
                      <a:pt x="165" y="38"/>
                      <a:pt x="165" y="38"/>
                    </a:cubicBezTo>
                    <a:cubicBezTo>
                      <a:pt x="165" y="39"/>
                      <a:pt x="165" y="39"/>
                      <a:pt x="164" y="39"/>
                    </a:cubicBezTo>
                    <a:cubicBezTo>
                      <a:pt x="154" y="47"/>
                      <a:pt x="154" y="47"/>
                      <a:pt x="154" y="47"/>
                    </a:cubicBezTo>
                    <a:cubicBezTo>
                      <a:pt x="154" y="47"/>
                      <a:pt x="154" y="47"/>
                      <a:pt x="154" y="47"/>
                    </a:cubicBezTo>
                    <a:cubicBezTo>
                      <a:pt x="154" y="47"/>
                      <a:pt x="153" y="47"/>
                      <a:pt x="153" y="47"/>
                    </a:cubicBezTo>
                    <a:cubicBezTo>
                      <a:pt x="153" y="46"/>
                      <a:pt x="153" y="46"/>
                      <a:pt x="153" y="46"/>
                    </a:cubicBezTo>
                    <a:cubicBezTo>
                      <a:pt x="152" y="47"/>
                      <a:pt x="152" y="47"/>
                      <a:pt x="152" y="47"/>
                    </a:cubicBezTo>
                    <a:cubicBezTo>
                      <a:pt x="155" y="50"/>
                      <a:pt x="155" y="50"/>
                      <a:pt x="155" y="50"/>
                    </a:cubicBezTo>
                    <a:close/>
                    <a:moveTo>
                      <a:pt x="174" y="54"/>
                    </a:moveTo>
                    <a:cubicBezTo>
                      <a:pt x="174" y="54"/>
                      <a:pt x="175" y="54"/>
                      <a:pt x="175" y="53"/>
                    </a:cubicBezTo>
                    <a:cubicBezTo>
                      <a:pt x="175" y="53"/>
                      <a:pt x="175" y="53"/>
                      <a:pt x="174" y="53"/>
                    </a:cubicBezTo>
                    <a:cubicBezTo>
                      <a:pt x="174" y="52"/>
                      <a:pt x="174" y="52"/>
                      <a:pt x="174" y="52"/>
                    </a:cubicBezTo>
                    <a:cubicBezTo>
                      <a:pt x="175" y="52"/>
                      <a:pt x="175" y="52"/>
                      <a:pt x="175" y="52"/>
                    </a:cubicBezTo>
                    <a:cubicBezTo>
                      <a:pt x="177" y="55"/>
                      <a:pt x="177" y="55"/>
                      <a:pt x="177" y="55"/>
                    </a:cubicBezTo>
                    <a:cubicBezTo>
                      <a:pt x="176" y="55"/>
                      <a:pt x="176" y="55"/>
                      <a:pt x="176" y="55"/>
                    </a:cubicBezTo>
                    <a:cubicBezTo>
                      <a:pt x="176" y="55"/>
                      <a:pt x="176" y="55"/>
                      <a:pt x="176" y="55"/>
                    </a:cubicBezTo>
                    <a:cubicBezTo>
                      <a:pt x="176" y="55"/>
                      <a:pt x="176" y="55"/>
                      <a:pt x="175" y="55"/>
                    </a:cubicBezTo>
                    <a:cubicBezTo>
                      <a:pt x="175" y="55"/>
                      <a:pt x="175" y="55"/>
                      <a:pt x="174" y="55"/>
                    </a:cubicBezTo>
                    <a:cubicBezTo>
                      <a:pt x="166" y="56"/>
                      <a:pt x="166" y="56"/>
                      <a:pt x="166" y="56"/>
                    </a:cubicBezTo>
                    <a:cubicBezTo>
                      <a:pt x="162" y="58"/>
                      <a:pt x="162" y="58"/>
                      <a:pt x="162" y="58"/>
                    </a:cubicBezTo>
                    <a:cubicBezTo>
                      <a:pt x="162" y="59"/>
                      <a:pt x="162" y="59"/>
                      <a:pt x="162" y="59"/>
                    </a:cubicBezTo>
                    <a:cubicBezTo>
                      <a:pt x="161" y="59"/>
                      <a:pt x="162" y="59"/>
                      <a:pt x="162" y="60"/>
                    </a:cubicBezTo>
                    <a:cubicBezTo>
                      <a:pt x="162" y="60"/>
                      <a:pt x="162" y="60"/>
                      <a:pt x="162" y="60"/>
                    </a:cubicBezTo>
                    <a:cubicBezTo>
                      <a:pt x="162" y="61"/>
                      <a:pt x="162" y="61"/>
                      <a:pt x="162" y="61"/>
                    </a:cubicBezTo>
                    <a:cubicBezTo>
                      <a:pt x="159" y="56"/>
                      <a:pt x="159" y="56"/>
                      <a:pt x="159" y="56"/>
                    </a:cubicBezTo>
                    <a:cubicBezTo>
                      <a:pt x="160" y="56"/>
                      <a:pt x="160" y="56"/>
                      <a:pt x="160" y="56"/>
                    </a:cubicBezTo>
                    <a:cubicBezTo>
                      <a:pt x="160" y="57"/>
                      <a:pt x="160" y="57"/>
                      <a:pt x="160" y="57"/>
                    </a:cubicBezTo>
                    <a:cubicBezTo>
                      <a:pt x="160" y="57"/>
                      <a:pt x="160" y="57"/>
                      <a:pt x="161" y="57"/>
                    </a:cubicBezTo>
                    <a:cubicBezTo>
                      <a:pt x="161" y="57"/>
                      <a:pt x="161" y="57"/>
                      <a:pt x="161" y="57"/>
                    </a:cubicBezTo>
                    <a:cubicBezTo>
                      <a:pt x="165" y="55"/>
                      <a:pt x="165" y="55"/>
                      <a:pt x="165" y="55"/>
                    </a:cubicBezTo>
                    <a:cubicBezTo>
                      <a:pt x="171" y="48"/>
                      <a:pt x="171" y="48"/>
                      <a:pt x="171" y="48"/>
                    </a:cubicBezTo>
                    <a:cubicBezTo>
                      <a:pt x="171" y="48"/>
                      <a:pt x="171" y="48"/>
                      <a:pt x="171" y="47"/>
                    </a:cubicBezTo>
                    <a:cubicBezTo>
                      <a:pt x="171" y="47"/>
                      <a:pt x="171" y="47"/>
                      <a:pt x="171" y="47"/>
                    </a:cubicBezTo>
                    <a:cubicBezTo>
                      <a:pt x="171" y="46"/>
                      <a:pt x="171" y="46"/>
                      <a:pt x="171" y="46"/>
                    </a:cubicBezTo>
                    <a:cubicBezTo>
                      <a:pt x="171" y="46"/>
                      <a:pt x="171" y="46"/>
                      <a:pt x="171" y="46"/>
                    </a:cubicBezTo>
                    <a:cubicBezTo>
                      <a:pt x="173" y="50"/>
                      <a:pt x="173" y="50"/>
                      <a:pt x="173" y="50"/>
                    </a:cubicBezTo>
                    <a:cubicBezTo>
                      <a:pt x="173" y="50"/>
                      <a:pt x="173" y="50"/>
                      <a:pt x="173" y="50"/>
                    </a:cubicBezTo>
                    <a:cubicBezTo>
                      <a:pt x="173" y="49"/>
                      <a:pt x="173" y="49"/>
                      <a:pt x="173" y="49"/>
                    </a:cubicBezTo>
                    <a:cubicBezTo>
                      <a:pt x="172" y="49"/>
                      <a:pt x="172" y="49"/>
                      <a:pt x="172" y="49"/>
                    </a:cubicBezTo>
                    <a:cubicBezTo>
                      <a:pt x="172" y="49"/>
                      <a:pt x="172" y="49"/>
                      <a:pt x="171" y="49"/>
                    </a:cubicBezTo>
                    <a:cubicBezTo>
                      <a:pt x="167" y="55"/>
                      <a:pt x="167" y="55"/>
                      <a:pt x="167" y="55"/>
                    </a:cubicBezTo>
                    <a:cubicBezTo>
                      <a:pt x="167" y="55"/>
                      <a:pt x="167" y="55"/>
                      <a:pt x="167" y="55"/>
                    </a:cubicBezTo>
                    <a:lnTo>
                      <a:pt x="174" y="54"/>
                    </a:lnTo>
                    <a:close/>
                  </a:path>
                </a:pathLst>
              </a:custGeom>
              <a:solidFill>
                <a:srgbClr val="FFFFFF"/>
              </a:solidFill>
              <a:ln w="3175" cap="flat">
                <a:solidFill>
                  <a:srgbClr val="FFFFFF"/>
                </a:solidFill>
                <a:prstDash val="solid"/>
                <a:miter lim="800000"/>
              </a:ln>
            </p:spPr>
            <p:txBody>
              <a:bodyPr anchor="ctr"/>
              <a:lstStyle/>
              <a:p>
                <a:pPr algn="ctr"/>
                <a:endParaRPr sz="1800"/>
              </a:p>
            </p:txBody>
          </p:sp>
          <p:sp>
            <p:nvSpPr>
              <p:cNvPr id="90" name="ïśľíḓé"/>
              <p:cNvSpPr/>
              <p:nvPr/>
            </p:nvSpPr>
            <p:spPr bwMode="auto">
              <a:xfrm>
                <a:off x="3667126" y="3184525"/>
                <a:ext cx="492125" cy="496888"/>
              </a:xfrm>
              <a:custGeom>
                <a:avLst/>
                <a:gdLst>
                  <a:gd name="T0" fmla="*/ 74 w 149"/>
                  <a:gd name="T1" fmla="*/ 0 h 149"/>
                  <a:gd name="T2" fmla="*/ 149 w 149"/>
                  <a:gd name="T3" fmla="*/ 74 h 149"/>
                  <a:gd name="T4" fmla="*/ 74 w 149"/>
                  <a:gd name="T5" fmla="*/ 149 h 149"/>
                  <a:gd name="T6" fmla="*/ 0 w 149"/>
                  <a:gd name="T7" fmla="*/ 74 h 149"/>
                  <a:gd name="T8" fmla="*/ 74 w 149"/>
                  <a:gd name="T9" fmla="*/ 0 h 149"/>
                  <a:gd name="T10" fmla="*/ 74 w 149"/>
                  <a:gd name="T11" fmla="*/ 2 h 149"/>
                  <a:gd name="T12" fmla="*/ 2 w 149"/>
                  <a:gd name="T13" fmla="*/ 74 h 149"/>
                  <a:gd name="T14" fmla="*/ 74 w 149"/>
                  <a:gd name="T15" fmla="*/ 146 h 149"/>
                  <a:gd name="T16" fmla="*/ 146 w 149"/>
                  <a:gd name="T17" fmla="*/ 74 h 149"/>
                  <a:gd name="T18" fmla="*/ 74 w 149"/>
                  <a:gd name="T19" fmla="*/ 2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 h="149">
                    <a:moveTo>
                      <a:pt x="74" y="0"/>
                    </a:moveTo>
                    <a:cubicBezTo>
                      <a:pt x="115" y="0"/>
                      <a:pt x="149" y="33"/>
                      <a:pt x="149" y="74"/>
                    </a:cubicBezTo>
                    <a:cubicBezTo>
                      <a:pt x="149" y="115"/>
                      <a:pt x="115" y="149"/>
                      <a:pt x="74" y="149"/>
                    </a:cubicBezTo>
                    <a:cubicBezTo>
                      <a:pt x="33" y="149"/>
                      <a:pt x="0" y="115"/>
                      <a:pt x="0" y="74"/>
                    </a:cubicBezTo>
                    <a:cubicBezTo>
                      <a:pt x="0" y="33"/>
                      <a:pt x="33" y="0"/>
                      <a:pt x="74" y="0"/>
                    </a:cubicBezTo>
                    <a:close/>
                    <a:moveTo>
                      <a:pt x="74" y="2"/>
                    </a:moveTo>
                    <a:cubicBezTo>
                      <a:pt x="35" y="2"/>
                      <a:pt x="2" y="34"/>
                      <a:pt x="2" y="74"/>
                    </a:cubicBezTo>
                    <a:cubicBezTo>
                      <a:pt x="2" y="114"/>
                      <a:pt x="35" y="146"/>
                      <a:pt x="74" y="146"/>
                    </a:cubicBezTo>
                    <a:cubicBezTo>
                      <a:pt x="114" y="146"/>
                      <a:pt x="146" y="114"/>
                      <a:pt x="146" y="74"/>
                    </a:cubicBezTo>
                    <a:cubicBezTo>
                      <a:pt x="146" y="34"/>
                      <a:pt x="114" y="2"/>
                      <a:pt x="74" y="2"/>
                    </a:cubicBezTo>
                    <a:close/>
                  </a:path>
                </a:pathLst>
              </a:custGeom>
              <a:solidFill>
                <a:srgbClr val="00523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91" name="ïslíḍê"/>
              <p:cNvSpPr/>
              <p:nvPr/>
            </p:nvSpPr>
            <p:spPr bwMode="auto">
              <a:xfrm>
                <a:off x="3775076" y="3248025"/>
                <a:ext cx="274638" cy="146050"/>
              </a:xfrm>
              <a:custGeom>
                <a:avLst/>
                <a:gdLst>
                  <a:gd name="T0" fmla="*/ 10 w 83"/>
                  <a:gd name="T1" fmla="*/ 43 h 44"/>
                  <a:gd name="T2" fmla="*/ 18 w 83"/>
                  <a:gd name="T3" fmla="*/ 39 h 44"/>
                  <a:gd name="T4" fmla="*/ 67 w 83"/>
                  <a:gd name="T5" fmla="*/ 39 h 44"/>
                  <a:gd name="T6" fmla="*/ 73 w 83"/>
                  <a:gd name="T7" fmla="*/ 42 h 44"/>
                  <a:gd name="T8" fmla="*/ 76 w 83"/>
                  <a:gd name="T9" fmla="*/ 43 h 44"/>
                  <a:gd name="T10" fmla="*/ 83 w 83"/>
                  <a:gd name="T11" fmla="*/ 35 h 44"/>
                  <a:gd name="T12" fmla="*/ 76 w 83"/>
                  <a:gd name="T13" fmla="*/ 37 h 44"/>
                  <a:gd name="T14" fmla="*/ 69 w 83"/>
                  <a:gd name="T15" fmla="*/ 33 h 44"/>
                  <a:gd name="T16" fmla="*/ 70 w 83"/>
                  <a:gd name="T17" fmla="*/ 26 h 44"/>
                  <a:gd name="T18" fmla="*/ 64 w 83"/>
                  <a:gd name="T19" fmla="*/ 30 h 44"/>
                  <a:gd name="T20" fmla="*/ 59 w 83"/>
                  <a:gd name="T21" fmla="*/ 31 h 44"/>
                  <a:gd name="T22" fmla="*/ 56 w 83"/>
                  <a:gd name="T23" fmla="*/ 29 h 44"/>
                  <a:gd name="T24" fmla="*/ 56 w 83"/>
                  <a:gd name="T25" fmla="*/ 24 h 44"/>
                  <a:gd name="T26" fmla="*/ 58 w 83"/>
                  <a:gd name="T27" fmla="*/ 23 h 44"/>
                  <a:gd name="T28" fmla="*/ 58 w 83"/>
                  <a:gd name="T29" fmla="*/ 19 h 44"/>
                  <a:gd name="T30" fmla="*/ 54 w 83"/>
                  <a:gd name="T31" fmla="*/ 19 h 44"/>
                  <a:gd name="T32" fmla="*/ 53 w 83"/>
                  <a:gd name="T33" fmla="*/ 21 h 44"/>
                  <a:gd name="T34" fmla="*/ 44 w 83"/>
                  <a:gd name="T35" fmla="*/ 21 h 44"/>
                  <a:gd name="T36" fmla="*/ 43 w 83"/>
                  <a:gd name="T37" fmla="*/ 18 h 44"/>
                  <a:gd name="T38" fmla="*/ 44 w 83"/>
                  <a:gd name="T39" fmla="*/ 13 h 44"/>
                  <a:gd name="T40" fmla="*/ 43 w 83"/>
                  <a:gd name="T41" fmla="*/ 8 h 44"/>
                  <a:gd name="T42" fmla="*/ 43 w 83"/>
                  <a:gd name="T43" fmla="*/ 6 h 44"/>
                  <a:gd name="T44" fmla="*/ 43 w 83"/>
                  <a:gd name="T45" fmla="*/ 2 h 44"/>
                  <a:gd name="T46" fmla="*/ 43 w 83"/>
                  <a:gd name="T47" fmla="*/ 0 h 44"/>
                  <a:gd name="T48" fmla="*/ 40 w 83"/>
                  <a:gd name="T49" fmla="*/ 0 h 44"/>
                  <a:gd name="T50" fmla="*/ 39 w 83"/>
                  <a:gd name="T51" fmla="*/ 2 h 44"/>
                  <a:gd name="T52" fmla="*/ 39 w 83"/>
                  <a:gd name="T53" fmla="*/ 6 h 44"/>
                  <a:gd name="T54" fmla="*/ 39 w 83"/>
                  <a:gd name="T55" fmla="*/ 8 h 44"/>
                  <a:gd name="T56" fmla="*/ 38 w 83"/>
                  <a:gd name="T57" fmla="*/ 13 h 44"/>
                  <a:gd name="T58" fmla="*/ 38 w 83"/>
                  <a:gd name="T59" fmla="*/ 18 h 44"/>
                  <a:gd name="T60" fmla="*/ 38 w 83"/>
                  <a:gd name="T61" fmla="*/ 21 h 44"/>
                  <a:gd name="T62" fmla="*/ 30 w 83"/>
                  <a:gd name="T63" fmla="*/ 21 h 44"/>
                  <a:gd name="T64" fmla="*/ 29 w 83"/>
                  <a:gd name="T65" fmla="*/ 19 h 44"/>
                  <a:gd name="T66" fmla="*/ 25 w 83"/>
                  <a:gd name="T67" fmla="*/ 19 h 44"/>
                  <a:gd name="T68" fmla="*/ 25 w 83"/>
                  <a:gd name="T69" fmla="*/ 23 h 44"/>
                  <a:gd name="T70" fmla="*/ 26 w 83"/>
                  <a:gd name="T71" fmla="*/ 24 h 44"/>
                  <a:gd name="T72" fmla="*/ 27 w 83"/>
                  <a:gd name="T73" fmla="*/ 29 h 44"/>
                  <a:gd name="T74" fmla="*/ 22 w 83"/>
                  <a:gd name="T75" fmla="*/ 31 h 44"/>
                  <a:gd name="T76" fmla="*/ 13 w 83"/>
                  <a:gd name="T77" fmla="*/ 26 h 44"/>
                  <a:gd name="T78" fmla="*/ 13 w 83"/>
                  <a:gd name="T79" fmla="*/ 35 h 44"/>
                  <a:gd name="T80" fmla="*/ 7 w 83"/>
                  <a:gd name="T81" fmla="*/ 37 h 44"/>
                  <a:gd name="T82" fmla="*/ 0 w 83"/>
                  <a:gd name="T83" fmla="*/ 34 h 44"/>
                  <a:gd name="T84" fmla="*/ 5 w 83"/>
                  <a:gd name="T85" fmla="*/ 42 h 44"/>
                  <a:gd name="T86" fmla="*/ 10 w 83"/>
                  <a:gd name="T87" fmla="*/ 4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 h="44">
                    <a:moveTo>
                      <a:pt x="10" y="43"/>
                    </a:moveTo>
                    <a:cubicBezTo>
                      <a:pt x="18" y="39"/>
                      <a:pt x="18" y="39"/>
                      <a:pt x="18" y="39"/>
                    </a:cubicBezTo>
                    <a:cubicBezTo>
                      <a:pt x="67" y="39"/>
                      <a:pt x="67" y="39"/>
                      <a:pt x="67" y="39"/>
                    </a:cubicBezTo>
                    <a:cubicBezTo>
                      <a:pt x="73" y="42"/>
                      <a:pt x="73" y="42"/>
                      <a:pt x="73" y="42"/>
                    </a:cubicBezTo>
                    <a:cubicBezTo>
                      <a:pt x="74" y="43"/>
                      <a:pt x="75" y="43"/>
                      <a:pt x="76" y="43"/>
                    </a:cubicBezTo>
                    <a:cubicBezTo>
                      <a:pt x="80" y="42"/>
                      <a:pt x="83" y="35"/>
                      <a:pt x="83" y="35"/>
                    </a:cubicBezTo>
                    <a:cubicBezTo>
                      <a:pt x="83" y="35"/>
                      <a:pt x="79" y="38"/>
                      <a:pt x="76" y="37"/>
                    </a:cubicBezTo>
                    <a:cubicBezTo>
                      <a:pt x="73" y="37"/>
                      <a:pt x="69" y="36"/>
                      <a:pt x="69" y="33"/>
                    </a:cubicBezTo>
                    <a:cubicBezTo>
                      <a:pt x="69" y="30"/>
                      <a:pt x="70" y="27"/>
                      <a:pt x="70" y="26"/>
                    </a:cubicBezTo>
                    <a:cubicBezTo>
                      <a:pt x="70" y="26"/>
                      <a:pt x="67" y="29"/>
                      <a:pt x="64" y="30"/>
                    </a:cubicBezTo>
                    <a:cubicBezTo>
                      <a:pt x="61" y="32"/>
                      <a:pt x="60" y="31"/>
                      <a:pt x="59" y="31"/>
                    </a:cubicBezTo>
                    <a:cubicBezTo>
                      <a:pt x="57" y="30"/>
                      <a:pt x="56" y="29"/>
                      <a:pt x="56" y="29"/>
                    </a:cubicBezTo>
                    <a:cubicBezTo>
                      <a:pt x="56" y="24"/>
                      <a:pt x="56" y="24"/>
                      <a:pt x="56" y="24"/>
                    </a:cubicBezTo>
                    <a:cubicBezTo>
                      <a:pt x="58" y="23"/>
                      <a:pt x="58" y="23"/>
                      <a:pt x="58" y="23"/>
                    </a:cubicBezTo>
                    <a:cubicBezTo>
                      <a:pt x="58" y="19"/>
                      <a:pt x="58" y="19"/>
                      <a:pt x="58" y="19"/>
                    </a:cubicBezTo>
                    <a:cubicBezTo>
                      <a:pt x="54" y="19"/>
                      <a:pt x="54" y="19"/>
                      <a:pt x="54" y="19"/>
                    </a:cubicBezTo>
                    <a:cubicBezTo>
                      <a:pt x="54" y="19"/>
                      <a:pt x="54" y="21"/>
                      <a:pt x="53" y="21"/>
                    </a:cubicBezTo>
                    <a:cubicBezTo>
                      <a:pt x="52" y="21"/>
                      <a:pt x="44" y="21"/>
                      <a:pt x="44" y="21"/>
                    </a:cubicBezTo>
                    <a:cubicBezTo>
                      <a:pt x="44" y="21"/>
                      <a:pt x="43" y="20"/>
                      <a:pt x="43" y="18"/>
                    </a:cubicBezTo>
                    <a:cubicBezTo>
                      <a:pt x="44" y="17"/>
                      <a:pt x="44" y="17"/>
                      <a:pt x="44" y="13"/>
                    </a:cubicBezTo>
                    <a:cubicBezTo>
                      <a:pt x="44" y="10"/>
                      <a:pt x="44" y="9"/>
                      <a:pt x="43" y="8"/>
                    </a:cubicBezTo>
                    <a:cubicBezTo>
                      <a:pt x="43" y="7"/>
                      <a:pt x="42" y="7"/>
                      <a:pt x="43" y="6"/>
                    </a:cubicBezTo>
                    <a:cubicBezTo>
                      <a:pt x="44" y="5"/>
                      <a:pt x="44" y="4"/>
                      <a:pt x="43" y="2"/>
                    </a:cubicBezTo>
                    <a:cubicBezTo>
                      <a:pt x="42" y="1"/>
                      <a:pt x="43" y="2"/>
                      <a:pt x="43" y="0"/>
                    </a:cubicBezTo>
                    <a:cubicBezTo>
                      <a:pt x="40" y="0"/>
                      <a:pt x="40" y="0"/>
                      <a:pt x="40" y="0"/>
                    </a:cubicBezTo>
                    <a:cubicBezTo>
                      <a:pt x="39" y="0"/>
                      <a:pt x="40" y="1"/>
                      <a:pt x="39" y="2"/>
                    </a:cubicBezTo>
                    <a:cubicBezTo>
                      <a:pt x="38" y="3"/>
                      <a:pt x="38" y="5"/>
                      <a:pt x="39" y="6"/>
                    </a:cubicBezTo>
                    <a:cubicBezTo>
                      <a:pt x="39" y="7"/>
                      <a:pt x="40" y="7"/>
                      <a:pt x="39" y="8"/>
                    </a:cubicBezTo>
                    <a:cubicBezTo>
                      <a:pt x="38" y="9"/>
                      <a:pt x="38" y="10"/>
                      <a:pt x="38" y="13"/>
                    </a:cubicBezTo>
                    <a:cubicBezTo>
                      <a:pt x="38" y="16"/>
                      <a:pt x="38" y="17"/>
                      <a:pt x="38" y="18"/>
                    </a:cubicBezTo>
                    <a:cubicBezTo>
                      <a:pt x="39" y="20"/>
                      <a:pt x="38" y="21"/>
                      <a:pt x="38" y="21"/>
                    </a:cubicBezTo>
                    <a:cubicBezTo>
                      <a:pt x="37" y="21"/>
                      <a:pt x="30" y="21"/>
                      <a:pt x="30" y="21"/>
                    </a:cubicBezTo>
                    <a:cubicBezTo>
                      <a:pt x="30" y="21"/>
                      <a:pt x="29" y="20"/>
                      <a:pt x="29" y="19"/>
                    </a:cubicBezTo>
                    <a:cubicBezTo>
                      <a:pt x="25" y="19"/>
                      <a:pt x="25" y="19"/>
                      <a:pt x="25" y="19"/>
                    </a:cubicBezTo>
                    <a:cubicBezTo>
                      <a:pt x="25" y="23"/>
                      <a:pt x="25" y="23"/>
                      <a:pt x="25" y="23"/>
                    </a:cubicBezTo>
                    <a:cubicBezTo>
                      <a:pt x="26" y="24"/>
                      <a:pt x="26" y="24"/>
                      <a:pt x="26" y="24"/>
                    </a:cubicBezTo>
                    <a:cubicBezTo>
                      <a:pt x="27" y="29"/>
                      <a:pt x="27" y="29"/>
                      <a:pt x="27" y="29"/>
                    </a:cubicBezTo>
                    <a:cubicBezTo>
                      <a:pt x="27" y="29"/>
                      <a:pt x="24" y="31"/>
                      <a:pt x="22" y="31"/>
                    </a:cubicBezTo>
                    <a:cubicBezTo>
                      <a:pt x="19" y="31"/>
                      <a:pt x="13" y="26"/>
                      <a:pt x="13" y="26"/>
                    </a:cubicBezTo>
                    <a:cubicBezTo>
                      <a:pt x="13" y="26"/>
                      <a:pt x="14" y="33"/>
                      <a:pt x="13" y="35"/>
                    </a:cubicBezTo>
                    <a:cubicBezTo>
                      <a:pt x="13" y="37"/>
                      <a:pt x="10" y="37"/>
                      <a:pt x="7" y="37"/>
                    </a:cubicBezTo>
                    <a:cubicBezTo>
                      <a:pt x="4" y="37"/>
                      <a:pt x="0" y="35"/>
                      <a:pt x="0" y="34"/>
                    </a:cubicBezTo>
                    <a:cubicBezTo>
                      <a:pt x="0" y="34"/>
                      <a:pt x="3" y="40"/>
                      <a:pt x="5" y="42"/>
                    </a:cubicBezTo>
                    <a:cubicBezTo>
                      <a:pt x="7" y="44"/>
                      <a:pt x="10" y="43"/>
                      <a:pt x="10" y="4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92" name="íṡļïdê"/>
              <p:cNvSpPr/>
              <p:nvPr/>
            </p:nvSpPr>
            <p:spPr bwMode="auto">
              <a:xfrm>
                <a:off x="3614738" y="3370263"/>
                <a:ext cx="596900" cy="241300"/>
              </a:xfrm>
              <a:custGeom>
                <a:avLst/>
                <a:gdLst>
                  <a:gd name="T0" fmla="*/ 58 w 181"/>
                  <a:gd name="T1" fmla="*/ 72 h 72"/>
                  <a:gd name="T2" fmla="*/ 8 w 181"/>
                  <a:gd name="T3" fmla="*/ 72 h 72"/>
                  <a:gd name="T4" fmla="*/ 3 w 181"/>
                  <a:gd name="T5" fmla="*/ 63 h 72"/>
                  <a:gd name="T6" fmla="*/ 6 w 181"/>
                  <a:gd name="T7" fmla="*/ 63 h 72"/>
                  <a:gd name="T8" fmla="*/ 11 w 181"/>
                  <a:gd name="T9" fmla="*/ 55 h 72"/>
                  <a:gd name="T10" fmla="*/ 14 w 181"/>
                  <a:gd name="T11" fmla="*/ 55 h 72"/>
                  <a:gd name="T12" fmla="*/ 14 w 181"/>
                  <a:gd name="T13" fmla="*/ 29 h 72"/>
                  <a:gd name="T14" fmla="*/ 0 w 181"/>
                  <a:gd name="T15" fmla="*/ 4 h 72"/>
                  <a:gd name="T16" fmla="*/ 30 w 181"/>
                  <a:gd name="T17" fmla="*/ 0 h 72"/>
                  <a:gd name="T18" fmla="*/ 58 w 181"/>
                  <a:gd name="T19" fmla="*/ 8 h 72"/>
                  <a:gd name="T20" fmla="*/ 51 w 181"/>
                  <a:gd name="T21" fmla="*/ 25 h 72"/>
                  <a:gd name="T22" fmla="*/ 131 w 181"/>
                  <a:gd name="T23" fmla="*/ 25 h 72"/>
                  <a:gd name="T24" fmla="*/ 122 w 181"/>
                  <a:gd name="T25" fmla="*/ 8 h 72"/>
                  <a:gd name="T26" fmla="*/ 150 w 181"/>
                  <a:gd name="T27" fmla="*/ 0 h 72"/>
                  <a:gd name="T28" fmla="*/ 181 w 181"/>
                  <a:gd name="T29" fmla="*/ 5 h 72"/>
                  <a:gd name="T30" fmla="*/ 166 w 181"/>
                  <a:gd name="T31" fmla="*/ 28 h 72"/>
                  <a:gd name="T32" fmla="*/ 166 w 181"/>
                  <a:gd name="T33" fmla="*/ 55 h 72"/>
                  <a:gd name="T34" fmla="*/ 171 w 181"/>
                  <a:gd name="T35" fmla="*/ 55 h 72"/>
                  <a:gd name="T36" fmla="*/ 178 w 181"/>
                  <a:gd name="T37" fmla="*/ 65 h 72"/>
                  <a:gd name="T38" fmla="*/ 174 w 181"/>
                  <a:gd name="T39" fmla="*/ 72 h 72"/>
                  <a:gd name="T40" fmla="*/ 58 w 181"/>
                  <a:gd name="T41" fmla="*/ 7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1" h="72">
                    <a:moveTo>
                      <a:pt x="58" y="72"/>
                    </a:moveTo>
                    <a:cubicBezTo>
                      <a:pt x="8" y="72"/>
                      <a:pt x="8" y="72"/>
                      <a:pt x="8" y="72"/>
                    </a:cubicBezTo>
                    <a:cubicBezTo>
                      <a:pt x="3" y="63"/>
                      <a:pt x="3" y="63"/>
                      <a:pt x="3" y="63"/>
                    </a:cubicBezTo>
                    <a:cubicBezTo>
                      <a:pt x="6" y="63"/>
                      <a:pt x="6" y="63"/>
                      <a:pt x="6" y="63"/>
                    </a:cubicBezTo>
                    <a:cubicBezTo>
                      <a:pt x="7" y="61"/>
                      <a:pt x="10" y="57"/>
                      <a:pt x="11" y="55"/>
                    </a:cubicBezTo>
                    <a:cubicBezTo>
                      <a:pt x="12" y="55"/>
                      <a:pt x="13" y="55"/>
                      <a:pt x="14" y="55"/>
                    </a:cubicBezTo>
                    <a:cubicBezTo>
                      <a:pt x="14" y="45"/>
                      <a:pt x="14" y="39"/>
                      <a:pt x="14" y="29"/>
                    </a:cubicBezTo>
                    <a:cubicBezTo>
                      <a:pt x="6" y="25"/>
                      <a:pt x="0" y="19"/>
                      <a:pt x="0" y="4"/>
                    </a:cubicBezTo>
                    <a:cubicBezTo>
                      <a:pt x="13" y="19"/>
                      <a:pt x="25" y="20"/>
                      <a:pt x="30" y="0"/>
                    </a:cubicBezTo>
                    <a:cubicBezTo>
                      <a:pt x="40" y="22"/>
                      <a:pt x="50" y="16"/>
                      <a:pt x="58" y="8"/>
                    </a:cubicBezTo>
                    <a:cubicBezTo>
                      <a:pt x="59" y="17"/>
                      <a:pt x="51" y="24"/>
                      <a:pt x="51" y="25"/>
                    </a:cubicBezTo>
                    <a:cubicBezTo>
                      <a:pt x="131" y="25"/>
                      <a:pt x="131" y="25"/>
                      <a:pt x="131" y="25"/>
                    </a:cubicBezTo>
                    <a:cubicBezTo>
                      <a:pt x="128" y="21"/>
                      <a:pt x="123" y="15"/>
                      <a:pt x="122" y="8"/>
                    </a:cubicBezTo>
                    <a:cubicBezTo>
                      <a:pt x="131" y="18"/>
                      <a:pt x="141" y="23"/>
                      <a:pt x="150" y="0"/>
                    </a:cubicBezTo>
                    <a:cubicBezTo>
                      <a:pt x="160" y="23"/>
                      <a:pt x="169" y="16"/>
                      <a:pt x="181" y="5"/>
                    </a:cubicBezTo>
                    <a:cubicBezTo>
                      <a:pt x="178" y="23"/>
                      <a:pt x="174" y="23"/>
                      <a:pt x="166" y="28"/>
                    </a:cubicBezTo>
                    <a:cubicBezTo>
                      <a:pt x="166" y="38"/>
                      <a:pt x="166" y="45"/>
                      <a:pt x="166" y="55"/>
                    </a:cubicBezTo>
                    <a:cubicBezTo>
                      <a:pt x="168" y="55"/>
                      <a:pt x="169" y="55"/>
                      <a:pt x="171" y="55"/>
                    </a:cubicBezTo>
                    <a:cubicBezTo>
                      <a:pt x="178" y="65"/>
                      <a:pt x="178" y="65"/>
                      <a:pt x="178" y="65"/>
                    </a:cubicBezTo>
                    <a:cubicBezTo>
                      <a:pt x="174" y="72"/>
                      <a:pt x="174" y="72"/>
                      <a:pt x="174" y="72"/>
                    </a:cubicBezTo>
                    <a:lnTo>
                      <a:pt x="58" y="7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93" name="iş1ïďe"/>
              <p:cNvSpPr/>
              <p:nvPr/>
            </p:nvSpPr>
            <p:spPr bwMode="auto">
              <a:xfrm>
                <a:off x="3624263" y="3381375"/>
                <a:ext cx="577850" cy="200025"/>
              </a:xfrm>
              <a:custGeom>
                <a:avLst/>
                <a:gdLst>
                  <a:gd name="T0" fmla="*/ 130 w 175"/>
                  <a:gd name="T1" fmla="*/ 51 h 60"/>
                  <a:gd name="T2" fmla="*/ 130 w 175"/>
                  <a:gd name="T3" fmla="*/ 50 h 60"/>
                  <a:gd name="T4" fmla="*/ 48 w 175"/>
                  <a:gd name="T5" fmla="*/ 50 h 60"/>
                  <a:gd name="T6" fmla="*/ 48 w 175"/>
                  <a:gd name="T7" fmla="*/ 51 h 60"/>
                  <a:gd name="T8" fmla="*/ 52 w 175"/>
                  <a:gd name="T9" fmla="*/ 51 h 60"/>
                  <a:gd name="T10" fmla="*/ 48 w 175"/>
                  <a:gd name="T11" fmla="*/ 60 h 60"/>
                  <a:gd name="T12" fmla="*/ 7 w 175"/>
                  <a:gd name="T13" fmla="*/ 60 h 60"/>
                  <a:gd name="T14" fmla="*/ 10 w 175"/>
                  <a:gd name="T15" fmla="*/ 54 h 60"/>
                  <a:gd name="T16" fmla="*/ 14 w 175"/>
                  <a:gd name="T17" fmla="*/ 54 h 60"/>
                  <a:gd name="T18" fmla="*/ 13 w 175"/>
                  <a:gd name="T19" fmla="*/ 25 h 60"/>
                  <a:gd name="T20" fmla="*/ 0 w 175"/>
                  <a:gd name="T21" fmla="*/ 7 h 60"/>
                  <a:gd name="T22" fmla="*/ 28 w 175"/>
                  <a:gd name="T23" fmla="*/ 0 h 60"/>
                  <a:gd name="T24" fmla="*/ 55 w 175"/>
                  <a:gd name="T25" fmla="*/ 7 h 60"/>
                  <a:gd name="T26" fmla="*/ 48 w 175"/>
                  <a:gd name="T27" fmla="*/ 22 h 60"/>
                  <a:gd name="T28" fmla="*/ 127 w 175"/>
                  <a:gd name="T29" fmla="*/ 22 h 60"/>
                  <a:gd name="T30" fmla="*/ 119 w 175"/>
                  <a:gd name="T31" fmla="*/ 7 h 60"/>
                  <a:gd name="T32" fmla="*/ 147 w 175"/>
                  <a:gd name="T33" fmla="*/ 0 h 60"/>
                  <a:gd name="T34" fmla="*/ 175 w 175"/>
                  <a:gd name="T35" fmla="*/ 7 h 60"/>
                  <a:gd name="T36" fmla="*/ 161 w 175"/>
                  <a:gd name="T37" fmla="*/ 24 h 60"/>
                  <a:gd name="T38" fmla="*/ 161 w 175"/>
                  <a:gd name="T39" fmla="*/ 53 h 60"/>
                  <a:gd name="T40" fmla="*/ 165 w 175"/>
                  <a:gd name="T41" fmla="*/ 53 h 60"/>
                  <a:gd name="T42" fmla="*/ 169 w 175"/>
                  <a:gd name="T43" fmla="*/ 60 h 60"/>
                  <a:gd name="T44" fmla="*/ 128 w 175"/>
                  <a:gd name="T45" fmla="*/ 60 h 60"/>
                  <a:gd name="T46" fmla="*/ 124 w 175"/>
                  <a:gd name="T47" fmla="*/ 51 h 60"/>
                  <a:gd name="T48" fmla="*/ 130 w 175"/>
                  <a:gd name="T4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5" h="60">
                    <a:moveTo>
                      <a:pt x="130" y="51"/>
                    </a:moveTo>
                    <a:cubicBezTo>
                      <a:pt x="130" y="50"/>
                      <a:pt x="130" y="50"/>
                      <a:pt x="130" y="50"/>
                    </a:cubicBezTo>
                    <a:cubicBezTo>
                      <a:pt x="48" y="50"/>
                      <a:pt x="48" y="50"/>
                      <a:pt x="48" y="50"/>
                    </a:cubicBezTo>
                    <a:cubicBezTo>
                      <a:pt x="48" y="51"/>
                      <a:pt x="48" y="51"/>
                      <a:pt x="48" y="51"/>
                    </a:cubicBezTo>
                    <a:cubicBezTo>
                      <a:pt x="52" y="51"/>
                      <a:pt x="52" y="51"/>
                      <a:pt x="52" y="51"/>
                    </a:cubicBezTo>
                    <a:cubicBezTo>
                      <a:pt x="48" y="60"/>
                      <a:pt x="48" y="60"/>
                      <a:pt x="48" y="60"/>
                    </a:cubicBezTo>
                    <a:cubicBezTo>
                      <a:pt x="34" y="60"/>
                      <a:pt x="20" y="60"/>
                      <a:pt x="7" y="60"/>
                    </a:cubicBezTo>
                    <a:cubicBezTo>
                      <a:pt x="8" y="58"/>
                      <a:pt x="9" y="56"/>
                      <a:pt x="10" y="54"/>
                    </a:cubicBezTo>
                    <a:cubicBezTo>
                      <a:pt x="11" y="54"/>
                      <a:pt x="12" y="54"/>
                      <a:pt x="14" y="54"/>
                    </a:cubicBezTo>
                    <a:cubicBezTo>
                      <a:pt x="14" y="44"/>
                      <a:pt x="13" y="34"/>
                      <a:pt x="13" y="25"/>
                    </a:cubicBezTo>
                    <a:cubicBezTo>
                      <a:pt x="5" y="20"/>
                      <a:pt x="1" y="14"/>
                      <a:pt x="0" y="7"/>
                    </a:cubicBezTo>
                    <a:cubicBezTo>
                      <a:pt x="12" y="18"/>
                      <a:pt x="22" y="17"/>
                      <a:pt x="28" y="0"/>
                    </a:cubicBezTo>
                    <a:cubicBezTo>
                      <a:pt x="37" y="22"/>
                      <a:pt x="47" y="15"/>
                      <a:pt x="55" y="7"/>
                    </a:cubicBezTo>
                    <a:cubicBezTo>
                      <a:pt x="55" y="14"/>
                      <a:pt x="50" y="17"/>
                      <a:pt x="48" y="22"/>
                    </a:cubicBezTo>
                    <a:cubicBezTo>
                      <a:pt x="127" y="22"/>
                      <a:pt x="127" y="22"/>
                      <a:pt x="127" y="22"/>
                    </a:cubicBezTo>
                    <a:cubicBezTo>
                      <a:pt x="125" y="18"/>
                      <a:pt x="120" y="14"/>
                      <a:pt x="119" y="7"/>
                    </a:cubicBezTo>
                    <a:cubicBezTo>
                      <a:pt x="127" y="15"/>
                      <a:pt x="137" y="22"/>
                      <a:pt x="147" y="0"/>
                    </a:cubicBezTo>
                    <a:cubicBezTo>
                      <a:pt x="153" y="17"/>
                      <a:pt x="163" y="18"/>
                      <a:pt x="175" y="7"/>
                    </a:cubicBezTo>
                    <a:cubicBezTo>
                      <a:pt x="173" y="14"/>
                      <a:pt x="169" y="19"/>
                      <a:pt x="161" y="24"/>
                    </a:cubicBezTo>
                    <a:cubicBezTo>
                      <a:pt x="161" y="34"/>
                      <a:pt x="161" y="44"/>
                      <a:pt x="161" y="53"/>
                    </a:cubicBezTo>
                    <a:cubicBezTo>
                      <a:pt x="162" y="53"/>
                      <a:pt x="164" y="53"/>
                      <a:pt x="165" y="53"/>
                    </a:cubicBezTo>
                    <a:cubicBezTo>
                      <a:pt x="166" y="55"/>
                      <a:pt x="167" y="58"/>
                      <a:pt x="169" y="60"/>
                    </a:cubicBezTo>
                    <a:cubicBezTo>
                      <a:pt x="155" y="60"/>
                      <a:pt x="142" y="60"/>
                      <a:pt x="128" y="60"/>
                    </a:cubicBezTo>
                    <a:cubicBezTo>
                      <a:pt x="124" y="51"/>
                      <a:pt x="124" y="51"/>
                      <a:pt x="124" y="51"/>
                    </a:cubicBezTo>
                    <a:lnTo>
                      <a:pt x="130" y="51"/>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94" name="ïṩḷíḍé"/>
              <p:cNvSpPr/>
              <p:nvPr/>
            </p:nvSpPr>
            <p:spPr bwMode="auto">
              <a:xfrm>
                <a:off x="4065588"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95" name="ïśľíḍè"/>
              <p:cNvSpPr/>
              <p:nvPr/>
            </p:nvSpPr>
            <p:spPr bwMode="auto">
              <a:xfrm>
                <a:off x="3740151"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96" name="í$ḻîḋè"/>
              <p:cNvSpPr/>
              <p:nvPr/>
            </p:nvSpPr>
            <p:spPr bwMode="auto">
              <a:xfrm>
                <a:off x="4125913"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97" name="iṣļíḋe"/>
              <p:cNvSpPr/>
              <p:nvPr/>
            </p:nvSpPr>
            <p:spPr bwMode="auto">
              <a:xfrm>
                <a:off x="3709988" y="3490913"/>
                <a:ext cx="15875"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98" name="iṩḷiḓé"/>
              <p:cNvSpPr/>
              <p:nvPr/>
            </p:nvSpPr>
            <p:spPr bwMode="auto">
              <a:xfrm>
                <a:off x="4095751"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99" name="iSľiḍè"/>
              <p:cNvSpPr/>
              <p:nvPr/>
            </p:nvSpPr>
            <p:spPr bwMode="auto">
              <a:xfrm>
                <a:off x="3663951" y="3460750"/>
                <a:ext cx="495300" cy="31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0" name="ïṩḷîḍe"/>
              <p:cNvSpPr/>
              <p:nvPr/>
            </p:nvSpPr>
            <p:spPr bwMode="auto">
              <a:xfrm>
                <a:off x="3663951" y="3473450"/>
                <a:ext cx="11588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1" name="íšḻiḑê"/>
              <p:cNvSpPr/>
              <p:nvPr/>
            </p:nvSpPr>
            <p:spPr bwMode="auto">
              <a:xfrm>
                <a:off x="3789363"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2" name="ïṩļïďè"/>
              <p:cNvSpPr/>
              <p:nvPr/>
            </p:nvSpPr>
            <p:spPr bwMode="auto">
              <a:xfrm>
                <a:off x="3851276" y="3473450"/>
                <a:ext cx="571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3" name="îṥlïḋê"/>
              <p:cNvSpPr/>
              <p:nvPr/>
            </p:nvSpPr>
            <p:spPr bwMode="auto">
              <a:xfrm>
                <a:off x="3917951" y="3473450"/>
                <a:ext cx="555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4" name="îṧľïdè"/>
              <p:cNvSpPr/>
              <p:nvPr/>
            </p:nvSpPr>
            <p:spPr bwMode="auto">
              <a:xfrm>
                <a:off x="3994151" y="3473450"/>
                <a:ext cx="4286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5" name="iSḷîḓê"/>
              <p:cNvSpPr/>
              <p:nvPr/>
            </p:nvSpPr>
            <p:spPr bwMode="auto">
              <a:xfrm>
                <a:off x="4046538" y="3473450"/>
                <a:ext cx="112713"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6" name="îślíďè"/>
              <p:cNvSpPr/>
              <p:nvPr/>
            </p:nvSpPr>
            <p:spPr bwMode="auto">
              <a:xfrm>
                <a:off x="3979863" y="3473450"/>
                <a:ext cx="7938"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7" name="iSḻïḍè"/>
              <p:cNvSpPr/>
              <p:nvPr/>
            </p:nvSpPr>
            <p:spPr bwMode="auto">
              <a:xfrm>
                <a:off x="3838576" y="3473450"/>
                <a:ext cx="6350" cy="47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08" name="ïṡliḑê"/>
              <p:cNvSpPr/>
              <p:nvPr/>
            </p:nvSpPr>
            <p:spPr bwMode="auto">
              <a:xfrm>
                <a:off x="3851276"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09" name="islïďé"/>
              <p:cNvSpPr/>
              <p:nvPr/>
            </p:nvSpPr>
            <p:spPr bwMode="auto">
              <a:xfrm>
                <a:off x="3817938" y="3384550"/>
                <a:ext cx="26988" cy="15875"/>
              </a:xfrm>
              <a:custGeom>
                <a:avLst/>
                <a:gdLst>
                  <a:gd name="T0" fmla="*/ 7 w 8"/>
                  <a:gd name="T1" fmla="*/ 0 h 5"/>
                  <a:gd name="T2" fmla="*/ 8 w 8"/>
                  <a:gd name="T3" fmla="*/ 2 h 5"/>
                  <a:gd name="T4" fmla="*/ 1 w 8"/>
                  <a:gd name="T5" fmla="*/ 5 h 5"/>
                  <a:gd name="T6" fmla="*/ 7 w 8"/>
                  <a:gd name="T7" fmla="*/ 0 h 5"/>
                  <a:gd name="T8" fmla="*/ 7 w 8"/>
                  <a:gd name="T9" fmla="*/ 0 h 5"/>
                  <a:gd name="T10" fmla="*/ 7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7" y="0"/>
                    </a:moveTo>
                    <a:cubicBezTo>
                      <a:pt x="8" y="2"/>
                      <a:pt x="8" y="2"/>
                      <a:pt x="8" y="2"/>
                    </a:cubicBezTo>
                    <a:cubicBezTo>
                      <a:pt x="1" y="5"/>
                      <a:pt x="1" y="5"/>
                      <a:pt x="1" y="5"/>
                    </a:cubicBezTo>
                    <a:cubicBezTo>
                      <a:pt x="1" y="5"/>
                      <a:pt x="0" y="2"/>
                      <a:pt x="7" y="0"/>
                    </a:cubicBezTo>
                    <a:close/>
                    <a:moveTo>
                      <a:pt x="7" y="0"/>
                    </a:moveTo>
                    <a:cubicBezTo>
                      <a:pt x="7" y="0"/>
                      <a:pt x="7" y="0"/>
                      <a:pt x="7"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0" name="îṥḷîdé"/>
              <p:cNvSpPr/>
              <p:nvPr/>
            </p:nvSpPr>
            <p:spPr bwMode="auto">
              <a:xfrm>
                <a:off x="3983038" y="3384550"/>
                <a:ext cx="26988" cy="15875"/>
              </a:xfrm>
              <a:custGeom>
                <a:avLst/>
                <a:gdLst>
                  <a:gd name="T0" fmla="*/ 1 w 8"/>
                  <a:gd name="T1" fmla="*/ 0 h 5"/>
                  <a:gd name="T2" fmla="*/ 0 w 8"/>
                  <a:gd name="T3" fmla="*/ 2 h 5"/>
                  <a:gd name="T4" fmla="*/ 7 w 8"/>
                  <a:gd name="T5" fmla="*/ 5 h 5"/>
                  <a:gd name="T6" fmla="*/ 1 w 8"/>
                  <a:gd name="T7" fmla="*/ 0 h 5"/>
                  <a:gd name="T8" fmla="*/ 1 w 8"/>
                  <a:gd name="T9" fmla="*/ 0 h 5"/>
                  <a:gd name="T10" fmla="*/ 1 w 8"/>
                  <a:gd name="T11" fmla="*/ 0 h 5"/>
                </a:gdLst>
                <a:ahLst/>
                <a:cxnLst>
                  <a:cxn ang="0">
                    <a:pos x="T0" y="T1"/>
                  </a:cxn>
                  <a:cxn ang="0">
                    <a:pos x="T2" y="T3"/>
                  </a:cxn>
                  <a:cxn ang="0">
                    <a:pos x="T4" y="T5"/>
                  </a:cxn>
                  <a:cxn ang="0">
                    <a:pos x="T6" y="T7"/>
                  </a:cxn>
                  <a:cxn ang="0">
                    <a:pos x="T8" y="T9"/>
                  </a:cxn>
                  <a:cxn ang="0">
                    <a:pos x="T10" y="T11"/>
                  </a:cxn>
                </a:cxnLst>
                <a:rect l="0" t="0" r="r" b="b"/>
                <a:pathLst>
                  <a:path w="8" h="5">
                    <a:moveTo>
                      <a:pt x="1" y="0"/>
                    </a:moveTo>
                    <a:cubicBezTo>
                      <a:pt x="0" y="2"/>
                      <a:pt x="0" y="2"/>
                      <a:pt x="0" y="2"/>
                    </a:cubicBezTo>
                    <a:cubicBezTo>
                      <a:pt x="7" y="5"/>
                      <a:pt x="7" y="5"/>
                      <a:pt x="7" y="5"/>
                    </a:cubicBezTo>
                    <a:cubicBezTo>
                      <a:pt x="7" y="5"/>
                      <a:pt x="8" y="2"/>
                      <a:pt x="1" y="0"/>
                    </a:cubicBezTo>
                    <a:close/>
                    <a:moveTo>
                      <a:pt x="1" y="0"/>
                    </a:moveTo>
                    <a:cubicBezTo>
                      <a:pt x="1" y="0"/>
                      <a:pt x="1" y="0"/>
                      <a:pt x="1"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1" name="isḷîḋé"/>
              <p:cNvSpPr/>
              <p:nvPr/>
            </p:nvSpPr>
            <p:spPr bwMode="auto">
              <a:xfrm>
                <a:off x="3884613" y="3384550"/>
                <a:ext cx="26988"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2" name="iśḷïḑè"/>
              <p:cNvSpPr/>
              <p:nvPr/>
            </p:nvSpPr>
            <p:spPr bwMode="auto">
              <a:xfrm>
                <a:off x="3917951"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3" name="iṧľiďé"/>
              <p:cNvSpPr/>
              <p:nvPr/>
            </p:nvSpPr>
            <p:spPr bwMode="auto">
              <a:xfrm>
                <a:off x="3951288" y="3384550"/>
                <a:ext cx="25400" cy="6350"/>
              </a:xfrm>
              <a:custGeom>
                <a:avLst/>
                <a:gdLst>
                  <a:gd name="T0" fmla="*/ 8 w 8"/>
                  <a:gd name="T1" fmla="*/ 0 h 2"/>
                  <a:gd name="T2" fmla="*/ 8 w 8"/>
                  <a:gd name="T3" fmla="*/ 2 h 2"/>
                  <a:gd name="T4" fmla="*/ 0 w 8"/>
                  <a:gd name="T5" fmla="*/ 2 h 2"/>
                  <a:gd name="T6" fmla="*/ 8 w 8"/>
                  <a:gd name="T7" fmla="*/ 0 h 2"/>
                  <a:gd name="T8" fmla="*/ 8 w 8"/>
                  <a:gd name="T9" fmla="*/ 0 h 2"/>
                  <a:gd name="T10" fmla="*/ 8 w 8"/>
                  <a:gd name="T11" fmla="*/ 0 h 2"/>
                </a:gdLst>
                <a:ahLst/>
                <a:cxnLst>
                  <a:cxn ang="0">
                    <a:pos x="T0" y="T1"/>
                  </a:cxn>
                  <a:cxn ang="0">
                    <a:pos x="T2" y="T3"/>
                  </a:cxn>
                  <a:cxn ang="0">
                    <a:pos x="T4" y="T5"/>
                  </a:cxn>
                  <a:cxn ang="0">
                    <a:pos x="T6" y="T7"/>
                  </a:cxn>
                  <a:cxn ang="0">
                    <a:pos x="T8" y="T9"/>
                  </a:cxn>
                  <a:cxn ang="0">
                    <a:pos x="T10" y="T11"/>
                  </a:cxn>
                </a:cxnLst>
                <a:rect l="0" t="0" r="r" b="b"/>
                <a:pathLst>
                  <a:path w="8" h="2">
                    <a:moveTo>
                      <a:pt x="8" y="0"/>
                    </a:moveTo>
                    <a:cubicBezTo>
                      <a:pt x="8" y="2"/>
                      <a:pt x="8" y="2"/>
                      <a:pt x="8" y="2"/>
                    </a:cubicBezTo>
                    <a:cubicBezTo>
                      <a:pt x="0" y="2"/>
                      <a:pt x="0" y="2"/>
                      <a:pt x="0" y="2"/>
                    </a:cubicBezTo>
                    <a:cubicBezTo>
                      <a:pt x="0" y="2"/>
                      <a:pt x="0" y="0"/>
                      <a:pt x="8" y="0"/>
                    </a:cubicBezTo>
                    <a:close/>
                    <a:moveTo>
                      <a:pt x="8" y="0"/>
                    </a:moveTo>
                    <a:cubicBezTo>
                      <a:pt x="8" y="0"/>
                      <a:pt x="8" y="0"/>
                      <a:pt x="8" y="0"/>
                    </a:cubicBezTo>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4" name="išľïḍé"/>
              <p:cNvSpPr/>
              <p:nvPr/>
            </p:nvSpPr>
            <p:spPr bwMode="auto">
              <a:xfrm>
                <a:off x="3771901" y="3484563"/>
                <a:ext cx="7938" cy="60325"/>
              </a:xfrm>
              <a:prstGeom prst="rect">
                <a:avLst/>
              </a:prstGeom>
              <a:solidFill>
                <a:srgbClr val="FFFFFF"/>
              </a:solidFill>
              <a:ln w="0" cap="flat">
                <a:solidFill>
                  <a:srgbClr val="FFFFFF"/>
                </a:solidFill>
                <a:prstDash val="solid"/>
                <a:miter lim="800000"/>
              </a:ln>
            </p:spPr>
            <p:txBody>
              <a:bodyPr anchor="ctr"/>
              <a:lstStyle/>
              <a:p>
                <a:pPr algn="ctr"/>
                <a:endParaRPr sz="1800"/>
              </a:p>
            </p:txBody>
          </p:sp>
          <p:sp>
            <p:nvSpPr>
              <p:cNvPr id="115" name="îŝlîḑè"/>
              <p:cNvSpPr/>
              <p:nvPr/>
            </p:nvSpPr>
            <p:spPr bwMode="auto">
              <a:xfrm>
                <a:off x="3786188" y="3484563"/>
                <a:ext cx="46038" cy="60325"/>
              </a:xfrm>
              <a:custGeom>
                <a:avLst/>
                <a:gdLst>
                  <a:gd name="T0" fmla="*/ 8 w 29"/>
                  <a:gd name="T1" fmla="*/ 0 h 38"/>
                  <a:gd name="T2" fmla="*/ 20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20"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6" name="îṩḻíḓe"/>
              <p:cNvSpPr/>
              <p:nvPr/>
            </p:nvSpPr>
            <p:spPr bwMode="auto">
              <a:xfrm>
                <a:off x="3994151" y="3484563"/>
                <a:ext cx="46038" cy="60325"/>
              </a:xfrm>
              <a:custGeom>
                <a:avLst/>
                <a:gdLst>
                  <a:gd name="T0" fmla="*/ 8 w 29"/>
                  <a:gd name="T1" fmla="*/ 0 h 38"/>
                  <a:gd name="T2" fmla="*/ 18 w 29"/>
                  <a:gd name="T3" fmla="*/ 0 h 38"/>
                  <a:gd name="T4" fmla="*/ 29 w 29"/>
                  <a:gd name="T5" fmla="*/ 8 h 38"/>
                  <a:gd name="T6" fmla="*/ 29 w 29"/>
                  <a:gd name="T7" fmla="*/ 38 h 38"/>
                  <a:gd name="T8" fmla="*/ 0 w 29"/>
                  <a:gd name="T9" fmla="*/ 38 h 38"/>
                  <a:gd name="T10" fmla="*/ 0 w 29"/>
                  <a:gd name="T11" fmla="*/ 8 h 38"/>
                  <a:gd name="T12" fmla="*/ 8 w 29"/>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29" h="38">
                    <a:moveTo>
                      <a:pt x="8" y="0"/>
                    </a:moveTo>
                    <a:lnTo>
                      <a:pt x="18" y="0"/>
                    </a:lnTo>
                    <a:lnTo>
                      <a:pt x="29" y="8"/>
                    </a:lnTo>
                    <a:lnTo>
                      <a:pt x="29" y="38"/>
                    </a:lnTo>
                    <a:lnTo>
                      <a:pt x="0" y="38"/>
                    </a:lnTo>
                    <a:lnTo>
                      <a:pt x="0" y="8"/>
                    </a:ln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7" name="î$1îdè"/>
              <p:cNvSpPr/>
              <p:nvPr/>
            </p:nvSpPr>
            <p:spPr bwMode="auto">
              <a:xfrm>
                <a:off x="3851276" y="3484563"/>
                <a:ext cx="122238" cy="60325"/>
              </a:xfrm>
              <a:custGeom>
                <a:avLst/>
                <a:gdLst>
                  <a:gd name="T0" fmla="*/ 9 w 77"/>
                  <a:gd name="T1" fmla="*/ 0 h 38"/>
                  <a:gd name="T2" fmla="*/ 69 w 77"/>
                  <a:gd name="T3" fmla="*/ 0 h 38"/>
                  <a:gd name="T4" fmla="*/ 77 w 77"/>
                  <a:gd name="T5" fmla="*/ 8 h 38"/>
                  <a:gd name="T6" fmla="*/ 77 w 77"/>
                  <a:gd name="T7" fmla="*/ 38 h 38"/>
                  <a:gd name="T8" fmla="*/ 0 w 77"/>
                  <a:gd name="T9" fmla="*/ 38 h 38"/>
                  <a:gd name="T10" fmla="*/ 0 w 77"/>
                  <a:gd name="T11" fmla="*/ 8 h 38"/>
                  <a:gd name="T12" fmla="*/ 9 w 77"/>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77" h="38">
                    <a:moveTo>
                      <a:pt x="9" y="0"/>
                    </a:moveTo>
                    <a:lnTo>
                      <a:pt x="69" y="0"/>
                    </a:lnTo>
                    <a:lnTo>
                      <a:pt x="77" y="8"/>
                    </a:lnTo>
                    <a:lnTo>
                      <a:pt x="77" y="38"/>
                    </a:lnTo>
                    <a:lnTo>
                      <a:pt x="0" y="38"/>
                    </a:lnTo>
                    <a:lnTo>
                      <a:pt x="0" y="8"/>
                    </a:lnTo>
                    <a:lnTo>
                      <a:pt x="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18" name="iśľïḓe"/>
              <p:cNvSpPr/>
              <p:nvPr/>
            </p:nvSpPr>
            <p:spPr bwMode="auto">
              <a:xfrm>
                <a:off x="4046538" y="3484563"/>
                <a:ext cx="6350" cy="60325"/>
              </a:xfrm>
              <a:prstGeom prst="rect">
                <a:avLst/>
              </a:prstGeom>
              <a:solidFill>
                <a:srgbClr val="FFFFFF"/>
              </a:solidFill>
              <a:ln w="0" cap="flat">
                <a:solidFill>
                  <a:srgbClr val="FFFFFF"/>
                </a:solidFill>
                <a:prstDash val="solid"/>
                <a:miter lim="800000"/>
              </a:ln>
            </p:spPr>
            <p:txBody>
              <a:bodyPr anchor="ctr"/>
              <a:lstStyle/>
              <a:p>
                <a:pPr algn="ctr"/>
                <a:endParaRPr sz="1800"/>
              </a:p>
            </p:txBody>
          </p:sp>
          <p:sp>
            <p:nvSpPr>
              <p:cNvPr id="119" name="iṣļïḑè"/>
              <p:cNvSpPr/>
              <p:nvPr/>
            </p:nvSpPr>
            <p:spPr bwMode="auto">
              <a:xfrm>
                <a:off x="3838576" y="3484563"/>
                <a:ext cx="6350" cy="60325"/>
              </a:xfrm>
              <a:prstGeom prst="rect">
                <a:avLst/>
              </a:prstGeom>
              <a:solidFill>
                <a:srgbClr val="FFFFFF"/>
              </a:solidFill>
              <a:ln w="0" cap="flat">
                <a:solidFill>
                  <a:srgbClr val="FFFFFF"/>
                </a:solidFill>
                <a:prstDash val="solid"/>
                <a:miter lim="800000"/>
              </a:ln>
            </p:spPr>
            <p:txBody>
              <a:bodyPr anchor="ctr"/>
              <a:lstStyle/>
              <a:p>
                <a:pPr algn="ctr"/>
                <a:endParaRPr sz="1800"/>
              </a:p>
            </p:txBody>
          </p:sp>
          <p:sp>
            <p:nvSpPr>
              <p:cNvPr id="120" name="iṡḷidé"/>
              <p:cNvSpPr/>
              <p:nvPr/>
            </p:nvSpPr>
            <p:spPr bwMode="auto">
              <a:xfrm>
                <a:off x="3979863" y="3484563"/>
                <a:ext cx="3175" cy="60325"/>
              </a:xfrm>
              <a:prstGeom prst="rect">
                <a:avLst/>
              </a:prstGeom>
              <a:solidFill>
                <a:srgbClr val="FFFFFF"/>
              </a:solidFill>
              <a:ln w="0" cap="flat">
                <a:solidFill>
                  <a:srgbClr val="FFFFFF"/>
                </a:solidFill>
                <a:prstDash val="solid"/>
                <a:miter lim="800000"/>
              </a:ln>
            </p:spPr>
            <p:txBody>
              <a:bodyPr anchor="ctr"/>
              <a:lstStyle/>
              <a:p>
                <a:pPr algn="ctr"/>
                <a:endParaRPr sz="1800"/>
              </a:p>
            </p:txBody>
          </p:sp>
          <p:sp>
            <p:nvSpPr>
              <p:cNvPr id="121" name="íṡḷíḋe"/>
              <p:cNvSpPr/>
              <p:nvPr/>
            </p:nvSpPr>
            <p:spPr bwMode="auto">
              <a:xfrm>
                <a:off x="3811588" y="3551238"/>
                <a:ext cx="2047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22" name="íŝ1iḑê"/>
              <p:cNvSpPr/>
              <p:nvPr/>
            </p:nvSpPr>
            <p:spPr bwMode="auto">
              <a:xfrm>
                <a:off x="3805238" y="3557588"/>
                <a:ext cx="214313"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23" name="îṩḷiḑe"/>
              <p:cNvSpPr/>
              <p:nvPr/>
            </p:nvSpPr>
            <p:spPr bwMode="auto">
              <a:xfrm>
                <a:off x="3802063" y="3567113"/>
                <a:ext cx="220663"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24" name="iṧḻiḑê"/>
              <p:cNvSpPr/>
              <p:nvPr/>
            </p:nvSpPr>
            <p:spPr bwMode="auto">
              <a:xfrm>
                <a:off x="3802063" y="3570288"/>
                <a:ext cx="2238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25" name="ïṣḻîḋè"/>
              <p:cNvSpPr/>
              <p:nvPr/>
            </p:nvSpPr>
            <p:spPr bwMode="auto">
              <a:xfrm>
                <a:off x="3795713" y="3581400"/>
                <a:ext cx="234950"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26" name="îṡ1îḍé"/>
              <p:cNvSpPr/>
              <p:nvPr/>
            </p:nvSpPr>
            <p:spPr bwMode="auto">
              <a:xfrm>
                <a:off x="3633788" y="3587750"/>
                <a:ext cx="560388" cy="6350"/>
              </a:xfrm>
              <a:custGeom>
                <a:avLst/>
                <a:gdLst>
                  <a:gd name="T0" fmla="*/ 0 w 353"/>
                  <a:gd name="T1" fmla="*/ 0 h 4"/>
                  <a:gd name="T2" fmla="*/ 353 w 353"/>
                  <a:gd name="T3" fmla="*/ 0 h 4"/>
                  <a:gd name="T4" fmla="*/ 351 w 353"/>
                  <a:gd name="T5" fmla="*/ 4 h 4"/>
                  <a:gd name="T6" fmla="*/ 2 w 353"/>
                  <a:gd name="T7" fmla="*/ 4 h 4"/>
                  <a:gd name="T8" fmla="*/ 0 w 353"/>
                  <a:gd name="T9" fmla="*/ 0 h 4"/>
                </a:gdLst>
                <a:ahLst/>
                <a:cxnLst>
                  <a:cxn ang="0">
                    <a:pos x="T0" y="T1"/>
                  </a:cxn>
                  <a:cxn ang="0">
                    <a:pos x="T2" y="T3"/>
                  </a:cxn>
                  <a:cxn ang="0">
                    <a:pos x="T4" y="T5"/>
                  </a:cxn>
                  <a:cxn ang="0">
                    <a:pos x="T6" y="T7"/>
                  </a:cxn>
                  <a:cxn ang="0">
                    <a:pos x="T8" y="T9"/>
                  </a:cxn>
                </a:cxnLst>
                <a:rect l="0" t="0" r="r" b="b"/>
                <a:pathLst>
                  <a:path w="353" h="4">
                    <a:moveTo>
                      <a:pt x="0" y="0"/>
                    </a:moveTo>
                    <a:lnTo>
                      <a:pt x="353" y="0"/>
                    </a:lnTo>
                    <a:lnTo>
                      <a:pt x="351"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27" name="îš1íḑe"/>
              <p:cNvSpPr/>
              <p:nvPr/>
            </p:nvSpPr>
            <p:spPr bwMode="auto">
              <a:xfrm>
                <a:off x="3640138" y="3600450"/>
                <a:ext cx="547688" cy="6350"/>
              </a:xfrm>
              <a:custGeom>
                <a:avLst/>
                <a:gdLst>
                  <a:gd name="T0" fmla="*/ 0 w 345"/>
                  <a:gd name="T1" fmla="*/ 0 h 4"/>
                  <a:gd name="T2" fmla="*/ 345 w 345"/>
                  <a:gd name="T3" fmla="*/ 0 h 4"/>
                  <a:gd name="T4" fmla="*/ 343 w 345"/>
                  <a:gd name="T5" fmla="*/ 4 h 4"/>
                  <a:gd name="T6" fmla="*/ 2 w 345"/>
                  <a:gd name="T7" fmla="*/ 4 h 4"/>
                  <a:gd name="T8" fmla="*/ 0 w 345"/>
                  <a:gd name="T9" fmla="*/ 0 h 4"/>
                </a:gdLst>
                <a:ahLst/>
                <a:cxnLst>
                  <a:cxn ang="0">
                    <a:pos x="T0" y="T1"/>
                  </a:cxn>
                  <a:cxn ang="0">
                    <a:pos x="T2" y="T3"/>
                  </a:cxn>
                  <a:cxn ang="0">
                    <a:pos x="T4" y="T5"/>
                  </a:cxn>
                  <a:cxn ang="0">
                    <a:pos x="T6" y="T7"/>
                  </a:cxn>
                  <a:cxn ang="0">
                    <a:pos x="T8" y="T9"/>
                  </a:cxn>
                </a:cxnLst>
                <a:rect l="0" t="0" r="r" b="b"/>
                <a:pathLst>
                  <a:path w="345" h="4">
                    <a:moveTo>
                      <a:pt x="0" y="0"/>
                    </a:moveTo>
                    <a:lnTo>
                      <a:pt x="345" y="0"/>
                    </a:lnTo>
                    <a:lnTo>
                      <a:pt x="343" y="4"/>
                    </a:lnTo>
                    <a:lnTo>
                      <a:pt x="2" y="4"/>
                    </a:lnTo>
                    <a:lnTo>
                      <a:pt x="0" y="0"/>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28" name="iš1ïḍe"/>
              <p:cNvSpPr/>
              <p:nvPr/>
            </p:nvSpPr>
            <p:spPr bwMode="auto">
              <a:xfrm>
                <a:off x="3736976" y="3406775"/>
                <a:ext cx="352425" cy="4763"/>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29" name="îSḻîde"/>
              <p:cNvSpPr/>
              <p:nvPr/>
            </p:nvSpPr>
            <p:spPr bwMode="auto">
              <a:xfrm>
                <a:off x="3746501" y="3417888"/>
                <a:ext cx="3333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30" name="î$ḻîḑé"/>
              <p:cNvSpPr/>
              <p:nvPr/>
            </p:nvSpPr>
            <p:spPr bwMode="auto">
              <a:xfrm>
                <a:off x="3805238" y="3417888"/>
                <a:ext cx="211138" cy="1588"/>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31" name="íŝļïḓe"/>
              <p:cNvSpPr/>
              <p:nvPr/>
            </p:nvSpPr>
            <p:spPr bwMode="auto">
              <a:xfrm>
                <a:off x="3811588"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32" name="îS1iḍé"/>
              <p:cNvSpPr/>
              <p:nvPr/>
            </p:nvSpPr>
            <p:spPr bwMode="auto">
              <a:xfrm>
                <a:off x="3802063"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33" name="išlïdé"/>
              <p:cNvSpPr/>
              <p:nvPr/>
            </p:nvSpPr>
            <p:spPr bwMode="auto">
              <a:xfrm>
                <a:off x="3789363"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34" name="ïSlïde"/>
              <p:cNvSpPr/>
              <p:nvPr/>
            </p:nvSpPr>
            <p:spPr bwMode="auto">
              <a:xfrm>
                <a:off x="3822701"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5" name="îşľïďe"/>
              <p:cNvSpPr/>
              <p:nvPr/>
            </p:nvSpPr>
            <p:spPr bwMode="auto">
              <a:xfrm>
                <a:off x="38322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6" name="ïşľíďê"/>
              <p:cNvSpPr/>
              <p:nvPr/>
            </p:nvSpPr>
            <p:spPr bwMode="auto">
              <a:xfrm>
                <a:off x="38449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7" name="íś1ïdè"/>
              <p:cNvSpPr/>
              <p:nvPr/>
            </p:nvSpPr>
            <p:spPr bwMode="auto">
              <a:xfrm>
                <a:off x="3854451"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0" y="0"/>
                      <a:pt x="1" y="0"/>
                      <a:pt x="2" y="0"/>
                    </a:cubicBezTo>
                    <a:cubicBezTo>
                      <a:pt x="2" y="3"/>
                      <a:pt x="2" y="6"/>
                      <a:pt x="2"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8" name="iṩḷiḍe"/>
              <p:cNvSpPr/>
              <p:nvPr/>
            </p:nvSpPr>
            <p:spPr bwMode="auto">
              <a:xfrm>
                <a:off x="386556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39" name="ïŝ1iďè"/>
              <p:cNvSpPr/>
              <p:nvPr/>
            </p:nvSpPr>
            <p:spPr bwMode="auto">
              <a:xfrm>
                <a:off x="3878263"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0" name="íṩļíḋê"/>
              <p:cNvSpPr/>
              <p:nvPr/>
            </p:nvSpPr>
            <p:spPr bwMode="auto">
              <a:xfrm>
                <a:off x="38877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1" name="ïṧ1ïdè"/>
              <p:cNvSpPr/>
              <p:nvPr/>
            </p:nvSpPr>
            <p:spPr bwMode="auto">
              <a:xfrm>
                <a:off x="3897313"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2" name="íŝḻîḍé"/>
              <p:cNvSpPr/>
              <p:nvPr/>
            </p:nvSpPr>
            <p:spPr bwMode="auto">
              <a:xfrm>
                <a:off x="3908426"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3" name="îşḻïḓé"/>
              <p:cNvSpPr/>
              <p:nvPr/>
            </p:nvSpPr>
            <p:spPr bwMode="auto">
              <a:xfrm>
                <a:off x="39211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4" name="íśļíďè"/>
              <p:cNvSpPr/>
              <p:nvPr/>
            </p:nvSpPr>
            <p:spPr bwMode="auto">
              <a:xfrm>
                <a:off x="3930651"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5" name="iŝ1ïdé"/>
              <p:cNvSpPr/>
              <p:nvPr/>
            </p:nvSpPr>
            <p:spPr bwMode="auto">
              <a:xfrm>
                <a:off x="3940176"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6" name="is1ídè"/>
              <p:cNvSpPr/>
              <p:nvPr/>
            </p:nvSpPr>
            <p:spPr bwMode="auto">
              <a:xfrm>
                <a:off x="3951288"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2" y="0"/>
                      <a:pt x="2" y="0"/>
                    </a:cubicBezTo>
                    <a:cubicBezTo>
                      <a:pt x="2" y="3"/>
                      <a:pt x="2" y="6"/>
                      <a:pt x="2" y="9"/>
                    </a:cubicBezTo>
                    <a:cubicBezTo>
                      <a:pt x="2"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7" name="islíďê"/>
              <p:cNvSpPr/>
              <p:nvPr/>
            </p:nvSpPr>
            <p:spPr bwMode="auto">
              <a:xfrm>
                <a:off x="3963988"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8" name="iṩlíḑê"/>
              <p:cNvSpPr/>
              <p:nvPr/>
            </p:nvSpPr>
            <p:spPr bwMode="auto">
              <a:xfrm>
                <a:off x="3973513" y="3421063"/>
                <a:ext cx="6350"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49" name="îṥḷïďê"/>
              <p:cNvSpPr/>
              <p:nvPr/>
            </p:nvSpPr>
            <p:spPr bwMode="auto">
              <a:xfrm>
                <a:off x="3983038" y="3421063"/>
                <a:ext cx="7938" cy="30163"/>
              </a:xfrm>
              <a:custGeom>
                <a:avLst/>
                <a:gdLst>
                  <a:gd name="T0" fmla="*/ 0 w 2"/>
                  <a:gd name="T1" fmla="*/ 0 h 9"/>
                  <a:gd name="T2" fmla="*/ 2 w 2"/>
                  <a:gd name="T3" fmla="*/ 0 h 9"/>
                  <a:gd name="T4" fmla="*/ 2 w 2"/>
                  <a:gd name="T5" fmla="*/ 9 h 9"/>
                  <a:gd name="T6" fmla="*/ 0 w 2"/>
                  <a:gd name="T7" fmla="*/ 9 h 9"/>
                  <a:gd name="T8" fmla="*/ 0 w 2"/>
                  <a:gd name="T9" fmla="*/ 0 h 9"/>
                </a:gdLst>
                <a:ahLst/>
                <a:cxnLst>
                  <a:cxn ang="0">
                    <a:pos x="T0" y="T1"/>
                  </a:cxn>
                  <a:cxn ang="0">
                    <a:pos x="T2" y="T3"/>
                  </a:cxn>
                  <a:cxn ang="0">
                    <a:pos x="T4" y="T5"/>
                  </a:cxn>
                  <a:cxn ang="0">
                    <a:pos x="T6" y="T7"/>
                  </a:cxn>
                  <a:cxn ang="0">
                    <a:pos x="T8" y="T9"/>
                  </a:cxn>
                </a:cxnLst>
                <a:rect l="0" t="0" r="r" b="b"/>
                <a:pathLst>
                  <a:path w="2" h="9">
                    <a:moveTo>
                      <a:pt x="0" y="0"/>
                    </a:moveTo>
                    <a:cubicBezTo>
                      <a:pt x="1" y="0"/>
                      <a:pt x="1" y="0"/>
                      <a:pt x="2" y="0"/>
                    </a:cubicBezTo>
                    <a:cubicBezTo>
                      <a:pt x="2" y="3"/>
                      <a:pt x="2" y="6"/>
                      <a:pt x="2" y="9"/>
                    </a:cubicBezTo>
                    <a:cubicBezTo>
                      <a:pt x="1" y="9"/>
                      <a:pt x="1"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50" name="íṥḻïďè"/>
              <p:cNvSpPr/>
              <p:nvPr/>
            </p:nvSpPr>
            <p:spPr bwMode="auto">
              <a:xfrm>
                <a:off x="3997326" y="3421063"/>
                <a:ext cx="3175" cy="30163"/>
              </a:xfrm>
              <a:custGeom>
                <a:avLst/>
                <a:gdLst>
                  <a:gd name="T0" fmla="*/ 0 w 1"/>
                  <a:gd name="T1" fmla="*/ 0 h 9"/>
                  <a:gd name="T2" fmla="*/ 1 w 1"/>
                  <a:gd name="T3" fmla="*/ 0 h 9"/>
                  <a:gd name="T4" fmla="*/ 1 w 1"/>
                  <a:gd name="T5" fmla="*/ 9 h 9"/>
                  <a:gd name="T6" fmla="*/ 0 w 1"/>
                  <a:gd name="T7" fmla="*/ 9 h 9"/>
                  <a:gd name="T8" fmla="*/ 0 w 1"/>
                  <a:gd name="T9" fmla="*/ 0 h 9"/>
                </a:gdLst>
                <a:ahLst/>
                <a:cxnLst>
                  <a:cxn ang="0">
                    <a:pos x="T0" y="T1"/>
                  </a:cxn>
                  <a:cxn ang="0">
                    <a:pos x="T2" y="T3"/>
                  </a:cxn>
                  <a:cxn ang="0">
                    <a:pos x="T4" y="T5"/>
                  </a:cxn>
                  <a:cxn ang="0">
                    <a:pos x="T6" y="T7"/>
                  </a:cxn>
                  <a:cxn ang="0">
                    <a:pos x="T8" y="T9"/>
                  </a:cxn>
                </a:cxnLst>
                <a:rect l="0" t="0" r="r" b="b"/>
                <a:pathLst>
                  <a:path w="1" h="9">
                    <a:moveTo>
                      <a:pt x="0" y="0"/>
                    </a:moveTo>
                    <a:cubicBezTo>
                      <a:pt x="0" y="0"/>
                      <a:pt x="1" y="0"/>
                      <a:pt x="1" y="0"/>
                    </a:cubicBezTo>
                    <a:cubicBezTo>
                      <a:pt x="1" y="3"/>
                      <a:pt x="1" y="6"/>
                      <a:pt x="1" y="9"/>
                    </a:cubicBezTo>
                    <a:cubicBezTo>
                      <a:pt x="1" y="9"/>
                      <a:pt x="0" y="9"/>
                      <a:pt x="0" y="9"/>
                    </a:cubicBezTo>
                    <a:cubicBezTo>
                      <a:pt x="0" y="6"/>
                      <a:pt x="0" y="3"/>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51" name="íṡḷíḍè"/>
              <p:cNvSpPr/>
              <p:nvPr/>
            </p:nvSpPr>
            <p:spPr bwMode="auto">
              <a:xfrm>
                <a:off x="4006851" y="3421063"/>
                <a:ext cx="3175"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52" name="î$ḷîḑé"/>
              <p:cNvSpPr/>
              <p:nvPr/>
            </p:nvSpPr>
            <p:spPr bwMode="auto">
              <a:xfrm>
                <a:off x="4016376" y="3421063"/>
                <a:ext cx="6350"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53" name="í$ľîdè"/>
              <p:cNvSpPr/>
              <p:nvPr/>
            </p:nvSpPr>
            <p:spPr bwMode="auto">
              <a:xfrm>
                <a:off x="4025901" y="3421063"/>
                <a:ext cx="7938" cy="30163"/>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54" name="iṥ1iḍè"/>
              <p:cNvSpPr/>
              <p:nvPr/>
            </p:nvSpPr>
            <p:spPr bwMode="auto">
              <a:xfrm>
                <a:off x="4040188" y="3417888"/>
                <a:ext cx="39688" cy="3175"/>
              </a:xfrm>
              <a:prstGeom prst="rect">
                <a:avLst/>
              </a:prstGeom>
              <a:solidFill>
                <a:srgbClr val="1E2678"/>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55" name="ïslidé"/>
              <p:cNvSpPr/>
              <p:nvPr/>
            </p:nvSpPr>
            <p:spPr bwMode="auto">
              <a:xfrm>
                <a:off x="3679826" y="3490913"/>
                <a:ext cx="17463" cy="63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sz="1800"/>
              </a:p>
            </p:txBody>
          </p:sp>
          <p:sp>
            <p:nvSpPr>
              <p:cNvPr id="156" name="íṡlïďè"/>
              <p:cNvSpPr/>
              <p:nvPr/>
            </p:nvSpPr>
            <p:spPr bwMode="auto">
              <a:xfrm>
                <a:off x="3884613" y="3490913"/>
                <a:ext cx="55563" cy="53975"/>
              </a:xfrm>
              <a:custGeom>
                <a:avLst/>
                <a:gdLst>
                  <a:gd name="T0" fmla="*/ 0 w 35"/>
                  <a:gd name="T1" fmla="*/ 0 h 34"/>
                  <a:gd name="T2" fmla="*/ 35 w 35"/>
                  <a:gd name="T3" fmla="*/ 0 h 34"/>
                  <a:gd name="T4" fmla="*/ 35 w 35"/>
                  <a:gd name="T5" fmla="*/ 34 h 34"/>
                  <a:gd name="T6" fmla="*/ 0 w 35"/>
                  <a:gd name="T7" fmla="*/ 34 h 34"/>
                  <a:gd name="T8" fmla="*/ 0 w 35"/>
                  <a:gd name="T9" fmla="*/ 0 h 34"/>
                  <a:gd name="T10" fmla="*/ 0 w 35"/>
                  <a:gd name="T11" fmla="*/ 0 h 34"/>
                  <a:gd name="T12" fmla="*/ 4 w 35"/>
                  <a:gd name="T13" fmla="*/ 8 h 34"/>
                  <a:gd name="T14" fmla="*/ 4 w 35"/>
                  <a:gd name="T15" fmla="*/ 27 h 34"/>
                  <a:gd name="T16" fmla="*/ 8 w 35"/>
                  <a:gd name="T17" fmla="*/ 27 h 34"/>
                  <a:gd name="T18" fmla="*/ 8 w 35"/>
                  <a:gd name="T19" fmla="*/ 8 h 34"/>
                  <a:gd name="T20" fmla="*/ 4 w 35"/>
                  <a:gd name="T21" fmla="*/ 8 h 34"/>
                  <a:gd name="T22" fmla="*/ 4 w 35"/>
                  <a:gd name="T23" fmla="*/ 8 h 34"/>
                  <a:gd name="T24" fmla="*/ 29 w 35"/>
                  <a:gd name="T25" fmla="*/ 8 h 34"/>
                  <a:gd name="T26" fmla="*/ 29 w 35"/>
                  <a:gd name="T27" fmla="*/ 27 h 34"/>
                  <a:gd name="T28" fmla="*/ 31 w 35"/>
                  <a:gd name="T29" fmla="*/ 27 h 34"/>
                  <a:gd name="T30" fmla="*/ 31 w 35"/>
                  <a:gd name="T31" fmla="*/ 8 h 34"/>
                  <a:gd name="T32" fmla="*/ 29 w 35"/>
                  <a:gd name="T33" fmla="*/ 8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 h="34">
                    <a:moveTo>
                      <a:pt x="0" y="0"/>
                    </a:moveTo>
                    <a:lnTo>
                      <a:pt x="35" y="0"/>
                    </a:lnTo>
                    <a:lnTo>
                      <a:pt x="35" y="34"/>
                    </a:lnTo>
                    <a:lnTo>
                      <a:pt x="0" y="34"/>
                    </a:lnTo>
                    <a:lnTo>
                      <a:pt x="0" y="0"/>
                    </a:lnTo>
                    <a:lnTo>
                      <a:pt x="0" y="0"/>
                    </a:lnTo>
                    <a:close/>
                    <a:moveTo>
                      <a:pt x="4" y="8"/>
                    </a:moveTo>
                    <a:lnTo>
                      <a:pt x="4" y="27"/>
                    </a:lnTo>
                    <a:lnTo>
                      <a:pt x="8" y="27"/>
                    </a:lnTo>
                    <a:lnTo>
                      <a:pt x="8" y="8"/>
                    </a:lnTo>
                    <a:lnTo>
                      <a:pt x="4" y="8"/>
                    </a:lnTo>
                    <a:lnTo>
                      <a:pt x="4" y="8"/>
                    </a:lnTo>
                    <a:close/>
                    <a:moveTo>
                      <a:pt x="29" y="8"/>
                    </a:moveTo>
                    <a:lnTo>
                      <a:pt x="29" y="27"/>
                    </a:lnTo>
                    <a:lnTo>
                      <a:pt x="31" y="27"/>
                    </a:lnTo>
                    <a:lnTo>
                      <a:pt x="31" y="8"/>
                    </a:lnTo>
                    <a:lnTo>
                      <a:pt x="29" y="8"/>
                    </a:ln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sp>
            <p:nvSpPr>
              <p:cNvPr id="157" name="iṧ1ïḓè"/>
              <p:cNvSpPr/>
              <p:nvPr/>
            </p:nvSpPr>
            <p:spPr bwMode="auto">
              <a:xfrm>
                <a:off x="3551238" y="3067050"/>
                <a:ext cx="722313" cy="727075"/>
              </a:xfrm>
              <a:custGeom>
                <a:avLst/>
                <a:gdLst>
                  <a:gd name="T0" fmla="*/ 109 w 219"/>
                  <a:gd name="T1" fmla="*/ 0 h 218"/>
                  <a:gd name="T2" fmla="*/ 219 w 219"/>
                  <a:gd name="T3" fmla="*/ 109 h 218"/>
                  <a:gd name="T4" fmla="*/ 109 w 219"/>
                  <a:gd name="T5" fmla="*/ 218 h 218"/>
                  <a:gd name="T6" fmla="*/ 0 w 219"/>
                  <a:gd name="T7" fmla="*/ 109 h 218"/>
                  <a:gd name="T8" fmla="*/ 109 w 219"/>
                  <a:gd name="T9" fmla="*/ 0 h 218"/>
                  <a:gd name="T10" fmla="*/ 109 w 219"/>
                  <a:gd name="T11" fmla="*/ 3 h 218"/>
                  <a:gd name="T12" fmla="*/ 4 w 219"/>
                  <a:gd name="T13" fmla="*/ 109 h 218"/>
                  <a:gd name="T14" fmla="*/ 109 w 219"/>
                  <a:gd name="T15" fmla="*/ 215 h 218"/>
                  <a:gd name="T16" fmla="*/ 215 w 219"/>
                  <a:gd name="T17" fmla="*/ 109 h 218"/>
                  <a:gd name="T18" fmla="*/ 109 w 219"/>
                  <a:gd name="T19" fmla="*/ 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9" h="218">
                    <a:moveTo>
                      <a:pt x="109" y="0"/>
                    </a:moveTo>
                    <a:cubicBezTo>
                      <a:pt x="170" y="0"/>
                      <a:pt x="219" y="49"/>
                      <a:pt x="219" y="109"/>
                    </a:cubicBezTo>
                    <a:cubicBezTo>
                      <a:pt x="219" y="169"/>
                      <a:pt x="170" y="218"/>
                      <a:pt x="109" y="218"/>
                    </a:cubicBezTo>
                    <a:cubicBezTo>
                      <a:pt x="49" y="218"/>
                      <a:pt x="0" y="169"/>
                      <a:pt x="0" y="109"/>
                    </a:cubicBezTo>
                    <a:cubicBezTo>
                      <a:pt x="0" y="49"/>
                      <a:pt x="49" y="0"/>
                      <a:pt x="109" y="0"/>
                    </a:cubicBezTo>
                    <a:close/>
                    <a:moveTo>
                      <a:pt x="109" y="3"/>
                    </a:moveTo>
                    <a:cubicBezTo>
                      <a:pt x="51" y="3"/>
                      <a:pt x="4" y="51"/>
                      <a:pt x="4" y="109"/>
                    </a:cubicBezTo>
                    <a:cubicBezTo>
                      <a:pt x="4" y="167"/>
                      <a:pt x="51" y="215"/>
                      <a:pt x="109" y="215"/>
                    </a:cubicBezTo>
                    <a:cubicBezTo>
                      <a:pt x="168" y="215"/>
                      <a:pt x="215" y="167"/>
                      <a:pt x="215" y="109"/>
                    </a:cubicBezTo>
                    <a:cubicBezTo>
                      <a:pt x="215" y="51"/>
                      <a:pt x="168" y="3"/>
                      <a:pt x="109" y="3"/>
                    </a:cubicBezTo>
                    <a:close/>
                  </a:path>
                </a:pathLst>
              </a:custGeom>
              <a:solidFill>
                <a:srgbClr val="1E267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800"/>
              </a:p>
            </p:txBody>
          </p:sp>
        </p:grpSp>
      </p:grpSp>
      <p:pic>
        <p:nvPicPr>
          <p:cNvPr id="161" name="图片 160"/>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266702" y="268906"/>
            <a:ext cx="710933" cy="159284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alphaModFix amt="3000"/>
            <a:duotone>
              <a:schemeClr val="accent1">
                <a:shade val="45000"/>
                <a:satMod val="135000"/>
              </a:schemeClr>
              <a:prstClr val="white"/>
            </a:duotone>
          </a:blip>
          <a:stretch>
            <a:fillRect/>
          </a:stretch>
        </p:blipFill>
        <p:spPr>
          <a:xfrm>
            <a:off x="5673244" y="-1"/>
            <a:ext cx="7356956" cy="6858001"/>
          </a:xfrm>
          <a:prstGeom prst="rect">
            <a:avLst/>
          </a:prstGeom>
        </p:spPr>
      </p:pic>
      <p:sp>
        <p:nvSpPr>
          <p:cNvPr id="4" name="矩形 3"/>
          <p:cNvSpPr/>
          <p:nvPr userDrawn="1"/>
        </p:nvSpPr>
        <p:spPr>
          <a:xfrm>
            <a:off x="-12646" y="0"/>
            <a:ext cx="177972" cy="6858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图片占位符 8"/>
          <p:cNvSpPr>
            <a:spLocks noGrp="1"/>
          </p:cNvSpPr>
          <p:nvPr>
            <p:ph type="pic" sz="quarter" idx="15"/>
          </p:nvPr>
        </p:nvSpPr>
        <p:spPr>
          <a:xfrm flipH="1">
            <a:off x="170624" y="0"/>
            <a:ext cx="2928003" cy="6858000"/>
          </a:xfrm>
          <a:custGeom>
            <a:avLst/>
            <a:gdLst>
              <a:gd name="connsiteX0" fmla="*/ 533952 w 4167120"/>
              <a:gd name="connsiteY0" fmla="*/ 0 h 6858000"/>
              <a:gd name="connsiteX1" fmla="*/ 4167120 w 4167120"/>
              <a:gd name="connsiteY1" fmla="*/ 0 h 6858000"/>
              <a:gd name="connsiteX2" fmla="*/ 4167120 w 4167120"/>
              <a:gd name="connsiteY2" fmla="*/ 6858000 h 6858000"/>
              <a:gd name="connsiteX3" fmla="*/ 427599 w 4167120"/>
              <a:gd name="connsiteY3" fmla="*/ 6858000 h 6858000"/>
              <a:gd name="connsiteX4" fmla="*/ 322189 w 4167120"/>
              <a:gd name="connsiteY4" fmla="*/ 6466939 h 6858000"/>
              <a:gd name="connsiteX5" fmla="*/ 0 w 4167120"/>
              <a:gd name="connsiteY5" fmla="*/ 3599121 h 6858000"/>
              <a:gd name="connsiteX6" fmla="*/ 455902 w 4167120"/>
              <a:gd name="connsiteY6" fmla="*/ 2352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120" h="6858000">
                <a:moveTo>
                  <a:pt x="533952" y="0"/>
                </a:moveTo>
                <a:lnTo>
                  <a:pt x="4167120" y="0"/>
                </a:lnTo>
                <a:lnTo>
                  <a:pt x="4167120" y="6858000"/>
                </a:lnTo>
                <a:lnTo>
                  <a:pt x="427599" y="6858000"/>
                </a:lnTo>
                <a:lnTo>
                  <a:pt x="322189" y="6466939"/>
                </a:lnTo>
                <a:cubicBezTo>
                  <a:pt x="116715" y="5614442"/>
                  <a:pt x="0" y="4637502"/>
                  <a:pt x="0" y="3599121"/>
                </a:cubicBezTo>
                <a:cubicBezTo>
                  <a:pt x="0" y="2353065"/>
                  <a:pt x="168069" y="1195481"/>
                  <a:pt x="455902" y="235243"/>
                </a:cubicBezTo>
                <a:close/>
              </a:path>
            </a:pathLst>
          </a:custGeom>
        </p:spPr>
        <p:txBody>
          <a:bodyPr wrap="square">
            <a:noAutofit/>
          </a:bodyPr>
          <a:lstStyle/>
          <a:p>
            <a:endParaRPr kumimoji="1" lang="zh-CN" altLang="en-US" dirty="0"/>
          </a:p>
        </p:txBody>
      </p:sp>
      <p:sp>
        <p:nvSpPr>
          <p:cNvPr id="6" name="任意形状 9"/>
          <p:cNvSpPr/>
          <p:nvPr userDrawn="1"/>
        </p:nvSpPr>
        <p:spPr>
          <a:xfrm flipH="1">
            <a:off x="33862" y="-98854"/>
            <a:ext cx="3064764" cy="7039443"/>
          </a:xfrm>
          <a:custGeom>
            <a:avLst/>
            <a:gdLst>
              <a:gd name="connsiteX0" fmla="*/ 533952 w 4167120"/>
              <a:gd name="connsiteY0" fmla="*/ 0 h 6858000"/>
              <a:gd name="connsiteX1" fmla="*/ 4167120 w 4167120"/>
              <a:gd name="connsiteY1" fmla="*/ 0 h 6858000"/>
              <a:gd name="connsiteX2" fmla="*/ 4167120 w 4167120"/>
              <a:gd name="connsiteY2" fmla="*/ 6858000 h 6858000"/>
              <a:gd name="connsiteX3" fmla="*/ 427599 w 4167120"/>
              <a:gd name="connsiteY3" fmla="*/ 6858000 h 6858000"/>
              <a:gd name="connsiteX4" fmla="*/ 322189 w 4167120"/>
              <a:gd name="connsiteY4" fmla="*/ 6466939 h 6858000"/>
              <a:gd name="connsiteX5" fmla="*/ 0 w 4167120"/>
              <a:gd name="connsiteY5" fmla="*/ 3599121 h 6858000"/>
              <a:gd name="connsiteX6" fmla="*/ 455902 w 4167120"/>
              <a:gd name="connsiteY6" fmla="*/ 2352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120" h="6858000">
                <a:moveTo>
                  <a:pt x="533952" y="0"/>
                </a:moveTo>
                <a:lnTo>
                  <a:pt x="4167120" y="0"/>
                </a:lnTo>
                <a:lnTo>
                  <a:pt x="4167120" y="6858000"/>
                </a:lnTo>
                <a:lnTo>
                  <a:pt x="427599" y="6858000"/>
                </a:lnTo>
                <a:lnTo>
                  <a:pt x="322189" y="6466939"/>
                </a:lnTo>
                <a:cubicBezTo>
                  <a:pt x="116715" y="5614442"/>
                  <a:pt x="0" y="4637502"/>
                  <a:pt x="0" y="3599121"/>
                </a:cubicBezTo>
                <a:cubicBezTo>
                  <a:pt x="0" y="2353065"/>
                  <a:pt x="168069" y="1195481"/>
                  <a:pt x="455902" y="235243"/>
                </a:cubicBezTo>
                <a:close/>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noAutofit/>
          </a:bodyPr>
          <a:lstStyle/>
          <a:p>
            <a:pPr algn="l">
              <a:lnSpc>
                <a:spcPct val="130000"/>
              </a:lnSpc>
            </a:pPr>
            <a:endParaRPr kumimoji="1" lang="zh-CN" altLang="en-US" sz="2000" dirty="0">
              <a:solidFill>
                <a:schemeClr val="tx1">
                  <a:lumMod val="75000"/>
                  <a:lumOff val="25000"/>
                </a:schemeClr>
              </a:solidFil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DB92293E-CE77-91C3-9760-2C6B5AC48399}"/>
              </a:ext>
            </a:extLst>
          </p:cNvPr>
          <p:cNvPicPr>
            <a:picLocks noChangeAspect="1"/>
          </p:cNvPicPr>
          <p:nvPr userDrawn="1"/>
        </p:nvPicPr>
        <p:blipFill>
          <a:blip r:embed="rId2">
            <a:alphaModFix amt="3000"/>
            <a:duotone>
              <a:schemeClr val="accent1">
                <a:shade val="45000"/>
                <a:satMod val="135000"/>
              </a:schemeClr>
              <a:prstClr val="white"/>
            </a:duotone>
          </a:blip>
          <a:stretch>
            <a:fillRect/>
          </a:stretch>
        </p:blipFill>
        <p:spPr>
          <a:xfrm>
            <a:off x="-2882793" y="1029268"/>
            <a:ext cx="5784639" cy="5818800"/>
          </a:xfrm>
          <a:prstGeom prst="rect">
            <a:avLst/>
          </a:prstGeom>
        </p:spPr>
      </p:pic>
      <p:sp>
        <p:nvSpPr>
          <p:cNvPr id="7" name="标题 1"/>
          <p:cNvSpPr>
            <a:spLocks noGrp="1"/>
          </p:cNvSpPr>
          <p:nvPr>
            <p:ph type="title"/>
          </p:nvPr>
        </p:nvSpPr>
        <p:spPr>
          <a:xfrm>
            <a:off x="1181101" y="342900"/>
            <a:ext cx="6896099" cy="663575"/>
          </a:xfrm>
          <a:prstGeom prst="rect">
            <a:avLst/>
          </a:prstGeom>
        </p:spPr>
        <p:txBody>
          <a:bodyPr lIns="0"/>
          <a:lstStyle>
            <a:lvl1pPr>
              <a:defRPr b="1">
                <a:solidFill>
                  <a:schemeClr val="accent1"/>
                </a:solidFill>
              </a:defRPr>
            </a:lvl1pPr>
          </a:lstStyle>
          <a:p>
            <a:r>
              <a:rPr lang="zh-CN" altLang="en-US" dirty="0"/>
              <a:t>单击此处编辑母版标题样式</a:t>
            </a:r>
          </a:p>
        </p:txBody>
      </p:sp>
      <p:pic>
        <p:nvPicPr>
          <p:cNvPr id="109" name="图片 108" descr="图片包含 天空, 户外, 建筑物, 日落&#10;&#10;描述已自动生成"/>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ackgroundRemoval t="10000" b="99500" l="10000" r="98000">
                        <a14:foregroundMark x1="45583" y1="28625" x2="72750" y2="47875"/>
                        <a14:foregroundMark x1="72750" y1="47875" x2="79000" y2="48875"/>
                        <a14:foregroundMark x1="79000" y1="48875" x2="87083" y2="44750"/>
                        <a14:foregroundMark x1="87083" y1="44750" x2="89333" y2="42875"/>
                        <a14:foregroundMark x1="49697" y1="28104" x2="51500" y2="30625"/>
                        <a14:foregroundMark x1="46583" y1="23750" x2="49595" y2="27961"/>
                        <a14:foregroundMark x1="46917" y1="21000" x2="48333" y2="17125"/>
                        <a14:foregroundMark x1="62917" y1="48125" x2="65250" y2="51750"/>
                        <a14:foregroundMark x1="65250" y1="51750" x2="86750" y2="67750"/>
                        <a14:foregroundMark x1="94417" y1="36500" x2="92917" y2="90875"/>
                        <a14:foregroundMark x1="98000" y1="30875" x2="91667" y2="84250"/>
                        <a14:foregroundMark x1="91667" y1="84250" x2="91333" y2="85500"/>
                        <a14:foregroundMark x1="70000" y1="67000" x2="89333" y2="84250"/>
                        <a14:foregroundMark x1="89333" y1="84250" x2="89333" y2="84250"/>
                        <a14:foregroundMark x1="70500" y1="67000" x2="66333" y2="64125"/>
                        <a14:foregroundMark x1="66333" y1="64125" x2="59333" y2="53500"/>
                        <a14:foregroundMark x1="79333" y1="90625" x2="80167" y2="96250"/>
                        <a14:foregroundMark x1="80167" y1="96250" x2="85167" y2="96625"/>
                        <a14:foregroundMark x1="85167" y1="96625" x2="88083" y2="94625"/>
                        <a14:foregroundMark x1="88083" y1="94625" x2="88167" y2="94625"/>
                        <a14:foregroundMark x1="96750" y1="97500" x2="76750" y2="99500"/>
                        <a14:foregroundMark x1="77799" y1="89875" x2="77667" y2="86250"/>
                        <a14:foregroundMark x1="77984" y1="94938" x2="77927" y2="93375"/>
                        <a14:foregroundMark x1="78000" y1="95375" x2="78056" y2="96909"/>
                        <a14:foregroundMark x1="68667" y1="40875" x2="68417" y2="41125"/>
                        <a14:backgroundMark x1="77667" y1="89875" x2="77667" y2="93375"/>
                        <a14:backgroundMark x1="77833" y1="95625" x2="78167" y2="90625"/>
                        <a14:backgroundMark x1="78500" y1="96125" x2="79000" y2="90375"/>
                        <a14:backgroundMark x1="19833" y1="30625" x2="46417" y2="71000"/>
                        <a14:backgroundMark x1="46417" y1="71000" x2="46417" y2="71000"/>
                        <a14:backgroundMark x1="17000" y1="72500" x2="23583" y2="72625"/>
                        <a14:backgroundMark x1="23583" y1="72625" x2="37833" y2="71875"/>
                        <a14:backgroundMark x1="37833" y1="71875" x2="57167" y2="75375"/>
                        <a14:backgroundMark x1="61667" y1="37000" x2="62000" y2="37375"/>
                        <a14:backgroundMark x1="66667" y1="39375" x2="66917" y2="39750"/>
                        <a14:backgroundMark x1="50917" y1="27125" x2="51000" y2="27625"/>
                      </a14:backgroundRemoval>
                    </a14:imgEffect>
                    <a14:imgEffect>
                      <a14:brightnessContrast bright="72000"/>
                    </a14:imgEffect>
                    <a14:imgEffect>
                      <a14:colorTemperature colorTemp="9660"/>
                    </a14:imgEffect>
                    <a14:imgEffect>
                      <a14:saturation sat="111000"/>
                    </a14:imgEffect>
                  </a14:imgLayer>
                </a14:imgProps>
              </a:ext>
              <a:ext uri="{28A0092B-C50C-407E-A947-70E740481C1C}">
                <a14:useLocalDpi xmlns:a14="http://schemas.microsoft.com/office/drawing/2010/main" val="0"/>
              </a:ext>
            </a:extLst>
          </a:blip>
          <a:srcRect l="38743" t="8413"/>
          <a:stretch>
            <a:fillRect/>
          </a:stretch>
        </p:blipFill>
        <p:spPr>
          <a:xfrm flipH="1">
            <a:off x="-1" y="60500"/>
            <a:ext cx="958611" cy="955500"/>
          </a:xfrm>
          <a:prstGeom prst="rect">
            <a:avLst/>
          </a:prstGeom>
        </p:spPr>
      </p:pic>
      <p:cxnSp>
        <p:nvCxnSpPr>
          <p:cNvPr id="112" name="直线连接符 3"/>
          <p:cNvCxnSpPr/>
          <p:nvPr userDrawn="1"/>
        </p:nvCxnSpPr>
        <p:spPr>
          <a:xfrm>
            <a:off x="0" y="1016000"/>
            <a:ext cx="12192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3" name="灯片编号占位符 5"/>
          <p:cNvSpPr>
            <a:spLocks noGrp="1"/>
          </p:cNvSpPr>
          <p:nvPr>
            <p:ph type="sldNum" sz="quarter" idx="12"/>
          </p:nvPr>
        </p:nvSpPr>
        <p:spPr>
          <a:xfrm>
            <a:off x="457200" y="6253087"/>
            <a:ext cx="2133600" cy="365125"/>
          </a:xfrm>
          <a:prstGeom prst="rect">
            <a:avLst/>
          </a:prstGeom>
        </p:spPr>
        <p:txBody>
          <a:bodyPr/>
          <a:lstStyle>
            <a:lvl1pPr>
              <a:defRPr/>
            </a:lvl1pPr>
          </a:lstStyle>
          <a:p>
            <a:pPr>
              <a:defRPr/>
            </a:pPr>
            <a:fld id="{6B3369F9-03CD-4B48-86A9-9EE39A82955A}" type="slidenum">
              <a:rPr lang="zh-CN" altLang="en-US"/>
              <a:t>‹#›</a:t>
            </a:fld>
            <a:endParaRPr lang="zh-CN" altLang="en-US" dirty="0"/>
          </a:p>
        </p:txBody>
      </p:sp>
      <p:pic>
        <p:nvPicPr>
          <p:cNvPr id="3" name="图片 2"/>
          <p:cNvPicPr>
            <a:picLocks noChangeAspect="1"/>
          </p:cNvPicPr>
          <p:nvPr userDrawn="1"/>
        </p:nvPicPr>
        <p:blipFill>
          <a:blip r:embed="rId2">
            <a:alphaModFix amt="3000"/>
            <a:duotone>
              <a:schemeClr val="accent1">
                <a:shade val="45000"/>
                <a:satMod val="135000"/>
              </a:schemeClr>
              <a:prstClr val="white"/>
            </a:duotone>
          </a:blip>
          <a:stretch>
            <a:fillRect/>
          </a:stretch>
        </p:blipFill>
        <p:spPr>
          <a:xfrm>
            <a:off x="6214702" y="1006475"/>
            <a:ext cx="5784639" cy="5818800"/>
          </a:xfrm>
          <a:prstGeom prst="rect">
            <a:avLst/>
          </a:prstGeom>
        </p:spPr>
      </p:pic>
      <p:pic>
        <p:nvPicPr>
          <p:cNvPr id="5" name="图片 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098077" y="381000"/>
            <a:ext cx="1729645" cy="543942"/>
          </a:xfrm>
          <a:prstGeom prst="rect">
            <a:avLst/>
          </a:prstGeom>
        </p:spPr>
      </p:pic>
      <p:pic>
        <p:nvPicPr>
          <p:cNvPr id="12" name="图片 11">
            <a:extLst>
              <a:ext uri="{FF2B5EF4-FFF2-40B4-BE49-F238E27FC236}">
                <a16:creationId xmlns:a16="http://schemas.microsoft.com/office/drawing/2014/main" id="{34760BFC-9949-C20B-E0E4-82823230169B}"/>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94932" y="6172200"/>
            <a:ext cx="468068" cy="474901"/>
          </a:xfrm>
          <a:prstGeom prst="rect">
            <a:avLst/>
          </a:prstGeom>
        </p:spPr>
      </p:pic>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1"/>
          </a:solidFill>
          <a:latin typeface="Calibri" panose="020F0502020204030204" pitchFamily="34" charset="0"/>
        </a:defRPr>
      </a:lvl6pPr>
      <a:lvl7pPr marL="914400" algn="ctr" rtl="0" eaLnBrk="1" fontAlgn="base" hangingPunct="1">
        <a:spcBef>
          <a:spcPct val="0"/>
        </a:spcBef>
        <a:spcAft>
          <a:spcPct val="0"/>
        </a:spcAft>
        <a:defRPr sz="4400">
          <a:solidFill>
            <a:schemeClr val="tx1"/>
          </a:solidFill>
          <a:latin typeface="Calibri" panose="020F0502020204030204" pitchFamily="34" charset="0"/>
        </a:defRPr>
      </a:lvl7pPr>
      <a:lvl8pPr marL="1371600" algn="ctr" rtl="0" eaLnBrk="1" fontAlgn="base" hangingPunct="1">
        <a:spcBef>
          <a:spcPct val="0"/>
        </a:spcBef>
        <a:spcAft>
          <a:spcPct val="0"/>
        </a:spcAft>
        <a:defRPr sz="4400">
          <a:solidFill>
            <a:schemeClr val="tx1"/>
          </a:solidFill>
          <a:latin typeface="Calibri" panose="020F0502020204030204" pitchFamily="34" charset="0"/>
        </a:defRPr>
      </a:lvl8pPr>
      <a:lvl9pPr marL="1828800" algn="ctr" rtl="0" eaLnBrk="1" fontAlgn="base" hangingPunct="1">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notesSlide" Target="../notesSlides/notesSlide2.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slideLayout" Target="../slideLayouts/slideLayout2.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7.jpe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nvPr>
        </p:nvSpPr>
        <p:spPr>
          <a:xfrm>
            <a:off x="692935" y="3902077"/>
            <a:ext cx="7772400" cy="746125"/>
          </a:xfrm>
        </p:spPr>
        <p:txBody>
          <a:bodyPr/>
          <a:lstStyle/>
          <a:p>
            <a:pPr eaLnBrk="1" hangingPunct="1">
              <a:lnSpc>
                <a:spcPct val="90000"/>
              </a:lnSpc>
            </a:pPr>
            <a:r>
              <a:rPr lang="zh-CN" altLang="en-US" b="1" dirty="0">
                <a:solidFill>
                  <a:srgbClr val="074996"/>
                </a:solidFill>
                <a:latin typeface="+mj-ea"/>
              </a:rPr>
              <a:t>第二章 </a:t>
            </a:r>
            <a:r>
              <a:rPr lang="en-US" altLang="zh-CN" b="1" dirty="0">
                <a:solidFill>
                  <a:srgbClr val="074996"/>
                </a:solidFill>
                <a:latin typeface="+mj-ea"/>
              </a:rPr>
              <a:t>R</a:t>
            </a:r>
            <a:r>
              <a:rPr lang="zh-CN" altLang="en-US" b="1" dirty="0">
                <a:solidFill>
                  <a:srgbClr val="074996"/>
                </a:solidFill>
                <a:latin typeface="+mj-ea"/>
              </a:rPr>
              <a:t>语言</a:t>
            </a:r>
            <a:br>
              <a:rPr lang="en-US" altLang="zh-CN" b="1" dirty="0">
                <a:solidFill>
                  <a:srgbClr val="074996"/>
                </a:solidFill>
                <a:latin typeface="+mj-ea"/>
              </a:rPr>
            </a:br>
            <a:r>
              <a:rPr lang="zh-CN" altLang="en-US" b="1" dirty="0">
                <a:solidFill>
                  <a:srgbClr val="074996"/>
                </a:solidFill>
                <a:latin typeface="+mj-ea"/>
              </a:rPr>
              <a:t>基础数据文件操作处理</a:t>
            </a:r>
          </a:p>
        </p:txBody>
      </p:sp>
      <p:sp>
        <p:nvSpPr>
          <p:cNvPr id="8" name="副标题 7"/>
          <p:cNvSpPr>
            <a:spLocks noGrp="1"/>
          </p:cNvSpPr>
          <p:nvPr>
            <p:ph type="subTitle" idx="1"/>
          </p:nvPr>
        </p:nvSpPr>
        <p:spPr>
          <a:xfrm>
            <a:off x="1371600" y="5295900"/>
            <a:ext cx="6400800" cy="1104900"/>
          </a:xfrm>
        </p:spPr>
        <p:txBody>
          <a:bodyPr/>
          <a:lstStyle/>
          <a:p>
            <a:pPr>
              <a:lnSpc>
                <a:spcPct val="150000"/>
              </a:lnSpc>
            </a:pPr>
            <a:r>
              <a:rPr lang="zh-CN" altLang="en-US" sz="1800" dirty="0">
                <a:solidFill>
                  <a:schemeClr val="tx1">
                    <a:lumMod val="75000"/>
                    <a:lumOff val="25000"/>
                  </a:schemeClr>
                </a:solidFill>
                <a:latin typeface="+mj-ea"/>
                <a:ea typeface="+mj-ea"/>
              </a:rPr>
              <a:t>卢宾宾</a:t>
            </a:r>
            <a:endParaRPr lang="en-US" altLang="zh-CN" sz="1800" dirty="0">
              <a:solidFill>
                <a:schemeClr val="tx1">
                  <a:lumMod val="75000"/>
                  <a:lumOff val="25000"/>
                </a:schemeClr>
              </a:solidFill>
              <a:latin typeface="+mj-ea"/>
              <a:ea typeface="+mj-ea"/>
            </a:endParaRPr>
          </a:p>
          <a:p>
            <a:pPr>
              <a:lnSpc>
                <a:spcPct val="150000"/>
              </a:lnSpc>
            </a:pPr>
            <a:r>
              <a:rPr lang="zh-CN" altLang="en-US" sz="1800" dirty="0">
                <a:solidFill>
                  <a:schemeClr val="tx1">
                    <a:lumMod val="75000"/>
                    <a:lumOff val="25000"/>
                  </a:schemeClr>
                </a:solidFill>
                <a:latin typeface="+mj-ea"/>
                <a:ea typeface="+mj-ea"/>
              </a:rPr>
              <a:t>武汉大学遥感信息工程学院</a:t>
            </a:r>
          </a:p>
          <a:p>
            <a:endParaRPr lang="zh-CN" altLang="en-US" dirty="0">
              <a:latin typeface="+mj-ea"/>
              <a:ea typeface="+mj-ea"/>
            </a:endParaRPr>
          </a:p>
        </p:txBody>
      </p:sp>
    </p:spTree>
  </p:cSld>
  <p:clrMapOvr>
    <a:masterClrMapping/>
  </p:clrMapOvr>
  <p:transition spd="slow" advTm="5148"/>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占位符 6"/>
          <p:cNvPicPr>
            <a:picLocks noGrp="1" noChangeAspect="1"/>
          </p:cNvPicPr>
          <p:nvPr>
            <p:ph type="pic" sz="quarter" idx="15"/>
          </p:nvPr>
        </p:nvPicPr>
        <p:blipFill>
          <a:blip r:embed="rId19">
            <a:extLst>
              <a:ext uri="{28A0092B-C50C-407E-A947-70E740481C1C}">
                <a14:useLocalDpi xmlns:a14="http://schemas.microsoft.com/office/drawing/2010/main" val="0"/>
              </a:ext>
            </a:extLst>
          </a:blip>
          <a:srcRect l="20087" r="20087"/>
          <a:stretch>
            <a:fillRect/>
          </a:stretch>
        </p:blipFill>
        <p:spPr/>
      </p:pic>
      <p:sp>
        <p:nvSpPr>
          <p:cNvPr id="47105" name="标题 1"/>
          <p:cNvSpPr>
            <a:spLocks noGrp="1"/>
          </p:cNvSpPr>
          <p:nvPr>
            <p:ph type="title" idx="4294967295"/>
          </p:nvPr>
        </p:nvSpPr>
        <p:spPr>
          <a:xfrm>
            <a:off x="3797406" y="342900"/>
            <a:ext cx="4889394" cy="1143000"/>
          </a:xfrm>
          <a:prstGeom prst="rect">
            <a:avLst/>
          </a:prstGeom>
        </p:spPr>
        <p:txBody>
          <a:bodyPr/>
          <a:lstStyle/>
          <a:p>
            <a:pPr algn="l"/>
            <a:r>
              <a:rPr lang="zh-CN" altLang="en-US" sz="4800" b="1" dirty="0">
                <a:solidFill>
                  <a:schemeClr val="accent1"/>
                </a:solidFill>
                <a:latin typeface="+mj-ea"/>
                <a:cs typeface="Times New Roman" panose="02020603050405020304" charset="0"/>
              </a:rPr>
              <a:t>目录</a:t>
            </a:r>
          </a:p>
        </p:txBody>
      </p:sp>
      <p:grpSp>
        <p:nvGrpSpPr>
          <p:cNvPr id="28" name="组合 27"/>
          <p:cNvGrpSpPr/>
          <p:nvPr>
            <p:custDataLst>
              <p:tags r:id="rId1"/>
            </p:custDataLst>
          </p:nvPr>
        </p:nvGrpSpPr>
        <p:grpSpPr>
          <a:xfrm>
            <a:off x="3238500" y="1765012"/>
            <a:ext cx="6334019" cy="749588"/>
            <a:chOff x="3797406" y="1425837"/>
            <a:chExt cx="6334019" cy="749588"/>
          </a:xfrm>
        </p:grpSpPr>
        <p:sp>
          <p:nvSpPr>
            <p:cNvPr id="12" name="文本框 11"/>
            <p:cNvSpPr txBox="1"/>
            <p:nvPr>
              <p:custDataLst>
                <p:tags r:id="rId14"/>
              </p:custDataLst>
            </p:nvPr>
          </p:nvSpPr>
          <p:spPr>
            <a:xfrm>
              <a:off x="3797406" y="1559872"/>
              <a:ext cx="825867" cy="615553"/>
            </a:xfrm>
            <a:prstGeom prst="rect">
              <a:avLst/>
            </a:prstGeom>
            <a:noFill/>
          </p:spPr>
          <p:txBody>
            <a:bodyPr wrap="none" tIns="0" bIns="0" rtlCol="0" anchor="b" anchorCtr="0">
              <a:spAutoFit/>
            </a:bodyPr>
            <a:lstStyle/>
            <a:p>
              <a:r>
                <a:rPr kumimoji="1" lang="en-US" altLang="zh-CN" sz="4000" b="1" dirty="0">
                  <a:solidFill>
                    <a:schemeClr val="accent1"/>
                  </a:solidFill>
                  <a:latin typeface="Times New Roman" panose="02020603050405020304" pitchFamily="18" charset="0"/>
                  <a:cs typeface="Times New Roman" panose="02020603050405020304" pitchFamily="18" charset="0"/>
                </a:rPr>
                <a:t>2.1</a:t>
              </a:r>
            </a:p>
          </p:txBody>
        </p:sp>
        <p:sp>
          <p:nvSpPr>
            <p:cNvPr id="13" name="文本占位符 27"/>
            <p:cNvSpPr txBox="1"/>
            <p:nvPr>
              <p:custDataLst>
                <p:tags r:id="rId15"/>
              </p:custDataLst>
            </p:nvPr>
          </p:nvSpPr>
          <p:spPr>
            <a:xfrm>
              <a:off x="4673706" y="1425837"/>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solidFill>
                    <a:schemeClr val="accent1"/>
                  </a:solidFill>
                  <a:latin typeface="Times New Roman" panose="02020603050405020304" pitchFamily="18" charset="0"/>
                  <a:cs typeface="Times New Roman" panose="02020603050405020304" pitchFamily="18" charset="0"/>
                </a:rPr>
                <a:t>章节</a:t>
              </a:r>
              <a:r>
                <a:rPr kumimoji="1" lang="en-US" altLang="zh-CN" dirty="0">
                  <a:solidFill>
                    <a:schemeClr val="accent1"/>
                  </a:solidFill>
                  <a:latin typeface="Times New Roman" panose="02020603050405020304" pitchFamily="18" charset="0"/>
                  <a:cs typeface="Times New Roman" panose="02020603050405020304" pitchFamily="18" charset="0"/>
                </a:rPr>
                <a:t>R</a:t>
              </a:r>
              <a:r>
                <a:rPr kumimoji="1" lang="zh-CN" altLang="en-US" dirty="0">
                  <a:solidFill>
                    <a:schemeClr val="accent1"/>
                  </a:solidFill>
                  <a:latin typeface="Times New Roman" panose="02020603050405020304" pitchFamily="18" charset="0"/>
                  <a:cs typeface="Times New Roman" panose="02020603050405020304" pitchFamily="18" charset="0"/>
                </a:rPr>
                <a:t>函数包准备</a:t>
              </a:r>
            </a:p>
          </p:txBody>
        </p:sp>
        <p:cxnSp>
          <p:nvCxnSpPr>
            <p:cNvPr id="14" name="直线连接符 13"/>
            <p:cNvCxnSpPr/>
            <p:nvPr>
              <p:custDataLst>
                <p:tags r:id="rId16"/>
              </p:custDataLst>
            </p:nvPr>
          </p:nvCxnSpPr>
          <p:spPr>
            <a:xfrm>
              <a:off x="3797406" y="2133862"/>
              <a:ext cx="6334019"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custDataLst>
              <p:tags r:id="rId2"/>
            </p:custDataLst>
          </p:nvPr>
        </p:nvGrpSpPr>
        <p:grpSpPr>
          <a:xfrm>
            <a:off x="3238500" y="2831812"/>
            <a:ext cx="6334019" cy="749588"/>
            <a:chOff x="3797406" y="2539558"/>
            <a:chExt cx="6334019" cy="749588"/>
          </a:xfrm>
        </p:grpSpPr>
        <p:sp>
          <p:nvSpPr>
            <p:cNvPr id="15" name="文本框 14"/>
            <p:cNvSpPr txBox="1"/>
            <p:nvPr>
              <p:custDataLst>
                <p:tags r:id="rId11"/>
              </p:custDataLst>
            </p:nvPr>
          </p:nvSpPr>
          <p:spPr>
            <a:xfrm>
              <a:off x="3797406" y="2673593"/>
              <a:ext cx="825867" cy="615553"/>
            </a:xfrm>
            <a:prstGeom prst="rect">
              <a:avLst/>
            </a:prstGeom>
            <a:noFill/>
          </p:spPr>
          <p:txBody>
            <a:bodyPr wrap="none" tIns="0" bIns="0" rtlCol="0" anchor="b" anchorCtr="0">
              <a:spAutoFit/>
            </a:bodyPr>
            <a:lstStyle/>
            <a:p>
              <a:r>
                <a:rPr kumimoji="1" lang="en-US" altLang="zh-CN" sz="4000" b="1" dirty="0">
                  <a:solidFill>
                    <a:schemeClr val="accent1"/>
                  </a:solidFill>
                  <a:latin typeface="Times New Roman" panose="02020603050405020304" pitchFamily="18" charset="0"/>
                  <a:cs typeface="Times New Roman" panose="02020603050405020304" pitchFamily="18" charset="0"/>
                </a:rPr>
                <a:t>2.2</a:t>
              </a:r>
            </a:p>
          </p:txBody>
        </p:sp>
        <p:sp>
          <p:nvSpPr>
            <p:cNvPr id="16" name="文本占位符 27"/>
            <p:cNvSpPr txBox="1"/>
            <p:nvPr>
              <p:custDataLst>
                <p:tags r:id="rId12"/>
              </p:custDataLst>
            </p:nvPr>
          </p:nvSpPr>
          <p:spPr>
            <a:xfrm>
              <a:off x="4673706" y="2539558"/>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accent1"/>
                  </a:solidFill>
                  <a:latin typeface="Times New Roman" panose="02020603050405020304" pitchFamily="18" charset="0"/>
                  <a:cs typeface="Times New Roman" panose="02020603050405020304" pitchFamily="18" charset="0"/>
                </a:rPr>
                <a:t>基础数据读写</a:t>
              </a:r>
              <a:endParaRPr kumimoji="1" lang="zh-CN" altLang="en-US" dirty="0">
                <a:solidFill>
                  <a:schemeClr val="accent1"/>
                </a:solidFill>
                <a:latin typeface="Times New Roman" panose="02020603050405020304" pitchFamily="18" charset="0"/>
                <a:cs typeface="Times New Roman" panose="02020603050405020304" pitchFamily="18" charset="0"/>
              </a:endParaRPr>
            </a:p>
          </p:txBody>
        </p:sp>
        <p:cxnSp>
          <p:nvCxnSpPr>
            <p:cNvPr id="17" name="直线连接符 16"/>
            <p:cNvCxnSpPr/>
            <p:nvPr>
              <p:custDataLst>
                <p:tags r:id="rId13"/>
              </p:custDataLst>
            </p:nvPr>
          </p:nvCxnSpPr>
          <p:spPr>
            <a:xfrm>
              <a:off x="3797406" y="3247583"/>
              <a:ext cx="6334019"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30" name="组合 29"/>
          <p:cNvGrpSpPr/>
          <p:nvPr>
            <p:custDataLst>
              <p:tags r:id="rId3"/>
            </p:custDataLst>
          </p:nvPr>
        </p:nvGrpSpPr>
        <p:grpSpPr>
          <a:xfrm>
            <a:off x="3238500" y="3899231"/>
            <a:ext cx="6334019" cy="749588"/>
            <a:chOff x="3797406" y="3632531"/>
            <a:chExt cx="6334019" cy="749588"/>
          </a:xfrm>
        </p:grpSpPr>
        <p:sp>
          <p:nvSpPr>
            <p:cNvPr id="18" name="文本框 17"/>
            <p:cNvSpPr txBox="1"/>
            <p:nvPr>
              <p:custDataLst>
                <p:tags r:id="rId8"/>
              </p:custDataLst>
            </p:nvPr>
          </p:nvSpPr>
          <p:spPr>
            <a:xfrm>
              <a:off x="3797406" y="3766566"/>
              <a:ext cx="825867" cy="615553"/>
            </a:xfrm>
            <a:prstGeom prst="rect">
              <a:avLst/>
            </a:prstGeom>
            <a:noFill/>
          </p:spPr>
          <p:txBody>
            <a:bodyPr wrap="none" tIns="0" bIns="0" rtlCol="0" anchor="b" anchorCtr="0">
              <a:spAutoFit/>
            </a:bodyPr>
            <a:lstStyle/>
            <a:p>
              <a:r>
                <a:rPr kumimoji="1" lang="en-US" altLang="zh-CN" sz="4000" b="1" dirty="0">
                  <a:solidFill>
                    <a:schemeClr val="accent1"/>
                  </a:solidFill>
                  <a:latin typeface="Times New Roman" panose="02020603050405020304" pitchFamily="18" charset="0"/>
                  <a:cs typeface="Times New Roman" panose="02020603050405020304" pitchFamily="18" charset="0"/>
                </a:rPr>
                <a:t>2.3</a:t>
              </a:r>
            </a:p>
          </p:txBody>
        </p:sp>
        <p:sp>
          <p:nvSpPr>
            <p:cNvPr id="19" name="文本占位符 27"/>
            <p:cNvSpPr txBox="1"/>
            <p:nvPr>
              <p:custDataLst>
                <p:tags r:id="rId9"/>
              </p:custDataLst>
            </p:nvPr>
          </p:nvSpPr>
          <p:spPr>
            <a:xfrm>
              <a:off x="4673706" y="3632531"/>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CN" dirty="0">
                  <a:solidFill>
                    <a:schemeClr val="accent1"/>
                  </a:solidFill>
                  <a:latin typeface="Times New Roman" panose="02020603050405020304" pitchFamily="18" charset="0"/>
                  <a:cs typeface="Times New Roman" panose="02020603050405020304" pitchFamily="18" charset="0"/>
                </a:rPr>
                <a:t>R</a:t>
              </a:r>
              <a:r>
                <a:rPr kumimoji="1" lang="zh-CN" altLang="en-US" dirty="0">
                  <a:solidFill>
                    <a:schemeClr val="accent1"/>
                  </a:solidFill>
                  <a:latin typeface="Times New Roman" panose="02020603050405020304" pitchFamily="18" charset="0"/>
                  <a:cs typeface="Times New Roman" panose="02020603050405020304" pitchFamily="18" charset="0"/>
                </a:rPr>
                <a:t>工作空间数据文件存储</a:t>
              </a:r>
            </a:p>
          </p:txBody>
        </p:sp>
        <p:cxnSp>
          <p:nvCxnSpPr>
            <p:cNvPr id="20" name="直线连接符 19"/>
            <p:cNvCxnSpPr/>
            <p:nvPr>
              <p:custDataLst>
                <p:tags r:id="rId10"/>
              </p:custDataLst>
            </p:nvPr>
          </p:nvCxnSpPr>
          <p:spPr>
            <a:xfrm>
              <a:off x="3797406" y="4340556"/>
              <a:ext cx="6334019"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custDataLst>
              <p:tags r:id="rId4"/>
            </p:custDataLst>
          </p:nvPr>
        </p:nvGrpSpPr>
        <p:grpSpPr>
          <a:xfrm>
            <a:off x="3238500" y="4953000"/>
            <a:ext cx="6334019" cy="749588"/>
            <a:chOff x="3797406" y="4704550"/>
            <a:chExt cx="6334019" cy="749588"/>
          </a:xfrm>
        </p:grpSpPr>
        <p:sp>
          <p:nvSpPr>
            <p:cNvPr id="21" name="文本框 20"/>
            <p:cNvSpPr txBox="1"/>
            <p:nvPr>
              <p:custDataLst>
                <p:tags r:id="rId5"/>
              </p:custDataLst>
            </p:nvPr>
          </p:nvSpPr>
          <p:spPr>
            <a:xfrm>
              <a:off x="3797406" y="4838585"/>
              <a:ext cx="825867" cy="615553"/>
            </a:xfrm>
            <a:prstGeom prst="rect">
              <a:avLst/>
            </a:prstGeom>
            <a:noFill/>
          </p:spPr>
          <p:txBody>
            <a:bodyPr wrap="none" tIns="0" bIns="0" rtlCol="0" anchor="b" anchorCtr="0">
              <a:spAutoFit/>
            </a:bodyPr>
            <a:lstStyle/>
            <a:p>
              <a:r>
                <a:rPr kumimoji="1" lang="en-US" altLang="zh-CN" sz="4000" b="1" dirty="0">
                  <a:solidFill>
                    <a:schemeClr val="accent1"/>
                  </a:solidFill>
                  <a:latin typeface="Times New Roman" panose="02020603050405020304" pitchFamily="18" charset="0"/>
                  <a:cs typeface="Times New Roman" panose="02020603050405020304" pitchFamily="18" charset="0"/>
                </a:rPr>
                <a:t>2.4</a:t>
              </a:r>
            </a:p>
          </p:txBody>
        </p:sp>
        <p:sp>
          <p:nvSpPr>
            <p:cNvPr id="22" name="文本占位符 27"/>
            <p:cNvSpPr txBox="1"/>
            <p:nvPr>
              <p:custDataLst>
                <p:tags r:id="rId6"/>
              </p:custDataLst>
            </p:nvPr>
          </p:nvSpPr>
          <p:spPr>
            <a:xfrm>
              <a:off x="4673706" y="4704550"/>
              <a:ext cx="5292725" cy="708025"/>
            </a:xfrm>
            <a:prstGeom prst="rect">
              <a:avLst/>
            </a:prstGeom>
          </p:spPr>
          <p:txBody>
            <a:bodyPr lIns="0" rIns="0" bIns="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3600" b="1" kern="1200">
                  <a:solidFill>
                    <a:schemeClr val="accent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solidFill>
                    <a:schemeClr val="accent1"/>
                  </a:solidFill>
                  <a:latin typeface="Times New Roman" panose="02020603050405020304" pitchFamily="18" charset="0"/>
                  <a:cs typeface="Times New Roman" panose="02020603050405020304" pitchFamily="18" charset="0"/>
                </a:rPr>
                <a:t>基础数据操作与处理</a:t>
              </a:r>
            </a:p>
          </p:txBody>
        </p:sp>
        <p:cxnSp>
          <p:nvCxnSpPr>
            <p:cNvPr id="23" name="直线连接符 22"/>
            <p:cNvCxnSpPr/>
            <p:nvPr>
              <p:custDataLst>
                <p:tags r:id="rId7"/>
              </p:custDataLst>
            </p:nvPr>
          </p:nvCxnSpPr>
          <p:spPr>
            <a:xfrm>
              <a:off x="3797406" y="5412575"/>
              <a:ext cx="6334019" cy="0"/>
            </a:xfrm>
            <a:prstGeom prst="line">
              <a:avLst/>
            </a:prstGeom>
            <a:ln>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6FF858-B5FF-47B2-93F5-221950870B3D}"/>
              </a:ext>
            </a:extLst>
          </p:cNvPr>
          <p:cNvSpPr>
            <a:spLocks noGrp="1"/>
          </p:cNvSpPr>
          <p:nvPr>
            <p:ph type="title"/>
          </p:nvPr>
        </p:nvSpPr>
        <p:spPr/>
        <p:txBody>
          <a:bodyPr/>
          <a:lstStyle/>
          <a:p>
            <a:pPr algn="l"/>
            <a:r>
              <a:rPr lang="en-US" altLang="zh-CN" sz="3600" dirty="0"/>
              <a:t>2.1 </a:t>
            </a:r>
            <a:r>
              <a:rPr lang="zh-CN" altLang="en-US" sz="3600" dirty="0"/>
              <a:t>章节</a:t>
            </a:r>
            <a:r>
              <a:rPr lang="en-US" altLang="zh-CN" sz="3600" dirty="0"/>
              <a:t>R</a:t>
            </a:r>
            <a:r>
              <a:rPr lang="zh-CN" altLang="en-US" sz="3600" dirty="0"/>
              <a:t>函数包准备</a:t>
            </a:r>
            <a:br>
              <a:rPr lang="zh-CN" altLang="en-US" sz="3600" dirty="0"/>
            </a:br>
            <a:endParaRPr lang="zh-CN" altLang="en-US" sz="3600" dirty="0"/>
          </a:p>
        </p:txBody>
      </p:sp>
      <p:sp>
        <p:nvSpPr>
          <p:cNvPr id="3" name="灯片编号占位符 2">
            <a:extLst>
              <a:ext uri="{FF2B5EF4-FFF2-40B4-BE49-F238E27FC236}">
                <a16:creationId xmlns:a16="http://schemas.microsoft.com/office/drawing/2014/main" id="{C1D0F5DE-A5A6-6A3C-A949-3BDC078FE826}"/>
              </a:ext>
            </a:extLst>
          </p:cNvPr>
          <p:cNvSpPr>
            <a:spLocks noGrp="1"/>
          </p:cNvSpPr>
          <p:nvPr>
            <p:ph type="sldNum" sz="quarter" idx="12"/>
          </p:nvPr>
        </p:nvSpPr>
        <p:spPr/>
        <p:txBody>
          <a:bodyPr/>
          <a:lstStyle/>
          <a:p>
            <a:pPr>
              <a:defRPr/>
            </a:pPr>
            <a:fld id="{6B3369F9-03CD-4B48-86A9-9EE39A82955A}" type="slidenum">
              <a:rPr lang="zh-CN" altLang="en-US" smtClean="0"/>
              <a:t>3</a:t>
            </a:fld>
            <a:endParaRPr lang="zh-CN" altLang="en-US" dirty="0"/>
          </a:p>
        </p:txBody>
      </p:sp>
      <p:sp>
        <p:nvSpPr>
          <p:cNvPr id="5" name="矩形 4">
            <a:extLst>
              <a:ext uri="{FF2B5EF4-FFF2-40B4-BE49-F238E27FC236}">
                <a16:creationId xmlns:a16="http://schemas.microsoft.com/office/drawing/2014/main" id="{449C8E75-0C90-1F4E-F2FE-7D2054A56F46}"/>
              </a:ext>
            </a:extLst>
          </p:cNvPr>
          <p:cNvSpPr/>
          <p:nvPr/>
        </p:nvSpPr>
        <p:spPr>
          <a:xfrm>
            <a:off x="5247960" y="1371600"/>
            <a:ext cx="2829240" cy="4854086"/>
          </a:xfrm>
          <a:prstGeom prst="rect">
            <a:avLst/>
          </a:prstGeom>
        </p:spPr>
        <p:txBody>
          <a:bodyPr wrap="square">
            <a:spAutoFit/>
          </a:bodyPr>
          <a:lstStyle/>
          <a:p>
            <a:pPr>
              <a:lnSpc>
                <a:spcPct val="150000"/>
              </a:lnSpc>
            </a:pP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 </a:t>
            </a:r>
            <a:r>
              <a:rPr lang="zh-CN" altLang="en-US"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加载函数包</a:t>
            </a:r>
          </a:p>
          <a:p>
            <a:pPr>
              <a:lnSpc>
                <a:spcPct val="150000"/>
              </a:lnSpc>
            </a:pP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a:t>
            </a: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tidyverse</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a:t>
            </a: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readr</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a:t>
            </a: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readxl</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a:t>
            </a: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readx</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library(haven)</a:t>
            </a:r>
          </a:p>
          <a:p>
            <a:pPr>
              <a:lnSpc>
                <a:spcPct val="150000"/>
              </a:lnSpc>
            </a:pP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a:t>
            </a: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jsonlite</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a:t>
            </a: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readtext</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a:t>
            </a: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magrittr</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a:t>
            </a: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dplyr</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a:t>
            </a: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tidyr</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a:t>
            </a: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rlist</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library(</a:t>
            </a: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lubridate</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p:txBody>
      </p:sp>
      <p:sp>
        <p:nvSpPr>
          <p:cNvPr id="6" name="矩形 5">
            <a:extLst>
              <a:ext uri="{FF2B5EF4-FFF2-40B4-BE49-F238E27FC236}">
                <a16:creationId xmlns:a16="http://schemas.microsoft.com/office/drawing/2014/main" id="{3659404D-C7EE-0789-4FCD-751E4E4F669C}"/>
              </a:ext>
            </a:extLst>
          </p:cNvPr>
          <p:cNvSpPr/>
          <p:nvPr/>
        </p:nvSpPr>
        <p:spPr>
          <a:xfrm>
            <a:off x="648943" y="1371600"/>
            <a:ext cx="4692415" cy="4987647"/>
          </a:xfrm>
          <a:prstGeom prst="rect">
            <a:avLst/>
          </a:prstGeom>
        </p:spPr>
        <p:txBody>
          <a:bodyPr wrap="square">
            <a:spAutoFit/>
          </a:bodyPr>
          <a:lstStyle/>
          <a:p>
            <a:pPr>
              <a:lnSpc>
                <a:spcPct val="150000"/>
              </a:lnSpc>
            </a:pP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 </a:t>
            </a:r>
            <a:r>
              <a:rPr lang="zh-CN" altLang="en-US"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安装函数包</a:t>
            </a:r>
            <a:endPar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endParaRPr>
          </a:p>
          <a:p>
            <a:pPr>
              <a:lnSpc>
                <a:spcPct val="150000"/>
              </a:lnSpc>
            </a:pP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tidyverse</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readr</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readxl</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readx</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("haven")</a:t>
            </a:r>
          </a:p>
          <a:p>
            <a:pPr>
              <a:lnSpc>
                <a:spcPct val="150000"/>
              </a:lnSpc>
            </a:pP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jsonlite</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readtext</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magrittr</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dplyr</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tidyr</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rlist</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a:p>
            <a:pPr>
              <a:lnSpc>
                <a:spcPct val="150000"/>
              </a:lnSpc>
            </a:pP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install.packages</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r>
              <a:rPr lang="en-US" altLang="zh-CN" sz="1600" dirty="0" err="1">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lubridate</a:t>
            </a:r>
            <a:r>
              <a:rPr lang="en-US" altLang="zh-CN" sz="1600" dirty="0">
                <a:effectLst>
                  <a:outerShdw blurRad="38100" dist="38100" dir="2700000" algn="tl">
                    <a:srgbClr val="000000">
                      <a:alpha val="43137"/>
                    </a:srgbClr>
                  </a:outerShdw>
                </a:effectLst>
                <a:latin typeface="Consolas" panose="020B0609020204030204" pitchFamily="49" charset="0"/>
                <a:ea typeface="+mj-ea"/>
                <a:sym typeface="Consolas" panose="020B0609020204030204" pitchFamily="49" charset="0"/>
              </a:rPr>
              <a:t>")</a:t>
            </a:r>
          </a:p>
        </p:txBody>
      </p:sp>
    </p:spTree>
    <p:extLst>
      <p:ext uri="{BB962C8B-B14F-4D97-AF65-F5344CB8AC3E}">
        <p14:creationId xmlns:p14="http://schemas.microsoft.com/office/powerpoint/2010/main" val="2534528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BB333-A6DB-8986-E7D0-B6E96A68D9F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8CA8589-61BB-7D84-16F2-398230F3D921}"/>
              </a:ext>
            </a:extLst>
          </p:cNvPr>
          <p:cNvSpPr>
            <a:spLocks noGrp="1"/>
          </p:cNvSpPr>
          <p:nvPr>
            <p:ph type="title"/>
          </p:nvPr>
        </p:nvSpPr>
        <p:spPr/>
        <p:txBody>
          <a:bodyPr/>
          <a:lstStyle/>
          <a:p>
            <a:pPr algn="l"/>
            <a:r>
              <a:rPr lang="en-US" altLang="zh-CN" sz="3600" dirty="0"/>
              <a:t>2.2 </a:t>
            </a:r>
            <a:r>
              <a:rPr lang="zh-CN" altLang="en-US" sz="3600" dirty="0"/>
              <a:t>基础数据读写</a:t>
            </a:r>
          </a:p>
        </p:txBody>
      </p:sp>
      <p:sp>
        <p:nvSpPr>
          <p:cNvPr id="3" name="灯片编号占位符 2">
            <a:extLst>
              <a:ext uri="{FF2B5EF4-FFF2-40B4-BE49-F238E27FC236}">
                <a16:creationId xmlns:a16="http://schemas.microsoft.com/office/drawing/2014/main" id="{6DCD9F8D-B952-89C6-9002-B0E29B59DEEB}"/>
              </a:ext>
            </a:extLst>
          </p:cNvPr>
          <p:cNvSpPr>
            <a:spLocks noGrp="1"/>
          </p:cNvSpPr>
          <p:nvPr>
            <p:ph type="sldNum" sz="quarter" idx="12"/>
          </p:nvPr>
        </p:nvSpPr>
        <p:spPr/>
        <p:txBody>
          <a:bodyPr/>
          <a:lstStyle/>
          <a:p>
            <a:pPr>
              <a:defRPr/>
            </a:pPr>
            <a:fld id="{6B3369F9-03CD-4B48-86A9-9EE39A82955A}" type="slidenum">
              <a:rPr lang="zh-CN" altLang="en-US" smtClean="0"/>
              <a:t>4</a:t>
            </a:fld>
            <a:endParaRPr lang="zh-CN" altLang="en-US" dirty="0"/>
          </a:p>
        </p:txBody>
      </p:sp>
      <p:sp>
        <p:nvSpPr>
          <p:cNvPr id="4" name="文本框 3">
            <a:extLst>
              <a:ext uri="{FF2B5EF4-FFF2-40B4-BE49-F238E27FC236}">
                <a16:creationId xmlns:a16="http://schemas.microsoft.com/office/drawing/2014/main" id="{282BCD41-2760-784D-A5AF-B7E957272C17}"/>
              </a:ext>
            </a:extLst>
          </p:cNvPr>
          <p:cNvSpPr txBox="1"/>
          <p:nvPr/>
        </p:nvSpPr>
        <p:spPr>
          <a:xfrm>
            <a:off x="1175846" y="2257995"/>
            <a:ext cx="3887603" cy="1740926"/>
          </a:xfrm>
          <a:prstGeom prst="rect">
            <a:avLst/>
          </a:prstGeom>
          <a:noFill/>
        </p:spPr>
        <p:txBody>
          <a:bodyPr wrap="none" rtlCol="0">
            <a:spAutoFit/>
          </a:bodyPr>
          <a:lstStyle/>
          <a:p>
            <a:pPr eaLnBrk="1" hangingPunct="1">
              <a:lnSpc>
                <a:spcPct val="150000"/>
              </a:lnSpc>
              <a:spcBef>
                <a:spcPts val="1000"/>
              </a:spcBef>
            </a:pPr>
            <a:r>
              <a:rPr lang="en-US" altLang="zh-CN" sz="3500" b="1" dirty="0">
                <a:solidFill>
                  <a:schemeClr val="accent1"/>
                </a:solidFill>
                <a:latin typeface="Times New Roman" panose="02020603050405020304" pitchFamily="18" charset="0"/>
                <a:ea typeface="+mn-ea"/>
                <a:cs typeface="Times New Roman" panose="02020603050405020304" pitchFamily="18" charset="0"/>
              </a:rPr>
              <a:t>2.2.1 </a:t>
            </a:r>
            <a:r>
              <a:rPr lang="zh-CN" altLang="en-US" sz="3500" b="1" dirty="0">
                <a:solidFill>
                  <a:schemeClr val="accent1"/>
                </a:solidFill>
                <a:latin typeface="Times New Roman" panose="02020603050405020304" pitchFamily="18" charset="0"/>
                <a:ea typeface="+mn-ea"/>
                <a:cs typeface="Times New Roman" panose="02020603050405020304" pitchFamily="18" charset="0"/>
              </a:rPr>
              <a:t>基础数据读入</a:t>
            </a:r>
            <a:endParaRPr lang="en-US" altLang="zh-CN" sz="3500" b="1" dirty="0">
              <a:solidFill>
                <a:schemeClr val="accent1"/>
              </a:solidFill>
              <a:latin typeface="Times New Roman" panose="02020603050405020304" pitchFamily="18" charset="0"/>
              <a:ea typeface="+mn-ea"/>
              <a:cs typeface="Times New Roman" panose="02020603050405020304" pitchFamily="18" charset="0"/>
            </a:endParaRPr>
          </a:p>
          <a:p>
            <a:pPr eaLnBrk="1" hangingPunct="1">
              <a:lnSpc>
                <a:spcPct val="150000"/>
              </a:lnSpc>
              <a:spcBef>
                <a:spcPts val="1000"/>
              </a:spcBef>
            </a:pPr>
            <a:r>
              <a:rPr lang="en-US" altLang="zh-CN" sz="3500" b="1" dirty="0">
                <a:solidFill>
                  <a:schemeClr val="accent1"/>
                </a:solidFill>
                <a:latin typeface="Times New Roman" panose="02020603050405020304" pitchFamily="18" charset="0"/>
                <a:ea typeface="+mn-ea"/>
                <a:cs typeface="Times New Roman" panose="02020603050405020304" pitchFamily="18" charset="0"/>
              </a:rPr>
              <a:t>2.2.2 </a:t>
            </a:r>
            <a:r>
              <a:rPr lang="zh-CN" altLang="en-US" sz="3500" b="1" dirty="0">
                <a:solidFill>
                  <a:schemeClr val="accent1"/>
                </a:solidFill>
                <a:latin typeface="Times New Roman" panose="02020603050405020304" pitchFamily="18" charset="0"/>
                <a:ea typeface="+mn-ea"/>
                <a:cs typeface="Times New Roman" panose="02020603050405020304" pitchFamily="18" charset="0"/>
              </a:rPr>
              <a:t>基础数据写出</a:t>
            </a:r>
            <a:endParaRPr lang="en-US" altLang="zh-CN" sz="3500" b="1" dirty="0">
              <a:solidFill>
                <a:schemeClr val="accent1"/>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027080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2.2 </a:t>
            </a:r>
            <a:r>
              <a:rPr lang="zh-CN" altLang="en-US" sz="3600" dirty="0">
                <a:latin typeface="Times New Roman" panose="02020603050405020304" pitchFamily="18" charset="0"/>
                <a:cs typeface="Times New Roman" panose="02020603050405020304" pitchFamily="18" charset="0"/>
              </a:rPr>
              <a:t>基础数据读写</a:t>
            </a:r>
          </a:p>
        </p:txBody>
      </p:sp>
      <p:sp>
        <p:nvSpPr>
          <p:cNvPr id="8" name="灯片编号占位符 7"/>
          <p:cNvSpPr>
            <a:spLocks noGrp="1"/>
          </p:cNvSpPr>
          <p:nvPr>
            <p:ph type="sldNum" sz="quarter" idx="12"/>
          </p:nvPr>
        </p:nvSpPr>
        <p:spPr>
          <a:prstGeom prst="rect">
            <a:avLst/>
          </a:prstGeom>
        </p:spPr>
        <p:txBody>
          <a:bodyPr/>
          <a:lstStyle/>
          <a:p>
            <a:pPr>
              <a:defRPr/>
            </a:pPr>
            <a:fld id="{6B3369F9-03CD-4B48-86A9-9EE39A82955A}" type="slidenum">
              <a:rPr lang="zh-CN" altLang="en-US" smtClean="0">
                <a:solidFill>
                  <a:schemeClr val="bg2">
                    <a:lumMod val="75000"/>
                  </a:schemeClr>
                </a:solidFill>
              </a:rPr>
              <a:t>5</a:t>
            </a:fld>
            <a:endParaRPr lang="zh-CN" altLang="en-US" dirty="0">
              <a:solidFill>
                <a:schemeClr val="bg2">
                  <a:lumMod val="75000"/>
                </a:schemeClr>
              </a:solidFill>
            </a:endParaRPr>
          </a:p>
        </p:txBody>
      </p:sp>
      <p:sp>
        <p:nvSpPr>
          <p:cNvPr id="2" name="矩形 1">
            <a:extLst>
              <a:ext uri="{FF2B5EF4-FFF2-40B4-BE49-F238E27FC236}">
                <a16:creationId xmlns:a16="http://schemas.microsoft.com/office/drawing/2014/main" id="{420C5716-5C02-C378-2DF5-E7AD22380440}"/>
              </a:ext>
            </a:extLst>
          </p:cNvPr>
          <p:cNvSpPr/>
          <p:nvPr/>
        </p:nvSpPr>
        <p:spPr>
          <a:xfrm>
            <a:off x="212725" y="1295400"/>
            <a:ext cx="8718550" cy="2376292"/>
          </a:xfrm>
          <a:prstGeom prst="rect">
            <a:avLst/>
          </a:prstGeom>
        </p:spPr>
        <p:txBody>
          <a:bodyPr wrap="square">
            <a:spAutoFit/>
          </a:bodyPr>
          <a:lstStyle/>
          <a:p>
            <a:pPr marL="285750" indent="457200" algn="just">
              <a:lnSpc>
                <a:spcPct val="140000"/>
              </a:lnSpc>
              <a:buFont typeface="Wingdings" panose="05000000000000000000" pitchFamily="2" charset="2"/>
              <a:buChar char="ü"/>
            </a:pPr>
            <a:r>
              <a:rPr lang="zh-CN" altLang="en-US" dirty="0">
                <a:latin typeface="+mj-lt"/>
                <a:ea typeface="微软雅黑" panose="020B0503020204020204" pitchFamily="34" charset="-122"/>
                <a:sym typeface="Consolas" panose="020B0609020204030204" pitchFamily="49" charset="0"/>
              </a:rPr>
              <a:t>读写基础数据是进行数据分析、建模和可视化的基础</a:t>
            </a:r>
            <a:endParaRPr lang="en-US" altLang="zh-CN" dirty="0">
              <a:latin typeface="+mj-lt"/>
              <a:ea typeface="微软雅黑" panose="020B0503020204020204" pitchFamily="34" charset="-122"/>
              <a:sym typeface="Consolas" panose="020B0609020204030204" pitchFamily="49" charset="0"/>
            </a:endParaRPr>
          </a:p>
          <a:p>
            <a:pPr marL="285750" indent="457200" algn="just">
              <a:lnSpc>
                <a:spcPct val="140000"/>
              </a:lnSpc>
              <a:buFont typeface="Wingdings" panose="05000000000000000000" pitchFamily="2" charset="2"/>
              <a:buChar char="ü"/>
            </a:pPr>
            <a:r>
              <a:rPr lang="zh-CN" altLang="en-US" dirty="0">
                <a:latin typeface="+mj-lt"/>
                <a:ea typeface="微软雅黑" panose="020B0503020204020204" pitchFamily="34" charset="-122"/>
                <a:sym typeface="Consolas" panose="020B0609020204030204" pitchFamily="49" charset="0"/>
              </a:rPr>
              <a:t>约定一个工作目录：</a:t>
            </a:r>
            <a:endParaRPr lang="en-US" altLang="zh-CN" dirty="0">
              <a:latin typeface="+mj-lt"/>
              <a:ea typeface="微软雅黑" panose="020B0503020204020204" pitchFamily="34" charset="-122"/>
              <a:sym typeface="Consolas" panose="020B0609020204030204" pitchFamily="49" charset="0"/>
            </a:endParaRPr>
          </a:p>
          <a:p>
            <a:pPr marL="628650" indent="-342900" algn="just">
              <a:lnSpc>
                <a:spcPct val="140000"/>
              </a:lnSpc>
              <a:buFont typeface="+mj-lt"/>
              <a:buAutoNum type="arabicPeriod"/>
            </a:pPr>
            <a:r>
              <a:rPr lang="zh-CN" altLang="en-US" dirty="0">
                <a:latin typeface="+mj-lt"/>
                <a:ea typeface="微软雅黑" panose="020B0503020204020204" pitchFamily="34" charset="-122"/>
                <a:sym typeface="Consolas" panose="020B0609020204030204" pitchFamily="49" charset="0"/>
              </a:rPr>
              <a:t>按照此工作目录建立对应的文件夹目录</a:t>
            </a:r>
            <a:endParaRPr lang="en-US" altLang="zh-CN" dirty="0">
              <a:latin typeface="+mj-lt"/>
              <a:ea typeface="微软雅黑" panose="020B0503020204020204" pitchFamily="34" charset="-122"/>
              <a:sym typeface="Consolas" panose="020B0609020204030204" pitchFamily="49" charset="0"/>
            </a:endParaRPr>
          </a:p>
          <a:p>
            <a:pPr marL="628650" indent="-342900" algn="just">
              <a:lnSpc>
                <a:spcPct val="140000"/>
              </a:lnSpc>
              <a:buFont typeface="+mj-lt"/>
              <a:buAutoNum type="arabicPeriod"/>
            </a:pPr>
            <a:r>
              <a:rPr lang="zh-CN" altLang="en-US" dirty="0">
                <a:latin typeface="+mj-lt"/>
                <a:ea typeface="微软雅黑" panose="020B0503020204020204" pitchFamily="34" charset="-122"/>
                <a:sym typeface="Consolas" panose="020B0609020204030204" pitchFamily="49" charset="0"/>
              </a:rPr>
              <a:t>将实验数据放到该文件夹下</a:t>
            </a:r>
            <a:endParaRPr lang="en-US" altLang="zh-CN" dirty="0">
              <a:latin typeface="+mj-lt"/>
              <a:ea typeface="微软雅黑" panose="020B0503020204020204" pitchFamily="34" charset="-122"/>
              <a:sym typeface="Consolas" panose="020B0609020204030204" pitchFamily="49" charset="0"/>
            </a:endParaRPr>
          </a:p>
          <a:p>
            <a:pPr marL="628650" indent="-342900" algn="just">
              <a:lnSpc>
                <a:spcPct val="140000"/>
              </a:lnSpc>
              <a:buFont typeface="+mj-lt"/>
              <a:buAutoNum type="arabicPeriod"/>
            </a:pPr>
            <a:r>
              <a:rPr lang="zh-CN" altLang="en-US" dirty="0">
                <a:latin typeface="+mj-lt"/>
                <a:ea typeface="微软雅黑" panose="020B0503020204020204" pitchFamily="34" charset="-122"/>
                <a:sym typeface="Consolas" panose="020B0609020204030204" pitchFamily="49" charset="0"/>
              </a:rPr>
              <a:t>如果未指定其他特殊路径，所写出的数据文件也将默认存储到该文件夹目录下</a:t>
            </a:r>
            <a:endParaRPr lang="en-US" altLang="zh-CN" dirty="0">
              <a:latin typeface="+mj-lt"/>
              <a:ea typeface="微软雅黑" panose="020B0503020204020204" pitchFamily="34" charset="-122"/>
              <a:sym typeface="Consolas" panose="020B0609020204030204" pitchFamily="49" charset="0"/>
            </a:endParaRPr>
          </a:p>
          <a:p>
            <a:pPr marL="628650" indent="-342900" algn="just">
              <a:lnSpc>
                <a:spcPct val="140000"/>
              </a:lnSpc>
              <a:buFont typeface="+mj-lt"/>
              <a:buAutoNum type="arabicPeriod"/>
            </a:pPr>
            <a:r>
              <a:rPr lang="zh-CN" altLang="en-US" dirty="0">
                <a:latin typeface="+mj-lt"/>
                <a:ea typeface="微软雅黑" panose="020B0503020204020204" pitchFamily="34" charset="-122"/>
                <a:sym typeface="Consolas" panose="020B0609020204030204" pitchFamily="49" charset="0"/>
              </a:rPr>
              <a:t>执行以下代码：</a:t>
            </a:r>
            <a:endParaRPr lang="en-US" altLang="zh-CN" dirty="0">
              <a:latin typeface="+mj-lt"/>
              <a:ea typeface="微软雅黑" panose="020B0503020204020204" pitchFamily="34" charset="-122"/>
              <a:sym typeface="Consolas" panose="020B0609020204030204" pitchFamily="49" charset="0"/>
            </a:endParaRPr>
          </a:p>
        </p:txBody>
      </p:sp>
      <p:sp>
        <p:nvSpPr>
          <p:cNvPr id="5" name="文本框 4">
            <a:extLst>
              <a:ext uri="{FF2B5EF4-FFF2-40B4-BE49-F238E27FC236}">
                <a16:creationId xmlns:a16="http://schemas.microsoft.com/office/drawing/2014/main" id="{49FCC353-C000-9BF7-819D-BD84EE8A3F7D}"/>
              </a:ext>
            </a:extLst>
          </p:cNvPr>
          <p:cNvSpPr txBox="1"/>
          <p:nvPr/>
        </p:nvSpPr>
        <p:spPr>
          <a:xfrm>
            <a:off x="838200" y="3848100"/>
            <a:ext cx="7429500" cy="92333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file_path</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"E:/R_course/Chapter2/Data"</a:t>
            </a:r>
            <a:r>
              <a:rPr lang="en-US" altLang="zh-CN" sz="1800" baseline="30000" dirty="0">
                <a:solidFill>
                  <a:schemeClr val="tx1"/>
                </a:solidFill>
                <a:effectLst/>
                <a:ea typeface="宋体" panose="02010600030101010101" pitchFamily="2" charset="-122"/>
                <a:cs typeface="宋体" panose="02010600030101010101" pitchFamily="2" charset="-122"/>
              </a:rPr>
              <a:t>1</a:t>
            </a:r>
            <a:endParaRPr lang="zh-CN" altLang="zh-CN" sz="1800" baseline="30000" dirty="0">
              <a:solidFill>
                <a:schemeClr val="tx1"/>
              </a:solidFill>
              <a:effectLst/>
              <a:ea typeface="宋体" panose="02010600030101010101" pitchFamily="2" charset="-122"/>
            </a:endParaRPr>
          </a:p>
          <a:p>
            <a:pPr indent="127000" algn="l">
              <a:buNone/>
            </a:pP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setwd</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file_path</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getwd</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p:txBody>
      </p:sp>
      <p:sp>
        <p:nvSpPr>
          <p:cNvPr id="3" name="文本框 2">
            <a:extLst>
              <a:ext uri="{FF2B5EF4-FFF2-40B4-BE49-F238E27FC236}">
                <a16:creationId xmlns:a16="http://schemas.microsoft.com/office/drawing/2014/main" id="{277E11A4-0F4E-7F40-C318-3C99FD103477}"/>
              </a:ext>
            </a:extLst>
          </p:cNvPr>
          <p:cNvSpPr txBox="1"/>
          <p:nvPr/>
        </p:nvSpPr>
        <p:spPr>
          <a:xfrm>
            <a:off x="571500" y="5638800"/>
            <a:ext cx="8001000" cy="523220"/>
          </a:xfrm>
          <a:prstGeom prst="rect">
            <a:avLst/>
          </a:prstGeom>
          <a:noFill/>
        </p:spPr>
        <p:txBody>
          <a:bodyPr wrap="square" rtlCol="0">
            <a:spAutoFit/>
          </a:bodyPr>
          <a:lstStyle/>
          <a:p>
            <a:r>
              <a:rPr lang="en-US" altLang="zh-CN" sz="1400" baseline="30000" dirty="0">
                <a:latin typeface="+mn-lt"/>
                <a:ea typeface="+mn-ea"/>
              </a:rPr>
              <a:t>1 </a:t>
            </a:r>
            <a:r>
              <a:rPr lang="en-US" altLang="zh-CN" sz="1400" dirty="0" err="1">
                <a:effectLst/>
                <a:latin typeface="+mn-lt"/>
                <a:ea typeface="+mn-ea"/>
                <a:cs typeface="Times New Roman" panose="02020603050405020304" pitchFamily="18" charset="0"/>
              </a:rPr>
              <a:t>如果需要指定其它文件目录作为工作目录，请在对应代码处修改工作目录路径；如果使用的是</a:t>
            </a:r>
            <a:r>
              <a:rPr lang="en-US" altLang="zh-CN" sz="1400" dirty="0" err="1">
                <a:effectLst/>
                <a:latin typeface="+mn-lt"/>
                <a:ea typeface="+mn-ea"/>
              </a:rPr>
              <a:t>Mac</a:t>
            </a:r>
            <a:r>
              <a:rPr lang="en-US" altLang="zh-CN" sz="1400" dirty="0">
                <a:effectLst/>
                <a:latin typeface="+mn-lt"/>
                <a:ea typeface="+mn-ea"/>
              </a:rPr>
              <a:t> </a:t>
            </a:r>
            <a:r>
              <a:rPr lang="en-US" altLang="zh-CN" sz="1400" dirty="0" err="1">
                <a:effectLst/>
                <a:latin typeface="+mn-lt"/>
                <a:ea typeface="+mn-ea"/>
              </a:rPr>
              <a:t>OS</a:t>
            </a:r>
            <a:r>
              <a:rPr lang="en-US" altLang="zh-CN" sz="1400" dirty="0" err="1">
                <a:effectLst/>
                <a:latin typeface="+mn-lt"/>
                <a:ea typeface="+mn-ea"/>
                <a:cs typeface="Times New Roman" panose="02020603050405020304" pitchFamily="18" charset="0"/>
              </a:rPr>
              <a:t>或</a:t>
            </a:r>
            <a:r>
              <a:rPr lang="en-US" altLang="zh-CN" sz="1400" dirty="0" err="1">
                <a:effectLst/>
                <a:latin typeface="+mn-lt"/>
                <a:ea typeface="+mn-ea"/>
              </a:rPr>
              <a:t>Linux</a:t>
            </a:r>
            <a:r>
              <a:rPr lang="en-US" altLang="zh-CN" sz="1400" dirty="0" err="1">
                <a:effectLst/>
                <a:latin typeface="+mn-lt"/>
                <a:ea typeface="+mn-ea"/>
                <a:cs typeface="Times New Roman" panose="02020603050405020304" pitchFamily="18" charset="0"/>
              </a:rPr>
              <a:t>操作系统，请按照对应目录路径格式进行赋值</a:t>
            </a:r>
            <a:r>
              <a:rPr lang="zh-CN" altLang="en-US" sz="1400" dirty="0">
                <a:effectLst/>
                <a:latin typeface="+mn-lt"/>
                <a:ea typeface="+mn-ea"/>
                <a:cs typeface="Times New Roman" panose="02020603050405020304" pitchFamily="18" charset="0"/>
              </a:rPr>
              <a:t>。</a:t>
            </a:r>
            <a:endParaRPr lang="zh-CN" altLang="en-US" sz="1400" dirty="0">
              <a:latin typeface="+mn-lt"/>
              <a:ea typeface="+mn-ea"/>
            </a:endParaRPr>
          </a:p>
        </p:txBody>
      </p:sp>
      <p:cxnSp>
        <p:nvCxnSpPr>
          <p:cNvPr id="7" name="直接连接符 6">
            <a:extLst>
              <a:ext uri="{FF2B5EF4-FFF2-40B4-BE49-F238E27FC236}">
                <a16:creationId xmlns:a16="http://schemas.microsoft.com/office/drawing/2014/main" id="{96E24F56-D697-F4F7-E9CE-CCEB9C423DD9}"/>
              </a:ext>
            </a:extLst>
          </p:cNvPr>
          <p:cNvCxnSpPr/>
          <p:nvPr/>
        </p:nvCxnSpPr>
        <p:spPr>
          <a:xfrm>
            <a:off x="571500" y="5562600"/>
            <a:ext cx="14097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2.2.1 </a:t>
            </a:r>
            <a:r>
              <a:rPr lang="zh-CN" altLang="en-US" sz="3600" dirty="0">
                <a:latin typeface="Times New Roman" panose="02020603050405020304" pitchFamily="18" charset="0"/>
                <a:cs typeface="Times New Roman" panose="02020603050405020304" pitchFamily="18" charset="0"/>
              </a:rPr>
              <a:t>基础数据读入</a:t>
            </a:r>
          </a:p>
        </p:txBody>
      </p:sp>
      <p:sp>
        <p:nvSpPr>
          <p:cNvPr id="8" name="灯片编号占位符 7"/>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6</a:t>
            </a:fld>
            <a:endParaRPr lang="zh-CN" altLang="en-US" dirty="0">
              <a:solidFill>
                <a:schemeClr val="bg2">
                  <a:lumMod val="75000"/>
                </a:schemeClr>
              </a:solidFill>
            </a:endParaRPr>
          </a:p>
        </p:txBody>
      </p:sp>
      <p:sp>
        <p:nvSpPr>
          <p:cNvPr id="4" name="矩形 3">
            <a:extLst>
              <a:ext uri="{FF2B5EF4-FFF2-40B4-BE49-F238E27FC236}">
                <a16:creationId xmlns:a16="http://schemas.microsoft.com/office/drawing/2014/main" id="{3717D031-C945-7905-8CCB-257FF5492F03}"/>
              </a:ext>
            </a:extLst>
          </p:cNvPr>
          <p:cNvSpPr/>
          <p:nvPr/>
        </p:nvSpPr>
        <p:spPr>
          <a:xfrm>
            <a:off x="381000" y="1559101"/>
            <a:ext cx="7010400" cy="497957"/>
          </a:xfrm>
          <a:prstGeom prst="rect">
            <a:avLst/>
          </a:prstGeom>
        </p:spPr>
        <p:txBody>
          <a:bodyPr wrap="square">
            <a:spAutoFit/>
          </a:bodyPr>
          <a:lstStyle/>
          <a:p>
            <a:pPr>
              <a:lnSpc>
                <a:spcPct val="120000"/>
              </a:lnSpc>
            </a:pPr>
            <a:r>
              <a:rPr lang="zh-CN" altLang="en-US" sz="2400" b="1" dirty="0">
                <a:latin typeface="+mj-lt"/>
                <a:ea typeface="+mj-ea"/>
                <a:cs typeface="+mn-ea"/>
                <a:sym typeface="Consolas" panose="020B0609020204030204" pitchFamily="49" charset="0"/>
              </a:rPr>
              <a:t>常见的读入基础数据的方法</a:t>
            </a:r>
            <a:endParaRPr lang="en-US" altLang="zh-CN" sz="2400" b="1" dirty="0">
              <a:latin typeface="+mn-ea"/>
              <a:ea typeface="+mn-ea"/>
              <a:cs typeface="+mn-ea"/>
              <a:sym typeface="Consolas" panose="020B0609020204030204" pitchFamily="49" charset="0"/>
            </a:endParaRPr>
          </a:p>
        </p:txBody>
      </p:sp>
      <p:sp>
        <p:nvSpPr>
          <p:cNvPr id="5" name="矩形 4">
            <a:extLst>
              <a:ext uri="{FF2B5EF4-FFF2-40B4-BE49-F238E27FC236}">
                <a16:creationId xmlns:a16="http://schemas.microsoft.com/office/drawing/2014/main" id="{B4FA0C42-006C-5A4C-1AD4-18AB570A0C6F}"/>
              </a:ext>
            </a:extLst>
          </p:cNvPr>
          <p:cNvSpPr/>
          <p:nvPr/>
        </p:nvSpPr>
        <p:spPr>
          <a:xfrm>
            <a:off x="76200" y="2135930"/>
            <a:ext cx="8763000" cy="3540328"/>
          </a:xfrm>
          <a:prstGeom prst="rect">
            <a:avLst/>
          </a:prstGeom>
        </p:spPr>
        <p:txBody>
          <a:bodyPr wrap="square">
            <a:spAutoFit/>
          </a:bodyPr>
          <a:lstStyle/>
          <a:p>
            <a:pPr marL="285750" indent="457200" algn="just">
              <a:lnSpc>
                <a:spcPct val="140000"/>
              </a:lnSpc>
              <a:buFont typeface="Wingdings" panose="05000000000000000000" pitchFamily="2" charset="2"/>
              <a:buChar char="ü"/>
            </a:pPr>
            <a:r>
              <a:rPr lang="en-US" altLang="zh-CN" b="1" i="1" dirty="0" err="1">
                <a:latin typeface="+mn-lt"/>
                <a:ea typeface="+mn-ea"/>
                <a:sym typeface="Consolas" panose="020B0609020204030204" pitchFamily="49" charset="0"/>
              </a:rPr>
              <a:t>read_delim</a:t>
            </a:r>
            <a:r>
              <a:rPr lang="en-US" altLang="zh-CN" b="1" i="1" dirty="0">
                <a:latin typeface="+mn-lt"/>
                <a:ea typeface="+mn-ea"/>
                <a:sym typeface="Consolas" panose="020B0609020204030204" pitchFamily="49" charset="0"/>
              </a:rPr>
              <a:t>(file, </a:t>
            </a:r>
            <a:r>
              <a:rPr lang="en-US" altLang="zh-CN" b="1" i="1" dirty="0" err="1">
                <a:latin typeface="+mn-lt"/>
                <a:ea typeface="+mn-ea"/>
                <a:sym typeface="Consolas" panose="020B0609020204030204" pitchFamily="49" charset="0"/>
              </a:rPr>
              <a:t>delim</a:t>
            </a:r>
            <a:r>
              <a:rPr lang="en-US" altLang="zh-CN" b="1" i="1" dirty="0">
                <a:latin typeface="+mn-lt"/>
                <a:ea typeface="+mn-ea"/>
                <a:sym typeface="Consolas" panose="020B0609020204030204" pitchFamily="49" charset="0"/>
              </a:rPr>
              <a:t>, quote, </a:t>
            </a:r>
            <a:r>
              <a:rPr lang="en-US" altLang="zh-CN" b="1" i="1" dirty="0" err="1">
                <a:latin typeface="+mn-lt"/>
                <a:ea typeface="+mn-ea"/>
                <a:sym typeface="Consolas" panose="020B0609020204030204" pitchFamily="49" charset="0"/>
              </a:rPr>
              <a:t>escape_backslash</a:t>
            </a:r>
            <a:r>
              <a:rPr lang="en-US" altLang="zh-CN" b="1" i="1" dirty="0">
                <a:latin typeface="+mn-lt"/>
                <a:ea typeface="+mn-ea"/>
                <a:sym typeface="Consolas" panose="020B0609020204030204" pitchFamily="49" charset="0"/>
              </a:rPr>
              <a:t>, </a:t>
            </a:r>
            <a:r>
              <a:rPr lang="en-US" altLang="zh-CN" b="1" i="1" dirty="0" err="1">
                <a:latin typeface="+mn-lt"/>
                <a:ea typeface="+mn-ea"/>
                <a:sym typeface="Consolas" panose="020B0609020204030204" pitchFamily="49" charset="0"/>
              </a:rPr>
              <a:t>escape_double</a:t>
            </a:r>
            <a:r>
              <a:rPr lang="en-US" altLang="zh-CN" b="1" i="1" dirty="0">
                <a:latin typeface="+mn-lt"/>
                <a:ea typeface="+mn-ea"/>
                <a:sym typeface="Consolas" panose="020B0609020204030204" pitchFamily="49" charset="0"/>
              </a:rPr>
              <a:t>, </a:t>
            </a:r>
            <a:r>
              <a:rPr lang="en-US" altLang="zh-CN" b="1" i="1" dirty="0" err="1">
                <a:latin typeface="+mn-lt"/>
                <a:ea typeface="+mn-ea"/>
                <a:sym typeface="Consolas" panose="020B0609020204030204" pitchFamily="49" charset="0"/>
              </a:rPr>
              <a:t>col_names</a:t>
            </a:r>
            <a:r>
              <a:rPr lang="en-US" altLang="zh-CN" b="1" i="1" dirty="0">
                <a:latin typeface="+mn-lt"/>
                <a:ea typeface="+mn-ea"/>
                <a:sym typeface="Consolas" panose="020B0609020204030204" pitchFamily="49" charset="0"/>
              </a:rPr>
              <a:t>, </a:t>
            </a:r>
            <a:r>
              <a:rPr lang="en-US" altLang="zh-CN" b="1" i="1" dirty="0" err="1">
                <a:latin typeface="+mn-lt"/>
                <a:ea typeface="+mn-ea"/>
                <a:sym typeface="Consolas" panose="020B0609020204030204" pitchFamily="49" charset="0"/>
              </a:rPr>
              <a:t>col_types</a:t>
            </a:r>
            <a:r>
              <a:rPr lang="en-US" altLang="zh-CN" b="1" i="1" dirty="0">
                <a:latin typeface="+mn-lt"/>
                <a:ea typeface="+mn-ea"/>
                <a:sym typeface="Consolas" panose="020B0609020204030204" pitchFamily="49" charset="0"/>
              </a:rPr>
              <a:t>, locale, </a:t>
            </a:r>
            <a:r>
              <a:rPr lang="en-US" altLang="zh-CN" b="1" i="1" dirty="0" err="1">
                <a:latin typeface="+mn-lt"/>
                <a:ea typeface="+mn-ea"/>
                <a:sym typeface="Consolas" panose="020B0609020204030204" pitchFamily="49" charset="0"/>
              </a:rPr>
              <a:t>na</a:t>
            </a:r>
            <a:r>
              <a:rPr lang="en-US" altLang="zh-CN" b="1" i="1" dirty="0">
                <a:latin typeface="+mn-lt"/>
                <a:ea typeface="+mn-ea"/>
                <a:sym typeface="Consolas" panose="020B0609020204030204" pitchFamily="49" charset="0"/>
              </a:rPr>
              <a:t>, </a:t>
            </a:r>
            <a:r>
              <a:rPr lang="en-US" altLang="zh-CN" b="1" i="1" dirty="0" err="1">
                <a:latin typeface="+mn-lt"/>
                <a:ea typeface="+mn-ea"/>
                <a:sym typeface="Consolas" panose="020B0609020204030204" pitchFamily="49" charset="0"/>
              </a:rPr>
              <a:t>quoted_na</a:t>
            </a:r>
            <a:r>
              <a:rPr lang="en-US" altLang="zh-CN" b="1" i="1" dirty="0">
                <a:latin typeface="+mn-lt"/>
                <a:ea typeface="+mn-ea"/>
                <a:sym typeface="Consolas" panose="020B0609020204030204" pitchFamily="49" charset="0"/>
              </a:rPr>
              <a:t>, quote, comment, </a:t>
            </a:r>
            <a:r>
              <a:rPr lang="en-US" altLang="zh-CN" b="1" i="1" dirty="0" err="1">
                <a:latin typeface="+mn-lt"/>
                <a:ea typeface="+mn-ea"/>
                <a:sym typeface="Consolas" panose="020B0609020204030204" pitchFamily="49" charset="0"/>
              </a:rPr>
              <a:t>trim_ws</a:t>
            </a:r>
            <a:r>
              <a:rPr lang="en-US" altLang="zh-CN" b="1" i="1" dirty="0">
                <a:latin typeface="+mn-lt"/>
                <a:ea typeface="+mn-ea"/>
                <a:sym typeface="Consolas" panose="020B0609020204030204" pitchFamily="49" charset="0"/>
              </a:rPr>
              <a:t>, skip, </a:t>
            </a:r>
            <a:r>
              <a:rPr lang="en-US" altLang="zh-CN" b="1" i="1" dirty="0" err="1">
                <a:latin typeface="+mn-lt"/>
                <a:ea typeface="+mn-ea"/>
                <a:sym typeface="Consolas" panose="020B0609020204030204" pitchFamily="49" charset="0"/>
              </a:rPr>
              <a:t>n_max</a:t>
            </a:r>
            <a:r>
              <a:rPr lang="en-US" altLang="zh-CN" b="1" i="1" dirty="0">
                <a:latin typeface="+mn-lt"/>
                <a:ea typeface="+mn-ea"/>
                <a:sym typeface="Consolas" panose="020B0609020204030204" pitchFamily="49" charset="0"/>
              </a:rPr>
              <a:t>, </a:t>
            </a:r>
            <a:r>
              <a:rPr lang="en-US" altLang="zh-CN" b="1" i="1" dirty="0" err="1">
                <a:latin typeface="+mn-lt"/>
                <a:ea typeface="+mn-ea"/>
                <a:sym typeface="Consolas" panose="020B0609020204030204" pitchFamily="49" charset="0"/>
              </a:rPr>
              <a:t>guess_max</a:t>
            </a:r>
            <a:r>
              <a:rPr lang="en-US" altLang="zh-CN" b="1" i="1" dirty="0">
                <a:latin typeface="+mn-lt"/>
                <a:ea typeface="+mn-ea"/>
                <a:sym typeface="Consolas" panose="020B0609020204030204" pitchFamily="49" charset="0"/>
              </a:rPr>
              <a:t>, progress)</a:t>
            </a:r>
            <a:r>
              <a:rPr lang="zh-CN" altLang="en-US" dirty="0">
                <a:latin typeface="+mn-lt"/>
                <a:ea typeface="+mn-ea"/>
                <a:sym typeface="Consolas" panose="020B0609020204030204" pitchFamily="49" charset="0"/>
              </a:rPr>
              <a:t>：读取数据，根据参数“</a:t>
            </a:r>
            <a:r>
              <a:rPr lang="en-US" altLang="zh-CN" dirty="0" err="1">
                <a:latin typeface="+mn-lt"/>
                <a:ea typeface="+mn-ea"/>
                <a:sym typeface="Consolas" panose="020B0609020204030204" pitchFamily="49" charset="0"/>
              </a:rPr>
              <a:t>delim</a:t>
            </a:r>
            <a:r>
              <a:rPr lang="zh-CN" altLang="en-US" dirty="0">
                <a:latin typeface="+mn-lt"/>
                <a:ea typeface="+mn-ea"/>
                <a:sym typeface="Consolas" panose="020B0609020204030204" pitchFamily="49" charset="0"/>
              </a:rPr>
              <a:t>”指定数据分隔符，将数据对象读入为</a:t>
            </a:r>
            <a:r>
              <a:rPr lang="en-US" altLang="zh-CN" dirty="0" err="1">
                <a:latin typeface="+mn-lt"/>
                <a:ea typeface="+mn-ea"/>
                <a:sym typeface="Consolas" panose="020B0609020204030204" pitchFamily="49" charset="0"/>
              </a:rPr>
              <a:t>DataFrame</a:t>
            </a:r>
            <a:r>
              <a:rPr lang="zh-CN" altLang="en-US" dirty="0">
                <a:latin typeface="+mn-lt"/>
                <a:ea typeface="+mn-ea"/>
                <a:sym typeface="Consolas" panose="020B0609020204030204" pitchFamily="49" charset="0"/>
              </a:rPr>
              <a:t>对象</a:t>
            </a:r>
            <a:endParaRPr lang="en-US" altLang="zh-CN" dirty="0">
              <a:latin typeface="+mn-lt"/>
              <a:ea typeface="+mn-ea"/>
              <a:sym typeface="Consolas" panose="020B0609020204030204" pitchFamily="49" charset="0"/>
            </a:endParaRPr>
          </a:p>
          <a:p>
            <a:pPr marL="285750" indent="457200" algn="just">
              <a:lnSpc>
                <a:spcPct val="140000"/>
              </a:lnSpc>
              <a:buFont typeface="Wingdings" panose="05000000000000000000" pitchFamily="2" charset="2"/>
              <a:buChar char="ü"/>
            </a:pPr>
            <a:r>
              <a:rPr lang="en-US" altLang="zh-CN" b="1" i="1" dirty="0" err="1">
                <a:latin typeface="+mn-lt"/>
                <a:ea typeface="+mn-ea"/>
                <a:sym typeface="Consolas" panose="020B0609020204030204" pitchFamily="49" charset="0"/>
              </a:rPr>
              <a:t>read_csv</a:t>
            </a:r>
            <a:r>
              <a:rPr lang="en-US" altLang="zh-CN" b="1" i="1" dirty="0">
                <a:latin typeface="+mn-lt"/>
                <a:ea typeface="+mn-ea"/>
                <a:sym typeface="Consolas" panose="020B0609020204030204" pitchFamily="49" charset="0"/>
              </a:rPr>
              <a:t>(file, </a:t>
            </a:r>
            <a:r>
              <a:rPr lang="en-US" altLang="zh-CN" b="1" i="1" dirty="0" err="1">
                <a:latin typeface="+mn-lt"/>
                <a:ea typeface="+mn-ea"/>
                <a:sym typeface="Consolas" panose="020B0609020204030204" pitchFamily="49" charset="0"/>
              </a:rPr>
              <a:t>col_names</a:t>
            </a:r>
            <a:r>
              <a:rPr lang="en-US" altLang="zh-CN" b="1" i="1" dirty="0">
                <a:latin typeface="+mn-lt"/>
                <a:ea typeface="+mn-ea"/>
                <a:sym typeface="Consolas" panose="020B0609020204030204" pitchFamily="49" charset="0"/>
              </a:rPr>
              <a:t>, </a:t>
            </a:r>
            <a:r>
              <a:rPr lang="en-US" altLang="zh-CN" b="1" i="1" dirty="0" err="1">
                <a:latin typeface="+mn-lt"/>
                <a:ea typeface="+mn-ea"/>
                <a:sym typeface="Consolas" panose="020B0609020204030204" pitchFamily="49" charset="0"/>
              </a:rPr>
              <a:t>col_types</a:t>
            </a:r>
            <a:r>
              <a:rPr lang="en-US" altLang="zh-CN" b="1" i="1" dirty="0">
                <a:latin typeface="+mn-lt"/>
                <a:ea typeface="+mn-ea"/>
                <a:sym typeface="Consolas" panose="020B0609020204030204" pitchFamily="49" charset="0"/>
              </a:rPr>
              <a:t>, locale, </a:t>
            </a:r>
            <a:r>
              <a:rPr lang="en-US" altLang="zh-CN" b="1" i="1" dirty="0" err="1">
                <a:latin typeface="+mn-lt"/>
                <a:ea typeface="+mn-ea"/>
                <a:sym typeface="Consolas" panose="020B0609020204030204" pitchFamily="49" charset="0"/>
              </a:rPr>
              <a:t>na</a:t>
            </a:r>
            <a:r>
              <a:rPr lang="en-US" altLang="zh-CN" b="1" i="1" dirty="0">
                <a:latin typeface="+mn-lt"/>
                <a:ea typeface="+mn-ea"/>
                <a:sym typeface="Consolas" panose="020B0609020204030204" pitchFamily="49" charset="0"/>
              </a:rPr>
              <a:t>, </a:t>
            </a:r>
            <a:r>
              <a:rPr lang="en-US" altLang="zh-CN" b="1" i="1" dirty="0" err="1">
                <a:latin typeface="+mn-lt"/>
                <a:ea typeface="+mn-ea"/>
                <a:sym typeface="Consolas" panose="020B0609020204030204" pitchFamily="49" charset="0"/>
              </a:rPr>
              <a:t>quoted_na</a:t>
            </a:r>
            <a:r>
              <a:rPr lang="en-US" altLang="zh-CN" b="1" i="1" dirty="0">
                <a:latin typeface="+mn-lt"/>
                <a:ea typeface="+mn-ea"/>
                <a:sym typeface="Consolas" panose="020B0609020204030204" pitchFamily="49" charset="0"/>
              </a:rPr>
              <a:t>, quote, comment, </a:t>
            </a:r>
            <a:r>
              <a:rPr lang="en-US" altLang="zh-CN" b="1" i="1" dirty="0" err="1">
                <a:latin typeface="+mn-lt"/>
                <a:ea typeface="+mn-ea"/>
                <a:sym typeface="Consolas" panose="020B0609020204030204" pitchFamily="49" charset="0"/>
              </a:rPr>
              <a:t>trim_ws</a:t>
            </a:r>
            <a:r>
              <a:rPr lang="en-US" altLang="zh-CN" b="1" i="1" dirty="0">
                <a:latin typeface="+mn-lt"/>
                <a:ea typeface="+mn-ea"/>
                <a:sym typeface="Consolas" panose="020B0609020204030204" pitchFamily="49" charset="0"/>
              </a:rPr>
              <a:t>, skip, </a:t>
            </a:r>
            <a:r>
              <a:rPr lang="en-US" altLang="zh-CN" b="1" i="1" dirty="0" err="1">
                <a:latin typeface="+mn-lt"/>
                <a:ea typeface="+mn-ea"/>
                <a:sym typeface="Consolas" panose="020B0609020204030204" pitchFamily="49" charset="0"/>
              </a:rPr>
              <a:t>n_max</a:t>
            </a:r>
            <a:r>
              <a:rPr lang="en-US" altLang="zh-CN" b="1" i="1" dirty="0">
                <a:latin typeface="+mn-lt"/>
                <a:ea typeface="+mn-ea"/>
                <a:sym typeface="Consolas" panose="020B0609020204030204" pitchFamily="49" charset="0"/>
              </a:rPr>
              <a:t>, </a:t>
            </a:r>
            <a:r>
              <a:rPr lang="en-US" altLang="zh-CN" b="1" i="1" dirty="0" err="1">
                <a:latin typeface="+mn-lt"/>
                <a:ea typeface="+mn-ea"/>
                <a:sym typeface="Consolas" panose="020B0609020204030204" pitchFamily="49" charset="0"/>
              </a:rPr>
              <a:t>guess_max</a:t>
            </a:r>
            <a:r>
              <a:rPr lang="en-US" altLang="zh-CN" b="1" i="1" dirty="0">
                <a:latin typeface="+mn-lt"/>
                <a:ea typeface="+mn-ea"/>
                <a:sym typeface="Consolas" panose="020B0609020204030204" pitchFamily="49" charset="0"/>
              </a:rPr>
              <a:t>, progress)</a:t>
            </a:r>
            <a:r>
              <a:rPr lang="zh-CN" altLang="en-US" dirty="0">
                <a:latin typeface="+mn-lt"/>
                <a:ea typeface="+mn-ea"/>
                <a:sym typeface="Consolas" panose="020B0609020204030204" pitchFamily="49" charset="0"/>
              </a:rPr>
              <a:t>：读取</a:t>
            </a:r>
            <a:r>
              <a:rPr lang="en-US" altLang="zh-CN" dirty="0">
                <a:latin typeface="+mn-lt"/>
                <a:ea typeface="+mn-ea"/>
                <a:sym typeface="Consolas" panose="020B0609020204030204" pitchFamily="49" charset="0"/>
              </a:rPr>
              <a:t>csv</a:t>
            </a:r>
            <a:r>
              <a:rPr lang="zh-CN" altLang="en-US" dirty="0">
                <a:latin typeface="+mn-lt"/>
                <a:ea typeface="+mn-ea"/>
                <a:sym typeface="Consolas" panose="020B0609020204030204" pitchFamily="49" charset="0"/>
              </a:rPr>
              <a:t>（以逗号分割的文本文件）数据，将数据对象读入为</a:t>
            </a:r>
            <a:r>
              <a:rPr lang="en-US" altLang="zh-CN" dirty="0" err="1">
                <a:latin typeface="+mn-lt"/>
                <a:ea typeface="+mn-ea"/>
                <a:sym typeface="Consolas" panose="020B0609020204030204" pitchFamily="49" charset="0"/>
              </a:rPr>
              <a:t>DataFrame</a:t>
            </a:r>
            <a:r>
              <a:rPr lang="zh-CN" altLang="en-US" dirty="0">
                <a:latin typeface="+mn-lt"/>
                <a:ea typeface="+mn-ea"/>
                <a:sym typeface="Consolas" panose="020B0609020204030204" pitchFamily="49" charset="0"/>
              </a:rPr>
              <a:t>对象</a:t>
            </a:r>
            <a:endParaRPr lang="en-US" altLang="zh-CN" dirty="0">
              <a:latin typeface="+mn-lt"/>
              <a:ea typeface="+mn-ea"/>
              <a:sym typeface="Consolas" panose="020B0609020204030204" pitchFamily="49" charset="0"/>
            </a:endParaRPr>
          </a:p>
          <a:p>
            <a:pPr marL="285750" indent="457200" algn="just">
              <a:lnSpc>
                <a:spcPct val="140000"/>
              </a:lnSpc>
              <a:buFont typeface="Wingdings" panose="05000000000000000000" pitchFamily="2" charset="2"/>
              <a:buChar char="ü"/>
            </a:pPr>
            <a:r>
              <a:rPr lang="en-US" altLang="zh-CN" b="1" i="1" dirty="0" err="1">
                <a:latin typeface="+mn-lt"/>
                <a:ea typeface="+mn-ea"/>
                <a:sym typeface="Consolas" panose="020B0609020204030204" pitchFamily="49" charset="0"/>
              </a:rPr>
              <a:t>read_excel</a:t>
            </a:r>
            <a:r>
              <a:rPr lang="en-US" altLang="zh-CN" b="1" i="1" dirty="0">
                <a:latin typeface="+mn-lt"/>
                <a:ea typeface="+mn-ea"/>
                <a:sym typeface="Consolas" panose="020B0609020204030204" pitchFamily="49" charset="0"/>
              </a:rPr>
              <a:t>(path, sheet, range, </a:t>
            </a:r>
            <a:r>
              <a:rPr lang="en-US" altLang="zh-CN" b="1" i="1" dirty="0" err="1">
                <a:latin typeface="+mn-lt"/>
                <a:ea typeface="+mn-ea"/>
                <a:sym typeface="Consolas" panose="020B0609020204030204" pitchFamily="49" charset="0"/>
              </a:rPr>
              <a:t>col_names</a:t>
            </a:r>
            <a:r>
              <a:rPr lang="en-US" altLang="zh-CN" b="1" i="1" dirty="0">
                <a:latin typeface="+mn-lt"/>
                <a:ea typeface="+mn-ea"/>
                <a:sym typeface="Consolas" panose="020B0609020204030204" pitchFamily="49" charset="0"/>
              </a:rPr>
              <a:t>, </a:t>
            </a:r>
            <a:r>
              <a:rPr lang="en-US" altLang="zh-CN" b="1" i="1" dirty="0" err="1">
                <a:latin typeface="+mn-lt"/>
                <a:ea typeface="+mn-ea"/>
                <a:sym typeface="Consolas" panose="020B0609020204030204" pitchFamily="49" charset="0"/>
              </a:rPr>
              <a:t>col_types</a:t>
            </a:r>
            <a:r>
              <a:rPr lang="en-US" altLang="zh-CN" b="1" i="1" dirty="0">
                <a:latin typeface="+mn-lt"/>
                <a:ea typeface="+mn-ea"/>
                <a:sym typeface="Consolas" panose="020B0609020204030204" pitchFamily="49" charset="0"/>
              </a:rPr>
              <a:t>, </a:t>
            </a:r>
            <a:r>
              <a:rPr lang="en-US" altLang="zh-CN" b="1" i="1" dirty="0" err="1">
                <a:latin typeface="+mn-lt"/>
                <a:ea typeface="+mn-ea"/>
                <a:sym typeface="Consolas" panose="020B0609020204030204" pitchFamily="49" charset="0"/>
              </a:rPr>
              <a:t>na</a:t>
            </a:r>
            <a:r>
              <a:rPr lang="en-US" altLang="zh-CN" b="1" i="1" dirty="0">
                <a:latin typeface="+mn-lt"/>
                <a:ea typeface="+mn-ea"/>
                <a:sym typeface="Consolas" panose="020B0609020204030204" pitchFamily="49" charset="0"/>
              </a:rPr>
              <a:t>, </a:t>
            </a:r>
            <a:r>
              <a:rPr lang="en-US" altLang="zh-CN" b="1" i="1" dirty="0" err="1">
                <a:latin typeface="+mn-lt"/>
                <a:ea typeface="+mn-ea"/>
                <a:sym typeface="Consolas" panose="020B0609020204030204" pitchFamily="49" charset="0"/>
              </a:rPr>
              <a:t>trim_ws</a:t>
            </a:r>
            <a:r>
              <a:rPr lang="en-US" altLang="zh-CN" b="1" i="1" dirty="0">
                <a:latin typeface="+mn-lt"/>
                <a:ea typeface="+mn-ea"/>
                <a:sym typeface="Consolas" panose="020B0609020204030204" pitchFamily="49" charset="0"/>
              </a:rPr>
              <a:t>, skip, </a:t>
            </a:r>
            <a:r>
              <a:rPr lang="en-US" altLang="zh-CN" b="1" i="1" dirty="0" err="1">
                <a:latin typeface="+mn-lt"/>
                <a:ea typeface="+mn-ea"/>
                <a:sym typeface="Consolas" panose="020B0609020204030204" pitchFamily="49" charset="0"/>
              </a:rPr>
              <a:t>n_max</a:t>
            </a:r>
            <a:r>
              <a:rPr lang="en-US" altLang="zh-CN" b="1" i="1" dirty="0">
                <a:latin typeface="+mn-lt"/>
                <a:ea typeface="+mn-ea"/>
                <a:sym typeface="Consolas" panose="020B0609020204030204" pitchFamily="49" charset="0"/>
              </a:rPr>
              <a:t>, </a:t>
            </a:r>
            <a:r>
              <a:rPr lang="en-US" altLang="zh-CN" b="1" i="1" dirty="0" err="1">
                <a:latin typeface="+mn-lt"/>
                <a:ea typeface="+mn-ea"/>
                <a:sym typeface="Consolas" panose="020B0609020204030204" pitchFamily="49" charset="0"/>
              </a:rPr>
              <a:t>guess_max</a:t>
            </a:r>
            <a:r>
              <a:rPr lang="en-US" altLang="zh-CN" b="1" i="1" dirty="0">
                <a:latin typeface="+mn-lt"/>
                <a:ea typeface="+mn-ea"/>
                <a:sym typeface="Consolas" panose="020B0609020204030204" pitchFamily="49" charset="0"/>
              </a:rPr>
              <a:t>)</a:t>
            </a:r>
            <a:r>
              <a:rPr lang="zh-CN" altLang="en-US" dirty="0">
                <a:latin typeface="+mn-lt"/>
                <a:ea typeface="+mn-ea"/>
                <a:sym typeface="Consolas" panose="020B0609020204030204" pitchFamily="49" charset="0"/>
              </a:rPr>
              <a:t>：读取</a:t>
            </a:r>
            <a:r>
              <a:rPr lang="en-US" altLang="zh-CN" dirty="0" err="1">
                <a:latin typeface="+mn-lt"/>
                <a:ea typeface="+mn-ea"/>
                <a:sym typeface="Consolas" panose="020B0609020204030204" pitchFamily="49" charset="0"/>
              </a:rPr>
              <a:t>xls</a:t>
            </a:r>
            <a:r>
              <a:rPr lang="zh-CN" altLang="en-US" dirty="0">
                <a:latin typeface="+mn-lt"/>
                <a:ea typeface="+mn-ea"/>
                <a:sym typeface="Consolas" panose="020B0609020204030204" pitchFamily="49" charset="0"/>
              </a:rPr>
              <a:t>或</a:t>
            </a:r>
            <a:r>
              <a:rPr lang="en-US" altLang="zh-CN" dirty="0">
                <a:latin typeface="+mn-lt"/>
                <a:ea typeface="+mn-ea"/>
                <a:sym typeface="Consolas" panose="020B0609020204030204" pitchFamily="49" charset="0"/>
              </a:rPr>
              <a:t>xlsx</a:t>
            </a:r>
            <a:r>
              <a:rPr lang="zh-CN" altLang="en-US" dirty="0">
                <a:latin typeface="+mn-lt"/>
                <a:ea typeface="+mn-ea"/>
                <a:sym typeface="Consolas" panose="020B0609020204030204" pitchFamily="49" charset="0"/>
              </a:rPr>
              <a:t>数据，将数据对象读入为</a:t>
            </a:r>
            <a:r>
              <a:rPr lang="en-US" altLang="zh-CN" dirty="0" err="1">
                <a:latin typeface="+mn-lt"/>
                <a:ea typeface="+mn-ea"/>
                <a:sym typeface="Consolas" panose="020B0609020204030204" pitchFamily="49" charset="0"/>
              </a:rPr>
              <a:t>tibble</a:t>
            </a:r>
            <a:r>
              <a:rPr lang="zh-CN" altLang="en-US" dirty="0">
                <a:latin typeface="+mn-lt"/>
                <a:ea typeface="+mn-ea"/>
                <a:sym typeface="Consolas" panose="020B0609020204030204" pitchFamily="49" charset="0"/>
              </a:rPr>
              <a:t>对象</a:t>
            </a:r>
            <a:endParaRPr lang="en-US" altLang="zh-CN" dirty="0">
              <a:latin typeface="+mn-lt"/>
              <a:ea typeface="+mn-ea"/>
              <a:sym typeface="Consolas" panose="020B0609020204030204" pitchFamily="49"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004C4-5446-3DE7-4B9F-2C450A7A4DED}"/>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6A8A4D84-2C87-F2AC-E969-20209744E560}"/>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2.2.1 </a:t>
            </a:r>
            <a:r>
              <a:rPr lang="zh-CN" altLang="en-US" sz="3600" dirty="0">
                <a:latin typeface="Times New Roman" panose="02020603050405020304" pitchFamily="18" charset="0"/>
                <a:cs typeface="Times New Roman" panose="02020603050405020304" pitchFamily="18" charset="0"/>
              </a:rPr>
              <a:t>基础数据读入</a:t>
            </a:r>
          </a:p>
        </p:txBody>
      </p:sp>
      <p:sp>
        <p:nvSpPr>
          <p:cNvPr id="8" name="灯片编号占位符 7">
            <a:extLst>
              <a:ext uri="{FF2B5EF4-FFF2-40B4-BE49-F238E27FC236}">
                <a16:creationId xmlns:a16="http://schemas.microsoft.com/office/drawing/2014/main" id="{810AED83-0C5C-CFF1-FFA4-8D034ABEDB03}"/>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7</a:t>
            </a:fld>
            <a:endParaRPr lang="zh-CN" altLang="en-US" dirty="0">
              <a:solidFill>
                <a:schemeClr val="bg2">
                  <a:lumMod val="75000"/>
                </a:schemeClr>
              </a:solidFill>
            </a:endParaRPr>
          </a:p>
        </p:txBody>
      </p:sp>
      <p:graphicFrame>
        <p:nvGraphicFramePr>
          <p:cNvPr id="2" name="表格 1">
            <a:extLst>
              <a:ext uri="{FF2B5EF4-FFF2-40B4-BE49-F238E27FC236}">
                <a16:creationId xmlns:a16="http://schemas.microsoft.com/office/drawing/2014/main" id="{7B76FE2E-4126-7B48-C0F9-E957881AF5AC}"/>
              </a:ext>
            </a:extLst>
          </p:cNvPr>
          <p:cNvGraphicFramePr>
            <a:graphicFrameLocks noGrp="1"/>
          </p:cNvGraphicFramePr>
          <p:nvPr>
            <p:extLst>
              <p:ext uri="{D42A27DB-BD31-4B8C-83A1-F6EECF244321}">
                <p14:modId xmlns:p14="http://schemas.microsoft.com/office/powerpoint/2010/main" val="2921251246"/>
              </p:ext>
            </p:extLst>
          </p:nvPr>
        </p:nvGraphicFramePr>
        <p:xfrm>
          <a:off x="457200" y="1206087"/>
          <a:ext cx="8229600" cy="4937760"/>
        </p:xfrm>
        <a:graphic>
          <a:graphicData uri="http://schemas.openxmlformats.org/drawingml/2006/table">
            <a:tbl>
              <a:tblPr firstRow="1" bandRow="1">
                <a:tableStyleId>{5C22544A-7EE6-4342-B048-85BDC9FD1C3A}</a:tableStyleId>
              </a:tblPr>
              <a:tblGrid>
                <a:gridCol w="2757563">
                  <a:extLst>
                    <a:ext uri="{9D8B030D-6E8A-4147-A177-3AD203B41FA5}">
                      <a16:colId xmlns:a16="http://schemas.microsoft.com/office/drawing/2014/main" val="2581571607"/>
                    </a:ext>
                  </a:extLst>
                </a:gridCol>
                <a:gridCol w="5472037">
                  <a:extLst>
                    <a:ext uri="{9D8B030D-6E8A-4147-A177-3AD203B41FA5}">
                      <a16:colId xmlns:a16="http://schemas.microsoft.com/office/drawing/2014/main" val="1863506659"/>
                    </a:ext>
                  </a:extLst>
                </a:gridCol>
              </a:tblGrid>
              <a:tr h="370840">
                <a:tc>
                  <a:txBody>
                    <a:bodyPr/>
                    <a:lstStyle/>
                    <a:p>
                      <a:pPr algn="ctr"/>
                      <a:r>
                        <a:rPr lang="zh-CN" altLang="en-US" sz="1400" dirty="0"/>
                        <a:t>参数</a:t>
                      </a:r>
                    </a:p>
                  </a:txBody>
                  <a:tcPr anchor="ctr"/>
                </a:tc>
                <a:tc>
                  <a:txBody>
                    <a:bodyPr/>
                    <a:lstStyle/>
                    <a:p>
                      <a:pPr algn="ctr"/>
                      <a:r>
                        <a:rPr lang="zh-CN" altLang="en-US" sz="1400" dirty="0"/>
                        <a:t>描述</a:t>
                      </a:r>
                    </a:p>
                  </a:txBody>
                  <a:tcPr anchor="ctr"/>
                </a:tc>
                <a:extLst>
                  <a:ext uri="{0D108BD9-81ED-4DB2-BD59-A6C34878D82A}">
                    <a16:rowId xmlns:a16="http://schemas.microsoft.com/office/drawing/2014/main" val="1281967884"/>
                  </a:ext>
                </a:extLst>
              </a:tr>
              <a:tr h="370840">
                <a:tc>
                  <a:txBody>
                    <a:bodyPr/>
                    <a:lstStyle/>
                    <a:p>
                      <a:pPr algn="ctr"/>
                      <a:r>
                        <a:rPr lang="en-US" altLang="zh-CN" sz="1400" dirty="0"/>
                        <a:t>file</a:t>
                      </a:r>
                      <a:endParaRPr lang="zh-CN" altLang="en-US" sz="1400" dirty="0"/>
                    </a:p>
                  </a:txBody>
                  <a:tcPr anchor="ctr"/>
                </a:tc>
                <a:tc>
                  <a:txBody>
                    <a:bodyPr/>
                    <a:lstStyle/>
                    <a:p>
                      <a:pPr algn="ctr"/>
                      <a:r>
                        <a:rPr lang="zh-CN" altLang="en-US" sz="1400" dirty="0"/>
                        <a:t>字符串型或向量型参数；表示数据名称，可以为数据文件的路径、链接或者数据本身（至少包括一行数据）</a:t>
                      </a:r>
                    </a:p>
                  </a:txBody>
                  <a:tcPr anchor="ctr"/>
                </a:tc>
                <a:extLst>
                  <a:ext uri="{0D108BD9-81ED-4DB2-BD59-A6C34878D82A}">
                    <a16:rowId xmlns:a16="http://schemas.microsoft.com/office/drawing/2014/main" val="356241143"/>
                  </a:ext>
                </a:extLst>
              </a:tr>
              <a:tr h="370840">
                <a:tc>
                  <a:txBody>
                    <a:bodyPr/>
                    <a:lstStyle/>
                    <a:p>
                      <a:pPr algn="ctr"/>
                      <a:r>
                        <a:rPr lang="en-US" altLang="zh-CN" sz="1400" dirty="0" err="1"/>
                        <a:t>delim</a:t>
                      </a:r>
                      <a:endParaRPr lang="zh-CN" altLang="en-US" sz="1400" dirty="0"/>
                    </a:p>
                  </a:txBody>
                  <a:tcPr anchor="ctr"/>
                </a:tc>
                <a:tc>
                  <a:txBody>
                    <a:bodyPr/>
                    <a:lstStyle/>
                    <a:p>
                      <a:pPr algn="ctr"/>
                      <a:r>
                        <a:rPr lang="zh-CN" altLang="zh-CN" sz="1400" kern="1200" dirty="0">
                          <a:solidFill>
                            <a:schemeClr val="dk1"/>
                          </a:solidFill>
                          <a:effectLst/>
                          <a:latin typeface="+mn-lt"/>
                          <a:ea typeface="+mn-ea"/>
                          <a:cs typeface="+mn-cs"/>
                        </a:rPr>
                        <a:t>字符型参数；指定分隔符</a:t>
                      </a:r>
                      <a:endParaRPr lang="zh-CN" altLang="en-US" sz="1400" dirty="0"/>
                    </a:p>
                  </a:txBody>
                  <a:tcPr anchor="ctr"/>
                </a:tc>
                <a:extLst>
                  <a:ext uri="{0D108BD9-81ED-4DB2-BD59-A6C34878D82A}">
                    <a16:rowId xmlns:a16="http://schemas.microsoft.com/office/drawing/2014/main" val="3766120750"/>
                  </a:ext>
                </a:extLst>
              </a:tr>
              <a:tr h="370840">
                <a:tc>
                  <a:txBody>
                    <a:bodyPr/>
                    <a:lstStyle/>
                    <a:p>
                      <a:pPr algn="ctr"/>
                      <a:r>
                        <a:rPr lang="en-US" altLang="zh-CN" sz="1400" i="0" kern="1200" dirty="0" err="1">
                          <a:solidFill>
                            <a:schemeClr val="dk1"/>
                          </a:solidFill>
                          <a:effectLst/>
                          <a:latin typeface="+mn-lt"/>
                          <a:ea typeface="+mn-ea"/>
                          <a:cs typeface="+mn-cs"/>
                        </a:rPr>
                        <a:t>escape_backslash</a:t>
                      </a:r>
                      <a:endParaRPr lang="zh-CN" altLang="en-US" sz="1400" i="0" dirty="0"/>
                    </a:p>
                  </a:txBody>
                  <a:tcPr anchor="ctr"/>
                </a:tc>
                <a:tc>
                  <a:txBody>
                    <a:bodyPr/>
                    <a:lstStyle/>
                    <a:p>
                      <a:pPr algn="ctr"/>
                      <a:r>
                        <a:rPr lang="zh-CN" altLang="zh-CN" sz="1400" kern="1200" dirty="0">
                          <a:solidFill>
                            <a:schemeClr val="dk1"/>
                          </a:solidFill>
                          <a:effectLst/>
                          <a:latin typeface="+mn-lt"/>
                          <a:ea typeface="+mn-ea"/>
                          <a:cs typeface="+mn-cs"/>
                        </a:rPr>
                        <a:t>逻辑型参数；是否使用反斜杠转义特殊字符</a:t>
                      </a:r>
                      <a:endParaRPr lang="zh-CN" altLang="en-US" sz="1400" dirty="0"/>
                    </a:p>
                  </a:txBody>
                  <a:tcPr anchor="ctr"/>
                </a:tc>
                <a:extLst>
                  <a:ext uri="{0D108BD9-81ED-4DB2-BD59-A6C34878D82A}">
                    <a16:rowId xmlns:a16="http://schemas.microsoft.com/office/drawing/2014/main" val="658107258"/>
                  </a:ext>
                </a:extLst>
              </a:tr>
              <a:tr h="370840">
                <a:tc>
                  <a:txBody>
                    <a:bodyPr/>
                    <a:lstStyle/>
                    <a:p>
                      <a:pPr algn="ctr"/>
                      <a:r>
                        <a:rPr lang="en-US" altLang="zh-CN" sz="1400" dirty="0" err="1"/>
                        <a:t>escape_double</a:t>
                      </a:r>
                      <a:endParaRPr lang="zh-CN" altLang="en-US" sz="1400" dirty="0"/>
                    </a:p>
                  </a:txBody>
                  <a:tcPr anchor="ctr"/>
                </a:tc>
                <a:tc>
                  <a:txBody>
                    <a:bodyPr/>
                    <a:lstStyle/>
                    <a:p>
                      <a:pPr algn="ctr"/>
                      <a:r>
                        <a:rPr lang="zh-CN" altLang="en-US" sz="1400" dirty="0"/>
                        <a:t>逻辑型参数；是否通过双写来转义引号，若为</a:t>
                      </a:r>
                      <a:r>
                        <a:rPr lang="en-US" altLang="zh-CN" sz="1400" dirty="0"/>
                        <a:t>TRUE</a:t>
                      </a:r>
                      <a:r>
                        <a:rPr lang="zh-CN" altLang="en-US" sz="1400" dirty="0"/>
                        <a:t>，</a:t>
                      </a:r>
                      <a:r>
                        <a:rPr lang="en-US" altLang="zh-CN" sz="1400" dirty="0"/>
                        <a:t>"""" </a:t>
                      </a:r>
                      <a:r>
                        <a:rPr lang="zh-CN" altLang="en-US" sz="1400" dirty="0"/>
                        <a:t>表示 </a:t>
                      </a:r>
                      <a:r>
                        <a:rPr lang="en-US" altLang="zh-CN" sz="1400" dirty="0"/>
                        <a:t>""</a:t>
                      </a:r>
                      <a:endParaRPr lang="zh-CN" altLang="en-US" sz="1400" dirty="0"/>
                    </a:p>
                  </a:txBody>
                  <a:tcPr anchor="ctr"/>
                </a:tc>
                <a:extLst>
                  <a:ext uri="{0D108BD9-81ED-4DB2-BD59-A6C34878D82A}">
                    <a16:rowId xmlns:a16="http://schemas.microsoft.com/office/drawing/2014/main" val="393759726"/>
                  </a:ext>
                </a:extLst>
              </a:tr>
              <a:tr h="370840">
                <a:tc>
                  <a:txBody>
                    <a:bodyPr/>
                    <a:lstStyle/>
                    <a:p>
                      <a:pPr algn="ctr"/>
                      <a:r>
                        <a:rPr lang="en-US" altLang="zh-CN" sz="1400" dirty="0" err="1"/>
                        <a:t>col_names</a:t>
                      </a:r>
                      <a:endParaRPr lang="zh-CN" altLang="en-US" sz="1400" dirty="0"/>
                    </a:p>
                  </a:txBody>
                  <a:tcPr anchor="ctr"/>
                </a:tc>
                <a:tc>
                  <a:txBody>
                    <a:bodyPr/>
                    <a:lstStyle/>
                    <a:p>
                      <a:pPr algn="ctr"/>
                      <a:r>
                        <a:rPr lang="zh-CN" altLang="zh-CN" sz="1400" kern="1200" dirty="0">
                          <a:solidFill>
                            <a:schemeClr val="dk1"/>
                          </a:solidFill>
                          <a:effectLst/>
                          <a:latin typeface="+mn-lt"/>
                          <a:ea typeface="+mn-ea"/>
                          <a:cs typeface="+mn-cs"/>
                        </a:rPr>
                        <a:t>逻辑型或字符向量型参数；若为</a:t>
                      </a:r>
                      <a:r>
                        <a:rPr lang="en-US" altLang="zh-CN" sz="1400" kern="1200" dirty="0">
                          <a:solidFill>
                            <a:schemeClr val="dk1"/>
                          </a:solidFill>
                          <a:effectLst/>
                          <a:latin typeface="+mn-lt"/>
                          <a:ea typeface="+mn-ea"/>
                          <a:cs typeface="+mn-cs"/>
                        </a:rPr>
                        <a:t>TRUE</a:t>
                      </a:r>
                      <a:r>
                        <a:rPr lang="zh-CN" altLang="zh-CN" sz="1400" kern="1200" dirty="0">
                          <a:solidFill>
                            <a:schemeClr val="dk1"/>
                          </a:solidFill>
                          <a:effectLst/>
                          <a:latin typeface="+mn-lt"/>
                          <a:ea typeface="+mn-ea"/>
                          <a:cs typeface="+mn-cs"/>
                        </a:rPr>
                        <a:t>，输入数据的第一行为列名；若为</a:t>
                      </a:r>
                      <a:r>
                        <a:rPr lang="en-US" altLang="zh-CN" sz="1400" kern="1200" dirty="0">
                          <a:solidFill>
                            <a:schemeClr val="dk1"/>
                          </a:solidFill>
                          <a:effectLst/>
                          <a:latin typeface="+mn-lt"/>
                          <a:ea typeface="+mn-ea"/>
                          <a:cs typeface="+mn-cs"/>
                        </a:rPr>
                        <a:t>FALSE</a:t>
                      </a:r>
                      <a:r>
                        <a:rPr lang="zh-CN" altLang="zh-CN" sz="1400" kern="1200" dirty="0">
                          <a:solidFill>
                            <a:schemeClr val="dk1"/>
                          </a:solidFill>
                          <a:effectLst/>
                          <a:latin typeface="+mn-lt"/>
                          <a:ea typeface="+mn-ea"/>
                          <a:cs typeface="+mn-cs"/>
                        </a:rPr>
                        <a:t>，自动分配列名为</a:t>
                      </a:r>
                      <a:r>
                        <a:rPr lang="en-US" altLang="zh-CN" sz="1400" kern="1200" dirty="0">
                          <a:solidFill>
                            <a:schemeClr val="dk1"/>
                          </a:solidFill>
                          <a:effectLst/>
                          <a:latin typeface="+mn-lt"/>
                          <a:ea typeface="+mn-ea"/>
                          <a:cs typeface="+mn-cs"/>
                        </a:rPr>
                        <a:t>X1, X2, X3,… </a:t>
                      </a:r>
                      <a:r>
                        <a:rPr lang="zh-CN" altLang="zh-CN" sz="1400" kern="1200" dirty="0">
                          <a:solidFill>
                            <a:schemeClr val="dk1"/>
                          </a:solidFill>
                          <a:effectLst/>
                          <a:latin typeface="+mn-lt"/>
                          <a:ea typeface="+mn-ea"/>
                          <a:cs typeface="+mn-cs"/>
                        </a:rPr>
                        <a:t>；若为字符向量，则以该向量作为列名</a:t>
                      </a:r>
                      <a:endParaRPr lang="zh-CN" altLang="en-US" sz="1400" dirty="0"/>
                    </a:p>
                  </a:txBody>
                  <a:tcPr anchor="ctr"/>
                </a:tc>
                <a:extLst>
                  <a:ext uri="{0D108BD9-81ED-4DB2-BD59-A6C34878D82A}">
                    <a16:rowId xmlns:a16="http://schemas.microsoft.com/office/drawing/2014/main" val="1274908354"/>
                  </a:ext>
                </a:extLst>
              </a:tr>
              <a:tr h="370840">
                <a:tc>
                  <a:txBody>
                    <a:bodyPr/>
                    <a:lstStyle/>
                    <a:p>
                      <a:pPr algn="ctr"/>
                      <a:r>
                        <a:rPr lang="en-US" altLang="zh-CN" sz="1400" dirty="0" err="1"/>
                        <a:t>col_types</a:t>
                      </a:r>
                      <a:endParaRPr lang="zh-CN" altLang="en-US" sz="1400" dirty="0"/>
                    </a:p>
                  </a:txBody>
                  <a:tcPr anchor="ctr"/>
                </a:tc>
                <a:tc>
                  <a:txBody>
                    <a:bodyPr/>
                    <a:lstStyle/>
                    <a:p>
                      <a:pPr algn="ctr"/>
                      <a:r>
                        <a:rPr lang="en-US" altLang="zh-CN" sz="1400" dirty="0"/>
                        <a:t>NULL</a:t>
                      </a:r>
                      <a:r>
                        <a:rPr lang="zh-CN" altLang="en-US" sz="1400" dirty="0"/>
                        <a:t>，</a:t>
                      </a:r>
                      <a:r>
                        <a:rPr lang="en-US" altLang="zh-CN" sz="1400" dirty="0"/>
                        <a:t>col()</a:t>
                      </a:r>
                      <a:r>
                        <a:rPr lang="zh-CN" altLang="en-US" sz="1400" dirty="0"/>
                        <a:t>制定或字符串型参数；若为</a:t>
                      </a:r>
                      <a:r>
                        <a:rPr lang="en-US" altLang="zh-CN" sz="1400" dirty="0"/>
                        <a:t>NULL</a:t>
                      </a:r>
                      <a:r>
                        <a:rPr lang="zh-CN" altLang="en-US" sz="1400" dirty="0"/>
                        <a:t>，每一列的参数类型由前</a:t>
                      </a:r>
                      <a:r>
                        <a:rPr lang="en-US" altLang="zh-CN" sz="1400" dirty="0"/>
                        <a:t>1000</a:t>
                      </a:r>
                      <a:r>
                        <a:rPr lang="zh-CN" altLang="en-US" sz="1400" dirty="0"/>
                        <a:t>行的数据类型决定；若由</a:t>
                      </a:r>
                      <a:r>
                        <a:rPr lang="en-US" altLang="zh-CN" sz="1400" dirty="0"/>
                        <a:t>col()</a:t>
                      </a:r>
                      <a:r>
                        <a:rPr lang="zh-CN" altLang="en-US" sz="1400" dirty="0"/>
                        <a:t>指定，每一列必须包含一个列类型制定字段；若为字符串类型，使用规定的字符表示数据类型（</a:t>
                      </a:r>
                      <a:r>
                        <a:rPr lang="en-US" altLang="zh-CN" sz="1400" dirty="0"/>
                        <a:t>c = character, </a:t>
                      </a:r>
                      <a:r>
                        <a:rPr lang="en-US" altLang="zh-CN" sz="1400" dirty="0" err="1"/>
                        <a:t>i</a:t>
                      </a:r>
                      <a:r>
                        <a:rPr lang="en-US" altLang="zh-CN" sz="1400" dirty="0"/>
                        <a:t> = integer, n = number, d = double, …</a:t>
                      </a:r>
                      <a:r>
                        <a:rPr lang="zh-CN" altLang="en-US" sz="1400" dirty="0"/>
                        <a:t>）</a:t>
                      </a:r>
                    </a:p>
                  </a:txBody>
                  <a:tcPr anchor="ctr"/>
                </a:tc>
                <a:extLst>
                  <a:ext uri="{0D108BD9-81ED-4DB2-BD59-A6C34878D82A}">
                    <a16:rowId xmlns:a16="http://schemas.microsoft.com/office/drawing/2014/main" val="2557768521"/>
                  </a:ext>
                </a:extLst>
              </a:tr>
              <a:tr h="370840">
                <a:tc>
                  <a:txBody>
                    <a:bodyPr/>
                    <a:lstStyle/>
                    <a:p>
                      <a:pPr algn="ctr"/>
                      <a:r>
                        <a:rPr lang="en-US" altLang="zh-CN" sz="1400" dirty="0"/>
                        <a:t>locale</a:t>
                      </a:r>
                      <a:endParaRPr lang="zh-CN" altLang="en-US" sz="1400" dirty="0"/>
                    </a:p>
                  </a:txBody>
                  <a:tcPr anchor="ctr"/>
                </a:tc>
                <a:tc>
                  <a:txBody>
                    <a:bodyPr/>
                    <a:lstStyle/>
                    <a:p>
                      <a:pPr algn="ctr"/>
                      <a:r>
                        <a:rPr lang="zh-CN" altLang="en-US" sz="1400" dirty="0"/>
                        <a:t>字符串型参数；用于控制数据地区来源，便于因地制宜地编码</a:t>
                      </a:r>
                    </a:p>
                  </a:txBody>
                  <a:tcPr anchor="ctr"/>
                </a:tc>
                <a:extLst>
                  <a:ext uri="{0D108BD9-81ED-4DB2-BD59-A6C34878D82A}">
                    <a16:rowId xmlns:a16="http://schemas.microsoft.com/office/drawing/2014/main" val="1501278"/>
                  </a:ext>
                </a:extLst>
              </a:tr>
              <a:tr h="370840">
                <a:tc>
                  <a:txBody>
                    <a:bodyPr/>
                    <a:lstStyle/>
                    <a:p>
                      <a:pPr algn="ctr"/>
                      <a:r>
                        <a:rPr lang="en-US" altLang="zh-CN" sz="1400" dirty="0" err="1"/>
                        <a:t>na</a:t>
                      </a:r>
                      <a:endParaRPr lang="zh-CN" altLang="en-US" sz="1400" dirty="0"/>
                    </a:p>
                  </a:txBody>
                  <a:tcPr anchor="ctr"/>
                </a:tc>
                <a:tc>
                  <a:txBody>
                    <a:bodyPr/>
                    <a:lstStyle/>
                    <a:p>
                      <a:pPr algn="ctr"/>
                      <a:r>
                        <a:rPr lang="zh-CN" altLang="en-US" sz="1400" dirty="0"/>
                        <a:t>字符串型参数；用于处理缺失值</a:t>
                      </a:r>
                    </a:p>
                  </a:txBody>
                  <a:tcPr anchor="ctr"/>
                </a:tc>
                <a:extLst>
                  <a:ext uri="{0D108BD9-81ED-4DB2-BD59-A6C34878D82A}">
                    <a16:rowId xmlns:a16="http://schemas.microsoft.com/office/drawing/2014/main" val="2091944846"/>
                  </a:ext>
                </a:extLst>
              </a:tr>
              <a:tr h="370840">
                <a:tc>
                  <a:txBody>
                    <a:bodyPr/>
                    <a:lstStyle/>
                    <a:p>
                      <a:pPr algn="ctr"/>
                      <a:r>
                        <a:rPr lang="en-US" altLang="zh-CN" sz="1400" dirty="0" err="1"/>
                        <a:t>quoted_na</a:t>
                      </a:r>
                      <a:endParaRPr lang="zh-CN" altLang="en-US" sz="1400" dirty="0"/>
                    </a:p>
                  </a:txBody>
                  <a:tcPr anchor="ctr"/>
                </a:tc>
                <a:tc>
                  <a:txBody>
                    <a:bodyPr/>
                    <a:lstStyle/>
                    <a:p>
                      <a:pPr algn="ctr"/>
                      <a:r>
                        <a:rPr lang="zh-CN" altLang="en-US" sz="1400" dirty="0"/>
                        <a:t>逻辑型参数；若为</a:t>
                      </a:r>
                      <a:r>
                        <a:rPr lang="en-US" altLang="zh-CN" sz="1400" dirty="0"/>
                        <a:t>TRUE</a:t>
                      </a:r>
                      <a:r>
                        <a:rPr lang="zh-CN" altLang="en-US" sz="1400" dirty="0"/>
                        <a:t>，则把缺失值作为缺失值处理；否则当作字符串处理</a:t>
                      </a:r>
                    </a:p>
                  </a:txBody>
                  <a:tcPr anchor="ctr"/>
                </a:tc>
                <a:extLst>
                  <a:ext uri="{0D108BD9-81ED-4DB2-BD59-A6C34878D82A}">
                    <a16:rowId xmlns:a16="http://schemas.microsoft.com/office/drawing/2014/main" val="132109816"/>
                  </a:ext>
                </a:extLst>
              </a:tr>
            </a:tbl>
          </a:graphicData>
        </a:graphic>
      </p:graphicFrame>
      <p:sp>
        <p:nvSpPr>
          <p:cNvPr id="6" name="文本框 5">
            <a:extLst>
              <a:ext uri="{FF2B5EF4-FFF2-40B4-BE49-F238E27FC236}">
                <a16:creationId xmlns:a16="http://schemas.microsoft.com/office/drawing/2014/main" id="{D03F87F1-19A9-924D-B458-E5EFDCDFBB30}"/>
              </a:ext>
            </a:extLst>
          </p:cNvPr>
          <p:cNvSpPr txBox="1"/>
          <p:nvPr/>
        </p:nvSpPr>
        <p:spPr>
          <a:xfrm>
            <a:off x="857250" y="6180260"/>
            <a:ext cx="7429500" cy="307777"/>
          </a:xfrm>
          <a:prstGeom prst="rect">
            <a:avLst/>
          </a:prstGeom>
          <a:noFill/>
        </p:spPr>
        <p:txBody>
          <a:bodyPr wrap="square">
            <a:spAutoFit/>
          </a:bodyPr>
          <a:lstStyle/>
          <a:p>
            <a:pPr algn="ctr"/>
            <a:r>
              <a:rPr lang="zh-CN" altLang="zh-CN" sz="1400" dirty="0">
                <a:effectLst/>
                <a:latin typeface="+mn-ea"/>
                <a:ea typeface="+mn-ea"/>
                <a:cs typeface="Times New Roman" panose="02020603050405020304" pitchFamily="18" charset="0"/>
              </a:rPr>
              <a:t>空间数据读取函数参数表</a:t>
            </a:r>
            <a:endParaRPr lang="zh-CN" altLang="en-US" sz="1400" dirty="0">
              <a:latin typeface="+mn-ea"/>
              <a:ea typeface="+mn-ea"/>
            </a:endParaRPr>
          </a:p>
        </p:txBody>
      </p:sp>
    </p:spTree>
    <p:extLst>
      <p:ext uri="{BB962C8B-B14F-4D97-AF65-F5344CB8AC3E}">
        <p14:creationId xmlns:p14="http://schemas.microsoft.com/office/powerpoint/2010/main" val="1773112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24214-C5BB-2B8A-B82C-E63D13EF1D66}"/>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8D1FFFFE-6789-24AE-B26B-189D77E77D04}"/>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2.2.1 </a:t>
            </a:r>
            <a:r>
              <a:rPr lang="zh-CN" altLang="en-US" sz="3600" dirty="0">
                <a:latin typeface="Times New Roman" panose="02020603050405020304" pitchFamily="18" charset="0"/>
                <a:cs typeface="Times New Roman" panose="02020603050405020304" pitchFamily="18" charset="0"/>
              </a:rPr>
              <a:t>基础数据读入</a:t>
            </a:r>
          </a:p>
        </p:txBody>
      </p:sp>
      <p:sp>
        <p:nvSpPr>
          <p:cNvPr id="8" name="灯片编号占位符 7">
            <a:extLst>
              <a:ext uri="{FF2B5EF4-FFF2-40B4-BE49-F238E27FC236}">
                <a16:creationId xmlns:a16="http://schemas.microsoft.com/office/drawing/2014/main" id="{725B81F2-8A75-952A-36E8-94F08680D309}"/>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8</a:t>
            </a:fld>
            <a:endParaRPr lang="zh-CN" altLang="en-US" dirty="0">
              <a:solidFill>
                <a:schemeClr val="bg2">
                  <a:lumMod val="75000"/>
                </a:schemeClr>
              </a:solidFill>
            </a:endParaRPr>
          </a:p>
        </p:txBody>
      </p:sp>
      <p:graphicFrame>
        <p:nvGraphicFramePr>
          <p:cNvPr id="2" name="表格 1">
            <a:extLst>
              <a:ext uri="{FF2B5EF4-FFF2-40B4-BE49-F238E27FC236}">
                <a16:creationId xmlns:a16="http://schemas.microsoft.com/office/drawing/2014/main" id="{075BBAD0-9CA4-9732-34E2-EE2C2CC773EB}"/>
              </a:ext>
            </a:extLst>
          </p:cNvPr>
          <p:cNvGraphicFramePr>
            <a:graphicFrameLocks noGrp="1"/>
          </p:cNvGraphicFramePr>
          <p:nvPr>
            <p:extLst>
              <p:ext uri="{D42A27DB-BD31-4B8C-83A1-F6EECF244321}">
                <p14:modId xmlns:p14="http://schemas.microsoft.com/office/powerpoint/2010/main" val="2154775903"/>
              </p:ext>
            </p:extLst>
          </p:nvPr>
        </p:nvGraphicFramePr>
        <p:xfrm>
          <a:off x="457200" y="1324807"/>
          <a:ext cx="8229600" cy="4521200"/>
        </p:xfrm>
        <a:graphic>
          <a:graphicData uri="http://schemas.openxmlformats.org/drawingml/2006/table">
            <a:tbl>
              <a:tblPr firstRow="1" bandRow="1">
                <a:tableStyleId>{5C22544A-7EE6-4342-B048-85BDC9FD1C3A}</a:tableStyleId>
              </a:tblPr>
              <a:tblGrid>
                <a:gridCol w="2757563">
                  <a:extLst>
                    <a:ext uri="{9D8B030D-6E8A-4147-A177-3AD203B41FA5}">
                      <a16:colId xmlns:a16="http://schemas.microsoft.com/office/drawing/2014/main" val="2581571607"/>
                    </a:ext>
                  </a:extLst>
                </a:gridCol>
                <a:gridCol w="5472037">
                  <a:extLst>
                    <a:ext uri="{9D8B030D-6E8A-4147-A177-3AD203B41FA5}">
                      <a16:colId xmlns:a16="http://schemas.microsoft.com/office/drawing/2014/main" val="1863506659"/>
                    </a:ext>
                  </a:extLst>
                </a:gridCol>
              </a:tblGrid>
              <a:tr h="370840">
                <a:tc>
                  <a:txBody>
                    <a:bodyPr/>
                    <a:lstStyle/>
                    <a:p>
                      <a:pPr algn="ctr"/>
                      <a:r>
                        <a:rPr lang="zh-CN" altLang="en-US" sz="1400" dirty="0"/>
                        <a:t>参数</a:t>
                      </a:r>
                    </a:p>
                  </a:txBody>
                  <a:tcPr anchor="ctr"/>
                </a:tc>
                <a:tc>
                  <a:txBody>
                    <a:bodyPr/>
                    <a:lstStyle/>
                    <a:p>
                      <a:pPr algn="ctr"/>
                      <a:r>
                        <a:rPr lang="zh-CN" altLang="en-US" sz="1400" dirty="0"/>
                        <a:t>描述</a:t>
                      </a:r>
                    </a:p>
                  </a:txBody>
                  <a:tcPr anchor="ctr"/>
                </a:tc>
                <a:extLst>
                  <a:ext uri="{0D108BD9-81ED-4DB2-BD59-A6C34878D82A}">
                    <a16:rowId xmlns:a16="http://schemas.microsoft.com/office/drawing/2014/main" val="1281967884"/>
                  </a:ext>
                </a:extLst>
              </a:tr>
              <a:tr h="370840">
                <a:tc>
                  <a:txBody>
                    <a:bodyPr/>
                    <a:lstStyle/>
                    <a:p>
                      <a:pPr algn="ctr"/>
                      <a:r>
                        <a:rPr lang="en-US" altLang="zh-CN" sz="1400" dirty="0"/>
                        <a:t>quote</a:t>
                      </a:r>
                      <a:endParaRPr lang="zh-CN" altLang="en-US" sz="1400" dirty="0"/>
                    </a:p>
                  </a:txBody>
                  <a:tcPr anchor="ctr"/>
                </a:tc>
                <a:tc>
                  <a:txBody>
                    <a:bodyPr/>
                    <a:lstStyle/>
                    <a:p>
                      <a:pPr algn="ctr"/>
                      <a:r>
                        <a:rPr lang="zh-CN" altLang="en-US" sz="1400" dirty="0"/>
                        <a:t>用于引用字符串的单个字符</a:t>
                      </a:r>
                    </a:p>
                  </a:txBody>
                  <a:tcPr anchor="ctr"/>
                </a:tc>
                <a:extLst>
                  <a:ext uri="{0D108BD9-81ED-4DB2-BD59-A6C34878D82A}">
                    <a16:rowId xmlns:a16="http://schemas.microsoft.com/office/drawing/2014/main" val="356241143"/>
                  </a:ext>
                </a:extLst>
              </a:tr>
              <a:tr h="370840">
                <a:tc>
                  <a:txBody>
                    <a:bodyPr/>
                    <a:lstStyle/>
                    <a:p>
                      <a:pPr algn="ctr"/>
                      <a:r>
                        <a:rPr lang="en-US" altLang="zh-CN" sz="1400" dirty="0"/>
                        <a:t>comment</a:t>
                      </a:r>
                      <a:endParaRPr lang="zh-CN" altLang="en-US" sz="1400" dirty="0"/>
                    </a:p>
                  </a:txBody>
                  <a:tcPr anchor="ctr"/>
                </a:tc>
                <a:tc>
                  <a:txBody>
                    <a:bodyPr/>
                    <a:lstStyle/>
                    <a:p>
                      <a:pPr algn="ctr"/>
                      <a:r>
                        <a:rPr lang="zh-CN" altLang="en-US" sz="1400" kern="1200" dirty="0">
                          <a:solidFill>
                            <a:schemeClr val="dk1"/>
                          </a:solidFill>
                          <a:effectLst/>
                          <a:latin typeface="+mn-lt"/>
                          <a:ea typeface="+mn-ea"/>
                          <a:cs typeface="+mn-cs"/>
                        </a:rPr>
                        <a:t>字符串型参数；用于指定注释字符，位于注释字符后的字符都会被忽略</a:t>
                      </a:r>
                      <a:endParaRPr lang="zh-CN" altLang="en-US" sz="1400" dirty="0"/>
                    </a:p>
                  </a:txBody>
                  <a:tcPr anchor="ctr"/>
                </a:tc>
                <a:extLst>
                  <a:ext uri="{0D108BD9-81ED-4DB2-BD59-A6C34878D82A}">
                    <a16:rowId xmlns:a16="http://schemas.microsoft.com/office/drawing/2014/main" val="3766120750"/>
                  </a:ext>
                </a:extLst>
              </a:tr>
              <a:tr h="370840">
                <a:tc>
                  <a:txBody>
                    <a:bodyPr/>
                    <a:lstStyle/>
                    <a:p>
                      <a:pPr algn="ctr"/>
                      <a:r>
                        <a:rPr lang="en-US" altLang="zh-CN" sz="1400" i="0" kern="1200" dirty="0" err="1">
                          <a:solidFill>
                            <a:schemeClr val="dk1"/>
                          </a:solidFill>
                          <a:effectLst/>
                          <a:latin typeface="+mn-lt"/>
                          <a:ea typeface="+mn-ea"/>
                          <a:cs typeface="+mn-cs"/>
                        </a:rPr>
                        <a:t>trim_ws</a:t>
                      </a:r>
                      <a:endParaRPr lang="zh-CN" altLang="en-US" sz="1400" i="0" dirty="0"/>
                    </a:p>
                  </a:txBody>
                  <a:tcPr anchor="ctr"/>
                </a:tc>
                <a:tc>
                  <a:txBody>
                    <a:bodyPr/>
                    <a:lstStyle/>
                    <a:p>
                      <a:pPr algn="ctr"/>
                      <a:r>
                        <a:rPr lang="zh-CN" altLang="en-US" sz="1400" kern="1200" dirty="0">
                          <a:solidFill>
                            <a:schemeClr val="dk1"/>
                          </a:solidFill>
                          <a:effectLst/>
                          <a:latin typeface="+mn-lt"/>
                          <a:ea typeface="+mn-ea"/>
                          <a:cs typeface="+mn-cs"/>
                        </a:rPr>
                        <a:t>逻辑型参数；指定是否需要去除首尾空格</a:t>
                      </a:r>
                      <a:endParaRPr lang="zh-CN" altLang="en-US" sz="1400" dirty="0"/>
                    </a:p>
                  </a:txBody>
                  <a:tcPr anchor="ctr"/>
                </a:tc>
                <a:extLst>
                  <a:ext uri="{0D108BD9-81ED-4DB2-BD59-A6C34878D82A}">
                    <a16:rowId xmlns:a16="http://schemas.microsoft.com/office/drawing/2014/main" val="658107258"/>
                  </a:ext>
                </a:extLst>
              </a:tr>
              <a:tr h="370840">
                <a:tc>
                  <a:txBody>
                    <a:bodyPr/>
                    <a:lstStyle/>
                    <a:p>
                      <a:pPr algn="ctr"/>
                      <a:r>
                        <a:rPr lang="en-US" altLang="zh-CN" sz="1400" dirty="0"/>
                        <a:t>skip</a:t>
                      </a:r>
                      <a:endParaRPr lang="zh-CN" altLang="en-US" sz="1400" dirty="0"/>
                    </a:p>
                  </a:txBody>
                  <a:tcPr anchor="ctr"/>
                </a:tc>
                <a:tc>
                  <a:txBody>
                    <a:bodyPr/>
                    <a:lstStyle/>
                    <a:p>
                      <a:pPr algn="ctr"/>
                      <a:r>
                        <a:rPr lang="zh-CN" altLang="en-US" sz="1400" dirty="0"/>
                        <a:t>整型参数；指定被跳过的行数</a:t>
                      </a:r>
                    </a:p>
                  </a:txBody>
                  <a:tcPr anchor="ctr"/>
                </a:tc>
                <a:extLst>
                  <a:ext uri="{0D108BD9-81ED-4DB2-BD59-A6C34878D82A}">
                    <a16:rowId xmlns:a16="http://schemas.microsoft.com/office/drawing/2014/main" val="393759726"/>
                  </a:ext>
                </a:extLst>
              </a:tr>
              <a:tr h="370840">
                <a:tc>
                  <a:txBody>
                    <a:bodyPr/>
                    <a:lstStyle/>
                    <a:p>
                      <a:pPr algn="ctr"/>
                      <a:r>
                        <a:rPr lang="en-US" altLang="zh-CN" sz="1400" dirty="0" err="1"/>
                        <a:t>n_max</a:t>
                      </a:r>
                      <a:endParaRPr lang="zh-CN" altLang="en-US" sz="1400" dirty="0"/>
                    </a:p>
                  </a:txBody>
                  <a:tcPr anchor="ctr"/>
                </a:tc>
                <a:tc>
                  <a:txBody>
                    <a:bodyPr/>
                    <a:lstStyle/>
                    <a:p>
                      <a:pPr algn="ctr"/>
                      <a:r>
                        <a:rPr lang="zh-CN" altLang="en-US" sz="1400" kern="1200" dirty="0">
                          <a:solidFill>
                            <a:schemeClr val="dk1"/>
                          </a:solidFill>
                          <a:effectLst/>
                          <a:latin typeface="+mn-lt"/>
                          <a:ea typeface="+mn-ea"/>
                          <a:cs typeface="+mn-cs"/>
                        </a:rPr>
                        <a:t>整型参数；指定读取的最大记录数</a:t>
                      </a:r>
                      <a:endParaRPr lang="zh-CN" altLang="en-US" sz="1400" dirty="0"/>
                    </a:p>
                  </a:txBody>
                  <a:tcPr anchor="ctr"/>
                </a:tc>
                <a:extLst>
                  <a:ext uri="{0D108BD9-81ED-4DB2-BD59-A6C34878D82A}">
                    <a16:rowId xmlns:a16="http://schemas.microsoft.com/office/drawing/2014/main" val="1274908354"/>
                  </a:ext>
                </a:extLst>
              </a:tr>
              <a:tr h="370840">
                <a:tc>
                  <a:txBody>
                    <a:bodyPr/>
                    <a:lstStyle/>
                    <a:p>
                      <a:pPr algn="ctr"/>
                      <a:r>
                        <a:rPr lang="en-US" altLang="zh-CN" sz="1400" dirty="0" err="1"/>
                        <a:t>guess_max</a:t>
                      </a:r>
                      <a:endParaRPr lang="zh-CN" altLang="en-US" sz="1400" dirty="0"/>
                    </a:p>
                  </a:txBody>
                  <a:tcPr anchor="ctr"/>
                </a:tc>
                <a:tc>
                  <a:txBody>
                    <a:bodyPr/>
                    <a:lstStyle/>
                    <a:p>
                      <a:pPr algn="ctr"/>
                      <a:r>
                        <a:rPr lang="zh-CN" altLang="en-US" sz="1400" dirty="0"/>
                        <a:t>整型参数；用于猜测列数据类型的最大记录数</a:t>
                      </a:r>
                    </a:p>
                  </a:txBody>
                  <a:tcPr anchor="ctr"/>
                </a:tc>
                <a:extLst>
                  <a:ext uri="{0D108BD9-81ED-4DB2-BD59-A6C34878D82A}">
                    <a16:rowId xmlns:a16="http://schemas.microsoft.com/office/drawing/2014/main" val="2557768521"/>
                  </a:ext>
                </a:extLst>
              </a:tr>
              <a:tr h="370840">
                <a:tc>
                  <a:txBody>
                    <a:bodyPr/>
                    <a:lstStyle/>
                    <a:p>
                      <a:pPr algn="ctr"/>
                      <a:r>
                        <a:rPr lang="en-US" altLang="zh-CN" sz="1400" dirty="0"/>
                        <a:t>progress</a:t>
                      </a:r>
                      <a:endParaRPr lang="zh-CN" altLang="en-US" sz="1400" dirty="0"/>
                    </a:p>
                  </a:txBody>
                  <a:tcPr anchor="ctr"/>
                </a:tc>
                <a:tc>
                  <a:txBody>
                    <a:bodyPr/>
                    <a:lstStyle/>
                    <a:p>
                      <a:pPr algn="ctr"/>
                      <a:r>
                        <a:rPr lang="zh-CN" altLang="en-US" sz="1400" dirty="0"/>
                        <a:t>逻辑型参数；指定是否显示进度条</a:t>
                      </a:r>
                    </a:p>
                  </a:txBody>
                  <a:tcPr anchor="ctr"/>
                </a:tc>
                <a:extLst>
                  <a:ext uri="{0D108BD9-81ED-4DB2-BD59-A6C34878D82A}">
                    <a16:rowId xmlns:a16="http://schemas.microsoft.com/office/drawing/2014/main" val="1501278"/>
                  </a:ext>
                </a:extLst>
              </a:tr>
              <a:tr h="370840">
                <a:tc>
                  <a:txBody>
                    <a:bodyPr/>
                    <a:lstStyle/>
                    <a:p>
                      <a:pPr algn="ctr"/>
                      <a:r>
                        <a:rPr lang="en-US" altLang="zh-CN" sz="1400" dirty="0"/>
                        <a:t>path</a:t>
                      </a:r>
                      <a:endParaRPr lang="zh-CN" altLang="en-US" sz="1400" dirty="0"/>
                    </a:p>
                  </a:txBody>
                  <a:tcPr anchor="ctr"/>
                </a:tc>
                <a:tc>
                  <a:txBody>
                    <a:bodyPr/>
                    <a:lstStyle/>
                    <a:p>
                      <a:pPr algn="ctr"/>
                      <a:r>
                        <a:rPr lang="zh-CN" altLang="en-US" sz="1400" dirty="0"/>
                        <a:t>字符串型参数；只针对</a:t>
                      </a:r>
                      <a:r>
                        <a:rPr lang="en-US" altLang="zh-CN" sz="1400" b="1" i="1" dirty="0" err="1"/>
                        <a:t>read_excel</a:t>
                      </a:r>
                      <a:r>
                        <a:rPr lang="zh-CN" altLang="en-US" sz="1400" dirty="0"/>
                        <a:t>函数，表示</a:t>
                      </a:r>
                      <a:r>
                        <a:rPr lang="en-US" altLang="zh-CN" sz="1400" dirty="0" err="1"/>
                        <a:t>xls</a:t>
                      </a:r>
                      <a:r>
                        <a:rPr lang="en-US" altLang="zh-CN" sz="1400" dirty="0"/>
                        <a:t>/xlsx</a:t>
                      </a:r>
                      <a:r>
                        <a:rPr lang="zh-CN" altLang="en-US" sz="1400" dirty="0"/>
                        <a:t>文件路径</a:t>
                      </a:r>
                    </a:p>
                  </a:txBody>
                  <a:tcPr anchor="ctr"/>
                </a:tc>
                <a:extLst>
                  <a:ext uri="{0D108BD9-81ED-4DB2-BD59-A6C34878D82A}">
                    <a16:rowId xmlns:a16="http://schemas.microsoft.com/office/drawing/2014/main" val="2091944846"/>
                  </a:ext>
                </a:extLst>
              </a:tr>
              <a:tr h="370840">
                <a:tc>
                  <a:txBody>
                    <a:bodyPr/>
                    <a:lstStyle/>
                    <a:p>
                      <a:pPr algn="ctr"/>
                      <a:r>
                        <a:rPr lang="en-US" altLang="zh-CN" sz="1400" dirty="0"/>
                        <a:t>sheet</a:t>
                      </a:r>
                      <a:endParaRPr lang="zh-CN" altLang="en-US" sz="1400" dirty="0"/>
                    </a:p>
                  </a:txBody>
                  <a:tcPr anchor="ctr"/>
                </a:tc>
                <a:tc>
                  <a:txBody>
                    <a:bodyPr/>
                    <a:lstStyle/>
                    <a:p>
                      <a:pPr algn="ctr"/>
                      <a:r>
                        <a:rPr lang="zh-CN" altLang="en-US" sz="1400" dirty="0"/>
                        <a:t>字符串型或整型参数；只针对</a:t>
                      </a:r>
                      <a:r>
                        <a:rPr lang="en-US" altLang="zh-CN" sz="1400" b="1" i="1" dirty="0" err="1"/>
                        <a:t>read_excel</a:t>
                      </a:r>
                      <a:r>
                        <a:rPr lang="zh-CN" altLang="en-US" sz="1400" dirty="0"/>
                        <a:t>函数，指定表名或者表的位置</a:t>
                      </a:r>
                    </a:p>
                  </a:txBody>
                  <a:tcPr anchor="ctr"/>
                </a:tc>
                <a:extLst>
                  <a:ext uri="{0D108BD9-81ED-4DB2-BD59-A6C34878D82A}">
                    <a16:rowId xmlns:a16="http://schemas.microsoft.com/office/drawing/2014/main" val="132109816"/>
                  </a:ext>
                </a:extLst>
              </a:tr>
              <a:tr h="370840">
                <a:tc>
                  <a:txBody>
                    <a:bodyPr/>
                    <a:lstStyle/>
                    <a:p>
                      <a:pPr algn="ctr"/>
                      <a:r>
                        <a:rPr lang="en-US" altLang="zh-CN" sz="1400" dirty="0"/>
                        <a:t>range</a:t>
                      </a:r>
                      <a:endParaRPr lang="zh-CN" altLang="en-US" sz="1400" dirty="0"/>
                    </a:p>
                  </a:txBody>
                  <a:tcPr anchor="ctr"/>
                </a:tc>
                <a:tc>
                  <a:txBody>
                    <a:bodyPr/>
                    <a:lstStyle/>
                    <a:p>
                      <a:pPr algn="ctr"/>
                      <a:r>
                        <a:rPr lang="zh-CN" altLang="en-US" sz="1400" dirty="0"/>
                        <a:t>字符串型参数；只针对</a:t>
                      </a:r>
                      <a:r>
                        <a:rPr lang="en-US" altLang="zh-CN" sz="1400" b="1" i="1" dirty="0" err="1"/>
                        <a:t>read_excel</a:t>
                      </a:r>
                      <a:r>
                        <a:rPr lang="zh-CN" altLang="en-US" sz="1400" dirty="0"/>
                        <a:t>函数，指定需要读入的数据的格子范围</a:t>
                      </a:r>
                    </a:p>
                  </a:txBody>
                  <a:tcPr anchor="ctr"/>
                </a:tc>
                <a:extLst>
                  <a:ext uri="{0D108BD9-81ED-4DB2-BD59-A6C34878D82A}">
                    <a16:rowId xmlns:a16="http://schemas.microsoft.com/office/drawing/2014/main" val="1620977934"/>
                  </a:ext>
                </a:extLst>
              </a:tr>
            </a:tbl>
          </a:graphicData>
        </a:graphic>
      </p:graphicFrame>
      <p:sp>
        <p:nvSpPr>
          <p:cNvPr id="3" name="文本框 2">
            <a:extLst>
              <a:ext uri="{FF2B5EF4-FFF2-40B4-BE49-F238E27FC236}">
                <a16:creationId xmlns:a16="http://schemas.microsoft.com/office/drawing/2014/main" id="{B2393E90-91AD-01AF-5693-C4EEFDA44BF9}"/>
              </a:ext>
            </a:extLst>
          </p:cNvPr>
          <p:cNvSpPr txBox="1"/>
          <p:nvPr/>
        </p:nvSpPr>
        <p:spPr>
          <a:xfrm>
            <a:off x="857250" y="5981700"/>
            <a:ext cx="7429500" cy="307777"/>
          </a:xfrm>
          <a:prstGeom prst="rect">
            <a:avLst/>
          </a:prstGeom>
          <a:noFill/>
        </p:spPr>
        <p:txBody>
          <a:bodyPr wrap="square">
            <a:spAutoFit/>
          </a:bodyPr>
          <a:lstStyle/>
          <a:p>
            <a:pPr algn="ctr"/>
            <a:r>
              <a:rPr lang="zh-CN" altLang="zh-CN" sz="1400" dirty="0">
                <a:effectLst/>
                <a:latin typeface="+mn-ea"/>
                <a:ea typeface="+mn-ea"/>
                <a:cs typeface="Times New Roman" panose="02020603050405020304" pitchFamily="18" charset="0"/>
              </a:rPr>
              <a:t>空间数据读取函数参数表</a:t>
            </a:r>
            <a:r>
              <a:rPr lang="zh-CN" altLang="en-US" sz="1400" dirty="0">
                <a:effectLst/>
                <a:latin typeface="+mn-ea"/>
                <a:ea typeface="+mn-ea"/>
                <a:cs typeface="Times New Roman" panose="02020603050405020304" pitchFamily="18" charset="0"/>
              </a:rPr>
              <a:t>（续表）</a:t>
            </a:r>
            <a:endParaRPr lang="zh-CN" altLang="en-US" sz="1400" dirty="0">
              <a:latin typeface="+mn-ea"/>
              <a:ea typeface="+mn-ea"/>
            </a:endParaRPr>
          </a:p>
        </p:txBody>
      </p:sp>
    </p:spTree>
    <p:extLst>
      <p:ext uri="{BB962C8B-B14F-4D97-AF65-F5344CB8AC3E}">
        <p14:creationId xmlns:p14="http://schemas.microsoft.com/office/powerpoint/2010/main" val="3257349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036D6-AC77-2D82-96BD-CD67411D993C}"/>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360C1C44-0E87-DEB5-5111-025FF4B5B8A5}"/>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2.2.1 </a:t>
            </a:r>
            <a:r>
              <a:rPr lang="zh-CN" altLang="en-US" sz="3600" dirty="0">
                <a:latin typeface="Times New Roman" panose="02020603050405020304" pitchFamily="18" charset="0"/>
                <a:cs typeface="Times New Roman" panose="02020603050405020304" pitchFamily="18" charset="0"/>
              </a:rPr>
              <a:t>基础数据读入</a:t>
            </a:r>
          </a:p>
        </p:txBody>
      </p:sp>
      <p:sp>
        <p:nvSpPr>
          <p:cNvPr id="8" name="灯片编号占位符 7">
            <a:extLst>
              <a:ext uri="{FF2B5EF4-FFF2-40B4-BE49-F238E27FC236}">
                <a16:creationId xmlns:a16="http://schemas.microsoft.com/office/drawing/2014/main" id="{0A9A257E-F247-033E-53F1-E96912B26429}"/>
              </a:ext>
            </a:extLst>
          </p:cNvPr>
          <p:cNvSpPr>
            <a:spLocks noGrp="1"/>
          </p:cNvSpPr>
          <p:nvPr>
            <p:ph type="sldNum" sz="quarter" idx="12"/>
          </p:nvPr>
        </p:nvSpPr>
        <p:spPr>
          <a:prstGeom prst="rect">
            <a:avLst/>
          </a:prstGeom>
        </p:spPr>
        <p:txBody>
          <a:bodyPr/>
          <a:lstStyle/>
          <a:p>
            <a:pPr>
              <a:defRPr/>
            </a:pPr>
            <a:fld id="{6B3369F9-03CD-4B48-86A9-9EE39A82955A}" type="slidenum">
              <a:rPr lang="zh-CN" altLang="en-US" smtClean="0">
                <a:solidFill>
                  <a:schemeClr val="bg2">
                    <a:lumMod val="75000"/>
                  </a:schemeClr>
                </a:solidFill>
              </a:rPr>
              <a:t>9</a:t>
            </a:fld>
            <a:endParaRPr lang="zh-CN" altLang="en-US" dirty="0">
              <a:solidFill>
                <a:schemeClr val="bg2">
                  <a:lumMod val="75000"/>
                </a:schemeClr>
              </a:solidFill>
            </a:endParaRPr>
          </a:p>
        </p:txBody>
      </p:sp>
      <p:sp>
        <p:nvSpPr>
          <p:cNvPr id="2" name="矩形 1">
            <a:extLst>
              <a:ext uri="{FF2B5EF4-FFF2-40B4-BE49-F238E27FC236}">
                <a16:creationId xmlns:a16="http://schemas.microsoft.com/office/drawing/2014/main" id="{088ED98C-114D-A716-7E3E-5AFED4F5C50D}"/>
              </a:ext>
            </a:extLst>
          </p:cNvPr>
          <p:cNvSpPr/>
          <p:nvPr/>
        </p:nvSpPr>
        <p:spPr>
          <a:xfrm>
            <a:off x="212725" y="1295400"/>
            <a:ext cx="8718550" cy="437940"/>
          </a:xfrm>
          <a:prstGeom prst="rect">
            <a:avLst/>
          </a:prstGeom>
        </p:spPr>
        <p:txBody>
          <a:bodyPr wrap="square">
            <a:spAutoFit/>
          </a:bodyPr>
          <a:lstStyle/>
          <a:p>
            <a:pPr marL="285750" indent="457200" algn="just">
              <a:lnSpc>
                <a:spcPct val="140000"/>
              </a:lnSpc>
              <a:buFont typeface="Wingdings" panose="05000000000000000000" pitchFamily="2" charset="2"/>
              <a:buChar char="ü"/>
            </a:pPr>
            <a:r>
              <a:rPr lang="zh-CN" altLang="en-US" dirty="0">
                <a:latin typeface="+mj-lt"/>
                <a:ea typeface="微软雅黑" panose="020B0503020204020204" pitchFamily="34" charset="-122"/>
                <a:sym typeface="Consolas" panose="020B0609020204030204" pitchFamily="49" charset="0"/>
              </a:rPr>
              <a:t>将示例数据移动到工作目录下，读入</a:t>
            </a:r>
            <a:r>
              <a:rPr lang="en-US" altLang="zh-CN" dirty="0">
                <a:latin typeface="+mj-lt"/>
                <a:ea typeface="微软雅黑" panose="020B0503020204020204" pitchFamily="34" charset="-122"/>
                <a:sym typeface="Consolas" panose="020B0609020204030204" pitchFamily="49" charset="0"/>
              </a:rPr>
              <a:t>comp.csv</a:t>
            </a:r>
            <a:r>
              <a:rPr lang="zh-CN" altLang="en-US" dirty="0">
                <a:latin typeface="+mj-lt"/>
                <a:ea typeface="微软雅黑" panose="020B0503020204020204" pitchFamily="34" charset="-122"/>
                <a:sym typeface="Consolas" panose="020B0609020204030204" pitchFamily="49" charset="0"/>
              </a:rPr>
              <a:t>和</a:t>
            </a:r>
            <a:r>
              <a:rPr lang="en-US" altLang="zh-CN" dirty="0">
                <a:latin typeface="+mj-lt"/>
                <a:ea typeface="微软雅黑" panose="020B0503020204020204" pitchFamily="34" charset="-122"/>
                <a:sym typeface="Consolas" panose="020B0609020204030204" pitchFamily="49" charset="0"/>
              </a:rPr>
              <a:t>comp.xlsx</a:t>
            </a:r>
            <a:r>
              <a:rPr lang="zh-CN" altLang="en-US" dirty="0">
                <a:latin typeface="+mj-lt"/>
                <a:ea typeface="微软雅黑" panose="020B0503020204020204" pitchFamily="34" charset="-122"/>
                <a:sym typeface="Consolas" panose="020B0609020204030204" pitchFamily="49" charset="0"/>
              </a:rPr>
              <a:t>：</a:t>
            </a:r>
            <a:endParaRPr lang="en-US" altLang="zh-CN" dirty="0">
              <a:latin typeface="+mj-lt"/>
              <a:ea typeface="微软雅黑" panose="020B0503020204020204" pitchFamily="34" charset="-122"/>
              <a:sym typeface="Consolas" panose="020B0609020204030204" pitchFamily="49" charset="0"/>
            </a:endParaRPr>
          </a:p>
        </p:txBody>
      </p:sp>
      <p:sp>
        <p:nvSpPr>
          <p:cNvPr id="5" name="文本框 4">
            <a:extLst>
              <a:ext uri="{FF2B5EF4-FFF2-40B4-BE49-F238E27FC236}">
                <a16:creationId xmlns:a16="http://schemas.microsoft.com/office/drawing/2014/main" id="{43FC91F4-1B95-1192-61A0-2CBA04C43E45}"/>
              </a:ext>
            </a:extLst>
          </p:cNvPr>
          <p:cNvSpPr txBox="1"/>
          <p:nvPr/>
        </p:nvSpPr>
        <p:spPr>
          <a:xfrm>
            <a:off x="838200" y="1733340"/>
            <a:ext cx="7429500" cy="1754326"/>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cp&lt;-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read_delim</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"comp.csv"</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cp.csv&lt;-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read_csv</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"comp.csv"</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summary(cp.csv)</a:t>
            </a:r>
            <a:endParaRPr lang="zh-CN" altLang="zh-CN" sz="1800" dirty="0">
              <a:effectLst/>
              <a:latin typeface="Times New Roman" panose="02020603050405020304" pitchFamily="18" charset="0"/>
              <a:ea typeface="宋体" panose="02010600030101010101" pitchFamily="2" charset="-122"/>
            </a:endParaRPr>
          </a:p>
          <a:p>
            <a:pPr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spec(cp.csv)</a:t>
            </a:r>
            <a:endParaRPr lang="zh-CN" altLang="zh-CN" sz="1800" dirty="0">
              <a:effectLst/>
              <a:latin typeface="Times New Roman" panose="02020603050405020304" pitchFamily="18" charset="0"/>
              <a:ea typeface="宋体" panose="02010600030101010101" pitchFamily="2" charset="-122"/>
            </a:endParaRPr>
          </a:p>
          <a:p>
            <a:pPr algn="l">
              <a:buNone/>
            </a:pP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cp.xl</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read_excel</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"comp.xlsx"</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summary(</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cp.xl</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p:txBody>
      </p:sp>
      <p:pic>
        <p:nvPicPr>
          <p:cNvPr id="3" name="图片 2">
            <a:extLst>
              <a:ext uri="{FF2B5EF4-FFF2-40B4-BE49-F238E27FC236}">
                <a16:creationId xmlns:a16="http://schemas.microsoft.com/office/drawing/2014/main" id="{CCFE3770-409D-DE08-CE59-C8D749933D0A}"/>
              </a:ext>
            </a:extLst>
          </p:cNvPr>
          <p:cNvPicPr>
            <a:picLocks noChangeAspect="1"/>
          </p:cNvPicPr>
          <p:nvPr/>
        </p:nvPicPr>
        <p:blipFill>
          <a:blip r:embed="rId2"/>
          <a:stretch>
            <a:fillRect/>
          </a:stretch>
        </p:blipFill>
        <p:spPr>
          <a:xfrm>
            <a:off x="212725" y="3637280"/>
            <a:ext cx="5274310" cy="1925320"/>
          </a:xfrm>
          <a:prstGeom prst="rect">
            <a:avLst/>
          </a:prstGeom>
          <a:ln>
            <a:noFill/>
          </a:ln>
          <a:effectLst>
            <a:outerShdw blurRad="190500" algn="tl" rotWithShape="0">
              <a:srgbClr val="000000">
                <a:alpha val="70000"/>
              </a:srgbClr>
            </a:outerShdw>
          </a:effectLst>
        </p:spPr>
      </p:pic>
      <p:pic>
        <p:nvPicPr>
          <p:cNvPr id="4" name="图片 3">
            <a:extLst>
              <a:ext uri="{FF2B5EF4-FFF2-40B4-BE49-F238E27FC236}">
                <a16:creationId xmlns:a16="http://schemas.microsoft.com/office/drawing/2014/main" id="{D7C11652-562F-2A7D-ED69-A25B13F7B5C3}"/>
              </a:ext>
            </a:extLst>
          </p:cNvPr>
          <p:cNvPicPr>
            <a:picLocks noChangeAspect="1"/>
          </p:cNvPicPr>
          <p:nvPr/>
        </p:nvPicPr>
        <p:blipFill>
          <a:blip r:embed="rId3"/>
          <a:stretch>
            <a:fillRect/>
          </a:stretch>
        </p:blipFill>
        <p:spPr>
          <a:xfrm>
            <a:off x="6210300" y="3637280"/>
            <a:ext cx="2583180" cy="1813560"/>
          </a:xfrm>
          <a:prstGeom prst="rect">
            <a:avLst/>
          </a:prstGeom>
          <a:ln>
            <a:noFill/>
          </a:ln>
          <a:effectLst>
            <a:outerShdw blurRad="190500" algn="tl" rotWithShape="0">
              <a:srgbClr val="000000">
                <a:alpha val="70000"/>
              </a:srgbClr>
            </a:outerShdw>
          </a:effectLst>
        </p:spPr>
      </p:pic>
      <p:sp>
        <p:nvSpPr>
          <p:cNvPr id="9" name="文本框 8">
            <a:extLst>
              <a:ext uri="{FF2B5EF4-FFF2-40B4-BE49-F238E27FC236}">
                <a16:creationId xmlns:a16="http://schemas.microsoft.com/office/drawing/2014/main" id="{269EBC95-9360-17A9-FBFD-C82E61EED9F5}"/>
              </a:ext>
            </a:extLst>
          </p:cNvPr>
          <p:cNvSpPr txBox="1"/>
          <p:nvPr/>
        </p:nvSpPr>
        <p:spPr>
          <a:xfrm>
            <a:off x="1409700" y="5638800"/>
            <a:ext cx="2236787" cy="307777"/>
          </a:xfrm>
          <a:prstGeom prst="rect">
            <a:avLst/>
          </a:prstGeom>
          <a:noFill/>
        </p:spPr>
        <p:txBody>
          <a:bodyPr wrap="square">
            <a:spAutoFit/>
          </a:bodyPr>
          <a:lstStyle/>
          <a:p>
            <a:pPr algn="ctr"/>
            <a:r>
              <a:rPr lang="en-US" altLang="zh-CN" sz="1400" dirty="0" err="1">
                <a:effectLst/>
                <a:latin typeface="+mn-lt"/>
                <a:ea typeface="+mn-ea"/>
              </a:rPr>
              <a:t>cp.csv</a:t>
            </a:r>
            <a:r>
              <a:rPr lang="en-US" altLang="zh-CN" sz="1400" dirty="0" err="1">
                <a:effectLst/>
                <a:latin typeface="+mn-lt"/>
                <a:ea typeface="+mn-ea"/>
                <a:cs typeface="Times New Roman" panose="02020603050405020304" pitchFamily="18" charset="0"/>
              </a:rPr>
              <a:t>数据对象概览</a:t>
            </a:r>
            <a:endParaRPr lang="zh-CN" altLang="en-US" sz="1400" dirty="0">
              <a:latin typeface="+mn-lt"/>
              <a:ea typeface="+mn-ea"/>
            </a:endParaRPr>
          </a:p>
        </p:txBody>
      </p:sp>
      <p:sp>
        <p:nvSpPr>
          <p:cNvPr id="10" name="文本框 9">
            <a:extLst>
              <a:ext uri="{FF2B5EF4-FFF2-40B4-BE49-F238E27FC236}">
                <a16:creationId xmlns:a16="http://schemas.microsoft.com/office/drawing/2014/main" id="{88EA0394-FFC2-A9AD-4843-BA4BDF5B171F}"/>
              </a:ext>
            </a:extLst>
          </p:cNvPr>
          <p:cNvSpPr txBox="1"/>
          <p:nvPr/>
        </p:nvSpPr>
        <p:spPr>
          <a:xfrm>
            <a:off x="6229350" y="5581404"/>
            <a:ext cx="2236787" cy="307777"/>
          </a:xfrm>
          <a:prstGeom prst="rect">
            <a:avLst/>
          </a:prstGeom>
          <a:noFill/>
        </p:spPr>
        <p:txBody>
          <a:bodyPr wrap="square">
            <a:spAutoFit/>
          </a:bodyPr>
          <a:lstStyle/>
          <a:p>
            <a:pPr algn="ctr"/>
            <a:r>
              <a:rPr lang="en-US" altLang="zh-CN" sz="1400" dirty="0">
                <a:effectLst/>
                <a:latin typeface="+mn-lt"/>
                <a:ea typeface="+mn-ea"/>
              </a:rPr>
              <a:t>cp.csv</a:t>
            </a:r>
            <a:r>
              <a:rPr lang="zh-CN" altLang="en-US" sz="1400" dirty="0">
                <a:effectLst/>
                <a:latin typeface="+mn-lt"/>
                <a:ea typeface="+mn-ea"/>
              </a:rPr>
              <a:t>列信息概览</a:t>
            </a:r>
            <a:endParaRPr lang="zh-CN" altLang="en-US" sz="1400" dirty="0">
              <a:latin typeface="+mn-lt"/>
              <a:ea typeface="+mn-ea"/>
            </a:endParaRPr>
          </a:p>
        </p:txBody>
      </p:sp>
    </p:spTree>
    <p:extLst>
      <p:ext uri="{BB962C8B-B14F-4D97-AF65-F5344CB8AC3E}">
        <p14:creationId xmlns:p14="http://schemas.microsoft.com/office/powerpoint/2010/main" val="2115499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04705-990C-3175-8A61-ACA1FC355DBE}"/>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CE45D5DE-7221-7874-E898-C1ABA2A67343}"/>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2.2.1 </a:t>
            </a:r>
            <a:r>
              <a:rPr lang="zh-CN" altLang="en-US" sz="3600" dirty="0">
                <a:latin typeface="Times New Roman" panose="02020603050405020304" pitchFamily="18" charset="0"/>
                <a:cs typeface="Times New Roman" panose="02020603050405020304" pitchFamily="18" charset="0"/>
              </a:rPr>
              <a:t>基础数据读入</a:t>
            </a:r>
          </a:p>
        </p:txBody>
      </p:sp>
      <p:sp>
        <p:nvSpPr>
          <p:cNvPr id="8" name="灯片编号占位符 7">
            <a:extLst>
              <a:ext uri="{FF2B5EF4-FFF2-40B4-BE49-F238E27FC236}">
                <a16:creationId xmlns:a16="http://schemas.microsoft.com/office/drawing/2014/main" id="{F6721B75-C9B2-BD98-3C6D-72FC152DFA1D}"/>
              </a:ext>
            </a:extLst>
          </p:cNvPr>
          <p:cNvSpPr>
            <a:spLocks noGrp="1"/>
          </p:cNvSpPr>
          <p:nvPr>
            <p:ph type="sldNum" sz="quarter" idx="12"/>
          </p:nvPr>
        </p:nvSpPr>
        <p:spPr>
          <a:prstGeom prst="rect">
            <a:avLst/>
          </a:prstGeom>
        </p:spPr>
        <p:txBody>
          <a:bodyPr/>
          <a:lstStyle/>
          <a:p>
            <a:pPr>
              <a:defRPr/>
            </a:pPr>
            <a:fld id="{6B3369F9-03CD-4B48-86A9-9EE39A82955A}" type="slidenum">
              <a:rPr lang="zh-CN" altLang="en-US" smtClean="0">
                <a:solidFill>
                  <a:schemeClr val="bg2">
                    <a:lumMod val="75000"/>
                  </a:schemeClr>
                </a:solidFill>
              </a:rPr>
              <a:t>10</a:t>
            </a:fld>
            <a:endParaRPr lang="zh-CN" altLang="en-US" dirty="0">
              <a:solidFill>
                <a:schemeClr val="bg2">
                  <a:lumMod val="75000"/>
                </a:schemeClr>
              </a:solidFill>
            </a:endParaRPr>
          </a:p>
        </p:txBody>
      </p:sp>
      <p:sp>
        <p:nvSpPr>
          <p:cNvPr id="2" name="矩形 1">
            <a:extLst>
              <a:ext uri="{FF2B5EF4-FFF2-40B4-BE49-F238E27FC236}">
                <a16:creationId xmlns:a16="http://schemas.microsoft.com/office/drawing/2014/main" id="{3354D9C2-C068-DDC4-9522-EA1E457E6C0D}"/>
              </a:ext>
            </a:extLst>
          </p:cNvPr>
          <p:cNvSpPr/>
          <p:nvPr/>
        </p:nvSpPr>
        <p:spPr>
          <a:xfrm>
            <a:off x="495300" y="1822977"/>
            <a:ext cx="7788275" cy="825739"/>
          </a:xfrm>
          <a:prstGeom prst="rect">
            <a:avLst/>
          </a:prstGeom>
        </p:spPr>
        <p:txBody>
          <a:bodyPr wrap="square">
            <a:spAutoFit/>
          </a:bodyPr>
          <a:lstStyle/>
          <a:p>
            <a:pPr marL="285750" indent="457200" algn="just">
              <a:lnSpc>
                <a:spcPct val="140000"/>
              </a:lnSpc>
              <a:buFont typeface="Wingdings" panose="05000000000000000000" pitchFamily="2" charset="2"/>
              <a:buChar char="ü"/>
            </a:pPr>
            <a:r>
              <a:rPr lang="zh-CN" altLang="en-US" dirty="0">
                <a:latin typeface="+mj-lt"/>
                <a:ea typeface="微软雅黑" panose="020B0503020204020204" pitchFamily="34" charset="-122"/>
                <a:sym typeface="Consolas" panose="020B0609020204030204" pitchFamily="49" charset="0"/>
              </a:rPr>
              <a:t>与</a:t>
            </a:r>
            <a:r>
              <a:rPr lang="en-US" altLang="zh-CN" b="1" dirty="0">
                <a:latin typeface="+mj-lt"/>
                <a:ea typeface="微软雅黑" panose="020B0503020204020204" pitchFamily="34" charset="-122"/>
                <a:sym typeface="Consolas" panose="020B0609020204030204" pitchFamily="49" charset="0"/>
              </a:rPr>
              <a:t>R</a:t>
            </a:r>
            <a:r>
              <a:rPr lang="zh-CN" altLang="en-US" dirty="0">
                <a:latin typeface="+mj-lt"/>
                <a:ea typeface="微软雅黑" panose="020B0503020204020204" pitchFamily="34" charset="-122"/>
                <a:sym typeface="Consolas" panose="020B0609020204030204" pitchFamily="49" charset="0"/>
              </a:rPr>
              <a:t>自带的数据读入函数对比，可以发现函数包</a:t>
            </a:r>
            <a:r>
              <a:rPr lang="en-US" altLang="zh-CN" b="1" dirty="0" err="1">
                <a:latin typeface="+mj-lt"/>
                <a:ea typeface="微软雅黑" panose="020B0503020204020204" pitchFamily="34" charset="-122"/>
                <a:sym typeface="Consolas" panose="020B0609020204030204" pitchFamily="49" charset="0"/>
              </a:rPr>
              <a:t>readr</a:t>
            </a:r>
            <a:r>
              <a:rPr lang="zh-CN" altLang="en-US" dirty="0">
                <a:latin typeface="+mj-lt"/>
                <a:ea typeface="微软雅黑" panose="020B0503020204020204" pitchFamily="34" charset="-122"/>
                <a:sym typeface="Consolas" panose="020B0609020204030204" pitchFamily="49" charset="0"/>
              </a:rPr>
              <a:t>和</a:t>
            </a:r>
            <a:r>
              <a:rPr lang="en-US" altLang="zh-CN" b="1" dirty="0" err="1">
                <a:latin typeface="+mj-lt"/>
                <a:ea typeface="微软雅黑" panose="020B0503020204020204" pitchFamily="34" charset="-122"/>
                <a:sym typeface="Consolas" panose="020B0609020204030204" pitchFamily="49" charset="0"/>
              </a:rPr>
              <a:t>readlx</a:t>
            </a:r>
            <a:r>
              <a:rPr lang="zh-CN" altLang="en-US" dirty="0">
                <a:latin typeface="+mj-lt"/>
                <a:ea typeface="微软雅黑" panose="020B0503020204020204" pitchFamily="34" charset="-122"/>
                <a:sym typeface="Consolas" panose="020B0609020204030204" pitchFamily="49" charset="0"/>
              </a:rPr>
              <a:t>读入数据时速度有了极大的提高：</a:t>
            </a:r>
            <a:endParaRPr lang="en-US" altLang="zh-CN" dirty="0">
              <a:latin typeface="+mj-lt"/>
              <a:ea typeface="微软雅黑" panose="020B0503020204020204" pitchFamily="34" charset="-122"/>
              <a:sym typeface="Consolas" panose="020B0609020204030204" pitchFamily="49" charset="0"/>
            </a:endParaRPr>
          </a:p>
        </p:txBody>
      </p:sp>
      <p:sp>
        <p:nvSpPr>
          <p:cNvPr id="5" name="文本框 4">
            <a:extLst>
              <a:ext uri="{FF2B5EF4-FFF2-40B4-BE49-F238E27FC236}">
                <a16:creationId xmlns:a16="http://schemas.microsoft.com/office/drawing/2014/main" id="{BD4BDE14-155F-AA56-2E04-708A98ED7A77}"/>
              </a:ext>
            </a:extLst>
          </p:cNvPr>
          <p:cNvSpPr txBox="1"/>
          <p:nvPr/>
        </p:nvSpPr>
        <p:spPr>
          <a:xfrm>
            <a:off x="1104900" y="2890413"/>
            <a:ext cx="4572000" cy="646331"/>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system.time</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read_csv</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"data.csv"</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system.time</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(read.csv(</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"data.csv"</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p:txBody>
      </p:sp>
      <p:sp>
        <p:nvSpPr>
          <p:cNvPr id="9" name="文本框 8">
            <a:extLst>
              <a:ext uri="{FF2B5EF4-FFF2-40B4-BE49-F238E27FC236}">
                <a16:creationId xmlns:a16="http://schemas.microsoft.com/office/drawing/2014/main" id="{749244C7-6D33-C4D9-DFCB-7B018DFC330F}"/>
              </a:ext>
            </a:extLst>
          </p:cNvPr>
          <p:cNvSpPr txBox="1"/>
          <p:nvPr/>
        </p:nvSpPr>
        <p:spPr>
          <a:xfrm>
            <a:off x="1295400" y="4567952"/>
            <a:ext cx="2617787" cy="523220"/>
          </a:xfrm>
          <a:prstGeom prst="rect">
            <a:avLst/>
          </a:prstGeom>
          <a:noFill/>
        </p:spPr>
        <p:txBody>
          <a:bodyPr wrap="square">
            <a:spAutoFit/>
          </a:bodyPr>
          <a:lstStyle/>
          <a:p>
            <a:pPr algn="ctr"/>
            <a:r>
              <a:rPr lang="en-US" altLang="zh-CN" sz="1400" b="1" dirty="0" err="1">
                <a:effectLst/>
                <a:latin typeface="+mn-lt"/>
                <a:ea typeface="+mn-ea"/>
              </a:rPr>
              <a:t>readr</a:t>
            </a:r>
            <a:r>
              <a:rPr lang="zh-CN" altLang="en-US" sz="1400" dirty="0">
                <a:effectLst/>
                <a:latin typeface="+mn-lt"/>
                <a:ea typeface="+mn-ea"/>
              </a:rPr>
              <a:t>函数包</a:t>
            </a:r>
            <a:r>
              <a:rPr lang="en-US" altLang="zh-CN" sz="1400" b="1" i="1" dirty="0" err="1">
                <a:effectLst/>
                <a:latin typeface="+mn-lt"/>
                <a:ea typeface="+mn-ea"/>
              </a:rPr>
              <a:t>read_csv</a:t>
            </a:r>
            <a:endParaRPr lang="en-US" altLang="zh-CN" sz="1400" b="1" dirty="0">
              <a:effectLst/>
              <a:latin typeface="+mn-lt"/>
              <a:ea typeface="+mn-ea"/>
            </a:endParaRPr>
          </a:p>
          <a:p>
            <a:pPr algn="ctr"/>
            <a:r>
              <a:rPr lang="zh-CN" altLang="en-US" sz="1400" dirty="0">
                <a:effectLst/>
                <a:latin typeface="+mn-lt"/>
                <a:ea typeface="+mn-ea"/>
              </a:rPr>
              <a:t>读入速度</a:t>
            </a:r>
            <a:endParaRPr lang="zh-CN" altLang="en-US" sz="1400" dirty="0">
              <a:latin typeface="+mn-lt"/>
              <a:ea typeface="+mn-ea"/>
            </a:endParaRPr>
          </a:p>
        </p:txBody>
      </p:sp>
      <p:sp>
        <p:nvSpPr>
          <p:cNvPr id="10" name="文本框 9">
            <a:extLst>
              <a:ext uri="{FF2B5EF4-FFF2-40B4-BE49-F238E27FC236}">
                <a16:creationId xmlns:a16="http://schemas.microsoft.com/office/drawing/2014/main" id="{A111F7E5-27A2-0E2D-4C30-63671D7E44E3}"/>
              </a:ext>
            </a:extLst>
          </p:cNvPr>
          <p:cNvSpPr txBox="1"/>
          <p:nvPr/>
        </p:nvSpPr>
        <p:spPr>
          <a:xfrm>
            <a:off x="5037455" y="4567952"/>
            <a:ext cx="2362200" cy="523220"/>
          </a:xfrm>
          <a:prstGeom prst="rect">
            <a:avLst/>
          </a:prstGeom>
          <a:noFill/>
        </p:spPr>
        <p:txBody>
          <a:bodyPr wrap="square">
            <a:spAutoFit/>
          </a:bodyPr>
          <a:lstStyle/>
          <a:p>
            <a:pPr algn="ctr"/>
            <a:r>
              <a:rPr lang="en-US" altLang="zh-CN" sz="1400" b="1" dirty="0">
                <a:effectLst/>
                <a:latin typeface="+mn-lt"/>
                <a:ea typeface="+mn-ea"/>
              </a:rPr>
              <a:t>R</a:t>
            </a:r>
            <a:r>
              <a:rPr lang="zh-CN" altLang="en-US" sz="1400" dirty="0">
                <a:effectLst/>
                <a:latin typeface="+mn-lt"/>
                <a:ea typeface="+mn-ea"/>
              </a:rPr>
              <a:t>自带函数</a:t>
            </a:r>
            <a:r>
              <a:rPr lang="en-US" altLang="zh-CN" sz="1400" b="1" i="1" dirty="0">
                <a:effectLst/>
                <a:latin typeface="+mn-lt"/>
                <a:ea typeface="+mn-ea"/>
              </a:rPr>
              <a:t>read.csv</a:t>
            </a:r>
          </a:p>
          <a:p>
            <a:pPr algn="ctr"/>
            <a:r>
              <a:rPr lang="zh-CN" altLang="en-US" sz="1400" dirty="0">
                <a:effectLst/>
                <a:latin typeface="+mn-lt"/>
                <a:ea typeface="+mn-ea"/>
              </a:rPr>
              <a:t>读入速度</a:t>
            </a:r>
            <a:endParaRPr lang="zh-CN" altLang="en-US" sz="1400" dirty="0">
              <a:latin typeface="+mn-lt"/>
              <a:ea typeface="+mn-ea"/>
            </a:endParaRPr>
          </a:p>
        </p:txBody>
      </p:sp>
      <p:pic>
        <p:nvPicPr>
          <p:cNvPr id="7" name="图片 6">
            <a:extLst>
              <a:ext uri="{FF2B5EF4-FFF2-40B4-BE49-F238E27FC236}">
                <a16:creationId xmlns:a16="http://schemas.microsoft.com/office/drawing/2014/main" id="{D71AECB9-DB65-88B4-C56B-7C055436E86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85900" y="4052439"/>
            <a:ext cx="2160905" cy="401955"/>
          </a:xfrm>
          <a:prstGeom prst="rect">
            <a:avLst/>
          </a:prstGeom>
          <a:ln>
            <a:noFill/>
          </a:ln>
          <a:effectLst>
            <a:outerShdw blurRad="190500" algn="tl" rotWithShape="0">
              <a:srgbClr val="000000">
                <a:alpha val="70000"/>
              </a:srgbClr>
            </a:outerShdw>
          </a:effectLst>
        </p:spPr>
      </p:pic>
      <p:pic>
        <p:nvPicPr>
          <p:cNvPr id="11" name="图片 10">
            <a:extLst>
              <a:ext uri="{FF2B5EF4-FFF2-40B4-BE49-F238E27FC236}">
                <a16:creationId xmlns:a16="http://schemas.microsoft.com/office/drawing/2014/main" id="{B25A5018-0770-2218-5067-B94D2353DDD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43500" y="4052439"/>
            <a:ext cx="2150110" cy="39497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752210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26698-C200-71A0-988B-C5D26FDE89A2}"/>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F3803B5A-BA32-3B60-9722-7E5002FE4BFD}"/>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2.2.2 </a:t>
            </a:r>
            <a:r>
              <a:rPr lang="zh-CN" altLang="en-US" sz="3600" dirty="0">
                <a:latin typeface="Times New Roman" panose="02020603050405020304" pitchFamily="18" charset="0"/>
                <a:cs typeface="Times New Roman" panose="02020603050405020304" pitchFamily="18" charset="0"/>
              </a:rPr>
              <a:t>基础数据写出</a:t>
            </a:r>
          </a:p>
        </p:txBody>
      </p:sp>
      <p:sp>
        <p:nvSpPr>
          <p:cNvPr id="8" name="灯片编号占位符 7">
            <a:extLst>
              <a:ext uri="{FF2B5EF4-FFF2-40B4-BE49-F238E27FC236}">
                <a16:creationId xmlns:a16="http://schemas.microsoft.com/office/drawing/2014/main" id="{F1E5DCCA-5F2B-36FF-79B2-84B3C69C9563}"/>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11</a:t>
            </a:fld>
            <a:endParaRPr lang="zh-CN" altLang="en-US" dirty="0">
              <a:solidFill>
                <a:schemeClr val="bg2">
                  <a:lumMod val="75000"/>
                </a:schemeClr>
              </a:solidFill>
            </a:endParaRPr>
          </a:p>
        </p:txBody>
      </p:sp>
      <p:sp>
        <p:nvSpPr>
          <p:cNvPr id="4" name="矩形 3">
            <a:extLst>
              <a:ext uri="{FF2B5EF4-FFF2-40B4-BE49-F238E27FC236}">
                <a16:creationId xmlns:a16="http://schemas.microsoft.com/office/drawing/2014/main" id="{C0D488B1-7A42-1BDE-6A1B-9F4152CBAE7D}"/>
              </a:ext>
            </a:extLst>
          </p:cNvPr>
          <p:cNvSpPr/>
          <p:nvPr/>
        </p:nvSpPr>
        <p:spPr>
          <a:xfrm>
            <a:off x="381000" y="1559101"/>
            <a:ext cx="7010400" cy="497957"/>
          </a:xfrm>
          <a:prstGeom prst="rect">
            <a:avLst/>
          </a:prstGeom>
        </p:spPr>
        <p:txBody>
          <a:bodyPr wrap="square">
            <a:spAutoFit/>
          </a:bodyPr>
          <a:lstStyle/>
          <a:p>
            <a:pPr>
              <a:lnSpc>
                <a:spcPct val="120000"/>
              </a:lnSpc>
            </a:pPr>
            <a:r>
              <a:rPr lang="zh-CN" altLang="en-US" sz="2400" b="1" dirty="0">
                <a:latin typeface="+mj-lt"/>
                <a:ea typeface="+mj-ea"/>
                <a:cs typeface="+mn-ea"/>
                <a:sym typeface="Consolas" panose="020B0609020204030204" pitchFamily="49" charset="0"/>
              </a:rPr>
              <a:t>常见的写出基础数据的方法</a:t>
            </a:r>
            <a:endParaRPr lang="en-US" altLang="zh-CN" sz="2400" b="1" dirty="0">
              <a:latin typeface="+mn-ea"/>
              <a:ea typeface="+mn-ea"/>
              <a:cs typeface="+mn-ea"/>
              <a:sym typeface="Consolas" panose="020B0609020204030204" pitchFamily="49" charset="0"/>
            </a:endParaRPr>
          </a:p>
        </p:txBody>
      </p:sp>
      <p:sp>
        <p:nvSpPr>
          <p:cNvPr id="5" name="矩形 4">
            <a:extLst>
              <a:ext uri="{FF2B5EF4-FFF2-40B4-BE49-F238E27FC236}">
                <a16:creationId xmlns:a16="http://schemas.microsoft.com/office/drawing/2014/main" id="{DD4D7852-53F8-0747-C300-CB369FBE6849}"/>
              </a:ext>
            </a:extLst>
          </p:cNvPr>
          <p:cNvSpPr/>
          <p:nvPr/>
        </p:nvSpPr>
        <p:spPr>
          <a:xfrm>
            <a:off x="450850" y="2362200"/>
            <a:ext cx="8001000" cy="2764731"/>
          </a:xfrm>
          <a:prstGeom prst="rect">
            <a:avLst/>
          </a:prstGeom>
        </p:spPr>
        <p:txBody>
          <a:bodyPr wrap="square">
            <a:spAutoFit/>
          </a:bodyPr>
          <a:lstStyle/>
          <a:p>
            <a:pPr marL="285750" indent="457200" algn="just">
              <a:lnSpc>
                <a:spcPct val="140000"/>
              </a:lnSpc>
              <a:buFont typeface="Wingdings" panose="05000000000000000000" pitchFamily="2" charset="2"/>
              <a:buChar char="ü"/>
            </a:pPr>
            <a:r>
              <a:rPr lang="zh-CN" altLang="en-US" dirty="0">
                <a:latin typeface="+mn-lt"/>
                <a:ea typeface="+mn-ea"/>
                <a:sym typeface="Consolas" panose="020B0609020204030204" pitchFamily="49" charset="0"/>
              </a:rPr>
              <a:t>将</a:t>
            </a:r>
            <a:r>
              <a:rPr lang="en-US" altLang="zh-CN" dirty="0" err="1">
                <a:latin typeface="+mn-lt"/>
                <a:ea typeface="+mn-ea"/>
                <a:sym typeface="Consolas" panose="020B0609020204030204" pitchFamily="49" charset="0"/>
              </a:rPr>
              <a:t>data.frame</a:t>
            </a:r>
            <a:r>
              <a:rPr lang="zh-CN" altLang="en-US" dirty="0">
                <a:latin typeface="+mn-lt"/>
                <a:ea typeface="+mn-ea"/>
                <a:sym typeface="Consolas" panose="020B0609020204030204" pitchFamily="49" charset="0"/>
              </a:rPr>
              <a:t>对象重新写为</a:t>
            </a:r>
            <a:r>
              <a:rPr lang="en-US" altLang="zh-CN" dirty="0">
                <a:latin typeface="+mn-lt"/>
                <a:ea typeface="+mn-ea"/>
                <a:sym typeface="Consolas" panose="020B0609020204030204" pitchFamily="49" charset="0"/>
              </a:rPr>
              <a:t>csv</a:t>
            </a:r>
            <a:r>
              <a:rPr lang="zh-CN" altLang="en-US" dirty="0">
                <a:latin typeface="+mn-lt"/>
                <a:ea typeface="+mn-ea"/>
                <a:sym typeface="Consolas" panose="020B0609020204030204" pitchFamily="49" charset="0"/>
              </a:rPr>
              <a:t>、</a:t>
            </a:r>
            <a:r>
              <a:rPr lang="en-US" altLang="zh-CN" dirty="0">
                <a:latin typeface="+mn-lt"/>
                <a:ea typeface="+mn-ea"/>
                <a:sym typeface="Consolas" panose="020B0609020204030204" pitchFamily="49" charset="0"/>
              </a:rPr>
              <a:t>xlsx</a:t>
            </a:r>
            <a:r>
              <a:rPr lang="zh-CN" altLang="en-US" dirty="0">
                <a:latin typeface="+mn-lt"/>
                <a:ea typeface="+mn-ea"/>
                <a:sym typeface="Consolas" panose="020B0609020204030204" pitchFamily="49" charset="0"/>
              </a:rPr>
              <a:t>、</a:t>
            </a:r>
            <a:r>
              <a:rPr lang="en-US" altLang="zh-CN" dirty="0" err="1">
                <a:latin typeface="+mn-lt"/>
                <a:ea typeface="+mn-ea"/>
                <a:sym typeface="Consolas" panose="020B0609020204030204" pitchFamily="49" charset="0"/>
              </a:rPr>
              <a:t>tsv</a:t>
            </a:r>
            <a:r>
              <a:rPr lang="zh-CN" altLang="en-US" dirty="0">
                <a:latin typeface="+mn-lt"/>
                <a:ea typeface="+mn-ea"/>
                <a:sym typeface="Consolas" panose="020B0609020204030204" pitchFamily="49" charset="0"/>
              </a:rPr>
              <a:t>等格式的文件</a:t>
            </a:r>
            <a:endParaRPr lang="en-US" altLang="zh-CN" dirty="0">
              <a:latin typeface="+mn-lt"/>
              <a:ea typeface="+mn-ea"/>
              <a:sym typeface="Consolas" panose="020B0609020204030204" pitchFamily="49" charset="0"/>
            </a:endParaRPr>
          </a:p>
          <a:p>
            <a:pPr marL="285750" indent="457200" algn="just">
              <a:lnSpc>
                <a:spcPct val="140000"/>
              </a:lnSpc>
              <a:buFont typeface="Wingdings" panose="05000000000000000000" pitchFamily="2" charset="2"/>
              <a:buChar char="ü"/>
            </a:pPr>
            <a:r>
              <a:rPr lang="en-US" altLang="zh-CN" b="1" i="1" dirty="0" err="1">
                <a:latin typeface="+mn-lt"/>
                <a:ea typeface="+mn-ea"/>
                <a:sym typeface="Consolas" panose="020B0609020204030204" pitchFamily="49" charset="0"/>
              </a:rPr>
              <a:t>write_delim</a:t>
            </a:r>
            <a:r>
              <a:rPr lang="en-US" altLang="zh-CN" b="1" i="1" dirty="0">
                <a:latin typeface="+mn-lt"/>
                <a:ea typeface="+mn-ea"/>
                <a:sym typeface="Consolas" panose="020B0609020204030204" pitchFamily="49" charset="0"/>
              </a:rPr>
              <a:t>(x, path, </a:t>
            </a:r>
            <a:r>
              <a:rPr lang="en-US" altLang="zh-CN" b="1" i="1" dirty="0" err="1">
                <a:latin typeface="+mn-lt"/>
                <a:ea typeface="+mn-ea"/>
                <a:sym typeface="Consolas" panose="020B0609020204030204" pitchFamily="49" charset="0"/>
              </a:rPr>
              <a:t>delim</a:t>
            </a:r>
            <a:r>
              <a:rPr lang="en-US" altLang="zh-CN" b="1" i="1" dirty="0">
                <a:latin typeface="+mn-lt"/>
                <a:ea typeface="+mn-ea"/>
                <a:sym typeface="Consolas" panose="020B0609020204030204" pitchFamily="49" charset="0"/>
              </a:rPr>
              <a:t>, </a:t>
            </a:r>
            <a:r>
              <a:rPr lang="en-US" altLang="zh-CN" b="1" i="1" dirty="0" err="1">
                <a:latin typeface="+mn-lt"/>
                <a:ea typeface="+mn-ea"/>
                <a:sym typeface="Consolas" panose="020B0609020204030204" pitchFamily="49" charset="0"/>
              </a:rPr>
              <a:t>na</a:t>
            </a:r>
            <a:r>
              <a:rPr lang="en-US" altLang="zh-CN" b="1" i="1" dirty="0">
                <a:latin typeface="+mn-lt"/>
                <a:ea typeface="+mn-ea"/>
                <a:sym typeface="Consolas" panose="020B0609020204030204" pitchFamily="49" charset="0"/>
              </a:rPr>
              <a:t>, append, </a:t>
            </a:r>
            <a:r>
              <a:rPr lang="en-US" altLang="zh-CN" b="1" i="1" dirty="0" err="1">
                <a:latin typeface="+mn-lt"/>
                <a:ea typeface="+mn-ea"/>
                <a:sym typeface="Consolas" panose="020B0609020204030204" pitchFamily="49" charset="0"/>
              </a:rPr>
              <a:t>col_names</a:t>
            </a:r>
            <a:r>
              <a:rPr lang="en-US" altLang="zh-CN" b="1" i="1" dirty="0">
                <a:latin typeface="+mn-lt"/>
                <a:ea typeface="+mn-ea"/>
                <a:sym typeface="Consolas" panose="020B0609020204030204" pitchFamily="49" charset="0"/>
              </a:rPr>
              <a:t>)</a:t>
            </a:r>
            <a:r>
              <a:rPr lang="zh-CN" altLang="en-US" dirty="0">
                <a:latin typeface="+mn-lt"/>
                <a:ea typeface="+mn-ea"/>
                <a:sym typeface="Consolas" panose="020B0609020204030204" pitchFamily="49" charset="0"/>
              </a:rPr>
              <a:t>：</a:t>
            </a:r>
            <a:r>
              <a:rPr lang="en-US" altLang="zh-CN" dirty="0" err="1">
                <a:latin typeface="+mn-lt"/>
                <a:ea typeface="+mn-ea"/>
                <a:sym typeface="Consolas" panose="020B0609020204030204" pitchFamily="49" charset="0"/>
              </a:rPr>
              <a:t>DataFrame</a:t>
            </a:r>
            <a:r>
              <a:rPr lang="zh-CN" altLang="en-US" dirty="0">
                <a:latin typeface="+mn-lt"/>
                <a:ea typeface="+mn-ea"/>
                <a:sym typeface="Consolas" panose="020B0609020204030204" pitchFamily="49" charset="0"/>
              </a:rPr>
              <a:t>对象读入</a:t>
            </a:r>
            <a:r>
              <a:rPr lang="en-US" altLang="zh-CN" dirty="0">
                <a:latin typeface="+mn-lt"/>
                <a:ea typeface="+mn-ea"/>
                <a:sym typeface="Consolas" panose="020B0609020204030204" pitchFamily="49" charset="0"/>
              </a:rPr>
              <a:t>shapefile</a:t>
            </a:r>
            <a:r>
              <a:rPr lang="zh-CN" altLang="en-US" dirty="0">
                <a:latin typeface="+mn-lt"/>
                <a:ea typeface="+mn-ea"/>
                <a:sym typeface="Consolas" panose="020B0609020204030204" pitchFamily="49" charset="0"/>
              </a:rPr>
              <a:t>文件函数</a:t>
            </a:r>
            <a:endParaRPr lang="en-US" altLang="zh-CN" dirty="0">
              <a:latin typeface="+mn-lt"/>
              <a:ea typeface="+mn-ea"/>
              <a:sym typeface="Consolas" panose="020B0609020204030204" pitchFamily="49" charset="0"/>
            </a:endParaRPr>
          </a:p>
          <a:p>
            <a:pPr marL="285750" indent="457200" algn="just">
              <a:lnSpc>
                <a:spcPct val="140000"/>
              </a:lnSpc>
              <a:buFont typeface="Wingdings" panose="05000000000000000000" pitchFamily="2" charset="2"/>
              <a:buChar char="ü"/>
            </a:pPr>
            <a:r>
              <a:rPr lang="en-US" altLang="zh-CN" b="1" i="1" dirty="0">
                <a:latin typeface="+mn-lt"/>
                <a:ea typeface="+mn-ea"/>
                <a:sym typeface="Consolas" panose="020B0609020204030204" pitchFamily="49" charset="0"/>
              </a:rPr>
              <a:t>write _csv(x, path, </a:t>
            </a:r>
            <a:r>
              <a:rPr lang="en-US" altLang="zh-CN" b="1" i="1" dirty="0" err="1">
                <a:latin typeface="+mn-lt"/>
                <a:ea typeface="+mn-ea"/>
                <a:sym typeface="Consolas" panose="020B0609020204030204" pitchFamily="49" charset="0"/>
              </a:rPr>
              <a:t>na</a:t>
            </a:r>
            <a:r>
              <a:rPr lang="en-US" altLang="zh-CN" b="1" i="1" dirty="0">
                <a:latin typeface="+mn-lt"/>
                <a:ea typeface="+mn-ea"/>
                <a:sym typeface="Consolas" panose="020B0609020204030204" pitchFamily="49" charset="0"/>
              </a:rPr>
              <a:t>, append, </a:t>
            </a:r>
            <a:r>
              <a:rPr lang="en-US" altLang="zh-CN" b="1" i="1" dirty="0" err="1">
                <a:latin typeface="+mn-lt"/>
                <a:ea typeface="+mn-ea"/>
                <a:sym typeface="Consolas" panose="020B0609020204030204" pitchFamily="49" charset="0"/>
              </a:rPr>
              <a:t>col_names</a:t>
            </a:r>
            <a:r>
              <a:rPr lang="en-US" altLang="zh-CN" b="1" i="1" dirty="0">
                <a:latin typeface="+mn-lt"/>
                <a:ea typeface="+mn-ea"/>
                <a:sym typeface="Consolas" panose="020B0609020204030204" pitchFamily="49" charset="0"/>
              </a:rPr>
              <a:t>)</a:t>
            </a:r>
            <a:r>
              <a:rPr lang="zh-CN" altLang="en-US" dirty="0">
                <a:latin typeface="+mn-lt"/>
                <a:ea typeface="+mn-ea"/>
                <a:sym typeface="Consolas" panose="020B0609020204030204" pitchFamily="49" charset="0"/>
              </a:rPr>
              <a:t>： </a:t>
            </a:r>
            <a:r>
              <a:rPr lang="en-US" altLang="zh-CN" dirty="0" err="1">
                <a:latin typeface="+mn-lt"/>
                <a:ea typeface="+mn-ea"/>
                <a:sym typeface="Consolas" panose="020B0609020204030204" pitchFamily="49" charset="0"/>
              </a:rPr>
              <a:t>DataFrame</a:t>
            </a:r>
            <a:r>
              <a:rPr lang="zh-CN" altLang="en-US" dirty="0">
                <a:latin typeface="+mn-lt"/>
                <a:ea typeface="+mn-ea"/>
                <a:sym typeface="Consolas" panose="020B0609020204030204" pitchFamily="49" charset="0"/>
              </a:rPr>
              <a:t>对象读入</a:t>
            </a:r>
            <a:r>
              <a:rPr lang="en-US" altLang="zh-CN" dirty="0">
                <a:latin typeface="+mn-lt"/>
                <a:ea typeface="+mn-ea"/>
                <a:sym typeface="Consolas" panose="020B0609020204030204" pitchFamily="49" charset="0"/>
              </a:rPr>
              <a:t>csv</a:t>
            </a:r>
            <a:r>
              <a:rPr lang="zh-CN" altLang="en-US" dirty="0">
                <a:latin typeface="+mn-lt"/>
                <a:ea typeface="+mn-ea"/>
                <a:sym typeface="Consolas" panose="020B0609020204030204" pitchFamily="49" charset="0"/>
              </a:rPr>
              <a:t>文件函数</a:t>
            </a:r>
            <a:endParaRPr lang="en-US" altLang="zh-CN" dirty="0">
              <a:latin typeface="+mn-lt"/>
              <a:ea typeface="+mn-ea"/>
              <a:sym typeface="Consolas" panose="020B0609020204030204" pitchFamily="49" charset="0"/>
            </a:endParaRPr>
          </a:p>
          <a:p>
            <a:pPr marL="285750" indent="457200" algn="just">
              <a:lnSpc>
                <a:spcPct val="140000"/>
              </a:lnSpc>
              <a:buFont typeface="Wingdings" panose="05000000000000000000" pitchFamily="2" charset="2"/>
              <a:buChar char="ü"/>
            </a:pPr>
            <a:r>
              <a:rPr lang="en-US" altLang="zh-CN" b="1" i="1" dirty="0" err="1">
                <a:latin typeface="+mn-lt"/>
                <a:ea typeface="+mn-ea"/>
                <a:sym typeface="Consolas" panose="020B0609020204030204" pitchFamily="49" charset="0"/>
              </a:rPr>
              <a:t>write_excel_csv</a:t>
            </a:r>
            <a:r>
              <a:rPr lang="en-US" altLang="zh-CN" b="1" i="1" dirty="0">
                <a:latin typeface="+mn-lt"/>
                <a:ea typeface="+mn-ea"/>
                <a:sym typeface="Consolas" panose="020B0609020204030204" pitchFamily="49" charset="0"/>
              </a:rPr>
              <a:t>(x, path, </a:t>
            </a:r>
            <a:r>
              <a:rPr lang="en-US" altLang="zh-CN" b="1" i="1" dirty="0" err="1">
                <a:latin typeface="+mn-lt"/>
                <a:ea typeface="+mn-ea"/>
                <a:sym typeface="Consolas" panose="020B0609020204030204" pitchFamily="49" charset="0"/>
              </a:rPr>
              <a:t>na</a:t>
            </a:r>
            <a:r>
              <a:rPr lang="en-US" altLang="zh-CN" b="1" i="1" dirty="0">
                <a:latin typeface="+mn-lt"/>
                <a:ea typeface="+mn-ea"/>
                <a:sym typeface="Consolas" panose="020B0609020204030204" pitchFamily="49" charset="0"/>
              </a:rPr>
              <a:t>, append, </a:t>
            </a:r>
            <a:r>
              <a:rPr lang="en-US" altLang="zh-CN" b="1" i="1" dirty="0" err="1">
                <a:latin typeface="+mn-lt"/>
                <a:ea typeface="+mn-ea"/>
                <a:sym typeface="Consolas" panose="020B0609020204030204" pitchFamily="49" charset="0"/>
              </a:rPr>
              <a:t>col_names</a:t>
            </a:r>
            <a:r>
              <a:rPr lang="en-US" altLang="zh-CN" b="1" i="1" dirty="0">
                <a:latin typeface="+mn-lt"/>
                <a:ea typeface="+mn-ea"/>
                <a:sym typeface="Consolas" panose="020B0609020204030204" pitchFamily="49" charset="0"/>
              </a:rPr>
              <a:t>)</a:t>
            </a:r>
            <a:r>
              <a:rPr lang="zh-CN" altLang="en-US" dirty="0">
                <a:latin typeface="+mn-lt"/>
                <a:ea typeface="+mn-ea"/>
                <a:sym typeface="Consolas" panose="020B0609020204030204" pitchFamily="49" charset="0"/>
              </a:rPr>
              <a:t>： </a:t>
            </a:r>
            <a:r>
              <a:rPr lang="en-US" altLang="zh-CN" dirty="0" err="1">
                <a:latin typeface="+mn-lt"/>
                <a:ea typeface="+mn-ea"/>
                <a:sym typeface="Consolas" panose="020B0609020204030204" pitchFamily="49" charset="0"/>
              </a:rPr>
              <a:t>DataFrame</a:t>
            </a:r>
            <a:r>
              <a:rPr lang="zh-CN" altLang="en-US" dirty="0">
                <a:latin typeface="+mn-lt"/>
                <a:ea typeface="+mn-ea"/>
                <a:sym typeface="Consolas" panose="020B0609020204030204" pitchFamily="49" charset="0"/>
              </a:rPr>
              <a:t>对象读入</a:t>
            </a:r>
            <a:r>
              <a:rPr lang="en-US" altLang="zh-CN" dirty="0">
                <a:latin typeface="+mn-lt"/>
                <a:ea typeface="+mn-ea"/>
                <a:sym typeface="Consolas" panose="020B0609020204030204" pitchFamily="49" charset="0"/>
              </a:rPr>
              <a:t>excel</a:t>
            </a:r>
            <a:r>
              <a:rPr lang="zh-CN" altLang="en-US" dirty="0">
                <a:latin typeface="+mn-lt"/>
                <a:ea typeface="+mn-ea"/>
                <a:sym typeface="Consolas" panose="020B0609020204030204" pitchFamily="49" charset="0"/>
              </a:rPr>
              <a:t>文件函数</a:t>
            </a:r>
            <a:endParaRPr lang="en-US" altLang="zh-CN" dirty="0">
              <a:latin typeface="+mn-lt"/>
              <a:ea typeface="+mn-ea"/>
              <a:sym typeface="Consolas" panose="020B0609020204030204" pitchFamily="49" charset="0"/>
            </a:endParaRPr>
          </a:p>
        </p:txBody>
      </p:sp>
    </p:spTree>
    <p:extLst>
      <p:ext uri="{BB962C8B-B14F-4D97-AF65-F5344CB8AC3E}">
        <p14:creationId xmlns:p14="http://schemas.microsoft.com/office/powerpoint/2010/main" val="4029486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97656-7B6E-9102-A1F8-A9256A1B7599}"/>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F27FBBD4-94EA-10E1-BE4A-64C3333A40D2}"/>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2.2.2 </a:t>
            </a:r>
            <a:r>
              <a:rPr lang="zh-CN" altLang="en-US" sz="3600" dirty="0">
                <a:latin typeface="Times New Roman" panose="02020603050405020304" pitchFamily="18" charset="0"/>
                <a:cs typeface="Times New Roman" panose="02020603050405020304" pitchFamily="18" charset="0"/>
              </a:rPr>
              <a:t>基础数据写出</a:t>
            </a:r>
          </a:p>
        </p:txBody>
      </p:sp>
      <p:sp>
        <p:nvSpPr>
          <p:cNvPr id="8" name="灯片编号占位符 7">
            <a:extLst>
              <a:ext uri="{FF2B5EF4-FFF2-40B4-BE49-F238E27FC236}">
                <a16:creationId xmlns:a16="http://schemas.microsoft.com/office/drawing/2014/main" id="{E467D29C-5343-4130-AAB3-0FAB4E472B73}"/>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12</a:t>
            </a:fld>
            <a:endParaRPr lang="zh-CN" altLang="en-US" dirty="0">
              <a:solidFill>
                <a:schemeClr val="bg2">
                  <a:lumMod val="75000"/>
                </a:schemeClr>
              </a:solidFill>
            </a:endParaRPr>
          </a:p>
        </p:txBody>
      </p:sp>
      <p:graphicFrame>
        <p:nvGraphicFramePr>
          <p:cNvPr id="2" name="表格 1">
            <a:extLst>
              <a:ext uri="{FF2B5EF4-FFF2-40B4-BE49-F238E27FC236}">
                <a16:creationId xmlns:a16="http://schemas.microsoft.com/office/drawing/2014/main" id="{94D5D21E-9DC2-440F-6153-14005AC2C92F}"/>
              </a:ext>
            </a:extLst>
          </p:cNvPr>
          <p:cNvGraphicFramePr>
            <a:graphicFrameLocks noGrp="1"/>
          </p:cNvGraphicFramePr>
          <p:nvPr>
            <p:extLst>
              <p:ext uri="{D42A27DB-BD31-4B8C-83A1-F6EECF244321}">
                <p14:modId xmlns:p14="http://schemas.microsoft.com/office/powerpoint/2010/main" val="134006698"/>
              </p:ext>
            </p:extLst>
          </p:nvPr>
        </p:nvGraphicFramePr>
        <p:xfrm>
          <a:off x="457200" y="2095500"/>
          <a:ext cx="8229600" cy="2743200"/>
        </p:xfrm>
        <a:graphic>
          <a:graphicData uri="http://schemas.openxmlformats.org/drawingml/2006/table">
            <a:tbl>
              <a:tblPr firstRow="1" bandRow="1">
                <a:tableStyleId>{5C22544A-7EE6-4342-B048-85BDC9FD1C3A}</a:tableStyleId>
              </a:tblPr>
              <a:tblGrid>
                <a:gridCol w="2757563">
                  <a:extLst>
                    <a:ext uri="{9D8B030D-6E8A-4147-A177-3AD203B41FA5}">
                      <a16:colId xmlns:a16="http://schemas.microsoft.com/office/drawing/2014/main" val="2581571607"/>
                    </a:ext>
                  </a:extLst>
                </a:gridCol>
                <a:gridCol w="5472037">
                  <a:extLst>
                    <a:ext uri="{9D8B030D-6E8A-4147-A177-3AD203B41FA5}">
                      <a16:colId xmlns:a16="http://schemas.microsoft.com/office/drawing/2014/main" val="1863506659"/>
                    </a:ext>
                  </a:extLst>
                </a:gridCol>
              </a:tblGrid>
              <a:tr h="370840">
                <a:tc>
                  <a:txBody>
                    <a:bodyPr/>
                    <a:lstStyle/>
                    <a:p>
                      <a:pPr algn="ctr"/>
                      <a:r>
                        <a:rPr lang="zh-CN" altLang="en-US" sz="1400" dirty="0"/>
                        <a:t>参数</a:t>
                      </a:r>
                    </a:p>
                  </a:txBody>
                  <a:tcPr anchor="ctr"/>
                </a:tc>
                <a:tc>
                  <a:txBody>
                    <a:bodyPr/>
                    <a:lstStyle/>
                    <a:p>
                      <a:pPr algn="ctr"/>
                      <a:r>
                        <a:rPr lang="zh-CN" altLang="en-US" sz="1400" dirty="0"/>
                        <a:t>描述</a:t>
                      </a:r>
                    </a:p>
                  </a:txBody>
                  <a:tcPr anchor="ctr"/>
                </a:tc>
                <a:extLst>
                  <a:ext uri="{0D108BD9-81ED-4DB2-BD59-A6C34878D82A}">
                    <a16:rowId xmlns:a16="http://schemas.microsoft.com/office/drawing/2014/main" val="1281967884"/>
                  </a:ext>
                </a:extLst>
              </a:tr>
              <a:tr h="370840">
                <a:tc>
                  <a:txBody>
                    <a:bodyPr/>
                    <a:lstStyle/>
                    <a:p>
                      <a:pPr algn="ctr"/>
                      <a:r>
                        <a:rPr lang="en-US" altLang="zh-CN" sz="1400" dirty="0"/>
                        <a:t>x</a:t>
                      </a:r>
                      <a:endParaRPr lang="zh-CN" altLang="en-US" sz="1400" dirty="0"/>
                    </a:p>
                  </a:txBody>
                  <a:tcPr anchor="ctr"/>
                </a:tc>
                <a:tc>
                  <a:txBody>
                    <a:bodyPr/>
                    <a:lstStyle/>
                    <a:p>
                      <a:pPr algn="ctr"/>
                      <a:r>
                        <a:rPr lang="en-US" altLang="zh-CN" sz="1400" dirty="0" err="1"/>
                        <a:t>DataFrame</a:t>
                      </a:r>
                      <a:r>
                        <a:rPr lang="zh-CN" altLang="en-US" sz="1400" dirty="0"/>
                        <a:t>对象</a:t>
                      </a:r>
                    </a:p>
                  </a:txBody>
                  <a:tcPr anchor="ctr"/>
                </a:tc>
                <a:extLst>
                  <a:ext uri="{0D108BD9-81ED-4DB2-BD59-A6C34878D82A}">
                    <a16:rowId xmlns:a16="http://schemas.microsoft.com/office/drawing/2014/main" val="356241143"/>
                  </a:ext>
                </a:extLst>
              </a:tr>
              <a:tr h="370840">
                <a:tc>
                  <a:txBody>
                    <a:bodyPr/>
                    <a:lstStyle/>
                    <a:p>
                      <a:pPr algn="ctr"/>
                      <a:r>
                        <a:rPr lang="en-US" altLang="zh-CN" sz="1400" dirty="0"/>
                        <a:t>path</a:t>
                      </a:r>
                      <a:endParaRPr lang="zh-CN" altLang="en-US" sz="1400" dirty="0"/>
                    </a:p>
                  </a:txBody>
                  <a:tcPr anchor="ctr"/>
                </a:tc>
                <a:tc>
                  <a:txBody>
                    <a:bodyPr/>
                    <a:lstStyle/>
                    <a:p>
                      <a:pPr algn="ctr"/>
                      <a:r>
                        <a:rPr lang="zh-CN" altLang="en-US" sz="1400" kern="1200" dirty="0">
                          <a:solidFill>
                            <a:schemeClr val="dk1"/>
                          </a:solidFill>
                          <a:effectLst/>
                          <a:latin typeface="+mn-lt"/>
                          <a:ea typeface="+mn-ea"/>
                          <a:cs typeface="+mn-cs"/>
                        </a:rPr>
                        <a:t>字符串型参数；表示读入的文件的路径</a:t>
                      </a:r>
                      <a:endParaRPr lang="zh-CN" altLang="en-US" sz="1400" dirty="0"/>
                    </a:p>
                  </a:txBody>
                  <a:tcPr anchor="ctr"/>
                </a:tc>
                <a:extLst>
                  <a:ext uri="{0D108BD9-81ED-4DB2-BD59-A6C34878D82A}">
                    <a16:rowId xmlns:a16="http://schemas.microsoft.com/office/drawing/2014/main" val="3766120750"/>
                  </a:ext>
                </a:extLst>
              </a:tr>
              <a:tr h="370840">
                <a:tc>
                  <a:txBody>
                    <a:bodyPr/>
                    <a:lstStyle/>
                    <a:p>
                      <a:pPr algn="ctr"/>
                      <a:r>
                        <a:rPr lang="en-US" altLang="zh-CN" sz="1400" i="0" kern="1200" dirty="0" err="1">
                          <a:solidFill>
                            <a:schemeClr val="dk1"/>
                          </a:solidFill>
                          <a:effectLst/>
                          <a:latin typeface="+mn-lt"/>
                          <a:ea typeface="+mn-ea"/>
                          <a:cs typeface="+mn-cs"/>
                        </a:rPr>
                        <a:t>delim</a:t>
                      </a:r>
                      <a:endParaRPr lang="zh-CN" altLang="en-US" sz="1400" i="0" dirty="0"/>
                    </a:p>
                  </a:txBody>
                  <a:tcPr anchor="ctr"/>
                </a:tc>
                <a:tc>
                  <a:txBody>
                    <a:bodyPr/>
                    <a:lstStyle/>
                    <a:p>
                      <a:pPr algn="ctr"/>
                      <a:r>
                        <a:rPr lang="zh-CN" altLang="en-US" sz="1400" kern="1200" dirty="0">
                          <a:solidFill>
                            <a:schemeClr val="dk1"/>
                          </a:solidFill>
                          <a:effectLst/>
                          <a:latin typeface="+mn-lt"/>
                          <a:ea typeface="+mn-ea"/>
                          <a:cs typeface="+mn-cs"/>
                        </a:rPr>
                        <a:t>字符型参数；只针对</a:t>
                      </a:r>
                      <a:r>
                        <a:rPr lang="en-US" altLang="zh-CN" sz="1400" b="1" i="1" kern="1200" dirty="0" err="1">
                          <a:solidFill>
                            <a:schemeClr val="dk1"/>
                          </a:solidFill>
                          <a:effectLst/>
                          <a:latin typeface="+mn-lt"/>
                          <a:ea typeface="+mn-ea"/>
                          <a:cs typeface="+mn-cs"/>
                        </a:rPr>
                        <a:t>write_delim</a:t>
                      </a:r>
                      <a:r>
                        <a:rPr lang="zh-CN" altLang="en-US" sz="1400" kern="1200" dirty="0">
                          <a:solidFill>
                            <a:schemeClr val="dk1"/>
                          </a:solidFill>
                          <a:effectLst/>
                          <a:latin typeface="+mn-lt"/>
                          <a:ea typeface="+mn-ea"/>
                          <a:cs typeface="+mn-cs"/>
                        </a:rPr>
                        <a:t>函数，表示数据分隔符</a:t>
                      </a:r>
                      <a:endParaRPr lang="zh-CN" altLang="en-US" sz="1400" dirty="0"/>
                    </a:p>
                  </a:txBody>
                  <a:tcPr anchor="ctr"/>
                </a:tc>
                <a:extLst>
                  <a:ext uri="{0D108BD9-81ED-4DB2-BD59-A6C34878D82A}">
                    <a16:rowId xmlns:a16="http://schemas.microsoft.com/office/drawing/2014/main" val="658107258"/>
                  </a:ext>
                </a:extLst>
              </a:tr>
              <a:tr h="370840">
                <a:tc>
                  <a:txBody>
                    <a:bodyPr/>
                    <a:lstStyle/>
                    <a:p>
                      <a:pPr algn="ctr"/>
                      <a:r>
                        <a:rPr lang="en-US" altLang="zh-CN" sz="1400" dirty="0" err="1"/>
                        <a:t>na</a:t>
                      </a:r>
                      <a:endParaRPr lang="zh-CN" altLang="en-US" sz="1400" dirty="0"/>
                    </a:p>
                  </a:txBody>
                  <a:tcPr anchor="ctr"/>
                </a:tc>
                <a:tc>
                  <a:txBody>
                    <a:bodyPr/>
                    <a:lstStyle/>
                    <a:p>
                      <a:pPr algn="ctr"/>
                      <a:r>
                        <a:rPr lang="zh-CN" altLang="en-US" sz="1400" kern="1200" dirty="0">
                          <a:solidFill>
                            <a:schemeClr val="dk1"/>
                          </a:solidFill>
                          <a:effectLst/>
                          <a:latin typeface="+mn-lt"/>
                          <a:ea typeface="+mn-ea"/>
                          <a:cs typeface="+mn-cs"/>
                        </a:rPr>
                        <a:t>字符串型参数；用于处理缺失值</a:t>
                      </a:r>
                      <a:endParaRPr lang="zh-CN" altLang="en-US" sz="1400" dirty="0"/>
                    </a:p>
                  </a:txBody>
                  <a:tcPr anchor="ctr"/>
                </a:tc>
                <a:extLst>
                  <a:ext uri="{0D108BD9-81ED-4DB2-BD59-A6C34878D82A}">
                    <a16:rowId xmlns:a16="http://schemas.microsoft.com/office/drawing/2014/main" val="1274908354"/>
                  </a:ext>
                </a:extLst>
              </a:tr>
              <a:tr h="370840">
                <a:tc>
                  <a:txBody>
                    <a:bodyPr/>
                    <a:lstStyle/>
                    <a:p>
                      <a:pPr algn="ctr"/>
                      <a:r>
                        <a:rPr lang="en-US" altLang="zh-CN" sz="1400" dirty="0"/>
                        <a:t>append</a:t>
                      </a:r>
                      <a:endParaRPr lang="zh-CN" altLang="en-US" sz="1400" dirty="0"/>
                    </a:p>
                  </a:txBody>
                  <a:tcPr anchor="ctr"/>
                </a:tc>
                <a:tc>
                  <a:txBody>
                    <a:bodyPr/>
                    <a:lstStyle/>
                    <a:p>
                      <a:pPr algn="ctr"/>
                      <a:r>
                        <a:rPr lang="zh-CN" altLang="en-US" sz="1400" dirty="0"/>
                        <a:t>逻辑型参数；若为</a:t>
                      </a:r>
                      <a:r>
                        <a:rPr lang="en-US" altLang="zh-CN" sz="1400" dirty="0"/>
                        <a:t>FALSE</a:t>
                      </a:r>
                      <a:r>
                        <a:rPr lang="zh-CN" altLang="en-US" sz="1400" dirty="0"/>
                        <a:t>，则覆盖已有文件；否则将数据添加到已有文件中。如果文件不存在，则新建</a:t>
                      </a:r>
                    </a:p>
                  </a:txBody>
                  <a:tcPr anchor="ctr"/>
                </a:tc>
                <a:extLst>
                  <a:ext uri="{0D108BD9-81ED-4DB2-BD59-A6C34878D82A}">
                    <a16:rowId xmlns:a16="http://schemas.microsoft.com/office/drawing/2014/main" val="2557768521"/>
                  </a:ext>
                </a:extLst>
              </a:tr>
              <a:tr h="370840">
                <a:tc>
                  <a:txBody>
                    <a:bodyPr/>
                    <a:lstStyle/>
                    <a:p>
                      <a:pPr algn="ctr"/>
                      <a:r>
                        <a:rPr lang="en-US" altLang="zh-CN" sz="1400" dirty="0" err="1"/>
                        <a:t>col_names</a:t>
                      </a:r>
                      <a:endParaRPr lang="zh-CN" altLang="en-US" sz="1400" dirty="0"/>
                    </a:p>
                  </a:txBody>
                  <a:tcPr anchor="ctr"/>
                </a:tc>
                <a:tc>
                  <a:txBody>
                    <a:bodyPr/>
                    <a:lstStyle/>
                    <a:p>
                      <a:pPr algn="ctr"/>
                      <a:r>
                        <a:rPr lang="zh-CN" altLang="en-US" sz="1400" dirty="0"/>
                        <a:t>逻辑型参数；表示是否需要在文件头处读入列名</a:t>
                      </a:r>
                    </a:p>
                  </a:txBody>
                  <a:tcPr anchor="ctr"/>
                </a:tc>
                <a:extLst>
                  <a:ext uri="{0D108BD9-81ED-4DB2-BD59-A6C34878D82A}">
                    <a16:rowId xmlns:a16="http://schemas.microsoft.com/office/drawing/2014/main" val="1501278"/>
                  </a:ext>
                </a:extLst>
              </a:tr>
            </a:tbl>
          </a:graphicData>
        </a:graphic>
      </p:graphicFrame>
      <p:sp>
        <p:nvSpPr>
          <p:cNvPr id="6" name="文本框 5">
            <a:extLst>
              <a:ext uri="{FF2B5EF4-FFF2-40B4-BE49-F238E27FC236}">
                <a16:creationId xmlns:a16="http://schemas.microsoft.com/office/drawing/2014/main" id="{E144C033-42BF-934E-C86F-45A3D2324E76}"/>
              </a:ext>
            </a:extLst>
          </p:cNvPr>
          <p:cNvSpPr txBox="1"/>
          <p:nvPr/>
        </p:nvSpPr>
        <p:spPr>
          <a:xfrm>
            <a:off x="857250" y="5090578"/>
            <a:ext cx="7429500" cy="307777"/>
          </a:xfrm>
          <a:prstGeom prst="rect">
            <a:avLst/>
          </a:prstGeom>
          <a:noFill/>
        </p:spPr>
        <p:txBody>
          <a:bodyPr wrap="square">
            <a:spAutoFit/>
          </a:bodyPr>
          <a:lstStyle/>
          <a:p>
            <a:pPr algn="ctr"/>
            <a:r>
              <a:rPr lang="zh-CN" altLang="en-US" sz="1400" dirty="0">
                <a:effectLst/>
                <a:latin typeface="+mn-lt"/>
                <a:ea typeface="+mn-ea"/>
                <a:cs typeface="Times New Roman" panose="02020603050405020304" pitchFamily="18" charset="0"/>
              </a:rPr>
              <a:t>函数包</a:t>
            </a:r>
            <a:r>
              <a:rPr lang="en-US" altLang="zh-CN" sz="1400" b="1" dirty="0" err="1">
                <a:effectLst/>
                <a:latin typeface="+mn-lt"/>
                <a:ea typeface="+mn-ea"/>
                <a:cs typeface="Times New Roman" panose="02020603050405020304" pitchFamily="18" charset="0"/>
              </a:rPr>
              <a:t>readr</a:t>
            </a:r>
            <a:r>
              <a:rPr lang="zh-CN" altLang="en-US" sz="1400" dirty="0">
                <a:effectLst/>
                <a:latin typeface="+mn-lt"/>
                <a:ea typeface="+mn-ea"/>
                <a:cs typeface="Times New Roman" panose="02020603050405020304" pitchFamily="18" charset="0"/>
              </a:rPr>
              <a:t>中空间数据读入函数参数表</a:t>
            </a:r>
            <a:endParaRPr lang="zh-CN" altLang="en-US" sz="1400" dirty="0">
              <a:latin typeface="+mn-lt"/>
              <a:ea typeface="+mn-ea"/>
            </a:endParaRPr>
          </a:p>
        </p:txBody>
      </p:sp>
    </p:spTree>
    <p:extLst>
      <p:ext uri="{BB962C8B-B14F-4D97-AF65-F5344CB8AC3E}">
        <p14:creationId xmlns:p14="http://schemas.microsoft.com/office/powerpoint/2010/main" val="3419660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EF534-B201-E9ED-843D-56DBA1E8B12A}"/>
            </a:ext>
          </a:extLst>
        </p:cNvPr>
        <p:cNvGrpSpPr/>
        <p:nvPr/>
      </p:nvGrpSpPr>
      <p:grpSpPr>
        <a:xfrm>
          <a:off x="0" y="0"/>
          <a:ext cx="0" cy="0"/>
          <a:chOff x="0" y="0"/>
          <a:chExt cx="0" cy="0"/>
        </a:xfrm>
      </p:grpSpPr>
      <p:sp>
        <p:nvSpPr>
          <p:cNvPr id="7" name="标题 6">
            <a:extLst>
              <a:ext uri="{FF2B5EF4-FFF2-40B4-BE49-F238E27FC236}">
                <a16:creationId xmlns:a16="http://schemas.microsoft.com/office/drawing/2014/main" id="{30357ADA-A68A-15C7-FF0C-CFA15B4A7820}"/>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2.2.2 </a:t>
            </a:r>
            <a:r>
              <a:rPr lang="zh-CN" altLang="en-US" sz="3600" dirty="0">
                <a:latin typeface="Times New Roman" panose="02020603050405020304" pitchFamily="18" charset="0"/>
                <a:cs typeface="Times New Roman" panose="02020603050405020304" pitchFamily="18" charset="0"/>
              </a:rPr>
              <a:t>基础数据写出</a:t>
            </a:r>
          </a:p>
        </p:txBody>
      </p:sp>
      <p:sp>
        <p:nvSpPr>
          <p:cNvPr id="8" name="灯片编号占位符 7">
            <a:extLst>
              <a:ext uri="{FF2B5EF4-FFF2-40B4-BE49-F238E27FC236}">
                <a16:creationId xmlns:a16="http://schemas.microsoft.com/office/drawing/2014/main" id="{E5D9EB85-45EE-CFBD-B6C7-F6AADB3BB718}"/>
              </a:ext>
            </a:extLst>
          </p:cNvPr>
          <p:cNvSpPr>
            <a:spLocks noGrp="1"/>
          </p:cNvSpPr>
          <p:nvPr>
            <p:ph type="sldNum" sz="quarter" idx="12"/>
          </p:nvPr>
        </p:nvSpPr>
        <p:spPr/>
        <p:txBody>
          <a:bodyPr/>
          <a:lstStyle/>
          <a:p>
            <a:pPr>
              <a:defRPr/>
            </a:pPr>
            <a:fld id="{6B3369F9-03CD-4B48-86A9-9EE39A82955A}" type="slidenum">
              <a:rPr lang="zh-CN" altLang="en-US" smtClean="0">
                <a:solidFill>
                  <a:schemeClr val="bg2">
                    <a:lumMod val="75000"/>
                  </a:schemeClr>
                </a:solidFill>
              </a:rPr>
              <a:t>13</a:t>
            </a:fld>
            <a:endParaRPr lang="zh-CN" altLang="en-US" dirty="0">
              <a:solidFill>
                <a:schemeClr val="bg2">
                  <a:lumMod val="75000"/>
                </a:schemeClr>
              </a:solidFill>
            </a:endParaRPr>
          </a:p>
        </p:txBody>
      </p:sp>
      <p:sp>
        <p:nvSpPr>
          <p:cNvPr id="4" name="矩形 3">
            <a:extLst>
              <a:ext uri="{FF2B5EF4-FFF2-40B4-BE49-F238E27FC236}">
                <a16:creationId xmlns:a16="http://schemas.microsoft.com/office/drawing/2014/main" id="{8B8621D8-E466-205E-EB44-070349DD759C}"/>
              </a:ext>
            </a:extLst>
          </p:cNvPr>
          <p:cNvSpPr/>
          <p:nvPr/>
        </p:nvSpPr>
        <p:spPr>
          <a:xfrm>
            <a:off x="514350" y="1559101"/>
            <a:ext cx="8115300" cy="1725344"/>
          </a:xfrm>
          <a:prstGeom prst="rect">
            <a:avLst/>
          </a:prstGeom>
        </p:spPr>
        <p:txBody>
          <a:bodyPr wrap="square">
            <a:spAutoFit/>
          </a:bodyPr>
          <a:lstStyle/>
          <a:p>
            <a:pPr>
              <a:lnSpc>
                <a:spcPct val="120000"/>
              </a:lnSpc>
            </a:pPr>
            <a:r>
              <a:rPr lang="zh-CN" altLang="en-US" b="1" dirty="0">
                <a:latin typeface="+mn-lt"/>
                <a:ea typeface="+mj-ea"/>
                <a:cs typeface="+mn-ea"/>
                <a:sym typeface="Consolas" panose="020B0609020204030204" pitchFamily="49" charset="0"/>
              </a:rPr>
              <a:t>使用</a:t>
            </a:r>
            <a:r>
              <a:rPr lang="en-US" altLang="zh-CN" b="1" dirty="0">
                <a:latin typeface="+mn-lt"/>
                <a:ea typeface="+mj-ea"/>
                <a:cs typeface="+mn-ea"/>
                <a:sym typeface="Consolas" panose="020B0609020204030204" pitchFamily="49" charset="0"/>
              </a:rPr>
              <a:t>R</a:t>
            </a:r>
            <a:r>
              <a:rPr lang="zh-CN" altLang="en-US" b="1" dirty="0">
                <a:latin typeface="+mn-lt"/>
                <a:ea typeface="+mj-ea"/>
                <a:cs typeface="+mn-ea"/>
                <a:sym typeface="Consolas" panose="020B0609020204030204" pitchFamily="49" charset="0"/>
              </a:rPr>
              <a:t>中的</a:t>
            </a:r>
            <a:r>
              <a:rPr lang="en-US" altLang="zh-CN" b="1" i="1" dirty="0" err="1">
                <a:latin typeface="+mn-lt"/>
                <a:ea typeface="+mj-ea"/>
                <a:cs typeface="+mn-ea"/>
                <a:sym typeface="Consolas" panose="020B0609020204030204" pitchFamily="49" charset="0"/>
              </a:rPr>
              <a:t>write_delim</a:t>
            </a:r>
            <a:r>
              <a:rPr lang="en-US" altLang="zh-CN" b="1" i="1" dirty="0">
                <a:latin typeface="+mn-lt"/>
                <a:ea typeface="+mj-ea"/>
                <a:cs typeface="+mn-ea"/>
                <a:sym typeface="Consolas" panose="020B0609020204030204" pitchFamily="49" charset="0"/>
              </a:rPr>
              <a:t>()</a:t>
            </a:r>
            <a:r>
              <a:rPr lang="zh-CN" altLang="en-US" b="1" dirty="0">
                <a:latin typeface="+mn-lt"/>
                <a:ea typeface="+mj-ea"/>
                <a:cs typeface="+mn-ea"/>
                <a:sym typeface="Consolas" panose="020B0609020204030204" pitchFamily="49" charset="0"/>
              </a:rPr>
              <a:t>和</a:t>
            </a:r>
            <a:r>
              <a:rPr lang="en-US" altLang="zh-CN" b="1" i="1" dirty="0" err="1">
                <a:latin typeface="+mn-lt"/>
                <a:ea typeface="+mj-ea"/>
                <a:cs typeface="+mn-ea"/>
                <a:sym typeface="Consolas" panose="020B0609020204030204" pitchFamily="49" charset="0"/>
              </a:rPr>
              <a:t>write_csv</a:t>
            </a:r>
            <a:r>
              <a:rPr lang="en-US" altLang="zh-CN" b="1" i="1" dirty="0">
                <a:latin typeface="+mn-lt"/>
                <a:ea typeface="+mj-ea"/>
                <a:cs typeface="+mn-ea"/>
                <a:sym typeface="Consolas" panose="020B0609020204030204" pitchFamily="49" charset="0"/>
              </a:rPr>
              <a:t>()</a:t>
            </a:r>
            <a:r>
              <a:rPr lang="zh-CN" altLang="en-US" b="1" dirty="0">
                <a:latin typeface="+mn-lt"/>
                <a:ea typeface="+mj-ea"/>
                <a:cs typeface="+mn-ea"/>
                <a:sym typeface="Consolas" panose="020B0609020204030204" pitchFamily="49" charset="0"/>
              </a:rPr>
              <a:t>将</a:t>
            </a:r>
            <a:r>
              <a:rPr lang="en-US" altLang="zh-CN" b="1" dirty="0" err="1">
                <a:latin typeface="+mn-lt"/>
                <a:ea typeface="+mj-ea"/>
                <a:cs typeface="+mn-ea"/>
                <a:sym typeface="Consolas" panose="020B0609020204030204" pitchFamily="49" charset="0"/>
              </a:rPr>
              <a:t>data.frame</a:t>
            </a:r>
            <a:r>
              <a:rPr lang="zh-CN" altLang="en-US" b="1" dirty="0">
                <a:latin typeface="+mn-lt"/>
                <a:ea typeface="+mj-ea"/>
                <a:cs typeface="+mn-ea"/>
                <a:sym typeface="Consolas" panose="020B0609020204030204" pitchFamily="49" charset="0"/>
              </a:rPr>
              <a:t>对象写入文本文件和</a:t>
            </a:r>
            <a:r>
              <a:rPr lang="en-US" altLang="zh-CN" b="1" dirty="0">
                <a:latin typeface="+mn-lt"/>
                <a:ea typeface="+mj-ea"/>
                <a:cs typeface="+mn-ea"/>
                <a:sym typeface="Consolas" panose="020B0609020204030204" pitchFamily="49" charset="0"/>
              </a:rPr>
              <a:t>CSV</a:t>
            </a:r>
            <a:r>
              <a:rPr lang="zh-CN" altLang="en-US" b="1" dirty="0">
                <a:latin typeface="+mn-lt"/>
                <a:ea typeface="+mj-ea"/>
                <a:cs typeface="+mn-ea"/>
                <a:sym typeface="Consolas" panose="020B0609020204030204" pitchFamily="49" charset="0"/>
              </a:rPr>
              <a:t>文件</a:t>
            </a:r>
            <a:endParaRPr lang="en-US" altLang="zh-CN" b="1" dirty="0">
              <a:latin typeface="+mn-lt"/>
              <a:ea typeface="+mj-ea"/>
              <a:cs typeface="+mn-ea"/>
              <a:sym typeface="Consolas" panose="020B0609020204030204" pitchFamily="49" charset="0"/>
            </a:endParaRPr>
          </a:p>
          <a:p>
            <a:pPr marL="342900" indent="-342900">
              <a:lnSpc>
                <a:spcPct val="120000"/>
              </a:lnSpc>
              <a:buFont typeface="+mj-lt"/>
              <a:buAutoNum type="arabicPeriod"/>
            </a:pPr>
            <a:r>
              <a:rPr lang="zh-CN" altLang="zh-CN" sz="1800" dirty="0">
                <a:effectLst/>
                <a:latin typeface="+mn-lt"/>
                <a:ea typeface="宋体" panose="02010600030101010101" pitchFamily="2" charset="-122"/>
                <a:cs typeface="Times New Roman" panose="02020603050405020304" pitchFamily="18" charset="0"/>
              </a:rPr>
              <a:t>创建一个名为</a:t>
            </a:r>
            <a:r>
              <a:rPr lang="en-US" altLang="zh-CN" sz="1800" dirty="0" err="1">
                <a:effectLst/>
                <a:latin typeface="+mn-lt"/>
                <a:ea typeface="宋体" panose="02010600030101010101" pitchFamily="2" charset="-122"/>
              </a:rPr>
              <a:t>df</a:t>
            </a:r>
            <a:r>
              <a:rPr lang="zh-CN" altLang="zh-CN" sz="1800" dirty="0">
                <a:effectLst/>
                <a:latin typeface="+mn-lt"/>
                <a:ea typeface="宋体" panose="02010600030101010101" pitchFamily="2" charset="-122"/>
                <a:cs typeface="Times New Roman" panose="02020603050405020304" pitchFamily="18" charset="0"/>
              </a:rPr>
              <a:t>的数据框，其中包含了三列不同类型的数据</a:t>
            </a:r>
            <a:endParaRPr lang="en-US" altLang="zh-CN" sz="1800" dirty="0">
              <a:effectLst/>
              <a:latin typeface="+mn-lt"/>
              <a:ea typeface="宋体" panose="02010600030101010101" pitchFamily="2" charset="-122"/>
              <a:cs typeface="Times New Roman" panose="02020603050405020304" pitchFamily="18" charset="0"/>
            </a:endParaRPr>
          </a:p>
          <a:p>
            <a:pPr marL="342900" indent="-342900">
              <a:lnSpc>
                <a:spcPct val="120000"/>
              </a:lnSpc>
              <a:buFont typeface="+mj-lt"/>
              <a:buAutoNum type="arabicPeriod"/>
            </a:pPr>
            <a:r>
              <a:rPr lang="zh-CN" altLang="zh-CN" sz="1800" dirty="0">
                <a:effectLst/>
                <a:latin typeface="+mn-lt"/>
                <a:ea typeface="宋体" panose="02010600030101010101" pitchFamily="2" charset="-122"/>
                <a:cs typeface="Times New Roman" panose="02020603050405020304" pitchFamily="18" charset="0"/>
              </a:rPr>
              <a:t>使用</a:t>
            </a:r>
            <a:r>
              <a:rPr lang="en-US" altLang="zh-CN" sz="1800" i="1" dirty="0" err="1">
                <a:effectLst/>
                <a:latin typeface="+mn-lt"/>
                <a:ea typeface="宋体" panose="02010600030101010101" pitchFamily="2" charset="-122"/>
              </a:rPr>
              <a:t>write_delim</a:t>
            </a:r>
            <a:r>
              <a:rPr lang="en-US" altLang="zh-CN" sz="1800" i="1" dirty="0">
                <a:effectLst/>
                <a:latin typeface="+mn-lt"/>
                <a:ea typeface="宋体" panose="02010600030101010101" pitchFamily="2" charset="-122"/>
              </a:rPr>
              <a:t>()</a:t>
            </a:r>
            <a:r>
              <a:rPr lang="zh-CN" altLang="zh-CN" sz="1800" dirty="0">
                <a:effectLst/>
                <a:latin typeface="+mn-lt"/>
                <a:ea typeface="宋体" panose="02010600030101010101" pitchFamily="2" charset="-122"/>
                <a:cs typeface="Times New Roman" panose="02020603050405020304" pitchFamily="18" charset="0"/>
              </a:rPr>
              <a:t>将这个数据框写入一个文本文件</a:t>
            </a:r>
            <a:r>
              <a:rPr lang="en-US" altLang="zh-CN" sz="1800" dirty="0">
                <a:effectLst/>
                <a:latin typeface="+mn-lt"/>
                <a:ea typeface="宋体" panose="02010600030101010101" pitchFamily="2" charset="-122"/>
                <a:cs typeface="Times New Roman" panose="02020603050405020304" pitchFamily="18" charset="0"/>
              </a:rPr>
              <a:t>"</a:t>
            </a:r>
            <a:r>
              <a:rPr lang="en-US" altLang="zh-CN" sz="1800" dirty="0">
                <a:effectLst/>
                <a:latin typeface="+mn-lt"/>
                <a:ea typeface="宋体" panose="02010600030101010101" pitchFamily="2" charset="-122"/>
              </a:rPr>
              <a:t>df.txt</a:t>
            </a:r>
            <a:r>
              <a:rPr lang="en-US" altLang="zh-CN" sz="1800" dirty="0">
                <a:effectLst/>
                <a:latin typeface="+mn-lt"/>
                <a:ea typeface="宋体" panose="02010600030101010101" pitchFamily="2" charset="-122"/>
                <a:cs typeface="Times New Roman" panose="02020603050405020304" pitchFamily="18" charset="0"/>
              </a:rPr>
              <a:t> " </a:t>
            </a:r>
            <a:r>
              <a:rPr lang="zh-CN" altLang="en-US" sz="1800" dirty="0">
                <a:effectLst/>
                <a:latin typeface="+mn-lt"/>
                <a:ea typeface="宋体" panose="02010600030101010101" pitchFamily="2" charset="-122"/>
              </a:rPr>
              <a:t>（</a:t>
            </a:r>
            <a:r>
              <a:rPr lang="zh-CN" altLang="zh-CN" sz="1800" dirty="0">
                <a:effectLst/>
                <a:latin typeface="+mn-lt"/>
                <a:ea typeface="宋体" panose="02010600030101010101" pitchFamily="2" charset="-122"/>
                <a:cs typeface="Times New Roman" panose="02020603050405020304" pitchFamily="18" charset="0"/>
              </a:rPr>
              <a:t>指定将缺失值表示为</a:t>
            </a:r>
            <a:r>
              <a:rPr lang="en-US" altLang="zh-CN" sz="1800" dirty="0">
                <a:effectLst/>
                <a:latin typeface="+mn-lt"/>
                <a:ea typeface="宋体" panose="02010600030101010101" pitchFamily="2" charset="-122"/>
              </a:rPr>
              <a:t>"*"</a:t>
            </a:r>
            <a:r>
              <a:rPr lang="zh-CN" altLang="zh-CN" sz="1800" dirty="0">
                <a:effectLst/>
                <a:latin typeface="+mn-lt"/>
                <a:ea typeface="宋体" panose="02010600030101010101" pitchFamily="2" charset="-122"/>
                <a:cs typeface="Times New Roman" panose="02020603050405020304" pitchFamily="18" charset="0"/>
              </a:rPr>
              <a:t>，并且设置逗号作为分隔符</a:t>
            </a:r>
            <a:r>
              <a:rPr lang="zh-CN" altLang="en-US" sz="1800" dirty="0">
                <a:effectLst/>
                <a:latin typeface="+mn-lt"/>
                <a:ea typeface="宋体" panose="02010600030101010101" pitchFamily="2" charset="-122"/>
              </a:rPr>
              <a:t>）</a:t>
            </a:r>
            <a:endParaRPr lang="en-US" altLang="zh-CN" sz="1800" dirty="0">
              <a:effectLst/>
              <a:latin typeface="+mn-lt"/>
              <a:ea typeface="宋体" panose="02010600030101010101" pitchFamily="2" charset="-122"/>
            </a:endParaRPr>
          </a:p>
          <a:p>
            <a:pPr marL="342900" indent="-342900">
              <a:lnSpc>
                <a:spcPct val="120000"/>
              </a:lnSpc>
              <a:buFont typeface="+mj-lt"/>
              <a:buAutoNum type="arabicPeriod"/>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再使用</a:t>
            </a:r>
            <a:r>
              <a:rPr lang="en-US" altLang="zh-CN" sz="1800" i="1" dirty="0" err="1">
                <a:effectLst/>
                <a:latin typeface="Times New Roman" panose="02020603050405020304" pitchFamily="18" charset="0"/>
                <a:ea typeface="宋体" panose="02010600030101010101" pitchFamily="2" charset="-122"/>
              </a:rPr>
              <a:t>write_csv</a:t>
            </a:r>
            <a:r>
              <a:rPr lang="en-US" altLang="zh-CN" sz="1800" i="1"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将同样的数据框写入一个</a:t>
            </a:r>
            <a:r>
              <a:rPr lang="en-US" altLang="zh-CN" sz="1800" dirty="0">
                <a:effectLst/>
                <a:latin typeface="Times New Roman" panose="02020603050405020304" pitchFamily="18" charset="0"/>
                <a:ea typeface="宋体" panose="02010600030101010101" pitchFamily="2" charset="-122"/>
              </a:rPr>
              <a:t>CSV</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文件</a:t>
            </a:r>
            <a:r>
              <a:rPr lang="en-US" altLang="zh-CN" sz="1800" dirty="0">
                <a:effectLst/>
                <a:latin typeface="Times New Roman" panose="02020603050405020304" pitchFamily="18" charset="0"/>
                <a:ea typeface="宋体" panose="02010600030101010101" pitchFamily="2" charset="-122"/>
              </a:rPr>
              <a:t>"df.csv"</a:t>
            </a:r>
            <a:endParaRPr lang="en-US" altLang="zh-CN" dirty="0">
              <a:latin typeface="+mn-lt"/>
              <a:ea typeface="+mn-ea"/>
              <a:cs typeface="+mn-ea"/>
              <a:sym typeface="Consolas" panose="020B0609020204030204" pitchFamily="49" charset="0"/>
            </a:endParaRPr>
          </a:p>
        </p:txBody>
      </p:sp>
      <p:sp>
        <p:nvSpPr>
          <p:cNvPr id="2" name="文本框 1">
            <a:extLst>
              <a:ext uri="{FF2B5EF4-FFF2-40B4-BE49-F238E27FC236}">
                <a16:creationId xmlns:a16="http://schemas.microsoft.com/office/drawing/2014/main" id="{4441BE30-506C-CDD1-1B3C-D04B8491E1AD}"/>
              </a:ext>
            </a:extLst>
          </p:cNvPr>
          <p:cNvSpPr txBox="1"/>
          <p:nvPr/>
        </p:nvSpPr>
        <p:spPr>
          <a:xfrm>
            <a:off x="723900" y="3390900"/>
            <a:ext cx="7429500" cy="1815882"/>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data.frame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x &lt;-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NA</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NA</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y &lt;- c(</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"B"</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NA</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z &lt;- c(</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FALSE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NA</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write_delim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"df.txt"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na</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delim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write_csv</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"df.csv"</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473532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2.3 R</a:t>
            </a:r>
            <a:r>
              <a:rPr lang="zh-CN" altLang="en-US" sz="3600" dirty="0">
                <a:latin typeface="Times New Roman" panose="02020603050405020304" pitchFamily="18" charset="0"/>
                <a:cs typeface="Times New Roman" panose="02020603050405020304" pitchFamily="18" charset="0"/>
              </a:rPr>
              <a:t>工作空间数据文件存储</a:t>
            </a:r>
          </a:p>
        </p:txBody>
      </p:sp>
      <p:sp>
        <p:nvSpPr>
          <p:cNvPr id="12" name="灯片编号占位符 11"/>
          <p:cNvSpPr>
            <a:spLocks noGrp="1"/>
          </p:cNvSpPr>
          <p:nvPr>
            <p:ph type="sldNum" sz="quarter" idx="12"/>
          </p:nvPr>
        </p:nvSpPr>
        <p:spPr/>
        <p:txBody>
          <a:bodyPr/>
          <a:lstStyle/>
          <a:p>
            <a:fld id="{6B3369F9-03CD-4B48-86A9-9EE39A82955A}" type="slidenum">
              <a:rPr lang="zh-CN" altLang="en-US">
                <a:solidFill>
                  <a:schemeClr val="bg2">
                    <a:lumMod val="75000"/>
                  </a:schemeClr>
                </a:solidFill>
              </a:rPr>
              <a:t>14</a:t>
            </a:fld>
            <a:endParaRPr lang="zh-CN" altLang="en-US" dirty="0">
              <a:solidFill>
                <a:schemeClr val="bg2">
                  <a:lumMod val="75000"/>
                </a:schemeClr>
              </a:solidFill>
            </a:endParaRPr>
          </a:p>
        </p:txBody>
      </p:sp>
      <p:sp>
        <p:nvSpPr>
          <p:cNvPr id="4" name="矩形 3">
            <a:extLst>
              <a:ext uri="{FF2B5EF4-FFF2-40B4-BE49-F238E27FC236}">
                <a16:creationId xmlns:a16="http://schemas.microsoft.com/office/drawing/2014/main" id="{8F822DB0-BF22-43A9-37CC-B0CE67CA9461}"/>
              </a:ext>
            </a:extLst>
          </p:cNvPr>
          <p:cNvSpPr/>
          <p:nvPr/>
        </p:nvSpPr>
        <p:spPr>
          <a:xfrm>
            <a:off x="457200" y="1665717"/>
            <a:ext cx="8039100" cy="3928127"/>
          </a:xfrm>
          <a:prstGeom prst="rect">
            <a:avLst/>
          </a:prstGeom>
        </p:spPr>
        <p:txBody>
          <a:bodyPr wrap="square">
            <a:spAutoFit/>
          </a:bodyPr>
          <a:lstStyle/>
          <a:p>
            <a:pPr marL="285750" indent="457200" algn="just">
              <a:lnSpc>
                <a:spcPct val="140000"/>
              </a:lnSpc>
              <a:buFont typeface="Wingdings" panose="05000000000000000000" pitchFamily="2" charset="2"/>
              <a:buChar char="ü"/>
            </a:pPr>
            <a:r>
              <a:rPr lang="zh-CN" altLang="en-US" b="1" dirty="0">
                <a:latin typeface="+mj-lt"/>
                <a:ea typeface="微软雅黑" panose="020B0503020204020204" pitchFamily="34" charset="-122"/>
                <a:sym typeface="Consolas" panose="020B0609020204030204" pitchFamily="49" charset="0"/>
              </a:rPr>
              <a:t>工作空间</a:t>
            </a:r>
            <a:r>
              <a:rPr lang="zh-CN" altLang="en-US" dirty="0">
                <a:latin typeface="+mj-lt"/>
                <a:ea typeface="微软雅黑" panose="020B0503020204020204" pitchFamily="34" charset="-122"/>
                <a:sym typeface="Consolas" panose="020B0609020204030204" pitchFamily="49" charset="0"/>
              </a:rPr>
              <a:t>（</a:t>
            </a:r>
            <a:r>
              <a:rPr lang="en-US" altLang="zh-CN" dirty="0">
                <a:latin typeface="+mj-lt"/>
                <a:ea typeface="微软雅黑" panose="020B0503020204020204" pitchFamily="34" charset="-122"/>
                <a:sym typeface="Consolas" panose="020B0609020204030204" pitchFamily="49" charset="0"/>
              </a:rPr>
              <a:t>workspace</a:t>
            </a:r>
            <a:r>
              <a:rPr lang="zh-CN" altLang="en-US" dirty="0">
                <a:latin typeface="+mj-lt"/>
                <a:ea typeface="微软雅黑" panose="020B0503020204020204" pitchFamily="34" charset="-122"/>
                <a:sym typeface="Consolas" panose="020B0609020204030204" pitchFamily="49" charset="0"/>
              </a:rPr>
              <a:t>）是当前</a:t>
            </a:r>
            <a:r>
              <a:rPr lang="en-US" altLang="zh-CN" b="1" dirty="0">
                <a:latin typeface="+mj-lt"/>
                <a:ea typeface="微软雅黑" panose="020B0503020204020204" pitchFamily="34" charset="-122"/>
                <a:sym typeface="Consolas" panose="020B0609020204030204" pitchFamily="49" charset="0"/>
              </a:rPr>
              <a:t>R</a:t>
            </a:r>
            <a:r>
              <a:rPr lang="zh-CN" altLang="en-US" dirty="0">
                <a:latin typeface="+mj-lt"/>
                <a:ea typeface="微软雅黑" panose="020B0503020204020204" pitchFamily="34" charset="-122"/>
                <a:sym typeface="Consolas" panose="020B0609020204030204" pitchFamily="49" charset="0"/>
              </a:rPr>
              <a:t>的工作环境，它</a:t>
            </a:r>
            <a:r>
              <a:rPr lang="zh-CN" altLang="en-US" b="1" dirty="0">
                <a:latin typeface="+mj-lt"/>
                <a:ea typeface="微软雅黑" panose="020B0503020204020204" pitchFamily="34" charset="-122"/>
                <a:sym typeface="Consolas" panose="020B0609020204030204" pitchFamily="49" charset="0"/>
              </a:rPr>
              <a:t>存储着用户定义的所有对象</a:t>
            </a:r>
            <a:r>
              <a:rPr lang="zh-CN" altLang="en-US" dirty="0">
                <a:latin typeface="+mj-lt"/>
                <a:ea typeface="微软雅黑" panose="020B0503020204020204" pitchFamily="34" charset="-122"/>
                <a:sym typeface="Consolas" panose="020B0609020204030204" pitchFamily="49" charset="0"/>
              </a:rPr>
              <a:t>（向量、矩阵、函数、数据框、列表）。</a:t>
            </a:r>
            <a:endParaRPr lang="en-US" altLang="zh-CN" dirty="0">
              <a:latin typeface="+mj-lt"/>
              <a:ea typeface="微软雅黑" panose="020B0503020204020204" pitchFamily="34" charset="-122"/>
              <a:sym typeface="Consolas" panose="020B0609020204030204" pitchFamily="49" charset="0"/>
            </a:endParaRPr>
          </a:p>
          <a:p>
            <a:pPr marL="285750" indent="457200" algn="just">
              <a:lnSpc>
                <a:spcPct val="140000"/>
              </a:lnSpc>
              <a:buFont typeface="Wingdings" panose="05000000000000000000" pitchFamily="2" charset="2"/>
              <a:buChar char="ü"/>
            </a:pPr>
            <a:r>
              <a:rPr lang="zh-CN" altLang="en-US" dirty="0">
                <a:latin typeface="+mj-lt"/>
                <a:ea typeface="微软雅黑" panose="020B0503020204020204" pitchFamily="34" charset="-122"/>
                <a:sym typeface="Consolas" panose="020B0609020204030204" pitchFamily="49" charset="0"/>
              </a:rPr>
              <a:t>在一个</a:t>
            </a:r>
            <a:r>
              <a:rPr lang="en-US" altLang="zh-CN" b="1" dirty="0">
                <a:latin typeface="+mj-lt"/>
                <a:ea typeface="微软雅黑" panose="020B0503020204020204" pitchFamily="34" charset="-122"/>
                <a:sym typeface="Consolas" panose="020B0609020204030204" pitchFamily="49" charset="0"/>
              </a:rPr>
              <a:t>R</a:t>
            </a:r>
            <a:r>
              <a:rPr lang="zh-CN" altLang="en-US" dirty="0">
                <a:latin typeface="+mj-lt"/>
                <a:ea typeface="微软雅黑" panose="020B0503020204020204" pitchFamily="34" charset="-122"/>
                <a:sym typeface="Consolas" panose="020B0609020204030204" pitchFamily="49" charset="0"/>
              </a:rPr>
              <a:t>会话结束时，使用</a:t>
            </a:r>
            <a:r>
              <a:rPr lang="en-US" altLang="zh-CN" b="1" i="1" dirty="0" err="1">
                <a:latin typeface="+mj-lt"/>
                <a:ea typeface="微软雅黑" panose="020B0503020204020204" pitchFamily="34" charset="-122"/>
                <a:sym typeface="Consolas" panose="020B0609020204030204" pitchFamily="49" charset="0"/>
              </a:rPr>
              <a:t>save.image</a:t>
            </a:r>
            <a:r>
              <a:rPr lang="en-US" altLang="zh-CN" b="1" i="1" dirty="0">
                <a:latin typeface="+mj-lt"/>
                <a:ea typeface="微软雅黑" panose="020B0503020204020204" pitchFamily="34" charset="-122"/>
                <a:sym typeface="Consolas" panose="020B0609020204030204" pitchFamily="49" charset="0"/>
              </a:rPr>
              <a:t>()</a:t>
            </a:r>
            <a:r>
              <a:rPr lang="zh-CN" altLang="en-US" dirty="0">
                <a:latin typeface="+mj-lt"/>
                <a:ea typeface="微软雅黑" panose="020B0503020204020204" pitchFamily="34" charset="-122"/>
                <a:sym typeface="Consolas" panose="020B0609020204030204" pitchFamily="49" charset="0"/>
              </a:rPr>
              <a:t>，可以将当前工作空间保存到一个</a:t>
            </a:r>
            <a:r>
              <a:rPr lang="en-US" altLang="zh-CN" b="1" dirty="0">
                <a:latin typeface="+mj-lt"/>
                <a:ea typeface="微软雅黑" panose="020B0503020204020204" pitchFamily="34" charset="-122"/>
                <a:sym typeface="Consolas" panose="020B0609020204030204" pitchFamily="49" charset="0"/>
              </a:rPr>
              <a:t>.</a:t>
            </a:r>
            <a:r>
              <a:rPr lang="en-US" altLang="zh-CN" b="1" dirty="0" err="1">
                <a:latin typeface="+mj-lt"/>
                <a:ea typeface="微软雅黑" panose="020B0503020204020204" pitchFamily="34" charset="-122"/>
                <a:sym typeface="Consolas" panose="020B0609020204030204" pitchFamily="49" charset="0"/>
              </a:rPr>
              <a:t>RData</a:t>
            </a:r>
            <a:r>
              <a:rPr lang="zh-CN" altLang="en-US" b="1" dirty="0">
                <a:latin typeface="+mj-lt"/>
                <a:ea typeface="微软雅黑" panose="020B0503020204020204" pitchFamily="34" charset="-122"/>
                <a:sym typeface="Consolas" panose="020B0609020204030204" pitchFamily="49" charset="0"/>
              </a:rPr>
              <a:t>文件</a:t>
            </a:r>
            <a:r>
              <a:rPr lang="zh-CN" altLang="en-US" dirty="0">
                <a:latin typeface="+mj-lt"/>
                <a:ea typeface="微软雅黑" panose="020B0503020204020204" pitchFamily="34" charset="-122"/>
                <a:sym typeface="Consolas" panose="020B0609020204030204" pitchFamily="49" charset="0"/>
              </a:rPr>
              <a:t>中，在下次启动</a:t>
            </a:r>
            <a:r>
              <a:rPr lang="en-US" altLang="zh-CN" b="1" dirty="0">
                <a:latin typeface="+mj-lt"/>
                <a:ea typeface="微软雅黑" panose="020B0503020204020204" pitchFamily="34" charset="-122"/>
                <a:sym typeface="Consolas" panose="020B0609020204030204" pitchFamily="49" charset="0"/>
              </a:rPr>
              <a:t>R</a:t>
            </a:r>
            <a:r>
              <a:rPr lang="zh-CN" altLang="en-US" dirty="0">
                <a:latin typeface="+mj-lt"/>
                <a:ea typeface="微软雅黑" panose="020B0503020204020204" pitchFamily="34" charset="-122"/>
                <a:sym typeface="Consolas" panose="020B0609020204030204" pitchFamily="49" charset="0"/>
              </a:rPr>
              <a:t>时可通过</a:t>
            </a:r>
            <a:r>
              <a:rPr lang="en-US" altLang="zh-CN" b="1" i="1" dirty="0">
                <a:latin typeface="+mj-lt"/>
                <a:ea typeface="微软雅黑" panose="020B0503020204020204" pitchFamily="34" charset="-122"/>
                <a:sym typeface="Consolas" panose="020B0609020204030204" pitchFamily="49" charset="0"/>
              </a:rPr>
              <a:t>load()</a:t>
            </a:r>
            <a:r>
              <a:rPr lang="zh-CN" altLang="en-US" dirty="0">
                <a:latin typeface="+mj-lt"/>
                <a:ea typeface="微软雅黑" panose="020B0503020204020204" pitchFamily="34" charset="-122"/>
                <a:sym typeface="Consolas" panose="020B0609020204030204" pitchFamily="49" charset="0"/>
              </a:rPr>
              <a:t>载入该工作空间（</a:t>
            </a:r>
            <a:r>
              <a:rPr lang="en-US" altLang="zh-CN" dirty="0">
                <a:latin typeface="+mj-lt"/>
                <a:ea typeface="微软雅黑" panose="020B0503020204020204" pitchFamily="34" charset="-122"/>
                <a:sym typeface="Consolas" panose="020B0609020204030204" pitchFamily="49" charset="0"/>
              </a:rPr>
              <a:t>.</a:t>
            </a:r>
            <a:r>
              <a:rPr lang="en-US" altLang="zh-CN" dirty="0" err="1">
                <a:latin typeface="+mj-lt"/>
                <a:ea typeface="微软雅黑" panose="020B0503020204020204" pitchFamily="34" charset="-122"/>
                <a:sym typeface="Consolas" panose="020B0609020204030204" pitchFamily="49" charset="0"/>
              </a:rPr>
              <a:t>RData</a:t>
            </a:r>
            <a:r>
              <a:rPr lang="zh-CN" altLang="en-US" dirty="0">
                <a:latin typeface="+mj-lt"/>
                <a:ea typeface="微软雅黑" panose="020B0503020204020204" pitchFamily="34" charset="-122"/>
                <a:sym typeface="Consolas" panose="020B0609020204030204" pitchFamily="49" charset="0"/>
              </a:rPr>
              <a:t>）。</a:t>
            </a:r>
            <a:endParaRPr lang="en-US" altLang="zh-CN" dirty="0">
              <a:latin typeface="+mj-lt"/>
              <a:ea typeface="微软雅黑" panose="020B0503020204020204" pitchFamily="34" charset="-122"/>
              <a:sym typeface="Consolas" panose="020B0609020204030204" pitchFamily="49" charset="0"/>
            </a:endParaRPr>
          </a:p>
          <a:p>
            <a:pPr marL="285750" indent="457200" algn="just">
              <a:lnSpc>
                <a:spcPct val="140000"/>
              </a:lnSpc>
              <a:buFont typeface="Wingdings" panose="05000000000000000000" pitchFamily="2" charset="2"/>
              <a:buChar char="ü"/>
            </a:pPr>
            <a:r>
              <a:rPr lang="zh-CN" altLang="en-US" dirty="0">
                <a:latin typeface="+mj-lt"/>
                <a:ea typeface="微软雅黑" panose="020B0503020204020204" pitchFamily="34" charset="-122"/>
                <a:sym typeface="Consolas" panose="020B0609020204030204" pitchFamily="49" charset="0"/>
              </a:rPr>
              <a:t>使用</a:t>
            </a:r>
            <a:r>
              <a:rPr lang="en-US" altLang="zh-CN" b="1" i="1" dirty="0" err="1">
                <a:latin typeface="+mj-lt"/>
                <a:ea typeface="微软雅黑" panose="020B0503020204020204" pitchFamily="34" charset="-122"/>
                <a:sym typeface="Consolas" panose="020B0609020204030204" pitchFamily="49" charset="0"/>
              </a:rPr>
              <a:t>save.image</a:t>
            </a:r>
            <a:r>
              <a:rPr lang="en-US" altLang="zh-CN" b="1" i="1" dirty="0">
                <a:latin typeface="+mj-lt"/>
                <a:ea typeface="微软雅黑" panose="020B0503020204020204" pitchFamily="34" charset="-122"/>
                <a:sym typeface="Consolas" panose="020B0609020204030204" pitchFamily="49" charset="0"/>
              </a:rPr>
              <a:t>()</a:t>
            </a:r>
            <a:r>
              <a:rPr lang="zh-CN" altLang="en-US" dirty="0">
                <a:latin typeface="+mj-lt"/>
                <a:ea typeface="微软雅黑" panose="020B0503020204020204" pitchFamily="34" charset="-122"/>
                <a:sym typeface="Consolas" panose="020B0609020204030204" pitchFamily="49" charset="0"/>
              </a:rPr>
              <a:t>每次均保存了</a:t>
            </a:r>
            <a:r>
              <a:rPr lang="zh-CN" altLang="en-US" b="1" dirty="0">
                <a:latin typeface="+mj-lt"/>
                <a:ea typeface="微软雅黑" panose="020B0503020204020204" pitchFamily="34" charset="-122"/>
                <a:sym typeface="Consolas" panose="020B0609020204030204" pitchFamily="49" charset="0"/>
              </a:rPr>
              <a:t>所有的变量</a:t>
            </a:r>
            <a:r>
              <a:rPr lang="zh-CN" altLang="en-US" dirty="0">
                <a:latin typeface="+mj-lt"/>
                <a:ea typeface="微软雅黑" panose="020B0503020204020204" pitchFamily="34" charset="-122"/>
                <a:sym typeface="Consolas" panose="020B0609020204030204" pitchFamily="49" charset="0"/>
              </a:rPr>
              <a:t>，当工作空间中涉及的数据体量较大时并不十分方便。</a:t>
            </a:r>
            <a:endParaRPr lang="en-US" altLang="zh-CN" dirty="0">
              <a:latin typeface="+mj-lt"/>
              <a:ea typeface="微软雅黑" panose="020B0503020204020204" pitchFamily="34" charset="-122"/>
              <a:sym typeface="Consolas" panose="020B0609020204030204" pitchFamily="49" charset="0"/>
            </a:endParaRPr>
          </a:p>
          <a:p>
            <a:pPr marL="285750" indent="457200" algn="just">
              <a:lnSpc>
                <a:spcPct val="140000"/>
              </a:lnSpc>
              <a:buFont typeface="Wingdings" panose="05000000000000000000" pitchFamily="2" charset="2"/>
              <a:buChar char="ü"/>
            </a:pPr>
            <a:r>
              <a:rPr lang="zh-CN" altLang="en-US" dirty="0">
                <a:latin typeface="+mj-lt"/>
                <a:ea typeface="微软雅黑" panose="020B0503020204020204" pitchFamily="34" charset="-122"/>
                <a:sym typeface="Consolas" panose="020B0609020204030204" pitchFamily="49" charset="0"/>
              </a:rPr>
              <a:t>通过</a:t>
            </a:r>
            <a:r>
              <a:rPr lang="en-US" altLang="zh-CN" b="1" i="1" dirty="0">
                <a:latin typeface="+mj-lt"/>
                <a:ea typeface="微软雅黑" panose="020B0503020204020204" pitchFamily="34" charset="-122"/>
                <a:sym typeface="Consolas" panose="020B0609020204030204" pitchFamily="49" charset="0"/>
              </a:rPr>
              <a:t>save()</a:t>
            </a:r>
            <a:r>
              <a:rPr lang="zh-CN" altLang="en-US" dirty="0">
                <a:latin typeface="+mj-lt"/>
                <a:ea typeface="微软雅黑" panose="020B0503020204020204" pitchFamily="34" charset="-122"/>
                <a:sym typeface="Consolas" panose="020B0609020204030204" pitchFamily="49" charset="0"/>
              </a:rPr>
              <a:t>可以将</a:t>
            </a:r>
            <a:r>
              <a:rPr lang="zh-CN" altLang="en-US" b="1" dirty="0">
                <a:latin typeface="+mj-lt"/>
                <a:ea typeface="微软雅黑" panose="020B0503020204020204" pitchFamily="34" charset="-122"/>
                <a:sym typeface="Consolas" panose="020B0609020204030204" pitchFamily="49" charset="0"/>
              </a:rPr>
              <a:t>对应变量对象的数据</a:t>
            </a:r>
            <a:r>
              <a:rPr lang="zh-CN" altLang="en-US" dirty="0">
                <a:latin typeface="+mj-lt"/>
                <a:ea typeface="微软雅黑" panose="020B0503020204020204" pitchFamily="34" charset="-122"/>
                <a:sym typeface="Consolas" panose="020B0609020204030204" pitchFamily="49" charset="0"/>
              </a:rPr>
              <a:t>存储在</a:t>
            </a:r>
            <a:r>
              <a:rPr lang="zh-CN" altLang="en-US" b="1" dirty="0">
                <a:latin typeface="+mj-lt"/>
                <a:ea typeface="微软雅黑" panose="020B0503020204020204" pitchFamily="34" charset="-122"/>
                <a:sym typeface="Consolas" panose="020B0609020204030204" pitchFamily="49" charset="0"/>
              </a:rPr>
              <a:t>单独的文件（*</a:t>
            </a:r>
            <a:r>
              <a:rPr lang="en-US" altLang="zh-CN" b="1" dirty="0">
                <a:latin typeface="+mj-lt"/>
                <a:ea typeface="微软雅黑" panose="020B0503020204020204" pitchFamily="34" charset="-122"/>
                <a:sym typeface="Consolas" panose="020B0609020204030204" pitchFamily="49" charset="0"/>
              </a:rPr>
              <a:t>.</a:t>
            </a:r>
            <a:r>
              <a:rPr lang="en-US" altLang="zh-CN" b="1" dirty="0" err="1">
                <a:latin typeface="+mj-lt"/>
                <a:ea typeface="微软雅黑" panose="020B0503020204020204" pitchFamily="34" charset="-122"/>
                <a:sym typeface="Consolas" panose="020B0609020204030204" pitchFamily="49" charset="0"/>
              </a:rPr>
              <a:t>rda</a:t>
            </a:r>
            <a:r>
              <a:rPr lang="zh-CN" altLang="en-US" b="1" dirty="0">
                <a:latin typeface="+mj-lt"/>
                <a:ea typeface="微软雅黑" panose="020B0503020204020204" pitchFamily="34" charset="-122"/>
                <a:sym typeface="Consolas" panose="020B0609020204030204" pitchFamily="49" charset="0"/>
              </a:rPr>
              <a:t>）</a:t>
            </a:r>
            <a:r>
              <a:rPr lang="zh-CN" altLang="en-US" dirty="0">
                <a:latin typeface="+mj-lt"/>
                <a:ea typeface="微软雅黑" panose="020B0503020204020204" pitchFamily="34" charset="-122"/>
                <a:sym typeface="Consolas" panose="020B0609020204030204" pitchFamily="49" charset="0"/>
              </a:rPr>
              <a:t>中，同样可通过</a:t>
            </a:r>
            <a:r>
              <a:rPr lang="en-US" altLang="zh-CN" b="1" i="1" dirty="0">
                <a:latin typeface="+mj-lt"/>
                <a:ea typeface="微软雅黑" panose="020B0503020204020204" pitchFamily="34" charset="-122"/>
                <a:sym typeface="Consolas" panose="020B0609020204030204" pitchFamily="49" charset="0"/>
              </a:rPr>
              <a:t>load()</a:t>
            </a:r>
            <a:r>
              <a:rPr lang="zh-CN" altLang="en-US" dirty="0">
                <a:latin typeface="+mj-lt"/>
                <a:ea typeface="微软雅黑" panose="020B0503020204020204" pitchFamily="34" charset="-122"/>
                <a:sym typeface="Consolas" panose="020B0609020204030204" pitchFamily="49" charset="0"/>
              </a:rPr>
              <a:t>函数载入已保存的对象文件（*</a:t>
            </a:r>
            <a:r>
              <a:rPr lang="en-US" altLang="zh-CN" dirty="0">
                <a:latin typeface="+mj-lt"/>
                <a:ea typeface="微软雅黑" panose="020B0503020204020204" pitchFamily="34" charset="-122"/>
                <a:sym typeface="Consolas" panose="020B0609020204030204" pitchFamily="49" charset="0"/>
              </a:rPr>
              <a:t>.</a:t>
            </a:r>
            <a:r>
              <a:rPr lang="en-US" altLang="zh-CN" dirty="0" err="1">
                <a:latin typeface="+mj-lt"/>
                <a:ea typeface="微软雅黑" panose="020B0503020204020204" pitchFamily="34" charset="-122"/>
                <a:sym typeface="Consolas" panose="020B0609020204030204" pitchFamily="49" charset="0"/>
              </a:rPr>
              <a:t>rda</a:t>
            </a:r>
            <a:r>
              <a:rPr lang="zh-CN" altLang="en-US" dirty="0">
                <a:latin typeface="+mj-lt"/>
                <a:ea typeface="微软雅黑" panose="020B0503020204020204" pitchFamily="34" charset="-122"/>
                <a:sym typeface="Consolas" panose="020B0609020204030204" pitchFamily="49" charset="0"/>
              </a:rPr>
              <a:t>）。可实现不同工作空间下的单个变量数据交互，而不需要每次将不同工作空间文件同时载入，避免了因变量名称相同而造成的数据变量覆盖。</a:t>
            </a:r>
            <a:endParaRPr lang="en-US" altLang="zh-CN" dirty="0">
              <a:latin typeface="+mj-lt"/>
              <a:ea typeface="微软雅黑" panose="020B0503020204020204" pitchFamily="34" charset="-122"/>
              <a:sym typeface="Consolas" panose="020B0609020204030204" pitchFamily="49"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FF61F-B1F4-25AB-EF74-32E1CA2B9323}"/>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96605690-8847-6E3C-444D-0FA2726708B4}"/>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2.3 R</a:t>
            </a:r>
            <a:r>
              <a:rPr lang="zh-CN" altLang="en-US" sz="3600" dirty="0">
                <a:latin typeface="Times New Roman" panose="02020603050405020304" pitchFamily="18" charset="0"/>
                <a:cs typeface="Times New Roman" panose="02020603050405020304" pitchFamily="18" charset="0"/>
              </a:rPr>
              <a:t>工作空间数据文件存储</a:t>
            </a:r>
          </a:p>
        </p:txBody>
      </p:sp>
      <p:sp>
        <p:nvSpPr>
          <p:cNvPr id="12" name="灯片编号占位符 11">
            <a:extLst>
              <a:ext uri="{FF2B5EF4-FFF2-40B4-BE49-F238E27FC236}">
                <a16:creationId xmlns:a16="http://schemas.microsoft.com/office/drawing/2014/main" id="{10B43CCD-2614-74AB-C930-74FC8939545E}"/>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15</a:t>
            </a:fld>
            <a:endParaRPr lang="zh-CN" altLang="en-US" dirty="0">
              <a:solidFill>
                <a:schemeClr val="bg2">
                  <a:lumMod val="75000"/>
                </a:schemeClr>
              </a:solidFill>
            </a:endParaRPr>
          </a:p>
        </p:txBody>
      </p:sp>
      <p:sp>
        <p:nvSpPr>
          <p:cNvPr id="4" name="矩形 3">
            <a:extLst>
              <a:ext uri="{FF2B5EF4-FFF2-40B4-BE49-F238E27FC236}">
                <a16:creationId xmlns:a16="http://schemas.microsoft.com/office/drawing/2014/main" id="{56581CF7-1887-5F58-55EE-AED428DF02DB}"/>
              </a:ext>
            </a:extLst>
          </p:cNvPr>
          <p:cNvSpPr/>
          <p:nvPr/>
        </p:nvSpPr>
        <p:spPr>
          <a:xfrm>
            <a:off x="266700" y="1790700"/>
            <a:ext cx="8420100" cy="3152530"/>
          </a:xfrm>
          <a:prstGeom prst="rect">
            <a:avLst/>
          </a:prstGeom>
        </p:spPr>
        <p:txBody>
          <a:bodyPr wrap="square">
            <a:spAutoFit/>
          </a:bodyPr>
          <a:lstStyle/>
          <a:p>
            <a:pPr marL="285750" indent="457200" algn="just">
              <a:lnSpc>
                <a:spcPct val="140000"/>
              </a:lnSpc>
              <a:buFont typeface="Wingdings" panose="05000000000000000000" pitchFamily="2" charset="2"/>
              <a:buChar char="ü"/>
            </a:pPr>
            <a:r>
              <a:rPr lang="zh-CN" altLang="en-US" dirty="0">
                <a:latin typeface="+mn-lt"/>
                <a:ea typeface="微软雅黑" panose="020B0503020204020204" pitchFamily="34" charset="-122"/>
                <a:sym typeface="Consolas" panose="020B0609020204030204" pitchFamily="49" charset="0"/>
              </a:rPr>
              <a:t>在每一次</a:t>
            </a:r>
            <a:r>
              <a:rPr lang="en-US" altLang="zh-CN" b="1" dirty="0">
                <a:latin typeface="+mn-lt"/>
                <a:ea typeface="微软雅黑" panose="020B0503020204020204" pitchFamily="34" charset="-122"/>
                <a:sym typeface="Consolas" panose="020B0609020204030204" pitchFamily="49" charset="0"/>
              </a:rPr>
              <a:t>R</a:t>
            </a:r>
            <a:r>
              <a:rPr lang="zh-CN" altLang="en-US" dirty="0">
                <a:latin typeface="+mn-lt"/>
                <a:ea typeface="微软雅黑" panose="020B0503020204020204" pitchFamily="34" charset="-122"/>
                <a:sym typeface="Consolas" panose="020B0609020204030204" pitchFamily="49" charset="0"/>
              </a:rPr>
              <a:t>会话结束时，系统都会自动提示“是否保存工作空间映像？”，若选择“是”，则系统会同时保存“</a:t>
            </a:r>
            <a:r>
              <a:rPr lang="en-US" altLang="zh-CN" dirty="0">
                <a:latin typeface="+mn-lt"/>
                <a:ea typeface="微软雅黑" panose="020B0503020204020204" pitchFamily="34" charset="-122"/>
                <a:sym typeface="Consolas" panose="020B0609020204030204" pitchFamily="49" charset="0"/>
              </a:rPr>
              <a:t>.</a:t>
            </a:r>
            <a:r>
              <a:rPr lang="en-US" altLang="zh-CN" dirty="0" err="1">
                <a:latin typeface="+mn-lt"/>
                <a:ea typeface="微软雅黑" panose="020B0503020204020204" pitchFamily="34" charset="-122"/>
                <a:sym typeface="Consolas" panose="020B0609020204030204" pitchFamily="49" charset="0"/>
              </a:rPr>
              <a:t>Rdata</a:t>
            </a:r>
            <a:r>
              <a:rPr lang="zh-CN" altLang="en-US" dirty="0">
                <a:latin typeface="+mn-lt"/>
                <a:ea typeface="微软雅黑" panose="020B0503020204020204" pitchFamily="34" charset="-122"/>
                <a:sym typeface="Consolas" panose="020B0609020204030204" pitchFamily="49" charset="0"/>
              </a:rPr>
              <a:t>”和“</a:t>
            </a:r>
            <a:r>
              <a:rPr lang="en-US" altLang="zh-CN" dirty="0">
                <a:latin typeface="+mn-lt"/>
                <a:ea typeface="微软雅黑" panose="020B0503020204020204" pitchFamily="34" charset="-122"/>
                <a:sym typeface="Consolas" panose="020B0609020204030204" pitchFamily="49" charset="0"/>
              </a:rPr>
              <a:t>.</a:t>
            </a:r>
            <a:r>
              <a:rPr lang="en-US" altLang="zh-CN" dirty="0" err="1">
                <a:latin typeface="+mn-lt"/>
                <a:ea typeface="微软雅黑" panose="020B0503020204020204" pitchFamily="34" charset="-122"/>
                <a:sym typeface="Consolas" panose="020B0609020204030204" pitchFamily="49" charset="0"/>
              </a:rPr>
              <a:t>Rhistory</a:t>
            </a:r>
            <a:r>
              <a:rPr lang="zh-CN" altLang="en-US" dirty="0">
                <a:latin typeface="+mn-lt"/>
                <a:ea typeface="微软雅黑" panose="020B0503020204020204" pitchFamily="34" charset="-122"/>
                <a:sym typeface="Consolas" panose="020B0609020204030204" pitchFamily="49" charset="0"/>
              </a:rPr>
              <a:t>”两个文件。</a:t>
            </a:r>
            <a:endParaRPr lang="en-US" altLang="zh-CN" dirty="0">
              <a:latin typeface="+mn-lt"/>
              <a:ea typeface="微软雅黑" panose="020B0503020204020204" pitchFamily="34" charset="-122"/>
              <a:sym typeface="Consolas" panose="020B0609020204030204" pitchFamily="49" charset="0"/>
            </a:endParaRPr>
          </a:p>
          <a:p>
            <a:pPr marL="285750" indent="457200" algn="just">
              <a:lnSpc>
                <a:spcPct val="140000"/>
              </a:lnSpc>
              <a:buFont typeface="Wingdings" panose="05000000000000000000" pitchFamily="2" charset="2"/>
              <a:buChar char="ü"/>
            </a:pPr>
            <a:r>
              <a:rPr lang="zh-CN" altLang="en-US" dirty="0">
                <a:latin typeface="+mn-lt"/>
                <a:ea typeface="微软雅黑" panose="020B0503020204020204" pitchFamily="34" charset="-122"/>
                <a:sym typeface="Consolas" panose="020B0609020204030204" pitchFamily="49" charset="0"/>
              </a:rPr>
              <a:t>其中，</a:t>
            </a:r>
            <a:r>
              <a:rPr lang="zh-CN" altLang="en-US" b="1" dirty="0">
                <a:latin typeface="+mn-lt"/>
                <a:ea typeface="微软雅黑" panose="020B0503020204020204" pitchFamily="34" charset="-122"/>
                <a:sym typeface="Consolas" panose="020B0609020204030204" pitchFamily="49" charset="0"/>
              </a:rPr>
              <a:t>“</a:t>
            </a:r>
            <a:r>
              <a:rPr lang="en-US" altLang="zh-CN" b="1" dirty="0">
                <a:latin typeface="+mn-lt"/>
                <a:ea typeface="微软雅黑" panose="020B0503020204020204" pitchFamily="34" charset="-122"/>
                <a:sym typeface="Consolas" panose="020B0609020204030204" pitchFamily="49" charset="0"/>
              </a:rPr>
              <a:t>.</a:t>
            </a:r>
            <a:r>
              <a:rPr lang="en-US" altLang="zh-CN" b="1" dirty="0" err="1">
                <a:latin typeface="+mn-lt"/>
                <a:ea typeface="微软雅黑" panose="020B0503020204020204" pitchFamily="34" charset="-122"/>
                <a:sym typeface="Consolas" panose="020B0609020204030204" pitchFamily="49" charset="0"/>
              </a:rPr>
              <a:t>Rdata</a:t>
            </a:r>
            <a:r>
              <a:rPr lang="zh-CN" altLang="en-US" b="1" dirty="0">
                <a:latin typeface="+mn-lt"/>
                <a:ea typeface="微软雅黑" panose="020B0503020204020204" pitchFamily="34" charset="-122"/>
                <a:sym typeface="Consolas" panose="020B0609020204030204" pitchFamily="49" charset="0"/>
              </a:rPr>
              <a:t>”</a:t>
            </a:r>
            <a:r>
              <a:rPr lang="zh-CN" altLang="en-US" dirty="0">
                <a:latin typeface="+mn-lt"/>
                <a:ea typeface="微软雅黑" panose="020B0503020204020204" pitchFamily="34" charset="-122"/>
                <a:sym typeface="Consolas" panose="020B0609020204030204" pitchFamily="49" charset="0"/>
              </a:rPr>
              <a:t>文件为对应的</a:t>
            </a:r>
            <a:r>
              <a:rPr lang="zh-CN" altLang="en-US" b="1" dirty="0">
                <a:latin typeface="+mn-lt"/>
                <a:ea typeface="微软雅黑" panose="020B0503020204020204" pitchFamily="34" charset="-122"/>
                <a:sym typeface="Consolas" panose="020B0609020204030204" pitchFamily="49" charset="0"/>
              </a:rPr>
              <a:t>工作空间文件</a:t>
            </a:r>
            <a:r>
              <a:rPr lang="zh-CN" altLang="en-US" dirty="0">
                <a:latin typeface="+mn-lt"/>
                <a:ea typeface="微软雅黑" panose="020B0503020204020204" pitchFamily="34" charset="-122"/>
                <a:sym typeface="Consolas" panose="020B0609020204030204" pitchFamily="49" charset="0"/>
              </a:rPr>
              <a:t>，而</a:t>
            </a:r>
            <a:r>
              <a:rPr lang="zh-CN" altLang="en-US" b="1" dirty="0">
                <a:latin typeface="+mn-lt"/>
                <a:ea typeface="微软雅黑" panose="020B0503020204020204" pitchFamily="34" charset="-122"/>
                <a:sym typeface="Consolas" panose="020B0609020204030204" pitchFamily="49" charset="0"/>
              </a:rPr>
              <a:t>“</a:t>
            </a:r>
            <a:r>
              <a:rPr lang="en-US" altLang="zh-CN" b="1" dirty="0">
                <a:latin typeface="+mn-lt"/>
                <a:ea typeface="微软雅黑" panose="020B0503020204020204" pitchFamily="34" charset="-122"/>
                <a:sym typeface="Consolas" panose="020B0609020204030204" pitchFamily="49" charset="0"/>
              </a:rPr>
              <a:t>.</a:t>
            </a:r>
            <a:r>
              <a:rPr lang="en-US" altLang="zh-CN" b="1" dirty="0" err="1">
                <a:latin typeface="+mn-lt"/>
                <a:ea typeface="微软雅黑" panose="020B0503020204020204" pitchFamily="34" charset="-122"/>
                <a:sym typeface="Consolas" panose="020B0609020204030204" pitchFamily="49" charset="0"/>
              </a:rPr>
              <a:t>Rhistory</a:t>
            </a:r>
            <a:r>
              <a:rPr lang="zh-CN" altLang="en-US" b="1" dirty="0">
                <a:latin typeface="+mn-lt"/>
                <a:ea typeface="微软雅黑" panose="020B0503020204020204" pitchFamily="34" charset="-122"/>
                <a:sym typeface="Consolas" panose="020B0609020204030204" pitchFamily="49" charset="0"/>
              </a:rPr>
              <a:t>”</a:t>
            </a:r>
            <a:r>
              <a:rPr lang="zh-CN" altLang="en-US" dirty="0">
                <a:latin typeface="+mn-lt"/>
                <a:ea typeface="微软雅黑" panose="020B0503020204020204" pitchFamily="34" charset="-122"/>
                <a:sym typeface="Consolas" panose="020B0609020204030204" pitchFamily="49" charset="0"/>
              </a:rPr>
              <a:t>文件为</a:t>
            </a:r>
            <a:r>
              <a:rPr lang="zh-CN" altLang="en-US" b="1" dirty="0">
                <a:latin typeface="+mn-lt"/>
                <a:ea typeface="微软雅黑" panose="020B0503020204020204" pitchFamily="34" charset="-122"/>
                <a:sym typeface="Consolas" panose="020B0609020204030204" pitchFamily="49" charset="0"/>
              </a:rPr>
              <a:t>此次会话所输入的</a:t>
            </a:r>
            <a:r>
              <a:rPr lang="en-US" altLang="zh-CN" b="1" dirty="0">
                <a:latin typeface="+mn-lt"/>
                <a:ea typeface="微软雅黑" panose="020B0503020204020204" pitchFamily="34" charset="-122"/>
                <a:sym typeface="Consolas" panose="020B0609020204030204" pitchFamily="49" charset="0"/>
              </a:rPr>
              <a:t>R</a:t>
            </a:r>
            <a:r>
              <a:rPr lang="zh-CN" altLang="en-US" b="1" dirty="0">
                <a:latin typeface="+mn-lt"/>
                <a:ea typeface="微软雅黑" panose="020B0503020204020204" pitchFamily="34" charset="-122"/>
                <a:sym typeface="Consolas" panose="020B0609020204030204" pitchFamily="49" charset="0"/>
              </a:rPr>
              <a:t>命令历史记录</a:t>
            </a:r>
            <a:r>
              <a:rPr lang="zh-CN" altLang="en-US" dirty="0">
                <a:latin typeface="+mn-lt"/>
                <a:ea typeface="微软雅黑" panose="020B0503020204020204" pitchFamily="34" charset="-122"/>
                <a:sym typeface="Consolas" panose="020B0609020204030204" pitchFamily="49" charset="0"/>
              </a:rPr>
              <a:t>。</a:t>
            </a:r>
            <a:endParaRPr lang="en-US" altLang="zh-CN" dirty="0">
              <a:latin typeface="+mn-lt"/>
              <a:ea typeface="微软雅黑" panose="020B0503020204020204" pitchFamily="34" charset="-122"/>
              <a:sym typeface="Consolas" panose="020B0609020204030204" pitchFamily="49" charset="0"/>
            </a:endParaRPr>
          </a:p>
          <a:p>
            <a:pPr marL="285750" indent="457200" algn="just">
              <a:lnSpc>
                <a:spcPct val="140000"/>
              </a:lnSpc>
              <a:buFont typeface="Wingdings" panose="05000000000000000000" pitchFamily="2" charset="2"/>
              <a:buChar char="ü"/>
            </a:pPr>
            <a:r>
              <a:rPr lang="zh-CN" altLang="en-US" dirty="0">
                <a:latin typeface="+mn-lt"/>
                <a:ea typeface="微软雅黑" panose="020B0503020204020204" pitchFamily="34" charset="-122"/>
                <a:sym typeface="Consolas" panose="020B0609020204030204" pitchFamily="49" charset="0"/>
              </a:rPr>
              <a:t>在下一次打开</a:t>
            </a:r>
            <a:r>
              <a:rPr lang="en-US" altLang="zh-CN" b="1" dirty="0">
                <a:latin typeface="+mn-lt"/>
                <a:ea typeface="微软雅黑" panose="020B0503020204020204" pitchFamily="34" charset="-122"/>
                <a:sym typeface="Consolas" panose="020B0609020204030204" pitchFamily="49" charset="0"/>
              </a:rPr>
              <a:t>R</a:t>
            </a:r>
            <a:r>
              <a:rPr lang="zh-CN" altLang="en-US" dirty="0">
                <a:latin typeface="+mn-lt"/>
                <a:ea typeface="微软雅黑" panose="020B0503020204020204" pitchFamily="34" charset="-122"/>
                <a:sym typeface="Consolas" panose="020B0609020204030204" pitchFamily="49" charset="0"/>
              </a:rPr>
              <a:t>时，若默认工作目录下包含“</a:t>
            </a:r>
            <a:r>
              <a:rPr lang="en-US" altLang="zh-CN" dirty="0">
                <a:latin typeface="+mn-lt"/>
                <a:ea typeface="微软雅黑" panose="020B0503020204020204" pitchFamily="34" charset="-122"/>
                <a:sym typeface="Consolas" panose="020B0609020204030204" pitchFamily="49" charset="0"/>
              </a:rPr>
              <a:t>.</a:t>
            </a:r>
            <a:r>
              <a:rPr lang="en-US" altLang="zh-CN" dirty="0" err="1">
                <a:latin typeface="+mn-lt"/>
                <a:ea typeface="微软雅黑" panose="020B0503020204020204" pitchFamily="34" charset="-122"/>
                <a:sym typeface="Consolas" panose="020B0609020204030204" pitchFamily="49" charset="0"/>
              </a:rPr>
              <a:t>Rdata</a:t>
            </a:r>
            <a:r>
              <a:rPr lang="zh-CN" altLang="en-US" dirty="0">
                <a:latin typeface="+mn-lt"/>
                <a:ea typeface="微软雅黑" panose="020B0503020204020204" pitchFamily="34" charset="-122"/>
                <a:sym typeface="Consolas" panose="020B0609020204030204" pitchFamily="49" charset="0"/>
              </a:rPr>
              <a:t>”文件，则它会被自动载入到当前会话中。</a:t>
            </a:r>
            <a:endParaRPr lang="en-US" altLang="zh-CN" dirty="0">
              <a:latin typeface="+mn-lt"/>
              <a:ea typeface="微软雅黑" panose="020B0503020204020204" pitchFamily="34" charset="-122"/>
              <a:sym typeface="Consolas" panose="020B0609020204030204" pitchFamily="49" charset="0"/>
            </a:endParaRPr>
          </a:p>
          <a:p>
            <a:pPr marL="285750" indent="457200" algn="just">
              <a:lnSpc>
                <a:spcPct val="140000"/>
              </a:lnSpc>
              <a:buFont typeface="Wingdings" panose="05000000000000000000" pitchFamily="2" charset="2"/>
              <a:buChar char="ü"/>
            </a:pPr>
            <a:r>
              <a:rPr lang="en-US" altLang="zh-CN" b="1" dirty="0">
                <a:latin typeface="+mn-lt"/>
                <a:ea typeface="微软雅黑" panose="020B0503020204020204" pitchFamily="34" charset="-122"/>
                <a:sym typeface="Consolas" panose="020B0609020204030204" pitchFamily="49" charset="0"/>
              </a:rPr>
              <a:t>R</a:t>
            </a:r>
            <a:r>
              <a:rPr lang="zh-CN" altLang="en-US" dirty="0">
                <a:latin typeface="+mn-lt"/>
                <a:ea typeface="微软雅黑" panose="020B0503020204020204" pitchFamily="34" charset="-122"/>
                <a:sym typeface="Consolas" panose="020B0609020204030204" pitchFamily="49" charset="0"/>
              </a:rPr>
              <a:t>的这种存储工作空间、数据对象以及历史命令的机制，为我们</a:t>
            </a:r>
            <a:r>
              <a:rPr lang="zh-CN" altLang="en-US" b="1" dirty="0">
                <a:latin typeface="+mn-lt"/>
                <a:ea typeface="微软雅黑" panose="020B0503020204020204" pitchFamily="34" charset="-122"/>
                <a:sym typeface="Consolas" panose="020B0609020204030204" pitchFamily="49" charset="0"/>
              </a:rPr>
              <a:t>复现历史操作命令</a:t>
            </a:r>
            <a:r>
              <a:rPr lang="zh-CN" altLang="en-US" dirty="0">
                <a:latin typeface="+mn-lt"/>
                <a:ea typeface="微软雅黑" panose="020B0503020204020204" pitchFamily="34" charset="-122"/>
                <a:sym typeface="Consolas" panose="020B0609020204030204" pitchFamily="49" charset="0"/>
              </a:rPr>
              <a:t>带来了极大的便利。</a:t>
            </a:r>
            <a:endParaRPr lang="en-US" altLang="zh-CN" dirty="0">
              <a:latin typeface="+mn-lt"/>
              <a:ea typeface="微软雅黑" panose="020B0503020204020204" pitchFamily="34" charset="-122"/>
              <a:sym typeface="Consolas" panose="020B0609020204030204" pitchFamily="49" charset="0"/>
            </a:endParaRPr>
          </a:p>
        </p:txBody>
      </p:sp>
    </p:spTree>
    <p:extLst>
      <p:ext uri="{BB962C8B-B14F-4D97-AF65-F5344CB8AC3E}">
        <p14:creationId xmlns:p14="http://schemas.microsoft.com/office/powerpoint/2010/main" val="21836932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0A9D1-7D14-0123-2D17-9A04DFF4538C}"/>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1A90E994-D5CE-014C-7A4A-C26E02F64A67}"/>
              </a:ext>
            </a:extLst>
          </p:cNvPr>
          <p:cNvSpPr>
            <a:spLocks noGrp="1"/>
          </p:cNvSpPr>
          <p:nvPr>
            <p:ph type="title"/>
          </p:nvPr>
        </p:nvSpPr>
        <p:spPr/>
        <p:txBody>
          <a:bodyPr/>
          <a:lstStyle/>
          <a:p>
            <a:pPr algn="l"/>
            <a:r>
              <a:rPr lang="en-US" altLang="zh-CN" sz="3600" dirty="0">
                <a:latin typeface="Times New Roman" panose="02020603050405020304" pitchFamily="18" charset="0"/>
                <a:cs typeface="Times New Roman" panose="02020603050405020304" pitchFamily="18" charset="0"/>
              </a:rPr>
              <a:t>2.3 R</a:t>
            </a:r>
            <a:r>
              <a:rPr lang="zh-CN" altLang="en-US" sz="3600" dirty="0">
                <a:latin typeface="Times New Roman" panose="02020603050405020304" pitchFamily="18" charset="0"/>
                <a:cs typeface="Times New Roman" panose="02020603050405020304" pitchFamily="18" charset="0"/>
              </a:rPr>
              <a:t>工作空间数据文件存储</a:t>
            </a:r>
          </a:p>
        </p:txBody>
      </p:sp>
      <p:sp>
        <p:nvSpPr>
          <p:cNvPr id="12" name="灯片编号占位符 11">
            <a:extLst>
              <a:ext uri="{FF2B5EF4-FFF2-40B4-BE49-F238E27FC236}">
                <a16:creationId xmlns:a16="http://schemas.microsoft.com/office/drawing/2014/main" id="{6A270316-1F57-1A67-F5C8-BB0184A09D7E}"/>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16</a:t>
            </a:fld>
            <a:endParaRPr lang="zh-CN" altLang="en-US" dirty="0">
              <a:solidFill>
                <a:schemeClr val="bg2">
                  <a:lumMod val="75000"/>
                </a:schemeClr>
              </a:solidFill>
            </a:endParaRPr>
          </a:p>
        </p:txBody>
      </p:sp>
      <p:sp>
        <p:nvSpPr>
          <p:cNvPr id="4" name="矩形 3">
            <a:extLst>
              <a:ext uri="{FF2B5EF4-FFF2-40B4-BE49-F238E27FC236}">
                <a16:creationId xmlns:a16="http://schemas.microsoft.com/office/drawing/2014/main" id="{6BED5B7C-AF1E-2578-70B5-2414B65B37C3}"/>
              </a:ext>
            </a:extLst>
          </p:cNvPr>
          <p:cNvSpPr/>
          <p:nvPr/>
        </p:nvSpPr>
        <p:spPr>
          <a:xfrm>
            <a:off x="228600" y="1305531"/>
            <a:ext cx="8420100" cy="1212896"/>
          </a:xfrm>
          <a:prstGeom prst="rect">
            <a:avLst/>
          </a:prstGeom>
        </p:spPr>
        <p:txBody>
          <a:bodyPr wrap="square">
            <a:spAutoFit/>
          </a:bodyPr>
          <a:lstStyle/>
          <a:p>
            <a:pPr marL="285750" indent="457200" algn="just">
              <a:lnSpc>
                <a:spcPct val="140000"/>
              </a:lnSpc>
              <a:buFont typeface="Wingdings" panose="05000000000000000000" pitchFamily="2" charset="2"/>
              <a:buChar char="ü"/>
            </a:pPr>
            <a:r>
              <a:rPr lang="zh-CN" altLang="en-US" dirty="0">
                <a:latin typeface="+mn-lt"/>
                <a:ea typeface="微软雅黑" panose="020B0503020204020204" pitchFamily="34" charset="-122"/>
                <a:sym typeface="Consolas" panose="020B0609020204030204" pitchFamily="49" charset="0"/>
              </a:rPr>
              <a:t>下面这段代码演示了如何</a:t>
            </a:r>
            <a:r>
              <a:rPr lang="zh-CN" altLang="en-US" b="1" dirty="0">
                <a:latin typeface="+mn-lt"/>
                <a:ea typeface="微软雅黑" panose="020B0503020204020204" pitchFamily="34" charset="-122"/>
                <a:sym typeface="Consolas" panose="020B0609020204030204" pitchFamily="49" charset="0"/>
              </a:rPr>
              <a:t>查看命令历史、设置工作目录、保存和加载当前环境的数据，以及如何保存和加载特定的变量。</a:t>
            </a:r>
            <a:endParaRPr lang="en-US" altLang="zh-CN" b="1" dirty="0">
              <a:latin typeface="+mn-lt"/>
              <a:ea typeface="微软雅黑" panose="020B0503020204020204" pitchFamily="34" charset="-122"/>
              <a:sym typeface="Consolas" panose="020B0609020204030204" pitchFamily="49" charset="0"/>
            </a:endParaRPr>
          </a:p>
          <a:p>
            <a:pPr marL="285750" indent="457200" algn="just">
              <a:lnSpc>
                <a:spcPct val="140000"/>
              </a:lnSpc>
              <a:buFont typeface="Wingdings" panose="05000000000000000000" pitchFamily="2" charset="2"/>
              <a:buChar char="ü"/>
            </a:pPr>
            <a:r>
              <a:rPr lang="zh-CN" altLang="en-US" dirty="0">
                <a:latin typeface="+mn-lt"/>
                <a:ea typeface="微软雅黑" panose="020B0503020204020204" pitchFamily="34" charset="-122"/>
                <a:sym typeface="Consolas" panose="020B0609020204030204" pitchFamily="49" charset="0"/>
              </a:rPr>
              <a:t>逐行运行，体会对应存储函数的效果：</a:t>
            </a:r>
            <a:endParaRPr lang="en-US" altLang="zh-CN" dirty="0">
              <a:latin typeface="+mn-lt"/>
              <a:ea typeface="微软雅黑" panose="020B0503020204020204" pitchFamily="34" charset="-122"/>
              <a:sym typeface="Consolas" panose="020B0609020204030204" pitchFamily="49" charset="0"/>
            </a:endParaRPr>
          </a:p>
        </p:txBody>
      </p:sp>
      <p:sp>
        <p:nvSpPr>
          <p:cNvPr id="2" name="文本框 1">
            <a:extLst>
              <a:ext uri="{FF2B5EF4-FFF2-40B4-BE49-F238E27FC236}">
                <a16:creationId xmlns:a16="http://schemas.microsoft.com/office/drawing/2014/main" id="{402D4DBF-69CA-4660-16AB-93D6B4A10E78}"/>
              </a:ext>
            </a:extLst>
          </p:cNvPr>
          <p:cNvSpPr txBox="1"/>
          <p:nvPr/>
        </p:nvSpPr>
        <p:spPr>
          <a:xfrm>
            <a:off x="914400" y="2590800"/>
            <a:ext cx="7429500" cy="3754874"/>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history(</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setwd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file_path</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save.image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RData</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savehistory</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Rhistory</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ls()</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rm(x)</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ls()</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rm(list=ls())</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ls()</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load(</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RData</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loadhistory</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Rhistory</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ls()</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save(cp, y, file=</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objectlist.rda</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rm(list=ls())</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ls()</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load(</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objectlist.rda</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ls()</a:t>
            </a:r>
            <a:endParaRPr lang="zh-CN" altLang="zh-CN" sz="14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2665534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DBEBE-0C50-ECEA-D1A2-672DE4AE522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85DB08C-3B1F-3193-02AC-5911B67CF17A}"/>
              </a:ext>
            </a:extLst>
          </p:cNvPr>
          <p:cNvSpPr>
            <a:spLocks noGrp="1"/>
          </p:cNvSpPr>
          <p:nvPr>
            <p:ph type="title"/>
          </p:nvPr>
        </p:nvSpPr>
        <p:spPr/>
        <p:txBody>
          <a:bodyPr/>
          <a:lstStyle/>
          <a:p>
            <a:pPr algn="l"/>
            <a:r>
              <a:rPr lang="en-US" altLang="zh-CN" sz="3600" dirty="0"/>
              <a:t>2.4 </a:t>
            </a:r>
            <a:r>
              <a:rPr lang="zh-CN" altLang="en-US" sz="3600" dirty="0"/>
              <a:t>基础数据操作与处理</a:t>
            </a:r>
          </a:p>
        </p:txBody>
      </p:sp>
      <p:sp>
        <p:nvSpPr>
          <p:cNvPr id="3" name="灯片编号占位符 2">
            <a:extLst>
              <a:ext uri="{FF2B5EF4-FFF2-40B4-BE49-F238E27FC236}">
                <a16:creationId xmlns:a16="http://schemas.microsoft.com/office/drawing/2014/main" id="{9A8B6C0A-985C-6CA3-7CFE-31F363E81CDA}"/>
              </a:ext>
            </a:extLst>
          </p:cNvPr>
          <p:cNvSpPr>
            <a:spLocks noGrp="1"/>
          </p:cNvSpPr>
          <p:nvPr>
            <p:ph type="sldNum" sz="quarter" idx="12"/>
          </p:nvPr>
        </p:nvSpPr>
        <p:spPr/>
        <p:txBody>
          <a:bodyPr/>
          <a:lstStyle/>
          <a:p>
            <a:pPr>
              <a:defRPr/>
            </a:pPr>
            <a:fld id="{6B3369F9-03CD-4B48-86A9-9EE39A82955A}" type="slidenum">
              <a:rPr lang="zh-CN" altLang="en-US" smtClean="0"/>
              <a:t>17</a:t>
            </a:fld>
            <a:endParaRPr lang="zh-CN" altLang="en-US" dirty="0"/>
          </a:p>
        </p:txBody>
      </p:sp>
      <p:sp>
        <p:nvSpPr>
          <p:cNvPr id="4" name="文本框 3">
            <a:extLst>
              <a:ext uri="{FF2B5EF4-FFF2-40B4-BE49-F238E27FC236}">
                <a16:creationId xmlns:a16="http://schemas.microsoft.com/office/drawing/2014/main" id="{C08B25F6-4E91-2318-8A98-EDFE96297E0F}"/>
              </a:ext>
            </a:extLst>
          </p:cNvPr>
          <p:cNvSpPr txBox="1"/>
          <p:nvPr/>
        </p:nvSpPr>
        <p:spPr>
          <a:xfrm>
            <a:off x="1175846" y="1485900"/>
            <a:ext cx="5641288" cy="4437112"/>
          </a:xfrm>
          <a:prstGeom prst="rect">
            <a:avLst/>
          </a:prstGeom>
          <a:noFill/>
        </p:spPr>
        <p:txBody>
          <a:bodyPr wrap="none" rtlCol="0">
            <a:spAutoFit/>
          </a:bodyPr>
          <a:lstStyle/>
          <a:p>
            <a:pPr eaLnBrk="1" hangingPunct="1">
              <a:spcBef>
                <a:spcPts val="1000"/>
              </a:spcBef>
            </a:pPr>
            <a:r>
              <a:rPr lang="en-US" altLang="zh-CN" sz="2800" b="1" dirty="0">
                <a:solidFill>
                  <a:schemeClr val="accent1"/>
                </a:solidFill>
                <a:latin typeface="Times New Roman" panose="02020603050405020304" pitchFamily="18" charset="0"/>
                <a:ea typeface="+mn-ea"/>
                <a:cs typeface="Times New Roman" panose="02020603050405020304" pitchFamily="18" charset="0"/>
              </a:rPr>
              <a:t>2.4.1 </a:t>
            </a:r>
            <a:r>
              <a:rPr lang="zh-CN" altLang="en-US" sz="2800" b="1" dirty="0">
                <a:solidFill>
                  <a:schemeClr val="accent1"/>
                </a:solidFill>
                <a:latin typeface="Times New Roman" panose="02020603050405020304" pitchFamily="18" charset="0"/>
                <a:ea typeface="+mn-ea"/>
                <a:cs typeface="Times New Roman" panose="02020603050405020304" pitchFamily="18" charset="0"/>
              </a:rPr>
              <a:t>基础数据提取</a:t>
            </a:r>
            <a:endParaRPr lang="en-US" altLang="zh-CN" sz="2800" b="1" dirty="0">
              <a:solidFill>
                <a:schemeClr val="accent1"/>
              </a:solidFill>
              <a:latin typeface="Times New Roman" panose="02020603050405020304" pitchFamily="18" charset="0"/>
              <a:ea typeface="+mn-ea"/>
              <a:cs typeface="Times New Roman" panose="02020603050405020304" pitchFamily="18" charset="0"/>
            </a:endParaRPr>
          </a:p>
          <a:p>
            <a:pPr eaLnBrk="1" hangingPunct="1">
              <a:spcBef>
                <a:spcPts val="1000"/>
              </a:spcBef>
            </a:pPr>
            <a:r>
              <a:rPr lang="en-US" altLang="zh-CN" sz="2800" b="1" dirty="0">
                <a:solidFill>
                  <a:schemeClr val="accent1"/>
                </a:solidFill>
                <a:latin typeface="Times New Roman" panose="02020603050405020304" pitchFamily="18" charset="0"/>
                <a:ea typeface="+mn-ea"/>
                <a:cs typeface="Times New Roman" panose="02020603050405020304" pitchFamily="18" charset="0"/>
              </a:rPr>
              <a:t>2.4.2 </a:t>
            </a:r>
            <a:r>
              <a:rPr lang="zh-CN" altLang="en-US" sz="2800" b="1" dirty="0">
                <a:solidFill>
                  <a:schemeClr val="accent1"/>
                </a:solidFill>
                <a:latin typeface="Times New Roman" panose="02020603050405020304" pitchFamily="18" charset="0"/>
                <a:ea typeface="+mn-ea"/>
                <a:cs typeface="Times New Roman" panose="02020603050405020304" pitchFamily="18" charset="0"/>
              </a:rPr>
              <a:t>管道操作</a:t>
            </a:r>
            <a:endParaRPr lang="en-US" altLang="zh-CN" sz="2800" b="1" dirty="0">
              <a:solidFill>
                <a:schemeClr val="accent1"/>
              </a:solidFill>
              <a:latin typeface="Times New Roman" panose="02020603050405020304" pitchFamily="18" charset="0"/>
              <a:ea typeface="+mn-ea"/>
              <a:cs typeface="Times New Roman" panose="02020603050405020304" pitchFamily="18" charset="0"/>
            </a:endParaRPr>
          </a:p>
          <a:p>
            <a:pPr eaLnBrk="1" hangingPunct="1">
              <a:spcBef>
                <a:spcPts val="1000"/>
              </a:spcBef>
            </a:pPr>
            <a:r>
              <a:rPr lang="en-US" altLang="zh-CN" sz="2800" b="1" dirty="0">
                <a:solidFill>
                  <a:schemeClr val="accent1"/>
                </a:solidFill>
                <a:latin typeface="Times New Roman" panose="02020603050405020304" pitchFamily="18" charset="0"/>
                <a:ea typeface="+mn-ea"/>
                <a:cs typeface="Times New Roman" panose="02020603050405020304" pitchFamily="18" charset="0"/>
              </a:rPr>
              <a:t>2.4.3 </a:t>
            </a:r>
            <a:r>
              <a:rPr lang="zh-CN" altLang="en-US" sz="2800" b="1" dirty="0">
                <a:solidFill>
                  <a:schemeClr val="accent1"/>
                </a:solidFill>
                <a:latin typeface="Times New Roman" panose="02020603050405020304" pitchFamily="18" charset="0"/>
                <a:ea typeface="+mn-ea"/>
                <a:cs typeface="Times New Roman" panose="02020603050405020304" pitchFamily="18" charset="0"/>
              </a:rPr>
              <a:t>数据连接</a:t>
            </a:r>
            <a:endParaRPr lang="en-US" altLang="zh-CN" sz="2800" b="1" dirty="0">
              <a:solidFill>
                <a:schemeClr val="accent1"/>
              </a:solidFill>
              <a:latin typeface="Times New Roman" panose="02020603050405020304" pitchFamily="18" charset="0"/>
              <a:ea typeface="+mn-ea"/>
              <a:cs typeface="Times New Roman" panose="02020603050405020304" pitchFamily="18" charset="0"/>
            </a:endParaRPr>
          </a:p>
          <a:p>
            <a:pPr eaLnBrk="1" hangingPunct="1">
              <a:spcBef>
                <a:spcPts val="1000"/>
              </a:spcBef>
            </a:pPr>
            <a:r>
              <a:rPr lang="en-US" altLang="zh-CN" sz="2800" b="1" dirty="0">
                <a:solidFill>
                  <a:schemeClr val="accent1"/>
                </a:solidFill>
                <a:latin typeface="Times New Roman" panose="02020603050405020304" pitchFamily="18" charset="0"/>
                <a:ea typeface="+mn-ea"/>
                <a:cs typeface="Times New Roman" panose="02020603050405020304" pitchFamily="18" charset="0"/>
              </a:rPr>
              <a:t>2.4.4 </a:t>
            </a:r>
            <a:r>
              <a:rPr lang="zh-CN" altLang="en-US" sz="2800" b="1" dirty="0">
                <a:solidFill>
                  <a:schemeClr val="accent1"/>
                </a:solidFill>
                <a:latin typeface="Times New Roman" panose="02020603050405020304" pitchFamily="18" charset="0"/>
                <a:ea typeface="+mn-ea"/>
                <a:cs typeface="Times New Roman" panose="02020603050405020304" pitchFamily="18" charset="0"/>
              </a:rPr>
              <a:t>数据重塑</a:t>
            </a:r>
            <a:endParaRPr lang="en-US" altLang="zh-CN" sz="2800" b="1" dirty="0">
              <a:solidFill>
                <a:schemeClr val="accent1"/>
              </a:solidFill>
              <a:latin typeface="Times New Roman" panose="02020603050405020304" pitchFamily="18" charset="0"/>
              <a:ea typeface="+mn-ea"/>
              <a:cs typeface="Times New Roman" panose="02020603050405020304" pitchFamily="18" charset="0"/>
            </a:endParaRPr>
          </a:p>
          <a:p>
            <a:pPr eaLnBrk="1" hangingPunct="1">
              <a:spcBef>
                <a:spcPts val="1000"/>
              </a:spcBef>
            </a:pPr>
            <a:r>
              <a:rPr lang="en-US" altLang="zh-CN" sz="2800" b="1" dirty="0">
                <a:solidFill>
                  <a:schemeClr val="accent1"/>
                </a:solidFill>
                <a:latin typeface="Times New Roman" panose="02020603050405020304" pitchFamily="18" charset="0"/>
                <a:ea typeface="+mn-ea"/>
                <a:cs typeface="Times New Roman" panose="02020603050405020304" pitchFamily="18" charset="0"/>
              </a:rPr>
              <a:t>2.4.5 </a:t>
            </a:r>
            <a:r>
              <a:rPr lang="zh-CN" altLang="en-US" sz="2800" b="1" dirty="0">
                <a:solidFill>
                  <a:schemeClr val="accent1"/>
                </a:solidFill>
                <a:latin typeface="Times New Roman" panose="02020603050405020304" pitchFamily="18" charset="0"/>
                <a:ea typeface="+mn-ea"/>
                <a:cs typeface="Times New Roman" panose="02020603050405020304" pitchFamily="18" charset="0"/>
              </a:rPr>
              <a:t>缺失值与异常值的处理</a:t>
            </a:r>
            <a:endParaRPr lang="en-US" altLang="zh-CN" sz="2800" b="1" dirty="0">
              <a:solidFill>
                <a:schemeClr val="accent1"/>
              </a:solidFill>
              <a:latin typeface="Times New Roman" panose="02020603050405020304" pitchFamily="18" charset="0"/>
              <a:ea typeface="+mn-ea"/>
              <a:cs typeface="Times New Roman" panose="02020603050405020304" pitchFamily="18" charset="0"/>
            </a:endParaRPr>
          </a:p>
          <a:p>
            <a:pPr eaLnBrk="1" hangingPunct="1">
              <a:spcBef>
                <a:spcPts val="1000"/>
              </a:spcBef>
            </a:pPr>
            <a:r>
              <a:rPr lang="en-US" altLang="zh-CN" sz="2800" b="1" dirty="0">
                <a:solidFill>
                  <a:schemeClr val="accent1"/>
                </a:solidFill>
                <a:latin typeface="Times New Roman" panose="02020603050405020304" pitchFamily="18" charset="0"/>
                <a:ea typeface="+mn-ea"/>
                <a:cs typeface="Times New Roman" panose="02020603050405020304" pitchFamily="18" charset="0"/>
              </a:rPr>
              <a:t>2.4.6 </a:t>
            </a:r>
            <a:r>
              <a:rPr lang="zh-CN" altLang="en-US" sz="2800" b="1" dirty="0">
                <a:solidFill>
                  <a:schemeClr val="accent1"/>
                </a:solidFill>
                <a:latin typeface="Times New Roman" panose="02020603050405020304" pitchFamily="18" charset="0"/>
                <a:ea typeface="+mn-ea"/>
                <a:cs typeface="Times New Roman" panose="02020603050405020304" pitchFamily="18" charset="0"/>
              </a:rPr>
              <a:t>非关系型数据的处理</a:t>
            </a:r>
            <a:endParaRPr lang="en-US" altLang="zh-CN" sz="2800" b="1" dirty="0">
              <a:solidFill>
                <a:schemeClr val="accent1"/>
              </a:solidFill>
              <a:latin typeface="Times New Roman" panose="02020603050405020304" pitchFamily="18" charset="0"/>
              <a:ea typeface="+mn-ea"/>
              <a:cs typeface="Times New Roman" panose="02020603050405020304" pitchFamily="18" charset="0"/>
            </a:endParaRPr>
          </a:p>
          <a:p>
            <a:pPr eaLnBrk="1" hangingPunct="1">
              <a:spcBef>
                <a:spcPts val="1000"/>
              </a:spcBef>
            </a:pPr>
            <a:r>
              <a:rPr lang="en-US" altLang="zh-CN" sz="2800" b="1" dirty="0">
                <a:solidFill>
                  <a:schemeClr val="accent1"/>
                </a:solidFill>
                <a:latin typeface="Times New Roman" panose="02020603050405020304" pitchFamily="18" charset="0"/>
                <a:ea typeface="+mn-ea"/>
                <a:cs typeface="Times New Roman" panose="02020603050405020304" pitchFamily="18" charset="0"/>
              </a:rPr>
              <a:t>2.4.7 </a:t>
            </a:r>
            <a:r>
              <a:rPr lang="zh-CN" altLang="en-US" sz="2800" b="1" dirty="0">
                <a:solidFill>
                  <a:schemeClr val="accent1"/>
                </a:solidFill>
                <a:latin typeface="Times New Roman" panose="02020603050405020304" pitchFamily="18" charset="0"/>
                <a:ea typeface="+mn-ea"/>
                <a:cs typeface="Times New Roman" panose="02020603050405020304" pitchFamily="18" charset="0"/>
              </a:rPr>
              <a:t>关系型数据库文件处理</a:t>
            </a:r>
            <a:endParaRPr lang="en-US" altLang="zh-CN" sz="2800" b="1" dirty="0">
              <a:solidFill>
                <a:schemeClr val="accent1"/>
              </a:solidFill>
              <a:latin typeface="Times New Roman" panose="02020603050405020304" pitchFamily="18" charset="0"/>
              <a:ea typeface="+mn-ea"/>
              <a:cs typeface="Times New Roman" panose="02020603050405020304" pitchFamily="18" charset="0"/>
            </a:endParaRPr>
          </a:p>
          <a:p>
            <a:pPr eaLnBrk="1" hangingPunct="1">
              <a:spcBef>
                <a:spcPts val="1000"/>
              </a:spcBef>
            </a:pPr>
            <a:r>
              <a:rPr lang="en-US" altLang="zh-CN" sz="2800" b="1" dirty="0">
                <a:solidFill>
                  <a:schemeClr val="accent1"/>
                </a:solidFill>
                <a:latin typeface="Times New Roman" panose="02020603050405020304" pitchFamily="18" charset="0"/>
                <a:ea typeface="+mn-ea"/>
                <a:cs typeface="Times New Roman" panose="02020603050405020304" pitchFamily="18" charset="0"/>
              </a:rPr>
              <a:t>2.4.8 </a:t>
            </a:r>
            <a:r>
              <a:rPr lang="en-US" altLang="zh-CN" sz="2800" b="1" dirty="0" err="1">
                <a:solidFill>
                  <a:schemeClr val="accent1"/>
                </a:solidFill>
                <a:latin typeface="Times New Roman" panose="02020603050405020304" pitchFamily="18" charset="0"/>
                <a:ea typeface="+mn-ea"/>
                <a:cs typeface="Times New Roman" panose="02020603050405020304" pitchFamily="18" charset="0"/>
              </a:rPr>
              <a:t>lubridate</a:t>
            </a:r>
            <a:r>
              <a:rPr lang="zh-CN" altLang="en-US" sz="2800" b="1" dirty="0">
                <a:solidFill>
                  <a:schemeClr val="accent1"/>
                </a:solidFill>
                <a:latin typeface="Times New Roman" panose="02020603050405020304" pitchFamily="18" charset="0"/>
                <a:ea typeface="+mn-ea"/>
                <a:cs typeface="Times New Roman" panose="02020603050405020304" pitchFamily="18" charset="0"/>
              </a:rPr>
              <a:t>概述与时间序列处理</a:t>
            </a:r>
            <a:endParaRPr lang="en-US" altLang="zh-CN" sz="2800" b="1" dirty="0">
              <a:solidFill>
                <a:schemeClr val="accent1"/>
              </a:solidFill>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9073884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9"/>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2.4.1 </a:t>
            </a:r>
            <a:r>
              <a:rPr lang="zh-CN" altLang="en-US" sz="3600" dirty="0">
                <a:latin typeface="Times New Roman" panose="02020603050405020304" pitchFamily="18" charset="0"/>
                <a:cs typeface="Times New Roman" panose="02020603050405020304" pitchFamily="18" charset="0"/>
              </a:rPr>
              <a:t>基础数据提取</a:t>
            </a:r>
          </a:p>
        </p:txBody>
      </p:sp>
      <p:sp>
        <p:nvSpPr>
          <p:cNvPr id="14" name="灯片编号占位符 13"/>
          <p:cNvSpPr>
            <a:spLocks noGrp="1"/>
          </p:cNvSpPr>
          <p:nvPr>
            <p:ph type="sldNum" sz="quarter" idx="12"/>
          </p:nvPr>
        </p:nvSpPr>
        <p:spPr/>
        <p:txBody>
          <a:bodyPr/>
          <a:lstStyle/>
          <a:p>
            <a:fld id="{6B3369F9-03CD-4B48-86A9-9EE39A82955A}" type="slidenum">
              <a:rPr lang="zh-CN" altLang="en-US">
                <a:solidFill>
                  <a:schemeClr val="bg2">
                    <a:lumMod val="75000"/>
                  </a:schemeClr>
                </a:solidFill>
              </a:rPr>
              <a:t>18</a:t>
            </a:fld>
            <a:endParaRPr lang="zh-CN" altLang="en-US" dirty="0">
              <a:solidFill>
                <a:schemeClr val="bg2">
                  <a:lumMod val="75000"/>
                </a:schemeClr>
              </a:solidFill>
            </a:endParaRPr>
          </a:p>
        </p:txBody>
      </p:sp>
      <p:sp>
        <p:nvSpPr>
          <p:cNvPr id="5" name="矩形 4">
            <a:extLst>
              <a:ext uri="{FF2B5EF4-FFF2-40B4-BE49-F238E27FC236}">
                <a16:creationId xmlns:a16="http://schemas.microsoft.com/office/drawing/2014/main" id="{7D9EDDFA-7A13-1137-C4E6-D7F5E4DA9085}"/>
              </a:ext>
            </a:extLst>
          </p:cNvPr>
          <p:cNvSpPr/>
          <p:nvPr/>
        </p:nvSpPr>
        <p:spPr>
          <a:xfrm>
            <a:off x="685800" y="1562100"/>
            <a:ext cx="5029200" cy="430182"/>
          </a:xfrm>
          <a:prstGeom prst="rect">
            <a:avLst/>
          </a:prstGeom>
        </p:spPr>
        <p:txBody>
          <a:bodyPr wrap="square">
            <a:spAutoFit/>
          </a:bodyPr>
          <a:lstStyle/>
          <a:p>
            <a:pPr>
              <a:lnSpc>
                <a:spcPct val="120000"/>
              </a:lnSpc>
            </a:pPr>
            <a:r>
              <a:rPr lang="en-US" altLang="zh-CN" sz="2000" dirty="0">
                <a:latin typeface="+mj-lt"/>
                <a:ea typeface="+mj-ea"/>
                <a:cs typeface="+mn-ea"/>
                <a:sym typeface="Consolas" panose="020B0609020204030204" pitchFamily="49" charset="0"/>
              </a:rPr>
              <a:t>(1) </a:t>
            </a:r>
            <a:r>
              <a:rPr lang="zh-CN" altLang="en-US" sz="2000" dirty="0">
                <a:latin typeface="+mj-lt"/>
                <a:ea typeface="+mj-ea"/>
                <a:cs typeface="+mn-ea"/>
                <a:sym typeface="Consolas" panose="020B0609020204030204" pitchFamily="49" charset="0"/>
              </a:rPr>
              <a:t>根据</a:t>
            </a:r>
            <a:r>
              <a:rPr lang="zh-CN" altLang="en-US" sz="2000" b="1" dirty="0">
                <a:latin typeface="+mj-lt"/>
                <a:ea typeface="+mj-ea"/>
                <a:cs typeface="+mn-ea"/>
                <a:sym typeface="Consolas" panose="020B0609020204030204" pitchFamily="49" charset="0"/>
              </a:rPr>
              <a:t>元素坐标位置</a:t>
            </a:r>
            <a:r>
              <a:rPr lang="zh-CN" altLang="en-US" sz="2000" dirty="0">
                <a:latin typeface="+mj-lt"/>
                <a:ea typeface="+mj-ea"/>
                <a:cs typeface="+mn-ea"/>
                <a:sym typeface="Consolas" panose="020B0609020204030204" pitchFamily="49" charset="0"/>
              </a:rPr>
              <a:t>来提取</a:t>
            </a:r>
            <a:endParaRPr lang="en-US" altLang="zh-CN" sz="2000" dirty="0">
              <a:latin typeface="+mj-lt"/>
              <a:ea typeface="+mj-ea"/>
              <a:cs typeface="+mn-ea"/>
              <a:sym typeface="Consolas" panose="020B0609020204030204" pitchFamily="49" charset="0"/>
            </a:endParaRPr>
          </a:p>
        </p:txBody>
      </p:sp>
      <p:sp>
        <p:nvSpPr>
          <p:cNvPr id="7" name="矩形 6">
            <a:extLst>
              <a:ext uri="{FF2B5EF4-FFF2-40B4-BE49-F238E27FC236}">
                <a16:creationId xmlns:a16="http://schemas.microsoft.com/office/drawing/2014/main" id="{12ADED2C-4E53-8531-BB06-CFA0AFF232A0}"/>
              </a:ext>
            </a:extLst>
          </p:cNvPr>
          <p:cNvSpPr/>
          <p:nvPr/>
        </p:nvSpPr>
        <p:spPr>
          <a:xfrm>
            <a:off x="419100" y="2678685"/>
            <a:ext cx="7886700" cy="825739"/>
          </a:xfrm>
          <a:prstGeom prst="rect">
            <a:avLst/>
          </a:prstGeom>
        </p:spPr>
        <p:txBody>
          <a:bodyPr wrap="square">
            <a:spAutoFit/>
          </a:bodyPr>
          <a:lstStyle/>
          <a:p>
            <a:pPr marL="285750" indent="457200" algn="just">
              <a:lnSpc>
                <a:spcPct val="140000"/>
              </a:lnSpc>
              <a:buFont typeface="Wingdings" panose="05000000000000000000" pitchFamily="2" charset="2"/>
              <a:buChar char="ü"/>
            </a:pPr>
            <a:r>
              <a:rPr lang="zh-CN" altLang="en-US" dirty="0">
                <a:latin typeface="+mn-lt"/>
                <a:ea typeface="+mn-ea"/>
                <a:sym typeface="Consolas" panose="020B0609020204030204" pitchFamily="49" charset="0"/>
              </a:rPr>
              <a:t>针对示例数据中</a:t>
            </a:r>
            <a:r>
              <a:rPr lang="en-US" altLang="zh-CN" dirty="0">
                <a:latin typeface="+mn-lt"/>
                <a:ea typeface="+mn-ea"/>
                <a:sym typeface="Consolas" panose="020B0609020204030204" pitchFamily="49" charset="0"/>
              </a:rPr>
              <a:t>comp.csv</a:t>
            </a:r>
            <a:r>
              <a:rPr lang="zh-CN" altLang="en-US" dirty="0">
                <a:latin typeface="+mn-lt"/>
                <a:ea typeface="+mn-ea"/>
                <a:sym typeface="Consolas" panose="020B0609020204030204" pitchFamily="49" charset="0"/>
              </a:rPr>
              <a:t>文件中的内容，可按照这两种提取方式，分别提取</a:t>
            </a:r>
            <a:r>
              <a:rPr lang="en-US" altLang="zh-CN" dirty="0">
                <a:latin typeface="+mn-lt"/>
                <a:ea typeface="+mn-ea"/>
                <a:sym typeface="Consolas" panose="020B0609020204030204" pitchFamily="49" charset="0"/>
              </a:rPr>
              <a:t>cp</a:t>
            </a:r>
            <a:r>
              <a:rPr lang="zh-CN" altLang="en-US" dirty="0">
                <a:latin typeface="+mn-lt"/>
                <a:ea typeface="+mn-ea"/>
                <a:sym typeface="Consolas" panose="020B0609020204030204" pitchFamily="49" charset="0"/>
              </a:rPr>
              <a:t>第二行第三列的元素、‘</a:t>
            </a:r>
            <a:r>
              <a:rPr lang="en-US" altLang="zh-CN" dirty="0">
                <a:latin typeface="+mn-lt"/>
                <a:ea typeface="+mn-ea"/>
                <a:sym typeface="Consolas" panose="020B0609020204030204" pitchFamily="49" charset="0"/>
              </a:rPr>
              <a:t>Dame</a:t>
            </a:r>
            <a:r>
              <a:rPr lang="zh-CN" altLang="en-US" dirty="0">
                <a:latin typeface="+mn-lt"/>
                <a:ea typeface="+mn-ea"/>
                <a:sym typeface="Consolas" panose="020B0609020204030204" pitchFamily="49" charset="0"/>
              </a:rPr>
              <a:t>’列第二个元素、‘</a:t>
            </a:r>
            <a:r>
              <a:rPr lang="en-US" altLang="zh-CN" dirty="0">
                <a:latin typeface="+mn-lt"/>
                <a:ea typeface="+mn-ea"/>
                <a:sym typeface="Consolas" panose="020B0609020204030204" pitchFamily="49" charset="0"/>
              </a:rPr>
              <a:t>Dame</a:t>
            </a:r>
            <a:r>
              <a:rPr lang="zh-CN" altLang="en-US" dirty="0">
                <a:latin typeface="+mn-lt"/>
                <a:ea typeface="+mn-ea"/>
                <a:sym typeface="Consolas" panose="020B0609020204030204" pitchFamily="49" charset="0"/>
              </a:rPr>
              <a:t>’列：</a:t>
            </a:r>
            <a:endParaRPr lang="en-US" altLang="zh-CN" dirty="0">
              <a:latin typeface="+mn-lt"/>
              <a:ea typeface="+mn-ea"/>
              <a:sym typeface="Consolas" panose="020B0609020204030204" pitchFamily="49" charset="0"/>
            </a:endParaRPr>
          </a:p>
        </p:txBody>
      </p:sp>
      <p:sp>
        <p:nvSpPr>
          <p:cNvPr id="2" name="矩形 1">
            <a:extLst>
              <a:ext uri="{FF2B5EF4-FFF2-40B4-BE49-F238E27FC236}">
                <a16:creationId xmlns:a16="http://schemas.microsoft.com/office/drawing/2014/main" id="{DCA47DFC-E90F-C533-D441-C66410013543}"/>
              </a:ext>
            </a:extLst>
          </p:cNvPr>
          <p:cNvSpPr/>
          <p:nvPr/>
        </p:nvSpPr>
        <p:spPr>
          <a:xfrm>
            <a:off x="685800" y="2126229"/>
            <a:ext cx="5029200" cy="430182"/>
          </a:xfrm>
          <a:prstGeom prst="rect">
            <a:avLst/>
          </a:prstGeom>
        </p:spPr>
        <p:txBody>
          <a:bodyPr wrap="square">
            <a:spAutoFit/>
          </a:bodyPr>
          <a:lstStyle/>
          <a:p>
            <a:pPr>
              <a:lnSpc>
                <a:spcPct val="120000"/>
              </a:lnSpc>
            </a:pPr>
            <a:r>
              <a:rPr lang="en-US" altLang="zh-CN" sz="2000" dirty="0">
                <a:latin typeface="+mj-lt"/>
                <a:ea typeface="+mj-ea"/>
                <a:cs typeface="+mn-ea"/>
                <a:sym typeface="Consolas" panose="020B0609020204030204" pitchFamily="49" charset="0"/>
              </a:rPr>
              <a:t>(2) </a:t>
            </a:r>
            <a:r>
              <a:rPr lang="zh-CN" altLang="en-US" sz="2000" dirty="0">
                <a:latin typeface="+mj-lt"/>
                <a:ea typeface="+mj-ea"/>
                <a:cs typeface="+mn-ea"/>
                <a:sym typeface="Consolas" panose="020B0609020204030204" pitchFamily="49" charset="0"/>
              </a:rPr>
              <a:t>根据</a:t>
            </a:r>
            <a:r>
              <a:rPr lang="zh-CN" altLang="en-US" sz="2000" b="1" dirty="0">
                <a:latin typeface="+mj-lt"/>
                <a:ea typeface="+mj-ea"/>
                <a:cs typeface="+mn-ea"/>
                <a:sym typeface="Consolas" panose="020B0609020204030204" pitchFamily="49" charset="0"/>
              </a:rPr>
              <a:t>数据的行名或列名</a:t>
            </a:r>
            <a:r>
              <a:rPr lang="zh-CN" altLang="en-US" sz="2000" dirty="0">
                <a:latin typeface="+mj-lt"/>
                <a:ea typeface="+mj-ea"/>
                <a:cs typeface="+mn-ea"/>
                <a:sym typeface="Consolas" panose="020B0609020204030204" pitchFamily="49" charset="0"/>
              </a:rPr>
              <a:t>来提取</a:t>
            </a:r>
            <a:endParaRPr lang="en-US" altLang="zh-CN" sz="2000" dirty="0">
              <a:latin typeface="+mn-ea"/>
              <a:ea typeface="+mn-ea"/>
              <a:cs typeface="+mn-ea"/>
              <a:sym typeface="Consolas" panose="020B0609020204030204" pitchFamily="49" charset="0"/>
            </a:endParaRPr>
          </a:p>
        </p:txBody>
      </p:sp>
      <p:sp>
        <p:nvSpPr>
          <p:cNvPr id="3" name="文本框 2">
            <a:extLst>
              <a:ext uri="{FF2B5EF4-FFF2-40B4-BE49-F238E27FC236}">
                <a16:creationId xmlns:a16="http://schemas.microsoft.com/office/drawing/2014/main" id="{961E65B0-52F8-9727-092C-A4FF6F059D27}"/>
              </a:ext>
            </a:extLst>
          </p:cNvPr>
          <p:cNvSpPr txBox="1"/>
          <p:nvPr/>
        </p:nvSpPr>
        <p:spPr>
          <a:xfrm>
            <a:off x="752475" y="3626698"/>
            <a:ext cx="7429500" cy="2523768"/>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element_2_3 &lt;- cp[</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element_2_3</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element_2_Dame &lt;- cp[</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'Dame'</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element_2_Dame</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selected_dame_column</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select(cp, Dame)</a:t>
            </a:r>
            <a:endParaRPr lang="zh-CN" altLang="zh-CN" sz="1800" dirty="0">
              <a:effectLst/>
              <a:latin typeface="Times New Roman" panose="02020603050405020304" pitchFamily="18" charset="0"/>
              <a:ea typeface="宋体" panose="02010600030101010101" pitchFamily="2" charset="-122"/>
            </a:endParaRPr>
          </a:p>
          <a:p>
            <a:pPr indent="127000" algn="l"/>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selected_dame_column</a:t>
            </a:r>
            <a:endParaRPr lang="zh-CN" altLang="zh-CN" sz="1800" dirty="0">
              <a:effectLst/>
              <a:latin typeface="Times New Roman" panose="02020603050405020304" pitchFamily="18" charset="0"/>
              <a:ea typeface="宋体" panose="02010600030101010101" pitchFamily="2" charset="-122"/>
            </a:endParaRPr>
          </a:p>
          <a:p>
            <a:pPr indent="127000" algn="l"/>
            <a:endParaRPr lang="zh-CN" altLang="zh-CN" sz="1400" dirty="0">
              <a:effectLst/>
              <a:latin typeface="Times New Roman" panose="02020603050405020304" pitchFamily="18" charset="0"/>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B56EB-4754-0EBC-43D8-E685E49D9822}"/>
            </a:ext>
          </a:extLst>
        </p:cNvPr>
        <p:cNvGrpSpPr/>
        <p:nvPr/>
      </p:nvGrpSpPr>
      <p:grpSpPr>
        <a:xfrm>
          <a:off x="0" y="0"/>
          <a:ext cx="0" cy="0"/>
          <a:chOff x="0" y="0"/>
          <a:chExt cx="0" cy="0"/>
        </a:xfrm>
      </p:grpSpPr>
      <p:sp>
        <p:nvSpPr>
          <p:cNvPr id="13" name="标题 9">
            <a:extLst>
              <a:ext uri="{FF2B5EF4-FFF2-40B4-BE49-F238E27FC236}">
                <a16:creationId xmlns:a16="http://schemas.microsoft.com/office/drawing/2014/main" id="{B7E2A8B3-0F1A-C869-37DC-DB424E863FAE}"/>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2.4.1 </a:t>
            </a:r>
            <a:r>
              <a:rPr lang="zh-CN" altLang="en-US" sz="3600" dirty="0">
                <a:latin typeface="Times New Roman" panose="02020603050405020304" pitchFamily="18" charset="0"/>
                <a:cs typeface="Times New Roman" panose="02020603050405020304" pitchFamily="18" charset="0"/>
              </a:rPr>
              <a:t>基础数据提取</a:t>
            </a:r>
          </a:p>
        </p:txBody>
      </p:sp>
      <p:sp>
        <p:nvSpPr>
          <p:cNvPr id="14" name="灯片编号占位符 13">
            <a:extLst>
              <a:ext uri="{FF2B5EF4-FFF2-40B4-BE49-F238E27FC236}">
                <a16:creationId xmlns:a16="http://schemas.microsoft.com/office/drawing/2014/main" id="{59C886FC-F2DD-3F31-D843-20473B8DB432}"/>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19</a:t>
            </a:fld>
            <a:endParaRPr lang="zh-CN" altLang="en-US" dirty="0">
              <a:solidFill>
                <a:schemeClr val="bg2">
                  <a:lumMod val="75000"/>
                </a:schemeClr>
              </a:solidFill>
            </a:endParaRPr>
          </a:p>
        </p:txBody>
      </p:sp>
      <p:sp>
        <p:nvSpPr>
          <p:cNvPr id="5" name="矩形 4">
            <a:extLst>
              <a:ext uri="{FF2B5EF4-FFF2-40B4-BE49-F238E27FC236}">
                <a16:creationId xmlns:a16="http://schemas.microsoft.com/office/drawing/2014/main" id="{14AE0A22-677E-0D5B-446B-042BAAB488E0}"/>
              </a:ext>
            </a:extLst>
          </p:cNvPr>
          <p:cNvSpPr/>
          <p:nvPr/>
        </p:nvSpPr>
        <p:spPr>
          <a:xfrm>
            <a:off x="450850" y="1295764"/>
            <a:ext cx="8420100" cy="430182"/>
          </a:xfrm>
          <a:prstGeom prst="rect">
            <a:avLst/>
          </a:prstGeom>
        </p:spPr>
        <p:txBody>
          <a:bodyPr wrap="square">
            <a:spAutoFit/>
          </a:bodyPr>
          <a:lstStyle/>
          <a:p>
            <a:pPr>
              <a:lnSpc>
                <a:spcPct val="120000"/>
              </a:lnSpc>
            </a:pPr>
            <a:r>
              <a:rPr lang="en-US" altLang="zh-CN" sz="2000" dirty="0">
                <a:latin typeface="+mj-lt"/>
                <a:ea typeface="+mj-ea"/>
                <a:cs typeface="+mn-ea"/>
                <a:sym typeface="Consolas" panose="020B0609020204030204" pitchFamily="49" charset="0"/>
              </a:rPr>
              <a:t>(3) </a:t>
            </a:r>
            <a:r>
              <a:rPr lang="zh-CN" altLang="en-US" sz="2000" dirty="0">
                <a:latin typeface="+mj-lt"/>
                <a:ea typeface="+mj-ea"/>
                <a:cs typeface="+mn-ea"/>
                <a:sym typeface="Consolas" panose="020B0609020204030204" pitchFamily="49" charset="0"/>
              </a:rPr>
              <a:t>使用</a:t>
            </a:r>
            <a:r>
              <a:rPr lang="zh-CN" altLang="en-US" sz="2000" b="1" dirty="0">
                <a:latin typeface="+mj-lt"/>
                <a:ea typeface="+mj-ea"/>
                <a:cs typeface="+mn-ea"/>
                <a:sym typeface="Consolas" panose="020B0609020204030204" pitchFamily="49" charset="0"/>
              </a:rPr>
              <a:t>逻辑值判断</a:t>
            </a:r>
            <a:r>
              <a:rPr lang="zh-CN" altLang="en-US" sz="2000" dirty="0">
                <a:latin typeface="+mj-lt"/>
                <a:ea typeface="+mj-ea"/>
                <a:cs typeface="+mn-ea"/>
                <a:sym typeface="Consolas" panose="020B0609020204030204" pitchFamily="49" charset="0"/>
              </a:rPr>
              <a:t>提取（</a:t>
            </a:r>
            <a:r>
              <a:rPr lang="zh-CN" altLang="en-US" sz="2000" dirty="0">
                <a:latin typeface="+mn-lt"/>
                <a:ea typeface="+mn-ea"/>
                <a:sym typeface="Consolas" panose="020B0609020204030204" pitchFamily="49" charset="0"/>
              </a:rPr>
              <a:t>结合</a:t>
            </a:r>
            <a:r>
              <a:rPr lang="en-US" altLang="zh-CN" sz="2000" b="1" dirty="0" err="1">
                <a:latin typeface="+mn-lt"/>
                <a:ea typeface="+mn-ea"/>
                <a:sym typeface="Consolas" panose="020B0609020204030204" pitchFamily="49" charset="0"/>
              </a:rPr>
              <a:t>dplyr</a:t>
            </a:r>
            <a:r>
              <a:rPr lang="zh-CN" altLang="en-US" sz="2000" dirty="0">
                <a:latin typeface="+mn-lt"/>
                <a:ea typeface="+mn-ea"/>
                <a:sym typeface="Consolas" panose="020B0609020204030204" pitchFamily="49" charset="0"/>
              </a:rPr>
              <a:t>函数包中提供的</a:t>
            </a:r>
            <a:r>
              <a:rPr lang="zh-CN" altLang="en-US" sz="2000" b="1" dirty="0">
                <a:latin typeface="+mn-lt"/>
                <a:ea typeface="+mn-ea"/>
                <a:sym typeface="Consolas" panose="020B0609020204030204" pitchFamily="49" charset="0"/>
              </a:rPr>
              <a:t>元素选取函数</a:t>
            </a:r>
            <a:r>
              <a:rPr lang="zh-CN" altLang="en-US" sz="2000" dirty="0">
                <a:latin typeface="+mj-lt"/>
                <a:ea typeface="+mj-ea"/>
                <a:cs typeface="+mn-ea"/>
                <a:sym typeface="Consolas" panose="020B0609020204030204" pitchFamily="49" charset="0"/>
              </a:rPr>
              <a:t>）</a:t>
            </a:r>
            <a:endParaRPr lang="en-US" altLang="zh-CN" sz="2000" dirty="0">
              <a:latin typeface="+mj-lt"/>
              <a:ea typeface="+mj-ea"/>
              <a:cs typeface="+mn-ea"/>
              <a:sym typeface="Consolas" panose="020B0609020204030204" pitchFamily="49" charset="0"/>
            </a:endParaRPr>
          </a:p>
        </p:txBody>
      </p:sp>
      <p:sp>
        <p:nvSpPr>
          <p:cNvPr id="4" name="矩形 3">
            <a:extLst>
              <a:ext uri="{FF2B5EF4-FFF2-40B4-BE49-F238E27FC236}">
                <a16:creationId xmlns:a16="http://schemas.microsoft.com/office/drawing/2014/main" id="{C1D6C14F-A7FD-E2BB-E60D-208C651668D2}"/>
              </a:ext>
            </a:extLst>
          </p:cNvPr>
          <p:cNvSpPr/>
          <p:nvPr/>
        </p:nvSpPr>
        <p:spPr>
          <a:xfrm>
            <a:off x="474661" y="1725946"/>
            <a:ext cx="7713663" cy="4514441"/>
          </a:xfrm>
          <a:prstGeom prst="rect">
            <a:avLst/>
          </a:prstGeom>
        </p:spPr>
        <p:txBody>
          <a:bodyPr wrap="square">
            <a:spAutoFit/>
          </a:bodyPr>
          <a:lstStyle/>
          <a:p>
            <a:pPr>
              <a:lnSpc>
                <a:spcPct val="150000"/>
              </a:lnSpc>
            </a:pPr>
            <a:r>
              <a:rPr lang="zh-CN" altLang="en-US" sz="2000" dirty="0">
                <a:latin typeface="+mn-lt"/>
                <a:ea typeface="+mj-ea"/>
                <a:cs typeface="+mn-ea"/>
                <a:sym typeface="Consolas" panose="020B0609020204030204" pitchFamily="49" charset="0"/>
              </a:rPr>
              <a:t>① </a:t>
            </a:r>
            <a:r>
              <a:rPr lang="en-US" altLang="zh-CN" sz="2000" b="1" i="1" dirty="0" err="1">
                <a:latin typeface="+mn-lt"/>
                <a:ea typeface="+mj-ea"/>
                <a:cs typeface="+mn-ea"/>
                <a:sym typeface="Consolas" panose="020B0609020204030204" pitchFamily="49" charset="0"/>
              </a:rPr>
              <a:t>ifelse</a:t>
            </a:r>
            <a:r>
              <a:rPr lang="en-US" altLang="zh-CN" sz="2000" b="1" i="1" dirty="0">
                <a:latin typeface="+mn-lt"/>
                <a:ea typeface="+mj-ea"/>
                <a:cs typeface="+mn-ea"/>
                <a:sym typeface="Consolas" panose="020B0609020204030204" pitchFamily="49" charset="0"/>
              </a:rPr>
              <a:t>()</a:t>
            </a:r>
            <a:r>
              <a:rPr lang="zh-CN" altLang="en-US" sz="2000" b="1" dirty="0">
                <a:latin typeface="+mn-lt"/>
                <a:ea typeface="+mj-ea"/>
                <a:cs typeface="+mn-ea"/>
                <a:sym typeface="Consolas" panose="020B0609020204030204" pitchFamily="49" charset="0"/>
              </a:rPr>
              <a:t>函数</a:t>
            </a:r>
            <a:endParaRPr lang="en-US" altLang="zh-CN" sz="2000" b="1" dirty="0">
              <a:latin typeface="+mn-lt"/>
              <a:ea typeface="+mj-ea"/>
              <a:cs typeface="+mn-ea"/>
              <a:sym typeface="Consolas" panose="020B0609020204030204" pitchFamily="49" charset="0"/>
            </a:endParaRPr>
          </a:p>
          <a:p>
            <a:pPr marL="285750" indent="-285750">
              <a:lnSpc>
                <a:spcPct val="120000"/>
              </a:lnSpc>
              <a:buFont typeface="Wingdings" panose="05000000000000000000" pitchFamily="2" charset="2"/>
              <a:buChar char="ü"/>
            </a:pPr>
            <a:r>
              <a:rPr lang="zh-CN" altLang="en-US" dirty="0">
                <a:latin typeface="+mn-lt"/>
                <a:ea typeface="+mj-ea"/>
                <a:cs typeface="+mn-ea"/>
                <a:sym typeface="Consolas" panose="020B0609020204030204" pitchFamily="49" charset="0"/>
              </a:rPr>
              <a:t>是</a:t>
            </a:r>
            <a:r>
              <a:rPr lang="en-US" altLang="zh-CN" b="1" dirty="0">
                <a:latin typeface="+mn-lt"/>
                <a:ea typeface="+mj-ea"/>
                <a:cs typeface="+mn-ea"/>
                <a:sym typeface="Consolas" panose="020B0609020204030204" pitchFamily="49" charset="0"/>
              </a:rPr>
              <a:t>R</a:t>
            </a:r>
            <a:r>
              <a:rPr lang="zh-CN" altLang="en-US" dirty="0">
                <a:latin typeface="+mn-lt"/>
                <a:ea typeface="+mj-ea"/>
                <a:cs typeface="+mn-ea"/>
                <a:sym typeface="Consolas" panose="020B0609020204030204" pitchFamily="49" charset="0"/>
              </a:rPr>
              <a:t>语言中常用的数据选择函数，基本语法为：</a:t>
            </a:r>
            <a:endParaRPr lang="en-US" altLang="zh-CN" dirty="0">
              <a:latin typeface="+mn-lt"/>
              <a:ea typeface="+mj-ea"/>
              <a:cs typeface="+mn-ea"/>
              <a:sym typeface="Consolas" panose="020B0609020204030204" pitchFamily="49" charset="0"/>
            </a:endParaRPr>
          </a:p>
          <a:p>
            <a:pPr marL="285750" indent="-285750">
              <a:lnSpc>
                <a:spcPct val="120000"/>
              </a:lnSpc>
              <a:buFont typeface="Wingdings" panose="05000000000000000000" pitchFamily="2" charset="2"/>
              <a:buChar char="ü"/>
            </a:pPr>
            <a:endParaRPr lang="en-US" altLang="zh-CN" dirty="0">
              <a:latin typeface="+mn-lt"/>
              <a:ea typeface="+mj-ea"/>
              <a:cs typeface="+mn-ea"/>
              <a:sym typeface="Consolas" panose="020B0609020204030204" pitchFamily="49" charset="0"/>
            </a:endParaRPr>
          </a:p>
          <a:p>
            <a:pPr marL="285750" indent="-285750">
              <a:lnSpc>
                <a:spcPct val="120000"/>
              </a:lnSpc>
              <a:buFont typeface="Wingdings" panose="05000000000000000000" pitchFamily="2" charset="2"/>
              <a:buChar char="ü"/>
            </a:pPr>
            <a:endParaRPr lang="en-US" altLang="zh-CN" dirty="0">
              <a:latin typeface="+mn-lt"/>
              <a:ea typeface="+mj-ea"/>
              <a:cs typeface="+mn-ea"/>
              <a:sym typeface="Consolas" panose="020B0609020204030204" pitchFamily="49" charset="0"/>
            </a:endParaRPr>
          </a:p>
          <a:p>
            <a:pPr marL="285750" indent="-285750">
              <a:lnSpc>
                <a:spcPct val="120000"/>
              </a:lnSpc>
              <a:buFont typeface="Wingdings" panose="05000000000000000000" pitchFamily="2" charset="2"/>
              <a:buChar char="ü"/>
            </a:pPr>
            <a:endParaRPr lang="en-US" altLang="zh-CN" dirty="0">
              <a:latin typeface="+mn-lt"/>
              <a:ea typeface="+mj-ea"/>
              <a:cs typeface="+mn-ea"/>
              <a:sym typeface="Consolas" panose="020B0609020204030204" pitchFamily="49" charset="0"/>
            </a:endParaRPr>
          </a:p>
          <a:p>
            <a:pPr marL="285750" indent="-285750">
              <a:lnSpc>
                <a:spcPct val="120000"/>
              </a:lnSpc>
              <a:buFont typeface="Wingdings" panose="05000000000000000000" pitchFamily="2" charset="2"/>
              <a:buChar char="ü"/>
            </a:pPr>
            <a:endParaRPr lang="en-US" altLang="zh-CN" dirty="0">
              <a:latin typeface="+mn-lt"/>
              <a:ea typeface="+mj-ea"/>
              <a:cs typeface="+mn-ea"/>
              <a:sym typeface="Consolas" panose="020B0609020204030204" pitchFamily="49" charset="0"/>
            </a:endParaRPr>
          </a:p>
          <a:p>
            <a:pPr marL="285750" indent="-285750">
              <a:lnSpc>
                <a:spcPct val="120000"/>
              </a:lnSpc>
              <a:buFont typeface="Wingdings" panose="05000000000000000000" pitchFamily="2" charset="2"/>
              <a:buChar char="ü"/>
            </a:pPr>
            <a:endParaRPr lang="en-US" altLang="zh-CN" dirty="0">
              <a:latin typeface="+mn-lt"/>
              <a:ea typeface="+mj-ea"/>
              <a:cs typeface="+mn-ea"/>
              <a:sym typeface="Consolas" panose="020B0609020204030204" pitchFamily="49" charset="0"/>
            </a:endParaRPr>
          </a:p>
          <a:p>
            <a:pPr marL="285750" indent="-285750">
              <a:lnSpc>
                <a:spcPct val="120000"/>
              </a:lnSpc>
              <a:buFont typeface="Wingdings" panose="05000000000000000000" pitchFamily="2" charset="2"/>
              <a:buChar char="ü"/>
            </a:pPr>
            <a:endParaRPr lang="en-US" altLang="zh-CN" dirty="0">
              <a:latin typeface="+mn-lt"/>
              <a:ea typeface="+mj-ea"/>
              <a:cs typeface="+mn-ea"/>
              <a:sym typeface="Consolas" panose="020B0609020204030204" pitchFamily="49" charset="0"/>
            </a:endParaRPr>
          </a:p>
          <a:p>
            <a:pPr marL="285750" indent="-285750">
              <a:lnSpc>
                <a:spcPct val="120000"/>
              </a:lnSpc>
              <a:buFont typeface="Wingdings" panose="05000000000000000000" pitchFamily="2" charset="2"/>
              <a:buChar char="ü"/>
            </a:pPr>
            <a:endParaRPr lang="en-US" altLang="zh-CN" dirty="0">
              <a:latin typeface="+mn-lt"/>
              <a:ea typeface="+mj-ea"/>
              <a:cs typeface="+mn-ea"/>
              <a:sym typeface="Consolas" panose="020B0609020204030204" pitchFamily="49" charset="0"/>
            </a:endParaRPr>
          </a:p>
          <a:p>
            <a:pPr marL="285750" indent="-285750">
              <a:lnSpc>
                <a:spcPct val="120000"/>
              </a:lnSpc>
              <a:buFont typeface="Wingdings" panose="05000000000000000000" pitchFamily="2" charset="2"/>
              <a:buChar char="ü"/>
            </a:pPr>
            <a:r>
              <a:rPr lang="en-US" altLang="zh-CN" b="1" i="1" dirty="0" err="1">
                <a:latin typeface="+mn-lt"/>
                <a:ea typeface="+mj-ea"/>
                <a:cs typeface="+mn-ea"/>
                <a:sym typeface="Consolas" panose="020B0609020204030204" pitchFamily="49" charset="0"/>
              </a:rPr>
              <a:t>ifelse</a:t>
            </a:r>
            <a:r>
              <a:rPr lang="en-US" altLang="zh-CN" b="1" i="1" dirty="0">
                <a:latin typeface="+mn-lt"/>
                <a:ea typeface="+mj-ea"/>
                <a:cs typeface="+mn-ea"/>
                <a:sym typeface="Consolas" panose="020B0609020204030204" pitchFamily="49" charset="0"/>
              </a:rPr>
              <a:t>()</a:t>
            </a:r>
            <a:r>
              <a:rPr lang="zh-CN" altLang="en-US" dirty="0">
                <a:latin typeface="+mn-lt"/>
                <a:ea typeface="+mj-ea"/>
                <a:cs typeface="+mn-ea"/>
                <a:sym typeface="Consolas" panose="020B0609020204030204" pitchFamily="49" charset="0"/>
              </a:rPr>
              <a:t>函数针对</a:t>
            </a:r>
            <a:r>
              <a:rPr lang="en-US" altLang="zh-CN" dirty="0">
                <a:latin typeface="+mn-lt"/>
                <a:ea typeface="+mj-ea"/>
                <a:cs typeface="+mn-ea"/>
                <a:sym typeface="Consolas" panose="020B0609020204030204" pitchFamily="49" charset="0"/>
              </a:rPr>
              <a:t>test</a:t>
            </a:r>
            <a:r>
              <a:rPr lang="zh-CN" altLang="en-US" dirty="0">
                <a:latin typeface="+mn-lt"/>
                <a:ea typeface="+mj-ea"/>
                <a:cs typeface="+mn-ea"/>
                <a:sym typeface="Consolas" panose="020B0609020204030204" pitchFamily="49" charset="0"/>
              </a:rPr>
              <a:t>向量中的每个元素，按照以下规则进行判断：</a:t>
            </a:r>
            <a:endParaRPr lang="en-US" altLang="zh-CN" dirty="0">
              <a:latin typeface="+mn-lt"/>
              <a:ea typeface="+mj-ea"/>
              <a:cs typeface="+mn-ea"/>
              <a:sym typeface="Consolas" panose="020B0609020204030204" pitchFamily="49" charset="0"/>
            </a:endParaRPr>
          </a:p>
          <a:p>
            <a:pPr marL="285750" indent="-285750">
              <a:lnSpc>
                <a:spcPct val="120000"/>
              </a:lnSpc>
              <a:buFont typeface="Arial" panose="020B0604020202020204" pitchFamily="34" charset="0"/>
              <a:buChar char="•"/>
            </a:pPr>
            <a:r>
              <a:rPr lang="zh-CN" altLang="en-US" sz="1600" dirty="0">
                <a:latin typeface="+mn-lt"/>
                <a:ea typeface="+mj-ea"/>
                <a:cs typeface="+mn-ea"/>
                <a:sym typeface="Consolas" panose="020B0609020204030204" pitchFamily="49" charset="0"/>
              </a:rPr>
              <a:t>如果条件为真</a:t>
            </a:r>
            <a:r>
              <a:rPr lang="en-US" altLang="zh-CN" sz="1600" dirty="0">
                <a:latin typeface="+mn-lt"/>
                <a:ea typeface="+mj-ea"/>
                <a:cs typeface="+mn-ea"/>
                <a:sym typeface="Consolas" panose="020B0609020204030204" pitchFamily="49" charset="0"/>
              </a:rPr>
              <a:t>(TRUE)</a:t>
            </a:r>
            <a:r>
              <a:rPr lang="zh-CN" altLang="en-US" sz="1600" dirty="0">
                <a:latin typeface="+mn-lt"/>
                <a:ea typeface="+mj-ea"/>
                <a:cs typeface="+mn-ea"/>
                <a:sym typeface="Consolas" panose="020B0609020204030204" pitchFamily="49" charset="0"/>
              </a:rPr>
              <a:t>，则</a:t>
            </a:r>
            <a:r>
              <a:rPr lang="en-US" altLang="zh-CN" sz="1600" b="1" i="1" dirty="0" err="1">
                <a:latin typeface="+mn-lt"/>
                <a:ea typeface="+mj-ea"/>
                <a:cs typeface="+mn-ea"/>
                <a:sym typeface="Consolas" panose="020B0609020204030204" pitchFamily="49" charset="0"/>
              </a:rPr>
              <a:t>ifelse</a:t>
            </a:r>
            <a:r>
              <a:rPr lang="en-US" altLang="zh-CN" sz="1600" b="1" i="1" dirty="0">
                <a:latin typeface="+mn-lt"/>
                <a:ea typeface="+mj-ea"/>
                <a:cs typeface="+mn-ea"/>
                <a:sym typeface="Consolas" panose="020B0609020204030204" pitchFamily="49" charset="0"/>
              </a:rPr>
              <a:t>()</a:t>
            </a:r>
            <a:r>
              <a:rPr lang="zh-CN" altLang="en-US" sz="1600" dirty="0">
                <a:latin typeface="+mn-lt"/>
                <a:ea typeface="+mj-ea"/>
                <a:cs typeface="+mn-ea"/>
                <a:sym typeface="Consolas" panose="020B0609020204030204" pitchFamily="49" charset="0"/>
              </a:rPr>
              <a:t>会从</a:t>
            </a:r>
            <a:r>
              <a:rPr lang="en-US" altLang="zh-CN" sz="1600" dirty="0">
                <a:latin typeface="+mn-lt"/>
                <a:ea typeface="+mj-ea"/>
                <a:cs typeface="+mn-ea"/>
                <a:sym typeface="Consolas" panose="020B0609020204030204" pitchFamily="49" charset="0"/>
              </a:rPr>
              <a:t>yes</a:t>
            </a:r>
            <a:r>
              <a:rPr lang="zh-CN" altLang="en-US" sz="1600" dirty="0">
                <a:latin typeface="+mn-lt"/>
                <a:ea typeface="+mj-ea"/>
                <a:cs typeface="+mn-ea"/>
                <a:sym typeface="Consolas" panose="020B0609020204030204" pitchFamily="49" charset="0"/>
              </a:rPr>
              <a:t>参数中选择相应的值</a:t>
            </a:r>
            <a:endParaRPr lang="en-US" altLang="zh-CN" sz="1600" dirty="0">
              <a:latin typeface="+mn-lt"/>
              <a:ea typeface="+mj-ea"/>
              <a:cs typeface="+mn-ea"/>
              <a:sym typeface="Consolas" panose="020B0609020204030204" pitchFamily="49" charset="0"/>
            </a:endParaRPr>
          </a:p>
          <a:p>
            <a:pPr marL="285750" indent="-285750">
              <a:lnSpc>
                <a:spcPct val="120000"/>
              </a:lnSpc>
              <a:buFont typeface="Arial" panose="020B0604020202020204" pitchFamily="34" charset="0"/>
              <a:buChar char="•"/>
            </a:pPr>
            <a:r>
              <a:rPr lang="zh-CN" altLang="en-US" sz="1600" dirty="0">
                <a:latin typeface="+mn-lt"/>
                <a:ea typeface="+mj-ea"/>
                <a:cs typeface="+mn-ea"/>
                <a:sym typeface="Consolas" panose="020B0609020204030204" pitchFamily="49" charset="0"/>
              </a:rPr>
              <a:t>如果条件为假</a:t>
            </a:r>
            <a:r>
              <a:rPr lang="en-US" altLang="zh-CN" sz="1600" dirty="0">
                <a:latin typeface="+mn-lt"/>
                <a:ea typeface="+mj-ea"/>
                <a:cs typeface="+mn-ea"/>
                <a:sym typeface="Consolas" panose="020B0609020204030204" pitchFamily="49" charset="0"/>
              </a:rPr>
              <a:t>(FALSE)</a:t>
            </a:r>
            <a:r>
              <a:rPr lang="zh-CN" altLang="en-US" sz="1600" dirty="0">
                <a:latin typeface="+mn-lt"/>
                <a:ea typeface="+mj-ea"/>
                <a:cs typeface="+mn-ea"/>
                <a:sym typeface="Consolas" panose="020B0609020204030204" pitchFamily="49" charset="0"/>
              </a:rPr>
              <a:t>，则从</a:t>
            </a:r>
            <a:r>
              <a:rPr lang="en-US" altLang="zh-CN" sz="1600" dirty="0">
                <a:latin typeface="+mn-lt"/>
                <a:ea typeface="+mj-ea"/>
                <a:cs typeface="+mn-ea"/>
                <a:sym typeface="Consolas" panose="020B0609020204030204" pitchFamily="49" charset="0"/>
              </a:rPr>
              <a:t>no</a:t>
            </a:r>
            <a:r>
              <a:rPr lang="zh-CN" altLang="en-US" sz="1600" dirty="0">
                <a:latin typeface="+mn-lt"/>
                <a:ea typeface="+mj-ea"/>
                <a:cs typeface="+mn-ea"/>
                <a:sym typeface="Consolas" panose="020B0609020204030204" pitchFamily="49" charset="0"/>
              </a:rPr>
              <a:t>参数中选择值</a:t>
            </a:r>
            <a:endParaRPr lang="en-US" altLang="zh-CN" sz="1600" dirty="0">
              <a:latin typeface="+mn-lt"/>
              <a:ea typeface="+mj-ea"/>
              <a:cs typeface="+mn-ea"/>
              <a:sym typeface="Consolas" panose="020B0609020204030204" pitchFamily="49" charset="0"/>
            </a:endParaRPr>
          </a:p>
          <a:p>
            <a:pPr marL="285750" indent="-285750">
              <a:lnSpc>
                <a:spcPct val="120000"/>
              </a:lnSpc>
              <a:buFont typeface="Arial" panose="020B0604020202020204" pitchFamily="34" charset="0"/>
              <a:buChar char="•"/>
            </a:pPr>
            <a:r>
              <a:rPr lang="zh-CN" altLang="en-US" sz="1600" dirty="0">
                <a:latin typeface="+mn-lt"/>
                <a:ea typeface="+mj-ea"/>
                <a:cs typeface="+mn-ea"/>
                <a:sym typeface="Consolas" panose="020B0609020204030204" pitchFamily="49" charset="0"/>
              </a:rPr>
              <a:t>最终返回一个与</a:t>
            </a:r>
            <a:r>
              <a:rPr lang="en-US" altLang="zh-CN" sz="1600" dirty="0">
                <a:latin typeface="+mn-lt"/>
                <a:ea typeface="+mj-ea"/>
                <a:cs typeface="+mn-ea"/>
                <a:sym typeface="Consolas" panose="020B0609020204030204" pitchFamily="49" charset="0"/>
              </a:rPr>
              <a:t>test</a:t>
            </a:r>
            <a:r>
              <a:rPr lang="zh-CN" altLang="en-US" sz="1600" dirty="0">
                <a:latin typeface="+mn-lt"/>
                <a:ea typeface="+mj-ea"/>
                <a:cs typeface="+mn-ea"/>
                <a:sym typeface="Consolas" panose="020B0609020204030204" pitchFamily="49" charset="0"/>
              </a:rPr>
              <a:t>等长的向量</a:t>
            </a:r>
            <a:endParaRPr lang="en-US" altLang="zh-CN" sz="1600" dirty="0">
              <a:latin typeface="+mn-lt"/>
              <a:ea typeface="+mj-ea"/>
              <a:cs typeface="+mn-ea"/>
              <a:sym typeface="Consolas" panose="020B0609020204030204" pitchFamily="49" charset="0"/>
            </a:endParaRPr>
          </a:p>
        </p:txBody>
      </p:sp>
      <p:sp>
        <p:nvSpPr>
          <p:cNvPr id="6" name="文本框 5">
            <a:extLst>
              <a:ext uri="{FF2B5EF4-FFF2-40B4-BE49-F238E27FC236}">
                <a16:creationId xmlns:a16="http://schemas.microsoft.com/office/drawing/2014/main" id="{06AC9F34-8724-FA12-ADEB-0A1F57EAB82C}"/>
              </a:ext>
            </a:extLst>
          </p:cNvPr>
          <p:cNvSpPr txBox="1"/>
          <p:nvPr/>
        </p:nvSpPr>
        <p:spPr>
          <a:xfrm>
            <a:off x="3314700" y="2487052"/>
            <a:ext cx="2514600" cy="458074"/>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304800" algn="l">
              <a:lnSpc>
                <a:spcPct val="150000"/>
              </a:lnSpc>
            </a:pPr>
            <a:r>
              <a:rPr lang="en-US" altLang="zh-CN" sz="1800" b="1" i="1" dirty="0" err="1">
                <a:solidFill>
                  <a:schemeClr val="tx1"/>
                </a:solidFill>
                <a:effectLst/>
                <a:latin typeface="Times New Roman" panose="02020603050405020304" pitchFamily="18" charset="0"/>
                <a:ea typeface="宋体" panose="02010600030101010101" pitchFamily="2" charset="-122"/>
              </a:rPr>
              <a:t>ifelse</a:t>
            </a:r>
            <a:r>
              <a:rPr lang="en-US" altLang="zh-CN" sz="1800" b="1" i="1" dirty="0">
                <a:solidFill>
                  <a:schemeClr val="tx1"/>
                </a:solidFill>
                <a:effectLst/>
                <a:latin typeface="Times New Roman" panose="02020603050405020304" pitchFamily="18" charset="0"/>
                <a:ea typeface="宋体" panose="02010600030101010101" pitchFamily="2" charset="-122"/>
              </a:rPr>
              <a:t>(test, yes, no)</a:t>
            </a:r>
            <a:endParaRPr lang="zh-CN" altLang="zh-CN" sz="1800" b="1" dirty="0">
              <a:solidFill>
                <a:schemeClr val="tx1"/>
              </a:solidFill>
              <a:effectLst/>
              <a:latin typeface="Times New Roman" panose="02020603050405020304" pitchFamily="18" charset="0"/>
              <a:ea typeface="宋体" panose="02010600030101010101" pitchFamily="2" charset="-122"/>
            </a:endParaRPr>
          </a:p>
        </p:txBody>
      </p:sp>
      <p:graphicFrame>
        <p:nvGraphicFramePr>
          <p:cNvPr id="8" name="表格 7">
            <a:extLst>
              <a:ext uri="{FF2B5EF4-FFF2-40B4-BE49-F238E27FC236}">
                <a16:creationId xmlns:a16="http://schemas.microsoft.com/office/drawing/2014/main" id="{22D78570-A32E-D73B-2E24-36164D7B577F}"/>
              </a:ext>
            </a:extLst>
          </p:cNvPr>
          <p:cNvGraphicFramePr>
            <a:graphicFrameLocks noGrp="1"/>
          </p:cNvGraphicFramePr>
          <p:nvPr>
            <p:extLst>
              <p:ext uri="{D42A27DB-BD31-4B8C-83A1-F6EECF244321}">
                <p14:modId xmlns:p14="http://schemas.microsoft.com/office/powerpoint/2010/main" val="3914581929"/>
              </p:ext>
            </p:extLst>
          </p:nvPr>
        </p:nvGraphicFramePr>
        <p:xfrm>
          <a:off x="1517650" y="3023228"/>
          <a:ext cx="6096000" cy="1691640"/>
        </p:xfrm>
        <a:graphic>
          <a:graphicData uri="http://schemas.openxmlformats.org/drawingml/2006/table">
            <a:tbl>
              <a:tblPr firstRow="1" bandRow="1">
                <a:tableStyleId>{5C22544A-7EE6-4342-B048-85BDC9FD1C3A}</a:tableStyleId>
              </a:tblPr>
              <a:tblGrid>
                <a:gridCol w="1873250">
                  <a:extLst>
                    <a:ext uri="{9D8B030D-6E8A-4147-A177-3AD203B41FA5}">
                      <a16:colId xmlns:a16="http://schemas.microsoft.com/office/drawing/2014/main" val="2780771337"/>
                    </a:ext>
                  </a:extLst>
                </a:gridCol>
                <a:gridCol w="4222750">
                  <a:extLst>
                    <a:ext uri="{9D8B030D-6E8A-4147-A177-3AD203B41FA5}">
                      <a16:colId xmlns:a16="http://schemas.microsoft.com/office/drawing/2014/main" val="1069367614"/>
                    </a:ext>
                  </a:extLst>
                </a:gridCol>
              </a:tblGrid>
              <a:tr h="370840">
                <a:tc>
                  <a:txBody>
                    <a:bodyPr/>
                    <a:lstStyle/>
                    <a:p>
                      <a:pPr algn="ctr"/>
                      <a:r>
                        <a:rPr lang="zh-CN" altLang="en-US" sz="1600" dirty="0"/>
                        <a:t>参数</a:t>
                      </a:r>
                    </a:p>
                  </a:txBody>
                  <a:tcPr anchor="ctr"/>
                </a:tc>
                <a:tc>
                  <a:txBody>
                    <a:bodyPr/>
                    <a:lstStyle/>
                    <a:p>
                      <a:pPr algn="ctr"/>
                      <a:r>
                        <a:rPr lang="zh-CN" altLang="en-US" sz="1600" dirty="0"/>
                        <a:t>含义</a:t>
                      </a:r>
                    </a:p>
                  </a:txBody>
                  <a:tcPr anchor="ctr"/>
                </a:tc>
                <a:extLst>
                  <a:ext uri="{0D108BD9-81ED-4DB2-BD59-A6C34878D82A}">
                    <a16:rowId xmlns:a16="http://schemas.microsoft.com/office/drawing/2014/main" val="308528581"/>
                  </a:ext>
                </a:extLst>
              </a:tr>
              <a:tr h="370840">
                <a:tc>
                  <a:txBody>
                    <a:bodyPr/>
                    <a:lstStyle/>
                    <a:p>
                      <a:pPr algn="ctr"/>
                      <a:r>
                        <a:rPr lang="en-US" altLang="zh-CN" sz="1600" kern="1200" dirty="0">
                          <a:solidFill>
                            <a:schemeClr val="dk1"/>
                          </a:solidFill>
                          <a:effectLst/>
                          <a:latin typeface="+mn-lt"/>
                          <a:ea typeface="+mn-ea"/>
                          <a:cs typeface="+mn-cs"/>
                        </a:rPr>
                        <a:t>test</a:t>
                      </a:r>
                      <a:endParaRPr lang="zh-CN" altLang="en-US" sz="1600" dirty="0"/>
                    </a:p>
                  </a:txBody>
                  <a:tcPr anchor="ctr"/>
                </a:tc>
                <a:tc>
                  <a:txBody>
                    <a:bodyPr/>
                    <a:lstStyle/>
                    <a:p>
                      <a:pPr algn="ctr"/>
                      <a:r>
                        <a:rPr lang="zh-CN" altLang="zh-CN" sz="1600" kern="1200" dirty="0">
                          <a:solidFill>
                            <a:schemeClr val="dk1"/>
                          </a:solidFill>
                          <a:effectLst/>
                          <a:latin typeface="+mn-lt"/>
                          <a:ea typeface="+mn-ea"/>
                          <a:cs typeface="+mn-cs"/>
                        </a:rPr>
                        <a:t>一个逻辑向量（或者条件表达式），用于对每个元素进行测试</a:t>
                      </a:r>
                      <a:endParaRPr lang="zh-CN" altLang="en-US" sz="1600" dirty="0"/>
                    </a:p>
                  </a:txBody>
                  <a:tcPr anchor="ctr"/>
                </a:tc>
                <a:extLst>
                  <a:ext uri="{0D108BD9-81ED-4DB2-BD59-A6C34878D82A}">
                    <a16:rowId xmlns:a16="http://schemas.microsoft.com/office/drawing/2014/main" val="891918046"/>
                  </a:ext>
                </a:extLst>
              </a:tr>
              <a:tr h="370840">
                <a:tc>
                  <a:txBody>
                    <a:bodyPr/>
                    <a:lstStyle/>
                    <a:p>
                      <a:pPr algn="ctr"/>
                      <a:r>
                        <a:rPr lang="en-US" altLang="zh-CN" sz="1600" dirty="0"/>
                        <a:t>yes</a:t>
                      </a:r>
                      <a:endParaRPr lang="zh-CN" altLang="en-US" sz="1600" dirty="0"/>
                    </a:p>
                  </a:txBody>
                  <a:tcPr anchor="ctr"/>
                </a:tc>
                <a:tc>
                  <a:txBody>
                    <a:bodyPr/>
                    <a:lstStyle/>
                    <a:p>
                      <a:pPr algn="ctr"/>
                      <a:r>
                        <a:rPr lang="zh-CN" altLang="en-US" sz="1600" dirty="0"/>
                        <a:t>当</a:t>
                      </a:r>
                      <a:r>
                        <a:rPr lang="en-US" altLang="zh-CN" sz="1600" dirty="0"/>
                        <a:t>test</a:t>
                      </a:r>
                      <a:r>
                        <a:rPr lang="zh-CN" altLang="en-US" sz="1600" dirty="0"/>
                        <a:t>的对应元素为</a:t>
                      </a:r>
                      <a:r>
                        <a:rPr lang="en-US" altLang="zh-CN" sz="1600" dirty="0"/>
                        <a:t>TRUE</a:t>
                      </a:r>
                      <a:r>
                        <a:rPr lang="zh-CN" altLang="en-US" sz="1600" dirty="0"/>
                        <a:t>时返回的值</a:t>
                      </a:r>
                    </a:p>
                  </a:txBody>
                  <a:tcPr anchor="ctr"/>
                </a:tc>
                <a:extLst>
                  <a:ext uri="{0D108BD9-81ED-4DB2-BD59-A6C34878D82A}">
                    <a16:rowId xmlns:a16="http://schemas.microsoft.com/office/drawing/2014/main" val="1159575305"/>
                  </a:ext>
                </a:extLst>
              </a:tr>
              <a:tr h="370840">
                <a:tc>
                  <a:txBody>
                    <a:bodyPr/>
                    <a:lstStyle/>
                    <a:p>
                      <a:pPr algn="ctr"/>
                      <a:r>
                        <a:rPr lang="en-US" altLang="zh-CN" sz="1600" dirty="0"/>
                        <a:t>no</a:t>
                      </a:r>
                      <a:endParaRPr lang="zh-CN" altLang="en-US" sz="1600" dirty="0"/>
                    </a:p>
                  </a:txBody>
                  <a:tcPr anchor="ctr"/>
                </a:tc>
                <a:tc>
                  <a:txBody>
                    <a:bodyPr/>
                    <a:lstStyle/>
                    <a:p>
                      <a:pPr algn="ctr"/>
                      <a:r>
                        <a:rPr lang="zh-CN" altLang="en-US" sz="1600" dirty="0"/>
                        <a:t>当</a:t>
                      </a:r>
                      <a:r>
                        <a:rPr lang="en-US" altLang="zh-CN" sz="1600" dirty="0"/>
                        <a:t>test</a:t>
                      </a:r>
                      <a:r>
                        <a:rPr lang="zh-CN" altLang="en-US" sz="1600" dirty="0"/>
                        <a:t>的对应元素为</a:t>
                      </a:r>
                      <a:r>
                        <a:rPr lang="en-US" altLang="zh-CN" sz="1600" dirty="0"/>
                        <a:t>FALSE</a:t>
                      </a:r>
                      <a:r>
                        <a:rPr lang="zh-CN" altLang="en-US" sz="1600" dirty="0"/>
                        <a:t>时返回的值</a:t>
                      </a:r>
                    </a:p>
                  </a:txBody>
                  <a:tcPr anchor="ctr"/>
                </a:tc>
                <a:extLst>
                  <a:ext uri="{0D108BD9-81ED-4DB2-BD59-A6C34878D82A}">
                    <a16:rowId xmlns:a16="http://schemas.microsoft.com/office/drawing/2014/main" val="450537636"/>
                  </a:ext>
                </a:extLst>
              </a:tr>
            </a:tbl>
          </a:graphicData>
        </a:graphic>
      </p:graphicFrame>
    </p:spTree>
    <p:extLst>
      <p:ext uri="{BB962C8B-B14F-4D97-AF65-F5344CB8AC3E}">
        <p14:creationId xmlns:p14="http://schemas.microsoft.com/office/powerpoint/2010/main" val="17065706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BF9CE-7A2D-D98C-A01A-047865E51549}"/>
            </a:ext>
          </a:extLst>
        </p:cNvPr>
        <p:cNvGrpSpPr/>
        <p:nvPr/>
      </p:nvGrpSpPr>
      <p:grpSpPr>
        <a:xfrm>
          <a:off x="0" y="0"/>
          <a:ext cx="0" cy="0"/>
          <a:chOff x="0" y="0"/>
          <a:chExt cx="0" cy="0"/>
        </a:xfrm>
      </p:grpSpPr>
      <p:sp>
        <p:nvSpPr>
          <p:cNvPr id="13" name="标题 9">
            <a:extLst>
              <a:ext uri="{FF2B5EF4-FFF2-40B4-BE49-F238E27FC236}">
                <a16:creationId xmlns:a16="http://schemas.microsoft.com/office/drawing/2014/main" id="{0F3394C4-7771-194B-D352-59604B53B7F6}"/>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2.4.1 </a:t>
            </a:r>
            <a:r>
              <a:rPr lang="zh-CN" altLang="en-US" sz="3600" dirty="0">
                <a:latin typeface="Times New Roman" panose="02020603050405020304" pitchFamily="18" charset="0"/>
                <a:cs typeface="Times New Roman" panose="02020603050405020304" pitchFamily="18" charset="0"/>
              </a:rPr>
              <a:t>基础数据提取</a:t>
            </a:r>
          </a:p>
        </p:txBody>
      </p:sp>
      <p:sp>
        <p:nvSpPr>
          <p:cNvPr id="14" name="灯片编号占位符 13">
            <a:extLst>
              <a:ext uri="{FF2B5EF4-FFF2-40B4-BE49-F238E27FC236}">
                <a16:creationId xmlns:a16="http://schemas.microsoft.com/office/drawing/2014/main" id="{B5694894-AF12-4BC0-D914-6212CFB4E6DA}"/>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20</a:t>
            </a:fld>
            <a:endParaRPr lang="zh-CN" altLang="en-US" dirty="0">
              <a:solidFill>
                <a:schemeClr val="bg2">
                  <a:lumMod val="75000"/>
                </a:schemeClr>
              </a:solidFill>
            </a:endParaRPr>
          </a:p>
        </p:txBody>
      </p:sp>
      <p:sp>
        <p:nvSpPr>
          <p:cNvPr id="5" name="矩形 4">
            <a:extLst>
              <a:ext uri="{FF2B5EF4-FFF2-40B4-BE49-F238E27FC236}">
                <a16:creationId xmlns:a16="http://schemas.microsoft.com/office/drawing/2014/main" id="{F4342930-51CE-455B-E397-CC9354E302EA}"/>
              </a:ext>
            </a:extLst>
          </p:cNvPr>
          <p:cNvSpPr/>
          <p:nvPr/>
        </p:nvSpPr>
        <p:spPr>
          <a:xfrm>
            <a:off x="461961" y="1295764"/>
            <a:ext cx="8420100" cy="430182"/>
          </a:xfrm>
          <a:prstGeom prst="rect">
            <a:avLst/>
          </a:prstGeom>
        </p:spPr>
        <p:txBody>
          <a:bodyPr wrap="square">
            <a:spAutoFit/>
          </a:bodyPr>
          <a:lstStyle/>
          <a:p>
            <a:pPr>
              <a:lnSpc>
                <a:spcPct val="120000"/>
              </a:lnSpc>
            </a:pPr>
            <a:r>
              <a:rPr lang="en-US" altLang="zh-CN" sz="2000" dirty="0">
                <a:latin typeface="+mj-lt"/>
                <a:ea typeface="+mj-ea"/>
                <a:cs typeface="+mn-ea"/>
                <a:sym typeface="Consolas" panose="020B0609020204030204" pitchFamily="49" charset="0"/>
              </a:rPr>
              <a:t>(3) </a:t>
            </a:r>
            <a:r>
              <a:rPr lang="zh-CN" altLang="en-US" sz="2000" dirty="0">
                <a:latin typeface="+mj-lt"/>
                <a:ea typeface="+mj-ea"/>
                <a:cs typeface="+mn-ea"/>
                <a:sym typeface="Consolas" panose="020B0609020204030204" pitchFamily="49" charset="0"/>
              </a:rPr>
              <a:t>使用</a:t>
            </a:r>
            <a:r>
              <a:rPr lang="zh-CN" altLang="en-US" sz="2000" b="1" dirty="0">
                <a:latin typeface="+mj-lt"/>
                <a:ea typeface="+mj-ea"/>
                <a:cs typeface="+mn-ea"/>
                <a:sym typeface="Consolas" panose="020B0609020204030204" pitchFamily="49" charset="0"/>
              </a:rPr>
              <a:t>逻辑值判断</a:t>
            </a:r>
            <a:r>
              <a:rPr lang="zh-CN" altLang="en-US" sz="2000" dirty="0">
                <a:latin typeface="+mj-lt"/>
                <a:ea typeface="+mj-ea"/>
                <a:cs typeface="+mn-ea"/>
                <a:sym typeface="Consolas" panose="020B0609020204030204" pitchFamily="49" charset="0"/>
              </a:rPr>
              <a:t>提取（</a:t>
            </a:r>
            <a:r>
              <a:rPr lang="zh-CN" altLang="en-US" sz="2000" dirty="0">
                <a:latin typeface="+mn-lt"/>
                <a:ea typeface="+mn-ea"/>
                <a:sym typeface="Consolas" panose="020B0609020204030204" pitchFamily="49" charset="0"/>
              </a:rPr>
              <a:t>结合</a:t>
            </a:r>
            <a:r>
              <a:rPr lang="en-US" altLang="zh-CN" sz="2000" b="1" dirty="0" err="1">
                <a:latin typeface="+mn-lt"/>
                <a:ea typeface="+mn-ea"/>
                <a:sym typeface="Consolas" panose="020B0609020204030204" pitchFamily="49" charset="0"/>
              </a:rPr>
              <a:t>dplyr</a:t>
            </a:r>
            <a:r>
              <a:rPr lang="zh-CN" altLang="en-US" sz="2000" dirty="0">
                <a:latin typeface="+mn-lt"/>
                <a:ea typeface="+mn-ea"/>
                <a:sym typeface="Consolas" panose="020B0609020204030204" pitchFamily="49" charset="0"/>
              </a:rPr>
              <a:t>函数包中提供的</a:t>
            </a:r>
            <a:r>
              <a:rPr lang="zh-CN" altLang="en-US" sz="2000" b="1" dirty="0">
                <a:latin typeface="+mn-lt"/>
                <a:ea typeface="+mn-ea"/>
                <a:sym typeface="Consolas" panose="020B0609020204030204" pitchFamily="49" charset="0"/>
              </a:rPr>
              <a:t>元素选取函数</a:t>
            </a:r>
            <a:r>
              <a:rPr lang="zh-CN" altLang="en-US" sz="2000" dirty="0">
                <a:latin typeface="+mj-lt"/>
                <a:ea typeface="+mj-ea"/>
                <a:cs typeface="+mn-ea"/>
                <a:sym typeface="Consolas" panose="020B0609020204030204" pitchFamily="49" charset="0"/>
              </a:rPr>
              <a:t>）</a:t>
            </a:r>
            <a:endParaRPr lang="en-US" altLang="zh-CN" sz="2000" dirty="0">
              <a:latin typeface="+mj-lt"/>
              <a:ea typeface="+mj-ea"/>
              <a:cs typeface="+mn-ea"/>
              <a:sym typeface="Consolas" panose="020B0609020204030204" pitchFamily="49" charset="0"/>
            </a:endParaRPr>
          </a:p>
        </p:txBody>
      </p:sp>
      <p:sp>
        <p:nvSpPr>
          <p:cNvPr id="4" name="矩形 3">
            <a:extLst>
              <a:ext uri="{FF2B5EF4-FFF2-40B4-BE49-F238E27FC236}">
                <a16:creationId xmlns:a16="http://schemas.microsoft.com/office/drawing/2014/main" id="{6A4FFE60-C613-D90F-46AD-A1F22E2B06DD}"/>
              </a:ext>
            </a:extLst>
          </p:cNvPr>
          <p:cNvSpPr/>
          <p:nvPr/>
        </p:nvSpPr>
        <p:spPr>
          <a:xfrm>
            <a:off x="474661" y="1725946"/>
            <a:ext cx="7907339" cy="2166875"/>
          </a:xfrm>
          <a:prstGeom prst="rect">
            <a:avLst/>
          </a:prstGeom>
        </p:spPr>
        <p:txBody>
          <a:bodyPr wrap="square">
            <a:spAutoFit/>
          </a:bodyPr>
          <a:lstStyle/>
          <a:p>
            <a:pPr>
              <a:lnSpc>
                <a:spcPct val="150000"/>
              </a:lnSpc>
            </a:pPr>
            <a:r>
              <a:rPr lang="zh-CN" altLang="en-US" sz="2000" dirty="0">
                <a:latin typeface="+mn-lt"/>
                <a:ea typeface="+mj-ea"/>
                <a:cs typeface="+mn-ea"/>
                <a:sym typeface="Consolas" panose="020B0609020204030204" pitchFamily="49" charset="0"/>
              </a:rPr>
              <a:t>① </a:t>
            </a:r>
            <a:r>
              <a:rPr lang="en-US" altLang="zh-CN" sz="2000" b="1" i="1" dirty="0" err="1">
                <a:latin typeface="+mn-lt"/>
                <a:ea typeface="+mj-ea"/>
                <a:cs typeface="+mn-ea"/>
                <a:sym typeface="Consolas" panose="020B0609020204030204" pitchFamily="49" charset="0"/>
              </a:rPr>
              <a:t>ifelse</a:t>
            </a:r>
            <a:r>
              <a:rPr lang="en-US" altLang="zh-CN" sz="2000" b="1" i="1" dirty="0">
                <a:latin typeface="+mn-lt"/>
                <a:ea typeface="+mj-ea"/>
                <a:cs typeface="+mn-ea"/>
                <a:sym typeface="Consolas" panose="020B0609020204030204" pitchFamily="49" charset="0"/>
              </a:rPr>
              <a:t>()</a:t>
            </a:r>
            <a:r>
              <a:rPr lang="zh-CN" altLang="en-US" sz="2000" b="1" dirty="0">
                <a:latin typeface="+mn-lt"/>
                <a:ea typeface="+mj-ea"/>
                <a:cs typeface="+mn-ea"/>
                <a:sym typeface="Consolas" panose="020B0609020204030204" pitchFamily="49" charset="0"/>
              </a:rPr>
              <a:t>函数</a:t>
            </a:r>
            <a:endParaRPr lang="en-US" altLang="zh-CN" sz="2000" b="1" dirty="0">
              <a:latin typeface="+mn-lt"/>
              <a:ea typeface="+mj-ea"/>
              <a:cs typeface="+mn-ea"/>
              <a:sym typeface="Consolas" panose="020B0609020204030204" pitchFamily="49" charset="0"/>
            </a:endParaRPr>
          </a:p>
          <a:p>
            <a:pPr marL="285750" indent="-285750">
              <a:lnSpc>
                <a:spcPct val="150000"/>
              </a:lnSpc>
              <a:buFont typeface="Wingdings" panose="05000000000000000000" pitchFamily="2" charset="2"/>
              <a:buChar char="ü"/>
            </a:pPr>
            <a:r>
              <a:rPr lang="zh-CN" altLang="en-US" dirty="0">
                <a:latin typeface="+mn-lt"/>
                <a:ea typeface="+mj-ea"/>
                <a:cs typeface="+mn-ea"/>
                <a:sym typeface="Consolas" panose="020B0609020204030204" pitchFamily="49" charset="0"/>
              </a:rPr>
              <a:t>在数据处理中，</a:t>
            </a:r>
            <a:r>
              <a:rPr lang="en-US" altLang="zh-CN" b="1" i="1" dirty="0" err="1">
                <a:latin typeface="+mn-lt"/>
                <a:ea typeface="+mj-ea"/>
                <a:cs typeface="+mn-ea"/>
                <a:sym typeface="Consolas" panose="020B0609020204030204" pitchFamily="49" charset="0"/>
              </a:rPr>
              <a:t>ifelse</a:t>
            </a:r>
            <a:r>
              <a:rPr lang="en-US" altLang="zh-CN" b="1" i="1" dirty="0">
                <a:latin typeface="+mn-lt"/>
                <a:ea typeface="+mj-ea"/>
                <a:cs typeface="+mn-ea"/>
                <a:sym typeface="Consolas" panose="020B0609020204030204" pitchFamily="49" charset="0"/>
              </a:rPr>
              <a:t>()</a:t>
            </a:r>
            <a:r>
              <a:rPr lang="zh-CN" altLang="en-US" dirty="0">
                <a:latin typeface="+mn-lt"/>
                <a:ea typeface="+mj-ea"/>
                <a:cs typeface="+mn-ea"/>
                <a:sym typeface="Consolas" panose="020B0609020204030204" pitchFamily="49" charset="0"/>
              </a:rPr>
              <a:t>经常用于</a:t>
            </a:r>
            <a:r>
              <a:rPr lang="zh-CN" altLang="en-US" b="1" dirty="0">
                <a:latin typeface="+mn-lt"/>
                <a:ea typeface="+mj-ea"/>
                <a:cs typeface="+mn-ea"/>
                <a:sym typeface="Consolas" panose="020B0609020204030204" pitchFamily="49" charset="0"/>
              </a:rPr>
              <a:t>处理缺失值、创建指标变量、替换数据</a:t>
            </a:r>
            <a:r>
              <a:rPr lang="zh-CN" altLang="en-US" dirty="0">
                <a:latin typeface="+mn-lt"/>
                <a:ea typeface="+mj-ea"/>
                <a:cs typeface="+mn-ea"/>
                <a:sym typeface="Consolas" panose="020B0609020204030204" pitchFamily="49" charset="0"/>
              </a:rPr>
              <a:t>等</a:t>
            </a:r>
            <a:endParaRPr lang="en-US" altLang="zh-CN" dirty="0">
              <a:latin typeface="+mn-lt"/>
              <a:ea typeface="+mj-ea"/>
              <a:cs typeface="+mn-ea"/>
              <a:sym typeface="Consolas" panose="020B0609020204030204" pitchFamily="49" charset="0"/>
            </a:endParaRPr>
          </a:p>
          <a:p>
            <a:pPr marL="285750" indent="-285750">
              <a:lnSpc>
                <a:spcPct val="150000"/>
              </a:lnSpc>
              <a:buFont typeface="Wingdings" panose="05000000000000000000" pitchFamily="2" charset="2"/>
              <a:buChar char="ü"/>
            </a:pPr>
            <a:r>
              <a:rPr lang="zh-CN" altLang="en-US" dirty="0">
                <a:latin typeface="+mn-lt"/>
                <a:ea typeface="+mj-ea"/>
                <a:cs typeface="+mn-ea"/>
                <a:sym typeface="Consolas" panose="020B0609020204030204" pitchFamily="49" charset="0"/>
              </a:rPr>
              <a:t>在下面的示例代码中，</a:t>
            </a:r>
            <a:r>
              <a:rPr lang="en-US" altLang="zh-CN" b="1" i="1" dirty="0" err="1">
                <a:latin typeface="+mn-lt"/>
                <a:ea typeface="+mj-ea"/>
                <a:cs typeface="+mn-ea"/>
                <a:sym typeface="Consolas" panose="020B0609020204030204" pitchFamily="49" charset="0"/>
              </a:rPr>
              <a:t>ifelse</a:t>
            </a:r>
            <a:r>
              <a:rPr lang="en-US" altLang="zh-CN" b="1" i="1" dirty="0">
                <a:latin typeface="+mn-lt"/>
                <a:ea typeface="+mj-ea"/>
                <a:cs typeface="+mn-ea"/>
                <a:sym typeface="Consolas" panose="020B0609020204030204" pitchFamily="49" charset="0"/>
              </a:rPr>
              <a:t>()</a:t>
            </a:r>
            <a:r>
              <a:rPr lang="zh-CN" altLang="en-US" dirty="0">
                <a:latin typeface="+mn-lt"/>
                <a:ea typeface="+mj-ea"/>
                <a:cs typeface="+mn-ea"/>
                <a:sym typeface="Consolas" panose="020B0609020204030204" pitchFamily="49" charset="0"/>
              </a:rPr>
              <a:t>用于检查</a:t>
            </a:r>
            <a:r>
              <a:rPr lang="en-US" altLang="zh-CN" dirty="0">
                <a:latin typeface="+mn-lt"/>
                <a:ea typeface="+mj-ea"/>
                <a:cs typeface="+mn-ea"/>
                <a:sym typeface="Consolas" panose="020B0609020204030204" pitchFamily="49" charset="0"/>
              </a:rPr>
              <a:t>values</a:t>
            </a:r>
            <a:r>
              <a:rPr lang="zh-CN" altLang="en-US" dirty="0">
                <a:latin typeface="+mn-lt"/>
                <a:ea typeface="+mj-ea"/>
                <a:cs typeface="+mn-ea"/>
                <a:sym typeface="Consolas" panose="020B0609020204030204" pitchFamily="49" charset="0"/>
              </a:rPr>
              <a:t>列中的每个元素是否为</a:t>
            </a:r>
            <a:r>
              <a:rPr lang="en-US" altLang="zh-CN" dirty="0">
                <a:latin typeface="+mn-lt"/>
                <a:ea typeface="+mj-ea"/>
                <a:cs typeface="+mn-ea"/>
                <a:sym typeface="Consolas" panose="020B0609020204030204" pitchFamily="49" charset="0"/>
              </a:rPr>
              <a:t>NA</a:t>
            </a:r>
            <a:r>
              <a:rPr lang="zh-CN" altLang="en-US" dirty="0">
                <a:latin typeface="+mn-lt"/>
                <a:ea typeface="+mj-ea"/>
                <a:cs typeface="+mn-ea"/>
                <a:sym typeface="Consolas" panose="020B0609020204030204" pitchFamily="49" charset="0"/>
              </a:rPr>
              <a:t>。如果是，就用</a:t>
            </a:r>
            <a:r>
              <a:rPr lang="en-US" altLang="zh-CN" dirty="0">
                <a:latin typeface="+mn-lt"/>
                <a:ea typeface="+mj-ea"/>
                <a:cs typeface="+mn-ea"/>
                <a:sym typeface="Consolas" panose="020B0609020204030204" pitchFamily="49" charset="0"/>
              </a:rPr>
              <a:t>0</a:t>
            </a:r>
            <a:r>
              <a:rPr lang="zh-CN" altLang="en-US" dirty="0">
                <a:latin typeface="+mn-lt"/>
                <a:ea typeface="+mj-ea"/>
                <a:cs typeface="+mn-ea"/>
                <a:sym typeface="Consolas" panose="020B0609020204030204" pitchFamily="49" charset="0"/>
              </a:rPr>
              <a:t>替换；如果不是，就保持原值，可以替换一个数据框中的缺失值：</a:t>
            </a:r>
            <a:endParaRPr lang="en-US" altLang="zh-CN" dirty="0">
              <a:latin typeface="+mn-lt"/>
              <a:ea typeface="+mj-ea"/>
              <a:cs typeface="+mn-ea"/>
              <a:sym typeface="Consolas" panose="020B0609020204030204" pitchFamily="49" charset="0"/>
            </a:endParaRPr>
          </a:p>
        </p:txBody>
      </p:sp>
      <p:sp>
        <p:nvSpPr>
          <p:cNvPr id="2" name="文本框 1">
            <a:extLst>
              <a:ext uri="{FF2B5EF4-FFF2-40B4-BE49-F238E27FC236}">
                <a16:creationId xmlns:a16="http://schemas.microsoft.com/office/drawing/2014/main" id="{5F0EA1A1-4F09-32D3-B68C-DFBDFF07FEA9}"/>
              </a:ext>
            </a:extLst>
          </p:cNvPr>
          <p:cNvSpPr txBox="1"/>
          <p:nvPr/>
        </p:nvSpPr>
        <p:spPr>
          <a:xfrm>
            <a:off x="546099" y="4086212"/>
            <a:ext cx="8277225" cy="92333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data &lt;- </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data.frame</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(values = c(</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NA</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NA</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a:t>
            </a:r>
            <a:r>
              <a:rPr lang="en-US" altLang="zh-CN" sz="18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values</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8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ifelse</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(is.na(</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a:t>
            </a:r>
            <a:r>
              <a:rPr lang="en-US" altLang="zh-CN" sz="18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values</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a:t>
            </a:r>
            <a:r>
              <a:rPr lang="en-US" altLang="zh-CN" sz="18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values</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data</a:t>
            </a:r>
            <a:endParaRPr lang="zh-CN" altLang="zh-CN" sz="18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6661922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2A8BC-C1D8-0A3F-AA7F-E5D9699BB9ED}"/>
            </a:ext>
          </a:extLst>
        </p:cNvPr>
        <p:cNvGrpSpPr/>
        <p:nvPr/>
      </p:nvGrpSpPr>
      <p:grpSpPr>
        <a:xfrm>
          <a:off x="0" y="0"/>
          <a:ext cx="0" cy="0"/>
          <a:chOff x="0" y="0"/>
          <a:chExt cx="0" cy="0"/>
        </a:xfrm>
      </p:grpSpPr>
      <p:sp>
        <p:nvSpPr>
          <p:cNvPr id="13" name="标题 9">
            <a:extLst>
              <a:ext uri="{FF2B5EF4-FFF2-40B4-BE49-F238E27FC236}">
                <a16:creationId xmlns:a16="http://schemas.microsoft.com/office/drawing/2014/main" id="{9891001E-01FD-2D81-B20F-237904A74080}"/>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2.4.1 </a:t>
            </a:r>
            <a:r>
              <a:rPr lang="zh-CN" altLang="en-US" sz="3600" dirty="0">
                <a:latin typeface="Times New Roman" panose="02020603050405020304" pitchFamily="18" charset="0"/>
                <a:cs typeface="Times New Roman" panose="02020603050405020304" pitchFamily="18" charset="0"/>
              </a:rPr>
              <a:t>基础数据提取</a:t>
            </a:r>
          </a:p>
        </p:txBody>
      </p:sp>
      <p:sp>
        <p:nvSpPr>
          <p:cNvPr id="14" name="灯片编号占位符 13">
            <a:extLst>
              <a:ext uri="{FF2B5EF4-FFF2-40B4-BE49-F238E27FC236}">
                <a16:creationId xmlns:a16="http://schemas.microsoft.com/office/drawing/2014/main" id="{3E955F77-815E-539B-861C-9754D98C9687}"/>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21</a:t>
            </a:fld>
            <a:endParaRPr lang="zh-CN" altLang="en-US" dirty="0">
              <a:solidFill>
                <a:schemeClr val="bg2">
                  <a:lumMod val="75000"/>
                </a:schemeClr>
              </a:solidFill>
            </a:endParaRPr>
          </a:p>
        </p:txBody>
      </p:sp>
      <p:sp>
        <p:nvSpPr>
          <p:cNvPr id="5" name="矩形 4">
            <a:extLst>
              <a:ext uri="{FF2B5EF4-FFF2-40B4-BE49-F238E27FC236}">
                <a16:creationId xmlns:a16="http://schemas.microsoft.com/office/drawing/2014/main" id="{F33F12A3-04B8-4A1E-108F-4BA11694FF67}"/>
              </a:ext>
            </a:extLst>
          </p:cNvPr>
          <p:cNvSpPr/>
          <p:nvPr/>
        </p:nvSpPr>
        <p:spPr>
          <a:xfrm>
            <a:off x="474662" y="1295764"/>
            <a:ext cx="8420100" cy="430182"/>
          </a:xfrm>
          <a:prstGeom prst="rect">
            <a:avLst/>
          </a:prstGeom>
        </p:spPr>
        <p:txBody>
          <a:bodyPr wrap="square">
            <a:spAutoFit/>
          </a:bodyPr>
          <a:lstStyle/>
          <a:p>
            <a:pPr>
              <a:lnSpc>
                <a:spcPct val="120000"/>
              </a:lnSpc>
            </a:pPr>
            <a:r>
              <a:rPr lang="en-US" altLang="zh-CN" sz="2000" dirty="0">
                <a:latin typeface="+mj-lt"/>
                <a:ea typeface="+mj-ea"/>
                <a:cs typeface="+mn-ea"/>
                <a:sym typeface="Consolas" panose="020B0609020204030204" pitchFamily="49" charset="0"/>
              </a:rPr>
              <a:t>(3) </a:t>
            </a:r>
            <a:r>
              <a:rPr lang="zh-CN" altLang="en-US" sz="2000" dirty="0">
                <a:latin typeface="+mj-lt"/>
                <a:ea typeface="+mj-ea"/>
                <a:cs typeface="+mn-ea"/>
                <a:sym typeface="Consolas" panose="020B0609020204030204" pitchFamily="49" charset="0"/>
              </a:rPr>
              <a:t>使用</a:t>
            </a:r>
            <a:r>
              <a:rPr lang="zh-CN" altLang="en-US" sz="2000" b="1" dirty="0">
                <a:latin typeface="+mj-lt"/>
                <a:ea typeface="+mj-ea"/>
                <a:cs typeface="+mn-ea"/>
                <a:sym typeface="Consolas" panose="020B0609020204030204" pitchFamily="49" charset="0"/>
              </a:rPr>
              <a:t>逻辑值判断</a:t>
            </a:r>
            <a:r>
              <a:rPr lang="zh-CN" altLang="en-US" sz="2000" dirty="0">
                <a:latin typeface="+mj-lt"/>
                <a:ea typeface="+mj-ea"/>
                <a:cs typeface="+mn-ea"/>
                <a:sym typeface="Consolas" panose="020B0609020204030204" pitchFamily="49" charset="0"/>
              </a:rPr>
              <a:t>提取（</a:t>
            </a:r>
            <a:r>
              <a:rPr lang="zh-CN" altLang="en-US" sz="2000" dirty="0">
                <a:latin typeface="+mn-lt"/>
                <a:ea typeface="+mn-ea"/>
                <a:sym typeface="Consolas" panose="020B0609020204030204" pitchFamily="49" charset="0"/>
              </a:rPr>
              <a:t>结合</a:t>
            </a:r>
            <a:r>
              <a:rPr lang="en-US" altLang="zh-CN" sz="2000" b="1" dirty="0" err="1">
                <a:latin typeface="+mn-lt"/>
                <a:ea typeface="+mn-ea"/>
                <a:sym typeface="Consolas" panose="020B0609020204030204" pitchFamily="49" charset="0"/>
              </a:rPr>
              <a:t>dplyr</a:t>
            </a:r>
            <a:r>
              <a:rPr lang="zh-CN" altLang="en-US" sz="2000" dirty="0">
                <a:latin typeface="+mn-lt"/>
                <a:ea typeface="+mn-ea"/>
                <a:sym typeface="Consolas" panose="020B0609020204030204" pitchFamily="49" charset="0"/>
              </a:rPr>
              <a:t>函数包中提供的</a:t>
            </a:r>
            <a:r>
              <a:rPr lang="zh-CN" altLang="en-US" sz="2000" b="1" dirty="0">
                <a:latin typeface="+mn-lt"/>
                <a:ea typeface="+mn-ea"/>
                <a:sym typeface="Consolas" panose="020B0609020204030204" pitchFamily="49" charset="0"/>
              </a:rPr>
              <a:t>元素选取函数</a:t>
            </a:r>
            <a:r>
              <a:rPr lang="zh-CN" altLang="en-US" sz="2000" dirty="0">
                <a:latin typeface="+mj-lt"/>
                <a:ea typeface="+mj-ea"/>
                <a:cs typeface="+mn-ea"/>
                <a:sym typeface="Consolas" panose="020B0609020204030204" pitchFamily="49" charset="0"/>
              </a:rPr>
              <a:t>）</a:t>
            </a:r>
            <a:endParaRPr lang="en-US" altLang="zh-CN" sz="2000" dirty="0">
              <a:latin typeface="+mj-lt"/>
              <a:ea typeface="+mj-ea"/>
              <a:cs typeface="+mn-ea"/>
              <a:sym typeface="Consolas" panose="020B0609020204030204" pitchFamily="49" charset="0"/>
            </a:endParaRPr>
          </a:p>
        </p:txBody>
      </p:sp>
      <p:sp>
        <p:nvSpPr>
          <p:cNvPr id="4" name="矩形 3">
            <a:extLst>
              <a:ext uri="{FF2B5EF4-FFF2-40B4-BE49-F238E27FC236}">
                <a16:creationId xmlns:a16="http://schemas.microsoft.com/office/drawing/2014/main" id="{2722AF8D-41A5-164D-404B-0D6232179647}"/>
              </a:ext>
            </a:extLst>
          </p:cNvPr>
          <p:cNvSpPr/>
          <p:nvPr/>
        </p:nvSpPr>
        <p:spPr>
          <a:xfrm>
            <a:off x="474661" y="1725946"/>
            <a:ext cx="7907339" cy="499432"/>
          </a:xfrm>
          <a:prstGeom prst="rect">
            <a:avLst/>
          </a:prstGeom>
        </p:spPr>
        <p:txBody>
          <a:bodyPr wrap="square">
            <a:spAutoFit/>
          </a:bodyPr>
          <a:lstStyle/>
          <a:p>
            <a:pPr>
              <a:lnSpc>
                <a:spcPct val="150000"/>
              </a:lnSpc>
            </a:pPr>
            <a:r>
              <a:rPr lang="zh-CN" altLang="en-US" sz="2000" dirty="0">
                <a:latin typeface="+mn-lt"/>
                <a:ea typeface="+mj-ea"/>
                <a:cs typeface="+mn-ea"/>
                <a:sym typeface="Consolas" panose="020B0609020204030204" pitchFamily="49" charset="0"/>
              </a:rPr>
              <a:t>② </a:t>
            </a:r>
            <a:r>
              <a:rPr lang="en-US" altLang="zh-CN" sz="2000" b="1" i="1" dirty="0">
                <a:latin typeface="+mn-lt"/>
                <a:ea typeface="+mj-ea"/>
                <a:cs typeface="+mn-ea"/>
                <a:sym typeface="Consolas" panose="020B0609020204030204" pitchFamily="49" charset="0"/>
              </a:rPr>
              <a:t>select()</a:t>
            </a:r>
            <a:r>
              <a:rPr lang="zh-CN" altLang="en-US" sz="2000" b="1" dirty="0">
                <a:latin typeface="+mn-lt"/>
                <a:ea typeface="+mj-ea"/>
                <a:cs typeface="+mn-ea"/>
                <a:sym typeface="Consolas" panose="020B0609020204030204" pitchFamily="49" charset="0"/>
              </a:rPr>
              <a:t>函数</a:t>
            </a:r>
            <a:r>
              <a:rPr lang="en-US" altLang="zh-CN" sz="2000" dirty="0">
                <a:latin typeface="+mn-lt"/>
                <a:ea typeface="+mj-ea"/>
                <a:cs typeface="+mn-ea"/>
                <a:sym typeface="Consolas" panose="020B0609020204030204" pitchFamily="49" charset="0"/>
              </a:rPr>
              <a:t>     </a:t>
            </a:r>
            <a:r>
              <a:rPr lang="zh-CN" altLang="en-US" sz="2000" dirty="0">
                <a:latin typeface="+mn-lt"/>
                <a:ea typeface="+mj-ea"/>
                <a:cs typeface="+mn-ea"/>
                <a:sym typeface="Consolas" panose="020B0609020204030204" pitchFamily="49" charset="0"/>
              </a:rPr>
              <a:t>③ </a:t>
            </a:r>
            <a:r>
              <a:rPr lang="en-US" altLang="zh-CN" sz="2000" b="1" i="1" dirty="0">
                <a:latin typeface="+mn-lt"/>
                <a:ea typeface="+mj-ea"/>
                <a:cs typeface="+mn-ea"/>
                <a:sym typeface="Consolas" panose="020B0609020204030204" pitchFamily="49" charset="0"/>
              </a:rPr>
              <a:t>filter()</a:t>
            </a:r>
            <a:r>
              <a:rPr lang="zh-CN" altLang="en-US" sz="2000" b="1" dirty="0">
                <a:latin typeface="+mn-lt"/>
                <a:ea typeface="+mj-ea"/>
                <a:cs typeface="+mn-ea"/>
                <a:sym typeface="Consolas" panose="020B0609020204030204" pitchFamily="49" charset="0"/>
              </a:rPr>
              <a:t>函数</a:t>
            </a:r>
            <a:endParaRPr lang="en-US" altLang="zh-CN" sz="2000" b="1" dirty="0">
              <a:latin typeface="+mn-lt"/>
              <a:ea typeface="+mj-ea"/>
              <a:cs typeface="+mn-ea"/>
              <a:sym typeface="Consolas" panose="020B0609020204030204" pitchFamily="49" charset="0"/>
            </a:endParaRPr>
          </a:p>
        </p:txBody>
      </p:sp>
      <p:sp>
        <p:nvSpPr>
          <p:cNvPr id="2" name="文本框 1">
            <a:extLst>
              <a:ext uri="{FF2B5EF4-FFF2-40B4-BE49-F238E27FC236}">
                <a16:creationId xmlns:a16="http://schemas.microsoft.com/office/drawing/2014/main" id="{C493365A-955D-D7A8-82E3-70E31A2B3460}"/>
              </a:ext>
            </a:extLst>
          </p:cNvPr>
          <p:cNvSpPr txBox="1"/>
          <p:nvPr/>
        </p:nvSpPr>
        <p:spPr>
          <a:xfrm>
            <a:off x="394968" y="3408476"/>
            <a:ext cx="3454401" cy="1323439"/>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cp[</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cp[</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'Dame'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select(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cp,Dame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select(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cp,starts_with</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filter(</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cp,Dame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
        <p:nvSpPr>
          <p:cNvPr id="6" name="矩形 5">
            <a:extLst>
              <a:ext uri="{FF2B5EF4-FFF2-40B4-BE49-F238E27FC236}">
                <a16:creationId xmlns:a16="http://schemas.microsoft.com/office/drawing/2014/main" id="{78F7C55C-BE44-3C84-BD29-E84C2575737F}"/>
              </a:ext>
            </a:extLst>
          </p:cNvPr>
          <p:cNvSpPr/>
          <p:nvPr/>
        </p:nvSpPr>
        <p:spPr>
          <a:xfrm>
            <a:off x="228600" y="2283407"/>
            <a:ext cx="4305300" cy="1077218"/>
          </a:xfrm>
          <a:prstGeom prst="rect">
            <a:avLst/>
          </a:prstGeom>
        </p:spPr>
        <p:txBody>
          <a:bodyPr wrap="square">
            <a:spAutoFit/>
          </a:bodyPr>
          <a:lstStyle/>
          <a:p>
            <a:pPr marL="285750" indent="457200" algn="just">
              <a:buFont typeface="Wingdings" panose="05000000000000000000" pitchFamily="2" charset="2"/>
              <a:buChar char="ü"/>
            </a:pPr>
            <a:r>
              <a:rPr lang="zh-CN" altLang="en-US" sz="1600" dirty="0">
                <a:latin typeface="+mn-lt"/>
                <a:ea typeface="+mj-ea"/>
                <a:sym typeface="Consolas" panose="020B0609020204030204" pitchFamily="49" charset="0"/>
              </a:rPr>
              <a:t>前面读取的</a:t>
            </a:r>
            <a:r>
              <a:rPr lang="en-US" altLang="zh-CN" sz="1600" dirty="0">
                <a:latin typeface="+mn-lt"/>
                <a:ea typeface="+mj-ea"/>
                <a:sym typeface="Consolas" panose="020B0609020204030204" pitchFamily="49" charset="0"/>
              </a:rPr>
              <a:t>csv</a:t>
            </a:r>
            <a:r>
              <a:rPr lang="zh-CN" altLang="en-US" sz="1600" dirty="0">
                <a:latin typeface="+mn-lt"/>
                <a:ea typeface="+mj-ea"/>
                <a:sym typeface="Consolas" panose="020B0609020204030204" pitchFamily="49" charset="0"/>
              </a:rPr>
              <a:t>数据</a:t>
            </a:r>
            <a:r>
              <a:rPr lang="en-US" altLang="zh-CN" sz="1600" dirty="0">
                <a:latin typeface="+mn-lt"/>
                <a:ea typeface="+mj-ea"/>
                <a:sym typeface="Consolas" panose="020B0609020204030204" pitchFamily="49" charset="0"/>
              </a:rPr>
              <a:t>cp</a:t>
            </a:r>
            <a:r>
              <a:rPr lang="zh-CN" altLang="en-US" sz="1600" dirty="0">
                <a:latin typeface="+mn-lt"/>
                <a:ea typeface="+mj-ea"/>
                <a:sym typeface="Consolas" panose="020B0609020204030204" pitchFamily="49" charset="0"/>
              </a:rPr>
              <a:t>为例，分别提取</a:t>
            </a:r>
            <a:r>
              <a:rPr lang="en-US" altLang="zh-CN" sz="1600" dirty="0">
                <a:latin typeface="+mn-lt"/>
                <a:ea typeface="+mj-ea"/>
                <a:sym typeface="Consolas" panose="020B0609020204030204" pitchFamily="49" charset="0"/>
              </a:rPr>
              <a:t>cp</a:t>
            </a:r>
            <a:r>
              <a:rPr lang="zh-CN" altLang="en-US" sz="1600" dirty="0">
                <a:latin typeface="+mn-lt"/>
                <a:ea typeface="+mj-ea"/>
                <a:sym typeface="Consolas" panose="020B0609020204030204" pitchFamily="49" charset="0"/>
              </a:rPr>
              <a:t>第二行第三列元素、‘</a:t>
            </a:r>
            <a:r>
              <a:rPr lang="en-US" altLang="zh-CN" sz="1600" dirty="0">
                <a:latin typeface="+mn-lt"/>
                <a:ea typeface="+mj-ea"/>
                <a:sym typeface="Consolas" panose="020B0609020204030204" pitchFamily="49" charset="0"/>
              </a:rPr>
              <a:t>Dame</a:t>
            </a:r>
            <a:r>
              <a:rPr lang="zh-CN" altLang="en-US" sz="1600" dirty="0">
                <a:latin typeface="+mn-lt"/>
                <a:ea typeface="+mj-ea"/>
                <a:sym typeface="Consolas" panose="020B0609020204030204" pitchFamily="49" charset="0"/>
              </a:rPr>
              <a:t>’列第二个元素，‘</a:t>
            </a:r>
            <a:r>
              <a:rPr lang="en-US" altLang="zh-CN" sz="1600" dirty="0">
                <a:latin typeface="+mn-lt"/>
                <a:ea typeface="+mj-ea"/>
                <a:sym typeface="Consolas" panose="020B0609020204030204" pitchFamily="49" charset="0"/>
              </a:rPr>
              <a:t>Dame</a:t>
            </a:r>
            <a:r>
              <a:rPr lang="zh-CN" altLang="en-US" sz="1600" dirty="0">
                <a:latin typeface="+mn-lt"/>
                <a:ea typeface="+mj-ea"/>
                <a:sym typeface="Consolas" panose="020B0609020204030204" pitchFamily="49" charset="0"/>
              </a:rPr>
              <a:t>’列，以“</a:t>
            </a:r>
            <a:r>
              <a:rPr lang="en-US" altLang="zh-CN" sz="1600" dirty="0">
                <a:latin typeface="+mn-lt"/>
                <a:ea typeface="+mj-ea"/>
                <a:sym typeface="Consolas" panose="020B0609020204030204" pitchFamily="49" charset="0"/>
              </a:rPr>
              <a:t>P</a:t>
            </a:r>
            <a:r>
              <a:rPr lang="zh-CN" altLang="en-US" sz="1600" dirty="0">
                <a:latin typeface="+mn-lt"/>
                <a:ea typeface="+mj-ea"/>
                <a:sym typeface="Consolas" panose="020B0609020204030204" pitchFamily="49" charset="0"/>
              </a:rPr>
              <a:t>”为首字母的列，以及‘</a:t>
            </a:r>
            <a:r>
              <a:rPr lang="en-US" altLang="zh-CN" sz="1600" dirty="0">
                <a:latin typeface="+mn-lt"/>
                <a:ea typeface="+mj-ea"/>
                <a:sym typeface="Consolas" panose="020B0609020204030204" pitchFamily="49" charset="0"/>
              </a:rPr>
              <a:t>Dame</a:t>
            </a:r>
            <a:r>
              <a:rPr lang="zh-CN" altLang="en-US" sz="1600" dirty="0">
                <a:latin typeface="+mn-lt"/>
                <a:ea typeface="+mj-ea"/>
                <a:sym typeface="Consolas" panose="020B0609020204030204" pitchFamily="49" charset="0"/>
              </a:rPr>
              <a:t>’列值为</a:t>
            </a:r>
            <a:r>
              <a:rPr lang="en-US" altLang="zh-CN" sz="1600" dirty="0">
                <a:latin typeface="+mn-lt"/>
                <a:ea typeface="+mj-ea"/>
                <a:sym typeface="Consolas" panose="020B0609020204030204" pitchFamily="49" charset="0"/>
              </a:rPr>
              <a:t>0</a:t>
            </a:r>
            <a:r>
              <a:rPr lang="zh-CN" altLang="en-US" sz="1600" dirty="0">
                <a:latin typeface="+mn-lt"/>
                <a:ea typeface="+mj-ea"/>
                <a:sym typeface="Consolas" panose="020B0609020204030204" pitchFamily="49" charset="0"/>
              </a:rPr>
              <a:t>的元素：</a:t>
            </a:r>
            <a:endParaRPr lang="en-US" altLang="zh-CN" sz="1600" dirty="0">
              <a:latin typeface="+mn-lt"/>
              <a:ea typeface="+mj-ea"/>
              <a:sym typeface="Consolas" panose="020B0609020204030204" pitchFamily="49" charset="0"/>
            </a:endParaRPr>
          </a:p>
        </p:txBody>
      </p:sp>
      <p:pic>
        <p:nvPicPr>
          <p:cNvPr id="7" name="图片 6">
            <a:extLst>
              <a:ext uri="{FF2B5EF4-FFF2-40B4-BE49-F238E27FC236}">
                <a16:creationId xmlns:a16="http://schemas.microsoft.com/office/drawing/2014/main" id="{956A3C32-CC5A-1FC9-84C2-01C370C60AAE}"/>
              </a:ext>
            </a:extLst>
          </p:cNvPr>
          <p:cNvPicPr>
            <a:picLocks noChangeAspect="1"/>
          </p:cNvPicPr>
          <p:nvPr/>
        </p:nvPicPr>
        <p:blipFill>
          <a:blip r:embed="rId2"/>
          <a:stretch>
            <a:fillRect/>
          </a:stretch>
        </p:blipFill>
        <p:spPr>
          <a:xfrm>
            <a:off x="5326061" y="2156128"/>
            <a:ext cx="1432560" cy="762000"/>
          </a:xfrm>
          <a:prstGeom prst="rect">
            <a:avLst/>
          </a:prstGeom>
        </p:spPr>
      </p:pic>
      <p:pic>
        <p:nvPicPr>
          <p:cNvPr id="8" name="图片 7">
            <a:extLst>
              <a:ext uri="{FF2B5EF4-FFF2-40B4-BE49-F238E27FC236}">
                <a16:creationId xmlns:a16="http://schemas.microsoft.com/office/drawing/2014/main" id="{9996091A-4CC0-D829-1323-DC18AAAB01F3}"/>
              </a:ext>
            </a:extLst>
          </p:cNvPr>
          <p:cNvPicPr>
            <a:picLocks noChangeAspect="1"/>
          </p:cNvPicPr>
          <p:nvPr/>
        </p:nvPicPr>
        <p:blipFill rotWithShape="1">
          <a:blip r:embed="rId3"/>
          <a:srcRect l="2631"/>
          <a:stretch/>
        </p:blipFill>
        <p:spPr bwMode="auto">
          <a:xfrm>
            <a:off x="7078661" y="2156128"/>
            <a:ext cx="1409700" cy="762000"/>
          </a:xfrm>
          <a:prstGeom prst="rect">
            <a:avLst/>
          </a:prstGeom>
          <a:ln>
            <a:noFill/>
          </a:ln>
          <a:extLst>
            <a:ext uri="{53640926-AAD7-44D8-BBD7-CCE9431645EC}">
              <a14:shadowObscured xmlns:a14="http://schemas.microsoft.com/office/drawing/2010/main"/>
            </a:ext>
          </a:extLst>
        </p:spPr>
      </p:pic>
      <p:pic>
        <p:nvPicPr>
          <p:cNvPr id="9" name="图片 8">
            <a:extLst>
              <a:ext uri="{FF2B5EF4-FFF2-40B4-BE49-F238E27FC236}">
                <a16:creationId xmlns:a16="http://schemas.microsoft.com/office/drawing/2014/main" id="{B284B6E5-656F-3D92-108B-8ADC354123EB}"/>
              </a:ext>
            </a:extLst>
          </p:cNvPr>
          <p:cNvPicPr>
            <a:picLocks noChangeAspect="1"/>
          </p:cNvPicPr>
          <p:nvPr/>
        </p:nvPicPr>
        <p:blipFill>
          <a:blip r:embed="rId4"/>
          <a:stretch>
            <a:fillRect/>
          </a:stretch>
        </p:blipFill>
        <p:spPr>
          <a:xfrm>
            <a:off x="4081461" y="3108365"/>
            <a:ext cx="2489200" cy="1898650"/>
          </a:xfrm>
          <a:prstGeom prst="rect">
            <a:avLst/>
          </a:prstGeom>
        </p:spPr>
      </p:pic>
      <p:pic>
        <p:nvPicPr>
          <p:cNvPr id="10" name="图片 9">
            <a:extLst>
              <a:ext uri="{FF2B5EF4-FFF2-40B4-BE49-F238E27FC236}">
                <a16:creationId xmlns:a16="http://schemas.microsoft.com/office/drawing/2014/main" id="{929ED96B-5735-AA58-882E-2B8DDA37D6BF}"/>
              </a:ext>
            </a:extLst>
          </p:cNvPr>
          <p:cNvPicPr>
            <a:picLocks noChangeAspect="1"/>
          </p:cNvPicPr>
          <p:nvPr/>
        </p:nvPicPr>
        <p:blipFill rotWithShape="1">
          <a:blip r:embed="rId5"/>
          <a:srcRect l="1240"/>
          <a:stretch/>
        </p:blipFill>
        <p:spPr bwMode="auto">
          <a:xfrm>
            <a:off x="6595110" y="3108365"/>
            <a:ext cx="2489200" cy="1898765"/>
          </a:xfrm>
          <a:prstGeom prst="rect">
            <a:avLst/>
          </a:prstGeom>
          <a:ln>
            <a:noFill/>
          </a:ln>
          <a:extLst>
            <a:ext uri="{53640926-AAD7-44D8-BBD7-CCE9431645EC}">
              <a14:shadowObscured xmlns:a14="http://schemas.microsoft.com/office/drawing/2010/main"/>
            </a:ext>
          </a:extLst>
        </p:spPr>
      </p:pic>
      <p:pic>
        <p:nvPicPr>
          <p:cNvPr id="11" name="图片 10">
            <a:extLst>
              <a:ext uri="{FF2B5EF4-FFF2-40B4-BE49-F238E27FC236}">
                <a16:creationId xmlns:a16="http://schemas.microsoft.com/office/drawing/2014/main" id="{DDC224C0-6BE7-5600-E6BC-E4034D0FDA58}"/>
              </a:ext>
            </a:extLst>
          </p:cNvPr>
          <p:cNvPicPr>
            <a:picLocks noChangeAspect="1"/>
          </p:cNvPicPr>
          <p:nvPr/>
        </p:nvPicPr>
        <p:blipFill>
          <a:blip r:embed="rId6"/>
          <a:stretch>
            <a:fillRect/>
          </a:stretch>
        </p:blipFill>
        <p:spPr>
          <a:xfrm>
            <a:off x="609600" y="5058555"/>
            <a:ext cx="5274310" cy="1163955"/>
          </a:xfrm>
          <a:prstGeom prst="rect">
            <a:avLst/>
          </a:prstGeom>
        </p:spPr>
      </p:pic>
    </p:spTree>
    <p:extLst>
      <p:ext uri="{BB962C8B-B14F-4D97-AF65-F5344CB8AC3E}">
        <p14:creationId xmlns:p14="http://schemas.microsoft.com/office/powerpoint/2010/main" val="19759935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60B81-986D-D544-3895-563AB1EE9847}"/>
            </a:ext>
          </a:extLst>
        </p:cNvPr>
        <p:cNvGrpSpPr/>
        <p:nvPr/>
      </p:nvGrpSpPr>
      <p:grpSpPr>
        <a:xfrm>
          <a:off x="0" y="0"/>
          <a:ext cx="0" cy="0"/>
          <a:chOff x="0" y="0"/>
          <a:chExt cx="0" cy="0"/>
        </a:xfrm>
      </p:grpSpPr>
      <p:sp>
        <p:nvSpPr>
          <p:cNvPr id="13" name="标题 9">
            <a:extLst>
              <a:ext uri="{FF2B5EF4-FFF2-40B4-BE49-F238E27FC236}">
                <a16:creationId xmlns:a16="http://schemas.microsoft.com/office/drawing/2014/main" id="{68AA5EC1-89F6-F9F6-057B-B8636DD52FFC}"/>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2.4.1 </a:t>
            </a:r>
            <a:r>
              <a:rPr lang="zh-CN" altLang="en-US" sz="3600" dirty="0">
                <a:latin typeface="Times New Roman" panose="02020603050405020304" pitchFamily="18" charset="0"/>
                <a:cs typeface="Times New Roman" panose="02020603050405020304" pitchFamily="18" charset="0"/>
              </a:rPr>
              <a:t>基础数据提取</a:t>
            </a:r>
          </a:p>
        </p:txBody>
      </p:sp>
      <p:sp>
        <p:nvSpPr>
          <p:cNvPr id="14" name="灯片编号占位符 13">
            <a:extLst>
              <a:ext uri="{FF2B5EF4-FFF2-40B4-BE49-F238E27FC236}">
                <a16:creationId xmlns:a16="http://schemas.microsoft.com/office/drawing/2014/main" id="{B874C60C-4085-93D0-B850-7BF7AEF45B38}"/>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22</a:t>
            </a:fld>
            <a:endParaRPr lang="zh-CN" altLang="en-US" dirty="0">
              <a:solidFill>
                <a:schemeClr val="bg2">
                  <a:lumMod val="75000"/>
                </a:schemeClr>
              </a:solidFill>
            </a:endParaRPr>
          </a:p>
        </p:txBody>
      </p:sp>
      <p:sp>
        <p:nvSpPr>
          <p:cNvPr id="5" name="矩形 4">
            <a:extLst>
              <a:ext uri="{FF2B5EF4-FFF2-40B4-BE49-F238E27FC236}">
                <a16:creationId xmlns:a16="http://schemas.microsoft.com/office/drawing/2014/main" id="{E68F6513-0517-B1A3-35B4-9F882BA5720F}"/>
              </a:ext>
            </a:extLst>
          </p:cNvPr>
          <p:cNvSpPr/>
          <p:nvPr/>
        </p:nvSpPr>
        <p:spPr>
          <a:xfrm>
            <a:off x="457200" y="1806690"/>
            <a:ext cx="8420100" cy="430182"/>
          </a:xfrm>
          <a:prstGeom prst="rect">
            <a:avLst/>
          </a:prstGeom>
        </p:spPr>
        <p:txBody>
          <a:bodyPr wrap="square">
            <a:spAutoFit/>
          </a:bodyPr>
          <a:lstStyle/>
          <a:p>
            <a:pPr>
              <a:lnSpc>
                <a:spcPct val="120000"/>
              </a:lnSpc>
            </a:pPr>
            <a:r>
              <a:rPr lang="en-US" altLang="zh-CN" sz="2000" dirty="0">
                <a:latin typeface="+mj-lt"/>
                <a:ea typeface="+mj-ea"/>
                <a:cs typeface="+mn-ea"/>
                <a:sym typeface="Consolas" panose="020B0609020204030204" pitchFamily="49" charset="0"/>
              </a:rPr>
              <a:t>(3) </a:t>
            </a:r>
            <a:r>
              <a:rPr lang="zh-CN" altLang="en-US" sz="2000" dirty="0">
                <a:latin typeface="+mj-lt"/>
                <a:ea typeface="+mj-ea"/>
                <a:cs typeface="+mn-ea"/>
                <a:sym typeface="Consolas" panose="020B0609020204030204" pitchFamily="49" charset="0"/>
              </a:rPr>
              <a:t>使用</a:t>
            </a:r>
            <a:r>
              <a:rPr lang="zh-CN" altLang="en-US" sz="2000" b="1" dirty="0">
                <a:latin typeface="+mj-lt"/>
                <a:ea typeface="+mj-ea"/>
                <a:cs typeface="+mn-ea"/>
                <a:sym typeface="Consolas" panose="020B0609020204030204" pitchFamily="49" charset="0"/>
              </a:rPr>
              <a:t>逻辑值判断</a:t>
            </a:r>
            <a:r>
              <a:rPr lang="zh-CN" altLang="en-US" sz="2000" dirty="0">
                <a:latin typeface="+mj-lt"/>
                <a:ea typeface="+mj-ea"/>
                <a:cs typeface="+mn-ea"/>
                <a:sym typeface="Consolas" panose="020B0609020204030204" pitchFamily="49" charset="0"/>
              </a:rPr>
              <a:t>提取（</a:t>
            </a:r>
            <a:r>
              <a:rPr lang="zh-CN" altLang="en-US" sz="2000" dirty="0">
                <a:latin typeface="+mn-lt"/>
                <a:ea typeface="+mn-ea"/>
                <a:sym typeface="Consolas" panose="020B0609020204030204" pitchFamily="49" charset="0"/>
              </a:rPr>
              <a:t>结合</a:t>
            </a:r>
            <a:r>
              <a:rPr lang="en-US" altLang="zh-CN" sz="2000" b="1" dirty="0" err="1">
                <a:latin typeface="+mn-lt"/>
                <a:ea typeface="+mn-ea"/>
                <a:sym typeface="Consolas" panose="020B0609020204030204" pitchFamily="49" charset="0"/>
              </a:rPr>
              <a:t>dplyr</a:t>
            </a:r>
            <a:r>
              <a:rPr lang="zh-CN" altLang="en-US" sz="2000" dirty="0">
                <a:latin typeface="+mn-lt"/>
                <a:ea typeface="+mn-ea"/>
                <a:sym typeface="Consolas" panose="020B0609020204030204" pitchFamily="49" charset="0"/>
              </a:rPr>
              <a:t>函数包中提供的</a:t>
            </a:r>
            <a:r>
              <a:rPr lang="zh-CN" altLang="en-US" sz="2000" b="1" dirty="0">
                <a:latin typeface="+mn-lt"/>
                <a:ea typeface="+mn-ea"/>
                <a:sym typeface="Consolas" panose="020B0609020204030204" pitchFamily="49" charset="0"/>
              </a:rPr>
              <a:t>元素选取函数</a:t>
            </a:r>
            <a:r>
              <a:rPr lang="zh-CN" altLang="en-US" sz="2000" dirty="0">
                <a:latin typeface="+mj-lt"/>
                <a:ea typeface="+mj-ea"/>
                <a:cs typeface="+mn-ea"/>
                <a:sym typeface="Consolas" panose="020B0609020204030204" pitchFamily="49" charset="0"/>
              </a:rPr>
              <a:t>）</a:t>
            </a:r>
            <a:endParaRPr lang="en-US" altLang="zh-CN" sz="2000" dirty="0">
              <a:latin typeface="+mj-lt"/>
              <a:ea typeface="+mj-ea"/>
              <a:cs typeface="+mn-ea"/>
              <a:sym typeface="Consolas" panose="020B0609020204030204" pitchFamily="49" charset="0"/>
            </a:endParaRPr>
          </a:p>
        </p:txBody>
      </p:sp>
      <p:sp>
        <p:nvSpPr>
          <p:cNvPr id="6" name="矩形 5">
            <a:extLst>
              <a:ext uri="{FF2B5EF4-FFF2-40B4-BE49-F238E27FC236}">
                <a16:creationId xmlns:a16="http://schemas.microsoft.com/office/drawing/2014/main" id="{2CC2BB89-DE9C-4D5F-12BF-2DA8C6EF0305}"/>
              </a:ext>
            </a:extLst>
          </p:cNvPr>
          <p:cNvSpPr/>
          <p:nvPr/>
        </p:nvSpPr>
        <p:spPr>
          <a:xfrm>
            <a:off x="571500" y="2514600"/>
            <a:ext cx="7696200" cy="2723181"/>
          </a:xfrm>
          <a:prstGeom prst="rect">
            <a:avLst/>
          </a:prstGeom>
        </p:spPr>
        <p:txBody>
          <a:bodyPr wrap="square">
            <a:spAutoFit/>
          </a:bodyPr>
          <a:lstStyle/>
          <a:p>
            <a:pPr marL="285750" indent="457200" algn="just">
              <a:lnSpc>
                <a:spcPct val="120000"/>
              </a:lnSpc>
              <a:buFont typeface="Wingdings" panose="05000000000000000000" pitchFamily="2" charset="2"/>
              <a:buChar char="ü"/>
            </a:pPr>
            <a:r>
              <a:rPr lang="zh-CN" altLang="en-US" dirty="0">
                <a:latin typeface="+mn-lt"/>
                <a:ea typeface="+mj-ea"/>
                <a:sym typeface="Consolas" panose="020B0609020204030204" pitchFamily="49" charset="0"/>
              </a:rPr>
              <a:t>使用</a:t>
            </a:r>
            <a:r>
              <a:rPr lang="en-US" altLang="zh-CN" b="1" dirty="0" err="1">
                <a:latin typeface="+mn-lt"/>
                <a:ea typeface="+mj-ea"/>
                <a:sym typeface="Consolas" panose="020B0609020204030204" pitchFamily="49" charset="0"/>
              </a:rPr>
              <a:t>dplyr</a:t>
            </a:r>
            <a:r>
              <a:rPr lang="zh-CN" altLang="en-US" dirty="0">
                <a:latin typeface="+mn-lt"/>
                <a:ea typeface="+mj-ea"/>
                <a:sym typeface="Consolas" panose="020B0609020204030204" pitchFamily="49" charset="0"/>
              </a:rPr>
              <a:t>函数包进行数据操作时，通常可以将复杂的数据操作拆分为由</a:t>
            </a:r>
            <a:r>
              <a:rPr lang="en-US" altLang="zh-CN" b="1" i="1" dirty="0">
                <a:latin typeface="+mn-lt"/>
                <a:ea typeface="+mj-ea"/>
                <a:sym typeface="Consolas" panose="020B0609020204030204" pitchFamily="49" charset="0"/>
              </a:rPr>
              <a:t>select()</a:t>
            </a:r>
            <a:r>
              <a:rPr lang="zh-CN" altLang="en-US" dirty="0">
                <a:latin typeface="+mn-lt"/>
                <a:ea typeface="+mj-ea"/>
                <a:sym typeface="Consolas" panose="020B0609020204030204" pitchFamily="49" charset="0"/>
              </a:rPr>
              <a:t>、</a:t>
            </a:r>
            <a:r>
              <a:rPr lang="en-US" altLang="zh-CN" b="1" i="1" dirty="0">
                <a:latin typeface="+mn-lt"/>
                <a:ea typeface="+mj-ea"/>
                <a:sym typeface="Consolas" panose="020B0609020204030204" pitchFamily="49" charset="0"/>
              </a:rPr>
              <a:t>filter()</a:t>
            </a:r>
            <a:r>
              <a:rPr lang="zh-CN" altLang="en-US" dirty="0">
                <a:latin typeface="+mn-lt"/>
                <a:ea typeface="+mj-ea"/>
                <a:sym typeface="Consolas" panose="020B0609020204030204" pitchFamily="49" charset="0"/>
              </a:rPr>
              <a:t>、</a:t>
            </a:r>
            <a:r>
              <a:rPr lang="en-US" altLang="zh-CN" b="1" i="1" dirty="0">
                <a:latin typeface="+mn-lt"/>
                <a:ea typeface="+mj-ea"/>
                <a:sym typeface="Consolas" panose="020B0609020204030204" pitchFamily="49" charset="0"/>
              </a:rPr>
              <a:t>arrange()</a:t>
            </a:r>
            <a:r>
              <a:rPr lang="zh-CN" altLang="en-US" dirty="0">
                <a:latin typeface="+mn-lt"/>
                <a:ea typeface="+mj-ea"/>
                <a:sym typeface="Consolas" panose="020B0609020204030204" pitchFamily="49" charset="0"/>
              </a:rPr>
              <a:t>、</a:t>
            </a:r>
            <a:r>
              <a:rPr lang="en-US" altLang="zh-CN" b="1" i="1" dirty="0">
                <a:latin typeface="+mn-lt"/>
                <a:ea typeface="+mj-ea"/>
                <a:sym typeface="Consolas" panose="020B0609020204030204" pitchFamily="49" charset="0"/>
              </a:rPr>
              <a:t>mutate()</a:t>
            </a:r>
            <a:r>
              <a:rPr lang="zh-CN" altLang="en-US" dirty="0">
                <a:latin typeface="+mn-lt"/>
                <a:ea typeface="+mj-ea"/>
                <a:sym typeface="Consolas" panose="020B0609020204030204" pitchFamily="49" charset="0"/>
              </a:rPr>
              <a:t>和</a:t>
            </a:r>
            <a:r>
              <a:rPr lang="en-US" altLang="zh-CN" b="1" i="1" dirty="0">
                <a:latin typeface="+mn-lt"/>
                <a:ea typeface="+mj-ea"/>
                <a:sym typeface="Consolas" panose="020B0609020204030204" pitchFamily="49" charset="0"/>
              </a:rPr>
              <a:t>summarize()</a:t>
            </a:r>
            <a:r>
              <a:rPr lang="zh-CN" altLang="en-US" dirty="0">
                <a:latin typeface="+mn-lt"/>
                <a:ea typeface="+mj-ea"/>
                <a:sym typeface="Consolas" panose="020B0609020204030204" pitchFamily="49" charset="0"/>
              </a:rPr>
              <a:t>等核心函数操作的组合</a:t>
            </a:r>
            <a:endParaRPr lang="en-US" altLang="zh-CN" dirty="0">
              <a:latin typeface="+mn-lt"/>
              <a:ea typeface="+mj-ea"/>
              <a:sym typeface="Consolas" panose="020B0609020204030204" pitchFamily="49" charset="0"/>
            </a:endParaRPr>
          </a:p>
          <a:p>
            <a:pPr marL="285750" indent="457200" algn="just">
              <a:lnSpc>
                <a:spcPct val="120000"/>
              </a:lnSpc>
              <a:buFont typeface="Wingdings" panose="05000000000000000000" pitchFamily="2" charset="2"/>
              <a:buChar char="ü"/>
            </a:pPr>
            <a:r>
              <a:rPr lang="zh-CN" altLang="en-US" dirty="0">
                <a:latin typeface="+mn-lt"/>
                <a:ea typeface="+mj-ea"/>
                <a:sym typeface="Consolas" panose="020B0609020204030204" pitchFamily="49" charset="0"/>
              </a:rPr>
              <a:t>如果要同时对所选择的多列应用函数，可以使用</a:t>
            </a:r>
            <a:r>
              <a:rPr lang="en-US" altLang="zh-CN" b="1" i="1" dirty="0">
                <a:latin typeface="+mn-lt"/>
                <a:ea typeface="+mj-ea"/>
                <a:sym typeface="Consolas" panose="020B0609020204030204" pitchFamily="49" charset="0"/>
              </a:rPr>
              <a:t>across()</a:t>
            </a:r>
            <a:r>
              <a:rPr lang="zh-CN" altLang="en-US" dirty="0">
                <a:latin typeface="+mn-lt"/>
                <a:ea typeface="+mj-ea"/>
                <a:sym typeface="Consolas" panose="020B0609020204030204" pitchFamily="49" charset="0"/>
              </a:rPr>
              <a:t>，它支持各种选择列的语法，可搭配</a:t>
            </a:r>
            <a:r>
              <a:rPr lang="en-US" altLang="zh-CN" b="1" i="1" dirty="0">
                <a:latin typeface="+mn-lt"/>
                <a:ea typeface="+mj-ea"/>
                <a:sym typeface="Consolas" panose="020B0609020204030204" pitchFamily="49" charset="0"/>
              </a:rPr>
              <a:t>mutate()</a:t>
            </a:r>
            <a:r>
              <a:rPr lang="zh-CN" altLang="en-US" dirty="0">
                <a:latin typeface="+mn-lt"/>
                <a:ea typeface="+mj-ea"/>
                <a:sym typeface="Consolas" panose="020B0609020204030204" pitchFamily="49" charset="0"/>
              </a:rPr>
              <a:t>或</a:t>
            </a:r>
            <a:r>
              <a:rPr lang="en-US" altLang="zh-CN" b="1" i="1" dirty="0" err="1">
                <a:latin typeface="+mn-lt"/>
                <a:ea typeface="+mj-ea"/>
                <a:sym typeface="Consolas" panose="020B0609020204030204" pitchFamily="49" charset="0"/>
              </a:rPr>
              <a:t>summarise</a:t>
            </a:r>
            <a:r>
              <a:rPr lang="en-US" altLang="zh-CN" b="1" i="1" dirty="0">
                <a:latin typeface="+mn-lt"/>
                <a:ea typeface="+mj-ea"/>
                <a:sym typeface="Consolas" panose="020B0609020204030204" pitchFamily="49" charset="0"/>
              </a:rPr>
              <a:t>()</a:t>
            </a:r>
            <a:r>
              <a:rPr lang="zh-CN" altLang="en-US" dirty="0">
                <a:latin typeface="+mn-lt"/>
                <a:ea typeface="+mj-ea"/>
                <a:sym typeface="Consolas" panose="020B0609020204030204" pitchFamily="49" charset="0"/>
              </a:rPr>
              <a:t>使用，以达到同时修改或汇总多列的效果</a:t>
            </a:r>
            <a:endParaRPr lang="en-US" altLang="zh-CN" dirty="0">
              <a:latin typeface="+mn-lt"/>
              <a:ea typeface="+mj-ea"/>
              <a:sym typeface="Consolas" panose="020B0609020204030204" pitchFamily="49" charset="0"/>
            </a:endParaRPr>
          </a:p>
          <a:p>
            <a:pPr marL="285750" indent="457200" algn="just">
              <a:lnSpc>
                <a:spcPct val="120000"/>
              </a:lnSpc>
              <a:buFont typeface="Wingdings" panose="05000000000000000000" pitchFamily="2" charset="2"/>
              <a:buChar char="ü"/>
            </a:pPr>
            <a:r>
              <a:rPr lang="zh-CN" altLang="en-US" dirty="0">
                <a:latin typeface="+mn-lt"/>
                <a:ea typeface="+mj-ea"/>
                <a:sym typeface="Consolas" panose="020B0609020204030204" pitchFamily="49" charset="0"/>
              </a:rPr>
              <a:t>类似地，</a:t>
            </a:r>
            <a:r>
              <a:rPr lang="en-US" altLang="zh-CN" b="1" i="1" dirty="0" err="1">
                <a:latin typeface="+mn-lt"/>
                <a:ea typeface="+mj-ea"/>
                <a:sym typeface="Consolas" panose="020B0609020204030204" pitchFamily="49" charset="0"/>
              </a:rPr>
              <a:t>if_any</a:t>
            </a:r>
            <a:r>
              <a:rPr lang="en-US" altLang="zh-CN" b="1" i="1" dirty="0">
                <a:latin typeface="+mn-lt"/>
                <a:ea typeface="+mj-ea"/>
                <a:sym typeface="Consolas" panose="020B0609020204030204" pitchFamily="49" charset="0"/>
              </a:rPr>
              <a:t>()</a:t>
            </a:r>
            <a:r>
              <a:rPr lang="zh-CN" altLang="en-US" dirty="0">
                <a:latin typeface="+mn-lt"/>
                <a:ea typeface="+mj-ea"/>
                <a:sym typeface="Consolas" panose="020B0609020204030204" pitchFamily="49" charset="0"/>
              </a:rPr>
              <a:t>和</a:t>
            </a:r>
            <a:r>
              <a:rPr lang="en-US" altLang="zh-CN" b="1" i="1" dirty="0" err="1">
                <a:latin typeface="+mn-lt"/>
                <a:ea typeface="+mj-ea"/>
                <a:sym typeface="Consolas" panose="020B0609020204030204" pitchFamily="49" charset="0"/>
              </a:rPr>
              <a:t>if_all</a:t>
            </a:r>
            <a:r>
              <a:rPr lang="en-US" altLang="zh-CN" b="1" i="1" dirty="0">
                <a:latin typeface="+mn-lt"/>
                <a:ea typeface="+mj-ea"/>
                <a:sym typeface="Consolas" panose="020B0609020204030204" pitchFamily="49" charset="0"/>
              </a:rPr>
              <a:t>()</a:t>
            </a:r>
            <a:r>
              <a:rPr lang="zh-CN" altLang="en-US" dirty="0">
                <a:latin typeface="+mn-lt"/>
                <a:ea typeface="+mj-ea"/>
                <a:sym typeface="Consolas" panose="020B0609020204030204" pitchFamily="49" charset="0"/>
              </a:rPr>
              <a:t>函数可搭配</a:t>
            </a:r>
            <a:r>
              <a:rPr lang="en-US" altLang="zh-CN" b="1" i="1" dirty="0">
                <a:latin typeface="+mn-lt"/>
                <a:ea typeface="+mj-ea"/>
                <a:sym typeface="Consolas" panose="020B0609020204030204" pitchFamily="49" charset="0"/>
              </a:rPr>
              <a:t>filter()</a:t>
            </a:r>
            <a:r>
              <a:rPr lang="zh-CN" altLang="en-US" dirty="0">
                <a:latin typeface="+mn-lt"/>
                <a:ea typeface="+mj-ea"/>
                <a:sym typeface="Consolas" panose="020B0609020204030204" pitchFamily="49" charset="0"/>
              </a:rPr>
              <a:t>使用，以达到根据多列值筛选数据的目的</a:t>
            </a:r>
            <a:endParaRPr lang="en-US" altLang="zh-CN" dirty="0">
              <a:latin typeface="+mn-lt"/>
              <a:ea typeface="+mj-ea"/>
              <a:sym typeface="Consolas" panose="020B0609020204030204" pitchFamily="49" charset="0"/>
            </a:endParaRPr>
          </a:p>
        </p:txBody>
      </p:sp>
    </p:spTree>
    <p:extLst>
      <p:ext uri="{BB962C8B-B14F-4D97-AF65-F5344CB8AC3E}">
        <p14:creationId xmlns:p14="http://schemas.microsoft.com/office/powerpoint/2010/main" val="38527046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22B4C-DB66-1560-A04D-D27EAF387E31}"/>
            </a:ext>
          </a:extLst>
        </p:cNvPr>
        <p:cNvGrpSpPr/>
        <p:nvPr/>
      </p:nvGrpSpPr>
      <p:grpSpPr>
        <a:xfrm>
          <a:off x="0" y="0"/>
          <a:ext cx="0" cy="0"/>
          <a:chOff x="0" y="0"/>
          <a:chExt cx="0" cy="0"/>
        </a:xfrm>
      </p:grpSpPr>
      <p:sp>
        <p:nvSpPr>
          <p:cNvPr id="13" name="标题 9">
            <a:extLst>
              <a:ext uri="{FF2B5EF4-FFF2-40B4-BE49-F238E27FC236}">
                <a16:creationId xmlns:a16="http://schemas.microsoft.com/office/drawing/2014/main" id="{C98AE5C5-4046-BCF3-B41F-C95DA8286783}"/>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2.4.1 </a:t>
            </a:r>
            <a:r>
              <a:rPr lang="zh-CN" altLang="en-US" sz="3600" dirty="0">
                <a:latin typeface="Times New Roman" panose="02020603050405020304" pitchFamily="18" charset="0"/>
                <a:cs typeface="Times New Roman" panose="02020603050405020304" pitchFamily="18" charset="0"/>
              </a:rPr>
              <a:t>基础数据提取</a:t>
            </a:r>
          </a:p>
        </p:txBody>
      </p:sp>
      <p:sp>
        <p:nvSpPr>
          <p:cNvPr id="14" name="灯片编号占位符 13">
            <a:extLst>
              <a:ext uri="{FF2B5EF4-FFF2-40B4-BE49-F238E27FC236}">
                <a16:creationId xmlns:a16="http://schemas.microsoft.com/office/drawing/2014/main" id="{CA71462E-F92C-C19B-79BB-3AE5ABDFAB12}"/>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23</a:t>
            </a:fld>
            <a:endParaRPr lang="zh-CN" altLang="en-US" dirty="0">
              <a:solidFill>
                <a:schemeClr val="bg2">
                  <a:lumMod val="75000"/>
                </a:schemeClr>
              </a:solidFill>
            </a:endParaRPr>
          </a:p>
        </p:txBody>
      </p:sp>
      <p:sp>
        <p:nvSpPr>
          <p:cNvPr id="5" name="矩形 4">
            <a:extLst>
              <a:ext uri="{FF2B5EF4-FFF2-40B4-BE49-F238E27FC236}">
                <a16:creationId xmlns:a16="http://schemas.microsoft.com/office/drawing/2014/main" id="{24492276-A6D3-3468-38FE-9150BBB66FC8}"/>
              </a:ext>
            </a:extLst>
          </p:cNvPr>
          <p:cNvSpPr/>
          <p:nvPr/>
        </p:nvSpPr>
        <p:spPr>
          <a:xfrm>
            <a:off x="457200" y="1632964"/>
            <a:ext cx="8420100" cy="430182"/>
          </a:xfrm>
          <a:prstGeom prst="rect">
            <a:avLst/>
          </a:prstGeom>
        </p:spPr>
        <p:txBody>
          <a:bodyPr wrap="square">
            <a:spAutoFit/>
          </a:bodyPr>
          <a:lstStyle/>
          <a:p>
            <a:pPr>
              <a:lnSpc>
                <a:spcPct val="120000"/>
              </a:lnSpc>
            </a:pPr>
            <a:r>
              <a:rPr lang="en-US" altLang="zh-CN" sz="2000" dirty="0">
                <a:latin typeface="+mj-lt"/>
                <a:ea typeface="+mj-ea"/>
                <a:cs typeface="+mn-ea"/>
                <a:sym typeface="Consolas" panose="020B0609020204030204" pitchFamily="49" charset="0"/>
              </a:rPr>
              <a:t>(3) </a:t>
            </a:r>
            <a:r>
              <a:rPr lang="zh-CN" altLang="en-US" sz="2000" dirty="0">
                <a:latin typeface="+mj-lt"/>
                <a:ea typeface="+mj-ea"/>
                <a:cs typeface="+mn-ea"/>
                <a:sym typeface="Consolas" panose="020B0609020204030204" pitchFamily="49" charset="0"/>
              </a:rPr>
              <a:t>使用</a:t>
            </a:r>
            <a:r>
              <a:rPr lang="zh-CN" altLang="en-US" sz="2000" b="1" dirty="0">
                <a:latin typeface="+mj-lt"/>
                <a:ea typeface="+mj-ea"/>
                <a:cs typeface="+mn-ea"/>
                <a:sym typeface="Consolas" panose="020B0609020204030204" pitchFamily="49" charset="0"/>
              </a:rPr>
              <a:t>逻辑值判断</a:t>
            </a:r>
            <a:r>
              <a:rPr lang="zh-CN" altLang="en-US" sz="2000" dirty="0">
                <a:latin typeface="+mj-lt"/>
                <a:ea typeface="+mj-ea"/>
                <a:cs typeface="+mn-ea"/>
                <a:sym typeface="Consolas" panose="020B0609020204030204" pitchFamily="49" charset="0"/>
              </a:rPr>
              <a:t>提取（</a:t>
            </a:r>
            <a:r>
              <a:rPr lang="zh-CN" altLang="en-US" sz="2000" dirty="0">
                <a:latin typeface="+mn-lt"/>
                <a:ea typeface="+mn-ea"/>
                <a:sym typeface="Consolas" panose="020B0609020204030204" pitchFamily="49" charset="0"/>
              </a:rPr>
              <a:t>结合</a:t>
            </a:r>
            <a:r>
              <a:rPr lang="en-US" altLang="zh-CN" sz="2000" b="1" dirty="0" err="1">
                <a:latin typeface="+mn-lt"/>
                <a:ea typeface="+mn-ea"/>
                <a:sym typeface="Consolas" panose="020B0609020204030204" pitchFamily="49" charset="0"/>
              </a:rPr>
              <a:t>dplyr</a:t>
            </a:r>
            <a:r>
              <a:rPr lang="zh-CN" altLang="en-US" sz="2000" dirty="0">
                <a:latin typeface="+mn-lt"/>
                <a:ea typeface="+mn-ea"/>
                <a:sym typeface="Consolas" panose="020B0609020204030204" pitchFamily="49" charset="0"/>
              </a:rPr>
              <a:t>函数包中提供的</a:t>
            </a:r>
            <a:r>
              <a:rPr lang="zh-CN" altLang="en-US" sz="2000" b="1" dirty="0">
                <a:latin typeface="+mn-lt"/>
                <a:ea typeface="+mn-ea"/>
                <a:sym typeface="Consolas" panose="020B0609020204030204" pitchFamily="49" charset="0"/>
              </a:rPr>
              <a:t>元素选取函数</a:t>
            </a:r>
            <a:r>
              <a:rPr lang="zh-CN" altLang="en-US" sz="2000" dirty="0">
                <a:latin typeface="+mj-lt"/>
                <a:ea typeface="+mj-ea"/>
                <a:cs typeface="+mn-ea"/>
                <a:sym typeface="Consolas" panose="020B0609020204030204" pitchFamily="49" charset="0"/>
              </a:rPr>
              <a:t>）</a:t>
            </a:r>
            <a:endParaRPr lang="en-US" altLang="zh-CN" sz="2000" dirty="0">
              <a:latin typeface="+mj-lt"/>
              <a:ea typeface="+mj-ea"/>
              <a:cs typeface="+mn-ea"/>
              <a:sym typeface="Consolas" panose="020B0609020204030204" pitchFamily="49" charset="0"/>
            </a:endParaRPr>
          </a:p>
        </p:txBody>
      </p:sp>
      <p:sp>
        <p:nvSpPr>
          <p:cNvPr id="2" name="文本框 1">
            <a:extLst>
              <a:ext uri="{FF2B5EF4-FFF2-40B4-BE49-F238E27FC236}">
                <a16:creationId xmlns:a16="http://schemas.microsoft.com/office/drawing/2014/main" id="{FFC01E9A-1AE7-1081-FF84-953138734190}"/>
              </a:ext>
            </a:extLst>
          </p:cNvPr>
          <p:cNvSpPr txBox="1"/>
          <p:nvPr/>
        </p:nvSpPr>
        <p:spPr>
          <a:xfrm>
            <a:off x="114300" y="3084591"/>
            <a:ext cx="8915400" cy="2439707"/>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lnSpc>
                <a:spcPts val="1425"/>
              </a:lnSpc>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set.seed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123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lnSpc>
                <a:spcPts val="1425"/>
              </a:lnSpc>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data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tibble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lnSpc>
                <a:spcPts val="1425"/>
              </a:lnSpc>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id =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lnSpc>
                <a:spcPts val="1425"/>
              </a:lnSpc>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age = sample(</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18</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60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replace = </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lnSpc>
                <a:spcPts val="1425"/>
              </a:lnSpc>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salary = sample(</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30000</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80000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replace = </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lnSpc>
                <a:spcPts val="1425"/>
              </a:lnSpc>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department = sample(c(</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"HR"</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"IT"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"Finance"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"Marketing"</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replace = </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lnSpc>
                <a:spcPts val="1425"/>
              </a:lnSpc>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start_date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sample(seq(</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as.Date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'2010-01-01'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as.Date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'2020-01-01'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by=</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"day"</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lnSpc>
                <a:spcPts val="1425"/>
              </a:lnSpc>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score = round(</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runif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lnSpc>
                <a:spcPts val="1425"/>
              </a:lnSpc>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bonus = c(</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NA</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runif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9</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500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2000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lnSpc>
                <a:spcPts val="1425"/>
              </a:lnSpc>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hours_worked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35</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NA</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45</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38</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42</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47</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NA</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lnSpc>
                <a:spcPts val="1425"/>
              </a:lnSpc>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region = sample(c(</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"North"</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"South"</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"East"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"West"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replace = </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lnSpc>
                <a:spcPts val="1425"/>
              </a:lnSpc>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performance = c(</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rnorm</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8</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15</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lnSpc>
                <a:spcPts val="1425"/>
              </a:lnSpc>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p:txBody>
      </p:sp>
      <p:sp>
        <p:nvSpPr>
          <p:cNvPr id="6" name="矩形 5">
            <a:extLst>
              <a:ext uri="{FF2B5EF4-FFF2-40B4-BE49-F238E27FC236}">
                <a16:creationId xmlns:a16="http://schemas.microsoft.com/office/drawing/2014/main" id="{F570685F-7B99-76E8-DBAB-8BB22507651C}"/>
              </a:ext>
            </a:extLst>
          </p:cNvPr>
          <p:cNvSpPr/>
          <p:nvPr/>
        </p:nvSpPr>
        <p:spPr>
          <a:xfrm>
            <a:off x="114300" y="2209474"/>
            <a:ext cx="8489950" cy="728789"/>
          </a:xfrm>
          <a:prstGeom prst="rect">
            <a:avLst/>
          </a:prstGeom>
        </p:spPr>
        <p:txBody>
          <a:bodyPr wrap="square">
            <a:spAutoFit/>
          </a:bodyPr>
          <a:lstStyle/>
          <a:p>
            <a:pPr marL="285750" indent="457200" algn="just">
              <a:lnSpc>
                <a:spcPct val="120000"/>
              </a:lnSpc>
              <a:buFont typeface="Wingdings" panose="05000000000000000000" pitchFamily="2" charset="2"/>
              <a:buChar char="ü"/>
            </a:pPr>
            <a:r>
              <a:rPr lang="zh-CN" altLang="en-US" dirty="0">
                <a:latin typeface="+mn-lt"/>
                <a:ea typeface="+mj-ea"/>
                <a:sym typeface="Consolas" panose="020B0609020204030204" pitchFamily="49" charset="0"/>
              </a:rPr>
              <a:t>体验五个核心函数的综合数据处理方法，首先，创建一个包含一些缺失值和异常值的多行多列的数据框：</a:t>
            </a:r>
            <a:endParaRPr lang="en-US" altLang="zh-CN" dirty="0">
              <a:latin typeface="+mn-lt"/>
              <a:ea typeface="+mj-ea"/>
              <a:sym typeface="Consolas" panose="020B0609020204030204" pitchFamily="49" charset="0"/>
            </a:endParaRPr>
          </a:p>
        </p:txBody>
      </p:sp>
    </p:spTree>
    <p:extLst>
      <p:ext uri="{BB962C8B-B14F-4D97-AF65-F5344CB8AC3E}">
        <p14:creationId xmlns:p14="http://schemas.microsoft.com/office/powerpoint/2010/main" val="20037682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C6D09-7AA4-513C-1EBD-7BC688C3DF66}"/>
            </a:ext>
          </a:extLst>
        </p:cNvPr>
        <p:cNvGrpSpPr/>
        <p:nvPr/>
      </p:nvGrpSpPr>
      <p:grpSpPr>
        <a:xfrm>
          <a:off x="0" y="0"/>
          <a:ext cx="0" cy="0"/>
          <a:chOff x="0" y="0"/>
          <a:chExt cx="0" cy="0"/>
        </a:xfrm>
      </p:grpSpPr>
      <p:sp>
        <p:nvSpPr>
          <p:cNvPr id="13" name="标题 9">
            <a:extLst>
              <a:ext uri="{FF2B5EF4-FFF2-40B4-BE49-F238E27FC236}">
                <a16:creationId xmlns:a16="http://schemas.microsoft.com/office/drawing/2014/main" id="{14FC852D-C8A0-1D9B-EF5F-C133881BAD14}"/>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2.4.1 </a:t>
            </a:r>
            <a:r>
              <a:rPr lang="zh-CN" altLang="en-US" sz="3600" dirty="0">
                <a:latin typeface="Times New Roman" panose="02020603050405020304" pitchFamily="18" charset="0"/>
                <a:cs typeface="Times New Roman" panose="02020603050405020304" pitchFamily="18" charset="0"/>
              </a:rPr>
              <a:t>基础数据提取</a:t>
            </a:r>
          </a:p>
        </p:txBody>
      </p:sp>
      <p:sp>
        <p:nvSpPr>
          <p:cNvPr id="14" name="灯片编号占位符 13">
            <a:extLst>
              <a:ext uri="{FF2B5EF4-FFF2-40B4-BE49-F238E27FC236}">
                <a16:creationId xmlns:a16="http://schemas.microsoft.com/office/drawing/2014/main" id="{50D06E1C-9704-D64E-0FD2-5BA3C7921640}"/>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24</a:t>
            </a:fld>
            <a:endParaRPr lang="zh-CN" altLang="en-US" dirty="0">
              <a:solidFill>
                <a:schemeClr val="bg2">
                  <a:lumMod val="75000"/>
                </a:schemeClr>
              </a:solidFill>
            </a:endParaRPr>
          </a:p>
        </p:txBody>
      </p:sp>
      <p:sp>
        <p:nvSpPr>
          <p:cNvPr id="5" name="矩形 4">
            <a:extLst>
              <a:ext uri="{FF2B5EF4-FFF2-40B4-BE49-F238E27FC236}">
                <a16:creationId xmlns:a16="http://schemas.microsoft.com/office/drawing/2014/main" id="{CC492BD6-A6BB-CC57-D628-336080777924}"/>
              </a:ext>
            </a:extLst>
          </p:cNvPr>
          <p:cNvSpPr/>
          <p:nvPr/>
        </p:nvSpPr>
        <p:spPr>
          <a:xfrm>
            <a:off x="457200" y="1200311"/>
            <a:ext cx="8420100" cy="430182"/>
          </a:xfrm>
          <a:prstGeom prst="rect">
            <a:avLst/>
          </a:prstGeom>
        </p:spPr>
        <p:txBody>
          <a:bodyPr wrap="square">
            <a:spAutoFit/>
          </a:bodyPr>
          <a:lstStyle/>
          <a:p>
            <a:pPr>
              <a:lnSpc>
                <a:spcPct val="120000"/>
              </a:lnSpc>
            </a:pPr>
            <a:r>
              <a:rPr lang="en-US" altLang="zh-CN" sz="2000" dirty="0">
                <a:latin typeface="+mj-lt"/>
                <a:ea typeface="+mj-ea"/>
                <a:cs typeface="+mn-ea"/>
                <a:sym typeface="Consolas" panose="020B0609020204030204" pitchFamily="49" charset="0"/>
              </a:rPr>
              <a:t>(3) </a:t>
            </a:r>
            <a:r>
              <a:rPr lang="zh-CN" altLang="en-US" sz="2000" dirty="0">
                <a:latin typeface="+mj-lt"/>
                <a:ea typeface="+mj-ea"/>
                <a:cs typeface="+mn-ea"/>
                <a:sym typeface="Consolas" panose="020B0609020204030204" pitchFamily="49" charset="0"/>
              </a:rPr>
              <a:t>使用</a:t>
            </a:r>
            <a:r>
              <a:rPr lang="zh-CN" altLang="en-US" sz="2000" b="1" dirty="0">
                <a:latin typeface="+mj-lt"/>
                <a:ea typeface="+mj-ea"/>
                <a:cs typeface="+mn-ea"/>
                <a:sym typeface="Consolas" panose="020B0609020204030204" pitchFamily="49" charset="0"/>
              </a:rPr>
              <a:t>逻辑值判断</a:t>
            </a:r>
            <a:r>
              <a:rPr lang="zh-CN" altLang="en-US" sz="2000" dirty="0">
                <a:latin typeface="+mj-lt"/>
                <a:ea typeface="+mj-ea"/>
                <a:cs typeface="+mn-ea"/>
                <a:sym typeface="Consolas" panose="020B0609020204030204" pitchFamily="49" charset="0"/>
              </a:rPr>
              <a:t>提取（</a:t>
            </a:r>
            <a:r>
              <a:rPr lang="zh-CN" altLang="en-US" sz="2000" dirty="0">
                <a:latin typeface="+mn-lt"/>
                <a:ea typeface="+mn-ea"/>
                <a:sym typeface="Consolas" panose="020B0609020204030204" pitchFamily="49" charset="0"/>
              </a:rPr>
              <a:t>结合</a:t>
            </a:r>
            <a:r>
              <a:rPr lang="en-US" altLang="zh-CN" sz="2000" b="1" dirty="0" err="1">
                <a:latin typeface="+mn-lt"/>
                <a:ea typeface="+mn-ea"/>
                <a:sym typeface="Consolas" panose="020B0609020204030204" pitchFamily="49" charset="0"/>
              </a:rPr>
              <a:t>dplyr</a:t>
            </a:r>
            <a:r>
              <a:rPr lang="zh-CN" altLang="en-US" sz="2000" dirty="0">
                <a:latin typeface="+mn-lt"/>
                <a:ea typeface="+mn-ea"/>
                <a:sym typeface="Consolas" panose="020B0609020204030204" pitchFamily="49" charset="0"/>
              </a:rPr>
              <a:t>函数包中提供的</a:t>
            </a:r>
            <a:r>
              <a:rPr lang="zh-CN" altLang="en-US" sz="2000" b="1" dirty="0">
                <a:latin typeface="+mn-lt"/>
                <a:ea typeface="+mn-ea"/>
                <a:sym typeface="Consolas" panose="020B0609020204030204" pitchFamily="49" charset="0"/>
              </a:rPr>
              <a:t>元素选取函数</a:t>
            </a:r>
            <a:r>
              <a:rPr lang="zh-CN" altLang="en-US" sz="2000" dirty="0">
                <a:latin typeface="+mj-lt"/>
                <a:ea typeface="+mj-ea"/>
                <a:cs typeface="+mn-ea"/>
                <a:sym typeface="Consolas" panose="020B0609020204030204" pitchFamily="49" charset="0"/>
              </a:rPr>
              <a:t>）</a:t>
            </a:r>
            <a:endParaRPr lang="en-US" altLang="zh-CN" sz="2000" dirty="0">
              <a:latin typeface="+mj-lt"/>
              <a:ea typeface="+mj-ea"/>
              <a:cs typeface="+mn-ea"/>
              <a:sym typeface="Consolas" panose="020B0609020204030204" pitchFamily="49" charset="0"/>
            </a:endParaRPr>
          </a:p>
        </p:txBody>
      </p:sp>
      <p:sp>
        <p:nvSpPr>
          <p:cNvPr id="2" name="文本框 1">
            <a:extLst>
              <a:ext uri="{FF2B5EF4-FFF2-40B4-BE49-F238E27FC236}">
                <a16:creationId xmlns:a16="http://schemas.microsoft.com/office/drawing/2014/main" id="{BC58E34F-9389-2945-2975-2EE09E83232A}"/>
              </a:ext>
            </a:extLst>
          </p:cNvPr>
          <p:cNvSpPr txBox="1"/>
          <p:nvPr/>
        </p:nvSpPr>
        <p:spPr>
          <a:xfrm>
            <a:off x="387350" y="2299598"/>
            <a:ext cx="7620000" cy="830997"/>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selected_data</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data %&gt;%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select(id, age, salary, department)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selected_data</a:t>
            </a:r>
            <a:endParaRPr lang="zh-CN" altLang="zh-CN" sz="1600" dirty="0">
              <a:effectLst/>
              <a:latin typeface="Times New Roman" panose="02020603050405020304" pitchFamily="18" charset="0"/>
              <a:ea typeface="宋体" panose="02010600030101010101" pitchFamily="2" charset="-122"/>
            </a:endParaRPr>
          </a:p>
        </p:txBody>
      </p:sp>
      <p:sp>
        <p:nvSpPr>
          <p:cNvPr id="6" name="矩形 5">
            <a:extLst>
              <a:ext uri="{FF2B5EF4-FFF2-40B4-BE49-F238E27FC236}">
                <a16:creationId xmlns:a16="http://schemas.microsoft.com/office/drawing/2014/main" id="{298EB418-B5AA-0FE4-4563-72F7A1E57860}"/>
              </a:ext>
            </a:extLst>
          </p:cNvPr>
          <p:cNvSpPr/>
          <p:nvPr/>
        </p:nvSpPr>
        <p:spPr>
          <a:xfrm>
            <a:off x="196850" y="1619191"/>
            <a:ext cx="8489950" cy="728148"/>
          </a:xfrm>
          <a:prstGeom prst="rect">
            <a:avLst/>
          </a:prstGeom>
        </p:spPr>
        <p:txBody>
          <a:bodyPr wrap="square">
            <a:spAutoFit/>
          </a:bodyPr>
          <a:lstStyle/>
          <a:p>
            <a:pPr marL="285750" algn="just">
              <a:lnSpc>
                <a:spcPct val="120000"/>
              </a:lnSpc>
            </a:pPr>
            <a:r>
              <a:rPr lang="zh-CN" altLang="en-US" dirty="0">
                <a:latin typeface="+mn-lt"/>
                <a:ea typeface="+mj-ea"/>
                <a:sym typeface="Consolas" panose="020B0609020204030204" pitchFamily="49" charset="0"/>
              </a:rPr>
              <a:t>① 使用</a:t>
            </a:r>
            <a:r>
              <a:rPr lang="en-US" altLang="zh-CN" b="1" i="1" dirty="0">
                <a:latin typeface="+mn-lt"/>
                <a:ea typeface="+mj-ea"/>
                <a:sym typeface="Consolas" panose="020B0609020204030204" pitchFamily="49" charset="0"/>
              </a:rPr>
              <a:t>select()</a:t>
            </a:r>
            <a:r>
              <a:rPr lang="zh-CN" altLang="en-US" dirty="0">
                <a:latin typeface="+mn-lt"/>
                <a:ea typeface="+mj-ea"/>
                <a:sym typeface="Consolas" panose="020B0609020204030204" pitchFamily="49" charset="0"/>
              </a:rPr>
              <a:t>选择列</a:t>
            </a:r>
            <a:endParaRPr lang="en-US" altLang="zh-CN" dirty="0">
              <a:latin typeface="+mn-lt"/>
              <a:ea typeface="+mj-ea"/>
              <a:sym typeface="Consolas" panose="020B0609020204030204" pitchFamily="49" charset="0"/>
            </a:endParaRPr>
          </a:p>
          <a:p>
            <a:pPr marL="571500" indent="-285750" algn="just">
              <a:lnSpc>
                <a:spcPct val="120000"/>
              </a:lnSpc>
              <a:buFont typeface="Wingdings" panose="05000000000000000000" pitchFamily="2" charset="2"/>
              <a:buChar char="ü"/>
            </a:pPr>
            <a:r>
              <a:rPr lang="zh-CN" altLang="en-US" dirty="0">
                <a:latin typeface="+mn-lt"/>
                <a:ea typeface="+mj-ea"/>
                <a:sym typeface="Consolas" panose="020B0609020204030204" pitchFamily="49" charset="0"/>
              </a:rPr>
              <a:t>根据列名选择感兴趣的列，例如</a:t>
            </a:r>
            <a:r>
              <a:rPr lang="en-US" altLang="zh-CN" dirty="0">
                <a:latin typeface="+mn-lt"/>
                <a:ea typeface="+mj-ea"/>
                <a:sym typeface="Consolas" panose="020B0609020204030204" pitchFamily="49" charset="0"/>
              </a:rPr>
              <a:t>id</a:t>
            </a:r>
            <a:r>
              <a:rPr lang="zh-CN" altLang="en-US" dirty="0">
                <a:latin typeface="+mn-lt"/>
                <a:ea typeface="+mj-ea"/>
                <a:sym typeface="Consolas" panose="020B0609020204030204" pitchFamily="49" charset="0"/>
              </a:rPr>
              <a:t>、</a:t>
            </a:r>
            <a:r>
              <a:rPr lang="en-US" altLang="zh-CN" dirty="0">
                <a:latin typeface="+mn-lt"/>
                <a:ea typeface="+mj-ea"/>
                <a:sym typeface="Consolas" panose="020B0609020204030204" pitchFamily="49" charset="0"/>
              </a:rPr>
              <a:t>age</a:t>
            </a:r>
            <a:r>
              <a:rPr lang="zh-CN" altLang="en-US" dirty="0">
                <a:latin typeface="+mn-lt"/>
                <a:ea typeface="+mj-ea"/>
                <a:sym typeface="Consolas" panose="020B0609020204030204" pitchFamily="49" charset="0"/>
              </a:rPr>
              <a:t>、</a:t>
            </a:r>
            <a:r>
              <a:rPr lang="en-US" altLang="zh-CN" dirty="0">
                <a:latin typeface="+mn-lt"/>
                <a:ea typeface="+mj-ea"/>
                <a:sym typeface="Consolas" panose="020B0609020204030204" pitchFamily="49" charset="0"/>
              </a:rPr>
              <a:t>salary</a:t>
            </a:r>
            <a:r>
              <a:rPr lang="zh-CN" altLang="en-US" dirty="0">
                <a:latin typeface="+mn-lt"/>
                <a:ea typeface="+mj-ea"/>
                <a:sym typeface="Consolas" panose="020B0609020204030204" pitchFamily="49" charset="0"/>
              </a:rPr>
              <a:t>和</a:t>
            </a:r>
            <a:r>
              <a:rPr lang="en-US" altLang="zh-CN" dirty="0">
                <a:latin typeface="+mn-lt"/>
                <a:ea typeface="+mj-ea"/>
                <a:sym typeface="Consolas" panose="020B0609020204030204" pitchFamily="49" charset="0"/>
              </a:rPr>
              <a:t>department</a:t>
            </a:r>
            <a:r>
              <a:rPr lang="zh-CN" altLang="en-US" dirty="0">
                <a:latin typeface="+mn-lt"/>
                <a:ea typeface="+mj-ea"/>
                <a:sym typeface="Consolas" panose="020B0609020204030204" pitchFamily="49" charset="0"/>
              </a:rPr>
              <a:t>：</a:t>
            </a:r>
            <a:endParaRPr lang="en-US" altLang="zh-CN" dirty="0">
              <a:latin typeface="+mn-lt"/>
              <a:ea typeface="+mj-ea"/>
              <a:sym typeface="Consolas" panose="020B0609020204030204" pitchFamily="49" charset="0"/>
            </a:endParaRPr>
          </a:p>
        </p:txBody>
      </p:sp>
      <p:sp>
        <p:nvSpPr>
          <p:cNvPr id="3" name="文本框 2">
            <a:extLst>
              <a:ext uri="{FF2B5EF4-FFF2-40B4-BE49-F238E27FC236}">
                <a16:creationId xmlns:a16="http://schemas.microsoft.com/office/drawing/2014/main" id="{4FA5852D-2DEA-F0B9-AD32-EC98CF2C37CD}"/>
              </a:ext>
            </a:extLst>
          </p:cNvPr>
          <p:cNvSpPr txBox="1"/>
          <p:nvPr/>
        </p:nvSpPr>
        <p:spPr>
          <a:xfrm>
            <a:off x="387350" y="3900124"/>
            <a:ext cx="7620000" cy="830997"/>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filtered_data</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data %&gt;%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filter(age &gt;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salary &gt;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50000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filtered_data</a:t>
            </a:r>
            <a:endParaRPr lang="zh-CN" altLang="zh-CN" sz="1600" dirty="0">
              <a:effectLst/>
              <a:latin typeface="Times New Roman" panose="02020603050405020304" pitchFamily="18" charset="0"/>
              <a:ea typeface="宋体" panose="02010600030101010101" pitchFamily="2" charset="-122"/>
            </a:endParaRPr>
          </a:p>
        </p:txBody>
      </p:sp>
      <p:sp>
        <p:nvSpPr>
          <p:cNvPr id="4" name="矩形 3">
            <a:extLst>
              <a:ext uri="{FF2B5EF4-FFF2-40B4-BE49-F238E27FC236}">
                <a16:creationId xmlns:a16="http://schemas.microsoft.com/office/drawing/2014/main" id="{5535E8D8-757B-2A74-699B-BA7237BA82C8}"/>
              </a:ext>
            </a:extLst>
          </p:cNvPr>
          <p:cNvSpPr/>
          <p:nvPr/>
        </p:nvSpPr>
        <p:spPr>
          <a:xfrm>
            <a:off x="196850" y="3219717"/>
            <a:ext cx="8489950" cy="728148"/>
          </a:xfrm>
          <a:prstGeom prst="rect">
            <a:avLst/>
          </a:prstGeom>
        </p:spPr>
        <p:txBody>
          <a:bodyPr wrap="square">
            <a:spAutoFit/>
          </a:bodyPr>
          <a:lstStyle/>
          <a:p>
            <a:pPr marL="285750" algn="just">
              <a:lnSpc>
                <a:spcPct val="120000"/>
              </a:lnSpc>
            </a:pPr>
            <a:r>
              <a:rPr lang="zh-CN" altLang="en-US" dirty="0">
                <a:latin typeface="+mn-lt"/>
                <a:ea typeface="+mj-ea"/>
                <a:sym typeface="Consolas" panose="020B0609020204030204" pitchFamily="49" charset="0"/>
              </a:rPr>
              <a:t>② 使用</a:t>
            </a:r>
            <a:r>
              <a:rPr lang="en-US" altLang="zh-CN" b="1" i="1" dirty="0">
                <a:latin typeface="+mn-lt"/>
                <a:ea typeface="+mj-ea"/>
                <a:sym typeface="Consolas" panose="020B0609020204030204" pitchFamily="49" charset="0"/>
              </a:rPr>
              <a:t>filter()/slice()</a:t>
            </a:r>
            <a:r>
              <a:rPr lang="zh-CN" altLang="en-US" dirty="0">
                <a:latin typeface="+mn-lt"/>
                <a:ea typeface="+mj-ea"/>
                <a:sym typeface="Consolas" panose="020B0609020204030204" pitchFamily="49" charset="0"/>
              </a:rPr>
              <a:t>筛选行</a:t>
            </a:r>
            <a:endParaRPr lang="en-US" altLang="zh-CN" dirty="0">
              <a:latin typeface="+mn-lt"/>
              <a:ea typeface="+mj-ea"/>
              <a:sym typeface="Consolas" panose="020B0609020204030204" pitchFamily="49" charset="0"/>
            </a:endParaRPr>
          </a:p>
          <a:p>
            <a:pPr marL="571500" indent="-285750" algn="just">
              <a:lnSpc>
                <a:spcPct val="120000"/>
              </a:lnSpc>
              <a:buFont typeface="Wingdings" panose="05000000000000000000" pitchFamily="2" charset="2"/>
              <a:buChar char="ü"/>
            </a:pPr>
            <a:r>
              <a:rPr lang="zh-CN" altLang="en-US" dirty="0">
                <a:latin typeface="+mn-lt"/>
                <a:ea typeface="+mj-ea"/>
                <a:sym typeface="Consolas" panose="020B0609020204030204" pitchFamily="49" charset="0"/>
              </a:rPr>
              <a:t>筛选出特定条件的行，例如年龄大于</a:t>
            </a:r>
            <a:r>
              <a:rPr lang="en-US" altLang="zh-CN" dirty="0">
                <a:latin typeface="+mn-lt"/>
                <a:ea typeface="+mj-ea"/>
                <a:sym typeface="Consolas" panose="020B0609020204030204" pitchFamily="49" charset="0"/>
              </a:rPr>
              <a:t>30</a:t>
            </a:r>
            <a:r>
              <a:rPr lang="zh-CN" altLang="en-US" dirty="0">
                <a:latin typeface="+mn-lt"/>
                <a:ea typeface="+mj-ea"/>
                <a:sym typeface="Consolas" panose="020B0609020204030204" pitchFamily="49" charset="0"/>
              </a:rPr>
              <a:t>并且工资高于</a:t>
            </a:r>
            <a:r>
              <a:rPr lang="en-US" altLang="zh-CN" dirty="0">
                <a:latin typeface="+mn-lt"/>
                <a:ea typeface="+mj-ea"/>
                <a:sym typeface="Consolas" panose="020B0609020204030204" pitchFamily="49" charset="0"/>
              </a:rPr>
              <a:t>50000</a:t>
            </a:r>
            <a:r>
              <a:rPr lang="zh-CN" altLang="en-US" dirty="0">
                <a:latin typeface="+mn-lt"/>
                <a:ea typeface="+mj-ea"/>
                <a:sym typeface="Consolas" panose="020B0609020204030204" pitchFamily="49" charset="0"/>
              </a:rPr>
              <a:t>：</a:t>
            </a:r>
            <a:endParaRPr lang="en-US" altLang="zh-CN" dirty="0">
              <a:latin typeface="+mn-lt"/>
              <a:ea typeface="+mj-ea"/>
              <a:sym typeface="Consolas" panose="020B0609020204030204" pitchFamily="49" charset="0"/>
            </a:endParaRPr>
          </a:p>
        </p:txBody>
      </p:sp>
      <p:sp>
        <p:nvSpPr>
          <p:cNvPr id="7" name="文本框 6">
            <a:extLst>
              <a:ext uri="{FF2B5EF4-FFF2-40B4-BE49-F238E27FC236}">
                <a16:creationId xmlns:a16="http://schemas.microsoft.com/office/drawing/2014/main" id="{5AB3437C-93DC-D246-F4C2-0A089B21A2F9}"/>
              </a:ext>
            </a:extLst>
          </p:cNvPr>
          <p:cNvSpPr txBox="1"/>
          <p:nvPr/>
        </p:nvSpPr>
        <p:spPr>
          <a:xfrm>
            <a:off x="457200" y="5500650"/>
            <a:ext cx="7620000" cy="830997"/>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arranged_data</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data %&gt;%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arrange(salary)</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arranged_data</a:t>
            </a:r>
            <a:endParaRPr lang="zh-CN" altLang="zh-CN" sz="1600" dirty="0">
              <a:effectLst/>
              <a:latin typeface="Times New Roman" panose="02020603050405020304" pitchFamily="18" charset="0"/>
              <a:ea typeface="宋体" panose="02010600030101010101" pitchFamily="2" charset="-122"/>
            </a:endParaRPr>
          </a:p>
        </p:txBody>
      </p:sp>
      <p:sp>
        <p:nvSpPr>
          <p:cNvPr id="8" name="矩形 7">
            <a:extLst>
              <a:ext uri="{FF2B5EF4-FFF2-40B4-BE49-F238E27FC236}">
                <a16:creationId xmlns:a16="http://schemas.microsoft.com/office/drawing/2014/main" id="{1053B885-3FF1-C349-A259-C916EFD30BE4}"/>
              </a:ext>
            </a:extLst>
          </p:cNvPr>
          <p:cNvSpPr/>
          <p:nvPr/>
        </p:nvSpPr>
        <p:spPr>
          <a:xfrm>
            <a:off x="266700" y="4820243"/>
            <a:ext cx="8489950" cy="728148"/>
          </a:xfrm>
          <a:prstGeom prst="rect">
            <a:avLst/>
          </a:prstGeom>
        </p:spPr>
        <p:txBody>
          <a:bodyPr wrap="square">
            <a:spAutoFit/>
          </a:bodyPr>
          <a:lstStyle/>
          <a:p>
            <a:pPr marL="285750" algn="just">
              <a:lnSpc>
                <a:spcPct val="120000"/>
              </a:lnSpc>
            </a:pPr>
            <a:r>
              <a:rPr lang="zh-CN" altLang="en-US" dirty="0">
                <a:latin typeface="+mn-lt"/>
                <a:ea typeface="+mj-ea"/>
                <a:sym typeface="Consolas" panose="020B0609020204030204" pitchFamily="49" charset="0"/>
              </a:rPr>
              <a:t>③ 使用</a:t>
            </a:r>
            <a:r>
              <a:rPr lang="en-US" altLang="zh-CN" b="1" i="1" dirty="0">
                <a:latin typeface="+mn-lt"/>
                <a:ea typeface="+mj-ea"/>
                <a:sym typeface="Consolas" panose="020B0609020204030204" pitchFamily="49" charset="0"/>
              </a:rPr>
              <a:t>arrange()</a:t>
            </a:r>
            <a:r>
              <a:rPr lang="zh-CN" altLang="en-US" dirty="0">
                <a:latin typeface="+mn-lt"/>
                <a:ea typeface="+mj-ea"/>
                <a:sym typeface="Consolas" panose="020B0609020204030204" pitchFamily="49" charset="0"/>
              </a:rPr>
              <a:t>对行进行排序</a:t>
            </a:r>
            <a:endParaRPr lang="en-US" altLang="zh-CN" dirty="0">
              <a:latin typeface="+mn-lt"/>
              <a:ea typeface="+mj-ea"/>
              <a:sym typeface="Consolas" panose="020B0609020204030204" pitchFamily="49" charset="0"/>
            </a:endParaRPr>
          </a:p>
          <a:p>
            <a:pPr marL="285750" algn="just">
              <a:lnSpc>
                <a:spcPct val="120000"/>
              </a:lnSpc>
            </a:pPr>
            <a:r>
              <a:rPr lang="zh-CN" altLang="en-US" dirty="0">
                <a:latin typeface="+mn-lt"/>
                <a:ea typeface="+mj-ea"/>
                <a:sym typeface="Consolas" panose="020B0609020204030204" pitchFamily="49" charset="0"/>
              </a:rPr>
              <a:t>按工资升序排列：</a:t>
            </a:r>
            <a:endParaRPr lang="en-US" altLang="zh-CN" dirty="0">
              <a:latin typeface="+mn-lt"/>
              <a:ea typeface="+mj-ea"/>
              <a:sym typeface="Consolas" panose="020B0609020204030204" pitchFamily="49" charset="0"/>
            </a:endParaRPr>
          </a:p>
        </p:txBody>
      </p:sp>
    </p:spTree>
    <p:extLst>
      <p:ext uri="{BB962C8B-B14F-4D97-AF65-F5344CB8AC3E}">
        <p14:creationId xmlns:p14="http://schemas.microsoft.com/office/powerpoint/2010/main" val="9818645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EAD88-E5EB-0E02-00AB-7B8C31BA013B}"/>
            </a:ext>
          </a:extLst>
        </p:cNvPr>
        <p:cNvGrpSpPr/>
        <p:nvPr/>
      </p:nvGrpSpPr>
      <p:grpSpPr>
        <a:xfrm>
          <a:off x="0" y="0"/>
          <a:ext cx="0" cy="0"/>
          <a:chOff x="0" y="0"/>
          <a:chExt cx="0" cy="0"/>
        </a:xfrm>
      </p:grpSpPr>
      <p:sp>
        <p:nvSpPr>
          <p:cNvPr id="13" name="标题 9">
            <a:extLst>
              <a:ext uri="{FF2B5EF4-FFF2-40B4-BE49-F238E27FC236}">
                <a16:creationId xmlns:a16="http://schemas.microsoft.com/office/drawing/2014/main" id="{45A94483-8A41-8688-7029-03346DD1D080}"/>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2.4.1 </a:t>
            </a:r>
            <a:r>
              <a:rPr lang="zh-CN" altLang="en-US" sz="3600" dirty="0">
                <a:latin typeface="Times New Roman" panose="02020603050405020304" pitchFamily="18" charset="0"/>
                <a:cs typeface="Times New Roman" panose="02020603050405020304" pitchFamily="18" charset="0"/>
              </a:rPr>
              <a:t>基础数据提取</a:t>
            </a:r>
          </a:p>
        </p:txBody>
      </p:sp>
      <p:sp>
        <p:nvSpPr>
          <p:cNvPr id="14" name="灯片编号占位符 13">
            <a:extLst>
              <a:ext uri="{FF2B5EF4-FFF2-40B4-BE49-F238E27FC236}">
                <a16:creationId xmlns:a16="http://schemas.microsoft.com/office/drawing/2014/main" id="{F107C156-B5C5-945E-A4B3-296C97ACEEAE}"/>
              </a:ext>
            </a:extLst>
          </p:cNvPr>
          <p:cNvSpPr>
            <a:spLocks noGrp="1"/>
          </p:cNvSpPr>
          <p:nvPr>
            <p:ph type="sldNum" sz="quarter" idx="12"/>
          </p:nvPr>
        </p:nvSpPr>
        <p:spPr/>
        <p:txBody>
          <a:bodyPr/>
          <a:lstStyle/>
          <a:p>
            <a:fld id="{6B3369F9-03CD-4B48-86A9-9EE39A82955A}" type="slidenum">
              <a:rPr lang="zh-CN" altLang="en-US">
                <a:solidFill>
                  <a:schemeClr val="bg2">
                    <a:lumMod val="75000"/>
                  </a:schemeClr>
                </a:solidFill>
              </a:rPr>
              <a:t>25</a:t>
            </a:fld>
            <a:endParaRPr lang="zh-CN" altLang="en-US" dirty="0">
              <a:solidFill>
                <a:schemeClr val="bg2">
                  <a:lumMod val="75000"/>
                </a:schemeClr>
              </a:solidFill>
            </a:endParaRPr>
          </a:p>
        </p:txBody>
      </p:sp>
      <p:sp>
        <p:nvSpPr>
          <p:cNvPr id="5" name="矩形 4">
            <a:extLst>
              <a:ext uri="{FF2B5EF4-FFF2-40B4-BE49-F238E27FC236}">
                <a16:creationId xmlns:a16="http://schemas.microsoft.com/office/drawing/2014/main" id="{6C42BA0A-DA82-ADDF-D500-CFA19FF5D1E6}"/>
              </a:ext>
            </a:extLst>
          </p:cNvPr>
          <p:cNvSpPr/>
          <p:nvPr/>
        </p:nvSpPr>
        <p:spPr>
          <a:xfrm>
            <a:off x="457200" y="1200311"/>
            <a:ext cx="8420100" cy="430182"/>
          </a:xfrm>
          <a:prstGeom prst="rect">
            <a:avLst/>
          </a:prstGeom>
        </p:spPr>
        <p:txBody>
          <a:bodyPr wrap="square">
            <a:spAutoFit/>
          </a:bodyPr>
          <a:lstStyle/>
          <a:p>
            <a:pPr>
              <a:lnSpc>
                <a:spcPct val="120000"/>
              </a:lnSpc>
            </a:pPr>
            <a:r>
              <a:rPr lang="en-US" altLang="zh-CN" sz="2000" dirty="0">
                <a:latin typeface="+mj-lt"/>
                <a:ea typeface="+mj-ea"/>
                <a:cs typeface="+mn-ea"/>
                <a:sym typeface="Consolas" panose="020B0609020204030204" pitchFamily="49" charset="0"/>
              </a:rPr>
              <a:t>(3) </a:t>
            </a:r>
            <a:r>
              <a:rPr lang="zh-CN" altLang="en-US" sz="2000" dirty="0">
                <a:latin typeface="+mj-lt"/>
                <a:ea typeface="+mj-ea"/>
                <a:cs typeface="+mn-ea"/>
                <a:sym typeface="Consolas" panose="020B0609020204030204" pitchFamily="49" charset="0"/>
              </a:rPr>
              <a:t>使用</a:t>
            </a:r>
            <a:r>
              <a:rPr lang="zh-CN" altLang="en-US" sz="2000" b="1" dirty="0">
                <a:latin typeface="+mj-lt"/>
                <a:ea typeface="+mj-ea"/>
                <a:cs typeface="+mn-ea"/>
                <a:sym typeface="Consolas" panose="020B0609020204030204" pitchFamily="49" charset="0"/>
              </a:rPr>
              <a:t>逻辑值判断</a:t>
            </a:r>
            <a:r>
              <a:rPr lang="zh-CN" altLang="en-US" sz="2000" dirty="0">
                <a:latin typeface="+mj-lt"/>
                <a:ea typeface="+mj-ea"/>
                <a:cs typeface="+mn-ea"/>
                <a:sym typeface="Consolas" panose="020B0609020204030204" pitchFamily="49" charset="0"/>
              </a:rPr>
              <a:t>提取（</a:t>
            </a:r>
            <a:r>
              <a:rPr lang="zh-CN" altLang="en-US" sz="2000" dirty="0">
                <a:latin typeface="+mn-lt"/>
                <a:ea typeface="+mn-ea"/>
                <a:sym typeface="Consolas" panose="020B0609020204030204" pitchFamily="49" charset="0"/>
              </a:rPr>
              <a:t>结合</a:t>
            </a:r>
            <a:r>
              <a:rPr lang="en-US" altLang="zh-CN" sz="2000" b="1" dirty="0" err="1">
                <a:latin typeface="+mn-lt"/>
                <a:ea typeface="+mn-ea"/>
                <a:sym typeface="Consolas" panose="020B0609020204030204" pitchFamily="49" charset="0"/>
              </a:rPr>
              <a:t>dplyr</a:t>
            </a:r>
            <a:r>
              <a:rPr lang="zh-CN" altLang="en-US" sz="2000" dirty="0">
                <a:latin typeface="+mn-lt"/>
                <a:ea typeface="+mn-ea"/>
                <a:sym typeface="Consolas" panose="020B0609020204030204" pitchFamily="49" charset="0"/>
              </a:rPr>
              <a:t>函数包中提供的</a:t>
            </a:r>
            <a:r>
              <a:rPr lang="zh-CN" altLang="en-US" sz="2000" b="1" dirty="0">
                <a:latin typeface="+mn-lt"/>
                <a:ea typeface="+mn-ea"/>
                <a:sym typeface="Consolas" panose="020B0609020204030204" pitchFamily="49" charset="0"/>
              </a:rPr>
              <a:t>元素选取函数</a:t>
            </a:r>
            <a:r>
              <a:rPr lang="zh-CN" altLang="en-US" sz="2000" dirty="0">
                <a:latin typeface="+mj-lt"/>
                <a:ea typeface="+mj-ea"/>
                <a:cs typeface="+mn-ea"/>
                <a:sym typeface="Consolas" panose="020B0609020204030204" pitchFamily="49" charset="0"/>
              </a:rPr>
              <a:t>）</a:t>
            </a:r>
            <a:endParaRPr lang="en-US" altLang="zh-CN" sz="2000" dirty="0">
              <a:latin typeface="+mj-lt"/>
              <a:ea typeface="+mj-ea"/>
              <a:cs typeface="+mn-ea"/>
              <a:sym typeface="Consolas" panose="020B0609020204030204" pitchFamily="49" charset="0"/>
            </a:endParaRPr>
          </a:p>
        </p:txBody>
      </p:sp>
      <p:sp>
        <p:nvSpPr>
          <p:cNvPr id="2" name="文本框 1">
            <a:extLst>
              <a:ext uri="{FF2B5EF4-FFF2-40B4-BE49-F238E27FC236}">
                <a16:creationId xmlns:a16="http://schemas.microsoft.com/office/drawing/2014/main" id="{ED8C8509-EFBD-0C9E-AA2F-6FED81E104EC}"/>
              </a:ext>
            </a:extLst>
          </p:cNvPr>
          <p:cNvSpPr txBox="1"/>
          <p:nvPr/>
        </p:nvSpPr>
        <p:spPr>
          <a:xfrm>
            <a:off x="387350" y="2496517"/>
            <a:ext cx="7620000" cy="92333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mutated_data</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data %&gt;%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mutate(</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salary_per_hour</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salary / </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hours_worked</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mutated_data</a:t>
            </a:r>
            <a:endParaRPr lang="zh-CN" altLang="zh-CN" sz="1800" dirty="0">
              <a:effectLst/>
              <a:latin typeface="Times New Roman" panose="02020603050405020304" pitchFamily="18" charset="0"/>
              <a:ea typeface="宋体" panose="02010600030101010101" pitchFamily="2" charset="-122"/>
            </a:endParaRPr>
          </a:p>
        </p:txBody>
      </p:sp>
      <p:sp>
        <p:nvSpPr>
          <p:cNvPr id="6" name="矩形 5">
            <a:extLst>
              <a:ext uri="{FF2B5EF4-FFF2-40B4-BE49-F238E27FC236}">
                <a16:creationId xmlns:a16="http://schemas.microsoft.com/office/drawing/2014/main" id="{0A9948FE-9A56-E30F-4617-B4BEE22481C5}"/>
              </a:ext>
            </a:extLst>
          </p:cNvPr>
          <p:cNvSpPr/>
          <p:nvPr/>
        </p:nvSpPr>
        <p:spPr>
          <a:xfrm>
            <a:off x="196850" y="1752600"/>
            <a:ext cx="8489950" cy="728148"/>
          </a:xfrm>
          <a:prstGeom prst="rect">
            <a:avLst/>
          </a:prstGeom>
        </p:spPr>
        <p:txBody>
          <a:bodyPr wrap="square">
            <a:spAutoFit/>
          </a:bodyPr>
          <a:lstStyle/>
          <a:p>
            <a:pPr marL="285750" algn="just">
              <a:lnSpc>
                <a:spcPct val="120000"/>
              </a:lnSpc>
            </a:pPr>
            <a:r>
              <a:rPr lang="zh-CN" altLang="en-US" dirty="0">
                <a:latin typeface="+mn-lt"/>
                <a:ea typeface="+mj-ea"/>
                <a:sym typeface="Consolas" panose="020B0609020204030204" pitchFamily="49" charset="0"/>
              </a:rPr>
              <a:t>④ 使用</a:t>
            </a:r>
            <a:r>
              <a:rPr lang="en-US" altLang="zh-CN" b="1" i="1" dirty="0">
                <a:latin typeface="+mn-lt"/>
                <a:ea typeface="+mj-ea"/>
                <a:sym typeface="Consolas" panose="020B0609020204030204" pitchFamily="49" charset="0"/>
              </a:rPr>
              <a:t>mutate()</a:t>
            </a:r>
            <a:r>
              <a:rPr lang="zh-CN" altLang="en-US" dirty="0">
                <a:latin typeface="+mn-lt"/>
                <a:ea typeface="+mj-ea"/>
                <a:sym typeface="Consolas" panose="020B0609020204030204" pitchFamily="49" charset="0"/>
              </a:rPr>
              <a:t>修改列或创建新列</a:t>
            </a:r>
            <a:endParaRPr lang="en-US" altLang="zh-CN" dirty="0">
              <a:latin typeface="+mn-lt"/>
              <a:ea typeface="+mj-ea"/>
              <a:sym typeface="Consolas" panose="020B0609020204030204" pitchFamily="49" charset="0"/>
            </a:endParaRPr>
          </a:p>
          <a:p>
            <a:pPr marL="571500" indent="-285750" algn="just">
              <a:lnSpc>
                <a:spcPct val="120000"/>
              </a:lnSpc>
              <a:buFont typeface="Wingdings" panose="05000000000000000000" pitchFamily="2" charset="2"/>
              <a:buChar char="ü"/>
            </a:pPr>
            <a:r>
              <a:rPr lang="zh-CN" altLang="en-US" dirty="0">
                <a:latin typeface="+mn-lt"/>
                <a:ea typeface="+mj-ea"/>
                <a:sym typeface="Consolas" panose="020B0609020204030204" pitchFamily="49" charset="0"/>
              </a:rPr>
              <a:t>添加一个新列，例如计算工资与工作小时数的比率：</a:t>
            </a:r>
            <a:endParaRPr lang="en-US" altLang="zh-CN" dirty="0">
              <a:latin typeface="+mn-lt"/>
              <a:ea typeface="+mj-ea"/>
              <a:sym typeface="Consolas" panose="020B0609020204030204" pitchFamily="49" charset="0"/>
            </a:endParaRPr>
          </a:p>
        </p:txBody>
      </p:sp>
      <p:sp>
        <p:nvSpPr>
          <p:cNvPr id="3" name="文本框 2">
            <a:extLst>
              <a:ext uri="{FF2B5EF4-FFF2-40B4-BE49-F238E27FC236}">
                <a16:creationId xmlns:a16="http://schemas.microsoft.com/office/drawing/2014/main" id="{B498DACA-DFEE-79A0-854D-3F1CA5C27FC4}"/>
              </a:ext>
            </a:extLst>
          </p:cNvPr>
          <p:cNvSpPr txBox="1"/>
          <p:nvPr/>
        </p:nvSpPr>
        <p:spPr>
          <a:xfrm>
            <a:off x="387350" y="4377253"/>
            <a:ext cx="7620000" cy="1200329"/>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summarized_data</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data %&gt;%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group_by</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(department) %&gt;%</a:t>
            </a:r>
            <a:endParaRPr lang="zh-CN" altLang="zh-CN" sz="1800" dirty="0">
              <a:effectLst/>
              <a:latin typeface="Times New Roman" panose="02020603050405020304" pitchFamily="18" charset="0"/>
              <a:ea typeface="宋体" panose="02010600030101010101" pitchFamily="2" charset="-122"/>
            </a:endParaRPr>
          </a:p>
          <a:p>
            <a:pPr indent="127000" algn="l">
              <a:buNone/>
            </a:pP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summarize(</a:t>
            </a:r>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average_salary</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mean(salary, na.rm = </a:t>
            </a:r>
            <a:r>
              <a:rPr lang="en-US" altLang="zh-CN" sz="18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8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dirty="0">
              <a:effectLst/>
              <a:latin typeface="Times New Roman" panose="02020603050405020304" pitchFamily="18" charset="0"/>
              <a:ea typeface="宋体" panose="02010600030101010101" pitchFamily="2" charset="-122"/>
            </a:endParaRPr>
          </a:p>
          <a:p>
            <a:pPr indent="127000" algn="l"/>
            <a:r>
              <a:rPr lang="en-US" altLang="zh-CN" sz="18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summarized_data</a:t>
            </a:r>
            <a:endParaRPr lang="zh-CN" altLang="zh-CN" sz="1800" dirty="0">
              <a:effectLst/>
              <a:latin typeface="Times New Roman" panose="02020603050405020304" pitchFamily="18" charset="0"/>
              <a:ea typeface="宋体" panose="02010600030101010101" pitchFamily="2" charset="-122"/>
            </a:endParaRPr>
          </a:p>
        </p:txBody>
      </p:sp>
      <p:sp>
        <p:nvSpPr>
          <p:cNvPr id="4" name="矩形 3">
            <a:extLst>
              <a:ext uri="{FF2B5EF4-FFF2-40B4-BE49-F238E27FC236}">
                <a16:creationId xmlns:a16="http://schemas.microsoft.com/office/drawing/2014/main" id="{75415976-A55F-18FE-914E-AAA07FF5ECAC}"/>
              </a:ext>
            </a:extLst>
          </p:cNvPr>
          <p:cNvSpPr/>
          <p:nvPr/>
        </p:nvSpPr>
        <p:spPr>
          <a:xfrm>
            <a:off x="196850" y="3649105"/>
            <a:ext cx="8489950" cy="728148"/>
          </a:xfrm>
          <a:prstGeom prst="rect">
            <a:avLst/>
          </a:prstGeom>
        </p:spPr>
        <p:txBody>
          <a:bodyPr wrap="square">
            <a:spAutoFit/>
          </a:bodyPr>
          <a:lstStyle/>
          <a:p>
            <a:pPr marL="285750" algn="just">
              <a:lnSpc>
                <a:spcPct val="120000"/>
              </a:lnSpc>
            </a:pPr>
            <a:r>
              <a:rPr lang="zh-CN" altLang="en-US" dirty="0">
                <a:latin typeface="+mn-lt"/>
                <a:ea typeface="+mj-ea"/>
                <a:sym typeface="Consolas" panose="020B0609020204030204" pitchFamily="49" charset="0"/>
              </a:rPr>
              <a:t>⑤使用</a:t>
            </a:r>
            <a:r>
              <a:rPr lang="en-US" altLang="zh-CN" b="1" i="1" dirty="0">
                <a:latin typeface="+mn-lt"/>
                <a:ea typeface="+mj-ea"/>
                <a:sym typeface="Consolas" panose="020B0609020204030204" pitchFamily="49" charset="0"/>
              </a:rPr>
              <a:t>summarize()</a:t>
            </a:r>
            <a:r>
              <a:rPr lang="zh-CN" altLang="en-US" dirty="0">
                <a:latin typeface="+mn-lt"/>
                <a:ea typeface="+mj-ea"/>
                <a:sym typeface="Consolas" panose="020B0609020204030204" pitchFamily="49" charset="0"/>
              </a:rPr>
              <a:t>汇总</a:t>
            </a:r>
            <a:endParaRPr lang="en-US" altLang="zh-CN" dirty="0">
              <a:latin typeface="+mn-lt"/>
              <a:ea typeface="+mj-ea"/>
              <a:sym typeface="Consolas" panose="020B0609020204030204" pitchFamily="49" charset="0"/>
            </a:endParaRPr>
          </a:p>
          <a:p>
            <a:pPr marL="571500" indent="-285750" algn="just">
              <a:lnSpc>
                <a:spcPct val="120000"/>
              </a:lnSpc>
              <a:buFont typeface="Wingdings" panose="05000000000000000000" pitchFamily="2" charset="2"/>
              <a:buChar char="ü"/>
            </a:pPr>
            <a:r>
              <a:rPr lang="zh-CN" altLang="en-US" dirty="0">
                <a:latin typeface="+mn-lt"/>
                <a:ea typeface="+mj-ea"/>
                <a:sym typeface="Consolas" panose="020B0609020204030204" pitchFamily="49" charset="0"/>
              </a:rPr>
              <a:t>计算每个部门的平均工资：</a:t>
            </a:r>
            <a:endParaRPr lang="en-US" altLang="zh-CN" dirty="0">
              <a:latin typeface="+mn-lt"/>
              <a:ea typeface="+mj-ea"/>
              <a:sym typeface="Consolas" panose="020B0609020204030204" pitchFamily="49" charset="0"/>
            </a:endParaRPr>
          </a:p>
        </p:txBody>
      </p:sp>
    </p:spTree>
    <p:extLst>
      <p:ext uri="{BB962C8B-B14F-4D97-AF65-F5344CB8AC3E}">
        <p14:creationId xmlns:p14="http://schemas.microsoft.com/office/powerpoint/2010/main" val="31448671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26</a:t>
            </a:fld>
            <a:endParaRPr lang="zh-CN" altLang="en-US" dirty="0">
              <a:solidFill>
                <a:schemeClr val="bg2">
                  <a:lumMod val="75000"/>
                </a:schemeClr>
              </a:solidFill>
              <a:sym typeface="Consolas" panose="020B0609020204030204" pitchFamily="49" charset="0"/>
            </a:endParaRPr>
          </a:p>
        </p:txBody>
      </p:sp>
      <p:sp>
        <p:nvSpPr>
          <p:cNvPr id="8" name="标题 9"/>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2.4.2 </a:t>
            </a:r>
            <a:r>
              <a:rPr lang="zh-CN" altLang="en-US" sz="3600" dirty="0">
                <a:latin typeface="Times New Roman" panose="02020603050405020304" pitchFamily="18" charset="0"/>
                <a:cs typeface="Times New Roman" panose="02020603050405020304" pitchFamily="18" charset="0"/>
              </a:rPr>
              <a:t>管道操作</a:t>
            </a:r>
          </a:p>
        </p:txBody>
      </p:sp>
      <p:sp>
        <p:nvSpPr>
          <p:cNvPr id="5" name="矩形 4">
            <a:extLst>
              <a:ext uri="{FF2B5EF4-FFF2-40B4-BE49-F238E27FC236}">
                <a16:creationId xmlns:a16="http://schemas.microsoft.com/office/drawing/2014/main" id="{EB7B367C-0A55-EBCC-176A-E68204D3104E}"/>
              </a:ext>
            </a:extLst>
          </p:cNvPr>
          <p:cNvSpPr/>
          <p:nvPr/>
        </p:nvSpPr>
        <p:spPr>
          <a:xfrm>
            <a:off x="647700" y="2247415"/>
            <a:ext cx="7353300" cy="2764731"/>
          </a:xfrm>
          <a:prstGeom prst="rect">
            <a:avLst/>
          </a:prstGeom>
        </p:spPr>
        <p:txBody>
          <a:bodyPr wrap="square">
            <a:spAutoFit/>
          </a:bodyPr>
          <a:lstStyle/>
          <a:p>
            <a:pPr marL="285750" indent="457200" algn="just">
              <a:lnSpc>
                <a:spcPct val="140000"/>
              </a:lnSpc>
              <a:buFont typeface="Wingdings" panose="05000000000000000000" pitchFamily="2" charset="2"/>
              <a:buChar char="ü"/>
            </a:pPr>
            <a:r>
              <a:rPr lang="zh-CN" altLang="en-US" b="1" dirty="0">
                <a:latin typeface="+mn-lt"/>
                <a:ea typeface="+mn-ea"/>
                <a:sym typeface="Consolas" panose="020B0609020204030204" pitchFamily="49" charset="0"/>
              </a:rPr>
              <a:t>管道操作</a:t>
            </a:r>
            <a:r>
              <a:rPr lang="zh-CN" altLang="en-US" dirty="0">
                <a:latin typeface="+mn-lt"/>
                <a:ea typeface="+mn-ea"/>
                <a:sym typeface="Consolas" panose="020B0609020204030204" pitchFamily="49" charset="0"/>
              </a:rPr>
              <a:t>是</a:t>
            </a:r>
            <a:r>
              <a:rPr lang="en-US" altLang="zh-CN" b="1" dirty="0">
                <a:latin typeface="+mn-lt"/>
                <a:ea typeface="+mn-ea"/>
                <a:sym typeface="Consolas" panose="020B0609020204030204" pitchFamily="49" charset="0"/>
              </a:rPr>
              <a:t>R</a:t>
            </a:r>
            <a:r>
              <a:rPr lang="zh-CN" altLang="en-US" dirty="0">
                <a:latin typeface="+mn-lt"/>
                <a:ea typeface="+mn-ea"/>
                <a:sym typeface="Consolas" panose="020B0609020204030204" pitchFamily="49" charset="0"/>
              </a:rPr>
              <a:t>语言中用于数据处理的强大工具，它以一种流畅、易读的方式</a:t>
            </a:r>
            <a:r>
              <a:rPr lang="zh-CN" altLang="en-US" b="1" dirty="0">
                <a:latin typeface="+mn-lt"/>
                <a:ea typeface="+mn-ea"/>
                <a:sym typeface="Consolas" panose="020B0609020204030204" pitchFamily="49" charset="0"/>
              </a:rPr>
              <a:t>将多个数据处理步骤连接在一起</a:t>
            </a:r>
            <a:r>
              <a:rPr lang="zh-CN" altLang="en-US" dirty="0">
                <a:latin typeface="+mn-lt"/>
                <a:ea typeface="+mn-ea"/>
                <a:sym typeface="Consolas" panose="020B0609020204030204" pitchFamily="49" charset="0"/>
              </a:rPr>
              <a:t>，从而提高代码的可读性和可维护性。</a:t>
            </a:r>
            <a:endParaRPr lang="en-US" altLang="zh-CN" dirty="0">
              <a:latin typeface="+mn-lt"/>
              <a:ea typeface="+mn-ea"/>
              <a:sym typeface="Consolas" panose="020B0609020204030204" pitchFamily="49" charset="0"/>
            </a:endParaRPr>
          </a:p>
          <a:p>
            <a:pPr marL="285750" indent="457200" algn="just">
              <a:lnSpc>
                <a:spcPct val="140000"/>
              </a:lnSpc>
              <a:buFont typeface="Wingdings" panose="05000000000000000000" pitchFamily="2" charset="2"/>
              <a:buChar char="ü"/>
            </a:pPr>
            <a:r>
              <a:rPr lang="zh-CN" altLang="en-US" dirty="0">
                <a:latin typeface="+mn-lt"/>
                <a:ea typeface="+mn-ea"/>
                <a:sym typeface="Consolas" panose="020B0609020204030204" pitchFamily="49" charset="0"/>
              </a:rPr>
              <a:t>管道操作按照一定顺序执行一系列数据转换和操作，每个操作的结果默认传递给下一个操作，形成一个数据处理流。</a:t>
            </a:r>
            <a:endParaRPr lang="en-US" altLang="zh-CN" dirty="0">
              <a:latin typeface="+mn-lt"/>
              <a:ea typeface="+mn-ea"/>
              <a:sym typeface="Consolas" panose="020B0609020204030204" pitchFamily="49" charset="0"/>
            </a:endParaRPr>
          </a:p>
          <a:p>
            <a:pPr marL="285750" indent="457200" algn="just">
              <a:lnSpc>
                <a:spcPct val="140000"/>
              </a:lnSpc>
              <a:buFont typeface="Wingdings" panose="05000000000000000000" pitchFamily="2" charset="2"/>
              <a:buChar char="ü"/>
            </a:pPr>
            <a:r>
              <a:rPr lang="zh-CN" altLang="en-US" dirty="0">
                <a:latin typeface="+mn-lt"/>
                <a:ea typeface="+mn-ea"/>
                <a:sym typeface="Consolas" panose="020B0609020204030204" pitchFamily="49" charset="0"/>
              </a:rPr>
              <a:t>这种方式</a:t>
            </a:r>
            <a:r>
              <a:rPr lang="zh-CN" altLang="en-US" b="1" dirty="0">
                <a:latin typeface="+mn-lt"/>
                <a:ea typeface="+mn-ea"/>
                <a:sym typeface="Consolas" panose="020B0609020204030204" pitchFamily="49" charset="0"/>
              </a:rPr>
              <a:t>使得代码更加清晰和易于理解</a:t>
            </a:r>
            <a:r>
              <a:rPr lang="zh-CN" altLang="en-US" dirty="0">
                <a:latin typeface="+mn-lt"/>
                <a:ea typeface="+mn-ea"/>
                <a:sym typeface="Consolas" panose="020B0609020204030204" pitchFamily="49" charset="0"/>
              </a:rPr>
              <a:t>，同时也</a:t>
            </a:r>
            <a:r>
              <a:rPr lang="zh-CN" altLang="en-US" b="1" dirty="0">
                <a:latin typeface="+mn-lt"/>
                <a:ea typeface="+mn-ea"/>
                <a:sym typeface="Consolas" panose="020B0609020204030204" pitchFamily="49" charset="0"/>
              </a:rPr>
              <a:t>减少了临时变量的使用</a:t>
            </a:r>
            <a:r>
              <a:rPr lang="zh-CN" altLang="en-US" dirty="0">
                <a:latin typeface="+mn-lt"/>
                <a:ea typeface="+mn-ea"/>
                <a:sym typeface="Consolas" panose="020B0609020204030204" pitchFamily="49" charset="0"/>
              </a:rPr>
              <a:t>。</a:t>
            </a:r>
            <a:endParaRPr lang="en-US" altLang="zh-CN" dirty="0">
              <a:latin typeface="+mn-lt"/>
              <a:ea typeface="+mn-ea"/>
              <a:sym typeface="Consolas" panose="020B0609020204030204" pitchFamily="49"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27</a:t>
            </a:fld>
            <a:endParaRPr lang="zh-CN" altLang="en-US">
              <a:solidFill>
                <a:schemeClr val="bg2">
                  <a:lumMod val="75000"/>
                </a:schemeClr>
              </a:solidFill>
              <a:sym typeface="Consolas" panose="020B0609020204030204" pitchFamily="49" charset="0"/>
            </a:endParaRPr>
          </a:p>
        </p:txBody>
      </p:sp>
      <p:sp>
        <p:nvSpPr>
          <p:cNvPr id="12" name="标题 9"/>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2.4.2 </a:t>
            </a:r>
            <a:r>
              <a:rPr lang="zh-CN" altLang="en-US" sz="3600" dirty="0">
                <a:latin typeface="Times New Roman" panose="02020603050405020304" pitchFamily="18" charset="0"/>
                <a:cs typeface="Times New Roman" panose="02020603050405020304" pitchFamily="18" charset="0"/>
              </a:rPr>
              <a:t>管道操作</a:t>
            </a:r>
          </a:p>
        </p:txBody>
      </p:sp>
      <p:sp>
        <p:nvSpPr>
          <p:cNvPr id="2" name="矩形 1">
            <a:extLst>
              <a:ext uri="{FF2B5EF4-FFF2-40B4-BE49-F238E27FC236}">
                <a16:creationId xmlns:a16="http://schemas.microsoft.com/office/drawing/2014/main" id="{EF07576C-AB5B-2D16-D6EC-5CDEF00093AE}"/>
              </a:ext>
            </a:extLst>
          </p:cNvPr>
          <p:cNvSpPr/>
          <p:nvPr/>
        </p:nvSpPr>
        <p:spPr>
          <a:xfrm>
            <a:off x="514350" y="1644173"/>
            <a:ext cx="8115300" cy="3971215"/>
          </a:xfrm>
          <a:prstGeom prst="rect">
            <a:avLst/>
          </a:prstGeom>
        </p:spPr>
        <p:txBody>
          <a:bodyPr wrap="square">
            <a:spAutoFit/>
          </a:bodyPr>
          <a:lstStyle/>
          <a:p>
            <a:pPr>
              <a:lnSpc>
                <a:spcPct val="140000"/>
              </a:lnSpc>
            </a:pPr>
            <a:r>
              <a:rPr lang="en-US" altLang="zh-CN" sz="2000" b="1" dirty="0" err="1">
                <a:latin typeface="+mn-lt"/>
                <a:ea typeface="+mn-ea"/>
                <a:cs typeface="+mn-ea"/>
                <a:sym typeface="Consolas" panose="020B0609020204030204" pitchFamily="49" charset="0"/>
              </a:rPr>
              <a:t>magrittr</a:t>
            </a:r>
            <a:r>
              <a:rPr lang="zh-CN" altLang="en-US" sz="2000" dirty="0">
                <a:latin typeface="+mn-lt"/>
                <a:ea typeface="+mn-ea"/>
                <a:cs typeface="+mn-ea"/>
                <a:sym typeface="Consolas" panose="020B0609020204030204" pitchFamily="49" charset="0"/>
              </a:rPr>
              <a:t>函数包提供了</a:t>
            </a:r>
            <a:r>
              <a:rPr lang="en-US" altLang="zh-CN" sz="2000" dirty="0">
                <a:latin typeface="+mn-lt"/>
                <a:ea typeface="+mn-ea"/>
                <a:cs typeface="+mn-ea"/>
                <a:sym typeface="Consolas" panose="020B0609020204030204" pitchFamily="49" charset="0"/>
              </a:rPr>
              <a:t>4</a:t>
            </a:r>
            <a:r>
              <a:rPr lang="zh-CN" altLang="en-US" sz="2000" dirty="0">
                <a:latin typeface="+mn-lt"/>
                <a:ea typeface="+mn-ea"/>
                <a:cs typeface="+mn-ea"/>
                <a:sym typeface="Consolas" panose="020B0609020204030204" pitchFamily="49" charset="0"/>
              </a:rPr>
              <a:t>个用于实现管道操作的运算符：</a:t>
            </a:r>
            <a:endParaRPr lang="en-US" altLang="zh-CN" sz="2000" dirty="0">
              <a:latin typeface="+mn-lt"/>
              <a:ea typeface="+mn-ea"/>
              <a:cs typeface="+mn-ea"/>
              <a:sym typeface="Consolas" panose="020B0609020204030204" pitchFamily="49" charset="0"/>
            </a:endParaRPr>
          </a:p>
          <a:p>
            <a:pPr marL="457200" indent="-457200">
              <a:lnSpc>
                <a:spcPct val="140000"/>
              </a:lnSpc>
              <a:buFont typeface="+mj-lt"/>
              <a:buAutoNum type="arabicPeriod"/>
            </a:pPr>
            <a:r>
              <a:rPr lang="zh-CN" altLang="en-US" dirty="0">
                <a:latin typeface="+mn-lt"/>
                <a:ea typeface="+mn-ea"/>
                <a:cs typeface="+mn-ea"/>
                <a:sym typeface="Consolas" panose="020B0609020204030204" pitchFamily="49" charset="0"/>
              </a:rPr>
              <a:t>“</a:t>
            </a:r>
            <a:r>
              <a:rPr lang="en-US" altLang="zh-CN" dirty="0">
                <a:latin typeface="+mn-lt"/>
                <a:ea typeface="+mn-ea"/>
                <a:cs typeface="+mn-ea"/>
                <a:sym typeface="Consolas" panose="020B0609020204030204" pitchFamily="49" charset="0"/>
              </a:rPr>
              <a:t>%&gt;%</a:t>
            </a:r>
            <a:r>
              <a:rPr lang="zh-CN" altLang="en-US" dirty="0">
                <a:latin typeface="+mn-lt"/>
                <a:ea typeface="+mn-ea"/>
                <a:cs typeface="+mn-ea"/>
                <a:sym typeface="Consolas" panose="020B0609020204030204" pitchFamily="49" charset="0"/>
              </a:rPr>
              <a:t>”：前向管道操作算子</a:t>
            </a:r>
            <a:r>
              <a:rPr lang="en-US" altLang="zh-CN" dirty="0">
                <a:latin typeface="+mn-lt"/>
                <a:ea typeface="+mn-ea"/>
                <a:cs typeface="+mn-ea"/>
                <a:sym typeface="Consolas" panose="020B0609020204030204" pitchFamily="49" charset="0"/>
              </a:rPr>
              <a:t>(Forward Pipe Operator)</a:t>
            </a:r>
            <a:r>
              <a:rPr lang="zh-CN" altLang="en-US" dirty="0">
                <a:latin typeface="+mn-lt"/>
                <a:ea typeface="+mn-ea"/>
                <a:cs typeface="+mn-ea"/>
                <a:sym typeface="Consolas" panose="020B0609020204030204" pitchFamily="49" charset="0"/>
              </a:rPr>
              <a:t>，将左侧的值传递给右侧函数的第一个参数</a:t>
            </a:r>
            <a:endParaRPr lang="en-US" altLang="zh-CN" dirty="0">
              <a:latin typeface="+mn-lt"/>
              <a:ea typeface="+mn-ea"/>
              <a:cs typeface="+mn-ea"/>
              <a:sym typeface="Consolas" panose="020B0609020204030204" pitchFamily="49" charset="0"/>
            </a:endParaRPr>
          </a:p>
          <a:p>
            <a:pPr marL="457200" indent="-457200">
              <a:lnSpc>
                <a:spcPct val="140000"/>
              </a:lnSpc>
              <a:buFont typeface="+mj-lt"/>
              <a:buAutoNum type="arabicPeriod"/>
            </a:pPr>
            <a:r>
              <a:rPr lang="zh-CN" altLang="en-US" dirty="0">
                <a:latin typeface="+mn-lt"/>
                <a:ea typeface="+mn-ea"/>
                <a:cs typeface="+mn-ea"/>
                <a:sym typeface="Consolas" panose="020B0609020204030204" pitchFamily="49" charset="0"/>
              </a:rPr>
              <a:t>“</a:t>
            </a:r>
            <a:r>
              <a:rPr lang="en-US" altLang="zh-CN" dirty="0">
                <a:effectLst/>
                <a:latin typeface="+mn-lt"/>
                <a:ea typeface="+mn-ea"/>
              </a:rPr>
              <a:t>%T&gt;%</a:t>
            </a:r>
            <a:r>
              <a:rPr lang="zh-CN" altLang="en-US" dirty="0">
                <a:latin typeface="+mn-lt"/>
                <a:ea typeface="+mn-ea"/>
                <a:cs typeface="+mn-ea"/>
                <a:sym typeface="Consolas" panose="020B0609020204030204" pitchFamily="49" charset="0"/>
              </a:rPr>
              <a:t>“</a:t>
            </a:r>
            <a:r>
              <a:rPr lang="en-US" altLang="zh-CN" dirty="0">
                <a:effectLst/>
                <a:latin typeface="+mn-lt"/>
                <a:ea typeface="+mn-ea"/>
                <a:cs typeface="Times New Roman" panose="02020603050405020304" pitchFamily="18" charset="0"/>
              </a:rPr>
              <a:t>：</a:t>
            </a:r>
            <a:r>
              <a:rPr lang="en-US" altLang="zh-CN" dirty="0" err="1">
                <a:effectLst/>
                <a:latin typeface="+mn-lt"/>
                <a:ea typeface="+mn-ea"/>
                <a:cs typeface="Times New Roman" panose="02020603050405020304" pitchFamily="18" charset="0"/>
              </a:rPr>
              <a:t>三通管操算子</a:t>
            </a:r>
            <a:r>
              <a:rPr lang="en-US" altLang="zh-CN" dirty="0">
                <a:effectLst/>
                <a:latin typeface="+mn-lt"/>
                <a:ea typeface="+mn-ea"/>
              </a:rPr>
              <a:t>(Tee Pipe Operator)</a:t>
            </a:r>
            <a:r>
              <a:rPr lang="en-US" altLang="zh-CN" dirty="0">
                <a:effectLst/>
                <a:latin typeface="+mn-lt"/>
                <a:ea typeface="+mn-ea"/>
                <a:cs typeface="Times New Roman" panose="02020603050405020304" pitchFamily="18" charset="0"/>
              </a:rPr>
              <a:t>，</a:t>
            </a:r>
            <a:r>
              <a:rPr lang="en-US" altLang="zh-CN" dirty="0" err="1">
                <a:effectLst/>
                <a:latin typeface="+mn-lt"/>
                <a:ea typeface="+mn-ea"/>
                <a:cs typeface="Times New Roman" panose="02020603050405020304" pitchFamily="18" charset="0"/>
              </a:rPr>
              <a:t>将左侧的值传递给右侧函数，但返回左侧的值，适用于在管道操作过程的中间使用，例如执行打印或绘图等操作而不影响最终结果</a:t>
            </a:r>
            <a:endParaRPr lang="en-US" altLang="zh-CN" dirty="0">
              <a:effectLst/>
              <a:latin typeface="+mn-lt"/>
              <a:ea typeface="+mn-ea"/>
              <a:cs typeface="Times New Roman" panose="02020603050405020304" pitchFamily="18" charset="0"/>
            </a:endParaRPr>
          </a:p>
          <a:p>
            <a:pPr marL="457200" indent="-457200">
              <a:lnSpc>
                <a:spcPct val="140000"/>
              </a:lnSpc>
              <a:buFont typeface="+mj-lt"/>
              <a:buAutoNum type="arabicPeriod"/>
            </a:pPr>
            <a:r>
              <a:rPr lang="zh-CN" altLang="en-US" dirty="0">
                <a:latin typeface="+mn-lt"/>
                <a:ea typeface="+mn-ea"/>
                <a:cs typeface="+mn-ea"/>
                <a:sym typeface="Consolas" panose="020B0609020204030204" pitchFamily="49" charset="0"/>
              </a:rPr>
              <a:t>“</a:t>
            </a:r>
            <a:r>
              <a:rPr lang="en-US" altLang="zh-CN" dirty="0">
                <a:latin typeface="+mn-lt"/>
                <a:ea typeface="+mn-ea"/>
                <a:cs typeface="+mn-ea"/>
                <a:sym typeface="Consolas" panose="020B0609020204030204" pitchFamily="49" charset="0"/>
              </a:rPr>
              <a:t>%&lt;&gt;%</a:t>
            </a:r>
            <a:r>
              <a:rPr lang="zh-CN" altLang="en-US" dirty="0">
                <a:latin typeface="+mn-lt"/>
                <a:ea typeface="+mn-ea"/>
                <a:cs typeface="+mn-ea"/>
                <a:sym typeface="Consolas" panose="020B0609020204030204" pitchFamily="49" charset="0"/>
              </a:rPr>
              <a:t>”：赋值管道操作算子</a:t>
            </a:r>
            <a:r>
              <a:rPr lang="en-US" altLang="zh-CN" dirty="0">
                <a:latin typeface="+mn-lt"/>
                <a:ea typeface="+mn-ea"/>
                <a:cs typeface="+mn-ea"/>
                <a:sym typeface="Consolas" panose="020B0609020204030204" pitchFamily="49" charset="0"/>
              </a:rPr>
              <a:t>(Assignment Pipe Operator)</a:t>
            </a:r>
            <a:r>
              <a:rPr lang="zh-CN" altLang="en-US" dirty="0">
                <a:latin typeface="+mn-lt"/>
                <a:ea typeface="+mn-ea"/>
                <a:cs typeface="+mn-ea"/>
                <a:sym typeface="Consolas" panose="020B0609020204030204" pitchFamily="49" charset="0"/>
              </a:rPr>
              <a:t>，将左侧的值传递给右侧函数，并将结果重新赋值给左侧对象</a:t>
            </a:r>
            <a:endParaRPr lang="en-US" altLang="zh-CN" dirty="0">
              <a:latin typeface="+mn-lt"/>
              <a:ea typeface="+mn-ea"/>
              <a:cs typeface="+mn-ea"/>
              <a:sym typeface="Consolas" panose="020B0609020204030204" pitchFamily="49" charset="0"/>
            </a:endParaRPr>
          </a:p>
          <a:p>
            <a:pPr marL="457200" indent="-457200">
              <a:lnSpc>
                <a:spcPct val="140000"/>
              </a:lnSpc>
              <a:buFont typeface="+mj-lt"/>
              <a:buAutoNum type="arabicPeriod"/>
            </a:pPr>
            <a:r>
              <a:rPr lang="zh-CN" altLang="en-US" dirty="0">
                <a:latin typeface="+mn-lt"/>
                <a:ea typeface="+mn-ea"/>
              </a:rPr>
              <a:t>“</a:t>
            </a:r>
            <a:r>
              <a:rPr lang="en-US" altLang="zh-CN" dirty="0">
                <a:effectLst/>
                <a:latin typeface="+mn-lt"/>
                <a:ea typeface="+mn-ea"/>
              </a:rPr>
              <a:t>%$%</a:t>
            </a:r>
            <a:r>
              <a:rPr lang="zh-CN" altLang="en-US" dirty="0">
                <a:effectLst/>
                <a:latin typeface="+mn-lt"/>
                <a:ea typeface="+mn-ea"/>
              </a:rPr>
              <a:t>”</a:t>
            </a:r>
            <a:r>
              <a:rPr lang="en-US" altLang="zh-CN" dirty="0">
                <a:effectLst/>
                <a:latin typeface="+mn-lt"/>
                <a:ea typeface="+mn-ea"/>
                <a:cs typeface="Times New Roman" panose="02020603050405020304" pitchFamily="18" charset="0"/>
              </a:rPr>
              <a:t>：</a:t>
            </a:r>
            <a:r>
              <a:rPr lang="en-US" altLang="zh-CN" dirty="0" err="1">
                <a:effectLst/>
                <a:latin typeface="+mn-lt"/>
                <a:ea typeface="+mn-ea"/>
                <a:cs typeface="Times New Roman" panose="02020603050405020304" pitchFamily="18" charset="0"/>
              </a:rPr>
              <a:t>描述管道算子</a:t>
            </a:r>
            <a:r>
              <a:rPr lang="en-US" altLang="zh-CN" dirty="0">
                <a:effectLst/>
                <a:latin typeface="+mn-lt"/>
                <a:ea typeface="+mn-ea"/>
              </a:rPr>
              <a:t>(Exposition Pipe Operator)</a:t>
            </a:r>
            <a:r>
              <a:rPr lang="en-US" altLang="zh-CN" dirty="0">
                <a:effectLst/>
                <a:latin typeface="+mn-lt"/>
                <a:ea typeface="+mn-ea"/>
                <a:cs typeface="Times New Roman" panose="02020603050405020304" pitchFamily="18" charset="0"/>
              </a:rPr>
              <a:t>，</a:t>
            </a:r>
            <a:r>
              <a:rPr lang="en-US" altLang="zh-CN" dirty="0" err="1">
                <a:effectLst/>
                <a:latin typeface="+mn-lt"/>
                <a:ea typeface="+mn-ea"/>
                <a:cs typeface="Times New Roman" panose="02020603050405020304" pitchFamily="18" charset="0"/>
              </a:rPr>
              <a:t>在管道中展开数据集的列，从而可以直接在这些列上进行操作</a:t>
            </a:r>
            <a:endParaRPr lang="en-US" altLang="zh-CN" dirty="0">
              <a:latin typeface="+mn-lt"/>
              <a:ea typeface="+mn-ea"/>
              <a:cs typeface="+mn-ea"/>
              <a:sym typeface="Consolas" panose="020B0609020204030204" pitchFamily="49" charset="0"/>
            </a:endParaRPr>
          </a:p>
        </p:txBody>
      </p:sp>
      <p:sp>
        <p:nvSpPr>
          <p:cNvPr id="3" name="矩形 2">
            <a:extLst>
              <a:ext uri="{FF2B5EF4-FFF2-40B4-BE49-F238E27FC236}">
                <a16:creationId xmlns:a16="http://schemas.microsoft.com/office/drawing/2014/main" id="{609D9404-A5AB-2E59-C2C4-4D57C3397D35}"/>
              </a:ext>
            </a:extLst>
          </p:cNvPr>
          <p:cNvSpPr/>
          <p:nvPr/>
        </p:nvSpPr>
        <p:spPr>
          <a:xfrm>
            <a:off x="514350" y="2095500"/>
            <a:ext cx="8115300" cy="838200"/>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文本框 10">
            <a:extLst>
              <a:ext uri="{FF2B5EF4-FFF2-40B4-BE49-F238E27FC236}">
                <a16:creationId xmlns:a16="http://schemas.microsoft.com/office/drawing/2014/main" id="{8EDEBF76-22FE-5D21-95EE-36DD5BEB5439}"/>
              </a:ext>
            </a:extLst>
          </p:cNvPr>
          <p:cNvSpPr txBox="1"/>
          <p:nvPr/>
        </p:nvSpPr>
        <p:spPr>
          <a:xfrm>
            <a:off x="7429500" y="1597323"/>
            <a:ext cx="1107996" cy="461665"/>
          </a:xfrm>
          <a:prstGeom prst="rect">
            <a:avLst/>
          </a:prstGeom>
          <a:noFill/>
        </p:spPr>
        <p:txBody>
          <a:bodyPr wrap="none" rtlCol="0">
            <a:spAutoFit/>
          </a:bodyPr>
          <a:lstStyle/>
          <a:p>
            <a:r>
              <a:rPr lang="zh-CN" altLang="en-US" sz="2400" b="1" dirty="0">
                <a:solidFill>
                  <a:schemeClr val="accent6"/>
                </a:solidFill>
                <a:latin typeface="+mn-ea"/>
                <a:ea typeface="+mn-ea"/>
              </a:rPr>
              <a:t>最常用</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428E1-94EF-EED6-F075-2D3A41F8DF5D}"/>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B90BD23C-F999-3AB6-4717-5E9D3CE267FB}"/>
              </a:ext>
            </a:extLst>
          </p:cNvPr>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28</a:t>
            </a:fld>
            <a:endParaRPr lang="zh-CN" altLang="en-US">
              <a:solidFill>
                <a:schemeClr val="bg2">
                  <a:lumMod val="75000"/>
                </a:schemeClr>
              </a:solidFill>
              <a:sym typeface="Consolas" panose="020B0609020204030204" pitchFamily="49" charset="0"/>
            </a:endParaRPr>
          </a:p>
        </p:txBody>
      </p:sp>
      <p:sp>
        <p:nvSpPr>
          <p:cNvPr id="12" name="标题 9">
            <a:extLst>
              <a:ext uri="{FF2B5EF4-FFF2-40B4-BE49-F238E27FC236}">
                <a16:creationId xmlns:a16="http://schemas.microsoft.com/office/drawing/2014/main" id="{102A559F-72A9-CF59-DDE8-4038CFE4A6FF}"/>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2.4.2 </a:t>
            </a:r>
            <a:r>
              <a:rPr lang="zh-CN" altLang="en-US" sz="3600" dirty="0">
                <a:latin typeface="Times New Roman" panose="02020603050405020304" pitchFamily="18" charset="0"/>
                <a:cs typeface="Times New Roman" panose="02020603050405020304" pitchFamily="18" charset="0"/>
              </a:rPr>
              <a:t>管道操作</a:t>
            </a:r>
          </a:p>
        </p:txBody>
      </p:sp>
      <p:sp>
        <p:nvSpPr>
          <p:cNvPr id="2" name="矩形 1">
            <a:extLst>
              <a:ext uri="{FF2B5EF4-FFF2-40B4-BE49-F238E27FC236}">
                <a16:creationId xmlns:a16="http://schemas.microsoft.com/office/drawing/2014/main" id="{3E4459C3-1C44-F073-8E0D-26DFFC90F39F}"/>
              </a:ext>
            </a:extLst>
          </p:cNvPr>
          <p:cNvSpPr/>
          <p:nvPr/>
        </p:nvSpPr>
        <p:spPr>
          <a:xfrm>
            <a:off x="427037" y="1333500"/>
            <a:ext cx="8515350" cy="4876078"/>
          </a:xfrm>
          <a:prstGeom prst="rect">
            <a:avLst/>
          </a:prstGeom>
        </p:spPr>
        <p:txBody>
          <a:bodyPr wrap="square">
            <a:spAutoFit/>
          </a:bodyPr>
          <a:lstStyle/>
          <a:p>
            <a:pPr marL="285750" indent="-285750">
              <a:lnSpc>
                <a:spcPct val="140000"/>
              </a:lnSpc>
              <a:buFont typeface="Wingdings" panose="05000000000000000000" pitchFamily="2" charset="2"/>
              <a:buChar char="ü"/>
            </a:pPr>
            <a:r>
              <a:rPr lang="zh-CN" altLang="en-US" dirty="0">
                <a:latin typeface="+mn-lt"/>
                <a:ea typeface="+mn-ea"/>
                <a:cs typeface="+mn-ea"/>
                <a:sym typeface="Consolas" panose="020B0609020204030204" pitchFamily="49" charset="0"/>
              </a:rPr>
              <a:t>利用操作符“</a:t>
            </a:r>
            <a:r>
              <a:rPr lang="en-US" altLang="zh-CN" dirty="0">
                <a:latin typeface="+mn-lt"/>
                <a:ea typeface="+mn-ea"/>
                <a:cs typeface="+mn-ea"/>
                <a:sym typeface="Consolas" panose="020B0609020204030204" pitchFamily="49" charset="0"/>
              </a:rPr>
              <a:t>%&gt;%</a:t>
            </a:r>
            <a:r>
              <a:rPr lang="zh-CN" altLang="en-US" dirty="0">
                <a:latin typeface="+mn-lt"/>
                <a:ea typeface="+mn-ea"/>
                <a:cs typeface="+mn-ea"/>
                <a:sym typeface="Consolas" panose="020B0609020204030204" pitchFamily="49" charset="0"/>
              </a:rPr>
              <a:t>”，将数据向量转化为数据框并整合到管道操作中的例子：</a:t>
            </a:r>
            <a:endParaRPr lang="en-US" altLang="zh-CN" dirty="0">
              <a:latin typeface="+mn-lt"/>
              <a:ea typeface="+mn-ea"/>
              <a:cs typeface="+mn-ea"/>
              <a:sym typeface="Consolas" panose="020B0609020204030204" pitchFamily="49" charset="0"/>
            </a:endParaRPr>
          </a:p>
          <a:p>
            <a:pPr marL="285750" indent="-285750">
              <a:lnSpc>
                <a:spcPct val="140000"/>
              </a:lnSpc>
              <a:buFont typeface="Wingdings" panose="05000000000000000000" pitchFamily="2" charset="2"/>
              <a:buChar char="ü"/>
            </a:pPr>
            <a:endParaRPr lang="en-US" altLang="zh-CN" dirty="0">
              <a:latin typeface="+mn-lt"/>
              <a:ea typeface="+mn-ea"/>
              <a:cs typeface="+mn-ea"/>
              <a:sym typeface="Consolas" panose="020B0609020204030204" pitchFamily="49" charset="0"/>
            </a:endParaRPr>
          </a:p>
          <a:p>
            <a:pPr marL="285750" indent="-285750">
              <a:lnSpc>
                <a:spcPct val="140000"/>
              </a:lnSpc>
              <a:buFont typeface="Wingdings" panose="05000000000000000000" pitchFamily="2" charset="2"/>
              <a:buChar char="ü"/>
            </a:pPr>
            <a:endParaRPr lang="en-US" altLang="zh-CN" dirty="0">
              <a:latin typeface="+mn-lt"/>
              <a:ea typeface="+mn-ea"/>
              <a:cs typeface="+mn-ea"/>
              <a:sym typeface="Consolas" panose="020B0609020204030204" pitchFamily="49" charset="0"/>
            </a:endParaRPr>
          </a:p>
          <a:p>
            <a:pPr marL="285750" indent="-285750">
              <a:lnSpc>
                <a:spcPct val="140000"/>
              </a:lnSpc>
              <a:buFont typeface="Wingdings" panose="05000000000000000000" pitchFamily="2" charset="2"/>
              <a:buChar char="ü"/>
            </a:pPr>
            <a:endParaRPr lang="en-US" altLang="zh-CN" dirty="0">
              <a:latin typeface="+mn-lt"/>
              <a:ea typeface="+mn-ea"/>
              <a:cs typeface="+mn-ea"/>
              <a:sym typeface="Consolas" panose="020B0609020204030204" pitchFamily="49" charset="0"/>
            </a:endParaRPr>
          </a:p>
          <a:p>
            <a:pPr marL="285750" indent="-285750">
              <a:lnSpc>
                <a:spcPct val="140000"/>
              </a:lnSpc>
              <a:buFont typeface="Wingdings" panose="05000000000000000000" pitchFamily="2" charset="2"/>
              <a:buChar char="ü"/>
            </a:pPr>
            <a:endParaRPr lang="en-US" altLang="zh-CN" dirty="0">
              <a:latin typeface="+mn-lt"/>
              <a:ea typeface="+mn-ea"/>
              <a:cs typeface="+mn-ea"/>
              <a:sym typeface="Consolas" panose="020B0609020204030204" pitchFamily="49" charset="0"/>
            </a:endParaRPr>
          </a:p>
          <a:p>
            <a:pPr>
              <a:lnSpc>
                <a:spcPct val="140000"/>
              </a:lnSpc>
            </a:pPr>
            <a:endParaRPr lang="en-US" altLang="zh-CN" dirty="0">
              <a:latin typeface="+mn-lt"/>
              <a:ea typeface="+mn-ea"/>
              <a:cs typeface="+mn-ea"/>
              <a:sym typeface="Consolas" panose="020B0609020204030204" pitchFamily="49" charset="0"/>
            </a:endParaRPr>
          </a:p>
          <a:p>
            <a:pPr>
              <a:lnSpc>
                <a:spcPct val="140000"/>
              </a:lnSpc>
            </a:pPr>
            <a:endParaRPr lang="en-US" altLang="zh-CN" sz="800" dirty="0">
              <a:latin typeface="+mn-lt"/>
              <a:ea typeface="+mn-ea"/>
              <a:cs typeface="+mn-ea"/>
              <a:sym typeface="Consolas" panose="020B0609020204030204" pitchFamily="49" charset="0"/>
            </a:endParaRPr>
          </a:p>
          <a:p>
            <a:pPr marL="285750" indent="-285750">
              <a:lnSpc>
                <a:spcPct val="140000"/>
              </a:lnSpc>
              <a:buFont typeface="Wingdings" panose="05000000000000000000" pitchFamily="2" charset="2"/>
              <a:buChar char="ü"/>
            </a:pPr>
            <a:r>
              <a:rPr lang="zh-CN" altLang="en-US" dirty="0">
                <a:latin typeface="+mn-lt"/>
                <a:ea typeface="+mn-ea"/>
                <a:cs typeface="+mn-ea"/>
                <a:sym typeface="Consolas" panose="020B0609020204030204" pitchFamily="49" charset="0"/>
              </a:rPr>
              <a:t>具体步骤为：</a:t>
            </a:r>
            <a:endParaRPr lang="en-US" altLang="zh-CN" dirty="0">
              <a:latin typeface="+mn-lt"/>
              <a:ea typeface="+mn-ea"/>
              <a:cs typeface="+mn-ea"/>
              <a:sym typeface="Consolas" panose="020B0609020204030204" pitchFamily="49" charset="0"/>
            </a:endParaRPr>
          </a:p>
          <a:p>
            <a:pPr marL="342900" indent="-342900">
              <a:lnSpc>
                <a:spcPct val="140000"/>
              </a:lnSpc>
              <a:buFont typeface="+mj-lt"/>
              <a:buAutoNum type="arabicPeriod"/>
            </a:pPr>
            <a:r>
              <a:rPr lang="zh-CN" altLang="en-US" dirty="0">
                <a:latin typeface="+mn-lt"/>
                <a:ea typeface="+mn-ea"/>
                <a:cs typeface="+mn-ea"/>
                <a:sym typeface="Consolas" panose="020B0609020204030204" pitchFamily="49" charset="0"/>
              </a:rPr>
              <a:t>使用</a:t>
            </a:r>
            <a:r>
              <a:rPr lang="en-US" altLang="zh-CN" i="1" dirty="0" err="1">
                <a:latin typeface="+mn-lt"/>
                <a:ea typeface="+mn-ea"/>
                <a:cs typeface="+mn-ea"/>
                <a:sym typeface="Consolas" panose="020B0609020204030204" pitchFamily="49" charset="0"/>
              </a:rPr>
              <a:t>as.data.frame</a:t>
            </a:r>
            <a:r>
              <a:rPr lang="en-US" altLang="zh-CN" i="1" dirty="0">
                <a:latin typeface="+mn-lt"/>
                <a:ea typeface="+mn-ea"/>
                <a:cs typeface="+mn-ea"/>
                <a:sym typeface="Consolas" panose="020B0609020204030204" pitchFamily="49" charset="0"/>
              </a:rPr>
              <a:t>()</a:t>
            </a:r>
            <a:r>
              <a:rPr lang="zh-CN" altLang="en-US" dirty="0">
                <a:latin typeface="+mn-lt"/>
                <a:ea typeface="+mn-ea"/>
                <a:cs typeface="+mn-ea"/>
                <a:sym typeface="Consolas" panose="020B0609020204030204" pitchFamily="49" charset="0"/>
              </a:rPr>
              <a:t>将</a:t>
            </a:r>
            <a:r>
              <a:rPr lang="en-US" altLang="zh-CN" dirty="0">
                <a:latin typeface="+mn-lt"/>
                <a:ea typeface="+mn-ea"/>
                <a:cs typeface="+mn-ea"/>
                <a:sym typeface="Consolas" panose="020B0609020204030204" pitchFamily="49" charset="0"/>
              </a:rPr>
              <a:t>numbers</a:t>
            </a:r>
            <a:r>
              <a:rPr lang="zh-CN" altLang="en-US" dirty="0">
                <a:latin typeface="+mn-lt"/>
                <a:ea typeface="+mn-ea"/>
                <a:cs typeface="+mn-ea"/>
                <a:sym typeface="Consolas" panose="020B0609020204030204" pitchFamily="49" charset="0"/>
              </a:rPr>
              <a:t>向量转换为数据框</a:t>
            </a:r>
            <a:endParaRPr lang="en-US" altLang="zh-CN" dirty="0">
              <a:latin typeface="+mn-lt"/>
              <a:ea typeface="+mn-ea"/>
              <a:cs typeface="+mn-ea"/>
              <a:sym typeface="Consolas" panose="020B0609020204030204" pitchFamily="49" charset="0"/>
            </a:endParaRPr>
          </a:p>
          <a:p>
            <a:pPr marL="342900" indent="-342900">
              <a:lnSpc>
                <a:spcPct val="140000"/>
              </a:lnSpc>
              <a:buFont typeface="+mj-lt"/>
              <a:buAutoNum type="arabicPeriod"/>
            </a:pPr>
            <a:r>
              <a:rPr lang="zh-CN" altLang="en-US" dirty="0">
                <a:latin typeface="+mn-lt"/>
                <a:ea typeface="+mn-ea"/>
                <a:cs typeface="+mn-ea"/>
                <a:sym typeface="Consolas" panose="020B0609020204030204" pitchFamily="49" charset="0"/>
              </a:rPr>
              <a:t>使用</a:t>
            </a:r>
            <a:r>
              <a:rPr lang="en-US" altLang="zh-CN" i="1" dirty="0">
                <a:latin typeface="+mn-lt"/>
                <a:ea typeface="+mn-ea"/>
                <a:cs typeface="+mn-ea"/>
                <a:sym typeface="Consolas" panose="020B0609020204030204" pitchFamily="49" charset="0"/>
              </a:rPr>
              <a:t>mutate()</a:t>
            </a:r>
            <a:r>
              <a:rPr lang="zh-CN" altLang="en-US" dirty="0">
                <a:latin typeface="+mn-lt"/>
                <a:ea typeface="+mn-ea"/>
                <a:cs typeface="+mn-ea"/>
                <a:sym typeface="Consolas" panose="020B0609020204030204" pitchFamily="49" charset="0"/>
              </a:rPr>
              <a:t>创建一个新列</a:t>
            </a:r>
            <a:r>
              <a:rPr lang="en-US" altLang="zh-CN" dirty="0">
                <a:latin typeface="+mn-lt"/>
                <a:ea typeface="+mn-ea"/>
                <a:cs typeface="+mn-ea"/>
                <a:sym typeface="Consolas" panose="020B0609020204030204" pitchFamily="49" charset="0"/>
              </a:rPr>
              <a:t>squared</a:t>
            </a:r>
            <a:r>
              <a:rPr lang="zh-CN" altLang="en-US" dirty="0">
                <a:latin typeface="+mn-lt"/>
                <a:ea typeface="+mn-ea"/>
                <a:cs typeface="+mn-ea"/>
                <a:sym typeface="Consolas" panose="020B0609020204030204" pitchFamily="49" charset="0"/>
              </a:rPr>
              <a:t>，该列包含了每个元素的平方值</a:t>
            </a:r>
            <a:endParaRPr lang="en-US" altLang="zh-CN" dirty="0">
              <a:latin typeface="+mn-lt"/>
              <a:ea typeface="+mn-ea"/>
              <a:cs typeface="+mn-ea"/>
              <a:sym typeface="Consolas" panose="020B0609020204030204" pitchFamily="49" charset="0"/>
            </a:endParaRPr>
          </a:p>
          <a:p>
            <a:pPr marL="342900" indent="-342900">
              <a:lnSpc>
                <a:spcPct val="140000"/>
              </a:lnSpc>
              <a:buFont typeface="+mj-lt"/>
              <a:buAutoNum type="arabicPeriod"/>
            </a:pPr>
            <a:r>
              <a:rPr lang="zh-CN" altLang="en-US" dirty="0">
                <a:latin typeface="+mn-lt"/>
                <a:ea typeface="+mn-ea"/>
                <a:cs typeface="+mn-ea"/>
                <a:sym typeface="Consolas" panose="020B0609020204030204" pitchFamily="49" charset="0"/>
              </a:rPr>
              <a:t>使用</a:t>
            </a:r>
            <a:r>
              <a:rPr lang="en-US" altLang="zh-CN" i="1" dirty="0">
                <a:latin typeface="+mn-lt"/>
                <a:ea typeface="+mn-ea"/>
                <a:cs typeface="+mn-ea"/>
                <a:sym typeface="Consolas" panose="020B0609020204030204" pitchFamily="49" charset="0"/>
              </a:rPr>
              <a:t>filter()</a:t>
            </a:r>
            <a:r>
              <a:rPr lang="zh-CN" altLang="en-US" dirty="0">
                <a:latin typeface="+mn-lt"/>
                <a:ea typeface="+mn-ea"/>
                <a:cs typeface="+mn-ea"/>
                <a:sym typeface="Consolas" panose="020B0609020204030204" pitchFamily="49" charset="0"/>
              </a:rPr>
              <a:t>筛选出平方值为偶数的行</a:t>
            </a:r>
            <a:endParaRPr lang="en-US" altLang="zh-CN" dirty="0">
              <a:latin typeface="+mn-lt"/>
              <a:ea typeface="+mn-ea"/>
              <a:cs typeface="+mn-ea"/>
              <a:sym typeface="Consolas" panose="020B0609020204030204" pitchFamily="49" charset="0"/>
            </a:endParaRPr>
          </a:p>
          <a:p>
            <a:pPr marL="342900" indent="-342900">
              <a:lnSpc>
                <a:spcPct val="140000"/>
              </a:lnSpc>
              <a:buFont typeface="+mj-lt"/>
              <a:buAutoNum type="arabicPeriod"/>
            </a:pPr>
            <a:r>
              <a:rPr lang="zh-CN" altLang="en-US" dirty="0">
                <a:latin typeface="+mn-lt"/>
                <a:ea typeface="+mn-ea"/>
                <a:cs typeface="+mn-ea"/>
                <a:sym typeface="Consolas" panose="020B0609020204030204" pitchFamily="49" charset="0"/>
              </a:rPr>
              <a:t>使用</a:t>
            </a:r>
            <a:r>
              <a:rPr lang="en-US" altLang="zh-CN" i="1" dirty="0" err="1">
                <a:latin typeface="+mn-lt"/>
                <a:ea typeface="+mn-ea"/>
                <a:cs typeface="+mn-ea"/>
                <a:sym typeface="Consolas" panose="020B0609020204030204" pitchFamily="49" charset="0"/>
              </a:rPr>
              <a:t>summarise</a:t>
            </a:r>
            <a:r>
              <a:rPr lang="en-US" altLang="zh-CN" i="1" dirty="0">
                <a:latin typeface="+mn-lt"/>
                <a:ea typeface="+mn-ea"/>
                <a:cs typeface="+mn-ea"/>
                <a:sym typeface="Consolas" panose="020B0609020204030204" pitchFamily="49" charset="0"/>
              </a:rPr>
              <a:t>()</a:t>
            </a:r>
            <a:r>
              <a:rPr lang="zh-CN" altLang="en-US" dirty="0">
                <a:latin typeface="+mn-lt"/>
                <a:ea typeface="+mn-ea"/>
                <a:cs typeface="+mn-ea"/>
                <a:sym typeface="Consolas" panose="020B0609020204030204" pitchFamily="49" charset="0"/>
              </a:rPr>
              <a:t>计算平方后的数字的和</a:t>
            </a:r>
            <a:endParaRPr lang="en-US" altLang="zh-CN" dirty="0">
              <a:latin typeface="+mn-lt"/>
              <a:ea typeface="+mn-ea"/>
              <a:cs typeface="+mn-ea"/>
              <a:sym typeface="Consolas" panose="020B0609020204030204" pitchFamily="49" charset="0"/>
            </a:endParaRPr>
          </a:p>
          <a:p>
            <a:pPr marL="342900" indent="-342900">
              <a:lnSpc>
                <a:spcPct val="140000"/>
              </a:lnSpc>
              <a:buFont typeface="+mj-lt"/>
              <a:buAutoNum type="arabicPeriod"/>
            </a:pPr>
            <a:r>
              <a:rPr lang="zh-CN" altLang="en-US" dirty="0">
                <a:latin typeface="+mn-lt"/>
                <a:ea typeface="+mn-ea"/>
                <a:cs typeface="+mn-ea"/>
                <a:sym typeface="Consolas" panose="020B0609020204030204" pitchFamily="49" charset="0"/>
              </a:rPr>
              <a:t>通过提取</a:t>
            </a:r>
            <a:r>
              <a:rPr lang="en-US" altLang="zh-CN" dirty="0">
                <a:latin typeface="+mn-lt"/>
                <a:ea typeface="+mn-ea"/>
                <a:cs typeface="+mn-ea"/>
                <a:sym typeface="Consolas" panose="020B0609020204030204" pitchFamily="49" charset="0"/>
              </a:rPr>
              <a:t>result</a:t>
            </a:r>
            <a:r>
              <a:rPr lang="zh-CN" altLang="en-US" dirty="0">
                <a:latin typeface="+mn-lt"/>
                <a:ea typeface="+mn-ea"/>
                <a:cs typeface="+mn-ea"/>
                <a:sym typeface="Consolas" panose="020B0609020204030204" pitchFamily="49" charset="0"/>
              </a:rPr>
              <a:t>数据框中的</a:t>
            </a:r>
            <a:r>
              <a:rPr lang="en-US" altLang="zh-CN" dirty="0">
                <a:latin typeface="+mn-lt"/>
                <a:ea typeface="+mn-ea"/>
                <a:cs typeface="+mn-ea"/>
                <a:sym typeface="Consolas" panose="020B0609020204030204" pitchFamily="49" charset="0"/>
              </a:rPr>
              <a:t>sum</a:t>
            </a:r>
            <a:r>
              <a:rPr lang="zh-CN" altLang="en-US" dirty="0">
                <a:latin typeface="+mn-lt"/>
                <a:ea typeface="+mn-ea"/>
                <a:cs typeface="+mn-ea"/>
                <a:sym typeface="Consolas" panose="020B0609020204030204" pitchFamily="49" charset="0"/>
              </a:rPr>
              <a:t>列，将求和结果保存在</a:t>
            </a:r>
            <a:r>
              <a:rPr lang="en-US" altLang="zh-CN" dirty="0">
                <a:latin typeface="+mn-lt"/>
                <a:ea typeface="+mn-ea"/>
                <a:cs typeface="+mn-ea"/>
                <a:sym typeface="Consolas" panose="020B0609020204030204" pitchFamily="49" charset="0"/>
              </a:rPr>
              <a:t>result</a:t>
            </a:r>
            <a:r>
              <a:rPr lang="zh-CN" altLang="en-US" dirty="0">
                <a:latin typeface="+mn-lt"/>
                <a:ea typeface="+mn-ea"/>
                <a:cs typeface="+mn-ea"/>
                <a:sym typeface="Consolas" panose="020B0609020204030204" pitchFamily="49" charset="0"/>
              </a:rPr>
              <a:t>变量中</a:t>
            </a:r>
            <a:endParaRPr lang="en-US" altLang="zh-CN" dirty="0">
              <a:latin typeface="+mn-lt"/>
              <a:ea typeface="+mn-ea"/>
              <a:cs typeface="+mn-ea"/>
              <a:sym typeface="Consolas" panose="020B0609020204030204" pitchFamily="49" charset="0"/>
            </a:endParaRPr>
          </a:p>
        </p:txBody>
      </p:sp>
      <p:sp>
        <p:nvSpPr>
          <p:cNvPr id="5" name="文本框 4">
            <a:extLst>
              <a:ext uri="{FF2B5EF4-FFF2-40B4-BE49-F238E27FC236}">
                <a16:creationId xmlns:a16="http://schemas.microsoft.com/office/drawing/2014/main" id="{E6A25305-26A3-08D6-514A-768819661991}"/>
              </a:ext>
            </a:extLst>
          </p:cNvPr>
          <p:cNvSpPr txBox="1"/>
          <p:nvPr/>
        </p:nvSpPr>
        <p:spPr>
          <a:xfrm>
            <a:off x="685800" y="1790700"/>
            <a:ext cx="5337175" cy="2062103"/>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numbers &lt;-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6</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7</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8</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9</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result &lt;- numbers %&gt;%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as.data.frame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%&gt;%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mutate(squared =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%&gt;%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filter(squared %%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%&gt;%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summarise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(sum = sum(squared))</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result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result</a:t>
            </a:r>
            <a:r>
              <a:rPr lang="en-US" altLang="zh-CN" sz="16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sum</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result</a:t>
            </a:r>
            <a:endParaRPr lang="zh-CN" altLang="zh-CN" sz="16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7847843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306EC-255A-45FB-60F0-3E81757F1F87}"/>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921F465-7F0A-F0AE-95E5-DE19FADC4ACB}"/>
              </a:ext>
            </a:extLst>
          </p:cNvPr>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29</a:t>
            </a:fld>
            <a:endParaRPr lang="zh-CN" altLang="en-US">
              <a:solidFill>
                <a:schemeClr val="bg2">
                  <a:lumMod val="75000"/>
                </a:schemeClr>
              </a:solidFill>
              <a:sym typeface="Consolas" panose="020B0609020204030204" pitchFamily="49" charset="0"/>
            </a:endParaRPr>
          </a:p>
        </p:txBody>
      </p:sp>
      <p:sp>
        <p:nvSpPr>
          <p:cNvPr id="12" name="标题 9">
            <a:extLst>
              <a:ext uri="{FF2B5EF4-FFF2-40B4-BE49-F238E27FC236}">
                <a16:creationId xmlns:a16="http://schemas.microsoft.com/office/drawing/2014/main" id="{89C7FE74-21AA-1958-D906-B72E5A8F61DD}"/>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2.4.2 </a:t>
            </a:r>
            <a:r>
              <a:rPr lang="zh-CN" altLang="en-US" sz="3600" dirty="0">
                <a:latin typeface="Times New Roman" panose="02020603050405020304" pitchFamily="18" charset="0"/>
                <a:cs typeface="Times New Roman" panose="02020603050405020304" pitchFamily="18" charset="0"/>
              </a:rPr>
              <a:t>管道操作</a:t>
            </a:r>
          </a:p>
        </p:txBody>
      </p:sp>
      <p:sp>
        <p:nvSpPr>
          <p:cNvPr id="5" name="文本框 4">
            <a:extLst>
              <a:ext uri="{FF2B5EF4-FFF2-40B4-BE49-F238E27FC236}">
                <a16:creationId xmlns:a16="http://schemas.microsoft.com/office/drawing/2014/main" id="{C1E6FAD7-FB06-002A-C10F-876839546EDF}"/>
              </a:ext>
            </a:extLst>
          </p:cNvPr>
          <p:cNvSpPr txBox="1"/>
          <p:nvPr/>
        </p:nvSpPr>
        <p:spPr>
          <a:xfrm>
            <a:off x="266700" y="2948143"/>
            <a:ext cx="8648700" cy="156966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data.frame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x =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y =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6</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8</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result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%&gt;% mutate(z = y / x) %T&gt;% print() %&gt;% filter(z &gt;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x*</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print(result)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print(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%&lt;&gt;% mutate(z = y / x) %&lt;&gt;% filter(z &gt;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print(</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
        <p:nvSpPr>
          <p:cNvPr id="6" name="矩形 5">
            <a:extLst>
              <a:ext uri="{FF2B5EF4-FFF2-40B4-BE49-F238E27FC236}">
                <a16:creationId xmlns:a16="http://schemas.microsoft.com/office/drawing/2014/main" id="{AC93DA43-4ACB-10D7-6AEF-E8388152E678}"/>
              </a:ext>
            </a:extLst>
          </p:cNvPr>
          <p:cNvSpPr/>
          <p:nvPr/>
        </p:nvSpPr>
        <p:spPr>
          <a:xfrm>
            <a:off x="457200" y="1859103"/>
            <a:ext cx="7581900" cy="825739"/>
          </a:xfrm>
          <a:prstGeom prst="rect">
            <a:avLst/>
          </a:prstGeom>
        </p:spPr>
        <p:txBody>
          <a:bodyPr wrap="square">
            <a:spAutoFit/>
          </a:bodyPr>
          <a:lstStyle/>
          <a:p>
            <a:pPr marL="285750" indent="457200" algn="just">
              <a:lnSpc>
                <a:spcPct val="140000"/>
              </a:lnSpc>
              <a:buFont typeface="Wingdings" panose="05000000000000000000" pitchFamily="2" charset="2"/>
              <a:buChar char="ü"/>
            </a:pPr>
            <a:r>
              <a:rPr lang="zh-CN" altLang="en-US" dirty="0">
                <a:latin typeface="+mn-lt"/>
                <a:ea typeface="+mn-ea"/>
                <a:cs typeface="+mn-ea"/>
                <a:sym typeface="Consolas" panose="020B0609020204030204" pitchFamily="49" charset="0"/>
              </a:rPr>
              <a:t>其它三个操作符在部分特殊的使用场景下会起到更好的效果，通过下面的综合案例，感受它们与操作符“</a:t>
            </a:r>
            <a:r>
              <a:rPr lang="en-US" altLang="zh-CN" dirty="0">
                <a:latin typeface="+mn-lt"/>
                <a:ea typeface="+mn-ea"/>
                <a:cs typeface="+mn-ea"/>
                <a:sym typeface="Consolas" panose="020B0609020204030204" pitchFamily="49" charset="0"/>
              </a:rPr>
              <a:t>%&gt;%</a:t>
            </a:r>
            <a:r>
              <a:rPr lang="zh-CN" altLang="en-US" dirty="0">
                <a:latin typeface="+mn-lt"/>
                <a:ea typeface="+mn-ea"/>
                <a:cs typeface="+mn-ea"/>
                <a:sym typeface="Consolas" panose="020B0609020204030204" pitchFamily="49" charset="0"/>
              </a:rPr>
              <a:t>”的不同作用：</a:t>
            </a:r>
            <a:endParaRPr lang="en-US" altLang="zh-CN" dirty="0">
              <a:latin typeface="+mn-lt"/>
              <a:ea typeface="+mn-ea"/>
              <a:cs typeface="+mn-ea"/>
              <a:sym typeface="Consolas" panose="020B0609020204030204" pitchFamily="49" charset="0"/>
            </a:endParaRPr>
          </a:p>
        </p:txBody>
      </p:sp>
    </p:spTree>
    <p:extLst>
      <p:ext uri="{BB962C8B-B14F-4D97-AF65-F5344CB8AC3E}">
        <p14:creationId xmlns:p14="http://schemas.microsoft.com/office/powerpoint/2010/main" val="26742424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6A65D-E251-1444-AF8B-C09C02305E13}"/>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64F859A3-FAFE-3CEC-60CD-9FF3343F96C7}"/>
              </a:ext>
            </a:extLst>
          </p:cNvPr>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30</a:t>
            </a:fld>
            <a:endParaRPr lang="zh-CN" altLang="en-US">
              <a:solidFill>
                <a:schemeClr val="bg2">
                  <a:lumMod val="75000"/>
                </a:schemeClr>
              </a:solidFill>
              <a:sym typeface="Consolas" panose="020B0609020204030204" pitchFamily="49" charset="0"/>
            </a:endParaRPr>
          </a:p>
        </p:txBody>
      </p:sp>
      <p:sp>
        <p:nvSpPr>
          <p:cNvPr id="12" name="标题 9">
            <a:extLst>
              <a:ext uri="{FF2B5EF4-FFF2-40B4-BE49-F238E27FC236}">
                <a16:creationId xmlns:a16="http://schemas.microsoft.com/office/drawing/2014/main" id="{3196EE9D-114B-0C3C-1F09-3EBD49725A3C}"/>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2.4.3 </a:t>
            </a:r>
            <a:r>
              <a:rPr lang="zh-CN" altLang="en-US" sz="3600" dirty="0">
                <a:latin typeface="Times New Roman" panose="02020603050405020304" pitchFamily="18" charset="0"/>
                <a:cs typeface="Times New Roman" panose="02020603050405020304" pitchFamily="18" charset="0"/>
              </a:rPr>
              <a:t>数据连接</a:t>
            </a:r>
          </a:p>
        </p:txBody>
      </p:sp>
      <p:sp>
        <p:nvSpPr>
          <p:cNvPr id="5" name="文本框 4">
            <a:extLst>
              <a:ext uri="{FF2B5EF4-FFF2-40B4-BE49-F238E27FC236}">
                <a16:creationId xmlns:a16="http://schemas.microsoft.com/office/drawing/2014/main" id="{7EC12FE6-A46E-CC49-5DA4-FB0081998AC8}"/>
              </a:ext>
            </a:extLst>
          </p:cNvPr>
          <p:cNvSpPr txBox="1"/>
          <p:nvPr/>
        </p:nvSpPr>
        <p:spPr>
          <a:xfrm>
            <a:off x="1181100" y="3626298"/>
            <a:ext cx="6934200" cy="156966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df1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tibble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(x =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y = c(</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"b"</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df2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tibble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(x =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6</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y = c(</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combined_rows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bind_rows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(df1, df2)</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combined_rows</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combined_cols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bind_cols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(df1, df2)</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combined_cols</a:t>
            </a:r>
            <a:endParaRPr lang="zh-CN" altLang="zh-CN" sz="1600" dirty="0">
              <a:effectLst/>
              <a:latin typeface="Times New Roman" panose="02020603050405020304" pitchFamily="18" charset="0"/>
              <a:ea typeface="宋体" panose="02010600030101010101" pitchFamily="2" charset="-122"/>
            </a:endParaRPr>
          </a:p>
        </p:txBody>
      </p:sp>
      <p:sp>
        <p:nvSpPr>
          <p:cNvPr id="6" name="矩形 5">
            <a:extLst>
              <a:ext uri="{FF2B5EF4-FFF2-40B4-BE49-F238E27FC236}">
                <a16:creationId xmlns:a16="http://schemas.microsoft.com/office/drawing/2014/main" id="{9981B0FC-1409-F666-124C-9B4532B2A625}"/>
              </a:ext>
            </a:extLst>
          </p:cNvPr>
          <p:cNvSpPr/>
          <p:nvPr/>
        </p:nvSpPr>
        <p:spPr>
          <a:xfrm>
            <a:off x="457200" y="1409700"/>
            <a:ext cx="7581900" cy="825739"/>
          </a:xfrm>
          <a:prstGeom prst="rect">
            <a:avLst/>
          </a:prstGeom>
        </p:spPr>
        <p:txBody>
          <a:bodyPr wrap="square">
            <a:spAutoFit/>
          </a:bodyPr>
          <a:lstStyle/>
          <a:p>
            <a:pPr marL="285750" indent="457200" algn="just">
              <a:lnSpc>
                <a:spcPct val="140000"/>
              </a:lnSpc>
              <a:buFont typeface="Wingdings" panose="05000000000000000000" pitchFamily="2" charset="2"/>
              <a:buChar char="ü"/>
            </a:pPr>
            <a:r>
              <a:rPr lang="zh-CN" altLang="en-US" dirty="0">
                <a:latin typeface="+mn-lt"/>
                <a:ea typeface="+mn-ea"/>
                <a:cs typeface="+mn-ea"/>
                <a:sym typeface="Consolas" panose="020B0609020204030204" pitchFamily="49" charset="0"/>
              </a:rPr>
              <a:t>使用</a:t>
            </a:r>
            <a:r>
              <a:rPr lang="en-US" altLang="zh-CN" b="1" dirty="0" err="1">
                <a:latin typeface="+mn-lt"/>
                <a:ea typeface="+mn-ea"/>
                <a:cs typeface="+mn-ea"/>
                <a:sym typeface="Consolas" panose="020B0609020204030204" pitchFamily="49" charset="0"/>
              </a:rPr>
              <a:t>tidyverse</a:t>
            </a:r>
            <a:r>
              <a:rPr lang="zh-CN" altLang="en-US" dirty="0">
                <a:latin typeface="+mn-lt"/>
                <a:ea typeface="+mn-ea"/>
                <a:cs typeface="+mn-ea"/>
                <a:sym typeface="Consolas" panose="020B0609020204030204" pitchFamily="49" charset="0"/>
              </a:rPr>
              <a:t>函数包来处理数据连接、合并行列、根据值匹配合并数据框数据以及进行集合运算是一个非常有效的方式。</a:t>
            </a:r>
            <a:endParaRPr lang="en-US" altLang="zh-CN" dirty="0">
              <a:latin typeface="+mn-lt"/>
              <a:ea typeface="+mn-ea"/>
              <a:cs typeface="+mn-ea"/>
              <a:sym typeface="Consolas" panose="020B0609020204030204" pitchFamily="49" charset="0"/>
            </a:endParaRPr>
          </a:p>
        </p:txBody>
      </p:sp>
      <p:sp>
        <p:nvSpPr>
          <p:cNvPr id="2" name="矩形 1">
            <a:extLst>
              <a:ext uri="{FF2B5EF4-FFF2-40B4-BE49-F238E27FC236}">
                <a16:creationId xmlns:a16="http://schemas.microsoft.com/office/drawing/2014/main" id="{1C8BDC53-5182-3406-6126-AD587CE9D054}"/>
              </a:ext>
            </a:extLst>
          </p:cNvPr>
          <p:cNvSpPr/>
          <p:nvPr/>
        </p:nvSpPr>
        <p:spPr>
          <a:xfrm>
            <a:off x="457200" y="2324100"/>
            <a:ext cx="7581900" cy="1256626"/>
          </a:xfrm>
          <a:prstGeom prst="rect">
            <a:avLst/>
          </a:prstGeom>
        </p:spPr>
        <p:txBody>
          <a:bodyPr wrap="square">
            <a:spAutoFit/>
          </a:bodyPr>
          <a:lstStyle/>
          <a:p>
            <a:pPr marL="628650" indent="-342900" algn="just">
              <a:lnSpc>
                <a:spcPct val="140000"/>
              </a:lnSpc>
              <a:buAutoNum type="arabicParenBoth"/>
            </a:pPr>
            <a:r>
              <a:rPr lang="zh-CN" altLang="en-US" sz="2000" b="1" dirty="0">
                <a:latin typeface="+mn-lt"/>
                <a:ea typeface="+mn-ea"/>
                <a:cs typeface="+mn-ea"/>
                <a:sym typeface="Consolas" panose="020B0609020204030204" pitchFamily="49" charset="0"/>
              </a:rPr>
              <a:t>合并行与合并列</a:t>
            </a:r>
            <a:endParaRPr lang="en-US" altLang="zh-CN" sz="2000" b="1" dirty="0">
              <a:latin typeface="+mn-lt"/>
              <a:ea typeface="+mn-ea"/>
              <a:cs typeface="+mn-ea"/>
              <a:sym typeface="Consolas" panose="020B0609020204030204" pitchFamily="49" charset="0"/>
            </a:endParaRPr>
          </a:p>
          <a:p>
            <a:pPr marL="285750" indent="457200" algn="just">
              <a:lnSpc>
                <a:spcPct val="140000"/>
              </a:lnSpc>
            </a:pPr>
            <a:r>
              <a:rPr lang="en-US" altLang="zh-CN" sz="1800" b="1" dirty="0" err="1">
                <a:effectLst/>
                <a:latin typeface="+mn-lt"/>
                <a:ea typeface="+mn-ea"/>
              </a:rPr>
              <a:t>tidyverse</a:t>
            </a:r>
            <a:r>
              <a:rPr lang="zh-CN" altLang="en-US" sz="1800" dirty="0">
                <a:effectLst/>
                <a:latin typeface="+mn-lt"/>
                <a:ea typeface="+mn-ea"/>
              </a:rPr>
              <a:t>函数包中的</a:t>
            </a:r>
            <a:r>
              <a:rPr lang="en-US" altLang="zh-CN" sz="1800" b="1" i="1" dirty="0" err="1">
                <a:effectLst/>
                <a:latin typeface="+mn-lt"/>
                <a:ea typeface="+mn-ea"/>
              </a:rPr>
              <a:t>bind_rows</a:t>
            </a:r>
            <a:r>
              <a:rPr lang="en-US" altLang="zh-CN" sz="1800" b="1" i="1" dirty="0">
                <a:effectLst/>
                <a:latin typeface="+mn-lt"/>
                <a:ea typeface="+mn-ea"/>
              </a:rPr>
              <a:t>()</a:t>
            </a:r>
            <a:r>
              <a:rPr lang="zh-CN" altLang="zh-CN" sz="1800" dirty="0">
                <a:effectLst/>
                <a:latin typeface="+mn-lt"/>
                <a:ea typeface="+mn-ea"/>
                <a:cs typeface="Times New Roman" panose="02020603050405020304" pitchFamily="18" charset="0"/>
              </a:rPr>
              <a:t>和</a:t>
            </a:r>
            <a:r>
              <a:rPr lang="en-US" altLang="zh-CN" sz="1800" b="1" i="1" dirty="0" err="1">
                <a:effectLst/>
                <a:latin typeface="+mn-lt"/>
                <a:ea typeface="+mn-ea"/>
              </a:rPr>
              <a:t>bind_cols</a:t>
            </a:r>
            <a:r>
              <a:rPr lang="en-US" altLang="zh-CN" sz="1800" b="1" i="1" dirty="0">
                <a:effectLst/>
                <a:latin typeface="+mn-lt"/>
                <a:ea typeface="+mn-ea"/>
              </a:rPr>
              <a:t>()</a:t>
            </a:r>
            <a:r>
              <a:rPr lang="zh-CN" altLang="zh-CN" sz="1800" dirty="0">
                <a:effectLst/>
                <a:latin typeface="+mn-lt"/>
                <a:ea typeface="+mn-ea"/>
                <a:cs typeface="Times New Roman" panose="02020603050405020304" pitchFamily="18" charset="0"/>
              </a:rPr>
              <a:t>分别</a:t>
            </a:r>
            <a:r>
              <a:rPr lang="zh-CN" altLang="en-US" sz="1800" dirty="0">
                <a:effectLst/>
                <a:latin typeface="+mn-lt"/>
                <a:ea typeface="+mn-ea"/>
                <a:cs typeface="Times New Roman" panose="02020603050405020304" pitchFamily="18" charset="0"/>
              </a:rPr>
              <a:t>将</a:t>
            </a:r>
            <a:r>
              <a:rPr lang="zh-CN" altLang="zh-CN" sz="1800" dirty="0">
                <a:effectLst/>
                <a:latin typeface="+mn-lt"/>
                <a:ea typeface="+mn-ea"/>
                <a:cs typeface="Times New Roman" panose="02020603050405020304" pitchFamily="18" charset="0"/>
              </a:rPr>
              <a:t>数据框数据按照</a:t>
            </a:r>
            <a:r>
              <a:rPr lang="zh-CN" altLang="zh-CN" sz="1800" b="1" dirty="0">
                <a:effectLst/>
                <a:latin typeface="+mn-lt"/>
                <a:ea typeface="+mn-ea"/>
                <a:cs typeface="Times New Roman" panose="02020603050405020304" pitchFamily="18" charset="0"/>
              </a:rPr>
              <a:t>行和列</a:t>
            </a:r>
            <a:r>
              <a:rPr lang="zh-CN" altLang="zh-CN" sz="1800" dirty="0">
                <a:effectLst/>
                <a:latin typeface="+mn-lt"/>
                <a:ea typeface="+mn-ea"/>
                <a:cs typeface="Times New Roman" panose="02020603050405020304" pitchFamily="18" charset="0"/>
              </a:rPr>
              <a:t>进行合并</a:t>
            </a:r>
            <a:r>
              <a:rPr lang="zh-CN" altLang="en-US" dirty="0">
                <a:latin typeface="+mn-lt"/>
                <a:ea typeface="+mn-ea"/>
                <a:cs typeface="Times New Roman" panose="02020603050405020304" pitchFamily="18" charset="0"/>
              </a:rPr>
              <a:t>：</a:t>
            </a:r>
            <a:endParaRPr lang="en-US" altLang="zh-CN" dirty="0">
              <a:latin typeface="+mn-lt"/>
              <a:ea typeface="+mn-ea"/>
              <a:cs typeface="+mn-ea"/>
              <a:sym typeface="Consolas" panose="020B0609020204030204" pitchFamily="49" charset="0"/>
            </a:endParaRPr>
          </a:p>
        </p:txBody>
      </p:sp>
    </p:spTree>
    <p:extLst>
      <p:ext uri="{BB962C8B-B14F-4D97-AF65-F5344CB8AC3E}">
        <p14:creationId xmlns:p14="http://schemas.microsoft.com/office/powerpoint/2010/main" val="39638939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82ED3-2CB4-2C44-1F41-437C06ACBF34}"/>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9646E040-5581-DA22-D926-B0CE03549743}"/>
              </a:ext>
            </a:extLst>
          </p:cNvPr>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31</a:t>
            </a:fld>
            <a:endParaRPr lang="zh-CN" altLang="en-US">
              <a:solidFill>
                <a:schemeClr val="bg2">
                  <a:lumMod val="75000"/>
                </a:schemeClr>
              </a:solidFill>
              <a:sym typeface="Consolas" panose="020B0609020204030204" pitchFamily="49" charset="0"/>
            </a:endParaRPr>
          </a:p>
        </p:txBody>
      </p:sp>
      <p:sp>
        <p:nvSpPr>
          <p:cNvPr id="12" name="标题 9">
            <a:extLst>
              <a:ext uri="{FF2B5EF4-FFF2-40B4-BE49-F238E27FC236}">
                <a16:creationId xmlns:a16="http://schemas.microsoft.com/office/drawing/2014/main" id="{0043EF23-56C6-7F70-7F41-9D3E753F48A8}"/>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2.4.3 </a:t>
            </a:r>
            <a:r>
              <a:rPr lang="zh-CN" altLang="en-US" sz="3600" dirty="0">
                <a:latin typeface="Times New Roman" panose="02020603050405020304" pitchFamily="18" charset="0"/>
                <a:cs typeface="Times New Roman" panose="02020603050405020304" pitchFamily="18" charset="0"/>
              </a:rPr>
              <a:t>数据连接</a:t>
            </a:r>
          </a:p>
        </p:txBody>
      </p:sp>
      <p:sp>
        <p:nvSpPr>
          <p:cNvPr id="5" name="文本框 4">
            <a:extLst>
              <a:ext uri="{FF2B5EF4-FFF2-40B4-BE49-F238E27FC236}">
                <a16:creationId xmlns:a16="http://schemas.microsoft.com/office/drawing/2014/main" id="{BE1C1C4F-1F70-5016-9DE7-41193719DAEB}"/>
              </a:ext>
            </a:extLst>
          </p:cNvPr>
          <p:cNvSpPr txBox="1"/>
          <p:nvPr/>
        </p:nvSpPr>
        <p:spPr>
          <a:xfrm>
            <a:off x="1181100" y="3276600"/>
            <a:ext cx="6934200" cy="2554545"/>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employees_df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tibble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emp_id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103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emp_name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c(</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"Alice"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"Bob"</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"Charlie"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dept_id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marL="557530" indent="266700">
              <a:buNone/>
            </a:pPr>
            <a:r>
              <a:rPr lang="en-US" altLang="zh-CN" sz="1600" dirty="0">
                <a:solidFill>
                  <a:srgbClr val="8000FF"/>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600" dirty="0">
              <a:solidFill>
                <a:srgbClr val="8000FF"/>
              </a:solidFill>
              <a:effectLst/>
              <a:latin typeface="Consolas" panose="020B0609020204030204" pitchFamily="49" charset="0"/>
              <a:ea typeface="宋体" panose="02010600030101010101" pitchFamily="2" charset="-122"/>
              <a:cs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departments_df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tibble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dept_id</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dept_name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c(</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"HR"</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"Finance"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"IT"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
        <p:nvSpPr>
          <p:cNvPr id="2" name="矩形 1">
            <a:extLst>
              <a:ext uri="{FF2B5EF4-FFF2-40B4-BE49-F238E27FC236}">
                <a16:creationId xmlns:a16="http://schemas.microsoft.com/office/drawing/2014/main" id="{720D377E-3FBD-60B8-90AC-EA049AE9B61B}"/>
              </a:ext>
            </a:extLst>
          </p:cNvPr>
          <p:cNvSpPr/>
          <p:nvPr/>
        </p:nvSpPr>
        <p:spPr>
          <a:xfrm>
            <a:off x="457200" y="1257300"/>
            <a:ext cx="8039100" cy="2032223"/>
          </a:xfrm>
          <a:prstGeom prst="rect">
            <a:avLst/>
          </a:prstGeom>
        </p:spPr>
        <p:txBody>
          <a:bodyPr wrap="square">
            <a:spAutoFit/>
          </a:bodyPr>
          <a:lstStyle/>
          <a:p>
            <a:pPr marL="285750" algn="just">
              <a:lnSpc>
                <a:spcPct val="140000"/>
              </a:lnSpc>
            </a:pPr>
            <a:r>
              <a:rPr lang="en-US" altLang="zh-CN" sz="2000" b="1" dirty="0">
                <a:latin typeface="+mn-lt"/>
                <a:ea typeface="+mn-ea"/>
                <a:cs typeface="+mn-ea"/>
                <a:sym typeface="Consolas" panose="020B0609020204030204" pitchFamily="49" charset="0"/>
              </a:rPr>
              <a:t>(2) </a:t>
            </a:r>
            <a:r>
              <a:rPr lang="zh-CN" altLang="en-US" sz="2000" b="1" dirty="0">
                <a:latin typeface="+mn-lt"/>
                <a:ea typeface="+mn-ea"/>
                <a:cs typeface="+mn-ea"/>
                <a:sym typeface="Consolas" panose="020B0609020204030204" pitchFamily="49" charset="0"/>
              </a:rPr>
              <a:t>根据值匹配合并数据框</a:t>
            </a:r>
            <a:endParaRPr lang="en-US" altLang="zh-CN" sz="2000" b="1" dirty="0">
              <a:latin typeface="+mn-lt"/>
              <a:ea typeface="+mn-ea"/>
              <a:cs typeface="+mn-ea"/>
              <a:sym typeface="Consolas" panose="020B0609020204030204" pitchFamily="49" charset="0"/>
            </a:endParaRPr>
          </a:p>
          <a:p>
            <a:pPr marL="285750" indent="457200" algn="just">
              <a:lnSpc>
                <a:spcPct val="140000"/>
              </a:lnSpc>
            </a:pPr>
            <a:r>
              <a:rPr lang="en-US" altLang="zh-CN" sz="1800" b="1" dirty="0" err="1">
                <a:effectLst/>
                <a:latin typeface="+mn-lt"/>
                <a:ea typeface="+mn-ea"/>
              </a:rPr>
              <a:t>dplyr</a:t>
            </a:r>
            <a:r>
              <a:rPr lang="zh-CN" altLang="en-US" sz="1800" dirty="0">
                <a:effectLst/>
                <a:latin typeface="+mn-lt"/>
                <a:ea typeface="+mn-ea"/>
              </a:rPr>
              <a:t>函数包提供了多种不同类型的数据连接函数，包括</a:t>
            </a:r>
            <a:r>
              <a:rPr lang="zh-CN" altLang="en-US" sz="1800" b="1" dirty="0">
                <a:effectLst/>
                <a:latin typeface="+mn-lt"/>
                <a:ea typeface="+mn-ea"/>
              </a:rPr>
              <a:t>左连接、右连接、全连接、内连接、半连接和反连接</a:t>
            </a:r>
            <a:r>
              <a:rPr lang="zh-CN" altLang="en-US" sz="1800" dirty="0">
                <a:effectLst/>
                <a:latin typeface="+mn-lt"/>
                <a:ea typeface="+mn-ea"/>
              </a:rPr>
              <a:t>。首先创建两个包含多列和多行数据的数据框</a:t>
            </a:r>
            <a:r>
              <a:rPr lang="en-US" altLang="zh-CN" sz="1800" dirty="0" err="1">
                <a:effectLst/>
                <a:latin typeface="+mn-lt"/>
                <a:ea typeface="+mn-ea"/>
              </a:rPr>
              <a:t>employees_df</a:t>
            </a:r>
            <a:r>
              <a:rPr lang="zh-CN" altLang="en-US" sz="1800" dirty="0">
                <a:effectLst/>
                <a:latin typeface="+mn-lt"/>
                <a:ea typeface="+mn-ea"/>
              </a:rPr>
              <a:t>和</a:t>
            </a:r>
            <a:r>
              <a:rPr lang="en-US" altLang="zh-CN" sz="1800" dirty="0" err="1">
                <a:effectLst/>
                <a:latin typeface="+mn-lt"/>
                <a:ea typeface="+mn-ea"/>
              </a:rPr>
              <a:t>departments_df</a:t>
            </a:r>
            <a:r>
              <a:rPr lang="zh-CN" altLang="en-US" sz="1800" dirty="0">
                <a:effectLst/>
                <a:latin typeface="+mn-lt"/>
                <a:ea typeface="+mn-ea"/>
              </a:rPr>
              <a:t>，以更清晰地展示不同连接类型的效果：</a:t>
            </a:r>
            <a:endParaRPr lang="en-US" altLang="zh-CN" dirty="0">
              <a:latin typeface="+mn-lt"/>
              <a:ea typeface="+mn-ea"/>
              <a:cs typeface="+mn-ea"/>
              <a:sym typeface="Consolas" panose="020B0609020204030204" pitchFamily="49" charset="0"/>
            </a:endParaRPr>
          </a:p>
        </p:txBody>
      </p:sp>
    </p:spTree>
    <p:extLst>
      <p:ext uri="{BB962C8B-B14F-4D97-AF65-F5344CB8AC3E}">
        <p14:creationId xmlns:p14="http://schemas.microsoft.com/office/powerpoint/2010/main" val="37353411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635B7-F772-BF26-EC6A-400936C65AF9}"/>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0697E05E-06CB-07A7-2EA0-9B93A738F1D7}"/>
              </a:ext>
            </a:extLst>
          </p:cNvPr>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32</a:t>
            </a:fld>
            <a:endParaRPr lang="zh-CN" altLang="en-US">
              <a:solidFill>
                <a:schemeClr val="bg2">
                  <a:lumMod val="75000"/>
                </a:schemeClr>
              </a:solidFill>
              <a:sym typeface="Consolas" panose="020B0609020204030204" pitchFamily="49" charset="0"/>
            </a:endParaRPr>
          </a:p>
        </p:txBody>
      </p:sp>
      <p:sp>
        <p:nvSpPr>
          <p:cNvPr id="12" name="标题 9">
            <a:extLst>
              <a:ext uri="{FF2B5EF4-FFF2-40B4-BE49-F238E27FC236}">
                <a16:creationId xmlns:a16="http://schemas.microsoft.com/office/drawing/2014/main" id="{874CFD7E-7E4D-380F-4F57-0DC62F46A32E}"/>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2.4.3 </a:t>
            </a:r>
            <a:r>
              <a:rPr lang="zh-CN" altLang="en-US" sz="3600" dirty="0">
                <a:latin typeface="Times New Roman" panose="02020603050405020304" pitchFamily="18" charset="0"/>
                <a:cs typeface="Times New Roman" panose="02020603050405020304" pitchFamily="18" charset="0"/>
              </a:rPr>
              <a:t>数据连接</a:t>
            </a:r>
          </a:p>
        </p:txBody>
      </p:sp>
      <p:sp>
        <p:nvSpPr>
          <p:cNvPr id="5" name="文本框 4">
            <a:extLst>
              <a:ext uri="{FF2B5EF4-FFF2-40B4-BE49-F238E27FC236}">
                <a16:creationId xmlns:a16="http://schemas.microsoft.com/office/drawing/2014/main" id="{86E2AC38-F648-161F-BD16-5F94CAE0C491}"/>
              </a:ext>
            </a:extLst>
          </p:cNvPr>
          <p:cNvSpPr txBox="1"/>
          <p:nvPr/>
        </p:nvSpPr>
        <p:spPr>
          <a:xfrm>
            <a:off x="939800" y="2905780"/>
            <a:ext cx="8204200" cy="52322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left_join_df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left_join</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employees_df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departments_df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by = </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dept_id</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left_join_df</a:t>
            </a:r>
            <a:endParaRPr lang="zh-CN" altLang="zh-CN" sz="1400" dirty="0">
              <a:effectLst/>
              <a:latin typeface="Times New Roman" panose="02020603050405020304" pitchFamily="18" charset="0"/>
              <a:ea typeface="宋体" panose="02010600030101010101" pitchFamily="2" charset="-122"/>
            </a:endParaRPr>
          </a:p>
        </p:txBody>
      </p:sp>
      <p:sp>
        <p:nvSpPr>
          <p:cNvPr id="2" name="矩形 1">
            <a:extLst>
              <a:ext uri="{FF2B5EF4-FFF2-40B4-BE49-F238E27FC236}">
                <a16:creationId xmlns:a16="http://schemas.microsoft.com/office/drawing/2014/main" id="{862E7260-3789-18BB-84C2-36A42485830D}"/>
              </a:ext>
            </a:extLst>
          </p:cNvPr>
          <p:cNvSpPr/>
          <p:nvPr/>
        </p:nvSpPr>
        <p:spPr>
          <a:xfrm>
            <a:off x="457200" y="1257300"/>
            <a:ext cx="8039100" cy="1590564"/>
          </a:xfrm>
          <a:prstGeom prst="rect">
            <a:avLst/>
          </a:prstGeom>
        </p:spPr>
        <p:txBody>
          <a:bodyPr wrap="square">
            <a:spAutoFit/>
          </a:bodyPr>
          <a:lstStyle/>
          <a:p>
            <a:pPr marL="285750" algn="just">
              <a:lnSpc>
                <a:spcPct val="140000"/>
              </a:lnSpc>
            </a:pPr>
            <a:r>
              <a:rPr lang="en-US" altLang="zh-CN" sz="2000" b="1" dirty="0">
                <a:latin typeface="+mn-lt"/>
                <a:ea typeface="+mn-ea"/>
                <a:cs typeface="+mn-ea"/>
                <a:sym typeface="Consolas" panose="020B0609020204030204" pitchFamily="49" charset="0"/>
              </a:rPr>
              <a:t>(2) </a:t>
            </a:r>
            <a:r>
              <a:rPr lang="zh-CN" altLang="en-US" sz="2000" b="1" dirty="0">
                <a:latin typeface="+mn-lt"/>
                <a:ea typeface="+mn-ea"/>
                <a:cs typeface="+mn-ea"/>
                <a:sym typeface="Consolas" panose="020B0609020204030204" pitchFamily="49" charset="0"/>
              </a:rPr>
              <a:t>根据值匹配合并数据框</a:t>
            </a:r>
            <a:endParaRPr lang="en-US" altLang="zh-CN" sz="2000" b="1" dirty="0">
              <a:latin typeface="+mn-lt"/>
              <a:ea typeface="+mn-ea"/>
              <a:cs typeface="+mn-ea"/>
              <a:sym typeface="Consolas" panose="020B0609020204030204" pitchFamily="49" charset="0"/>
            </a:endParaRPr>
          </a:p>
          <a:p>
            <a:pPr marL="285750" algn="just">
              <a:lnSpc>
                <a:spcPct val="140000"/>
              </a:lnSpc>
            </a:pPr>
            <a:r>
              <a:rPr lang="zh-CN" altLang="en-US" sz="2000" b="1" dirty="0">
                <a:latin typeface="+mn-lt"/>
                <a:ea typeface="+mn-ea"/>
                <a:cs typeface="+mn-ea"/>
                <a:sym typeface="Consolas" panose="020B0609020204030204" pitchFamily="49" charset="0"/>
              </a:rPr>
              <a:t>① 左连接</a:t>
            </a:r>
            <a:r>
              <a:rPr lang="en-US" altLang="zh-CN" sz="2000" b="1" dirty="0">
                <a:latin typeface="+mn-lt"/>
                <a:ea typeface="+mn-ea"/>
                <a:cs typeface="+mn-ea"/>
                <a:sym typeface="Consolas" panose="020B0609020204030204" pitchFamily="49" charset="0"/>
              </a:rPr>
              <a:t>(Left Join)</a:t>
            </a:r>
          </a:p>
          <a:p>
            <a:pPr marL="285750" indent="457200" algn="just">
              <a:lnSpc>
                <a:spcPct val="120000"/>
              </a:lnSpc>
            </a:pPr>
            <a:r>
              <a:rPr lang="zh-CN" altLang="en-US" dirty="0">
                <a:latin typeface="+mn-lt"/>
                <a:ea typeface="+mn-ea"/>
                <a:cs typeface="+mn-ea"/>
                <a:sym typeface="Consolas" panose="020B0609020204030204" pitchFamily="49" charset="0"/>
              </a:rPr>
              <a:t>左连接将</a:t>
            </a:r>
            <a:r>
              <a:rPr lang="en-US" altLang="zh-CN" dirty="0" err="1">
                <a:latin typeface="+mn-lt"/>
                <a:ea typeface="+mn-ea"/>
                <a:cs typeface="+mn-ea"/>
                <a:sym typeface="Consolas" panose="020B0609020204030204" pitchFamily="49" charset="0"/>
              </a:rPr>
              <a:t>employees_df</a:t>
            </a:r>
            <a:r>
              <a:rPr lang="zh-CN" altLang="en-US" dirty="0">
                <a:latin typeface="+mn-lt"/>
                <a:ea typeface="+mn-ea"/>
                <a:cs typeface="+mn-ea"/>
                <a:sym typeface="Consolas" panose="020B0609020204030204" pitchFamily="49" charset="0"/>
              </a:rPr>
              <a:t>中的行与</a:t>
            </a:r>
            <a:r>
              <a:rPr lang="en-US" altLang="zh-CN" dirty="0" err="1">
                <a:latin typeface="+mn-lt"/>
                <a:ea typeface="+mn-ea"/>
                <a:cs typeface="+mn-ea"/>
                <a:sym typeface="Consolas" panose="020B0609020204030204" pitchFamily="49" charset="0"/>
              </a:rPr>
              <a:t>departments_df</a:t>
            </a:r>
            <a:r>
              <a:rPr lang="zh-CN" altLang="en-US" dirty="0">
                <a:latin typeface="+mn-lt"/>
                <a:ea typeface="+mn-ea"/>
                <a:cs typeface="+mn-ea"/>
                <a:sym typeface="Consolas" panose="020B0609020204030204" pitchFamily="49" charset="0"/>
              </a:rPr>
              <a:t>中匹配的行合并起来。如果</a:t>
            </a:r>
            <a:r>
              <a:rPr lang="en-US" altLang="zh-CN" dirty="0" err="1">
                <a:latin typeface="+mn-lt"/>
                <a:ea typeface="+mn-ea"/>
                <a:cs typeface="+mn-ea"/>
                <a:sym typeface="Consolas" panose="020B0609020204030204" pitchFamily="49" charset="0"/>
              </a:rPr>
              <a:t>departments_df</a:t>
            </a:r>
            <a:r>
              <a:rPr lang="zh-CN" altLang="en-US" dirty="0">
                <a:latin typeface="+mn-lt"/>
                <a:ea typeface="+mn-ea"/>
                <a:cs typeface="+mn-ea"/>
                <a:sym typeface="Consolas" panose="020B0609020204030204" pitchFamily="49" charset="0"/>
              </a:rPr>
              <a:t>中没有匹配的行，则结果中将显示</a:t>
            </a:r>
            <a:r>
              <a:rPr lang="en-US" altLang="zh-CN" dirty="0">
                <a:latin typeface="+mn-lt"/>
                <a:ea typeface="+mn-ea"/>
                <a:cs typeface="+mn-ea"/>
                <a:sym typeface="Consolas" panose="020B0609020204030204" pitchFamily="49" charset="0"/>
              </a:rPr>
              <a:t>NA</a:t>
            </a:r>
            <a:r>
              <a:rPr lang="zh-CN" altLang="en-US" dirty="0">
                <a:latin typeface="+mn-lt"/>
                <a:ea typeface="+mn-ea"/>
                <a:cs typeface="+mn-ea"/>
                <a:sym typeface="Consolas" panose="020B0609020204030204" pitchFamily="49" charset="0"/>
              </a:rPr>
              <a:t>。</a:t>
            </a:r>
            <a:endParaRPr lang="en-US" altLang="zh-CN" dirty="0">
              <a:latin typeface="+mn-lt"/>
              <a:ea typeface="+mn-ea"/>
              <a:cs typeface="+mn-ea"/>
              <a:sym typeface="Consolas" panose="020B0609020204030204" pitchFamily="49" charset="0"/>
            </a:endParaRPr>
          </a:p>
        </p:txBody>
      </p:sp>
      <p:sp>
        <p:nvSpPr>
          <p:cNvPr id="3" name="矩形 2">
            <a:extLst>
              <a:ext uri="{FF2B5EF4-FFF2-40B4-BE49-F238E27FC236}">
                <a16:creationId xmlns:a16="http://schemas.microsoft.com/office/drawing/2014/main" id="{CDAF498E-E330-1431-A324-01981E02EB4F}"/>
              </a:ext>
            </a:extLst>
          </p:cNvPr>
          <p:cNvSpPr/>
          <p:nvPr/>
        </p:nvSpPr>
        <p:spPr>
          <a:xfrm>
            <a:off x="457200" y="3678990"/>
            <a:ext cx="8039100" cy="1159676"/>
          </a:xfrm>
          <a:prstGeom prst="rect">
            <a:avLst/>
          </a:prstGeom>
        </p:spPr>
        <p:txBody>
          <a:bodyPr wrap="square">
            <a:spAutoFit/>
          </a:bodyPr>
          <a:lstStyle/>
          <a:p>
            <a:pPr marL="285750" algn="just">
              <a:lnSpc>
                <a:spcPct val="140000"/>
              </a:lnSpc>
            </a:pPr>
            <a:r>
              <a:rPr lang="zh-CN" altLang="en-US" sz="2000" b="1" dirty="0">
                <a:latin typeface="+mn-lt"/>
                <a:ea typeface="+mn-ea"/>
                <a:cs typeface="+mn-ea"/>
                <a:sym typeface="Consolas" panose="020B0609020204030204" pitchFamily="49" charset="0"/>
              </a:rPr>
              <a:t>② 右连接</a:t>
            </a:r>
            <a:r>
              <a:rPr lang="en-US" altLang="zh-CN" sz="2000" b="1" dirty="0">
                <a:latin typeface="+mn-lt"/>
                <a:ea typeface="+mn-ea"/>
                <a:cs typeface="+mn-ea"/>
                <a:sym typeface="Consolas" panose="020B0609020204030204" pitchFamily="49" charset="0"/>
              </a:rPr>
              <a:t>(Right Join)</a:t>
            </a:r>
          </a:p>
          <a:p>
            <a:pPr marL="285750" indent="457200" algn="just">
              <a:lnSpc>
                <a:spcPct val="120000"/>
              </a:lnSpc>
            </a:pPr>
            <a:r>
              <a:rPr lang="zh-CN" altLang="en-US" dirty="0">
                <a:latin typeface="+mn-lt"/>
                <a:ea typeface="+mn-ea"/>
                <a:cs typeface="+mn-ea"/>
                <a:sym typeface="Consolas" panose="020B0609020204030204" pitchFamily="49" charset="0"/>
              </a:rPr>
              <a:t>右连接与左连接相反，它将保留</a:t>
            </a:r>
            <a:r>
              <a:rPr lang="en-US" altLang="zh-CN" dirty="0" err="1">
                <a:latin typeface="+mn-lt"/>
                <a:ea typeface="+mn-ea"/>
                <a:cs typeface="+mn-ea"/>
                <a:sym typeface="Consolas" panose="020B0609020204030204" pitchFamily="49" charset="0"/>
              </a:rPr>
              <a:t>departments_df</a:t>
            </a:r>
            <a:r>
              <a:rPr lang="zh-CN" altLang="en-US" dirty="0">
                <a:latin typeface="+mn-lt"/>
                <a:ea typeface="+mn-ea"/>
                <a:cs typeface="+mn-ea"/>
                <a:sym typeface="Consolas" panose="020B0609020204030204" pitchFamily="49" charset="0"/>
              </a:rPr>
              <a:t>中的所有行，并将</a:t>
            </a:r>
            <a:r>
              <a:rPr lang="en-US" altLang="zh-CN" dirty="0" err="1">
                <a:latin typeface="+mn-lt"/>
                <a:ea typeface="+mn-ea"/>
                <a:cs typeface="+mn-ea"/>
                <a:sym typeface="Consolas" panose="020B0609020204030204" pitchFamily="49" charset="0"/>
              </a:rPr>
              <a:t>employees_df</a:t>
            </a:r>
            <a:r>
              <a:rPr lang="zh-CN" altLang="en-US" dirty="0">
                <a:latin typeface="+mn-lt"/>
                <a:ea typeface="+mn-ea"/>
                <a:cs typeface="+mn-ea"/>
                <a:sym typeface="Consolas" panose="020B0609020204030204" pitchFamily="49" charset="0"/>
              </a:rPr>
              <a:t>中的匹配行添加进来。</a:t>
            </a:r>
            <a:endParaRPr lang="en-US" altLang="zh-CN" dirty="0">
              <a:latin typeface="+mn-lt"/>
              <a:ea typeface="+mn-ea"/>
              <a:cs typeface="+mn-ea"/>
              <a:sym typeface="Consolas" panose="020B0609020204030204" pitchFamily="49" charset="0"/>
            </a:endParaRPr>
          </a:p>
        </p:txBody>
      </p:sp>
      <p:sp>
        <p:nvSpPr>
          <p:cNvPr id="6" name="文本框 5">
            <a:extLst>
              <a:ext uri="{FF2B5EF4-FFF2-40B4-BE49-F238E27FC236}">
                <a16:creationId xmlns:a16="http://schemas.microsoft.com/office/drawing/2014/main" id="{878D6D18-0267-7F44-07F6-9E2338DB1A03}"/>
              </a:ext>
            </a:extLst>
          </p:cNvPr>
          <p:cNvSpPr txBox="1"/>
          <p:nvPr/>
        </p:nvSpPr>
        <p:spPr>
          <a:xfrm>
            <a:off x="939800" y="4898741"/>
            <a:ext cx="8204200" cy="52322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right_join_df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right_join</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employees_df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departments_df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by = </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dept_id</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right_join_df</a:t>
            </a:r>
            <a:endParaRPr lang="zh-CN" altLang="zh-CN" sz="14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4661415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087DD-0948-E6FD-E117-006EF0E2C197}"/>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257936A9-68E0-82D3-C277-FE4E68FF42C7}"/>
              </a:ext>
            </a:extLst>
          </p:cNvPr>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33</a:t>
            </a:fld>
            <a:endParaRPr lang="zh-CN" altLang="en-US">
              <a:solidFill>
                <a:schemeClr val="bg2">
                  <a:lumMod val="75000"/>
                </a:schemeClr>
              </a:solidFill>
              <a:sym typeface="Consolas" panose="020B0609020204030204" pitchFamily="49" charset="0"/>
            </a:endParaRPr>
          </a:p>
        </p:txBody>
      </p:sp>
      <p:sp>
        <p:nvSpPr>
          <p:cNvPr id="12" name="标题 9">
            <a:extLst>
              <a:ext uri="{FF2B5EF4-FFF2-40B4-BE49-F238E27FC236}">
                <a16:creationId xmlns:a16="http://schemas.microsoft.com/office/drawing/2014/main" id="{7F558DC7-A435-B3A3-3D4C-2155FC4FFA1C}"/>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2.4.3 </a:t>
            </a:r>
            <a:r>
              <a:rPr lang="zh-CN" altLang="en-US" sz="3600" dirty="0">
                <a:latin typeface="Times New Roman" panose="02020603050405020304" pitchFamily="18" charset="0"/>
                <a:cs typeface="Times New Roman" panose="02020603050405020304" pitchFamily="18" charset="0"/>
              </a:rPr>
              <a:t>数据连接</a:t>
            </a:r>
          </a:p>
        </p:txBody>
      </p:sp>
      <p:sp>
        <p:nvSpPr>
          <p:cNvPr id="5" name="文本框 4">
            <a:extLst>
              <a:ext uri="{FF2B5EF4-FFF2-40B4-BE49-F238E27FC236}">
                <a16:creationId xmlns:a16="http://schemas.microsoft.com/office/drawing/2014/main" id="{C17D4C9C-1EA0-47F3-E00C-86EE11F5386C}"/>
              </a:ext>
            </a:extLst>
          </p:cNvPr>
          <p:cNvSpPr txBox="1"/>
          <p:nvPr/>
        </p:nvSpPr>
        <p:spPr>
          <a:xfrm>
            <a:off x="939800" y="2905780"/>
            <a:ext cx="8204200" cy="52322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full_join_df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full_join</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employees_df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departments_df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by = </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dept_id</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full_join_df</a:t>
            </a:r>
            <a:endParaRPr lang="zh-CN" altLang="zh-CN" sz="1400" dirty="0">
              <a:effectLst/>
              <a:latin typeface="Times New Roman" panose="02020603050405020304" pitchFamily="18" charset="0"/>
              <a:ea typeface="宋体" panose="02010600030101010101" pitchFamily="2" charset="-122"/>
            </a:endParaRPr>
          </a:p>
        </p:txBody>
      </p:sp>
      <p:sp>
        <p:nvSpPr>
          <p:cNvPr id="2" name="矩形 1">
            <a:extLst>
              <a:ext uri="{FF2B5EF4-FFF2-40B4-BE49-F238E27FC236}">
                <a16:creationId xmlns:a16="http://schemas.microsoft.com/office/drawing/2014/main" id="{7B72D20D-04A1-8F6C-218C-1921E5A02BE0}"/>
              </a:ext>
            </a:extLst>
          </p:cNvPr>
          <p:cNvSpPr/>
          <p:nvPr/>
        </p:nvSpPr>
        <p:spPr>
          <a:xfrm>
            <a:off x="457200" y="1257300"/>
            <a:ext cx="8039100" cy="1590564"/>
          </a:xfrm>
          <a:prstGeom prst="rect">
            <a:avLst/>
          </a:prstGeom>
        </p:spPr>
        <p:txBody>
          <a:bodyPr wrap="square">
            <a:spAutoFit/>
          </a:bodyPr>
          <a:lstStyle/>
          <a:p>
            <a:pPr marL="285750" algn="just">
              <a:lnSpc>
                <a:spcPct val="140000"/>
              </a:lnSpc>
            </a:pPr>
            <a:r>
              <a:rPr lang="en-US" altLang="zh-CN" sz="2000" b="1" dirty="0">
                <a:latin typeface="+mn-lt"/>
                <a:ea typeface="+mn-ea"/>
                <a:cs typeface="+mn-ea"/>
                <a:sym typeface="Consolas" panose="020B0609020204030204" pitchFamily="49" charset="0"/>
              </a:rPr>
              <a:t>(2) </a:t>
            </a:r>
            <a:r>
              <a:rPr lang="zh-CN" altLang="en-US" sz="2000" b="1" dirty="0">
                <a:latin typeface="+mn-lt"/>
                <a:ea typeface="+mn-ea"/>
                <a:cs typeface="+mn-ea"/>
                <a:sym typeface="Consolas" panose="020B0609020204030204" pitchFamily="49" charset="0"/>
              </a:rPr>
              <a:t>根据值匹配合并数据框</a:t>
            </a:r>
            <a:endParaRPr lang="en-US" altLang="zh-CN" sz="2000" b="1" dirty="0">
              <a:latin typeface="+mn-lt"/>
              <a:ea typeface="+mn-ea"/>
              <a:cs typeface="+mn-ea"/>
              <a:sym typeface="Consolas" panose="020B0609020204030204" pitchFamily="49" charset="0"/>
            </a:endParaRPr>
          </a:p>
          <a:p>
            <a:pPr marL="285750" algn="just">
              <a:lnSpc>
                <a:spcPct val="140000"/>
              </a:lnSpc>
            </a:pPr>
            <a:r>
              <a:rPr lang="zh-CN" altLang="en-US" sz="2000" b="1" dirty="0">
                <a:latin typeface="+mn-lt"/>
                <a:ea typeface="+mn-ea"/>
                <a:cs typeface="+mn-ea"/>
                <a:sym typeface="Consolas" panose="020B0609020204030204" pitchFamily="49" charset="0"/>
              </a:rPr>
              <a:t>③ 全连接</a:t>
            </a:r>
            <a:r>
              <a:rPr lang="en-US" altLang="zh-CN" sz="2000" b="1" dirty="0">
                <a:latin typeface="+mn-lt"/>
                <a:ea typeface="+mn-ea"/>
                <a:cs typeface="+mn-ea"/>
                <a:sym typeface="Consolas" panose="020B0609020204030204" pitchFamily="49" charset="0"/>
              </a:rPr>
              <a:t>(Full Join)</a:t>
            </a:r>
          </a:p>
          <a:p>
            <a:pPr marL="285750" indent="457200" algn="just">
              <a:lnSpc>
                <a:spcPct val="120000"/>
              </a:lnSpc>
            </a:pPr>
            <a:r>
              <a:rPr lang="zh-CN" altLang="en-US" dirty="0">
                <a:latin typeface="+mn-lt"/>
                <a:ea typeface="+mn-ea"/>
                <a:cs typeface="+mn-ea"/>
                <a:sym typeface="Consolas" panose="020B0609020204030204" pitchFamily="49" charset="0"/>
              </a:rPr>
              <a:t>全连接将合并</a:t>
            </a:r>
            <a:r>
              <a:rPr lang="en-US" altLang="zh-CN" dirty="0" err="1">
                <a:latin typeface="+mn-lt"/>
                <a:ea typeface="+mn-ea"/>
                <a:cs typeface="+mn-ea"/>
                <a:sym typeface="Consolas" panose="020B0609020204030204" pitchFamily="49" charset="0"/>
              </a:rPr>
              <a:t>employees_df</a:t>
            </a:r>
            <a:r>
              <a:rPr lang="zh-CN" altLang="en-US" dirty="0">
                <a:latin typeface="+mn-lt"/>
                <a:ea typeface="+mn-ea"/>
                <a:cs typeface="+mn-ea"/>
                <a:sym typeface="Consolas" panose="020B0609020204030204" pitchFamily="49" charset="0"/>
              </a:rPr>
              <a:t>和</a:t>
            </a:r>
            <a:r>
              <a:rPr lang="en-US" altLang="zh-CN" dirty="0" err="1">
                <a:latin typeface="+mn-lt"/>
                <a:ea typeface="+mn-ea"/>
                <a:cs typeface="+mn-ea"/>
                <a:sym typeface="Consolas" panose="020B0609020204030204" pitchFamily="49" charset="0"/>
              </a:rPr>
              <a:t>departments_df</a:t>
            </a:r>
            <a:r>
              <a:rPr lang="zh-CN" altLang="en-US" dirty="0">
                <a:latin typeface="+mn-lt"/>
                <a:ea typeface="+mn-ea"/>
                <a:cs typeface="+mn-ea"/>
                <a:sym typeface="Consolas" panose="020B0609020204030204" pitchFamily="49" charset="0"/>
              </a:rPr>
              <a:t>中的所有行。如果某一侧没有匹配行，则对应的列将显示</a:t>
            </a:r>
            <a:r>
              <a:rPr lang="en-US" altLang="zh-CN" dirty="0">
                <a:latin typeface="+mn-lt"/>
                <a:ea typeface="+mn-ea"/>
                <a:cs typeface="+mn-ea"/>
                <a:sym typeface="Consolas" panose="020B0609020204030204" pitchFamily="49" charset="0"/>
              </a:rPr>
              <a:t>NA</a:t>
            </a:r>
            <a:r>
              <a:rPr lang="zh-CN" altLang="en-US" dirty="0">
                <a:latin typeface="+mn-lt"/>
                <a:ea typeface="+mn-ea"/>
                <a:cs typeface="+mn-ea"/>
                <a:sym typeface="Consolas" panose="020B0609020204030204" pitchFamily="49" charset="0"/>
              </a:rPr>
              <a:t>。</a:t>
            </a:r>
            <a:endParaRPr lang="en-US" altLang="zh-CN" dirty="0">
              <a:latin typeface="+mn-lt"/>
              <a:ea typeface="+mn-ea"/>
              <a:cs typeface="+mn-ea"/>
              <a:sym typeface="Consolas" panose="020B0609020204030204" pitchFamily="49" charset="0"/>
            </a:endParaRPr>
          </a:p>
        </p:txBody>
      </p:sp>
      <p:sp>
        <p:nvSpPr>
          <p:cNvPr id="3" name="矩形 2">
            <a:extLst>
              <a:ext uri="{FF2B5EF4-FFF2-40B4-BE49-F238E27FC236}">
                <a16:creationId xmlns:a16="http://schemas.microsoft.com/office/drawing/2014/main" id="{B6ED3FA7-8D9A-00DC-60E8-2F9CE65C69DD}"/>
              </a:ext>
            </a:extLst>
          </p:cNvPr>
          <p:cNvSpPr/>
          <p:nvPr/>
        </p:nvSpPr>
        <p:spPr>
          <a:xfrm>
            <a:off x="457200" y="3678990"/>
            <a:ext cx="8039100" cy="827278"/>
          </a:xfrm>
          <a:prstGeom prst="rect">
            <a:avLst/>
          </a:prstGeom>
        </p:spPr>
        <p:txBody>
          <a:bodyPr wrap="square">
            <a:spAutoFit/>
          </a:bodyPr>
          <a:lstStyle/>
          <a:p>
            <a:pPr marL="285750" algn="just">
              <a:lnSpc>
                <a:spcPct val="140000"/>
              </a:lnSpc>
            </a:pPr>
            <a:r>
              <a:rPr lang="zh-CN" altLang="en-US" sz="2000" b="1" dirty="0">
                <a:latin typeface="+mn-lt"/>
                <a:ea typeface="+mn-ea"/>
                <a:cs typeface="+mn-ea"/>
                <a:sym typeface="Consolas" panose="020B0609020204030204" pitchFamily="49" charset="0"/>
              </a:rPr>
              <a:t>④ 内连接</a:t>
            </a:r>
            <a:r>
              <a:rPr lang="en-US" altLang="zh-CN" sz="2000" b="1" dirty="0">
                <a:latin typeface="+mn-lt"/>
                <a:ea typeface="+mn-ea"/>
                <a:cs typeface="+mn-ea"/>
                <a:sym typeface="Consolas" panose="020B0609020204030204" pitchFamily="49" charset="0"/>
              </a:rPr>
              <a:t>(Inner Join)</a:t>
            </a:r>
          </a:p>
          <a:p>
            <a:pPr marL="285750" indent="457200" algn="just">
              <a:lnSpc>
                <a:spcPct val="120000"/>
              </a:lnSpc>
            </a:pPr>
            <a:r>
              <a:rPr lang="zh-CN" altLang="en-US" dirty="0">
                <a:latin typeface="+mn-lt"/>
                <a:ea typeface="+mn-ea"/>
                <a:cs typeface="+mn-ea"/>
                <a:sym typeface="Consolas" panose="020B0609020204030204" pitchFamily="49" charset="0"/>
              </a:rPr>
              <a:t>内连接只会合并两个数据框中都有的行。</a:t>
            </a:r>
            <a:endParaRPr lang="en-US" altLang="zh-CN" dirty="0">
              <a:latin typeface="+mn-lt"/>
              <a:ea typeface="+mn-ea"/>
              <a:cs typeface="+mn-ea"/>
              <a:sym typeface="Consolas" panose="020B0609020204030204" pitchFamily="49" charset="0"/>
            </a:endParaRPr>
          </a:p>
        </p:txBody>
      </p:sp>
      <p:sp>
        <p:nvSpPr>
          <p:cNvPr id="6" name="文本框 5">
            <a:extLst>
              <a:ext uri="{FF2B5EF4-FFF2-40B4-BE49-F238E27FC236}">
                <a16:creationId xmlns:a16="http://schemas.microsoft.com/office/drawing/2014/main" id="{A74AD8A0-C41D-8D53-D11D-06F49AE1983F}"/>
              </a:ext>
            </a:extLst>
          </p:cNvPr>
          <p:cNvSpPr txBox="1"/>
          <p:nvPr/>
        </p:nvSpPr>
        <p:spPr>
          <a:xfrm>
            <a:off x="939800" y="4506268"/>
            <a:ext cx="8204200" cy="52322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inner_join_df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inner_join</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employees_df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departments_df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by = </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dept_id</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inner_join_df</a:t>
            </a:r>
            <a:endParaRPr lang="zh-CN" altLang="zh-CN" sz="14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7299634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035AE-1195-3C17-CA31-0A54AA067202}"/>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6B77A321-C90F-CE5F-0670-24F617E830FC}"/>
              </a:ext>
            </a:extLst>
          </p:cNvPr>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34</a:t>
            </a:fld>
            <a:endParaRPr lang="zh-CN" altLang="en-US">
              <a:solidFill>
                <a:schemeClr val="bg2">
                  <a:lumMod val="75000"/>
                </a:schemeClr>
              </a:solidFill>
              <a:sym typeface="Consolas" panose="020B0609020204030204" pitchFamily="49" charset="0"/>
            </a:endParaRPr>
          </a:p>
        </p:txBody>
      </p:sp>
      <p:sp>
        <p:nvSpPr>
          <p:cNvPr id="12" name="标题 9">
            <a:extLst>
              <a:ext uri="{FF2B5EF4-FFF2-40B4-BE49-F238E27FC236}">
                <a16:creationId xmlns:a16="http://schemas.microsoft.com/office/drawing/2014/main" id="{4E99E6F8-40B5-FA34-796E-4E0FFEB43990}"/>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2.4.3 </a:t>
            </a:r>
            <a:r>
              <a:rPr lang="zh-CN" altLang="en-US" sz="3600" dirty="0">
                <a:latin typeface="Times New Roman" panose="02020603050405020304" pitchFamily="18" charset="0"/>
                <a:cs typeface="Times New Roman" panose="02020603050405020304" pitchFamily="18" charset="0"/>
              </a:rPr>
              <a:t>数据连接</a:t>
            </a:r>
          </a:p>
        </p:txBody>
      </p:sp>
      <p:sp>
        <p:nvSpPr>
          <p:cNvPr id="5" name="文本框 4">
            <a:extLst>
              <a:ext uri="{FF2B5EF4-FFF2-40B4-BE49-F238E27FC236}">
                <a16:creationId xmlns:a16="http://schemas.microsoft.com/office/drawing/2014/main" id="{109B01F6-B47E-901F-55C6-60BED6487BA4}"/>
              </a:ext>
            </a:extLst>
          </p:cNvPr>
          <p:cNvSpPr txBox="1"/>
          <p:nvPr/>
        </p:nvSpPr>
        <p:spPr>
          <a:xfrm>
            <a:off x="939800" y="2905780"/>
            <a:ext cx="8204200" cy="52322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semi_join_df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semi_join</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employees_df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departments_df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by = </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dept_id</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semi_join_df</a:t>
            </a:r>
            <a:endParaRPr lang="zh-CN" altLang="zh-CN" sz="1400" dirty="0">
              <a:effectLst/>
              <a:latin typeface="Times New Roman" panose="02020603050405020304" pitchFamily="18" charset="0"/>
              <a:ea typeface="宋体" panose="02010600030101010101" pitchFamily="2" charset="-122"/>
            </a:endParaRPr>
          </a:p>
        </p:txBody>
      </p:sp>
      <p:sp>
        <p:nvSpPr>
          <p:cNvPr id="2" name="矩形 1">
            <a:extLst>
              <a:ext uri="{FF2B5EF4-FFF2-40B4-BE49-F238E27FC236}">
                <a16:creationId xmlns:a16="http://schemas.microsoft.com/office/drawing/2014/main" id="{106ADC49-8041-20C7-83F3-09EE250D3899}"/>
              </a:ext>
            </a:extLst>
          </p:cNvPr>
          <p:cNvSpPr/>
          <p:nvPr/>
        </p:nvSpPr>
        <p:spPr>
          <a:xfrm>
            <a:off x="457200" y="1257300"/>
            <a:ext cx="8039100" cy="1590564"/>
          </a:xfrm>
          <a:prstGeom prst="rect">
            <a:avLst/>
          </a:prstGeom>
        </p:spPr>
        <p:txBody>
          <a:bodyPr wrap="square">
            <a:spAutoFit/>
          </a:bodyPr>
          <a:lstStyle/>
          <a:p>
            <a:pPr marL="285750" algn="just">
              <a:lnSpc>
                <a:spcPct val="140000"/>
              </a:lnSpc>
            </a:pPr>
            <a:r>
              <a:rPr lang="en-US" altLang="zh-CN" sz="2000" b="1" dirty="0">
                <a:latin typeface="+mn-lt"/>
                <a:ea typeface="+mn-ea"/>
                <a:cs typeface="+mn-ea"/>
                <a:sym typeface="Consolas" panose="020B0609020204030204" pitchFamily="49" charset="0"/>
              </a:rPr>
              <a:t>(2) </a:t>
            </a:r>
            <a:r>
              <a:rPr lang="zh-CN" altLang="en-US" sz="2000" b="1" dirty="0">
                <a:latin typeface="+mn-lt"/>
                <a:ea typeface="+mn-ea"/>
                <a:cs typeface="+mn-ea"/>
                <a:sym typeface="Consolas" panose="020B0609020204030204" pitchFamily="49" charset="0"/>
              </a:rPr>
              <a:t>根据值匹配合并数据框</a:t>
            </a:r>
            <a:endParaRPr lang="en-US" altLang="zh-CN" sz="2000" b="1" dirty="0">
              <a:latin typeface="+mn-lt"/>
              <a:ea typeface="+mn-ea"/>
              <a:cs typeface="+mn-ea"/>
              <a:sym typeface="Consolas" panose="020B0609020204030204" pitchFamily="49" charset="0"/>
            </a:endParaRPr>
          </a:p>
          <a:p>
            <a:pPr marL="285750" algn="just">
              <a:lnSpc>
                <a:spcPct val="140000"/>
              </a:lnSpc>
            </a:pPr>
            <a:r>
              <a:rPr lang="zh-CN" altLang="en-US" sz="2000" b="1" dirty="0">
                <a:latin typeface="+mn-lt"/>
                <a:ea typeface="+mn-ea"/>
                <a:cs typeface="+mn-ea"/>
                <a:sym typeface="Consolas" panose="020B0609020204030204" pitchFamily="49" charset="0"/>
              </a:rPr>
              <a:t>⑤ 半连接</a:t>
            </a:r>
            <a:r>
              <a:rPr lang="en-US" altLang="zh-CN" sz="2000" b="1" dirty="0">
                <a:latin typeface="+mn-lt"/>
                <a:ea typeface="+mn-ea"/>
                <a:cs typeface="+mn-ea"/>
                <a:sym typeface="Consolas" panose="020B0609020204030204" pitchFamily="49" charset="0"/>
              </a:rPr>
              <a:t>(Semi Join)</a:t>
            </a:r>
          </a:p>
          <a:p>
            <a:pPr marL="285750" indent="457200" algn="just">
              <a:lnSpc>
                <a:spcPct val="120000"/>
              </a:lnSpc>
            </a:pPr>
            <a:r>
              <a:rPr lang="zh-CN" altLang="en-US" dirty="0">
                <a:latin typeface="+mn-lt"/>
                <a:ea typeface="+mn-ea"/>
                <a:cs typeface="+mn-ea"/>
                <a:sym typeface="Consolas" panose="020B0609020204030204" pitchFamily="49" charset="0"/>
              </a:rPr>
              <a:t>半连接返回</a:t>
            </a:r>
            <a:r>
              <a:rPr lang="en-US" altLang="zh-CN" dirty="0" err="1">
                <a:latin typeface="+mn-lt"/>
                <a:ea typeface="+mn-ea"/>
                <a:cs typeface="+mn-ea"/>
                <a:sym typeface="Consolas" panose="020B0609020204030204" pitchFamily="49" charset="0"/>
              </a:rPr>
              <a:t>employees_df</a:t>
            </a:r>
            <a:r>
              <a:rPr lang="zh-CN" altLang="en-US" dirty="0">
                <a:latin typeface="+mn-lt"/>
                <a:ea typeface="+mn-ea"/>
                <a:cs typeface="+mn-ea"/>
                <a:sym typeface="Consolas" panose="020B0609020204030204" pitchFamily="49" charset="0"/>
              </a:rPr>
              <a:t>中有对应</a:t>
            </a:r>
            <a:r>
              <a:rPr lang="en-US" altLang="zh-CN" dirty="0" err="1">
                <a:latin typeface="+mn-lt"/>
                <a:ea typeface="+mn-ea"/>
                <a:cs typeface="+mn-ea"/>
                <a:sym typeface="Consolas" panose="020B0609020204030204" pitchFamily="49" charset="0"/>
              </a:rPr>
              <a:t>departments_df</a:t>
            </a:r>
            <a:r>
              <a:rPr lang="zh-CN" altLang="en-US" dirty="0">
                <a:latin typeface="+mn-lt"/>
                <a:ea typeface="+mn-ea"/>
                <a:cs typeface="+mn-ea"/>
                <a:sym typeface="Consolas" panose="020B0609020204030204" pitchFamily="49" charset="0"/>
              </a:rPr>
              <a:t>行的所有行，但不包含</a:t>
            </a:r>
            <a:r>
              <a:rPr lang="en-US" altLang="zh-CN" dirty="0" err="1">
                <a:latin typeface="+mn-lt"/>
                <a:ea typeface="+mn-ea"/>
                <a:cs typeface="+mn-ea"/>
                <a:sym typeface="Consolas" panose="020B0609020204030204" pitchFamily="49" charset="0"/>
              </a:rPr>
              <a:t>departments_df</a:t>
            </a:r>
            <a:r>
              <a:rPr lang="zh-CN" altLang="en-US" dirty="0">
                <a:latin typeface="+mn-lt"/>
                <a:ea typeface="+mn-ea"/>
                <a:cs typeface="+mn-ea"/>
                <a:sym typeface="Consolas" panose="020B0609020204030204" pitchFamily="49" charset="0"/>
              </a:rPr>
              <a:t>的列。</a:t>
            </a:r>
            <a:endParaRPr lang="en-US" altLang="zh-CN" dirty="0">
              <a:latin typeface="+mn-lt"/>
              <a:ea typeface="+mn-ea"/>
              <a:cs typeface="+mn-ea"/>
              <a:sym typeface="Consolas" panose="020B0609020204030204" pitchFamily="49" charset="0"/>
            </a:endParaRPr>
          </a:p>
        </p:txBody>
      </p:sp>
      <p:sp>
        <p:nvSpPr>
          <p:cNvPr id="3" name="矩形 2">
            <a:extLst>
              <a:ext uri="{FF2B5EF4-FFF2-40B4-BE49-F238E27FC236}">
                <a16:creationId xmlns:a16="http://schemas.microsoft.com/office/drawing/2014/main" id="{E9F19F06-2FB1-0BEF-10C7-5D24D3324D65}"/>
              </a:ext>
            </a:extLst>
          </p:cNvPr>
          <p:cNvSpPr/>
          <p:nvPr/>
        </p:nvSpPr>
        <p:spPr>
          <a:xfrm>
            <a:off x="457200" y="3678990"/>
            <a:ext cx="8039100" cy="827278"/>
          </a:xfrm>
          <a:prstGeom prst="rect">
            <a:avLst/>
          </a:prstGeom>
        </p:spPr>
        <p:txBody>
          <a:bodyPr wrap="square">
            <a:spAutoFit/>
          </a:bodyPr>
          <a:lstStyle/>
          <a:p>
            <a:pPr marL="285750" algn="just">
              <a:lnSpc>
                <a:spcPct val="140000"/>
              </a:lnSpc>
            </a:pPr>
            <a:r>
              <a:rPr lang="zh-CN" altLang="en-US" sz="2000" b="1" dirty="0">
                <a:latin typeface="+mn-lt"/>
                <a:ea typeface="+mn-ea"/>
                <a:cs typeface="+mn-ea"/>
                <a:sym typeface="Consolas" panose="020B0609020204030204" pitchFamily="49" charset="0"/>
              </a:rPr>
              <a:t>⑥ 反连接</a:t>
            </a:r>
            <a:r>
              <a:rPr lang="en-US" altLang="zh-CN" sz="2000" b="1" dirty="0">
                <a:latin typeface="+mn-lt"/>
                <a:ea typeface="+mn-ea"/>
                <a:cs typeface="+mn-ea"/>
                <a:sym typeface="Consolas" panose="020B0609020204030204" pitchFamily="49" charset="0"/>
              </a:rPr>
              <a:t>(Anti Join)</a:t>
            </a:r>
          </a:p>
          <a:p>
            <a:pPr marL="285750" indent="457200" algn="just">
              <a:lnSpc>
                <a:spcPct val="120000"/>
              </a:lnSpc>
            </a:pPr>
            <a:r>
              <a:rPr lang="zh-CN" altLang="en-US" dirty="0">
                <a:latin typeface="+mn-lt"/>
                <a:ea typeface="+mn-ea"/>
                <a:cs typeface="+mn-ea"/>
                <a:sym typeface="Consolas" panose="020B0609020204030204" pitchFamily="49" charset="0"/>
              </a:rPr>
              <a:t>反连接返回</a:t>
            </a:r>
            <a:r>
              <a:rPr lang="en-US" altLang="zh-CN" dirty="0" err="1">
                <a:latin typeface="+mn-lt"/>
                <a:ea typeface="+mn-ea"/>
                <a:cs typeface="+mn-ea"/>
                <a:sym typeface="Consolas" panose="020B0609020204030204" pitchFamily="49" charset="0"/>
              </a:rPr>
              <a:t>employees_df</a:t>
            </a:r>
            <a:r>
              <a:rPr lang="zh-CN" altLang="en-US" dirty="0">
                <a:latin typeface="+mn-lt"/>
                <a:ea typeface="+mn-ea"/>
                <a:cs typeface="+mn-ea"/>
                <a:sym typeface="Consolas" panose="020B0609020204030204" pitchFamily="49" charset="0"/>
              </a:rPr>
              <a:t>中没有对应</a:t>
            </a:r>
            <a:r>
              <a:rPr lang="en-US" altLang="zh-CN" dirty="0" err="1">
                <a:latin typeface="+mn-lt"/>
                <a:ea typeface="+mn-ea"/>
                <a:cs typeface="+mn-ea"/>
                <a:sym typeface="Consolas" panose="020B0609020204030204" pitchFamily="49" charset="0"/>
              </a:rPr>
              <a:t>departments_df</a:t>
            </a:r>
            <a:r>
              <a:rPr lang="zh-CN" altLang="en-US" dirty="0">
                <a:latin typeface="+mn-lt"/>
                <a:ea typeface="+mn-ea"/>
                <a:cs typeface="+mn-ea"/>
                <a:sym typeface="Consolas" panose="020B0609020204030204" pitchFamily="49" charset="0"/>
              </a:rPr>
              <a:t>行的所有行。</a:t>
            </a:r>
            <a:endParaRPr lang="en-US" altLang="zh-CN" dirty="0">
              <a:latin typeface="+mn-lt"/>
              <a:ea typeface="+mn-ea"/>
              <a:cs typeface="+mn-ea"/>
              <a:sym typeface="Consolas" panose="020B0609020204030204" pitchFamily="49" charset="0"/>
            </a:endParaRPr>
          </a:p>
        </p:txBody>
      </p:sp>
      <p:sp>
        <p:nvSpPr>
          <p:cNvPr id="6" name="文本框 5">
            <a:extLst>
              <a:ext uri="{FF2B5EF4-FFF2-40B4-BE49-F238E27FC236}">
                <a16:creationId xmlns:a16="http://schemas.microsoft.com/office/drawing/2014/main" id="{DA5302C4-EA0C-8DF2-9C0E-F5B96278953F}"/>
              </a:ext>
            </a:extLst>
          </p:cNvPr>
          <p:cNvSpPr txBox="1"/>
          <p:nvPr/>
        </p:nvSpPr>
        <p:spPr>
          <a:xfrm>
            <a:off x="939800" y="4506268"/>
            <a:ext cx="8204200" cy="52322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anti_join_df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anti_join</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employees_df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departments_df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by = </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dept_id</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anti_join_df</a:t>
            </a:r>
            <a:endParaRPr lang="zh-CN" altLang="zh-CN" sz="14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42592547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31000-F8AF-D772-8545-2CF58D4B7A44}"/>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6907D75C-E831-E58B-6096-F9FB7E6F88F3}"/>
              </a:ext>
            </a:extLst>
          </p:cNvPr>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35</a:t>
            </a:fld>
            <a:endParaRPr lang="zh-CN" altLang="en-US">
              <a:solidFill>
                <a:schemeClr val="bg2">
                  <a:lumMod val="75000"/>
                </a:schemeClr>
              </a:solidFill>
              <a:sym typeface="Consolas" panose="020B0609020204030204" pitchFamily="49" charset="0"/>
            </a:endParaRPr>
          </a:p>
        </p:txBody>
      </p:sp>
      <p:sp>
        <p:nvSpPr>
          <p:cNvPr id="12" name="标题 9">
            <a:extLst>
              <a:ext uri="{FF2B5EF4-FFF2-40B4-BE49-F238E27FC236}">
                <a16:creationId xmlns:a16="http://schemas.microsoft.com/office/drawing/2014/main" id="{CA704B45-0801-2D0B-082C-15877C08A48A}"/>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2.4.3 </a:t>
            </a:r>
            <a:r>
              <a:rPr lang="zh-CN" altLang="en-US" sz="3600" dirty="0">
                <a:latin typeface="Times New Roman" panose="02020603050405020304" pitchFamily="18" charset="0"/>
                <a:cs typeface="Times New Roman" panose="02020603050405020304" pitchFamily="18" charset="0"/>
              </a:rPr>
              <a:t>数据连接</a:t>
            </a:r>
          </a:p>
        </p:txBody>
      </p:sp>
      <p:sp>
        <p:nvSpPr>
          <p:cNvPr id="5" name="文本框 4">
            <a:extLst>
              <a:ext uri="{FF2B5EF4-FFF2-40B4-BE49-F238E27FC236}">
                <a16:creationId xmlns:a16="http://schemas.microsoft.com/office/drawing/2014/main" id="{A59D6A46-11A4-4B87-0F8B-ED21D7FDA8D4}"/>
              </a:ext>
            </a:extLst>
          </p:cNvPr>
          <p:cNvSpPr txBox="1"/>
          <p:nvPr/>
        </p:nvSpPr>
        <p:spPr>
          <a:xfrm>
            <a:off x="939800" y="2950335"/>
            <a:ext cx="8204200" cy="2800767"/>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set1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tibble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(x =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set2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tibble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(x =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8</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intersect_result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intersect(set1, set2)</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intersect_result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union_result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union(set1, set2)</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union_result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8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setdiff_result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setdiff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(set1, set2)</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setdiff_result</a:t>
            </a:r>
            <a:endParaRPr lang="zh-CN" altLang="zh-CN" sz="1600" dirty="0">
              <a:effectLst/>
              <a:latin typeface="Times New Roman" panose="02020603050405020304" pitchFamily="18" charset="0"/>
              <a:ea typeface="宋体" panose="02010600030101010101" pitchFamily="2" charset="-122"/>
            </a:endParaRPr>
          </a:p>
        </p:txBody>
      </p:sp>
      <p:sp>
        <p:nvSpPr>
          <p:cNvPr id="2" name="矩形 1">
            <a:extLst>
              <a:ext uri="{FF2B5EF4-FFF2-40B4-BE49-F238E27FC236}">
                <a16:creationId xmlns:a16="http://schemas.microsoft.com/office/drawing/2014/main" id="{196BC167-A7E2-950B-C927-0491C770E139}"/>
              </a:ext>
            </a:extLst>
          </p:cNvPr>
          <p:cNvSpPr/>
          <p:nvPr/>
        </p:nvSpPr>
        <p:spPr>
          <a:xfrm>
            <a:off x="457200" y="1257300"/>
            <a:ext cx="8039100" cy="476349"/>
          </a:xfrm>
          <a:prstGeom prst="rect">
            <a:avLst/>
          </a:prstGeom>
        </p:spPr>
        <p:txBody>
          <a:bodyPr wrap="square">
            <a:spAutoFit/>
          </a:bodyPr>
          <a:lstStyle/>
          <a:p>
            <a:pPr marL="285750" algn="just">
              <a:lnSpc>
                <a:spcPct val="140000"/>
              </a:lnSpc>
            </a:pPr>
            <a:r>
              <a:rPr lang="en-US" altLang="zh-CN" sz="2000" b="1" dirty="0">
                <a:latin typeface="+mn-lt"/>
                <a:ea typeface="+mn-ea"/>
                <a:cs typeface="+mn-ea"/>
                <a:sym typeface="Consolas" panose="020B0609020204030204" pitchFamily="49" charset="0"/>
              </a:rPr>
              <a:t>(3) </a:t>
            </a:r>
            <a:r>
              <a:rPr lang="zh-CN" altLang="en-US" sz="2000" b="1" dirty="0">
                <a:latin typeface="+mn-lt"/>
                <a:ea typeface="+mn-ea"/>
                <a:cs typeface="+mn-ea"/>
                <a:sym typeface="Consolas" panose="020B0609020204030204" pitchFamily="49" charset="0"/>
              </a:rPr>
              <a:t>集合运算</a:t>
            </a:r>
            <a:endParaRPr lang="en-US" altLang="zh-CN" sz="2000" b="1" dirty="0">
              <a:latin typeface="+mn-lt"/>
              <a:ea typeface="+mn-ea"/>
              <a:cs typeface="+mn-ea"/>
              <a:sym typeface="Consolas" panose="020B0609020204030204" pitchFamily="49" charset="0"/>
            </a:endParaRPr>
          </a:p>
        </p:txBody>
      </p:sp>
      <p:sp>
        <p:nvSpPr>
          <p:cNvPr id="7" name="矩形 6">
            <a:extLst>
              <a:ext uri="{FF2B5EF4-FFF2-40B4-BE49-F238E27FC236}">
                <a16:creationId xmlns:a16="http://schemas.microsoft.com/office/drawing/2014/main" id="{3E7D14DF-7863-0FAD-BB21-56D0E023E66B}"/>
              </a:ext>
            </a:extLst>
          </p:cNvPr>
          <p:cNvSpPr/>
          <p:nvPr/>
        </p:nvSpPr>
        <p:spPr>
          <a:xfrm>
            <a:off x="457199" y="1733649"/>
            <a:ext cx="7731125" cy="1175194"/>
          </a:xfrm>
          <a:prstGeom prst="rect">
            <a:avLst/>
          </a:prstGeom>
        </p:spPr>
        <p:txBody>
          <a:bodyPr wrap="square">
            <a:spAutoFit/>
          </a:bodyPr>
          <a:lstStyle/>
          <a:p>
            <a:pPr marL="285750" indent="457200" algn="just">
              <a:lnSpc>
                <a:spcPct val="140000"/>
              </a:lnSpc>
              <a:buFont typeface="Wingdings" panose="05000000000000000000" pitchFamily="2" charset="2"/>
              <a:buChar char="ü"/>
            </a:pPr>
            <a:r>
              <a:rPr lang="en-US" altLang="zh-CN" b="1" dirty="0" err="1">
                <a:latin typeface="+mn-lt"/>
                <a:ea typeface="+mn-ea"/>
                <a:cs typeface="+mn-ea"/>
                <a:sym typeface="Consolas" panose="020B0609020204030204" pitchFamily="49" charset="0"/>
              </a:rPr>
              <a:t>dplyr</a:t>
            </a:r>
            <a:r>
              <a:rPr lang="zh-CN" altLang="en-US" dirty="0">
                <a:latin typeface="+mn-lt"/>
                <a:ea typeface="+mn-ea"/>
                <a:cs typeface="+mn-ea"/>
                <a:sym typeface="Consolas" panose="020B0609020204030204" pitchFamily="49" charset="0"/>
              </a:rPr>
              <a:t>函数包集合运算通常用于比较两个数据框的差异，常用的函数有</a:t>
            </a:r>
            <a:r>
              <a:rPr lang="en-US" altLang="zh-CN" b="1" i="1" dirty="0">
                <a:latin typeface="+mn-lt"/>
                <a:ea typeface="+mn-ea"/>
                <a:cs typeface="+mn-ea"/>
                <a:sym typeface="Consolas" panose="020B0609020204030204" pitchFamily="49" charset="0"/>
              </a:rPr>
              <a:t>intersect()</a:t>
            </a:r>
            <a:r>
              <a:rPr lang="zh-CN" altLang="en-US" dirty="0">
                <a:latin typeface="+mn-lt"/>
                <a:ea typeface="+mn-ea"/>
                <a:cs typeface="+mn-ea"/>
                <a:sym typeface="Consolas" panose="020B0609020204030204" pitchFamily="49" charset="0"/>
              </a:rPr>
              <a:t>、</a:t>
            </a:r>
            <a:r>
              <a:rPr lang="en-US" altLang="zh-CN" b="1" i="1" dirty="0">
                <a:latin typeface="+mn-lt"/>
                <a:ea typeface="+mn-ea"/>
                <a:cs typeface="+mn-ea"/>
                <a:sym typeface="Consolas" panose="020B0609020204030204" pitchFamily="49" charset="0"/>
              </a:rPr>
              <a:t>union()</a:t>
            </a:r>
            <a:r>
              <a:rPr lang="zh-CN" altLang="en-US" dirty="0">
                <a:latin typeface="+mn-lt"/>
                <a:ea typeface="+mn-ea"/>
                <a:cs typeface="+mn-ea"/>
                <a:sym typeface="Consolas" panose="020B0609020204030204" pitchFamily="49" charset="0"/>
              </a:rPr>
              <a:t>和</a:t>
            </a:r>
            <a:r>
              <a:rPr lang="en-US" altLang="zh-CN" b="1" i="1" dirty="0" err="1">
                <a:latin typeface="+mn-lt"/>
                <a:ea typeface="+mn-ea"/>
                <a:cs typeface="+mn-ea"/>
                <a:sym typeface="Consolas" panose="020B0609020204030204" pitchFamily="49" charset="0"/>
              </a:rPr>
              <a:t>setdiff</a:t>
            </a:r>
            <a:r>
              <a:rPr lang="en-US" altLang="zh-CN" b="1" i="1" dirty="0">
                <a:latin typeface="+mn-lt"/>
                <a:ea typeface="+mn-ea"/>
                <a:cs typeface="+mn-ea"/>
                <a:sym typeface="Consolas" panose="020B0609020204030204" pitchFamily="49" charset="0"/>
              </a:rPr>
              <a:t>()</a:t>
            </a:r>
            <a:r>
              <a:rPr lang="zh-CN" altLang="en-US" dirty="0">
                <a:latin typeface="+mn-lt"/>
                <a:ea typeface="+mn-ea"/>
                <a:cs typeface="+mn-ea"/>
                <a:sym typeface="Consolas" panose="020B0609020204030204" pitchFamily="49" charset="0"/>
              </a:rPr>
              <a:t>等。</a:t>
            </a:r>
            <a:endParaRPr lang="en-US" altLang="zh-CN" dirty="0">
              <a:latin typeface="+mn-lt"/>
              <a:ea typeface="+mn-ea"/>
              <a:cs typeface="+mn-ea"/>
              <a:sym typeface="Consolas" panose="020B0609020204030204" pitchFamily="49" charset="0"/>
            </a:endParaRPr>
          </a:p>
          <a:p>
            <a:pPr marL="285750" indent="457200" algn="just">
              <a:lnSpc>
                <a:spcPct val="140000"/>
              </a:lnSpc>
              <a:buFont typeface="Wingdings" panose="05000000000000000000" pitchFamily="2" charset="2"/>
              <a:buChar char="ü"/>
            </a:pPr>
            <a:r>
              <a:rPr lang="zh-CN" altLang="en-US" sz="1600" dirty="0">
                <a:latin typeface="+mn-lt"/>
                <a:ea typeface="+mn-ea"/>
                <a:cs typeface="+mn-ea"/>
                <a:sym typeface="Consolas" panose="020B0609020204030204" pitchFamily="49" charset="0"/>
              </a:rPr>
              <a:t>观察下面代码中不同函数的输出结果可以帮助更好地理解对应函数的效果：</a:t>
            </a:r>
            <a:endParaRPr lang="en-US" altLang="zh-CN" sz="1600" dirty="0">
              <a:latin typeface="+mn-lt"/>
              <a:ea typeface="+mn-ea"/>
              <a:cs typeface="+mn-ea"/>
              <a:sym typeface="Consolas" panose="020B0609020204030204" pitchFamily="49" charset="0"/>
            </a:endParaRPr>
          </a:p>
        </p:txBody>
      </p:sp>
    </p:spTree>
    <p:extLst>
      <p:ext uri="{BB962C8B-B14F-4D97-AF65-F5344CB8AC3E}">
        <p14:creationId xmlns:p14="http://schemas.microsoft.com/office/powerpoint/2010/main" val="25973165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36</a:t>
            </a:fld>
            <a:endParaRPr lang="zh-CN" altLang="en-US" dirty="0">
              <a:solidFill>
                <a:schemeClr val="bg2">
                  <a:lumMod val="75000"/>
                </a:schemeClr>
              </a:solidFill>
              <a:sym typeface="Consolas" panose="020B0609020204030204" pitchFamily="49" charset="0"/>
            </a:endParaRPr>
          </a:p>
        </p:txBody>
      </p:sp>
      <p:sp>
        <p:nvSpPr>
          <p:cNvPr id="11" name="标题 9"/>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2.4.4 </a:t>
            </a:r>
            <a:r>
              <a:rPr lang="zh-CN" altLang="en-US" sz="3600" dirty="0">
                <a:latin typeface="Times New Roman" panose="02020603050405020304" pitchFamily="18" charset="0"/>
                <a:cs typeface="Times New Roman" panose="02020603050405020304" pitchFamily="18" charset="0"/>
              </a:rPr>
              <a:t>数据重塑</a:t>
            </a:r>
          </a:p>
        </p:txBody>
      </p:sp>
      <p:sp>
        <p:nvSpPr>
          <p:cNvPr id="5" name="文本框 4">
            <a:extLst>
              <a:ext uri="{FF2B5EF4-FFF2-40B4-BE49-F238E27FC236}">
                <a16:creationId xmlns:a16="http://schemas.microsoft.com/office/drawing/2014/main" id="{60B5824B-A11F-7D2E-79D7-26C3DEA960FB}"/>
              </a:ext>
            </a:extLst>
          </p:cNvPr>
          <p:cNvSpPr txBox="1"/>
          <p:nvPr/>
        </p:nvSpPr>
        <p:spPr>
          <a:xfrm>
            <a:off x="495300" y="2028445"/>
            <a:ext cx="7779473" cy="2764090"/>
          </a:xfrm>
          <a:prstGeom prst="rect">
            <a:avLst/>
          </a:prstGeom>
        </p:spPr>
        <p:txBody>
          <a:bodyPr wrap="square">
            <a:spAutoFit/>
          </a:bodyPr>
          <a:lstStyle>
            <a:defPPr>
              <a:defRPr lang="zh-CN"/>
            </a:defPPr>
            <a:lvl1pPr marL="285750" indent="457200" algn="just">
              <a:lnSpc>
                <a:spcPct val="140000"/>
              </a:lnSpc>
              <a:buFont typeface="Wingdings" panose="05000000000000000000" pitchFamily="2" charset="2"/>
              <a:buChar char="ü"/>
              <a:defRPr b="1">
                <a:latin typeface="+mn-lt"/>
                <a:ea typeface="+mn-ea"/>
              </a:defRPr>
            </a:lvl1pPr>
          </a:lstStyle>
          <a:p>
            <a:r>
              <a:rPr lang="zh-CN" altLang="en-US" dirty="0"/>
              <a:t>数据重塑</a:t>
            </a:r>
            <a:r>
              <a:rPr lang="en-US" altLang="zh-CN" b="0" dirty="0"/>
              <a:t>(Reshaping Data)</a:t>
            </a:r>
            <a:r>
              <a:rPr lang="zh-CN" altLang="en-US" b="0" dirty="0"/>
              <a:t>是指</a:t>
            </a:r>
            <a:r>
              <a:rPr lang="zh-CN" altLang="en-US" dirty="0"/>
              <a:t>将数据从一种格式转换为另一种格式的过程</a:t>
            </a:r>
            <a:r>
              <a:rPr lang="zh-CN" altLang="en-US" b="0" dirty="0"/>
              <a:t>。这通常涉及将“宽格式”数据转换为“长格式”，或反之。</a:t>
            </a:r>
            <a:endParaRPr lang="en-US" altLang="zh-CN" b="0" dirty="0"/>
          </a:p>
          <a:p>
            <a:r>
              <a:rPr lang="zh-CN" altLang="en-US" b="0" dirty="0"/>
              <a:t>在宽格式数据中，每个主题的多个观测值被存储在同一行中，而在长格式数据中，每行只包含单个观测值。</a:t>
            </a:r>
            <a:endParaRPr lang="en-US" altLang="zh-CN" b="0" dirty="0"/>
          </a:p>
          <a:p>
            <a:r>
              <a:rPr lang="zh-CN" altLang="en-US" b="0" dirty="0"/>
              <a:t>通常包括：</a:t>
            </a:r>
            <a:endParaRPr lang="en-US" altLang="zh-CN" b="0" dirty="0"/>
          </a:p>
          <a:p>
            <a:pPr marL="628650" indent="-342900">
              <a:buFont typeface="+mj-lt"/>
              <a:buAutoNum type="arabicPeriod"/>
            </a:pPr>
            <a:r>
              <a:rPr lang="zh-CN" altLang="en-US" sz="1800" b="1" dirty="0">
                <a:latin typeface="+mj-lt"/>
                <a:ea typeface="+mj-ea"/>
                <a:cs typeface="+mn-ea"/>
                <a:sym typeface="Consolas" panose="020B0609020204030204" pitchFamily="49" charset="0"/>
              </a:rPr>
              <a:t>宽表变长表和长表变宽表</a:t>
            </a:r>
            <a:endParaRPr lang="en-US" altLang="zh-CN" sz="1800" b="1" dirty="0">
              <a:latin typeface="+mj-lt"/>
              <a:ea typeface="+mj-ea"/>
              <a:cs typeface="+mn-ea"/>
              <a:sym typeface="Consolas" panose="020B0609020204030204" pitchFamily="49" charset="0"/>
            </a:endParaRPr>
          </a:p>
          <a:p>
            <a:pPr marL="628650" indent="-342900">
              <a:buFont typeface="+mj-lt"/>
              <a:buAutoNum type="arabicPeriod"/>
            </a:pPr>
            <a:r>
              <a:rPr lang="zh-CN" altLang="en-US" sz="1800" b="1" dirty="0">
                <a:latin typeface="+mj-lt"/>
                <a:ea typeface="+mj-ea"/>
                <a:cs typeface="+mn-ea"/>
                <a:sym typeface="Consolas" panose="020B0609020204030204" pitchFamily="49" charset="0"/>
              </a:rPr>
              <a:t>拆分列和合并列</a:t>
            </a:r>
            <a:endParaRPr lang="en-US" altLang="zh-CN" b="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CAFB9-4459-A397-6E85-B914E751433F}"/>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AF5CF5D-2B66-DC24-675C-3A7DF816B044}"/>
              </a:ext>
            </a:extLst>
          </p:cNvPr>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37</a:t>
            </a:fld>
            <a:endParaRPr lang="zh-CN" altLang="en-US" dirty="0">
              <a:solidFill>
                <a:schemeClr val="bg2">
                  <a:lumMod val="75000"/>
                </a:schemeClr>
              </a:solidFill>
              <a:sym typeface="Consolas" panose="020B0609020204030204" pitchFamily="49" charset="0"/>
            </a:endParaRPr>
          </a:p>
        </p:txBody>
      </p:sp>
      <p:sp>
        <p:nvSpPr>
          <p:cNvPr id="11" name="标题 9">
            <a:extLst>
              <a:ext uri="{FF2B5EF4-FFF2-40B4-BE49-F238E27FC236}">
                <a16:creationId xmlns:a16="http://schemas.microsoft.com/office/drawing/2014/main" id="{BCAD4A82-22D9-2CC5-6086-DC12D6968310}"/>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2.4.4 </a:t>
            </a:r>
            <a:r>
              <a:rPr lang="zh-CN" altLang="en-US" sz="3600" dirty="0">
                <a:latin typeface="Times New Roman" panose="02020603050405020304" pitchFamily="18" charset="0"/>
                <a:cs typeface="Times New Roman" panose="02020603050405020304" pitchFamily="18" charset="0"/>
              </a:rPr>
              <a:t>数据重塑</a:t>
            </a:r>
          </a:p>
        </p:txBody>
      </p:sp>
      <p:sp>
        <p:nvSpPr>
          <p:cNvPr id="3" name="矩形 2">
            <a:extLst>
              <a:ext uri="{FF2B5EF4-FFF2-40B4-BE49-F238E27FC236}">
                <a16:creationId xmlns:a16="http://schemas.microsoft.com/office/drawing/2014/main" id="{9C6D8BE2-2B34-2EE7-E480-6C90C1491A8E}"/>
              </a:ext>
            </a:extLst>
          </p:cNvPr>
          <p:cNvSpPr/>
          <p:nvPr/>
        </p:nvSpPr>
        <p:spPr>
          <a:xfrm>
            <a:off x="419100" y="1111288"/>
            <a:ext cx="7543800" cy="430182"/>
          </a:xfrm>
          <a:prstGeom prst="rect">
            <a:avLst/>
          </a:prstGeom>
        </p:spPr>
        <p:txBody>
          <a:bodyPr wrap="square">
            <a:spAutoFit/>
          </a:bodyPr>
          <a:lstStyle/>
          <a:p>
            <a:pPr>
              <a:lnSpc>
                <a:spcPct val="120000"/>
              </a:lnSpc>
            </a:pPr>
            <a:r>
              <a:rPr lang="en-US" altLang="zh-CN" sz="2000" b="1" dirty="0">
                <a:latin typeface="+mj-lt"/>
                <a:ea typeface="+mj-ea"/>
                <a:cs typeface="+mn-ea"/>
                <a:sym typeface="Consolas" panose="020B0609020204030204" pitchFamily="49" charset="0"/>
              </a:rPr>
              <a:t>(1) </a:t>
            </a:r>
            <a:r>
              <a:rPr lang="zh-CN" altLang="en-US" sz="2000" b="1" dirty="0">
                <a:latin typeface="+mj-lt"/>
                <a:ea typeface="+mj-ea"/>
                <a:cs typeface="+mn-ea"/>
                <a:sym typeface="Consolas" panose="020B0609020204030204" pitchFamily="49" charset="0"/>
              </a:rPr>
              <a:t>宽表变长表和长表变宽表</a:t>
            </a:r>
            <a:endParaRPr lang="en-US" altLang="zh-CN" sz="2000" b="1" dirty="0">
              <a:latin typeface="+mn-ea"/>
              <a:ea typeface="+mn-ea"/>
              <a:cs typeface="+mn-ea"/>
              <a:sym typeface="Consolas" panose="020B0609020204030204" pitchFamily="49" charset="0"/>
            </a:endParaRPr>
          </a:p>
        </p:txBody>
      </p:sp>
      <p:sp>
        <p:nvSpPr>
          <p:cNvPr id="7" name="文本框 6">
            <a:extLst>
              <a:ext uri="{FF2B5EF4-FFF2-40B4-BE49-F238E27FC236}">
                <a16:creationId xmlns:a16="http://schemas.microsoft.com/office/drawing/2014/main" id="{17D70C33-FB83-4137-7C48-F093C7E1E2EF}"/>
              </a:ext>
            </a:extLst>
          </p:cNvPr>
          <p:cNvSpPr txBox="1"/>
          <p:nvPr/>
        </p:nvSpPr>
        <p:spPr>
          <a:xfrm>
            <a:off x="-190500" y="1506215"/>
            <a:ext cx="9334500" cy="825739"/>
          </a:xfrm>
          <a:prstGeom prst="rect">
            <a:avLst/>
          </a:prstGeom>
        </p:spPr>
        <p:txBody>
          <a:bodyPr wrap="square">
            <a:spAutoFit/>
          </a:bodyPr>
          <a:lstStyle>
            <a:defPPr>
              <a:defRPr lang="zh-CN"/>
            </a:defPPr>
            <a:lvl1pPr marL="285750" indent="457200" algn="just">
              <a:lnSpc>
                <a:spcPct val="140000"/>
              </a:lnSpc>
              <a:buFont typeface="Wingdings" panose="05000000000000000000" pitchFamily="2" charset="2"/>
              <a:buChar char="ü"/>
              <a:defRPr b="1">
                <a:latin typeface="+mn-lt"/>
                <a:ea typeface="+mn-ea"/>
              </a:defRPr>
            </a:lvl1pPr>
          </a:lstStyle>
          <a:p>
            <a:r>
              <a:rPr lang="zh-CN" altLang="en-US" b="0" dirty="0"/>
              <a:t>对数据进行的旋转（可参考</a:t>
            </a:r>
            <a:r>
              <a:rPr lang="en-US" altLang="zh-CN" b="0" dirty="0"/>
              <a:t>pivot</a:t>
            </a:r>
            <a:r>
              <a:rPr lang="zh-CN" altLang="en-US" b="0" dirty="0"/>
              <a:t>这个单词的动词形式释义）和维度的转变</a:t>
            </a:r>
            <a:endParaRPr lang="en-US" altLang="zh-CN" b="0" dirty="0"/>
          </a:p>
          <a:p>
            <a:r>
              <a:rPr lang="zh-CN" altLang="en-US" b="0" dirty="0"/>
              <a:t>函数包</a:t>
            </a:r>
            <a:r>
              <a:rPr lang="en-US" altLang="zh-CN" dirty="0" err="1"/>
              <a:t>tidyr</a:t>
            </a:r>
            <a:r>
              <a:rPr lang="zh-CN" altLang="en-US" b="0" dirty="0"/>
              <a:t>提供了</a:t>
            </a:r>
            <a:r>
              <a:rPr lang="en-US" altLang="zh-CN" i="1" dirty="0" err="1"/>
              <a:t>pivot_longer</a:t>
            </a:r>
            <a:r>
              <a:rPr lang="en-US" altLang="zh-CN" i="1" dirty="0"/>
              <a:t>()</a:t>
            </a:r>
            <a:r>
              <a:rPr lang="zh-CN" altLang="en-US" b="0" dirty="0"/>
              <a:t>和</a:t>
            </a:r>
            <a:r>
              <a:rPr lang="en-US" altLang="zh-CN" i="1" dirty="0" err="1"/>
              <a:t>pivot_wider</a:t>
            </a:r>
            <a:r>
              <a:rPr lang="en-US" altLang="zh-CN" i="1" dirty="0"/>
              <a:t>()</a:t>
            </a:r>
            <a:r>
              <a:rPr lang="zh-CN" altLang="en-US" b="0" dirty="0"/>
              <a:t>两个函数来形象地执行</a:t>
            </a:r>
            <a:r>
              <a:rPr lang="en-US" altLang="zh-CN" b="0" dirty="0"/>
              <a:t>pivot</a:t>
            </a:r>
            <a:r>
              <a:rPr lang="zh-CN" altLang="en-US" b="0" dirty="0"/>
              <a:t>这个操作</a:t>
            </a:r>
            <a:endParaRPr lang="en-US" altLang="zh-CN" b="0" dirty="0"/>
          </a:p>
        </p:txBody>
      </p:sp>
      <p:graphicFrame>
        <p:nvGraphicFramePr>
          <p:cNvPr id="2" name="表格 1">
            <a:extLst>
              <a:ext uri="{FF2B5EF4-FFF2-40B4-BE49-F238E27FC236}">
                <a16:creationId xmlns:a16="http://schemas.microsoft.com/office/drawing/2014/main" id="{66371CC3-C78E-56BE-7442-6D3C34649D0B}"/>
              </a:ext>
            </a:extLst>
          </p:cNvPr>
          <p:cNvGraphicFramePr>
            <a:graphicFrameLocks noGrp="1"/>
          </p:cNvGraphicFramePr>
          <p:nvPr>
            <p:extLst>
              <p:ext uri="{D42A27DB-BD31-4B8C-83A1-F6EECF244321}">
                <p14:modId xmlns:p14="http://schemas.microsoft.com/office/powerpoint/2010/main" val="2449119130"/>
              </p:ext>
            </p:extLst>
          </p:nvPr>
        </p:nvGraphicFramePr>
        <p:xfrm>
          <a:off x="457200" y="2504440"/>
          <a:ext cx="8267700" cy="359156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3910664930"/>
                    </a:ext>
                  </a:extLst>
                </a:gridCol>
                <a:gridCol w="1447800">
                  <a:extLst>
                    <a:ext uri="{9D8B030D-6E8A-4147-A177-3AD203B41FA5}">
                      <a16:colId xmlns:a16="http://schemas.microsoft.com/office/drawing/2014/main" val="2243536941"/>
                    </a:ext>
                  </a:extLst>
                </a:gridCol>
                <a:gridCol w="1981200">
                  <a:extLst>
                    <a:ext uri="{9D8B030D-6E8A-4147-A177-3AD203B41FA5}">
                      <a16:colId xmlns:a16="http://schemas.microsoft.com/office/drawing/2014/main" val="3306156017"/>
                    </a:ext>
                  </a:extLst>
                </a:gridCol>
                <a:gridCol w="3467100">
                  <a:extLst>
                    <a:ext uri="{9D8B030D-6E8A-4147-A177-3AD203B41FA5}">
                      <a16:colId xmlns:a16="http://schemas.microsoft.com/office/drawing/2014/main" val="1629377766"/>
                    </a:ext>
                  </a:extLst>
                </a:gridCol>
              </a:tblGrid>
              <a:tr h="370840">
                <a:tc>
                  <a:txBody>
                    <a:bodyPr/>
                    <a:lstStyle/>
                    <a:p>
                      <a:pPr algn="ctr"/>
                      <a:r>
                        <a:rPr lang="zh-CN" altLang="en-US" sz="1600" dirty="0"/>
                        <a:t>函数</a:t>
                      </a:r>
                    </a:p>
                  </a:txBody>
                  <a:tcPr anchor="ctr"/>
                </a:tc>
                <a:tc>
                  <a:txBody>
                    <a:bodyPr/>
                    <a:lstStyle/>
                    <a:p>
                      <a:pPr algn="ctr"/>
                      <a:r>
                        <a:rPr lang="zh-CN" altLang="en-US" sz="1600" dirty="0"/>
                        <a:t>参数</a:t>
                      </a:r>
                    </a:p>
                  </a:txBody>
                  <a:tcPr anchor="ctr"/>
                </a:tc>
                <a:tc>
                  <a:txBody>
                    <a:bodyPr/>
                    <a:lstStyle/>
                    <a:p>
                      <a:pPr algn="ctr"/>
                      <a:r>
                        <a:rPr lang="zh-CN" altLang="en-US" sz="1600" dirty="0"/>
                        <a:t>类型</a:t>
                      </a:r>
                    </a:p>
                  </a:txBody>
                  <a:tcPr anchor="ctr"/>
                </a:tc>
                <a:tc>
                  <a:txBody>
                    <a:bodyPr/>
                    <a:lstStyle/>
                    <a:p>
                      <a:pPr algn="ctr"/>
                      <a:r>
                        <a:rPr lang="zh-CN" altLang="en-US" sz="1600" dirty="0"/>
                        <a:t>描述</a:t>
                      </a:r>
                    </a:p>
                  </a:txBody>
                  <a:tcPr anchor="ctr"/>
                </a:tc>
                <a:extLst>
                  <a:ext uri="{0D108BD9-81ED-4DB2-BD59-A6C34878D82A}">
                    <a16:rowId xmlns:a16="http://schemas.microsoft.com/office/drawing/2014/main" val="3523766332"/>
                  </a:ext>
                </a:extLst>
              </a:tr>
              <a:tr h="370840">
                <a:tc rowSpan="4">
                  <a:txBody>
                    <a:bodyPr/>
                    <a:lstStyle/>
                    <a:p>
                      <a:pPr algn="ctr"/>
                      <a:r>
                        <a:rPr lang="en-US" altLang="zh-CN" sz="1600" i="1" kern="1200" dirty="0" err="1">
                          <a:solidFill>
                            <a:schemeClr val="dk1"/>
                          </a:solidFill>
                          <a:effectLst/>
                          <a:latin typeface="+mn-lt"/>
                          <a:ea typeface="+mn-ea"/>
                          <a:cs typeface="+mn-cs"/>
                        </a:rPr>
                        <a:t>pivot_longer</a:t>
                      </a:r>
                      <a:endParaRPr lang="zh-CN" altLang="en-US" sz="1600" i="1" dirty="0"/>
                    </a:p>
                  </a:txBody>
                  <a:tcPr anchor="ctr"/>
                </a:tc>
                <a:tc>
                  <a:txBody>
                    <a:bodyPr/>
                    <a:lstStyle/>
                    <a:p>
                      <a:pPr algn="ctr"/>
                      <a:r>
                        <a:rPr lang="en-US" altLang="zh-CN" sz="1600" kern="1200" dirty="0">
                          <a:solidFill>
                            <a:schemeClr val="dk1"/>
                          </a:solidFill>
                          <a:effectLst/>
                          <a:latin typeface="+mn-lt"/>
                          <a:ea typeface="+mn-ea"/>
                          <a:cs typeface="+mn-cs"/>
                        </a:rPr>
                        <a:t>data</a:t>
                      </a:r>
                      <a:endParaRPr lang="zh-CN" altLang="en-US" sz="1600" dirty="0"/>
                    </a:p>
                  </a:txBody>
                  <a:tcPr anchor="ctr"/>
                </a:tc>
                <a:tc>
                  <a:txBody>
                    <a:bodyPr/>
                    <a:lstStyle/>
                    <a:p>
                      <a:pPr algn="ctr"/>
                      <a:r>
                        <a:rPr lang="zh-CN" altLang="zh-CN" sz="1600" kern="1200" dirty="0">
                          <a:solidFill>
                            <a:schemeClr val="dk1"/>
                          </a:solidFill>
                          <a:effectLst/>
                          <a:latin typeface="+mn-lt"/>
                          <a:ea typeface="+mn-ea"/>
                          <a:cs typeface="+mn-cs"/>
                        </a:rPr>
                        <a:t>数据框</a:t>
                      </a:r>
                      <a:endParaRPr lang="zh-CN" altLang="en-US" sz="1600" dirty="0"/>
                    </a:p>
                  </a:txBody>
                  <a:tcPr anchor="ctr"/>
                </a:tc>
                <a:tc>
                  <a:txBody>
                    <a:bodyPr/>
                    <a:lstStyle/>
                    <a:p>
                      <a:pPr algn="ctr"/>
                      <a:r>
                        <a:rPr lang="zh-CN" altLang="zh-CN" sz="1600" kern="1200" dirty="0">
                          <a:solidFill>
                            <a:schemeClr val="dk1"/>
                          </a:solidFill>
                          <a:effectLst/>
                          <a:latin typeface="+mn-lt"/>
                          <a:ea typeface="+mn-ea"/>
                          <a:cs typeface="+mn-cs"/>
                        </a:rPr>
                        <a:t>需要重塑的数据框</a:t>
                      </a:r>
                      <a:endParaRPr lang="zh-CN" altLang="en-US" sz="1600" dirty="0"/>
                    </a:p>
                  </a:txBody>
                  <a:tcPr anchor="ctr"/>
                </a:tc>
                <a:extLst>
                  <a:ext uri="{0D108BD9-81ED-4DB2-BD59-A6C34878D82A}">
                    <a16:rowId xmlns:a16="http://schemas.microsoft.com/office/drawing/2014/main" val="305134607"/>
                  </a:ext>
                </a:extLst>
              </a:tr>
              <a:tr h="370840">
                <a:tc vMerge="1">
                  <a:txBody>
                    <a:bodyPr/>
                    <a:lstStyle/>
                    <a:p>
                      <a:pPr algn="ctr"/>
                      <a:endParaRPr lang="zh-CN" altLang="en-US" dirty="0"/>
                    </a:p>
                  </a:txBody>
                  <a:tcPr anchor="ctr"/>
                </a:tc>
                <a:tc>
                  <a:txBody>
                    <a:bodyPr/>
                    <a:lstStyle/>
                    <a:p>
                      <a:pPr algn="ctr"/>
                      <a:r>
                        <a:rPr lang="en-US" altLang="zh-CN" sz="1600" kern="1200" dirty="0">
                          <a:solidFill>
                            <a:schemeClr val="dk1"/>
                          </a:solidFill>
                          <a:effectLst/>
                          <a:latin typeface="+mn-lt"/>
                          <a:ea typeface="+mn-ea"/>
                          <a:cs typeface="+mn-cs"/>
                        </a:rPr>
                        <a:t>cols</a:t>
                      </a:r>
                      <a:endParaRPr lang="zh-CN" altLang="en-US" sz="1600" dirty="0"/>
                    </a:p>
                  </a:txBody>
                  <a:tcPr anchor="ctr"/>
                </a:tc>
                <a:tc>
                  <a:txBody>
                    <a:bodyPr/>
                    <a:lstStyle/>
                    <a:p>
                      <a:pPr algn="ctr"/>
                      <a:r>
                        <a:rPr lang="zh-CN" altLang="zh-CN" sz="1600" kern="1200" dirty="0">
                          <a:solidFill>
                            <a:schemeClr val="dk1"/>
                          </a:solidFill>
                          <a:effectLst/>
                          <a:latin typeface="+mn-lt"/>
                          <a:ea typeface="+mn-ea"/>
                          <a:cs typeface="+mn-cs"/>
                        </a:rPr>
                        <a:t>列</a:t>
                      </a:r>
                      <a:r>
                        <a:rPr lang="en-US" altLang="zh-CN" sz="1600" kern="1200" dirty="0">
                          <a:solidFill>
                            <a:schemeClr val="dk1"/>
                          </a:solidFill>
                          <a:effectLst/>
                          <a:latin typeface="+mn-lt"/>
                          <a:ea typeface="+mn-ea"/>
                          <a:cs typeface="+mn-cs"/>
                        </a:rPr>
                        <a:t>/</a:t>
                      </a:r>
                      <a:r>
                        <a:rPr lang="zh-CN" altLang="zh-CN" sz="1600" kern="1200" dirty="0">
                          <a:solidFill>
                            <a:schemeClr val="dk1"/>
                          </a:solidFill>
                          <a:effectLst/>
                          <a:latin typeface="+mn-lt"/>
                          <a:ea typeface="+mn-ea"/>
                          <a:cs typeface="+mn-cs"/>
                        </a:rPr>
                        <a:t>列名</a:t>
                      </a:r>
                      <a:endParaRPr lang="zh-CN" altLang="en-US" sz="1600" dirty="0"/>
                    </a:p>
                  </a:txBody>
                  <a:tcPr anchor="ctr"/>
                </a:tc>
                <a:tc>
                  <a:txBody>
                    <a:bodyPr/>
                    <a:lstStyle/>
                    <a:p>
                      <a:pPr algn="ctr"/>
                      <a:r>
                        <a:rPr lang="zh-CN" altLang="zh-CN" sz="1600" kern="1200" dirty="0">
                          <a:solidFill>
                            <a:schemeClr val="dk1"/>
                          </a:solidFill>
                          <a:effectLst/>
                          <a:latin typeface="+mn-lt"/>
                          <a:ea typeface="+mn-ea"/>
                          <a:cs typeface="+mn-cs"/>
                        </a:rPr>
                        <a:t>需要变成长格式的列</a:t>
                      </a:r>
                      <a:endParaRPr lang="zh-CN" altLang="en-US" sz="1600" dirty="0"/>
                    </a:p>
                  </a:txBody>
                  <a:tcPr anchor="ctr"/>
                </a:tc>
                <a:extLst>
                  <a:ext uri="{0D108BD9-81ED-4DB2-BD59-A6C34878D82A}">
                    <a16:rowId xmlns:a16="http://schemas.microsoft.com/office/drawing/2014/main" val="2303570887"/>
                  </a:ext>
                </a:extLst>
              </a:tr>
              <a:tr h="370840">
                <a:tc vMerge="1">
                  <a:txBody>
                    <a:bodyPr/>
                    <a:lstStyle/>
                    <a:p>
                      <a:pPr algn="ctr"/>
                      <a:endParaRPr lang="zh-CN" altLang="en-US" dirty="0"/>
                    </a:p>
                  </a:txBody>
                  <a:tcPr anchor="ctr"/>
                </a:tc>
                <a:tc>
                  <a:txBody>
                    <a:bodyPr/>
                    <a:lstStyle/>
                    <a:p>
                      <a:pPr algn="ctr"/>
                      <a:r>
                        <a:rPr lang="en-US" altLang="zh-CN" sz="1600" kern="1200" dirty="0" err="1">
                          <a:solidFill>
                            <a:schemeClr val="dk1"/>
                          </a:solidFill>
                          <a:effectLst/>
                          <a:latin typeface="+mn-lt"/>
                          <a:ea typeface="+mn-ea"/>
                          <a:cs typeface="+mn-cs"/>
                        </a:rPr>
                        <a:t>names_to</a:t>
                      </a:r>
                      <a:endParaRPr lang="zh-CN" altLang="en-US" sz="1600" dirty="0"/>
                    </a:p>
                  </a:txBody>
                  <a:tcPr anchor="ctr"/>
                </a:tc>
                <a:tc>
                  <a:txBody>
                    <a:bodyPr/>
                    <a:lstStyle/>
                    <a:p>
                      <a:pPr algn="ctr"/>
                      <a:r>
                        <a:rPr lang="zh-CN" altLang="zh-CN" sz="1600" kern="1200" dirty="0">
                          <a:solidFill>
                            <a:schemeClr val="dk1"/>
                          </a:solidFill>
                          <a:effectLst/>
                          <a:latin typeface="+mn-lt"/>
                          <a:ea typeface="+mn-ea"/>
                          <a:cs typeface="+mn-cs"/>
                        </a:rPr>
                        <a:t>字符串</a:t>
                      </a:r>
                      <a:r>
                        <a:rPr lang="en-US" altLang="zh-CN" sz="1600" kern="1200" dirty="0">
                          <a:solidFill>
                            <a:schemeClr val="dk1"/>
                          </a:solidFill>
                          <a:effectLst/>
                          <a:latin typeface="+mn-lt"/>
                          <a:ea typeface="+mn-ea"/>
                          <a:cs typeface="+mn-cs"/>
                        </a:rPr>
                        <a:t>/</a:t>
                      </a:r>
                      <a:r>
                        <a:rPr lang="zh-CN" altLang="zh-CN" sz="1600" kern="1200" dirty="0">
                          <a:solidFill>
                            <a:schemeClr val="dk1"/>
                          </a:solidFill>
                          <a:effectLst/>
                          <a:latin typeface="+mn-lt"/>
                          <a:ea typeface="+mn-ea"/>
                          <a:cs typeface="+mn-cs"/>
                        </a:rPr>
                        <a:t>字符串向量</a:t>
                      </a:r>
                      <a:endParaRPr lang="zh-CN" altLang="en-US" sz="1600" dirty="0"/>
                    </a:p>
                  </a:txBody>
                  <a:tcPr anchor="ctr"/>
                </a:tc>
                <a:tc>
                  <a:txBody>
                    <a:bodyPr/>
                    <a:lstStyle/>
                    <a:p>
                      <a:pPr algn="ctr"/>
                      <a:r>
                        <a:rPr lang="zh-CN" altLang="zh-CN" sz="1600" kern="1200" dirty="0">
                          <a:solidFill>
                            <a:schemeClr val="dk1"/>
                          </a:solidFill>
                          <a:effectLst/>
                          <a:latin typeface="+mn-lt"/>
                          <a:ea typeface="+mn-ea"/>
                          <a:cs typeface="+mn-cs"/>
                        </a:rPr>
                        <a:t>新的长格式数据框中，包含原始列名的列的名字</a:t>
                      </a:r>
                      <a:endParaRPr lang="zh-CN" altLang="en-US" sz="1600" dirty="0"/>
                    </a:p>
                  </a:txBody>
                  <a:tcPr anchor="ctr"/>
                </a:tc>
                <a:extLst>
                  <a:ext uri="{0D108BD9-81ED-4DB2-BD59-A6C34878D82A}">
                    <a16:rowId xmlns:a16="http://schemas.microsoft.com/office/drawing/2014/main" val="3689479148"/>
                  </a:ext>
                </a:extLst>
              </a:tr>
              <a:tr h="370840">
                <a:tc vMerge="1">
                  <a:txBody>
                    <a:bodyPr/>
                    <a:lstStyle/>
                    <a:p>
                      <a:pPr algn="ctr"/>
                      <a:endParaRPr lang="zh-CN" altLang="en-US" dirty="0"/>
                    </a:p>
                  </a:txBody>
                  <a:tcPr anchor="ctr"/>
                </a:tc>
                <a:tc>
                  <a:txBody>
                    <a:bodyPr/>
                    <a:lstStyle/>
                    <a:p>
                      <a:pPr algn="ctr"/>
                      <a:r>
                        <a:rPr lang="en-US" altLang="zh-CN" sz="1600" kern="1200" dirty="0" err="1">
                          <a:solidFill>
                            <a:schemeClr val="dk1"/>
                          </a:solidFill>
                          <a:effectLst/>
                          <a:latin typeface="+mn-lt"/>
                          <a:ea typeface="+mn-ea"/>
                          <a:cs typeface="+mn-cs"/>
                        </a:rPr>
                        <a:t>values_to</a:t>
                      </a:r>
                      <a:endParaRPr lang="zh-CN" altLang="en-US" sz="1600" dirty="0"/>
                    </a:p>
                  </a:txBody>
                  <a:tcPr anchor="ctr"/>
                </a:tc>
                <a:tc>
                  <a:txBody>
                    <a:bodyPr/>
                    <a:lstStyle/>
                    <a:p>
                      <a:pPr algn="ctr"/>
                      <a:r>
                        <a:rPr lang="zh-CN" altLang="zh-CN" sz="1600" kern="1200" dirty="0">
                          <a:solidFill>
                            <a:schemeClr val="dk1"/>
                          </a:solidFill>
                          <a:effectLst/>
                          <a:latin typeface="+mn-lt"/>
                          <a:ea typeface="+mn-ea"/>
                          <a:cs typeface="+mn-cs"/>
                        </a:rPr>
                        <a:t>字符串</a:t>
                      </a:r>
                      <a:endParaRPr lang="zh-CN" altLang="en-US" sz="1600" dirty="0"/>
                    </a:p>
                  </a:txBody>
                  <a:tcPr anchor="ctr"/>
                </a:tc>
                <a:tc>
                  <a:txBody>
                    <a:bodyPr/>
                    <a:lstStyle/>
                    <a:p>
                      <a:pPr algn="ctr"/>
                      <a:r>
                        <a:rPr lang="zh-CN" altLang="en-US" sz="1600" dirty="0"/>
                        <a:t>新的长格式数据框中，包含原始值的列的名字</a:t>
                      </a:r>
                    </a:p>
                  </a:txBody>
                  <a:tcPr anchor="ctr"/>
                </a:tc>
                <a:extLst>
                  <a:ext uri="{0D108BD9-81ED-4DB2-BD59-A6C34878D82A}">
                    <a16:rowId xmlns:a16="http://schemas.microsoft.com/office/drawing/2014/main" val="3757385780"/>
                  </a:ext>
                </a:extLst>
              </a:tr>
              <a:tr h="370840">
                <a:tc rowSpan="3">
                  <a:txBody>
                    <a:bodyPr/>
                    <a:lstStyle/>
                    <a:p>
                      <a:pPr algn="ctr"/>
                      <a:r>
                        <a:rPr lang="en-US" altLang="zh-CN" sz="1600" i="1" dirty="0" err="1"/>
                        <a:t>pivot_wider</a:t>
                      </a:r>
                      <a:endParaRPr lang="zh-CN" altLang="en-US" sz="1600" i="1" dirty="0"/>
                    </a:p>
                  </a:txBody>
                  <a:tcPr anchor="ctr"/>
                </a:tc>
                <a:tc>
                  <a:txBody>
                    <a:bodyPr/>
                    <a:lstStyle/>
                    <a:p>
                      <a:pPr algn="ctr"/>
                      <a:r>
                        <a:rPr lang="en-US" altLang="zh-CN" sz="1600" dirty="0"/>
                        <a:t>data</a:t>
                      </a:r>
                      <a:endParaRPr lang="zh-CN" altLang="en-US" sz="1600" dirty="0"/>
                    </a:p>
                  </a:txBody>
                  <a:tcPr anchor="ctr"/>
                </a:tc>
                <a:tc>
                  <a:txBody>
                    <a:bodyPr/>
                    <a:lstStyle/>
                    <a:p>
                      <a:pPr algn="ctr"/>
                      <a:r>
                        <a:rPr lang="zh-CN" altLang="en-US" sz="1600" dirty="0"/>
                        <a:t>数据框</a:t>
                      </a:r>
                    </a:p>
                  </a:txBody>
                  <a:tcPr anchor="ctr"/>
                </a:tc>
                <a:tc>
                  <a:txBody>
                    <a:bodyPr/>
                    <a:lstStyle/>
                    <a:p>
                      <a:pPr algn="ctr"/>
                      <a:r>
                        <a:rPr lang="zh-CN" altLang="en-US" sz="1600" dirty="0"/>
                        <a:t>需要重塑的数据框</a:t>
                      </a:r>
                    </a:p>
                  </a:txBody>
                  <a:tcPr anchor="ctr"/>
                </a:tc>
                <a:extLst>
                  <a:ext uri="{0D108BD9-81ED-4DB2-BD59-A6C34878D82A}">
                    <a16:rowId xmlns:a16="http://schemas.microsoft.com/office/drawing/2014/main" val="902473749"/>
                  </a:ext>
                </a:extLst>
              </a:tr>
              <a:tr h="370840">
                <a:tc vMerge="1">
                  <a:txBody>
                    <a:bodyPr/>
                    <a:lstStyle/>
                    <a:p>
                      <a:pPr algn="ctr"/>
                      <a:endParaRPr lang="zh-CN" altLang="en-US" dirty="0"/>
                    </a:p>
                  </a:txBody>
                  <a:tcPr anchor="ctr"/>
                </a:tc>
                <a:tc>
                  <a:txBody>
                    <a:bodyPr/>
                    <a:lstStyle/>
                    <a:p>
                      <a:pPr algn="ctr"/>
                      <a:r>
                        <a:rPr lang="en-US" altLang="zh-CN" sz="1600" dirty="0" err="1"/>
                        <a:t>names_from</a:t>
                      </a:r>
                      <a:endParaRPr lang="zh-CN" altLang="en-US" sz="1600" dirty="0"/>
                    </a:p>
                  </a:txBody>
                  <a:tcPr anchor="ctr"/>
                </a:tc>
                <a:tc>
                  <a:txBody>
                    <a:bodyPr/>
                    <a:lstStyle/>
                    <a:p>
                      <a:pPr algn="ctr"/>
                      <a:r>
                        <a:rPr lang="zh-CN" altLang="en-US" sz="1600" dirty="0"/>
                        <a:t>列</a:t>
                      </a:r>
                      <a:r>
                        <a:rPr lang="en-US" altLang="zh-CN" sz="1600" dirty="0"/>
                        <a:t>/</a:t>
                      </a:r>
                      <a:r>
                        <a:rPr lang="zh-CN" altLang="en-US" sz="1600" dirty="0"/>
                        <a:t>列名</a:t>
                      </a:r>
                    </a:p>
                  </a:txBody>
                  <a:tcPr anchor="ctr"/>
                </a:tc>
                <a:tc>
                  <a:txBody>
                    <a:bodyPr/>
                    <a:lstStyle/>
                    <a:p>
                      <a:pPr algn="ctr"/>
                      <a:r>
                        <a:rPr lang="zh-CN" altLang="en-US" sz="1600" dirty="0"/>
                        <a:t>长格式数据框中用于创建新列名的列</a:t>
                      </a:r>
                    </a:p>
                  </a:txBody>
                  <a:tcPr anchor="ctr"/>
                </a:tc>
                <a:extLst>
                  <a:ext uri="{0D108BD9-81ED-4DB2-BD59-A6C34878D82A}">
                    <a16:rowId xmlns:a16="http://schemas.microsoft.com/office/drawing/2014/main" val="2678447496"/>
                  </a:ext>
                </a:extLst>
              </a:tr>
              <a:tr h="370840">
                <a:tc vMerge="1">
                  <a:txBody>
                    <a:bodyPr/>
                    <a:lstStyle/>
                    <a:p>
                      <a:pPr algn="ctr"/>
                      <a:endParaRPr lang="zh-CN" altLang="en-US" dirty="0"/>
                    </a:p>
                  </a:txBody>
                  <a:tcPr anchor="ctr"/>
                </a:tc>
                <a:tc>
                  <a:txBody>
                    <a:bodyPr/>
                    <a:lstStyle/>
                    <a:p>
                      <a:pPr algn="ctr"/>
                      <a:r>
                        <a:rPr lang="en-US" altLang="zh-CN" sz="1600" dirty="0" err="1"/>
                        <a:t>values_from</a:t>
                      </a:r>
                      <a:endParaRPr lang="zh-CN" altLang="en-US" sz="1600" dirty="0"/>
                    </a:p>
                  </a:txBody>
                  <a:tcPr anchor="ctr"/>
                </a:tc>
                <a:tc>
                  <a:txBody>
                    <a:bodyPr/>
                    <a:lstStyle/>
                    <a:p>
                      <a:pPr algn="ctr"/>
                      <a:r>
                        <a:rPr lang="zh-CN" altLang="en-US" sz="1600" dirty="0"/>
                        <a:t>列</a:t>
                      </a:r>
                      <a:r>
                        <a:rPr lang="en-US" altLang="zh-CN" sz="1600" dirty="0"/>
                        <a:t>/</a:t>
                      </a:r>
                      <a:r>
                        <a:rPr lang="zh-CN" altLang="en-US" sz="1600" dirty="0"/>
                        <a:t>列名</a:t>
                      </a:r>
                    </a:p>
                  </a:txBody>
                  <a:tcPr anchor="ctr"/>
                </a:tc>
                <a:tc>
                  <a:txBody>
                    <a:bodyPr/>
                    <a:lstStyle/>
                    <a:p>
                      <a:pPr algn="ctr"/>
                      <a:r>
                        <a:rPr lang="zh-CN" altLang="en-US" sz="1600" dirty="0"/>
                        <a:t>长格式数据框中包含要扩展为宽格式的值的列</a:t>
                      </a:r>
                    </a:p>
                  </a:txBody>
                  <a:tcPr anchor="ctr"/>
                </a:tc>
                <a:extLst>
                  <a:ext uri="{0D108BD9-81ED-4DB2-BD59-A6C34878D82A}">
                    <a16:rowId xmlns:a16="http://schemas.microsoft.com/office/drawing/2014/main" val="2511397495"/>
                  </a:ext>
                </a:extLst>
              </a:tr>
            </a:tbl>
          </a:graphicData>
        </a:graphic>
      </p:graphicFrame>
      <p:sp>
        <p:nvSpPr>
          <p:cNvPr id="6" name="文本框 5">
            <a:extLst>
              <a:ext uri="{FF2B5EF4-FFF2-40B4-BE49-F238E27FC236}">
                <a16:creationId xmlns:a16="http://schemas.microsoft.com/office/drawing/2014/main" id="{6028FBDC-97C4-8EE2-D5B9-6F2E79625E6E}"/>
              </a:ext>
            </a:extLst>
          </p:cNvPr>
          <p:cNvSpPr txBox="1"/>
          <p:nvPr/>
        </p:nvSpPr>
        <p:spPr>
          <a:xfrm>
            <a:off x="2843802" y="6207323"/>
            <a:ext cx="3456395" cy="307777"/>
          </a:xfrm>
          <a:prstGeom prst="rect">
            <a:avLst/>
          </a:prstGeom>
          <a:noFill/>
        </p:spPr>
        <p:txBody>
          <a:bodyPr wrap="none" rtlCol="0">
            <a:spAutoFit/>
          </a:bodyPr>
          <a:lstStyle/>
          <a:p>
            <a:r>
              <a:rPr lang="en-US" altLang="zh-CN" sz="1400" i="1" dirty="0" err="1">
                <a:effectLst/>
                <a:latin typeface="+mj-lt"/>
                <a:ea typeface="+mj-ea"/>
              </a:rPr>
              <a:t>pivot_longer</a:t>
            </a:r>
            <a:r>
              <a:rPr lang="en-US" altLang="zh-CN" sz="1400" i="1" dirty="0">
                <a:effectLst/>
                <a:latin typeface="+mj-lt"/>
                <a:ea typeface="+mj-ea"/>
              </a:rPr>
              <a:t>()</a:t>
            </a:r>
            <a:r>
              <a:rPr lang="en-US" altLang="zh-CN" sz="1400" dirty="0" err="1">
                <a:effectLst/>
                <a:latin typeface="+mj-lt"/>
                <a:ea typeface="+mj-ea"/>
                <a:cs typeface="Times New Roman" panose="02020603050405020304" pitchFamily="18" charset="0"/>
              </a:rPr>
              <a:t>和</a:t>
            </a:r>
            <a:r>
              <a:rPr lang="en-US" altLang="zh-CN" sz="1400" i="1" dirty="0" err="1">
                <a:effectLst/>
                <a:latin typeface="+mj-lt"/>
                <a:ea typeface="+mj-ea"/>
              </a:rPr>
              <a:t>pivot_wider</a:t>
            </a:r>
            <a:r>
              <a:rPr lang="en-US" altLang="zh-CN" sz="1400" i="1" dirty="0">
                <a:effectLst/>
                <a:latin typeface="+mj-lt"/>
                <a:ea typeface="+mj-ea"/>
              </a:rPr>
              <a:t>()</a:t>
            </a:r>
            <a:r>
              <a:rPr lang="zh-CN" altLang="en-US" sz="1400" dirty="0">
                <a:latin typeface="+mj-lt"/>
                <a:ea typeface="+mj-ea"/>
              </a:rPr>
              <a:t>函数参数列表</a:t>
            </a:r>
          </a:p>
        </p:txBody>
      </p:sp>
    </p:spTree>
    <p:extLst>
      <p:ext uri="{BB962C8B-B14F-4D97-AF65-F5344CB8AC3E}">
        <p14:creationId xmlns:p14="http://schemas.microsoft.com/office/powerpoint/2010/main" val="36341274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70C67-E137-EFDB-F2FE-EA6C5FCAACA5}"/>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0ABAC34-D9C1-95A8-F184-1ACF76D1B2AB}"/>
              </a:ext>
            </a:extLst>
          </p:cNvPr>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38</a:t>
            </a:fld>
            <a:endParaRPr lang="zh-CN" altLang="en-US" dirty="0">
              <a:solidFill>
                <a:schemeClr val="bg2">
                  <a:lumMod val="75000"/>
                </a:schemeClr>
              </a:solidFill>
              <a:sym typeface="Consolas" panose="020B0609020204030204" pitchFamily="49" charset="0"/>
            </a:endParaRPr>
          </a:p>
        </p:txBody>
      </p:sp>
      <p:sp>
        <p:nvSpPr>
          <p:cNvPr id="11" name="标题 9">
            <a:extLst>
              <a:ext uri="{FF2B5EF4-FFF2-40B4-BE49-F238E27FC236}">
                <a16:creationId xmlns:a16="http://schemas.microsoft.com/office/drawing/2014/main" id="{6D29A940-5C69-1375-7CBB-94244CAAE09B}"/>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2.4.4 </a:t>
            </a:r>
            <a:r>
              <a:rPr lang="zh-CN" altLang="en-US" sz="3600" dirty="0">
                <a:latin typeface="Times New Roman" panose="02020603050405020304" pitchFamily="18" charset="0"/>
                <a:cs typeface="Times New Roman" panose="02020603050405020304" pitchFamily="18" charset="0"/>
              </a:rPr>
              <a:t>数据重塑</a:t>
            </a:r>
          </a:p>
        </p:txBody>
      </p:sp>
      <p:sp>
        <p:nvSpPr>
          <p:cNvPr id="3" name="矩形 2">
            <a:extLst>
              <a:ext uri="{FF2B5EF4-FFF2-40B4-BE49-F238E27FC236}">
                <a16:creationId xmlns:a16="http://schemas.microsoft.com/office/drawing/2014/main" id="{73DC5AF4-6B67-975E-985C-FBB734E70B6F}"/>
              </a:ext>
            </a:extLst>
          </p:cNvPr>
          <p:cNvSpPr/>
          <p:nvPr/>
        </p:nvSpPr>
        <p:spPr>
          <a:xfrm>
            <a:off x="419100" y="1411518"/>
            <a:ext cx="7543800" cy="430182"/>
          </a:xfrm>
          <a:prstGeom prst="rect">
            <a:avLst/>
          </a:prstGeom>
        </p:spPr>
        <p:txBody>
          <a:bodyPr wrap="square">
            <a:spAutoFit/>
          </a:bodyPr>
          <a:lstStyle/>
          <a:p>
            <a:pPr>
              <a:lnSpc>
                <a:spcPct val="120000"/>
              </a:lnSpc>
            </a:pPr>
            <a:r>
              <a:rPr lang="en-US" altLang="zh-CN" sz="2000" b="1" dirty="0">
                <a:latin typeface="+mj-lt"/>
                <a:ea typeface="+mj-ea"/>
                <a:cs typeface="+mn-ea"/>
                <a:sym typeface="Consolas" panose="020B0609020204030204" pitchFamily="49" charset="0"/>
              </a:rPr>
              <a:t>(1) </a:t>
            </a:r>
            <a:r>
              <a:rPr lang="zh-CN" altLang="en-US" sz="2000" b="1" dirty="0">
                <a:latin typeface="+mj-lt"/>
                <a:ea typeface="+mj-ea"/>
                <a:cs typeface="+mn-ea"/>
                <a:sym typeface="Consolas" panose="020B0609020204030204" pitchFamily="49" charset="0"/>
              </a:rPr>
              <a:t>宽表变长表和长表变宽表</a:t>
            </a:r>
            <a:endParaRPr lang="en-US" altLang="zh-CN" sz="2000" b="1" dirty="0">
              <a:latin typeface="+mn-ea"/>
              <a:ea typeface="+mn-ea"/>
              <a:cs typeface="+mn-ea"/>
              <a:sym typeface="Consolas" panose="020B0609020204030204" pitchFamily="49" charset="0"/>
            </a:endParaRPr>
          </a:p>
        </p:txBody>
      </p:sp>
      <p:sp>
        <p:nvSpPr>
          <p:cNvPr id="7" name="文本框 6">
            <a:extLst>
              <a:ext uri="{FF2B5EF4-FFF2-40B4-BE49-F238E27FC236}">
                <a16:creationId xmlns:a16="http://schemas.microsoft.com/office/drawing/2014/main" id="{5BC22770-9D14-E026-98E1-FC822D577D21}"/>
              </a:ext>
            </a:extLst>
          </p:cNvPr>
          <p:cNvSpPr txBox="1"/>
          <p:nvPr/>
        </p:nvSpPr>
        <p:spPr>
          <a:xfrm>
            <a:off x="190500" y="1864594"/>
            <a:ext cx="4229100" cy="437940"/>
          </a:xfrm>
          <a:prstGeom prst="rect">
            <a:avLst/>
          </a:prstGeom>
        </p:spPr>
        <p:txBody>
          <a:bodyPr wrap="square">
            <a:spAutoFit/>
          </a:bodyPr>
          <a:lstStyle>
            <a:defPPr>
              <a:defRPr lang="zh-CN"/>
            </a:defPPr>
            <a:lvl1pPr marL="285750" indent="457200" algn="just">
              <a:lnSpc>
                <a:spcPct val="140000"/>
              </a:lnSpc>
              <a:buFont typeface="Wingdings" panose="05000000000000000000" pitchFamily="2" charset="2"/>
              <a:buChar char="ü"/>
              <a:defRPr b="1">
                <a:latin typeface="+mn-lt"/>
                <a:ea typeface="+mn-ea"/>
              </a:defRPr>
            </a:lvl1pPr>
          </a:lstStyle>
          <a:p>
            <a:pPr indent="0">
              <a:buNone/>
            </a:pPr>
            <a:r>
              <a:rPr lang="zh-CN" altLang="en-US" b="0" dirty="0"/>
              <a:t>创建一个包含多行多列的数据框：</a:t>
            </a:r>
            <a:endParaRPr lang="en-US" altLang="zh-CN" b="0" dirty="0"/>
          </a:p>
        </p:txBody>
      </p:sp>
      <p:sp>
        <p:nvSpPr>
          <p:cNvPr id="5" name="文本框 4">
            <a:extLst>
              <a:ext uri="{FF2B5EF4-FFF2-40B4-BE49-F238E27FC236}">
                <a16:creationId xmlns:a16="http://schemas.microsoft.com/office/drawing/2014/main" id="{3AC6021E-77B0-82E6-E218-536CC7BEE0A9}"/>
              </a:ext>
            </a:extLst>
          </p:cNvPr>
          <p:cNvSpPr txBox="1"/>
          <p:nvPr/>
        </p:nvSpPr>
        <p:spPr>
          <a:xfrm>
            <a:off x="838200" y="2292351"/>
            <a:ext cx="4044950" cy="1323439"/>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messy_data</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tibble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subject = c(</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"S1"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"S2"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"S3"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test1_score =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80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90</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85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test2_score =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88</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92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84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
        <p:nvSpPr>
          <p:cNvPr id="8" name="文本框 7">
            <a:extLst>
              <a:ext uri="{FF2B5EF4-FFF2-40B4-BE49-F238E27FC236}">
                <a16:creationId xmlns:a16="http://schemas.microsoft.com/office/drawing/2014/main" id="{41AF09DC-54A6-97C1-03A4-531C526CC098}"/>
              </a:ext>
            </a:extLst>
          </p:cNvPr>
          <p:cNvSpPr txBox="1"/>
          <p:nvPr/>
        </p:nvSpPr>
        <p:spPr>
          <a:xfrm>
            <a:off x="609600" y="4068711"/>
            <a:ext cx="3886200" cy="1815882"/>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long_data</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messy_data</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%&gt;%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pivot_longer</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cols =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starts_with</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"test"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names_to</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"test"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values_to</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"score"</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long_data</a:t>
            </a:r>
            <a:endParaRPr lang="zh-CN" altLang="zh-CN" sz="1600" dirty="0">
              <a:effectLst/>
              <a:latin typeface="Times New Roman" panose="02020603050405020304" pitchFamily="18" charset="0"/>
              <a:ea typeface="宋体" panose="02010600030101010101" pitchFamily="2" charset="-122"/>
            </a:endParaRPr>
          </a:p>
        </p:txBody>
      </p:sp>
      <p:sp>
        <p:nvSpPr>
          <p:cNvPr id="9" name="文本框 8">
            <a:extLst>
              <a:ext uri="{FF2B5EF4-FFF2-40B4-BE49-F238E27FC236}">
                <a16:creationId xmlns:a16="http://schemas.microsoft.com/office/drawing/2014/main" id="{4D1254A7-C5B9-DAEB-BFFB-19EC3C27BB9C}"/>
              </a:ext>
            </a:extLst>
          </p:cNvPr>
          <p:cNvSpPr txBox="1"/>
          <p:nvPr/>
        </p:nvSpPr>
        <p:spPr>
          <a:xfrm>
            <a:off x="4883150" y="4046258"/>
            <a:ext cx="3886200" cy="156966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wide_data</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long_data</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%&gt;%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pivot_wider</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names_from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test,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values_from</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score</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wide_data</a:t>
            </a:r>
            <a:endParaRPr lang="zh-CN" altLang="zh-CN" sz="1600" dirty="0">
              <a:effectLst/>
              <a:latin typeface="Times New Roman" panose="02020603050405020304" pitchFamily="18" charset="0"/>
              <a:ea typeface="宋体" panose="02010600030101010101" pitchFamily="2" charset="-122"/>
            </a:endParaRPr>
          </a:p>
        </p:txBody>
      </p:sp>
      <p:sp>
        <p:nvSpPr>
          <p:cNvPr id="10" name="文本框 9">
            <a:extLst>
              <a:ext uri="{FF2B5EF4-FFF2-40B4-BE49-F238E27FC236}">
                <a16:creationId xmlns:a16="http://schemas.microsoft.com/office/drawing/2014/main" id="{3AE76977-FF4C-7160-57F2-58BE1C73F365}"/>
              </a:ext>
            </a:extLst>
          </p:cNvPr>
          <p:cNvSpPr txBox="1"/>
          <p:nvPr/>
        </p:nvSpPr>
        <p:spPr>
          <a:xfrm>
            <a:off x="4419600" y="3630771"/>
            <a:ext cx="4229100" cy="437940"/>
          </a:xfrm>
          <a:prstGeom prst="rect">
            <a:avLst/>
          </a:prstGeom>
        </p:spPr>
        <p:txBody>
          <a:bodyPr wrap="square">
            <a:spAutoFit/>
          </a:bodyPr>
          <a:lstStyle>
            <a:defPPr>
              <a:defRPr lang="zh-CN"/>
            </a:defPPr>
            <a:lvl1pPr marL="285750" indent="457200" algn="just">
              <a:lnSpc>
                <a:spcPct val="140000"/>
              </a:lnSpc>
              <a:buFont typeface="Wingdings" panose="05000000000000000000" pitchFamily="2" charset="2"/>
              <a:buChar char="ü"/>
              <a:defRPr b="1">
                <a:latin typeface="+mn-lt"/>
                <a:ea typeface="+mn-ea"/>
              </a:defRPr>
            </a:lvl1pPr>
          </a:lstStyle>
          <a:p>
            <a:pPr indent="0">
              <a:buNone/>
            </a:pPr>
            <a:r>
              <a:rPr lang="zh-CN" altLang="en-US" dirty="0"/>
              <a:t>② 长表变宽表</a:t>
            </a:r>
            <a:endParaRPr lang="en-US" altLang="zh-CN" dirty="0"/>
          </a:p>
        </p:txBody>
      </p:sp>
      <p:sp>
        <p:nvSpPr>
          <p:cNvPr id="13" name="文本框 12">
            <a:extLst>
              <a:ext uri="{FF2B5EF4-FFF2-40B4-BE49-F238E27FC236}">
                <a16:creationId xmlns:a16="http://schemas.microsoft.com/office/drawing/2014/main" id="{A7DCD2E0-039C-9F75-355C-22BBBA32CA13}"/>
              </a:ext>
            </a:extLst>
          </p:cNvPr>
          <p:cNvSpPr txBox="1"/>
          <p:nvPr/>
        </p:nvSpPr>
        <p:spPr>
          <a:xfrm>
            <a:off x="164312" y="3630771"/>
            <a:ext cx="4229100" cy="437940"/>
          </a:xfrm>
          <a:prstGeom prst="rect">
            <a:avLst/>
          </a:prstGeom>
        </p:spPr>
        <p:txBody>
          <a:bodyPr wrap="square">
            <a:spAutoFit/>
          </a:bodyPr>
          <a:lstStyle>
            <a:defPPr>
              <a:defRPr lang="zh-CN"/>
            </a:defPPr>
            <a:lvl1pPr marL="285750" indent="457200" algn="just">
              <a:lnSpc>
                <a:spcPct val="140000"/>
              </a:lnSpc>
              <a:buFont typeface="Wingdings" panose="05000000000000000000" pitchFamily="2" charset="2"/>
              <a:buChar char="ü"/>
              <a:defRPr b="1">
                <a:latin typeface="+mn-lt"/>
                <a:ea typeface="+mn-ea"/>
              </a:defRPr>
            </a:lvl1pPr>
          </a:lstStyle>
          <a:p>
            <a:pPr indent="0">
              <a:buNone/>
            </a:pPr>
            <a:r>
              <a:rPr lang="zh-CN" altLang="en-US" dirty="0"/>
              <a:t>① 宽表变长表</a:t>
            </a:r>
            <a:endParaRPr lang="en-US" altLang="zh-CN" dirty="0"/>
          </a:p>
        </p:txBody>
      </p:sp>
    </p:spTree>
    <p:extLst>
      <p:ext uri="{BB962C8B-B14F-4D97-AF65-F5344CB8AC3E}">
        <p14:creationId xmlns:p14="http://schemas.microsoft.com/office/powerpoint/2010/main" val="5349497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43808-D901-3595-F885-BC0B626DE8FA}"/>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D4DDE96D-CC32-0A0D-0905-BBED2269DD78}"/>
              </a:ext>
            </a:extLst>
          </p:cNvPr>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39</a:t>
            </a:fld>
            <a:endParaRPr lang="zh-CN" altLang="en-US" dirty="0">
              <a:solidFill>
                <a:schemeClr val="bg2">
                  <a:lumMod val="75000"/>
                </a:schemeClr>
              </a:solidFill>
              <a:sym typeface="Consolas" panose="020B0609020204030204" pitchFamily="49" charset="0"/>
            </a:endParaRPr>
          </a:p>
        </p:txBody>
      </p:sp>
      <p:sp>
        <p:nvSpPr>
          <p:cNvPr id="11" name="标题 9">
            <a:extLst>
              <a:ext uri="{FF2B5EF4-FFF2-40B4-BE49-F238E27FC236}">
                <a16:creationId xmlns:a16="http://schemas.microsoft.com/office/drawing/2014/main" id="{58E62119-5B07-D0A7-5E8E-337DDF2A882B}"/>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2.4.4 </a:t>
            </a:r>
            <a:r>
              <a:rPr lang="zh-CN" altLang="en-US" sz="3600" dirty="0">
                <a:latin typeface="Times New Roman" panose="02020603050405020304" pitchFamily="18" charset="0"/>
                <a:cs typeface="Times New Roman" panose="02020603050405020304" pitchFamily="18" charset="0"/>
              </a:rPr>
              <a:t>数据重塑</a:t>
            </a:r>
          </a:p>
        </p:txBody>
      </p:sp>
      <p:sp>
        <p:nvSpPr>
          <p:cNvPr id="3" name="矩形 2">
            <a:extLst>
              <a:ext uri="{FF2B5EF4-FFF2-40B4-BE49-F238E27FC236}">
                <a16:creationId xmlns:a16="http://schemas.microsoft.com/office/drawing/2014/main" id="{30B5043E-4F16-1C85-3491-BD7B0D97C359}"/>
              </a:ext>
            </a:extLst>
          </p:cNvPr>
          <p:cNvSpPr/>
          <p:nvPr/>
        </p:nvSpPr>
        <p:spPr>
          <a:xfrm>
            <a:off x="419100" y="1371600"/>
            <a:ext cx="7543800" cy="430182"/>
          </a:xfrm>
          <a:prstGeom prst="rect">
            <a:avLst/>
          </a:prstGeom>
        </p:spPr>
        <p:txBody>
          <a:bodyPr wrap="square">
            <a:spAutoFit/>
          </a:bodyPr>
          <a:lstStyle/>
          <a:p>
            <a:pPr>
              <a:lnSpc>
                <a:spcPct val="120000"/>
              </a:lnSpc>
            </a:pPr>
            <a:r>
              <a:rPr lang="en-US" altLang="zh-CN" sz="2000" b="1" dirty="0">
                <a:latin typeface="+mj-lt"/>
                <a:ea typeface="+mj-ea"/>
                <a:cs typeface="+mn-ea"/>
                <a:sym typeface="Consolas" panose="020B0609020204030204" pitchFamily="49" charset="0"/>
              </a:rPr>
              <a:t>(2) </a:t>
            </a:r>
            <a:r>
              <a:rPr lang="zh-CN" altLang="en-US" sz="2000" b="1" dirty="0">
                <a:latin typeface="+mj-lt"/>
                <a:ea typeface="+mj-ea"/>
                <a:cs typeface="+mn-ea"/>
                <a:sym typeface="Consolas" panose="020B0609020204030204" pitchFamily="49" charset="0"/>
              </a:rPr>
              <a:t>拆分列和合并列</a:t>
            </a:r>
            <a:endParaRPr lang="en-US" altLang="zh-CN" sz="2000" b="1" dirty="0">
              <a:latin typeface="+mn-ea"/>
              <a:ea typeface="+mn-ea"/>
              <a:cs typeface="+mn-ea"/>
              <a:sym typeface="Consolas" panose="020B0609020204030204" pitchFamily="49" charset="0"/>
            </a:endParaRPr>
          </a:p>
        </p:txBody>
      </p:sp>
      <p:sp>
        <p:nvSpPr>
          <p:cNvPr id="7" name="文本框 6">
            <a:extLst>
              <a:ext uri="{FF2B5EF4-FFF2-40B4-BE49-F238E27FC236}">
                <a16:creationId xmlns:a16="http://schemas.microsoft.com/office/drawing/2014/main" id="{15012D5F-42CA-6A4E-CAD1-B61F5257DD3A}"/>
              </a:ext>
            </a:extLst>
          </p:cNvPr>
          <p:cNvSpPr txBox="1"/>
          <p:nvPr/>
        </p:nvSpPr>
        <p:spPr>
          <a:xfrm>
            <a:off x="-190500" y="1766527"/>
            <a:ext cx="9334500" cy="437940"/>
          </a:xfrm>
          <a:prstGeom prst="rect">
            <a:avLst/>
          </a:prstGeom>
        </p:spPr>
        <p:txBody>
          <a:bodyPr wrap="square">
            <a:spAutoFit/>
          </a:bodyPr>
          <a:lstStyle>
            <a:defPPr>
              <a:defRPr lang="zh-CN"/>
            </a:defPPr>
            <a:lvl1pPr marL="285750" indent="457200" algn="just">
              <a:lnSpc>
                <a:spcPct val="140000"/>
              </a:lnSpc>
              <a:buFont typeface="Wingdings" panose="05000000000000000000" pitchFamily="2" charset="2"/>
              <a:buChar char="ü"/>
              <a:defRPr b="1">
                <a:latin typeface="+mn-lt"/>
                <a:ea typeface="+mn-ea"/>
              </a:defRPr>
            </a:lvl1pPr>
          </a:lstStyle>
          <a:p>
            <a:r>
              <a:rPr lang="zh-CN" altLang="en-US" b="0" dirty="0"/>
              <a:t>拆分列和合并列用到的函数分别为</a:t>
            </a:r>
            <a:r>
              <a:rPr lang="en-US" altLang="zh-CN" i="1" dirty="0"/>
              <a:t>separate()</a:t>
            </a:r>
            <a:r>
              <a:rPr lang="zh-CN" altLang="en-US" b="0" dirty="0"/>
              <a:t>和</a:t>
            </a:r>
            <a:r>
              <a:rPr lang="en-US" altLang="zh-CN" i="1" dirty="0"/>
              <a:t>unite()</a:t>
            </a:r>
          </a:p>
        </p:txBody>
      </p:sp>
      <p:graphicFrame>
        <p:nvGraphicFramePr>
          <p:cNvPr id="2" name="表格 1">
            <a:extLst>
              <a:ext uri="{FF2B5EF4-FFF2-40B4-BE49-F238E27FC236}">
                <a16:creationId xmlns:a16="http://schemas.microsoft.com/office/drawing/2014/main" id="{54013785-6384-9B2C-B1E9-3E1F227EC70D}"/>
              </a:ext>
            </a:extLst>
          </p:cNvPr>
          <p:cNvGraphicFramePr>
            <a:graphicFrameLocks noGrp="1"/>
          </p:cNvGraphicFramePr>
          <p:nvPr>
            <p:extLst>
              <p:ext uri="{D42A27DB-BD31-4B8C-83A1-F6EECF244321}">
                <p14:modId xmlns:p14="http://schemas.microsoft.com/office/powerpoint/2010/main" val="2850873582"/>
              </p:ext>
            </p:extLst>
          </p:nvPr>
        </p:nvGraphicFramePr>
        <p:xfrm>
          <a:off x="457200" y="2396309"/>
          <a:ext cx="8267700" cy="333756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3910664930"/>
                    </a:ext>
                  </a:extLst>
                </a:gridCol>
                <a:gridCol w="1447800">
                  <a:extLst>
                    <a:ext uri="{9D8B030D-6E8A-4147-A177-3AD203B41FA5}">
                      <a16:colId xmlns:a16="http://schemas.microsoft.com/office/drawing/2014/main" val="2243536941"/>
                    </a:ext>
                  </a:extLst>
                </a:gridCol>
                <a:gridCol w="1981200">
                  <a:extLst>
                    <a:ext uri="{9D8B030D-6E8A-4147-A177-3AD203B41FA5}">
                      <a16:colId xmlns:a16="http://schemas.microsoft.com/office/drawing/2014/main" val="3306156017"/>
                    </a:ext>
                  </a:extLst>
                </a:gridCol>
                <a:gridCol w="3467100">
                  <a:extLst>
                    <a:ext uri="{9D8B030D-6E8A-4147-A177-3AD203B41FA5}">
                      <a16:colId xmlns:a16="http://schemas.microsoft.com/office/drawing/2014/main" val="1629377766"/>
                    </a:ext>
                  </a:extLst>
                </a:gridCol>
              </a:tblGrid>
              <a:tr h="370840">
                <a:tc>
                  <a:txBody>
                    <a:bodyPr/>
                    <a:lstStyle/>
                    <a:p>
                      <a:pPr algn="ctr"/>
                      <a:r>
                        <a:rPr lang="zh-CN" altLang="en-US" sz="1600" dirty="0"/>
                        <a:t>函数</a:t>
                      </a:r>
                    </a:p>
                  </a:txBody>
                  <a:tcPr anchor="ctr"/>
                </a:tc>
                <a:tc>
                  <a:txBody>
                    <a:bodyPr/>
                    <a:lstStyle/>
                    <a:p>
                      <a:pPr algn="ctr"/>
                      <a:r>
                        <a:rPr lang="zh-CN" altLang="en-US" sz="1600" dirty="0"/>
                        <a:t>参数</a:t>
                      </a:r>
                    </a:p>
                  </a:txBody>
                  <a:tcPr anchor="ctr"/>
                </a:tc>
                <a:tc>
                  <a:txBody>
                    <a:bodyPr/>
                    <a:lstStyle/>
                    <a:p>
                      <a:pPr algn="ctr"/>
                      <a:r>
                        <a:rPr lang="zh-CN" altLang="en-US" sz="1600" dirty="0"/>
                        <a:t>类型</a:t>
                      </a:r>
                    </a:p>
                  </a:txBody>
                  <a:tcPr anchor="ctr"/>
                </a:tc>
                <a:tc>
                  <a:txBody>
                    <a:bodyPr/>
                    <a:lstStyle/>
                    <a:p>
                      <a:pPr algn="ctr"/>
                      <a:r>
                        <a:rPr lang="zh-CN" altLang="en-US" sz="1600" dirty="0"/>
                        <a:t>描述</a:t>
                      </a:r>
                    </a:p>
                  </a:txBody>
                  <a:tcPr anchor="ctr"/>
                </a:tc>
                <a:extLst>
                  <a:ext uri="{0D108BD9-81ED-4DB2-BD59-A6C34878D82A}">
                    <a16:rowId xmlns:a16="http://schemas.microsoft.com/office/drawing/2014/main" val="3523766332"/>
                  </a:ext>
                </a:extLst>
              </a:tr>
              <a:tr h="370840">
                <a:tc rowSpan="4">
                  <a:txBody>
                    <a:bodyPr/>
                    <a:lstStyle/>
                    <a:p>
                      <a:pPr algn="ctr"/>
                      <a:r>
                        <a:rPr lang="en-US" altLang="zh-CN" sz="1600" i="1" kern="1200" dirty="0">
                          <a:solidFill>
                            <a:schemeClr val="dk1"/>
                          </a:solidFill>
                          <a:effectLst/>
                          <a:latin typeface="+mn-lt"/>
                          <a:ea typeface="+mn-ea"/>
                          <a:cs typeface="+mn-cs"/>
                        </a:rPr>
                        <a:t>separate</a:t>
                      </a:r>
                      <a:endParaRPr lang="zh-CN" altLang="en-US" sz="1600" i="1" dirty="0"/>
                    </a:p>
                  </a:txBody>
                  <a:tcPr anchor="ctr"/>
                </a:tc>
                <a:tc>
                  <a:txBody>
                    <a:bodyPr/>
                    <a:lstStyle/>
                    <a:p>
                      <a:pPr algn="ctr"/>
                      <a:r>
                        <a:rPr lang="en-US" altLang="zh-CN" sz="1600" kern="1200" dirty="0">
                          <a:solidFill>
                            <a:schemeClr val="dk1"/>
                          </a:solidFill>
                          <a:effectLst/>
                          <a:latin typeface="+mn-lt"/>
                          <a:ea typeface="+mn-ea"/>
                          <a:cs typeface="+mn-cs"/>
                        </a:rPr>
                        <a:t>data</a:t>
                      </a:r>
                      <a:endParaRPr lang="zh-CN" altLang="en-US" sz="1600" dirty="0"/>
                    </a:p>
                  </a:txBody>
                  <a:tcPr anchor="ctr"/>
                </a:tc>
                <a:tc>
                  <a:txBody>
                    <a:bodyPr/>
                    <a:lstStyle/>
                    <a:p>
                      <a:pPr algn="ctr"/>
                      <a:r>
                        <a:rPr lang="zh-CN" altLang="zh-CN" sz="1600" kern="1200" dirty="0">
                          <a:solidFill>
                            <a:schemeClr val="dk1"/>
                          </a:solidFill>
                          <a:effectLst/>
                          <a:latin typeface="+mn-lt"/>
                          <a:ea typeface="+mn-ea"/>
                          <a:cs typeface="+mn-cs"/>
                        </a:rPr>
                        <a:t>数据框</a:t>
                      </a:r>
                      <a:endParaRPr lang="zh-CN" altLang="en-US" sz="1600" dirty="0"/>
                    </a:p>
                  </a:txBody>
                  <a:tcPr anchor="ctr"/>
                </a:tc>
                <a:tc>
                  <a:txBody>
                    <a:bodyPr/>
                    <a:lstStyle/>
                    <a:p>
                      <a:pPr algn="ctr"/>
                      <a:r>
                        <a:rPr lang="zh-CN" altLang="en-US" sz="1600" kern="1200" dirty="0">
                          <a:solidFill>
                            <a:schemeClr val="dk1"/>
                          </a:solidFill>
                          <a:effectLst/>
                          <a:latin typeface="+mn-lt"/>
                          <a:ea typeface="+mn-ea"/>
                          <a:cs typeface="+mn-cs"/>
                        </a:rPr>
                        <a:t>需要操作的数据框</a:t>
                      </a:r>
                      <a:endParaRPr lang="zh-CN" altLang="en-US" sz="1600" dirty="0"/>
                    </a:p>
                  </a:txBody>
                  <a:tcPr anchor="ctr"/>
                </a:tc>
                <a:extLst>
                  <a:ext uri="{0D108BD9-81ED-4DB2-BD59-A6C34878D82A}">
                    <a16:rowId xmlns:a16="http://schemas.microsoft.com/office/drawing/2014/main" val="305134607"/>
                  </a:ext>
                </a:extLst>
              </a:tr>
              <a:tr h="370840">
                <a:tc vMerge="1">
                  <a:txBody>
                    <a:bodyPr/>
                    <a:lstStyle/>
                    <a:p>
                      <a:pPr algn="ctr"/>
                      <a:endParaRPr lang="zh-CN" altLang="en-US" dirty="0"/>
                    </a:p>
                  </a:txBody>
                  <a:tcPr anchor="ctr"/>
                </a:tc>
                <a:tc>
                  <a:txBody>
                    <a:bodyPr/>
                    <a:lstStyle/>
                    <a:p>
                      <a:pPr algn="ctr"/>
                      <a:r>
                        <a:rPr lang="en-US" altLang="zh-CN" sz="1600" kern="1200" dirty="0">
                          <a:solidFill>
                            <a:schemeClr val="dk1"/>
                          </a:solidFill>
                          <a:effectLst/>
                          <a:latin typeface="+mn-lt"/>
                          <a:ea typeface="+mn-ea"/>
                          <a:cs typeface="+mn-cs"/>
                        </a:rPr>
                        <a:t>col</a:t>
                      </a:r>
                      <a:endParaRPr lang="zh-CN" altLang="en-US" sz="1600" dirty="0"/>
                    </a:p>
                  </a:txBody>
                  <a:tcPr anchor="ctr"/>
                </a:tc>
                <a:tc>
                  <a:txBody>
                    <a:bodyPr/>
                    <a:lstStyle/>
                    <a:p>
                      <a:pPr algn="ctr"/>
                      <a:r>
                        <a:rPr lang="zh-CN" altLang="zh-CN" sz="1600" kern="1200" dirty="0">
                          <a:solidFill>
                            <a:schemeClr val="dk1"/>
                          </a:solidFill>
                          <a:effectLst/>
                          <a:latin typeface="+mn-lt"/>
                          <a:ea typeface="+mn-ea"/>
                          <a:cs typeface="+mn-cs"/>
                        </a:rPr>
                        <a:t>列</a:t>
                      </a:r>
                      <a:r>
                        <a:rPr lang="en-US" altLang="zh-CN" sz="1600" kern="1200" dirty="0">
                          <a:solidFill>
                            <a:schemeClr val="dk1"/>
                          </a:solidFill>
                          <a:effectLst/>
                          <a:latin typeface="+mn-lt"/>
                          <a:ea typeface="+mn-ea"/>
                          <a:cs typeface="+mn-cs"/>
                        </a:rPr>
                        <a:t>/</a:t>
                      </a:r>
                      <a:r>
                        <a:rPr lang="zh-CN" altLang="zh-CN" sz="1600" kern="1200" dirty="0">
                          <a:solidFill>
                            <a:schemeClr val="dk1"/>
                          </a:solidFill>
                          <a:effectLst/>
                          <a:latin typeface="+mn-lt"/>
                          <a:ea typeface="+mn-ea"/>
                          <a:cs typeface="+mn-cs"/>
                        </a:rPr>
                        <a:t>列名</a:t>
                      </a:r>
                      <a:endParaRPr lang="zh-CN" altLang="en-US" sz="1600" dirty="0"/>
                    </a:p>
                  </a:txBody>
                  <a:tcPr anchor="ctr"/>
                </a:tc>
                <a:tc>
                  <a:txBody>
                    <a:bodyPr/>
                    <a:lstStyle/>
                    <a:p>
                      <a:pPr algn="ctr"/>
                      <a:r>
                        <a:rPr lang="zh-CN" altLang="en-US" sz="1600" kern="1200" dirty="0">
                          <a:solidFill>
                            <a:schemeClr val="dk1"/>
                          </a:solidFill>
                          <a:effectLst/>
                          <a:latin typeface="+mn-lt"/>
                          <a:ea typeface="+mn-ea"/>
                          <a:cs typeface="+mn-cs"/>
                        </a:rPr>
                        <a:t>要拆分的列</a:t>
                      </a:r>
                      <a:endParaRPr lang="zh-CN" altLang="en-US" sz="1600" dirty="0"/>
                    </a:p>
                  </a:txBody>
                  <a:tcPr anchor="ctr"/>
                </a:tc>
                <a:extLst>
                  <a:ext uri="{0D108BD9-81ED-4DB2-BD59-A6C34878D82A}">
                    <a16:rowId xmlns:a16="http://schemas.microsoft.com/office/drawing/2014/main" val="2303570887"/>
                  </a:ext>
                </a:extLst>
              </a:tr>
              <a:tr h="370840">
                <a:tc vMerge="1">
                  <a:txBody>
                    <a:bodyPr/>
                    <a:lstStyle/>
                    <a:p>
                      <a:pPr algn="ctr"/>
                      <a:endParaRPr lang="zh-CN" altLang="en-US" dirty="0"/>
                    </a:p>
                  </a:txBody>
                  <a:tcPr anchor="ctr"/>
                </a:tc>
                <a:tc>
                  <a:txBody>
                    <a:bodyPr/>
                    <a:lstStyle/>
                    <a:p>
                      <a:pPr algn="ctr"/>
                      <a:r>
                        <a:rPr lang="en-US" altLang="zh-CN" sz="1600" dirty="0"/>
                        <a:t>into</a:t>
                      </a:r>
                      <a:endParaRPr lang="zh-CN" altLang="en-US" sz="1600" dirty="0"/>
                    </a:p>
                  </a:txBody>
                  <a:tcPr anchor="ctr"/>
                </a:tc>
                <a:tc>
                  <a:txBody>
                    <a:bodyPr/>
                    <a:lstStyle/>
                    <a:p>
                      <a:pPr algn="ctr"/>
                      <a:r>
                        <a:rPr lang="zh-CN" altLang="zh-CN" sz="1600" kern="1200" dirty="0">
                          <a:solidFill>
                            <a:schemeClr val="dk1"/>
                          </a:solidFill>
                          <a:effectLst/>
                          <a:latin typeface="+mn-lt"/>
                          <a:ea typeface="+mn-ea"/>
                          <a:cs typeface="+mn-cs"/>
                        </a:rPr>
                        <a:t>字符串向量</a:t>
                      </a:r>
                      <a:endParaRPr lang="zh-CN" altLang="en-US" sz="1600" dirty="0"/>
                    </a:p>
                  </a:txBody>
                  <a:tcPr anchor="ctr"/>
                </a:tc>
                <a:tc>
                  <a:txBody>
                    <a:bodyPr/>
                    <a:lstStyle/>
                    <a:p>
                      <a:pPr algn="ctr"/>
                      <a:r>
                        <a:rPr lang="zh-CN" altLang="en-US" sz="1600" kern="1200" dirty="0">
                          <a:solidFill>
                            <a:schemeClr val="dk1"/>
                          </a:solidFill>
                          <a:effectLst/>
                          <a:latin typeface="+mn-lt"/>
                          <a:ea typeface="+mn-ea"/>
                          <a:cs typeface="+mn-cs"/>
                        </a:rPr>
                        <a:t>拆分后的新列的名称</a:t>
                      </a:r>
                      <a:endParaRPr lang="zh-CN" altLang="en-US" sz="1600" dirty="0"/>
                    </a:p>
                  </a:txBody>
                  <a:tcPr anchor="ctr"/>
                </a:tc>
                <a:extLst>
                  <a:ext uri="{0D108BD9-81ED-4DB2-BD59-A6C34878D82A}">
                    <a16:rowId xmlns:a16="http://schemas.microsoft.com/office/drawing/2014/main" val="3689479148"/>
                  </a:ext>
                </a:extLst>
              </a:tr>
              <a:tr h="370840">
                <a:tc vMerge="1">
                  <a:txBody>
                    <a:bodyPr/>
                    <a:lstStyle/>
                    <a:p>
                      <a:pPr algn="ctr"/>
                      <a:endParaRPr lang="zh-CN" altLang="en-US" dirty="0"/>
                    </a:p>
                  </a:txBody>
                  <a:tcPr anchor="ctr"/>
                </a:tc>
                <a:tc>
                  <a:txBody>
                    <a:bodyPr/>
                    <a:lstStyle/>
                    <a:p>
                      <a:pPr algn="ctr"/>
                      <a:r>
                        <a:rPr lang="en-US" altLang="zh-CN" sz="1600" kern="1200" dirty="0" err="1">
                          <a:solidFill>
                            <a:schemeClr val="dk1"/>
                          </a:solidFill>
                          <a:effectLst/>
                          <a:latin typeface="+mn-lt"/>
                          <a:ea typeface="+mn-ea"/>
                          <a:cs typeface="+mn-cs"/>
                        </a:rPr>
                        <a:t>sep</a:t>
                      </a:r>
                      <a:endParaRPr lang="zh-CN" altLang="en-US" sz="1600" dirty="0"/>
                    </a:p>
                  </a:txBody>
                  <a:tcPr anchor="ctr"/>
                </a:tc>
                <a:tc>
                  <a:txBody>
                    <a:bodyPr/>
                    <a:lstStyle/>
                    <a:p>
                      <a:pPr algn="ctr"/>
                      <a:r>
                        <a:rPr lang="zh-CN" altLang="en-US" sz="1600" kern="1200" dirty="0">
                          <a:solidFill>
                            <a:schemeClr val="dk1"/>
                          </a:solidFill>
                          <a:effectLst/>
                          <a:latin typeface="+mn-lt"/>
                          <a:ea typeface="+mn-ea"/>
                          <a:cs typeface="+mn-cs"/>
                        </a:rPr>
                        <a:t>整数</a:t>
                      </a:r>
                      <a:r>
                        <a:rPr lang="en-US" altLang="zh-CN" sz="1600" kern="1200" dirty="0">
                          <a:solidFill>
                            <a:schemeClr val="dk1"/>
                          </a:solidFill>
                          <a:effectLst/>
                          <a:latin typeface="+mn-lt"/>
                          <a:ea typeface="+mn-ea"/>
                          <a:cs typeface="+mn-cs"/>
                        </a:rPr>
                        <a:t>/</a:t>
                      </a:r>
                      <a:r>
                        <a:rPr lang="zh-CN" altLang="zh-CN" sz="1600" kern="1200" dirty="0">
                          <a:solidFill>
                            <a:schemeClr val="dk1"/>
                          </a:solidFill>
                          <a:effectLst/>
                          <a:latin typeface="+mn-lt"/>
                          <a:ea typeface="+mn-ea"/>
                          <a:cs typeface="+mn-cs"/>
                        </a:rPr>
                        <a:t>字符串</a:t>
                      </a:r>
                      <a:endParaRPr lang="zh-CN" altLang="en-US" sz="1600" dirty="0"/>
                    </a:p>
                  </a:txBody>
                  <a:tcPr anchor="ctr"/>
                </a:tc>
                <a:tc>
                  <a:txBody>
                    <a:bodyPr/>
                    <a:lstStyle/>
                    <a:p>
                      <a:pPr algn="ctr"/>
                      <a:r>
                        <a:rPr lang="zh-CN" altLang="en-US" sz="1600" dirty="0"/>
                        <a:t>指定拆分的位置或分隔符</a:t>
                      </a:r>
                    </a:p>
                  </a:txBody>
                  <a:tcPr anchor="ctr"/>
                </a:tc>
                <a:extLst>
                  <a:ext uri="{0D108BD9-81ED-4DB2-BD59-A6C34878D82A}">
                    <a16:rowId xmlns:a16="http://schemas.microsoft.com/office/drawing/2014/main" val="3757385780"/>
                  </a:ext>
                </a:extLst>
              </a:tr>
              <a:tr h="370840">
                <a:tc rowSpan="4">
                  <a:txBody>
                    <a:bodyPr/>
                    <a:lstStyle/>
                    <a:p>
                      <a:pPr algn="ctr"/>
                      <a:r>
                        <a:rPr lang="en-US" altLang="zh-CN" sz="1600" i="1" dirty="0"/>
                        <a:t>unite</a:t>
                      </a:r>
                      <a:endParaRPr lang="zh-CN" altLang="en-US" sz="1600" i="1" dirty="0"/>
                    </a:p>
                  </a:txBody>
                  <a:tcPr anchor="ctr"/>
                </a:tc>
                <a:tc>
                  <a:txBody>
                    <a:bodyPr/>
                    <a:lstStyle/>
                    <a:p>
                      <a:pPr algn="ctr"/>
                      <a:r>
                        <a:rPr lang="en-US" altLang="zh-CN" sz="1600" dirty="0"/>
                        <a:t>data</a:t>
                      </a:r>
                      <a:endParaRPr lang="zh-CN" altLang="en-US" sz="1600" dirty="0"/>
                    </a:p>
                  </a:txBody>
                  <a:tcPr anchor="ctr"/>
                </a:tc>
                <a:tc>
                  <a:txBody>
                    <a:bodyPr/>
                    <a:lstStyle/>
                    <a:p>
                      <a:pPr algn="ctr"/>
                      <a:r>
                        <a:rPr lang="zh-CN" altLang="en-US" sz="1600" dirty="0"/>
                        <a:t>数据框</a:t>
                      </a:r>
                    </a:p>
                  </a:txBody>
                  <a:tcPr anchor="ctr"/>
                </a:tc>
                <a:tc>
                  <a:txBody>
                    <a:bodyPr/>
                    <a:lstStyle/>
                    <a:p>
                      <a:pPr algn="ctr"/>
                      <a:r>
                        <a:rPr lang="zh-CN" altLang="en-US" sz="1600" dirty="0"/>
                        <a:t>需要操作的数据框</a:t>
                      </a:r>
                    </a:p>
                  </a:txBody>
                  <a:tcPr anchor="ctr"/>
                </a:tc>
                <a:extLst>
                  <a:ext uri="{0D108BD9-81ED-4DB2-BD59-A6C34878D82A}">
                    <a16:rowId xmlns:a16="http://schemas.microsoft.com/office/drawing/2014/main" val="902473749"/>
                  </a:ext>
                </a:extLst>
              </a:tr>
              <a:tr h="370840">
                <a:tc vMerge="1">
                  <a:txBody>
                    <a:bodyPr/>
                    <a:lstStyle/>
                    <a:p>
                      <a:pPr algn="ctr"/>
                      <a:endParaRPr lang="zh-CN" altLang="en-US" dirty="0"/>
                    </a:p>
                  </a:txBody>
                  <a:tcPr anchor="ctr"/>
                </a:tc>
                <a:tc>
                  <a:txBody>
                    <a:bodyPr/>
                    <a:lstStyle/>
                    <a:p>
                      <a:pPr algn="ctr"/>
                      <a:r>
                        <a:rPr lang="en-US" altLang="zh-CN" sz="1600" dirty="0"/>
                        <a:t>col</a:t>
                      </a:r>
                      <a:endParaRPr lang="zh-CN" altLang="en-US" sz="1600" dirty="0"/>
                    </a:p>
                  </a:txBody>
                  <a:tcPr anchor="ctr"/>
                </a:tc>
                <a:tc>
                  <a:txBody>
                    <a:bodyPr/>
                    <a:lstStyle/>
                    <a:p>
                      <a:pPr algn="ctr"/>
                      <a:r>
                        <a:rPr lang="zh-CN" altLang="en-US" sz="1600" dirty="0"/>
                        <a:t>字符串</a:t>
                      </a:r>
                    </a:p>
                  </a:txBody>
                  <a:tcPr anchor="ctr"/>
                </a:tc>
                <a:tc>
                  <a:txBody>
                    <a:bodyPr/>
                    <a:lstStyle/>
                    <a:p>
                      <a:pPr algn="ctr"/>
                      <a:r>
                        <a:rPr lang="zh-CN" altLang="en-US" sz="1600" dirty="0"/>
                        <a:t>合并后新列的名称</a:t>
                      </a:r>
                    </a:p>
                  </a:txBody>
                  <a:tcPr anchor="ctr"/>
                </a:tc>
                <a:extLst>
                  <a:ext uri="{0D108BD9-81ED-4DB2-BD59-A6C34878D82A}">
                    <a16:rowId xmlns:a16="http://schemas.microsoft.com/office/drawing/2014/main" val="2678447496"/>
                  </a:ext>
                </a:extLst>
              </a:tr>
              <a:tr h="370840">
                <a:tc vMerge="1">
                  <a:txBody>
                    <a:bodyPr/>
                    <a:lstStyle/>
                    <a:p>
                      <a:pPr algn="ctr"/>
                      <a:endParaRPr lang="zh-CN" altLang="en-US" dirty="0"/>
                    </a:p>
                  </a:txBody>
                  <a:tcPr anchor="ctr"/>
                </a:tc>
                <a:tc>
                  <a:txBody>
                    <a:bodyPr/>
                    <a:lstStyle/>
                    <a:p>
                      <a:pPr algn="ctr"/>
                      <a:r>
                        <a:rPr lang="en-US" altLang="zh-CN" sz="1600" dirty="0"/>
                        <a:t>cols</a:t>
                      </a:r>
                      <a:endParaRPr lang="zh-CN" altLang="en-US" sz="1600" dirty="0"/>
                    </a:p>
                  </a:txBody>
                  <a:tcPr anchor="ctr"/>
                </a:tc>
                <a:tc>
                  <a:txBody>
                    <a:bodyPr/>
                    <a:lstStyle/>
                    <a:p>
                      <a:pPr algn="ctr"/>
                      <a:r>
                        <a:rPr lang="zh-CN" altLang="en-US" sz="1600" dirty="0"/>
                        <a:t>列名向量</a:t>
                      </a:r>
                    </a:p>
                  </a:txBody>
                  <a:tcPr anchor="ctr"/>
                </a:tc>
                <a:tc>
                  <a:txBody>
                    <a:bodyPr/>
                    <a:lstStyle/>
                    <a:p>
                      <a:pPr algn="ctr"/>
                      <a:r>
                        <a:rPr lang="zh-CN" altLang="en-US" sz="1600" dirty="0"/>
                        <a:t>要合并的列</a:t>
                      </a:r>
                    </a:p>
                  </a:txBody>
                  <a:tcPr anchor="ctr"/>
                </a:tc>
                <a:extLst>
                  <a:ext uri="{0D108BD9-81ED-4DB2-BD59-A6C34878D82A}">
                    <a16:rowId xmlns:a16="http://schemas.microsoft.com/office/drawing/2014/main" val="2511397495"/>
                  </a:ext>
                </a:extLst>
              </a:tr>
              <a:tr h="370840">
                <a:tc vMerge="1">
                  <a:txBody>
                    <a:bodyPr/>
                    <a:lstStyle/>
                    <a:p>
                      <a:pPr algn="ctr"/>
                      <a:endParaRPr lang="zh-CN" altLang="en-US" sz="1600" i="1" dirty="0"/>
                    </a:p>
                  </a:txBody>
                  <a:tcPr anchor="ctr"/>
                </a:tc>
                <a:tc>
                  <a:txBody>
                    <a:bodyPr/>
                    <a:lstStyle/>
                    <a:p>
                      <a:pPr algn="ctr"/>
                      <a:r>
                        <a:rPr lang="en-US" altLang="zh-CN" sz="1600" dirty="0" err="1"/>
                        <a:t>sep</a:t>
                      </a:r>
                      <a:endParaRPr lang="zh-CN" altLang="en-US" sz="1600" dirty="0"/>
                    </a:p>
                  </a:txBody>
                  <a:tcPr anchor="ctr"/>
                </a:tc>
                <a:tc>
                  <a:txBody>
                    <a:bodyPr/>
                    <a:lstStyle/>
                    <a:p>
                      <a:pPr algn="ctr"/>
                      <a:r>
                        <a:rPr lang="zh-CN" altLang="en-US" sz="1600" dirty="0"/>
                        <a:t>字符串</a:t>
                      </a:r>
                    </a:p>
                  </a:txBody>
                  <a:tcPr anchor="ctr"/>
                </a:tc>
                <a:tc>
                  <a:txBody>
                    <a:bodyPr/>
                    <a:lstStyle/>
                    <a:p>
                      <a:pPr algn="ctr"/>
                      <a:r>
                        <a:rPr lang="zh-CN" altLang="en-US" sz="1600" dirty="0"/>
                        <a:t>在合并值之间插入的字符</a:t>
                      </a:r>
                    </a:p>
                  </a:txBody>
                  <a:tcPr anchor="ctr"/>
                </a:tc>
                <a:extLst>
                  <a:ext uri="{0D108BD9-81ED-4DB2-BD59-A6C34878D82A}">
                    <a16:rowId xmlns:a16="http://schemas.microsoft.com/office/drawing/2014/main" val="3721515634"/>
                  </a:ext>
                </a:extLst>
              </a:tr>
            </a:tbl>
          </a:graphicData>
        </a:graphic>
      </p:graphicFrame>
      <p:sp>
        <p:nvSpPr>
          <p:cNvPr id="6" name="文本框 5">
            <a:extLst>
              <a:ext uri="{FF2B5EF4-FFF2-40B4-BE49-F238E27FC236}">
                <a16:creationId xmlns:a16="http://schemas.microsoft.com/office/drawing/2014/main" id="{14A39962-EDBD-A9B4-21CE-9CF6F8933EA4}"/>
              </a:ext>
            </a:extLst>
          </p:cNvPr>
          <p:cNvSpPr txBox="1"/>
          <p:nvPr/>
        </p:nvSpPr>
        <p:spPr>
          <a:xfrm>
            <a:off x="3422486" y="5839589"/>
            <a:ext cx="2299027" cy="307777"/>
          </a:xfrm>
          <a:prstGeom prst="rect">
            <a:avLst/>
          </a:prstGeom>
          <a:noFill/>
        </p:spPr>
        <p:txBody>
          <a:bodyPr wrap="none" rtlCol="0">
            <a:spAutoFit/>
          </a:bodyPr>
          <a:lstStyle/>
          <a:p>
            <a:r>
              <a:rPr lang="en-US" altLang="zh-CN" sz="1400" i="1" dirty="0">
                <a:effectLst/>
                <a:latin typeface="+mj-lt"/>
                <a:ea typeface="+mj-ea"/>
              </a:rPr>
              <a:t>separate()</a:t>
            </a:r>
            <a:r>
              <a:rPr lang="zh-CN" altLang="en-US" sz="1400" dirty="0">
                <a:effectLst/>
                <a:latin typeface="+mj-lt"/>
                <a:ea typeface="+mj-ea"/>
              </a:rPr>
              <a:t>和</a:t>
            </a:r>
            <a:r>
              <a:rPr lang="en-US" altLang="zh-CN" sz="1400" i="1" dirty="0">
                <a:effectLst/>
                <a:latin typeface="+mj-lt"/>
                <a:ea typeface="+mj-ea"/>
              </a:rPr>
              <a:t>unite()</a:t>
            </a:r>
            <a:r>
              <a:rPr lang="zh-CN" altLang="en-US" sz="1400" dirty="0">
                <a:effectLst/>
                <a:latin typeface="+mj-lt"/>
                <a:ea typeface="+mj-ea"/>
              </a:rPr>
              <a:t>参数列表</a:t>
            </a:r>
            <a:endParaRPr lang="zh-CN" altLang="en-US" sz="1400" dirty="0">
              <a:latin typeface="+mj-lt"/>
              <a:ea typeface="+mj-ea"/>
            </a:endParaRPr>
          </a:p>
        </p:txBody>
      </p:sp>
    </p:spTree>
    <p:extLst>
      <p:ext uri="{BB962C8B-B14F-4D97-AF65-F5344CB8AC3E}">
        <p14:creationId xmlns:p14="http://schemas.microsoft.com/office/powerpoint/2010/main" val="6136258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AD927-6A00-48DA-C350-2FABEE47EE2C}"/>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84378A3-ED1F-4FB4-AF27-AB87DDBFDC3D}"/>
              </a:ext>
            </a:extLst>
          </p:cNvPr>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40</a:t>
            </a:fld>
            <a:endParaRPr lang="zh-CN" altLang="en-US" dirty="0">
              <a:solidFill>
                <a:schemeClr val="bg2">
                  <a:lumMod val="75000"/>
                </a:schemeClr>
              </a:solidFill>
              <a:sym typeface="Consolas" panose="020B0609020204030204" pitchFamily="49" charset="0"/>
            </a:endParaRPr>
          </a:p>
        </p:txBody>
      </p:sp>
      <p:sp>
        <p:nvSpPr>
          <p:cNvPr id="11" name="标题 9">
            <a:extLst>
              <a:ext uri="{FF2B5EF4-FFF2-40B4-BE49-F238E27FC236}">
                <a16:creationId xmlns:a16="http://schemas.microsoft.com/office/drawing/2014/main" id="{044E7D4F-1B46-2718-8D81-1460710339AE}"/>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2.4.4 </a:t>
            </a:r>
            <a:r>
              <a:rPr lang="zh-CN" altLang="en-US" sz="3600" dirty="0">
                <a:latin typeface="Times New Roman" panose="02020603050405020304" pitchFamily="18" charset="0"/>
                <a:cs typeface="Times New Roman" panose="02020603050405020304" pitchFamily="18" charset="0"/>
              </a:rPr>
              <a:t>数据重塑</a:t>
            </a:r>
          </a:p>
        </p:txBody>
      </p:sp>
      <p:sp>
        <p:nvSpPr>
          <p:cNvPr id="3" name="矩形 2">
            <a:extLst>
              <a:ext uri="{FF2B5EF4-FFF2-40B4-BE49-F238E27FC236}">
                <a16:creationId xmlns:a16="http://schemas.microsoft.com/office/drawing/2014/main" id="{71966025-8088-17D6-2B91-57819F2B2E1B}"/>
              </a:ext>
            </a:extLst>
          </p:cNvPr>
          <p:cNvSpPr/>
          <p:nvPr/>
        </p:nvSpPr>
        <p:spPr>
          <a:xfrm>
            <a:off x="419100" y="1411518"/>
            <a:ext cx="7543800" cy="430182"/>
          </a:xfrm>
          <a:prstGeom prst="rect">
            <a:avLst/>
          </a:prstGeom>
        </p:spPr>
        <p:txBody>
          <a:bodyPr wrap="square">
            <a:spAutoFit/>
          </a:bodyPr>
          <a:lstStyle/>
          <a:p>
            <a:pPr>
              <a:lnSpc>
                <a:spcPct val="120000"/>
              </a:lnSpc>
            </a:pPr>
            <a:r>
              <a:rPr lang="en-US" altLang="zh-CN" sz="2000" b="1" dirty="0">
                <a:latin typeface="+mj-lt"/>
                <a:ea typeface="+mj-ea"/>
                <a:cs typeface="+mn-ea"/>
                <a:sym typeface="Consolas" panose="020B0609020204030204" pitchFamily="49" charset="0"/>
              </a:rPr>
              <a:t>(2) </a:t>
            </a:r>
            <a:r>
              <a:rPr lang="zh-CN" altLang="en-US" sz="2000" b="1" dirty="0">
                <a:latin typeface="+mj-lt"/>
                <a:ea typeface="+mj-ea"/>
                <a:cs typeface="+mn-ea"/>
                <a:sym typeface="Consolas" panose="020B0609020204030204" pitchFamily="49" charset="0"/>
              </a:rPr>
              <a:t>拆分列和合并列</a:t>
            </a:r>
            <a:endParaRPr lang="en-US" altLang="zh-CN" sz="2000" b="1" dirty="0">
              <a:latin typeface="+mn-ea"/>
              <a:ea typeface="+mn-ea"/>
              <a:cs typeface="+mn-ea"/>
              <a:sym typeface="Consolas" panose="020B0609020204030204" pitchFamily="49" charset="0"/>
            </a:endParaRPr>
          </a:p>
        </p:txBody>
      </p:sp>
      <p:sp>
        <p:nvSpPr>
          <p:cNvPr id="7" name="文本框 6">
            <a:extLst>
              <a:ext uri="{FF2B5EF4-FFF2-40B4-BE49-F238E27FC236}">
                <a16:creationId xmlns:a16="http://schemas.microsoft.com/office/drawing/2014/main" id="{91222112-B739-3C85-A7A1-A67BFDF41F9C}"/>
              </a:ext>
            </a:extLst>
          </p:cNvPr>
          <p:cNvSpPr txBox="1"/>
          <p:nvPr/>
        </p:nvSpPr>
        <p:spPr>
          <a:xfrm>
            <a:off x="-76200" y="1864594"/>
            <a:ext cx="4229100" cy="437940"/>
          </a:xfrm>
          <a:prstGeom prst="rect">
            <a:avLst/>
          </a:prstGeom>
        </p:spPr>
        <p:txBody>
          <a:bodyPr wrap="square">
            <a:spAutoFit/>
          </a:bodyPr>
          <a:lstStyle>
            <a:defPPr>
              <a:defRPr lang="zh-CN"/>
            </a:defPPr>
            <a:lvl1pPr marL="285750" indent="457200" algn="just">
              <a:lnSpc>
                <a:spcPct val="140000"/>
              </a:lnSpc>
              <a:buFont typeface="Wingdings" panose="05000000000000000000" pitchFamily="2" charset="2"/>
              <a:buChar char="ü"/>
              <a:defRPr b="1">
                <a:latin typeface="+mn-lt"/>
                <a:ea typeface="+mn-ea"/>
              </a:defRPr>
            </a:lvl1pPr>
          </a:lstStyle>
          <a:p>
            <a:pPr indent="0">
              <a:buNone/>
            </a:pPr>
            <a:r>
              <a:rPr lang="zh-CN" altLang="en-US" b="0" dirty="0"/>
              <a:t>创建一个数据框：</a:t>
            </a:r>
            <a:endParaRPr lang="en-US" altLang="zh-CN" b="0" dirty="0"/>
          </a:p>
        </p:txBody>
      </p:sp>
      <p:sp>
        <p:nvSpPr>
          <p:cNvPr id="5" name="文本框 4">
            <a:extLst>
              <a:ext uri="{FF2B5EF4-FFF2-40B4-BE49-F238E27FC236}">
                <a16:creationId xmlns:a16="http://schemas.microsoft.com/office/drawing/2014/main" id="{03A45F11-CFB4-AC27-A17F-25B1917F5A82}"/>
              </a:ext>
            </a:extLst>
          </p:cNvPr>
          <p:cNvSpPr txBox="1"/>
          <p:nvPr/>
        </p:nvSpPr>
        <p:spPr>
          <a:xfrm>
            <a:off x="342900" y="2292351"/>
            <a:ext cx="5410200" cy="1077218"/>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original_data</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tibble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subject = c(</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"S1"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"S2"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"S3"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score = c(</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"80-88"</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"90-92"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"85-84"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
        <p:nvSpPr>
          <p:cNvPr id="8" name="文本框 7">
            <a:extLst>
              <a:ext uri="{FF2B5EF4-FFF2-40B4-BE49-F238E27FC236}">
                <a16:creationId xmlns:a16="http://schemas.microsoft.com/office/drawing/2014/main" id="{BF27AE67-FE5A-CFC4-37C8-1350B8C310A4}"/>
              </a:ext>
            </a:extLst>
          </p:cNvPr>
          <p:cNvSpPr txBox="1"/>
          <p:nvPr/>
        </p:nvSpPr>
        <p:spPr>
          <a:xfrm>
            <a:off x="342900" y="3849741"/>
            <a:ext cx="10172700" cy="830997"/>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separated_data</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original_data</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%&gt;%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separate(col = score, into = c(</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"test1_score"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"test2_score"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sep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separated_data</a:t>
            </a:r>
            <a:endParaRPr lang="zh-CN" altLang="zh-CN" sz="1600" dirty="0">
              <a:effectLst/>
              <a:latin typeface="Times New Roman" panose="02020603050405020304" pitchFamily="18" charset="0"/>
              <a:ea typeface="宋体" panose="02010600030101010101" pitchFamily="2" charset="-122"/>
            </a:endParaRPr>
          </a:p>
        </p:txBody>
      </p:sp>
      <p:sp>
        <p:nvSpPr>
          <p:cNvPr id="9" name="文本框 8">
            <a:extLst>
              <a:ext uri="{FF2B5EF4-FFF2-40B4-BE49-F238E27FC236}">
                <a16:creationId xmlns:a16="http://schemas.microsoft.com/office/drawing/2014/main" id="{65DA3A0C-6762-FA84-5149-D69B263D64FF}"/>
              </a:ext>
            </a:extLst>
          </p:cNvPr>
          <p:cNvSpPr txBox="1"/>
          <p:nvPr/>
        </p:nvSpPr>
        <p:spPr>
          <a:xfrm>
            <a:off x="342900" y="5160888"/>
            <a:ext cx="10096500" cy="104644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united_data</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separated_data</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%&gt;%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unite(col =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combined_score</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"test1_score"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"test2_score"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sep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united_data</a:t>
            </a:r>
            <a:endParaRPr lang="zh-CN" altLang="zh-CN" sz="1600" dirty="0">
              <a:effectLst/>
              <a:latin typeface="Times New Roman" panose="02020603050405020304" pitchFamily="18" charset="0"/>
              <a:ea typeface="宋体" panose="02010600030101010101" pitchFamily="2" charset="-122"/>
            </a:endParaRPr>
          </a:p>
          <a:p>
            <a:pPr indent="127000" algn="l"/>
            <a:endParaRPr lang="zh-CN" altLang="zh-CN" sz="1400" dirty="0">
              <a:effectLst/>
              <a:latin typeface="Times New Roman" panose="02020603050405020304" pitchFamily="18" charset="0"/>
              <a:ea typeface="宋体" panose="02010600030101010101" pitchFamily="2" charset="-122"/>
            </a:endParaRPr>
          </a:p>
        </p:txBody>
      </p:sp>
      <p:sp>
        <p:nvSpPr>
          <p:cNvPr id="10" name="文本框 9">
            <a:extLst>
              <a:ext uri="{FF2B5EF4-FFF2-40B4-BE49-F238E27FC236}">
                <a16:creationId xmlns:a16="http://schemas.microsoft.com/office/drawing/2014/main" id="{18A01BB3-73F0-3A78-4F7B-5621A6D0245A}"/>
              </a:ext>
            </a:extLst>
          </p:cNvPr>
          <p:cNvSpPr txBox="1"/>
          <p:nvPr/>
        </p:nvSpPr>
        <p:spPr>
          <a:xfrm>
            <a:off x="-76200" y="4722948"/>
            <a:ext cx="4229100" cy="437940"/>
          </a:xfrm>
          <a:prstGeom prst="rect">
            <a:avLst/>
          </a:prstGeom>
        </p:spPr>
        <p:txBody>
          <a:bodyPr wrap="square">
            <a:spAutoFit/>
          </a:bodyPr>
          <a:lstStyle>
            <a:defPPr>
              <a:defRPr lang="zh-CN"/>
            </a:defPPr>
            <a:lvl1pPr marL="285750" indent="457200" algn="just">
              <a:lnSpc>
                <a:spcPct val="140000"/>
              </a:lnSpc>
              <a:buFont typeface="Wingdings" panose="05000000000000000000" pitchFamily="2" charset="2"/>
              <a:buChar char="ü"/>
              <a:defRPr b="1">
                <a:latin typeface="+mn-lt"/>
                <a:ea typeface="+mn-ea"/>
              </a:defRPr>
            </a:lvl1pPr>
          </a:lstStyle>
          <a:p>
            <a:pPr indent="0">
              <a:buNone/>
            </a:pPr>
            <a:r>
              <a:rPr lang="zh-CN" altLang="en-US" dirty="0"/>
              <a:t>② 合并列</a:t>
            </a:r>
            <a:endParaRPr lang="en-US" altLang="zh-CN" dirty="0"/>
          </a:p>
        </p:txBody>
      </p:sp>
      <p:sp>
        <p:nvSpPr>
          <p:cNvPr id="13" name="文本框 12">
            <a:extLst>
              <a:ext uri="{FF2B5EF4-FFF2-40B4-BE49-F238E27FC236}">
                <a16:creationId xmlns:a16="http://schemas.microsoft.com/office/drawing/2014/main" id="{B5B98F70-A3F5-14D9-469E-A44AE543D6E6}"/>
              </a:ext>
            </a:extLst>
          </p:cNvPr>
          <p:cNvSpPr txBox="1"/>
          <p:nvPr/>
        </p:nvSpPr>
        <p:spPr>
          <a:xfrm>
            <a:off x="-76200" y="3411801"/>
            <a:ext cx="4229100" cy="437940"/>
          </a:xfrm>
          <a:prstGeom prst="rect">
            <a:avLst/>
          </a:prstGeom>
        </p:spPr>
        <p:txBody>
          <a:bodyPr wrap="square">
            <a:spAutoFit/>
          </a:bodyPr>
          <a:lstStyle>
            <a:defPPr>
              <a:defRPr lang="zh-CN"/>
            </a:defPPr>
            <a:lvl1pPr marL="285750" indent="457200" algn="just">
              <a:lnSpc>
                <a:spcPct val="140000"/>
              </a:lnSpc>
              <a:buFont typeface="Wingdings" panose="05000000000000000000" pitchFamily="2" charset="2"/>
              <a:buChar char="ü"/>
              <a:defRPr b="1">
                <a:latin typeface="+mn-lt"/>
                <a:ea typeface="+mn-ea"/>
              </a:defRPr>
            </a:lvl1pPr>
          </a:lstStyle>
          <a:p>
            <a:pPr indent="0">
              <a:buNone/>
            </a:pPr>
            <a:r>
              <a:rPr lang="zh-CN" altLang="en-US" dirty="0"/>
              <a:t>① 拆分列</a:t>
            </a:r>
            <a:endParaRPr lang="en-US" altLang="zh-CN" dirty="0"/>
          </a:p>
        </p:txBody>
      </p:sp>
    </p:spTree>
    <p:extLst>
      <p:ext uri="{BB962C8B-B14F-4D97-AF65-F5344CB8AC3E}">
        <p14:creationId xmlns:p14="http://schemas.microsoft.com/office/powerpoint/2010/main" val="36582085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076E5-9729-07EC-A049-B9C5FB0B90DF}"/>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9112E7B-D24B-81C8-E315-E26BFD63FB98}"/>
              </a:ext>
            </a:extLst>
          </p:cNvPr>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41</a:t>
            </a:fld>
            <a:endParaRPr lang="zh-CN" altLang="en-US" dirty="0">
              <a:solidFill>
                <a:schemeClr val="bg2">
                  <a:lumMod val="75000"/>
                </a:schemeClr>
              </a:solidFill>
              <a:sym typeface="Consolas" panose="020B0609020204030204" pitchFamily="49" charset="0"/>
            </a:endParaRPr>
          </a:p>
        </p:txBody>
      </p:sp>
      <p:sp>
        <p:nvSpPr>
          <p:cNvPr id="11" name="标题 9">
            <a:extLst>
              <a:ext uri="{FF2B5EF4-FFF2-40B4-BE49-F238E27FC236}">
                <a16:creationId xmlns:a16="http://schemas.microsoft.com/office/drawing/2014/main" id="{2B0360E9-66F1-0849-0D68-AF344501686F}"/>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2.4.5 </a:t>
            </a:r>
            <a:r>
              <a:rPr lang="zh-CN" altLang="en-US" sz="3600" dirty="0">
                <a:latin typeface="Times New Roman" panose="02020603050405020304" pitchFamily="18" charset="0"/>
                <a:cs typeface="Times New Roman" panose="02020603050405020304" pitchFamily="18" charset="0"/>
              </a:rPr>
              <a:t>缺失值与异常值的处理</a:t>
            </a:r>
          </a:p>
        </p:txBody>
      </p:sp>
      <p:sp>
        <p:nvSpPr>
          <p:cNvPr id="5" name="文本框 4">
            <a:extLst>
              <a:ext uri="{FF2B5EF4-FFF2-40B4-BE49-F238E27FC236}">
                <a16:creationId xmlns:a16="http://schemas.microsoft.com/office/drawing/2014/main" id="{0B37F87C-ACAD-8ED1-9758-8E4E48A25009}"/>
              </a:ext>
            </a:extLst>
          </p:cNvPr>
          <p:cNvSpPr txBox="1"/>
          <p:nvPr/>
        </p:nvSpPr>
        <p:spPr>
          <a:xfrm>
            <a:off x="495300" y="1666038"/>
            <a:ext cx="7779473" cy="3927485"/>
          </a:xfrm>
          <a:prstGeom prst="rect">
            <a:avLst/>
          </a:prstGeom>
        </p:spPr>
        <p:txBody>
          <a:bodyPr wrap="square">
            <a:spAutoFit/>
          </a:bodyPr>
          <a:lstStyle>
            <a:defPPr>
              <a:defRPr lang="zh-CN"/>
            </a:defPPr>
            <a:lvl1pPr marL="285750" indent="457200" algn="just">
              <a:lnSpc>
                <a:spcPct val="140000"/>
              </a:lnSpc>
              <a:buFont typeface="Wingdings" panose="05000000000000000000" pitchFamily="2" charset="2"/>
              <a:buChar char="ü"/>
              <a:defRPr b="1">
                <a:latin typeface="+mn-lt"/>
                <a:ea typeface="+mn-ea"/>
              </a:defRPr>
            </a:lvl1pPr>
          </a:lstStyle>
          <a:p>
            <a:r>
              <a:rPr lang="zh-CN" altLang="en-US" dirty="0"/>
              <a:t>处理缺失值和异常值</a:t>
            </a:r>
            <a:r>
              <a:rPr lang="zh-CN" altLang="en-US" b="0" dirty="0"/>
              <a:t>是数据预处理的重要部分，因为它们可以对分析结果产生重大影响。</a:t>
            </a:r>
            <a:endParaRPr lang="en-US" altLang="zh-CN" b="0" dirty="0"/>
          </a:p>
          <a:p>
            <a:r>
              <a:rPr lang="zh-CN" altLang="en-US" dirty="0"/>
              <a:t>缺失值</a:t>
            </a:r>
            <a:r>
              <a:rPr lang="zh-CN" altLang="en-US" b="0" dirty="0"/>
              <a:t>可能会扭曲统计分析的结果，而</a:t>
            </a:r>
            <a:r>
              <a:rPr lang="zh-CN" altLang="en-US" dirty="0"/>
              <a:t>异常值</a:t>
            </a:r>
            <a:r>
              <a:rPr lang="zh-CN" altLang="en-US" b="0" dirty="0"/>
              <a:t>可能是数据录入错误或真实的极端值，需要特别关注。</a:t>
            </a:r>
            <a:endParaRPr lang="en-US" altLang="zh-CN" b="0" dirty="0"/>
          </a:p>
          <a:p>
            <a:r>
              <a:rPr lang="zh-CN" altLang="en-US" dirty="0"/>
              <a:t>缺失值的处理方式包括：</a:t>
            </a:r>
            <a:endParaRPr lang="en-US" altLang="zh-CN" dirty="0"/>
          </a:p>
          <a:p>
            <a:pPr marL="628650" indent="-342900">
              <a:buFont typeface="+mj-lt"/>
              <a:buAutoNum type="arabicPeriod"/>
            </a:pPr>
            <a:r>
              <a:rPr lang="zh-CN" altLang="en-US" b="0" dirty="0"/>
              <a:t>移除：删除含有缺失值的行或列</a:t>
            </a:r>
            <a:endParaRPr lang="en-US" altLang="zh-CN" b="0" dirty="0"/>
          </a:p>
          <a:p>
            <a:pPr marL="628650" indent="-342900">
              <a:buFont typeface="+mj-lt"/>
              <a:buAutoNum type="arabicPeriod"/>
            </a:pPr>
            <a:r>
              <a:rPr lang="zh-CN" altLang="en-US" b="0" dirty="0"/>
              <a:t>填充：用统计量（如均值、中位数）或其他方法填充缺失值</a:t>
            </a:r>
            <a:endParaRPr lang="en-US" altLang="zh-CN" b="0" dirty="0"/>
          </a:p>
          <a:p>
            <a:r>
              <a:rPr lang="zh-CN" altLang="en-US" dirty="0"/>
              <a:t>异常值的处理方式通常包括：</a:t>
            </a:r>
            <a:endParaRPr lang="en-US" altLang="zh-CN" dirty="0"/>
          </a:p>
          <a:p>
            <a:pPr marL="628650" indent="-342900">
              <a:buFont typeface="+mj-lt"/>
              <a:buAutoNum type="arabicPeriod"/>
            </a:pPr>
            <a:r>
              <a:rPr lang="zh-CN" altLang="en-US" b="0" dirty="0"/>
              <a:t>识别：首先识别出可能的异常值</a:t>
            </a:r>
            <a:endParaRPr lang="en-US" altLang="zh-CN" b="0" dirty="0"/>
          </a:p>
          <a:p>
            <a:pPr marL="628650" indent="-342900">
              <a:buFont typeface="+mj-lt"/>
              <a:buAutoNum type="arabicPeriod"/>
            </a:pPr>
            <a:r>
              <a:rPr lang="zh-CN" altLang="en-US" b="0" dirty="0"/>
              <a:t>处理：处理方法可能包括移除、替换或保留（如果异常值是合理的）</a:t>
            </a:r>
            <a:endParaRPr lang="en-US" altLang="zh-CN" b="0" dirty="0"/>
          </a:p>
        </p:txBody>
      </p:sp>
    </p:spTree>
    <p:extLst>
      <p:ext uri="{BB962C8B-B14F-4D97-AF65-F5344CB8AC3E}">
        <p14:creationId xmlns:p14="http://schemas.microsoft.com/office/powerpoint/2010/main" val="20683823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DA96A-5B5A-CD83-8078-33113DDC119E}"/>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84C7305-1E8B-8515-63D2-ECED990D11A6}"/>
              </a:ext>
            </a:extLst>
          </p:cNvPr>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42</a:t>
            </a:fld>
            <a:endParaRPr lang="zh-CN" altLang="en-US" dirty="0">
              <a:solidFill>
                <a:schemeClr val="bg2">
                  <a:lumMod val="75000"/>
                </a:schemeClr>
              </a:solidFill>
              <a:sym typeface="Consolas" panose="020B0609020204030204" pitchFamily="49" charset="0"/>
            </a:endParaRPr>
          </a:p>
        </p:txBody>
      </p:sp>
      <p:sp>
        <p:nvSpPr>
          <p:cNvPr id="11" name="标题 9">
            <a:extLst>
              <a:ext uri="{FF2B5EF4-FFF2-40B4-BE49-F238E27FC236}">
                <a16:creationId xmlns:a16="http://schemas.microsoft.com/office/drawing/2014/main" id="{1EF37E68-9505-8419-FA65-D8E68406557E}"/>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2.4.5 </a:t>
            </a:r>
            <a:r>
              <a:rPr lang="zh-CN" altLang="en-US" sz="3600" dirty="0">
                <a:latin typeface="Times New Roman" panose="02020603050405020304" pitchFamily="18" charset="0"/>
                <a:cs typeface="Times New Roman" panose="02020603050405020304" pitchFamily="18" charset="0"/>
              </a:rPr>
              <a:t>缺失值与异常值的处理</a:t>
            </a:r>
          </a:p>
        </p:txBody>
      </p:sp>
      <p:sp>
        <p:nvSpPr>
          <p:cNvPr id="5" name="文本框 4">
            <a:extLst>
              <a:ext uri="{FF2B5EF4-FFF2-40B4-BE49-F238E27FC236}">
                <a16:creationId xmlns:a16="http://schemas.microsoft.com/office/drawing/2014/main" id="{DB72780D-1B62-7CC1-4F0C-E51E3F500AB7}"/>
              </a:ext>
            </a:extLst>
          </p:cNvPr>
          <p:cNvSpPr txBox="1"/>
          <p:nvPr/>
        </p:nvSpPr>
        <p:spPr>
          <a:xfrm>
            <a:off x="-114300" y="1824747"/>
            <a:ext cx="7779473" cy="437940"/>
          </a:xfrm>
          <a:prstGeom prst="rect">
            <a:avLst/>
          </a:prstGeom>
        </p:spPr>
        <p:txBody>
          <a:bodyPr wrap="square">
            <a:spAutoFit/>
          </a:bodyPr>
          <a:lstStyle>
            <a:defPPr>
              <a:defRPr lang="zh-CN"/>
            </a:defPPr>
            <a:lvl1pPr marL="285750" indent="457200" algn="just">
              <a:lnSpc>
                <a:spcPct val="140000"/>
              </a:lnSpc>
              <a:buFont typeface="Wingdings" panose="05000000000000000000" pitchFamily="2" charset="2"/>
              <a:buChar char="ü"/>
              <a:defRPr b="1">
                <a:latin typeface="+mn-lt"/>
                <a:ea typeface="+mn-ea"/>
              </a:defRPr>
            </a:lvl1pPr>
          </a:lstStyle>
          <a:p>
            <a:r>
              <a:rPr lang="zh-CN" altLang="en-US" b="0" dirty="0"/>
              <a:t>使用</a:t>
            </a:r>
            <a:r>
              <a:rPr lang="en-US" altLang="zh-CN" dirty="0" err="1"/>
              <a:t>dplyr</a:t>
            </a:r>
            <a:r>
              <a:rPr lang="zh-CN" altLang="en-US" b="0" dirty="0"/>
              <a:t>包处理缺失值和异常值的示例：</a:t>
            </a:r>
            <a:endParaRPr lang="en-US" altLang="zh-CN" b="0" dirty="0"/>
          </a:p>
        </p:txBody>
      </p:sp>
      <p:sp>
        <p:nvSpPr>
          <p:cNvPr id="2" name="文本框 1">
            <a:extLst>
              <a:ext uri="{FF2B5EF4-FFF2-40B4-BE49-F238E27FC236}">
                <a16:creationId xmlns:a16="http://schemas.microsoft.com/office/drawing/2014/main" id="{77F7549B-4ABA-7E51-1B5B-5758444F428C}"/>
              </a:ext>
            </a:extLst>
          </p:cNvPr>
          <p:cNvSpPr txBox="1"/>
          <p:nvPr/>
        </p:nvSpPr>
        <p:spPr>
          <a:xfrm>
            <a:off x="266700" y="2476500"/>
            <a:ext cx="8801100" cy="3108543"/>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data_no_missing</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data %&gt;%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filter(</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complete.cases</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data_filled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data %&gt;%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mutate(</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hours_worked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4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ifelse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(is.na(</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hours_worked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mean(</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hours_worked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na.rm = </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hours_worked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data_no_outliers</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data %&gt;%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filter(performance &gt;=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&amp; performance &lt;=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median_performance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median(</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a:t>
            </a:r>
            <a:r>
              <a:rPr lang="en-US" altLang="zh-CN" sz="14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performance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na.rm = </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data_replace_outliers</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data %&gt;%</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mutate(performance = </a:t>
            </a:r>
            <a:r>
              <a:rPr lang="en-US" altLang="zh-CN" sz="14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ifelse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(performance &lt;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performance &gt;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median_performance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performance))</a:t>
            </a:r>
            <a:endParaRPr lang="zh-CN" altLang="zh-CN" sz="14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6767924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E4DF9-C55B-F5E8-32C0-6186A02F116D}"/>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64760278-39CD-6588-85AB-4874CA69B1FD}"/>
              </a:ext>
            </a:extLst>
          </p:cNvPr>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43</a:t>
            </a:fld>
            <a:endParaRPr lang="zh-CN" altLang="en-US" dirty="0">
              <a:solidFill>
                <a:schemeClr val="bg2">
                  <a:lumMod val="75000"/>
                </a:schemeClr>
              </a:solidFill>
              <a:sym typeface="Consolas" panose="020B0609020204030204" pitchFamily="49" charset="0"/>
            </a:endParaRPr>
          </a:p>
        </p:txBody>
      </p:sp>
      <p:sp>
        <p:nvSpPr>
          <p:cNvPr id="11" name="标题 9">
            <a:extLst>
              <a:ext uri="{FF2B5EF4-FFF2-40B4-BE49-F238E27FC236}">
                <a16:creationId xmlns:a16="http://schemas.microsoft.com/office/drawing/2014/main" id="{2ADC92B1-A9D5-3561-2003-1F5F1E488817}"/>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2.4.5 </a:t>
            </a:r>
            <a:r>
              <a:rPr lang="zh-CN" altLang="en-US" sz="3600" dirty="0">
                <a:latin typeface="Times New Roman" panose="02020603050405020304" pitchFamily="18" charset="0"/>
                <a:cs typeface="Times New Roman" panose="02020603050405020304" pitchFamily="18" charset="0"/>
              </a:rPr>
              <a:t>缺失值与异常值的处理</a:t>
            </a:r>
          </a:p>
        </p:txBody>
      </p:sp>
      <p:sp>
        <p:nvSpPr>
          <p:cNvPr id="3" name="文本框 2">
            <a:extLst>
              <a:ext uri="{FF2B5EF4-FFF2-40B4-BE49-F238E27FC236}">
                <a16:creationId xmlns:a16="http://schemas.microsoft.com/office/drawing/2014/main" id="{E639C798-68C0-06D4-FB3D-EAB3D57BAAE2}"/>
              </a:ext>
            </a:extLst>
          </p:cNvPr>
          <p:cNvSpPr txBox="1"/>
          <p:nvPr/>
        </p:nvSpPr>
        <p:spPr>
          <a:xfrm>
            <a:off x="304800" y="1104900"/>
            <a:ext cx="8305800" cy="5091522"/>
          </a:xfrm>
          <a:prstGeom prst="rect">
            <a:avLst/>
          </a:prstGeom>
        </p:spPr>
        <p:txBody>
          <a:bodyPr wrap="square">
            <a:spAutoFit/>
          </a:bodyPr>
          <a:lstStyle>
            <a:defPPr>
              <a:defRPr lang="zh-CN"/>
            </a:defPPr>
            <a:lvl1pPr marL="285750" indent="457200" algn="just">
              <a:lnSpc>
                <a:spcPct val="140000"/>
              </a:lnSpc>
              <a:buFont typeface="Wingdings" panose="05000000000000000000" pitchFamily="2" charset="2"/>
              <a:buChar char="ü"/>
              <a:defRPr b="1">
                <a:latin typeface="+mn-lt"/>
                <a:ea typeface="+mn-ea"/>
              </a:defRPr>
            </a:lvl1pPr>
          </a:lstStyle>
          <a:p>
            <a:r>
              <a:rPr lang="zh-CN" altLang="en-US" b="0" dirty="0"/>
              <a:t>使用</a:t>
            </a:r>
            <a:r>
              <a:rPr lang="zh-CN" altLang="en-US" dirty="0"/>
              <a:t>管道操作</a:t>
            </a:r>
            <a:r>
              <a:rPr lang="zh-CN" altLang="en-US" b="0" dirty="0"/>
              <a:t>对上述步骤进行整合：</a:t>
            </a:r>
            <a:endParaRPr lang="en-US" altLang="zh-CN" b="0" dirty="0"/>
          </a:p>
          <a:p>
            <a:endParaRPr lang="en-US" altLang="zh-CN" b="0" dirty="0"/>
          </a:p>
          <a:p>
            <a:endParaRPr lang="en-US" altLang="zh-CN" b="0" dirty="0"/>
          </a:p>
          <a:p>
            <a:endParaRPr lang="en-US" altLang="zh-CN" b="0" dirty="0"/>
          </a:p>
          <a:p>
            <a:endParaRPr lang="en-US" altLang="zh-CN" b="0" dirty="0"/>
          </a:p>
          <a:p>
            <a:endParaRPr lang="en-US" altLang="zh-CN" b="0" dirty="0"/>
          </a:p>
          <a:p>
            <a:pPr indent="0">
              <a:buNone/>
            </a:pPr>
            <a:endParaRPr lang="en-US" altLang="zh-CN" b="0" dirty="0"/>
          </a:p>
          <a:p>
            <a:r>
              <a:rPr lang="zh-CN" altLang="en-US" b="0" dirty="0"/>
              <a:t>上面的管道操作主要分为两个步骤：</a:t>
            </a:r>
            <a:endParaRPr lang="en-US" altLang="zh-CN" b="0" dirty="0"/>
          </a:p>
          <a:p>
            <a:pPr marL="628650" indent="-342900">
              <a:buFont typeface="+mj-lt"/>
              <a:buAutoNum type="arabicPeriod"/>
            </a:pPr>
            <a:r>
              <a:rPr lang="zh-CN" altLang="en-US" dirty="0"/>
              <a:t>填充缺失值</a:t>
            </a:r>
            <a:r>
              <a:rPr lang="zh-CN" altLang="en-US" b="0" dirty="0"/>
              <a:t>：使用</a:t>
            </a:r>
            <a:r>
              <a:rPr lang="en-US" altLang="zh-CN" b="0" i="1" dirty="0"/>
              <a:t>mutate()</a:t>
            </a:r>
            <a:r>
              <a:rPr lang="zh-CN" altLang="en-US" b="0" dirty="0"/>
              <a:t>与</a:t>
            </a:r>
            <a:r>
              <a:rPr lang="en-US" altLang="zh-CN" b="0" i="1" dirty="0" err="1"/>
              <a:t>ifelse</a:t>
            </a:r>
            <a:r>
              <a:rPr lang="en-US" altLang="zh-CN" b="0" i="1" dirty="0"/>
              <a:t>()</a:t>
            </a:r>
            <a:r>
              <a:rPr lang="zh-CN" altLang="en-US" b="0" dirty="0"/>
              <a:t>组合来填充</a:t>
            </a:r>
            <a:r>
              <a:rPr lang="en-US" altLang="zh-CN" b="0" dirty="0" err="1"/>
              <a:t>hours_worked</a:t>
            </a:r>
            <a:r>
              <a:rPr lang="zh-CN" altLang="en-US" b="0" dirty="0"/>
              <a:t>和</a:t>
            </a:r>
            <a:r>
              <a:rPr lang="en-US" altLang="zh-CN" b="0" dirty="0"/>
              <a:t>bonus</a:t>
            </a:r>
            <a:r>
              <a:rPr lang="zh-CN" altLang="en-US" b="0" dirty="0"/>
              <a:t>列的缺失值。这里采用的是各自列的平均值（不包括缺失值）。</a:t>
            </a:r>
            <a:endParaRPr lang="en-US" altLang="zh-CN" b="0" dirty="0"/>
          </a:p>
          <a:p>
            <a:pPr marL="628650" indent="-342900">
              <a:buFont typeface="+mj-lt"/>
              <a:buAutoNum type="arabicPeriod"/>
            </a:pPr>
            <a:r>
              <a:rPr lang="zh-CN" altLang="en-US" dirty="0"/>
              <a:t>标记异常值</a:t>
            </a:r>
            <a:r>
              <a:rPr lang="zh-CN" altLang="en-US" b="0" dirty="0"/>
              <a:t>：通过添加一个新的列</a:t>
            </a:r>
            <a:r>
              <a:rPr lang="en-US" altLang="zh-CN" b="0" dirty="0" err="1"/>
              <a:t>performance_error</a:t>
            </a:r>
            <a:r>
              <a:rPr lang="zh-CN" altLang="en-US" b="0" dirty="0"/>
              <a:t>来标记异常值，而不是移除它们。如果</a:t>
            </a:r>
            <a:r>
              <a:rPr lang="en-US" altLang="zh-CN" b="0" dirty="0"/>
              <a:t>performance</a:t>
            </a:r>
            <a:r>
              <a:rPr lang="zh-CN" altLang="en-US" b="0" dirty="0"/>
              <a:t>列的值小于</a:t>
            </a:r>
            <a:r>
              <a:rPr lang="en-US" altLang="zh-CN" b="0" dirty="0"/>
              <a:t>-3</a:t>
            </a:r>
            <a:r>
              <a:rPr lang="zh-CN" altLang="en-US" b="0" dirty="0"/>
              <a:t>或大于</a:t>
            </a:r>
            <a:r>
              <a:rPr lang="en-US" altLang="zh-CN" b="0" dirty="0"/>
              <a:t>3</a:t>
            </a:r>
            <a:r>
              <a:rPr lang="zh-CN" altLang="en-US" b="0" dirty="0"/>
              <a:t>，就将</a:t>
            </a:r>
            <a:r>
              <a:rPr lang="en-US" altLang="zh-CN" b="0" dirty="0" err="1"/>
              <a:t>performance_error</a:t>
            </a:r>
            <a:r>
              <a:rPr lang="zh-CN" altLang="en-US" b="0" dirty="0"/>
              <a:t>设置为</a:t>
            </a:r>
            <a:r>
              <a:rPr lang="en-US" altLang="zh-CN" b="0" dirty="0"/>
              <a:t>TRUE</a:t>
            </a:r>
            <a:r>
              <a:rPr lang="zh-CN" altLang="en-US" b="0" dirty="0"/>
              <a:t>，否则为</a:t>
            </a:r>
            <a:r>
              <a:rPr lang="en-US" altLang="zh-CN" b="0" dirty="0"/>
              <a:t>FALSE</a:t>
            </a:r>
            <a:r>
              <a:rPr lang="zh-CN" altLang="en-US" b="0" dirty="0"/>
              <a:t>。</a:t>
            </a:r>
            <a:endParaRPr lang="en-US" altLang="zh-CN" b="0" dirty="0"/>
          </a:p>
        </p:txBody>
      </p:sp>
      <p:sp>
        <p:nvSpPr>
          <p:cNvPr id="6" name="文本框 5">
            <a:extLst>
              <a:ext uri="{FF2B5EF4-FFF2-40B4-BE49-F238E27FC236}">
                <a16:creationId xmlns:a16="http://schemas.microsoft.com/office/drawing/2014/main" id="{FD5BA656-8B4E-EEB7-4C0E-81E5DB828D25}"/>
              </a:ext>
            </a:extLst>
          </p:cNvPr>
          <p:cNvSpPr txBox="1"/>
          <p:nvPr/>
        </p:nvSpPr>
        <p:spPr>
          <a:xfrm>
            <a:off x="419100" y="1600200"/>
            <a:ext cx="8724900" cy="2031325"/>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data_processed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data %&gt;%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mutate(</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hours_worked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4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ifelse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(is.na(</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hours_worked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mean(</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hours_worked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na.rm = </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hours_worked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bonus = </a:t>
            </a:r>
            <a:r>
              <a:rPr lang="en-US" altLang="zh-CN" sz="14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ifelse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(is.na(bonus), mean(bonus, na.rm = </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bonus)</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%&gt;%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mutate(</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performance_error</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4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ifelse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(performance &lt;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performance &gt;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TRUE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FALSE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8365490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DF812-1596-C5B4-2015-1BC794CED156}"/>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A537588-77F2-D89B-FE06-18F2F9359E36}"/>
              </a:ext>
            </a:extLst>
          </p:cNvPr>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44</a:t>
            </a:fld>
            <a:endParaRPr lang="zh-CN" altLang="en-US" dirty="0">
              <a:solidFill>
                <a:schemeClr val="bg2">
                  <a:lumMod val="75000"/>
                </a:schemeClr>
              </a:solidFill>
              <a:sym typeface="Consolas" panose="020B0609020204030204" pitchFamily="49" charset="0"/>
            </a:endParaRPr>
          </a:p>
        </p:txBody>
      </p:sp>
      <p:sp>
        <p:nvSpPr>
          <p:cNvPr id="11" name="标题 9">
            <a:extLst>
              <a:ext uri="{FF2B5EF4-FFF2-40B4-BE49-F238E27FC236}">
                <a16:creationId xmlns:a16="http://schemas.microsoft.com/office/drawing/2014/main" id="{E3D0E90E-70C3-DEBC-009B-4EF0811F7F8F}"/>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2.4.6 </a:t>
            </a:r>
            <a:r>
              <a:rPr lang="zh-CN" altLang="en-US" sz="3600" dirty="0">
                <a:latin typeface="Times New Roman" panose="02020603050405020304" pitchFamily="18" charset="0"/>
                <a:cs typeface="Times New Roman" panose="02020603050405020304" pitchFamily="18" charset="0"/>
              </a:rPr>
              <a:t>非关系型数据的处理</a:t>
            </a:r>
          </a:p>
        </p:txBody>
      </p:sp>
      <p:sp>
        <p:nvSpPr>
          <p:cNvPr id="3" name="文本框 2">
            <a:extLst>
              <a:ext uri="{FF2B5EF4-FFF2-40B4-BE49-F238E27FC236}">
                <a16:creationId xmlns:a16="http://schemas.microsoft.com/office/drawing/2014/main" id="{FD2EC51D-4F3F-F702-8933-3E6B4AAEEB55}"/>
              </a:ext>
            </a:extLst>
          </p:cNvPr>
          <p:cNvSpPr txBox="1"/>
          <p:nvPr/>
        </p:nvSpPr>
        <p:spPr>
          <a:xfrm>
            <a:off x="228600" y="2053837"/>
            <a:ext cx="8496300" cy="3151888"/>
          </a:xfrm>
          <a:prstGeom prst="rect">
            <a:avLst/>
          </a:prstGeom>
        </p:spPr>
        <p:txBody>
          <a:bodyPr wrap="square">
            <a:spAutoFit/>
          </a:bodyPr>
          <a:lstStyle>
            <a:defPPr>
              <a:defRPr lang="zh-CN"/>
            </a:defPPr>
            <a:lvl1pPr marL="285750" indent="457200" algn="just">
              <a:lnSpc>
                <a:spcPct val="140000"/>
              </a:lnSpc>
              <a:buFont typeface="Wingdings" panose="05000000000000000000" pitchFamily="2" charset="2"/>
              <a:buChar char="ü"/>
              <a:defRPr b="1">
                <a:latin typeface="+mn-lt"/>
                <a:ea typeface="+mn-ea"/>
              </a:defRPr>
            </a:lvl1pPr>
          </a:lstStyle>
          <a:p>
            <a:r>
              <a:rPr lang="zh-CN" altLang="en-US" dirty="0"/>
              <a:t>非关系型数据</a:t>
            </a:r>
            <a:r>
              <a:rPr lang="zh-CN" altLang="en-US" b="0" dirty="0"/>
              <a:t>，通常也被称为</a:t>
            </a:r>
            <a:r>
              <a:rPr lang="zh-CN" altLang="en-US" dirty="0"/>
              <a:t>半结构化数据</a:t>
            </a:r>
            <a:r>
              <a:rPr lang="en-US" altLang="zh-CN" b="0" dirty="0"/>
              <a:t>(semi-structured data)</a:t>
            </a:r>
            <a:r>
              <a:rPr lang="zh-CN" altLang="en-US" b="0" dirty="0"/>
              <a:t>或者</a:t>
            </a:r>
            <a:r>
              <a:rPr lang="zh-CN" altLang="en-US" dirty="0"/>
              <a:t>嵌套数据</a:t>
            </a:r>
            <a:r>
              <a:rPr lang="en-US" altLang="zh-CN" b="0" dirty="0"/>
              <a:t>(nested data)</a:t>
            </a:r>
            <a:r>
              <a:rPr lang="zh-CN" altLang="en-US" b="0" dirty="0"/>
              <a:t>。</a:t>
            </a:r>
            <a:endParaRPr lang="en-US" altLang="zh-CN" b="0" dirty="0"/>
          </a:p>
          <a:p>
            <a:r>
              <a:rPr lang="zh-CN" altLang="en-US" b="0" dirty="0"/>
              <a:t>这种数据形式不遵循传统关系型数据库的表格结构，而是使用</a:t>
            </a:r>
            <a:r>
              <a:rPr lang="zh-CN" altLang="en-US" dirty="0"/>
              <a:t>嵌套</a:t>
            </a:r>
            <a:r>
              <a:rPr lang="zh-CN" altLang="en-US" b="0" dirty="0"/>
              <a:t>的方式将数据组织在一起。</a:t>
            </a:r>
            <a:endParaRPr lang="en-US" altLang="zh-CN" b="0" dirty="0"/>
          </a:p>
          <a:p>
            <a:r>
              <a:rPr lang="zh-CN" altLang="en-US" b="0" dirty="0"/>
              <a:t>非关系型数据的</a:t>
            </a:r>
            <a:r>
              <a:rPr lang="zh-CN" altLang="en-US" dirty="0"/>
              <a:t>元组的字段数量不一致</a:t>
            </a:r>
            <a:r>
              <a:rPr lang="zh-CN" altLang="en-US" b="0" dirty="0"/>
              <a:t>，</a:t>
            </a:r>
            <a:r>
              <a:rPr lang="zh-CN" altLang="en-US" dirty="0"/>
              <a:t>数据结构也不固定</a:t>
            </a:r>
            <a:r>
              <a:rPr lang="zh-CN" altLang="en-US" b="0" dirty="0"/>
              <a:t>，无法使用</a:t>
            </a:r>
            <a:r>
              <a:rPr lang="en-US" altLang="zh-CN" dirty="0" err="1"/>
              <a:t>dplyr</a:t>
            </a:r>
            <a:r>
              <a:rPr lang="zh-CN" altLang="en-US" b="0" dirty="0"/>
              <a:t>函数包对其进行处理，因此需要额外调用</a:t>
            </a:r>
            <a:r>
              <a:rPr lang="en-US" altLang="zh-CN" dirty="0" err="1"/>
              <a:t>rlist</a:t>
            </a:r>
            <a:r>
              <a:rPr lang="zh-CN" altLang="en-US" b="0" dirty="0"/>
              <a:t>函数包。</a:t>
            </a:r>
            <a:endParaRPr lang="en-US" altLang="zh-CN" b="0" dirty="0"/>
          </a:p>
          <a:p>
            <a:r>
              <a:rPr lang="en-US" altLang="zh-CN" i="1" dirty="0" err="1"/>
              <a:t>list.map</a:t>
            </a:r>
            <a:r>
              <a:rPr lang="en-US" altLang="zh-CN" i="1" dirty="0"/>
              <a:t>()</a:t>
            </a:r>
            <a:r>
              <a:rPr lang="zh-CN" altLang="en-US" b="0" dirty="0"/>
              <a:t>函数可以将数据映射到某一字段，</a:t>
            </a:r>
            <a:r>
              <a:rPr lang="en-US" altLang="zh-CN" i="1" dirty="0" err="1"/>
              <a:t>list.filter</a:t>
            </a:r>
            <a:r>
              <a:rPr lang="en-US" altLang="zh-CN" i="1" dirty="0"/>
              <a:t>()</a:t>
            </a:r>
            <a:r>
              <a:rPr lang="zh-CN" altLang="en-US" b="0" dirty="0"/>
              <a:t>函数用于过滤属性值。</a:t>
            </a:r>
            <a:endParaRPr lang="en-US" altLang="zh-CN" b="0" dirty="0"/>
          </a:p>
          <a:p>
            <a:pPr indent="0">
              <a:buNone/>
            </a:pPr>
            <a:endParaRPr lang="en-US" altLang="zh-CN" b="0" dirty="0"/>
          </a:p>
        </p:txBody>
      </p:sp>
    </p:spTree>
    <p:extLst>
      <p:ext uri="{BB962C8B-B14F-4D97-AF65-F5344CB8AC3E}">
        <p14:creationId xmlns:p14="http://schemas.microsoft.com/office/powerpoint/2010/main" val="538693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621A0-7C30-C43C-1EAE-CAE47067A141}"/>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BF327BBA-5A5D-EBC1-1B34-280D27077344}"/>
              </a:ext>
            </a:extLst>
          </p:cNvPr>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45</a:t>
            </a:fld>
            <a:endParaRPr lang="zh-CN" altLang="en-US" dirty="0">
              <a:solidFill>
                <a:schemeClr val="bg2">
                  <a:lumMod val="75000"/>
                </a:schemeClr>
              </a:solidFill>
              <a:sym typeface="Consolas" panose="020B0609020204030204" pitchFamily="49" charset="0"/>
            </a:endParaRPr>
          </a:p>
        </p:txBody>
      </p:sp>
      <p:sp>
        <p:nvSpPr>
          <p:cNvPr id="11" name="标题 9">
            <a:extLst>
              <a:ext uri="{FF2B5EF4-FFF2-40B4-BE49-F238E27FC236}">
                <a16:creationId xmlns:a16="http://schemas.microsoft.com/office/drawing/2014/main" id="{D07BBC2E-809E-45A2-3693-B2BA7F15C561}"/>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2.4.6 </a:t>
            </a:r>
            <a:r>
              <a:rPr lang="zh-CN" altLang="en-US" sz="3600" dirty="0">
                <a:latin typeface="Times New Roman" panose="02020603050405020304" pitchFamily="18" charset="0"/>
                <a:cs typeface="Times New Roman" panose="02020603050405020304" pitchFamily="18" charset="0"/>
              </a:rPr>
              <a:t>非关系型数据的处理</a:t>
            </a:r>
          </a:p>
        </p:txBody>
      </p:sp>
      <p:sp>
        <p:nvSpPr>
          <p:cNvPr id="6" name="文本框 5">
            <a:extLst>
              <a:ext uri="{FF2B5EF4-FFF2-40B4-BE49-F238E27FC236}">
                <a16:creationId xmlns:a16="http://schemas.microsoft.com/office/drawing/2014/main" id="{5365CA50-5698-1558-C2E6-0DC523EC5825}"/>
              </a:ext>
            </a:extLst>
          </p:cNvPr>
          <p:cNvSpPr txBox="1"/>
          <p:nvPr/>
        </p:nvSpPr>
        <p:spPr>
          <a:xfrm>
            <a:off x="38100" y="2132214"/>
            <a:ext cx="5448300" cy="3970318"/>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person &lt;- </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p1=</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(name=</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Ken"</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,age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24</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interest=c(</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reading"</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"music"</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"movies</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lang=</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,csharp=</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,python=</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p2=</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(name=</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James"</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,age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25</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interest=c(</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sports"</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"music</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lang=</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,java=</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,cpp=</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p3=</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(name=</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Penny"</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,age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24</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interest=c(</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movies"</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"reading</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lang=</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,cpp=</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,python=</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str(person)</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list.map</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(person, age)</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list.map</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(person, names(lang))</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p.age25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list.filter</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(person, age &gt;=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25</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str(p.age25)</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p.py3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list.filter</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(person,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lang</a:t>
            </a:r>
            <a:r>
              <a:rPr lang="en-US" altLang="zh-CN" sz="14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python</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&gt;=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str(p.py3)</a:t>
            </a:r>
            <a:endParaRPr lang="zh-CN" altLang="zh-CN" sz="1400" dirty="0">
              <a:effectLst/>
              <a:latin typeface="Times New Roman" panose="02020603050405020304" pitchFamily="18" charset="0"/>
              <a:ea typeface="宋体" panose="02010600030101010101" pitchFamily="2" charset="-122"/>
            </a:endParaRPr>
          </a:p>
        </p:txBody>
      </p:sp>
      <p:pic>
        <p:nvPicPr>
          <p:cNvPr id="2" name="图片 1">
            <a:extLst>
              <a:ext uri="{FF2B5EF4-FFF2-40B4-BE49-F238E27FC236}">
                <a16:creationId xmlns:a16="http://schemas.microsoft.com/office/drawing/2014/main" id="{2AF11215-0EDD-FD22-EFA9-A3C47D12B9E1}"/>
              </a:ext>
            </a:extLst>
          </p:cNvPr>
          <p:cNvPicPr>
            <a:picLocks noChangeAspect="1"/>
          </p:cNvPicPr>
          <p:nvPr/>
        </p:nvPicPr>
        <p:blipFill>
          <a:blip r:embed="rId2"/>
          <a:stretch>
            <a:fillRect/>
          </a:stretch>
        </p:blipFill>
        <p:spPr>
          <a:xfrm>
            <a:off x="5410200" y="2394043"/>
            <a:ext cx="3524250" cy="3300095"/>
          </a:xfrm>
          <a:prstGeom prst="rect">
            <a:avLst/>
          </a:prstGeom>
          <a:ln>
            <a:noFill/>
          </a:ln>
          <a:effectLst>
            <a:outerShdw blurRad="190500" algn="tl" rotWithShape="0">
              <a:srgbClr val="000000">
                <a:alpha val="70000"/>
              </a:srgbClr>
            </a:outerShdw>
          </a:effectLst>
        </p:spPr>
      </p:pic>
      <p:sp>
        <p:nvSpPr>
          <p:cNvPr id="5" name="文本框 4">
            <a:extLst>
              <a:ext uri="{FF2B5EF4-FFF2-40B4-BE49-F238E27FC236}">
                <a16:creationId xmlns:a16="http://schemas.microsoft.com/office/drawing/2014/main" id="{FB3B21C6-E9BE-1396-06C3-29CA78670AD7}"/>
              </a:ext>
            </a:extLst>
          </p:cNvPr>
          <p:cNvSpPr txBox="1"/>
          <p:nvPr/>
        </p:nvSpPr>
        <p:spPr>
          <a:xfrm>
            <a:off x="6541383" y="5710758"/>
            <a:ext cx="1261884" cy="307777"/>
          </a:xfrm>
          <a:prstGeom prst="rect">
            <a:avLst/>
          </a:prstGeom>
          <a:noFill/>
        </p:spPr>
        <p:txBody>
          <a:bodyPr wrap="none" rtlCol="0">
            <a:spAutoFit/>
          </a:bodyPr>
          <a:lstStyle/>
          <a:p>
            <a:r>
              <a:rPr lang="zh-CN" altLang="en-US" sz="1400" dirty="0">
                <a:latin typeface="+mn-ea"/>
                <a:ea typeface="+mn-ea"/>
              </a:rPr>
              <a:t>非关系型数据</a:t>
            </a:r>
          </a:p>
        </p:txBody>
      </p:sp>
      <p:sp>
        <p:nvSpPr>
          <p:cNvPr id="7" name="文本框 6">
            <a:extLst>
              <a:ext uri="{FF2B5EF4-FFF2-40B4-BE49-F238E27FC236}">
                <a16:creationId xmlns:a16="http://schemas.microsoft.com/office/drawing/2014/main" id="{52C3D5B0-7A17-CA55-2A80-A87463CF065B}"/>
              </a:ext>
            </a:extLst>
          </p:cNvPr>
          <p:cNvSpPr txBox="1"/>
          <p:nvPr/>
        </p:nvSpPr>
        <p:spPr>
          <a:xfrm>
            <a:off x="190500" y="1285434"/>
            <a:ext cx="8496300" cy="825098"/>
          </a:xfrm>
          <a:prstGeom prst="rect">
            <a:avLst/>
          </a:prstGeom>
        </p:spPr>
        <p:txBody>
          <a:bodyPr wrap="square">
            <a:spAutoFit/>
          </a:bodyPr>
          <a:lstStyle>
            <a:defPPr>
              <a:defRPr lang="zh-CN"/>
            </a:defPPr>
            <a:lvl1pPr marL="285750" indent="457200" algn="just">
              <a:lnSpc>
                <a:spcPct val="140000"/>
              </a:lnSpc>
              <a:buFont typeface="Wingdings" panose="05000000000000000000" pitchFamily="2" charset="2"/>
              <a:buChar char="ü"/>
              <a:defRPr b="1">
                <a:latin typeface="+mn-lt"/>
                <a:ea typeface="+mn-ea"/>
              </a:defRPr>
            </a:lvl1pPr>
          </a:lstStyle>
          <a:p>
            <a:r>
              <a:rPr lang="zh-CN" altLang="en-US" b="0" dirty="0"/>
              <a:t>观察非关系型数据的结构，并使用</a:t>
            </a:r>
            <a:r>
              <a:rPr lang="en-US" altLang="zh-CN" i="1" dirty="0" err="1"/>
              <a:t>list.map</a:t>
            </a:r>
            <a:r>
              <a:rPr lang="en-US" altLang="zh-CN" i="1" dirty="0"/>
              <a:t>()</a:t>
            </a:r>
            <a:r>
              <a:rPr lang="zh-CN" altLang="en-US" b="0" dirty="0"/>
              <a:t>函数和</a:t>
            </a:r>
            <a:r>
              <a:rPr lang="en-US" altLang="zh-CN" i="1" dirty="0" err="1"/>
              <a:t>list.filter</a:t>
            </a:r>
            <a:r>
              <a:rPr lang="en-US" altLang="zh-CN" i="1" dirty="0"/>
              <a:t>()</a:t>
            </a:r>
            <a:r>
              <a:rPr lang="zh-CN" altLang="en-US" b="0" dirty="0"/>
              <a:t>函数进行映射和过滤：</a:t>
            </a:r>
            <a:endParaRPr lang="en-US" altLang="zh-CN" b="0" dirty="0"/>
          </a:p>
        </p:txBody>
      </p:sp>
    </p:spTree>
    <p:extLst>
      <p:ext uri="{BB962C8B-B14F-4D97-AF65-F5344CB8AC3E}">
        <p14:creationId xmlns:p14="http://schemas.microsoft.com/office/powerpoint/2010/main" val="3714090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E209A-B9AD-76EA-04E7-E51EFB6470C3}"/>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EF421434-3BAF-D2C7-2C5B-02BA732550D9}"/>
              </a:ext>
            </a:extLst>
          </p:cNvPr>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46</a:t>
            </a:fld>
            <a:endParaRPr lang="zh-CN" altLang="en-US" dirty="0">
              <a:solidFill>
                <a:schemeClr val="bg2">
                  <a:lumMod val="75000"/>
                </a:schemeClr>
              </a:solidFill>
              <a:sym typeface="Consolas" panose="020B0609020204030204" pitchFamily="49" charset="0"/>
            </a:endParaRPr>
          </a:p>
        </p:txBody>
      </p:sp>
      <p:sp>
        <p:nvSpPr>
          <p:cNvPr id="11" name="标题 9">
            <a:extLst>
              <a:ext uri="{FF2B5EF4-FFF2-40B4-BE49-F238E27FC236}">
                <a16:creationId xmlns:a16="http://schemas.microsoft.com/office/drawing/2014/main" id="{95744ECB-D1A1-5C3A-063B-B61CA5B35C0A}"/>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2.4.6 </a:t>
            </a:r>
            <a:r>
              <a:rPr lang="zh-CN" altLang="en-US" sz="3600" dirty="0">
                <a:latin typeface="Times New Roman" panose="02020603050405020304" pitchFamily="18" charset="0"/>
                <a:cs typeface="Times New Roman" panose="02020603050405020304" pitchFamily="18" charset="0"/>
              </a:rPr>
              <a:t>非关系型数据的处理</a:t>
            </a:r>
          </a:p>
        </p:txBody>
      </p:sp>
      <p:sp>
        <p:nvSpPr>
          <p:cNvPr id="3" name="文本框 2">
            <a:extLst>
              <a:ext uri="{FF2B5EF4-FFF2-40B4-BE49-F238E27FC236}">
                <a16:creationId xmlns:a16="http://schemas.microsoft.com/office/drawing/2014/main" id="{4FAF1512-93F7-3CD6-786F-DCE744423D84}"/>
              </a:ext>
            </a:extLst>
          </p:cNvPr>
          <p:cNvSpPr txBox="1"/>
          <p:nvPr/>
        </p:nvSpPr>
        <p:spPr>
          <a:xfrm>
            <a:off x="190500" y="1143000"/>
            <a:ext cx="8496300" cy="1213537"/>
          </a:xfrm>
          <a:prstGeom prst="rect">
            <a:avLst/>
          </a:prstGeom>
        </p:spPr>
        <p:txBody>
          <a:bodyPr wrap="square">
            <a:spAutoFit/>
          </a:bodyPr>
          <a:lstStyle>
            <a:defPPr>
              <a:defRPr lang="zh-CN"/>
            </a:defPPr>
            <a:lvl1pPr marL="285750" indent="457200" algn="just">
              <a:lnSpc>
                <a:spcPct val="140000"/>
              </a:lnSpc>
              <a:buFont typeface="Wingdings" panose="05000000000000000000" pitchFamily="2" charset="2"/>
              <a:buChar char="ü"/>
              <a:defRPr b="1">
                <a:latin typeface="+mn-lt"/>
                <a:ea typeface="+mn-ea"/>
              </a:defRPr>
            </a:lvl1pPr>
          </a:lstStyle>
          <a:p>
            <a:r>
              <a:rPr lang="zh-CN" altLang="en-US" b="0" dirty="0"/>
              <a:t>非关系型数据的</a:t>
            </a:r>
            <a:r>
              <a:rPr lang="zh-CN" altLang="en-US" dirty="0"/>
              <a:t>元组的字段数量不一致</a:t>
            </a:r>
            <a:r>
              <a:rPr lang="zh-CN" altLang="en-US" b="0" dirty="0"/>
              <a:t>，</a:t>
            </a:r>
            <a:r>
              <a:rPr lang="zh-CN" altLang="en-US" dirty="0"/>
              <a:t>数据结构也不固定</a:t>
            </a:r>
            <a:r>
              <a:rPr lang="zh-CN" altLang="en-US" b="0" dirty="0"/>
              <a:t>，无法使用</a:t>
            </a:r>
            <a:r>
              <a:rPr lang="en-US" altLang="zh-CN" dirty="0" err="1"/>
              <a:t>dplyr</a:t>
            </a:r>
            <a:r>
              <a:rPr lang="zh-CN" altLang="en-US" b="0" dirty="0"/>
              <a:t>函数包对其进行处理，因此需要额外调用</a:t>
            </a:r>
            <a:r>
              <a:rPr lang="en-US" altLang="zh-CN" dirty="0" err="1"/>
              <a:t>rlist</a:t>
            </a:r>
            <a:r>
              <a:rPr lang="zh-CN" altLang="en-US" b="0" dirty="0"/>
              <a:t>函数包。</a:t>
            </a:r>
            <a:endParaRPr lang="en-US" altLang="zh-CN" b="0" dirty="0"/>
          </a:p>
          <a:p>
            <a:r>
              <a:rPr lang="en-US" altLang="zh-CN" i="1" dirty="0" err="1"/>
              <a:t>list.map</a:t>
            </a:r>
            <a:r>
              <a:rPr lang="en-US" altLang="zh-CN" i="1" dirty="0"/>
              <a:t>()</a:t>
            </a:r>
            <a:r>
              <a:rPr lang="zh-CN" altLang="en-US" b="0" dirty="0"/>
              <a:t>函数可以将数据映射到某一字段，</a:t>
            </a:r>
            <a:r>
              <a:rPr lang="en-US" altLang="zh-CN" i="1" dirty="0" err="1"/>
              <a:t>list.filter</a:t>
            </a:r>
            <a:r>
              <a:rPr lang="en-US" altLang="zh-CN" i="1" dirty="0"/>
              <a:t>()</a:t>
            </a:r>
            <a:r>
              <a:rPr lang="zh-CN" altLang="en-US" b="0" dirty="0"/>
              <a:t>函数用于过滤属性值：</a:t>
            </a:r>
            <a:endParaRPr lang="en-US" altLang="zh-CN" b="0" dirty="0"/>
          </a:p>
        </p:txBody>
      </p:sp>
      <p:sp>
        <p:nvSpPr>
          <p:cNvPr id="5" name="文本框 4">
            <a:extLst>
              <a:ext uri="{FF2B5EF4-FFF2-40B4-BE49-F238E27FC236}">
                <a16:creationId xmlns:a16="http://schemas.microsoft.com/office/drawing/2014/main" id="{C2287B04-C30B-7667-D270-AD071FF67A73}"/>
              </a:ext>
            </a:extLst>
          </p:cNvPr>
          <p:cNvSpPr txBox="1"/>
          <p:nvPr/>
        </p:nvSpPr>
        <p:spPr>
          <a:xfrm>
            <a:off x="5874948" y="5631645"/>
            <a:ext cx="902811" cy="307777"/>
          </a:xfrm>
          <a:prstGeom prst="rect">
            <a:avLst/>
          </a:prstGeom>
          <a:noFill/>
        </p:spPr>
        <p:txBody>
          <a:bodyPr wrap="none" rtlCol="0">
            <a:spAutoFit/>
          </a:bodyPr>
          <a:lstStyle/>
          <a:p>
            <a:r>
              <a:rPr lang="zh-CN" altLang="en-US" sz="1400" dirty="0">
                <a:latin typeface="+mn-ea"/>
                <a:ea typeface="+mn-ea"/>
              </a:rPr>
              <a:t>过滤结果</a:t>
            </a:r>
          </a:p>
        </p:txBody>
      </p:sp>
      <p:pic>
        <p:nvPicPr>
          <p:cNvPr id="7" name="图片 6">
            <a:extLst>
              <a:ext uri="{FF2B5EF4-FFF2-40B4-BE49-F238E27FC236}">
                <a16:creationId xmlns:a16="http://schemas.microsoft.com/office/drawing/2014/main" id="{F1FF4AB5-9EA7-ACBB-C318-C3A3E188A4A5}"/>
              </a:ext>
            </a:extLst>
          </p:cNvPr>
          <p:cNvPicPr>
            <a:picLocks noChangeAspect="1"/>
          </p:cNvPicPr>
          <p:nvPr/>
        </p:nvPicPr>
        <p:blipFill>
          <a:blip r:embed="rId2"/>
          <a:stretch>
            <a:fillRect/>
          </a:stretch>
        </p:blipFill>
        <p:spPr>
          <a:xfrm>
            <a:off x="990600" y="2595996"/>
            <a:ext cx="2857500" cy="2950079"/>
          </a:xfrm>
          <a:prstGeom prst="rect">
            <a:avLst/>
          </a:prstGeom>
          <a:ln>
            <a:noFill/>
          </a:ln>
          <a:effectLst>
            <a:outerShdw blurRad="190500" algn="tl" rotWithShape="0">
              <a:srgbClr val="000000">
                <a:alpha val="70000"/>
              </a:srgbClr>
            </a:outerShdw>
          </a:effectLst>
        </p:spPr>
      </p:pic>
      <p:pic>
        <p:nvPicPr>
          <p:cNvPr id="8" name="图片 7">
            <a:extLst>
              <a:ext uri="{FF2B5EF4-FFF2-40B4-BE49-F238E27FC236}">
                <a16:creationId xmlns:a16="http://schemas.microsoft.com/office/drawing/2014/main" id="{2289775E-68D1-8613-06A6-2F4D0FABECD7}"/>
              </a:ext>
            </a:extLst>
          </p:cNvPr>
          <p:cNvPicPr>
            <a:picLocks noChangeAspect="1"/>
          </p:cNvPicPr>
          <p:nvPr/>
        </p:nvPicPr>
        <p:blipFill>
          <a:blip r:embed="rId3"/>
          <a:stretch>
            <a:fillRect/>
          </a:stretch>
        </p:blipFill>
        <p:spPr>
          <a:xfrm>
            <a:off x="4724400" y="2595996"/>
            <a:ext cx="3562981" cy="2950079"/>
          </a:xfrm>
          <a:prstGeom prst="rect">
            <a:avLst/>
          </a:prstGeom>
          <a:ln>
            <a:noFill/>
          </a:ln>
          <a:effectLst>
            <a:outerShdw blurRad="190500" algn="tl" rotWithShape="0">
              <a:srgbClr val="000000">
                <a:alpha val="70000"/>
              </a:srgbClr>
            </a:outerShdw>
          </a:effectLst>
        </p:spPr>
      </p:pic>
      <p:sp>
        <p:nvSpPr>
          <p:cNvPr id="9" name="文本框 8">
            <a:extLst>
              <a:ext uri="{FF2B5EF4-FFF2-40B4-BE49-F238E27FC236}">
                <a16:creationId xmlns:a16="http://schemas.microsoft.com/office/drawing/2014/main" id="{0472FB0B-DB6E-7EB7-EA47-0F27BB51DAA5}"/>
              </a:ext>
            </a:extLst>
          </p:cNvPr>
          <p:cNvSpPr txBox="1"/>
          <p:nvPr/>
        </p:nvSpPr>
        <p:spPr>
          <a:xfrm>
            <a:off x="1788408" y="5631645"/>
            <a:ext cx="902811" cy="307777"/>
          </a:xfrm>
          <a:prstGeom prst="rect">
            <a:avLst/>
          </a:prstGeom>
          <a:noFill/>
        </p:spPr>
        <p:txBody>
          <a:bodyPr wrap="none" rtlCol="0">
            <a:spAutoFit/>
          </a:bodyPr>
          <a:lstStyle/>
          <a:p>
            <a:r>
              <a:rPr lang="zh-CN" altLang="en-US" sz="1400" dirty="0">
                <a:latin typeface="+mn-ea"/>
                <a:ea typeface="+mn-ea"/>
              </a:rPr>
              <a:t>映射结果</a:t>
            </a:r>
          </a:p>
        </p:txBody>
      </p:sp>
    </p:spTree>
    <p:extLst>
      <p:ext uri="{BB962C8B-B14F-4D97-AF65-F5344CB8AC3E}">
        <p14:creationId xmlns:p14="http://schemas.microsoft.com/office/powerpoint/2010/main" val="4630286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AFFC3-E1A1-8DE6-283C-7F9C3EC92116}"/>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BE0D4E74-1B95-F618-4903-BF15624B032F}"/>
              </a:ext>
            </a:extLst>
          </p:cNvPr>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47</a:t>
            </a:fld>
            <a:endParaRPr lang="zh-CN" altLang="en-US" dirty="0">
              <a:solidFill>
                <a:schemeClr val="bg2">
                  <a:lumMod val="75000"/>
                </a:schemeClr>
              </a:solidFill>
              <a:sym typeface="Consolas" panose="020B0609020204030204" pitchFamily="49" charset="0"/>
            </a:endParaRPr>
          </a:p>
        </p:txBody>
      </p:sp>
      <p:sp>
        <p:nvSpPr>
          <p:cNvPr id="11" name="标题 9">
            <a:extLst>
              <a:ext uri="{FF2B5EF4-FFF2-40B4-BE49-F238E27FC236}">
                <a16:creationId xmlns:a16="http://schemas.microsoft.com/office/drawing/2014/main" id="{279EC5D5-F82A-3B0C-7E88-995E996CBDAD}"/>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2.4.6 </a:t>
            </a:r>
            <a:r>
              <a:rPr lang="zh-CN" altLang="en-US" sz="3600" dirty="0">
                <a:latin typeface="Times New Roman" panose="02020603050405020304" pitchFamily="18" charset="0"/>
                <a:cs typeface="Times New Roman" panose="02020603050405020304" pitchFamily="18" charset="0"/>
              </a:rPr>
              <a:t>非关系型数据的处理</a:t>
            </a:r>
          </a:p>
        </p:txBody>
      </p:sp>
      <p:sp>
        <p:nvSpPr>
          <p:cNvPr id="3" name="文本框 2">
            <a:extLst>
              <a:ext uri="{FF2B5EF4-FFF2-40B4-BE49-F238E27FC236}">
                <a16:creationId xmlns:a16="http://schemas.microsoft.com/office/drawing/2014/main" id="{67961E04-A33C-97CC-386F-AABC40580D3D}"/>
              </a:ext>
            </a:extLst>
          </p:cNvPr>
          <p:cNvSpPr txBox="1"/>
          <p:nvPr/>
        </p:nvSpPr>
        <p:spPr>
          <a:xfrm>
            <a:off x="190500" y="1638300"/>
            <a:ext cx="8496300" cy="1213537"/>
          </a:xfrm>
          <a:prstGeom prst="rect">
            <a:avLst/>
          </a:prstGeom>
        </p:spPr>
        <p:txBody>
          <a:bodyPr wrap="square">
            <a:spAutoFit/>
          </a:bodyPr>
          <a:lstStyle>
            <a:defPPr>
              <a:defRPr lang="zh-CN"/>
            </a:defPPr>
            <a:lvl1pPr marL="285750" indent="457200" algn="just">
              <a:lnSpc>
                <a:spcPct val="140000"/>
              </a:lnSpc>
              <a:buFont typeface="Wingdings" panose="05000000000000000000" pitchFamily="2" charset="2"/>
              <a:buChar char="ü"/>
              <a:defRPr b="1">
                <a:latin typeface="+mn-lt"/>
                <a:ea typeface="+mn-ea"/>
              </a:defRPr>
            </a:lvl1pPr>
          </a:lstStyle>
          <a:p>
            <a:r>
              <a:rPr lang="zh-CN" altLang="en-US" b="0" dirty="0"/>
              <a:t>针对部分非关系型数据，也可结合</a:t>
            </a:r>
            <a:r>
              <a:rPr lang="en-US" altLang="zh-CN" dirty="0" err="1"/>
              <a:t>dplyr</a:t>
            </a:r>
            <a:r>
              <a:rPr lang="zh-CN" altLang="en-US" b="0" dirty="0"/>
              <a:t>函数包中的核心函数进行处理。</a:t>
            </a:r>
            <a:endParaRPr lang="en-US" altLang="zh-CN" b="0" dirty="0"/>
          </a:p>
          <a:p>
            <a:r>
              <a:rPr lang="zh-CN" altLang="en-US" b="0" dirty="0"/>
              <a:t>创建新的以嵌套的列表和子列表形式进行组织的非关系型数据，并查看数据的结构：</a:t>
            </a:r>
            <a:endParaRPr lang="en-US" altLang="zh-CN" b="0" dirty="0"/>
          </a:p>
        </p:txBody>
      </p:sp>
      <p:sp>
        <p:nvSpPr>
          <p:cNvPr id="2" name="文本框 1">
            <a:extLst>
              <a:ext uri="{FF2B5EF4-FFF2-40B4-BE49-F238E27FC236}">
                <a16:creationId xmlns:a16="http://schemas.microsoft.com/office/drawing/2014/main" id="{9FEF806F-B8DE-D6E1-0811-FEB547AEA2BB}"/>
              </a:ext>
            </a:extLst>
          </p:cNvPr>
          <p:cNvSpPr txBox="1"/>
          <p:nvPr/>
        </p:nvSpPr>
        <p:spPr>
          <a:xfrm>
            <a:off x="819150" y="2975489"/>
            <a:ext cx="7239000" cy="2800767"/>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person_df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tibble</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name = c(</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"Ken"</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"James"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"Penny"</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age = c(</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interest = </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"reading"</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"music"</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"movies"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"sports"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"music"</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c(</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"movies"</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"reading"</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lang = </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 =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csharp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python =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 =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java =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cpp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5</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(r =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cpp</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python = </a:t>
            </a:r>
            <a:r>
              <a:rPr lang="en-US" altLang="zh-CN" sz="16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buNone/>
            </a:pP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a:p>
            <a:pPr indent="127000" algn="l"/>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print(str(</a:t>
            </a:r>
            <a:r>
              <a:rPr lang="en-US" altLang="zh-CN" sz="16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person_df</a:t>
            </a:r>
            <a:r>
              <a:rPr lang="en-US" altLang="zh-CN" sz="16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6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6585609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1BC06-005F-BFFC-2FE9-8C69D0E24D54}"/>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9380B2E-DD2C-371B-7C7C-9BD2166850D5}"/>
              </a:ext>
            </a:extLst>
          </p:cNvPr>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48</a:t>
            </a:fld>
            <a:endParaRPr lang="zh-CN" altLang="en-US" dirty="0">
              <a:solidFill>
                <a:schemeClr val="bg2">
                  <a:lumMod val="75000"/>
                </a:schemeClr>
              </a:solidFill>
              <a:sym typeface="Consolas" panose="020B0609020204030204" pitchFamily="49" charset="0"/>
            </a:endParaRPr>
          </a:p>
        </p:txBody>
      </p:sp>
      <p:sp>
        <p:nvSpPr>
          <p:cNvPr id="11" name="标题 9">
            <a:extLst>
              <a:ext uri="{FF2B5EF4-FFF2-40B4-BE49-F238E27FC236}">
                <a16:creationId xmlns:a16="http://schemas.microsoft.com/office/drawing/2014/main" id="{54D80CAE-6474-0738-CD77-1F9A47E5E682}"/>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2.4.6 </a:t>
            </a:r>
            <a:r>
              <a:rPr lang="zh-CN" altLang="en-US" sz="3600" dirty="0">
                <a:latin typeface="Times New Roman" panose="02020603050405020304" pitchFamily="18" charset="0"/>
                <a:cs typeface="Times New Roman" panose="02020603050405020304" pitchFamily="18" charset="0"/>
              </a:rPr>
              <a:t>非关系型数据的处理</a:t>
            </a:r>
          </a:p>
        </p:txBody>
      </p:sp>
      <p:sp>
        <p:nvSpPr>
          <p:cNvPr id="3" name="文本框 2">
            <a:extLst>
              <a:ext uri="{FF2B5EF4-FFF2-40B4-BE49-F238E27FC236}">
                <a16:creationId xmlns:a16="http://schemas.microsoft.com/office/drawing/2014/main" id="{F02BE680-003D-289D-E05D-19EA94EE292F}"/>
              </a:ext>
            </a:extLst>
          </p:cNvPr>
          <p:cNvSpPr txBox="1"/>
          <p:nvPr/>
        </p:nvSpPr>
        <p:spPr>
          <a:xfrm>
            <a:off x="190500" y="1216167"/>
            <a:ext cx="8496300" cy="437940"/>
          </a:xfrm>
          <a:prstGeom prst="rect">
            <a:avLst/>
          </a:prstGeom>
        </p:spPr>
        <p:txBody>
          <a:bodyPr wrap="square">
            <a:spAutoFit/>
          </a:bodyPr>
          <a:lstStyle>
            <a:defPPr>
              <a:defRPr lang="zh-CN"/>
            </a:defPPr>
            <a:lvl1pPr marL="285750" indent="457200" algn="just">
              <a:lnSpc>
                <a:spcPct val="140000"/>
              </a:lnSpc>
              <a:buFont typeface="Wingdings" panose="05000000000000000000" pitchFamily="2" charset="2"/>
              <a:buChar char="ü"/>
              <a:defRPr b="1">
                <a:latin typeface="+mn-lt"/>
                <a:ea typeface="+mn-ea"/>
              </a:defRPr>
            </a:lvl1pPr>
          </a:lstStyle>
          <a:p>
            <a:r>
              <a:rPr lang="zh-CN" altLang="en-US" b="0" dirty="0"/>
              <a:t>采用</a:t>
            </a:r>
            <a:r>
              <a:rPr lang="en-US" altLang="zh-CN" dirty="0" err="1"/>
              <a:t>dplyr</a:t>
            </a:r>
            <a:r>
              <a:rPr lang="zh-CN" altLang="en-US" b="0" dirty="0"/>
              <a:t>函数包中</a:t>
            </a:r>
            <a:r>
              <a:rPr lang="en-US" altLang="zh-CN" i="1" dirty="0"/>
              <a:t>mutate()</a:t>
            </a:r>
            <a:r>
              <a:rPr lang="zh-CN" altLang="en-US" b="0" dirty="0"/>
              <a:t>、</a:t>
            </a:r>
            <a:r>
              <a:rPr lang="en-US" altLang="zh-CN" i="1" dirty="0"/>
              <a:t>select()</a:t>
            </a:r>
            <a:r>
              <a:rPr lang="zh-CN" altLang="en-US" b="0" dirty="0"/>
              <a:t>和</a:t>
            </a:r>
            <a:r>
              <a:rPr lang="en-US" altLang="zh-CN" i="1" dirty="0"/>
              <a:t>filter()</a:t>
            </a:r>
            <a:r>
              <a:rPr lang="zh-CN" altLang="en-US" b="0" dirty="0"/>
              <a:t>函数的进行映射和过滤：</a:t>
            </a:r>
            <a:endParaRPr lang="en-US" altLang="zh-CN" b="0" dirty="0"/>
          </a:p>
        </p:txBody>
      </p:sp>
      <p:sp>
        <p:nvSpPr>
          <p:cNvPr id="2" name="文本框 1">
            <a:extLst>
              <a:ext uri="{FF2B5EF4-FFF2-40B4-BE49-F238E27FC236}">
                <a16:creationId xmlns:a16="http://schemas.microsoft.com/office/drawing/2014/main" id="{18C2B725-5A55-A254-CF64-7E39AE9A977B}"/>
              </a:ext>
            </a:extLst>
          </p:cNvPr>
          <p:cNvSpPr txBox="1"/>
          <p:nvPr/>
        </p:nvSpPr>
        <p:spPr>
          <a:xfrm>
            <a:off x="474662" y="1695240"/>
            <a:ext cx="8420100" cy="3508653"/>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person_df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%&gt;%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mutate(</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age_list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map(age, </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.x)) %&gt;%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select(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age_list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person_df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%&gt;%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mutate(</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lang_names</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map(lang, names)) %&gt;%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select(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lang_names</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p_age25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person_df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%&gt;%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filter(age &gt;=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25</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print(str(p_age25))</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p_py3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person_df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%&gt;%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filter(</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map_lgl</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(lang, </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ifelse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"python"</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%in% names(.x),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x</a:t>
            </a:r>
            <a:r>
              <a:rPr lang="en-US" altLang="zh-CN" sz="1400" dirty="0" err="1">
                <a:solidFill>
                  <a:srgbClr val="0000FF"/>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python</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&gt;=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FALSE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print(str(p_py3))</a:t>
            </a:r>
            <a:endParaRPr lang="zh-CN" altLang="zh-CN" sz="1400" dirty="0">
              <a:effectLst/>
              <a:latin typeface="Times New Roman" panose="02020603050405020304" pitchFamily="18" charset="0"/>
              <a:ea typeface="宋体" panose="02010600030101010101" pitchFamily="2" charset="-122"/>
            </a:endParaRPr>
          </a:p>
          <a:p>
            <a:pPr indent="127000" algn="l"/>
            <a:endParaRPr lang="zh-CN" altLang="zh-CN" sz="1200" dirty="0">
              <a:effectLst/>
              <a:latin typeface="Times New Roman" panose="02020603050405020304" pitchFamily="18" charset="0"/>
              <a:ea typeface="宋体" panose="02010600030101010101" pitchFamily="2" charset="-122"/>
            </a:endParaRPr>
          </a:p>
        </p:txBody>
      </p:sp>
      <p:sp>
        <p:nvSpPr>
          <p:cNvPr id="5" name="文本框 4">
            <a:extLst>
              <a:ext uri="{FF2B5EF4-FFF2-40B4-BE49-F238E27FC236}">
                <a16:creationId xmlns:a16="http://schemas.microsoft.com/office/drawing/2014/main" id="{559F873D-0884-D06E-5C40-17F566BC1CF5}"/>
              </a:ext>
            </a:extLst>
          </p:cNvPr>
          <p:cNvSpPr txBox="1"/>
          <p:nvPr/>
        </p:nvSpPr>
        <p:spPr>
          <a:xfrm>
            <a:off x="190500" y="5056104"/>
            <a:ext cx="8496300" cy="1213537"/>
          </a:xfrm>
          <a:prstGeom prst="rect">
            <a:avLst/>
          </a:prstGeom>
        </p:spPr>
        <p:txBody>
          <a:bodyPr wrap="square">
            <a:spAutoFit/>
          </a:bodyPr>
          <a:lstStyle>
            <a:defPPr>
              <a:defRPr lang="zh-CN"/>
            </a:defPPr>
            <a:lvl1pPr marL="285750" indent="457200" algn="just">
              <a:lnSpc>
                <a:spcPct val="140000"/>
              </a:lnSpc>
              <a:buFont typeface="Wingdings" panose="05000000000000000000" pitchFamily="2" charset="2"/>
              <a:buChar char="ü"/>
              <a:defRPr b="1">
                <a:latin typeface="+mn-lt"/>
                <a:ea typeface="+mn-ea"/>
              </a:defRPr>
            </a:lvl1pPr>
          </a:lstStyle>
          <a:p>
            <a:r>
              <a:rPr lang="zh-CN" altLang="en-US" b="0" dirty="0"/>
              <a:t>通过</a:t>
            </a:r>
            <a:r>
              <a:rPr lang="en-US" altLang="zh-CN" b="0" dirty="0" err="1"/>
              <a:t>ifelse</a:t>
            </a:r>
            <a:r>
              <a:rPr lang="en-US" altLang="zh-CN" b="0" dirty="0"/>
              <a:t>("python" %in% names(.x), .</a:t>
            </a:r>
            <a:r>
              <a:rPr lang="en-US" altLang="zh-CN" b="0" dirty="0" err="1"/>
              <a:t>x$python</a:t>
            </a:r>
            <a:r>
              <a:rPr lang="en-US" altLang="zh-CN" b="0" dirty="0"/>
              <a:t> &gt;= 3, FALSE)</a:t>
            </a:r>
            <a:r>
              <a:rPr lang="zh-CN" altLang="en-US" b="0" dirty="0"/>
              <a:t>首先检查了</a:t>
            </a:r>
            <a:r>
              <a:rPr lang="en-US" altLang="zh-CN" b="0" dirty="0"/>
              <a:t>python</a:t>
            </a:r>
            <a:r>
              <a:rPr lang="zh-CN" altLang="en-US" b="0" dirty="0"/>
              <a:t>是否存在于</a:t>
            </a:r>
            <a:r>
              <a:rPr lang="en-US" altLang="zh-CN" b="0" dirty="0"/>
              <a:t>lang</a:t>
            </a:r>
            <a:r>
              <a:rPr lang="zh-CN" altLang="en-US" b="0" dirty="0"/>
              <a:t>列表的每个元素中：如果存在，它将检查</a:t>
            </a:r>
            <a:r>
              <a:rPr lang="en-US" altLang="zh-CN" b="0" dirty="0"/>
              <a:t>Python</a:t>
            </a:r>
            <a:r>
              <a:rPr lang="zh-CN" altLang="en-US" b="0" dirty="0"/>
              <a:t>等级是否大于等于</a:t>
            </a:r>
            <a:r>
              <a:rPr lang="en-US" altLang="zh-CN" b="0" dirty="0"/>
              <a:t>3</a:t>
            </a:r>
            <a:r>
              <a:rPr lang="zh-CN" altLang="en-US" b="0" dirty="0"/>
              <a:t>；如果不存在</a:t>
            </a:r>
            <a:r>
              <a:rPr lang="en-US" altLang="zh-CN" b="0" dirty="0"/>
              <a:t>python</a:t>
            </a:r>
            <a:r>
              <a:rPr lang="zh-CN" altLang="en-US" b="0" dirty="0"/>
              <a:t>，则直接返回</a:t>
            </a:r>
            <a:r>
              <a:rPr lang="en-US" altLang="zh-CN" b="0" dirty="0"/>
              <a:t>FALSE</a:t>
            </a:r>
            <a:r>
              <a:rPr lang="zh-CN" altLang="en-US" b="0" dirty="0"/>
              <a:t>。</a:t>
            </a:r>
            <a:endParaRPr lang="en-US" altLang="zh-CN" b="0" dirty="0"/>
          </a:p>
        </p:txBody>
      </p:sp>
    </p:spTree>
    <p:extLst>
      <p:ext uri="{BB962C8B-B14F-4D97-AF65-F5344CB8AC3E}">
        <p14:creationId xmlns:p14="http://schemas.microsoft.com/office/powerpoint/2010/main" val="2102527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22417-198D-2C2E-4D77-397B89B2B016}"/>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C695884-FF2F-0D78-151F-CE2B977EFBF7}"/>
              </a:ext>
            </a:extLst>
          </p:cNvPr>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49</a:t>
            </a:fld>
            <a:endParaRPr lang="zh-CN" altLang="en-US" dirty="0">
              <a:solidFill>
                <a:schemeClr val="bg2">
                  <a:lumMod val="75000"/>
                </a:schemeClr>
              </a:solidFill>
              <a:sym typeface="Consolas" panose="020B0609020204030204" pitchFamily="49" charset="0"/>
            </a:endParaRPr>
          </a:p>
        </p:txBody>
      </p:sp>
      <p:sp>
        <p:nvSpPr>
          <p:cNvPr id="11" name="标题 9">
            <a:extLst>
              <a:ext uri="{FF2B5EF4-FFF2-40B4-BE49-F238E27FC236}">
                <a16:creationId xmlns:a16="http://schemas.microsoft.com/office/drawing/2014/main" id="{A5D7AF3B-FF89-A517-9D89-BA1E470E96B5}"/>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2.4.7 </a:t>
            </a:r>
            <a:r>
              <a:rPr lang="zh-CN" altLang="en-US" sz="3600" dirty="0">
                <a:latin typeface="Times New Roman" panose="02020603050405020304" pitchFamily="18" charset="0"/>
                <a:cs typeface="Times New Roman" panose="02020603050405020304" pitchFamily="18" charset="0"/>
              </a:rPr>
              <a:t>关系型数据库文件处理</a:t>
            </a:r>
          </a:p>
        </p:txBody>
      </p:sp>
      <p:sp>
        <p:nvSpPr>
          <p:cNvPr id="3" name="文本框 2">
            <a:extLst>
              <a:ext uri="{FF2B5EF4-FFF2-40B4-BE49-F238E27FC236}">
                <a16:creationId xmlns:a16="http://schemas.microsoft.com/office/drawing/2014/main" id="{49FDC774-0263-78EA-D39E-F65C5C19A9B7}"/>
              </a:ext>
            </a:extLst>
          </p:cNvPr>
          <p:cNvSpPr txBox="1"/>
          <p:nvPr/>
        </p:nvSpPr>
        <p:spPr>
          <a:xfrm>
            <a:off x="190500" y="1600200"/>
            <a:ext cx="8496300" cy="4315925"/>
          </a:xfrm>
          <a:prstGeom prst="rect">
            <a:avLst/>
          </a:prstGeom>
        </p:spPr>
        <p:txBody>
          <a:bodyPr wrap="square">
            <a:spAutoFit/>
          </a:bodyPr>
          <a:lstStyle>
            <a:defPPr>
              <a:defRPr lang="zh-CN"/>
            </a:defPPr>
            <a:lvl1pPr marL="285750" indent="457200" algn="just">
              <a:lnSpc>
                <a:spcPct val="140000"/>
              </a:lnSpc>
              <a:buFont typeface="Wingdings" panose="05000000000000000000" pitchFamily="2" charset="2"/>
              <a:buChar char="ü"/>
              <a:defRPr b="1">
                <a:latin typeface="+mn-lt"/>
                <a:ea typeface="+mn-ea"/>
              </a:defRPr>
            </a:lvl1pPr>
          </a:lstStyle>
          <a:p>
            <a:r>
              <a:rPr lang="zh-CN" altLang="en-US" dirty="0"/>
              <a:t>关系型数据</a:t>
            </a:r>
            <a:r>
              <a:rPr lang="en-US" altLang="zh-CN" b="0" dirty="0"/>
              <a:t>(Relational Data)</a:t>
            </a:r>
            <a:r>
              <a:rPr lang="zh-CN" altLang="en-US" b="0" dirty="0"/>
              <a:t>以</a:t>
            </a:r>
            <a:r>
              <a:rPr lang="zh-CN" altLang="en-US" dirty="0"/>
              <a:t>表格（表）的形式</a:t>
            </a:r>
            <a:r>
              <a:rPr lang="zh-CN" altLang="en-US" b="0" dirty="0"/>
              <a:t>存储数据，其中数据被分为不同的表，每个表包含多行记录（记录或元组）和多列字段（字段或属性），这些表之间通过主键和外键建立关系。</a:t>
            </a:r>
            <a:endParaRPr lang="en-US" altLang="zh-CN" b="0" dirty="0"/>
          </a:p>
          <a:p>
            <a:r>
              <a:rPr lang="zh-CN" altLang="en-US" dirty="0"/>
              <a:t>关系型数据库</a:t>
            </a:r>
            <a:r>
              <a:rPr lang="zh-CN" altLang="en-US" b="0" dirty="0"/>
              <a:t>是一种常见的用于存储和管理结构化数据的数据库类型，例如</a:t>
            </a:r>
            <a:r>
              <a:rPr lang="en-US" altLang="zh-CN" b="0" dirty="0"/>
              <a:t>MySQL</a:t>
            </a:r>
            <a:r>
              <a:rPr lang="zh-CN" altLang="en-US" b="0" dirty="0"/>
              <a:t>、</a:t>
            </a:r>
            <a:r>
              <a:rPr lang="en-US" altLang="zh-CN" b="0" dirty="0"/>
              <a:t>Oracle</a:t>
            </a:r>
            <a:r>
              <a:rPr lang="zh-CN" altLang="en-US" b="0" dirty="0"/>
              <a:t>、</a:t>
            </a:r>
            <a:r>
              <a:rPr lang="en-US" altLang="zh-CN" b="0" dirty="0"/>
              <a:t>SQLite</a:t>
            </a:r>
            <a:r>
              <a:rPr lang="zh-CN" altLang="en-US" b="0" dirty="0"/>
              <a:t>等数据库。</a:t>
            </a:r>
            <a:endParaRPr lang="en-US" altLang="zh-CN" b="0" dirty="0"/>
          </a:p>
          <a:p>
            <a:r>
              <a:rPr lang="zh-CN" altLang="en-US" b="0" dirty="0"/>
              <a:t>与非关系型数据的主要区别如下：</a:t>
            </a:r>
            <a:endParaRPr lang="en-US" altLang="zh-CN" b="0" dirty="0"/>
          </a:p>
          <a:p>
            <a:pPr marL="628650" indent="-342900">
              <a:buFont typeface="+mj-lt"/>
              <a:buAutoNum type="arabicPeriod"/>
            </a:pPr>
            <a:r>
              <a:rPr lang="zh-CN" altLang="en-US" b="0" dirty="0"/>
              <a:t>数据结构：表格结构 </a:t>
            </a:r>
            <a:r>
              <a:rPr lang="en-US" altLang="zh-CN" dirty="0"/>
              <a:t>VS</a:t>
            </a:r>
            <a:r>
              <a:rPr lang="en-US" altLang="zh-CN" b="0" dirty="0"/>
              <a:t> </a:t>
            </a:r>
            <a:r>
              <a:rPr lang="zh-CN" altLang="en-US" b="0" dirty="0"/>
              <a:t>嵌套方式</a:t>
            </a:r>
            <a:endParaRPr lang="en-US" altLang="zh-CN" b="0" dirty="0"/>
          </a:p>
          <a:p>
            <a:pPr marL="628650" indent="-342900">
              <a:buFont typeface="+mj-lt"/>
              <a:buAutoNum type="arabicPeriod"/>
            </a:pPr>
            <a:r>
              <a:rPr lang="zh-CN" altLang="en-US" b="0" dirty="0"/>
              <a:t>查询方式：</a:t>
            </a:r>
            <a:r>
              <a:rPr lang="en-US" altLang="zh-CN" b="0" dirty="0"/>
              <a:t>SQL</a:t>
            </a:r>
            <a:r>
              <a:rPr lang="zh-CN" altLang="en-US" b="0" dirty="0"/>
              <a:t>查询语言 </a:t>
            </a:r>
            <a:r>
              <a:rPr lang="en-US" altLang="zh-CN" dirty="0"/>
              <a:t>VS</a:t>
            </a:r>
            <a:r>
              <a:rPr lang="en-US" altLang="zh-CN" b="0" dirty="0"/>
              <a:t> </a:t>
            </a:r>
            <a:r>
              <a:rPr lang="zh-CN" altLang="en-US" b="0" dirty="0"/>
              <a:t>特定的查询语言或工具</a:t>
            </a:r>
            <a:endParaRPr lang="en-US" altLang="zh-CN" b="0" dirty="0"/>
          </a:p>
          <a:p>
            <a:pPr marL="628650" indent="-342900">
              <a:buFont typeface="+mj-lt"/>
              <a:buAutoNum type="arabicPeriod"/>
            </a:pPr>
            <a:r>
              <a:rPr lang="zh-CN" altLang="en-US" b="0" dirty="0"/>
              <a:t>扩展性：较低 </a:t>
            </a:r>
            <a:r>
              <a:rPr lang="en-US" altLang="zh-CN" dirty="0"/>
              <a:t>VS</a:t>
            </a:r>
            <a:r>
              <a:rPr lang="en-US" altLang="zh-CN" b="0" dirty="0"/>
              <a:t> </a:t>
            </a:r>
            <a:r>
              <a:rPr lang="zh-CN" altLang="en-US" b="0" dirty="0"/>
              <a:t>较高</a:t>
            </a:r>
            <a:endParaRPr lang="en-US" altLang="zh-CN" b="0" dirty="0"/>
          </a:p>
          <a:p>
            <a:pPr marL="628650" indent="-342900">
              <a:buFont typeface="+mj-lt"/>
              <a:buAutoNum type="arabicPeriod"/>
            </a:pPr>
            <a:r>
              <a:rPr lang="zh-CN" altLang="en-US" b="0" dirty="0"/>
              <a:t>适用场景：确保数据一致性、完整性和规范性 </a:t>
            </a:r>
            <a:r>
              <a:rPr lang="en-US" altLang="zh-CN" dirty="0"/>
              <a:t>VS</a:t>
            </a:r>
            <a:r>
              <a:rPr lang="en-US" altLang="zh-CN" b="0" dirty="0"/>
              <a:t> </a:t>
            </a:r>
            <a:r>
              <a:rPr lang="zh-CN" altLang="en-US" b="0" dirty="0"/>
              <a:t>需要灵活存储和处理半结构化或非结构化数据</a:t>
            </a:r>
            <a:endParaRPr lang="en-US" altLang="zh-CN" b="0" dirty="0"/>
          </a:p>
        </p:txBody>
      </p:sp>
    </p:spTree>
    <p:extLst>
      <p:ext uri="{BB962C8B-B14F-4D97-AF65-F5344CB8AC3E}">
        <p14:creationId xmlns:p14="http://schemas.microsoft.com/office/powerpoint/2010/main" val="13422847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AD23F-4539-910E-7D9F-9A6A0551F168}"/>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A33E1F42-466D-19C7-A678-9A811E3673F6}"/>
              </a:ext>
            </a:extLst>
          </p:cNvPr>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50</a:t>
            </a:fld>
            <a:endParaRPr lang="zh-CN" altLang="en-US" dirty="0">
              <a:solidFill>
                <a:schemeClr val="bg2">
                  <a:lumMod val="75000"/>
                </a:schemeClr>
              </a:solidFill>
              <a:sym typeface="Consolas" panose="020B0609020204030204" pitchFamily="49" charset="0"/>
            </a:endParaRPr>
          </a:p>
        </p:txBody>
      </p:sp>
      <p:sp>
        <p:nvSpPr>
          <p:cNvPr id="11" name="标题 9">
            <a:extLst>
              <a:ext uri="{FF2B5EF4-FFF2-40B4-BE49-F238E27FC236}">
                <a16:creationId xmlns:a16="http://schemas.microsoft.com/office/drawing/2014/main" id="{4B10C3FC-B828-72FA-7633-D5C3A41C606D}"/>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2.4.7 </a:t>
            </a:r>
            <a:r>
              <a:rPr lang="zh-CN" altLang="en-US" sz="3600" dirty="0">
                <a:latin typeface="Times New Roman" panose="02020603050405020304" pitchFamily="18" charset="0"/>
                <a:cs typeface="Times New Roman" panose="02020603050405020304" pitchFamily="18" charset="0"/>
              </a:rPr>
              <a:t>关系型数据库文件处理</a:t>
            </a:r>
          </a:p>
        </p:txBody>
      </p:sp>
      <p:sp>
        <p:nvSpPr>
          <p:cNvPr id="3" name="文本框 2">
            <a:extLst>
              <a:ext uri="{FF2B5EF4-FFF2-40B4-BE49-F238E27FC236}">
                <a16:creationId xmlns:a16="http://schemas.microsoft.com/office/drawing/2014/main" id="{E41682EF-5679-D3B0-5BA4-9E834D364053}"/>
              </a:ext>
            </a:extLst>
          </p:cNvPr>
          <p:cNvSpPr txBox="1"/>
          <p:nvPr/>
        </p:nvSpPr>
        <p:spPr>
          <a:xfrm>
            <a:off x="190500" y="1371600"/>
            <a:ext cx="8496300" cy="437940"/>
          </a:xfrm>
          <a:prstGeom prst="rect">
            <a:avLst/>
          </a:prstGeom>
        </p:spPr>
        <p:txBody>
          <a:bodyPr wrap="square">
            <a:spAutoFit/>
          </a:bodyPr>
          <a:lstStyle>
            <a:defPPr>
              <a:defRPr lang="zh-CN"/>
            </a:defPPr>
            <a:lvl1pPr marL="285750" indent="457200" algn="just">
              <a:lnSpc>
                <a:spcPct val="140000"/>
              </a:lnSpc>
              <a:buFont typeface="Wingdings" panose="05000000000000000000" pitchFamily="2" charset="2"/>
              <a:buChar char="ü"/>
              <a:defRPr b="1">
                <a:latin typeface="+mn-lt"/>
                <a:ea typeface="+mn-ea"/>
              </a:defRPr>
            </a:lvl1pPr>
          </a:lstStyle>
          <a:p>
            <a:r>
              <a:rPr lang="zh-CN" altLang="en-US" b="0" dirty="0"/>
              <a:t>首先创建关系型数据，并查看数据的结构：</a:t>
            </a:r>
            <a:endParaRPr lang="en-US" altLang="zh-CN" b="0" dirty="0"/>
          </a:p>
        </p:txBody>
      </p:sp>
      <p:sp>
        <p:nvSpPr>
          <p:cNvPr id="2" name="文本框 1">
            <a:extLst>
              <a:ext uri="{FF2B5EF4-FFF2-40B4-BE49-F238E27FC236}">
                <a16:creationId xmlns:a16="http://schemas.microsoft.com/office/drawing/2014/main" id="{15893274-3387-5BA5-783A-4412B7D4523B}"/>
              </a:ext>
            </a:extLst>
          </p:cNvPr>
          <p:cNvSpPr txBox="1"/>
          <p:nvPr/>
        </p:nvSpPr>
        <p:spPr>
          <a:xfrm>
            <a:off x="819150" y="1945883"/>
            <a:ext cx="7239000" cy="3108543"/>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people_df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tibble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person_id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name = c(</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"Ken"</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"James"</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"Penny"</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age =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24</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25</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24</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marL="557530" indent="266700">
              <a:buNone/>
            </a:pPr>
            <a:r>
              <a:rPr lang="en-US" altLang="zh-CN" sz="1400" dirty="0">
                <a:solidFill>
                  <a:srgbClr val="8000FF"/>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solidFill>
                <a:srgbClr val="8000FF"/>
              </a:solidFill>
              <a:effectLst/>
              <a:latin typeface="Consolas" panose="020B0609020204030204" pitchFamily="49" charset="0"/>
              <a:ea typeface="宋体" panose="02010600030101010101" pitchFamily="2" charset="-122"/>
              <a:cs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languages_df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tibble</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person_id</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language = c(</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"R"</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"Java"</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"C++"</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"Python"</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skill_level</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c(</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4</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marL="557530" indent="266700">
              <a:buNone/>
            </a:pPr>
            <a:r>
              <a:rPr lang="en-US" altLang="zh-CN" sz="1400" dirty="0">
                <a:solidFill>
                  <a:srgbClr val="8000FF"/>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solidFill>
                <a:srgbClr val="8000FF"/>
              </a:solidFill>
              <a:effectLst/>
              <a:latin typeface="Consolas" panose="020B0609020204030204" pitchFamily="49" charset="0"/>
              <a:ea typeface="宋体" panose="02010600030101010101" pitchFamily="2" charset="-122"/>
              <a:cs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print(str(</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people_df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print(str(</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languages_df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6688521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DD8B-FB98-185F-3D28-8885E6A867AF}"/>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6F56524E-C2B9-C398-B663-1F797694CD32}"/>
              </a:ext>
            </a:extLst>
          </p:cNvPr>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51</a:t>
            </a:fld>
            <a:endParaRPr lang="zh-CN" altLang="en-US" dirty="0">
              <a:solidFill>
                <a:schemeClr val="bg2">
                  <a:lumMod val="75000"/>
                </a:schemeClr>
              </a:solidFill>
              <a:sym typeface="Consolas" panose="020B0609020204030204" pitchFamily="49" charset="0"/>
            </a:endParaRPr>
          </a:p>
        </p:txBody>
      </p:sp>
      <p:sp>
        <p:nvSpPr>
          <p:cNvPr id="11" name="标题 9">
            <a:extLst>
              <a:ext uri="{FF2B5EF4-FFF2-40B4-BE49-F238E27FC236}">
                <a16:creationId xmlns:a16="http://schemas.microsoft.com/office/drawing/2014/main" id="{47253850-4FD5-8DF1-3844-D8D8F1BC9C4C}"/>
              </a:ext>
            </a:extLst>
          </p:cNvPr>
          <p:cNvSpPr>
            <a:spLocks noGrp="1"/>
          </p:cNvSpPr>
          <p:nvPr>
            <p:ph type="title"/>
          </p:nvPr>
        </p:nvSpPr>
        <p:spPr>
          <a:xfrm>
            <a:off x="1181100" y="342900"/>
            <a:ext cx="7007225" cy="663575"/>
          </a:xfrm>
        </p:spPr>
        <p:txBody>
          <a:bodyPr/>
          <a:lstStyle/>
          <a:p>
            <a:pPr algn="l"/>
            <a:r>
              <a:rPr lang="en-US" altLang="zh-CN" sz="3600" dirty="0">
                <a:latin typeface="Times New Roman" panose="02020603050405020304" pitchFamily="18" charset="0"/>
                <a:cs typeface="Times New Roman" panose="02020603050405020304" pitchFamily="18" charset="0"/>
              </a:rPr>
              <a:t>2.4.7 </a:t>
            </a:r>
            <a:r>
              <a:rPr lang="zh-CN" altLang="en-US" sz="3600" dirty="0">
                <a:latin typeface="Times New Roman" panose="02020603050405020304" pitchFamily="18" charset="0"/>
                <a:cs typeface="Times New Roman" panose="02020603050405020304" pitchFamily="18" charset="0"/>
              </a:rPr>
              <a:t>关系型数据库文件处理</a:t>
            </a:r>
          </a:p>
        </p:txBody>
      </p:sp>
      <p:sp>
        <p:nvSpPr>
          <p:cNvPr id="3" name="文本框 2">
            <a:extLst>
              <a:ext uri="{FF2B5EF4-FFF2-40B4-BE49-F238E27FC236}">
                <a16:creationId xmlns:a16="http://schemas.microsoft.com/office/drawing/2014/main" id="{9BFF0E0C-D420-C779-8C8F-926BB7209FF7}"/>
              </a:ext>
            </a:extLst>
          </p:cNvPr>
          <p:cNvSpPr txBox="1"/>
          <p:nvPr/>
        </p:nvSpPr>
        <p:spPr>
          <a:xfrm>
            <a:off x="190500" y="1371600"/>
            <a:ext cx="8496300" cy="437940"/>
          </a:xfrm>
          <a:prstGeom prst="rect">
            <a:avLst/>
          </a:prstGeom>
        </p:spPr>
        <p:txBody>
          <a:bodyPr wrap="square">
            <a:spAutoFit/>
          </a:bodyPr>
          <a:lstStyle>
            <a:defPPr>
              <a:defRPr lang="zh-CN"/>
            </a:defPPr>
            <a:lvl1pPr marL="285750" indent="457200" algn="just">
              <a:lnSpc>
                <a:spcPct val="140000"/>
              </a:lnSpc>
              <a:buFont typeface="Wingdings" panose="05000000000000000000" pitchFamily="2" charset="2"/>
              <a:buChar char="ü"/>
              <a:defRPr b="1">
                <a:latin typeface="+mn-lt"/>
                <a:ea typeface="+mn-ea"/>
              </a:defRPr>
            </a:lvl1pPr>
          </a:lstStyle>
          <a:p>
            <a:r>
              <a:rPr lang="zh-CN" altLang="en-US" b="0" dirty="0"/>
              <a:t>接着对数据进行</a:t>
            </a:r>
            <a:r>
              <a:rPr lang="zh-CN" altLang="en-US" dirty="0"/>
              <a:t>连接、过滤、汇总、重塑</a:t>
            </a:r>
            <a:r>
              <a:rPr lang="zh-CN" altLang="en-US" b="0" dirty="0"/>
              <a:t>等操作：</a:t>
            </a:r>
            <a:endParaRPr lang="en-US" altLang="zh-CN" b="0" dirty="0"/>
          </a:p>
        </p:txBody>
      </p:sp>
      <p:sp>
        <p:nvSpPr>
          <p:cNvPr id="5" name="文本框 4">
            <a:extLst>
              <a:ext uri="{FF2B5EF4-FFF2-40B4-BE49-F238E27FC236}">
                <a16:creationId xmlns:a16="http://schemas.microsoft.com/office/drawing/2014/main" id="{9E243C87-300E-D61F-7D41-9973F4F3EC07}"/>
              </a:ext>
            </a:extLst>
          </p:cNvPr>
          <p:cNvSpPr txBox="1"/>
          <p:nvPr/>
        </p:nvSpPr>
        <p:spPr>
          <a:xfrm>
            <a:off x="819150" y="1851882"/>
            <a:ext cx="7239000" cy="4401205"/>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joined_df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left_join</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people_df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languages_df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by = </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person_id</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marL="557530" indent="266700">
              <a:buNone/>
            </a:pPr>
            <a:r>
              <a:rPr lang="en-US" altLang="zh-CN" sz="1400" dirty="0">
                <a:solidFill>
                  <a:srgbClr val="8000FF"/>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solidFill>
                <a:srgbClr val="8000FF"/>
              </a:solidFill>
              <a:effectLst/>
              <a:latin typeface="Consolas" panose="020B0609020204030204" pitchFamily="49" charset="0"/>
              <a:ea typeface="宋体" panose="02010600030101010101" pitchFamily="2" charset="-122"/>
              <a:cs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print(str(</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joined_df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marL="557530" indent="266700">
              <a:buNone/>
            </a:pPr>
            <a:r>
              <a:rPr lang="en-US" altLang="zh-CN" sz="1400" dirty="0">
                <a:solidFill>
                  <a:srgbClr val="8000FF"/>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solidFill>
                <a:srgbClr val="8000FF"/>
              </a:solidFill>
              <a:effectLst/>
              <a:latin typeface="Consolas" panose="020B0609020204030204" pitchFamily="49" charset="0"/>
              <a:ea typeface="宋体" panose="02010600030101010101" pitchFamily="2" charset="-122"/>
              <a:cs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filtered_df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joined_df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%&gt;%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filter(age &gt;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24</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print(str(</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filtered_df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marL="557530" indent="266700">
              <a:buNone/>
            </a:pPr>
            <a:r>
              <a:rPr lang="en-US" altLang="zh-CN" sz="1400" dirty="0">
                <a:solidFill>
                  <a:srgbClr val="8000FF"/>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solidFill>
                <a:srgbClr val="8000FF"/>
              </a:solidFill>
              <a:effectLst/>
              <a:latin typeface="Consolas" panose="020B0609020204030204" pitchFamily="49" charset="0"/>
              <a:ea typeface="宋体" panose="02010600030101010101" pitchFamily="2" charset="-122"/>
              <a:cs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summarized_df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joined_df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%&gt;%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group_by</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(name) %&gt;%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summarize(</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number_of_languages</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n())</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print(str(</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summarized_df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marL="557530" indent="266700">
              <a:buNone/>
            </a:pPr>
            <a:r>
              <a:rPr lang="en-US" altLang="zh-CN" sz="1400" dirty="0">
                <a:solidFill>
                  <a:srgbClr val="8000FF"/>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solidFill>
                <a:srgbClr val="8000FF"/>
              </a:solidFill>
              <a:effectLst/>
              <a:latin typeface="Consolas" panose="020B0609020204030204" pitchFamily="49" charset="0"/>
              <a:ea typeface="宋体" panose="02010600030101010101" pitchFamily="2" charset="-122"/>
              <a:cs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wide_df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joined_df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%&gt;%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pivot_wider</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names_from</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language,</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values_from</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skill_level</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values_fill</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400" dirty="0">
                <a:solidFill>
                  <a:srgbClr val="0000FF"/>
                </a:solidFill>
                <a:effectLst/>
                <a:latin typeface="Consolas" panose="020B0609020204030204" pitchFamily="49" charset="0"/>
                <a:ea typeface="宋体" panose="02010600030101010101" pitchFamily="2" charset="-122"/>
                <a:cs typeface="宋体" panose="02010600030101010101" pitchFamily="2" charset="-122"/>
              </a:rPr>
              <a:t>list</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skill_level</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 </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print(str(</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wide_df</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8158484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D3CA1-F245-C6C5-506B-4F2171A4FE41}"/>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102A12A-C4C5-3932-63F8-70D1275BA401}"/>
              </a:ext>
            </a:extLst>
          </p:cNvPr>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52</a:t>
            </a:fld>
            <a:endParaRPr lang="zh-CN" altLang="en-US" dirty="0">
              <a:solidFill>
                <a:schemeClr val="bg2">
                  <a:lumMod val="75000"/>
                </a:schemeClr>
              </a:solidFill>
              <a:sym typeface="Consolas" panose="020B0609020204030204" pitchFamily="49" charset="0"/>
            </a:endParaRPr>
          </a:p>
        </p:txBody>
      </p:sp>
      <p:sp>
        <p:nvSpPr>
          <p:cNvPr id="11" name="标题 9">
            <a:extLst>
              <a:ext uri="{FF2B5EF4-FFF2-40B4-BE49-F238E27FC236}">
                <a16:creationId xmlns:a16="http://schemas.microsoft.com/office/drawing/2014/main" id="{38E30DE6-3E95-B9E1-2F2A-6319574846F0}"/>
              </a:ext>
            </a:extLst>
          </p:cNvPr>
          <p:cNvSpPr>
            <a:spLocks noGrp="1"/>
          </p:cNvSpPr>
          <p:nvPr>
            <p:ph type="title"/>
          </p:nvPr>
        </p:nvSpPr>
        <p:spPr>
          <a:xfrm>
            <a:off x="876300" y="445028"/>
            <a:ext cx="7007225" cy="663575"/>
          </a:xfrm>
        </p:spPr>
        <p:txBody>
          <a:bodyPr/>
          <a:lstStyle/>
          <a:p>
            <a:pPr algn="l"/>
            <a:r>
              <a:rPr lang="en-US" altLang="zh-CN" sz="3200" dirty="0">
                <a:latin typeface="Times New Roman" panose="02020603050405020304" pitchFamily="18" charset="0"/>
                <a:cs typeface="Times New Roman" panose="02020603050405020304" pitchFamily="18" charset="0"/>
              </a:rPr>
              <a:t>2.4.8 </a:t>
            </a:r>
            <a:r>
              <a:rPr lang="en-US" altLang="zh-CN" sz="3200" dirty="0" err="1">
                <a:latin typeface="Times New Roman" panose="02020603050405020304" pitchFamily="18" charset="0"/>
                <a:cs typeface="Times New Roman" panose="02020603050405020304" pitchFamily="18" charset="0"/>
              </a:rPr>
              <a:t>lubridate</a:t>
            </a:r>
            <a:r>
              <a:rPr lang="zh-CN" altLang="en-US" sz="3200" dirty="0">
                <a:latin typeface="Times New Roman" panose="02020603050405020304" pitchFamily="18" charset="0"/>
                <a:cs typeface="Times New Roman" panose="02020603050405020304" pitchFamily="18" charset="0"/>
              </a:rPr>
              <a:t>概述与时间序列处理</a:t>
            </a:r>
          </a:p>
        </p:txBody>
      </p:sp>
      <p:sp>
        <p:nvSpPr>
          <p:cNvPr id="3" name="文本框 2">
            <a:extLst>
              <a:ext uri="{FF2B5EF4-FFF2-40B4-BE49-F238E27FC236}">
                <a16:creationId xmlns:a16="http://schemas.microsoft.com/office/drawing/2014/main" id="{1E4F96EE-377A-3896-649B-AE39EE531DF6}"/>
              </a:ext>
            </a:extLst>
          </p:cNvPr>
          <p:cNvSpPr txBox="1"/>
          <p:nvPr/>
        </p:nvSpPr>
        <p:spPr>
          <a:xfrm>
            <a:off x="190500" y="1676400"/>
            <a:ext cx="8496300" cy="3152530"/>
          </a:xfrm>
          <a:prstGeom prst="rect">
            <a:avLst/>
          </a:prstGeom>
        </p:spPr>
        <p:txBody>
          <a:bodyPr wrap="square">
            <a:spAutoFit/>
          </a:bodyPr>
          <a:lstStyle>
            <a:defPPr>
              <a:defRPr lang="zh-CN"/>
            </a:defPPr>
            <a:lvl1pPr marL="285750" indent="457200" algn="just">
              <a:lnSpc>
                <a:spcPct val="140000"/>
              </a:lnSpc>
              <a:buFont typeface="Wingdings" panose="05000000000000000000" pitchFamily="2" charset="2"/>
              <a:buChar char="ü"/>
              <a:defRPr b="1">
                <a:latin typeface="+mn-lt"/>
                <a:ea typeface="+mn-ea"/>
              </a:defRPr>
            </a:lvl1pPr>
          </a:lstStyle>
          <a:p>
            <a:pPr>
              <a:buNone/>
            </a:pPr>
            <a:r>
              <a:rPr lang="en-US" altLang="zh-CN" dirty="0" err="1"/>
              <a:t>lubridate</a:t>
            </a:r>
            <a:r>
              <a:rPr lang="zh-CN" altLang="en-US" b="0" dirty="0"/>
              <a:t>是</a:t>
            </a:r>
            <a:r>
              <a:rPr lang="en-US" altLang="zh-CN" dirty="0" err="1"/>
              <a:t>tidyverse</a:t>
            </a:r>
            <a:r>
              <a:rPr lang="zh-CN" altLang="en-US" b="0" dirty="0"/>
              <a:t>生态系统中的一个</a:t>
            </a:r>
            <a:r>
              <a:rPr lang="en-US" altLang="zh-CN" dirty="0"/>
              <a:t>R</a:t>
            </a:r>
            <a:r>
              <a:rPr lang="zh-CN" altLang="en-US" b="0" dirty="0"/>
              <a:t>函数包，它提供了一组直观的函数来</a:t>
            </a:r>
            <a:r>
              <a:rPr lang="zh-CN" altLang="en-US" dirty="0"/>
              <a:t>解析、处理和运算日期和时间数据</a:t>
            </a:r>
            <a:r>
              <a:rPr lang="zh-CN" altLang="en-US" b="0" dirty="0"/>
              <a:t>，简化了许多以前在</a:t>
            </a:r>
            <a:r>
              <a:rPr lang="en-US" altLang="zh-CN" dirty="0"/>
              <a:t>R</a:t>
            </a:r>
            <a:r>
              <a:rPr lang="zh-CN" altLang="en-US" b="0" dirty="0"/>
              <a:t>中可能很复杂的日期时间操作，包括：</a:t>
            </a:r>
            <a:endParaRPr lang="en-US" altLang="zh-CN" b="0" dirty="0"/>
          </a:p>
          <a:p>
            <a:pPr marL="628650" indent="-342900">
              <a:buFont typeface="+mj-lt"/>
              <a:buAutoNum type="arabicPeriod"/>
            </a:pPr>
            <a:r>
              <a:rPr lang="zh-CN" altLang="en-US" dirty="0"/>
              <a:t>解析日期和时间</a:t>
            </a:r>
            <a:r>
              <a:rPr lang="zh-CN" altLang="en-US" b="0" dirty="0"/>
              <a:t>：将字符类型的日期和时间转换为</a:t>
            </a:r>
            <a:r>
              <a:rPr lang="en-US" altLang="zh-CN" b="0" dirty="0"/>
              <a:t>R</a:t>
            </a:r>
            <a:r>
              <a:rPr lang="zh-CN" altLang="en-US" b="0" dirty="0"/>
              <a:t>可理解的日期和时间对象</a:t>
            </a:r>
            <a:endParaRPr lang="en-US" altLang="zh-CN" b="0" dirty="0"/>
          </a:p>
          <a:p>
            <a:pPr marL="628650" indent="-342900">
              <a:buFont typeface="+mj-lt"/>
              <a:buAutoNum type="arabicPeriod"/>
            </a:pPr>
            <a:r>
              <a:rPr lang="zh-CN" altLang="en-US" dirty="0"/>
              <a:t>提取和修改日期时间组件</a:t>
            </a:r>
            <a:r>
              <a:rPr lang="zh-CN" altLang="en-US" b="0" dirty="0"/>
              <a:t>：获取或设置日期和时间的年、月、日、小时等</a:t>
            </a:r>
            <a:endParaRPr lang="en-US" altLang="zh-CN" b="0" dirty="0"/>
          </a:p>
          <a:p>
            <a:pPr marL="628650" indent="-342900">
              <a:buFont typeface="+mj-lt"/>
              <a:buAutoNum type="arabicPeriod"/>
            </a:pPr>
            <a:r>
              <a:rPr lang="zh-CN" altLang="en-US" dirty="0"/>
              <a:t>日期时间的数学运算</a:t>
            </a:r>
            <a:r>
              <a:rPr lang="zh-CN" altLang="en-US" b="0" dirty="0"/>
              <a:t>：比如日期的加减</a:t>
            </a:r>
            <a:endParaRPr lang="en-US" altLang="zh-CN" b="0" dirty="0"/>
          </a:p>
          <a:p>
            <a:pPr marL="628650" indent="-342900">
              <a:buFont typeface="+mj-lt"/>
              <a:buAutoNum type="arabicPeriod"/>
            </a:pPr>
            <a:r>
              <a:rPr lang="zh-CN" altLang="en-US" dirty="0"/>
              <a:t>处理时间间隔、持续时间和周期</a:t>
            </a:r>
            <a:endParaRPr lang="en-US" altLang="zh-CN" dirty="0"/>
          </a:p>
        </p:txBody>
      </p:sp>
    </p:spTree>
    <p:extLst>
      <p:ext uri="{BB962C8B-B14F-4D97-AF65-F5344CB8AC3E}">
        <p14:creationId xmlns:p14="http://schemas.microsoft.com/office/powerpoint/2010/main" val="17309218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D12E2-3E7B-205F-F976-413BE930398A}"/>
            </a:ext>
          </a:extLst>
        </p:cNvPr>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51C8CA76-B752-B9CA-A7DF-6C1261040AE4}"/>
              </a:ext>
            </a:extLst>
          </p:cNvPr>
          <p:cNvSpPr>
            <a:spLocks noGrp="1"/>
          </p:cNvSpPr>
          <p:nvPr>
            <p:ph type="sldNum" sz="quarter" idx="12"/>
          </p:nvPr>
        </p:nvSpPr>
        <p:spPr>
          <a:prstGeom prst="rect">
            <a:avLst/>
          </a:prstGeom>
        </p:spPr>
        <p:txBody>
          <a:bodyPr/>
          <a:lstStyle/>
          <a:p>
            <a:fld id="{5DD3DB80-B894-403A-B48E-6FDC1A72010E}" type="slidenum">
              <a:rPr lang="zh-CN" altLang="en-US">
                <a:solidFill>
                  <a:schemeClr val="bg2">
                    <a:lumMod val="75000"/>
                  </a:schemeClr>
                </a:solidFill>
                <a:sym typeface="Consolas" panose="020B0609020204030204" pitchFamily="49" charset="0"/>
              </a:rPr>
              <a:t>53</a:t>
            </a:fld>
            <a:endParaRPr lang="zh-CN" altLang="en-US" dirty="0">
              <a:solidFill>
                <a:schemeClr val="bg2">
                  <a:lumMod val="75000"/>
                </a:schemeClr>
              </a:solidFill>
              <a:sym typeface="Consolas" panose="020B0609020204030204" pitchFamily="49" charset="0"/>
            </a:endParaRPr>
          </a:p>
        </p:txBody>
      </p:sp>
      <p:sp>
        <p:nvSpPr>
          <p:cNvPr id="11" name="标题 9">
            <a:extLst>
              <a:ext uri="{FF2B5EF4-FFF2-40B4-BE49-F238E27FC236}">
                <a16:creationId xmlns:a16="http://schemas.microsoft.com/office/drawing/2014/main" id="{7861DA89-5EFD-219D-B6CB-242A07DCF5AD}"/>
              </a:ext>
            </a:extLst>
          </p:cNvPr>
          <p:cNvSpPr>
            <a:spLocks noGrp="1"/>
          </p:cNvSpPr>
          <p:nvPr>
            <p:ph type="title"/>
          </p:nvPr>
        </p:nvSpPr>
        <p:spPr>
          <a:xfrm>
            <a:off x="876300" y="445028"/>
            <a:ext cx="7007225" cy="663575"/>
          </a:xfrm>
        </p:spPr>
        <p:txBody>
          <a:bodyPr/>
          <a:lstStyle/>
          <a:p>
            <a:pPr algn="l"/>
            <a:r>
              <a:rPr lang="en-US" altLang="zh-CN" sz="3200" dirty="0">
                <a:latin typeface="Times New Roman" panose="02020603050405020304" pitchFamily="18" charset="0"/>
                <a:cs typeface="Times New Roman" panose="02020603050405020304" pitchFamily="18" charset="0"/>
              </a:rPr>
              <a:t>2.4.8 </a:t>
            </a:r>
            <a:r>
              <a:rPr lang="en-US" altLang="zh-CN" sz="3200" dirty="0" err="1">
                <a:latin typeface="Times New Roman" panose="02020603050405020304" pitchFamily="18" charset="0"/>
                <a:cs typeface="Times New Roman" panose="02020603050405020304" pitchFamily="18" charset="0"/>
              </a:rPr>
              <a:t>lubridate</a:t>
            </a:r>
            <a:r>
              <a:rPr lang="zh-CN" altLang="en-US" sz="3200" dirty="0">
                <a:latin typeface="Times New Roman" panose="02020603050405020304" pitchFamily="18" charset="0"/>
                <a:cs typeface="Times New Roman" panose="02020603050405020304" pitchFamily="18" charset="0"/>
              </a:rPr>
              <a:t>概述与时间序列处理</a:t>
            </a:r>
          </a:p>
        </p:txBody>
      </p:sp>
      <p:sp>
        <p:nvSpPr>
          <p:cNvPr id="3" name="文本框 2">
            <a:extLst>
              <a:ext uri="{FF2B5EF4-FFF2-40B4-BE49-F238E27FC236}">
                <a16:creationId xmlns:a16="http://schemas.microsoft.com/office/drawing/2014/main" id="{6B7F2F12-66A3-8437-60DB-AD874CF168A1}"/>
              </a:ext>
            </a:extLst>
          </p:cNvPr>
          <p:cNvSpPr txBox="1"/>
          <p:nvPr/>
        </p:nvSpPr>
        <p:spPr>
          <a:xfrm>
            <a:off x="190500" y="1076047"/>
            <a:ext cx="8496300" cy="825739"/>
          </a:xfrm>
          <a:prstGeom prst="rect">
            <a:avLst/>
          </a:prstGeom>
        </p:spPr>
        <p:txBody>
          <a:bodyPr wrap="square">
            <a:spAutoFit/>
          </a:bodyPr>
          <a:lstStyle>
            <a:defPPr>
              <a:defRPr lang="zh-CN"/>
            </a:defPPr>
            <a:lvl1pPr marL="285750" indent="457200" algn="just">
              <a:lnSpc>
                <a:spcPct val="140000"/>
              </a:lnSpc>
              <a:buFont typeface="Wingdings" panose="05000000000000000000" pitchFamily="2" charset="2"/>
              <a:buChar char="ü"/>
              <a:defRPr b="1">
                <a:latin typeface="+mn-lt"/>
                <a:ea typeface="+mn-ea"/>
              </a:defRPr>
            </a:lvl1pPr>
          </a:lstStyle>
          <a:p>
            <a:pPr>
              <a:buNone/>
            </a:pPr>
            <a:r>
              <a:rPr lang="zh-CN" altLang="en-US" b="0" dirty="0"/>
              <a:t>在下面的示例中，首先创建了两个时间间隔，检查它们是否重叠后，执行了其他一些常见的日期时间操作：</a:t>
            </a:r>
            <a:endParaRPr lang="en-US" altLang="zh-CN" b="0" dirty="0"/>
          </a:p>
        </p:txBody>
      </p:sp>
      <p:sp>
        <p:nvSpPr>
          <p:cNvPr id="2" name="文本框 1">
            <a:extLst>
              <a:ext uri="{FF2B5EF4-FFF2-40B4-BE49-F238E27FC236}">
                <a16:creationId xmlns:a16="http://schemas.microsoft.com/office/drawing/2014/main" id="{87B34FFC-EAD0-C8A8-F56E-1C2CF1266524}"/>
              </a:ext>
            </a:extLst>
          </p:cNvPr>
          <p:cNvSpPr txBox="1"/>
          <p:nvPr/>
        </p:nvSpPr>
        <p:spPr>
          <a:xfrm>
            <a:off x="819150" y="1928299"/>
            <a:ext cx="4248150" cy="4832092"/>
          </a:xfrm>
          <a:prstGeom prst="rect">
            <a:avLst/>
          </a:prstGeom>
          <a:noFill/>
          <a:ln>
            <a:noFill/>
          </a:ln>
        </p:spPr>
        <p:style>
          <a:lnRef idx="3">
            <a:schemeClr val="lt1"/>
          </a:lnRef>
          <a:fillRef idx="1">
            <a:schemeClr val="accent3"/>
          </a:fillRef>
          <a:effectRef idx="1">
            <a:schemeClr val="accent3"/>
          </a:effectRef>
          <a:fontRef idx="minor">
            <a:schemeClr val="lt1"/>
          </a:fontRef>
        </p:style>
        <p:txBody>
          <a:bodyPr wrap="square">
            <a:spAutoFit/>
          </a:bodyPr>
          <a:lstStyle/>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begin1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ymd_hms</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"2015-09-03 12:00:00"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end1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ymd_hms</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"2016-08-04 12:30:00"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begin2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ymd_hms</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"2015-12-03 12:00:00"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end2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ymd_hms</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40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"2016-09-04 12:30:00"</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date_1 &lt;- interval(begin1, end1)</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date_2 &lt;- interval(begin2, end2)</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overlap &lt;- </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int_overlaps</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(date_1, date_2)</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print(date_1)</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print(date_2)</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print(overlap)</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year(begin1)</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month(end2)</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one_week_later</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&lt;- begin1 + weeks(</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day_before_end2 &lt;- end2 - days(</a:t>
            </a:r>
            <a:r>
              <a:rPr lang="en-US" altLang="zh-CN" sz="140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endParaRPr lang="zh-CN" altLang="zh-CN" sz="1400" dirty="0">
              <a:effectLst/>
              <a:latin typeface="Times New Roman" panose="02020603050405020304" pitchFamily="18" charset="0"/>
              <a:ea typeface="宋体" panose="02010600030101010101" pitchFamily="2" charset="-122"/>
            </a:endParaRPr>
          </a:p>
          <a:p>
            <a:pPr indent="127000" algn="l">
              <a:buNone/>
            </a:pP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print(</a:t>
            </a:r>
            <a:r>
              <a:rPr lang="en-US" altLang="zh-CN" sz="140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one_week_later</a:t>
            </a:r>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400" dirty="0">
              <a:effectLst/>
              <a:latin typeface="Times New Roman" panose="02020603050405020304" pitchFamily="18" charset="0"/>
              <a:ea typeface="宋体" panose="02010600030101010101" pitchFamily="2" charset="-122"/>
            </a:endParaRPr>
          </a:p>
          <a:p>
            <a:pPr indent="127000" algn="l"/>
            <a:r>
              <a:rPr lang="en-US" altLang="zh-CN" sz="140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print(day_before_end2)</a:t>
            </a:r>
            <a:endParaRPr lang="zh-CN" altLang="zh-CN" sz="1400" dirty="0">
              <a:effectLst/>
              <a:latin typeface="Times New Roman" panose="02020603050405020304" pitchFamily="18" charset="0"/>
              <a:ea typeface="宋体" panose="02010600030101010101" pitchFamily="2" charset="-122"/>
            </a:endParaRPr>
          </a:p>
        </p:txBody>
      </p:sp>
      <p:sp>
        <p:nvSpPr>
          <p:cNvPr id="5" name="矩形 4">
            <a:extLst>
              <a:ext uri="{FF2B5EF4-FFF2-40B4-BE49-F238E27FC236}">
                <a16:creationId xmlns:a16="http://schemas.microsoft.com/office/drawing/2014/main" id="{F8E573FC-BE1B-3573-66B8-FF5BD248D86A}"/>
              </a:ext>
            </a:extLst>
          </p:cNvPr>
          <p:cNvSpPr/>
          <p:nvPr/>
        </p:nvSpPr>
        <p:spPr>
          <a:xfrm>
            <a:off x="1790700" y="1901786"/>
            <a:ext cx="3276600" cy="993814"/>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箭头: 右 5">
            <a:extLst>
              <a:ext uri="{FF2B5EF4-FFF2-40B4-BE49-F238E27FC236}">
                <a16:creationId xmlns:a16="http://schemas.microsoft.com/office/drawing/2014/main" id="{9E8B9E80-2C36-4EE4-A6B0-650974167CFD}"/>
              </a:ext>
            </a:extLst>
          </p:cNvPr>
          <p:cNvSpPr/>
          <p:nvPr/>
        </p:nvSpPr>
        <p:spPr>
          <a:xfrm>
            <a:off x="5219700" y="2275290"/>
            <a:ext cx="297837" cy="257515"/>
          </a:xfrm>
          <a:prstGeom prst="rightArrow">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C077B49E-A6B0-6170-71B3-89108D2FEE9D}"/>
              </a:ext>
            </a:extLst>
          </p:cNvPr>
          <p:cNvSpPr txBox="1"/>
          <p:nvPr/>
        </p:nvSpPr>
        <p:spPr>
          <a:xfrm>
            <a:off x="5701205" y="2214027"/>
            <a:ext cx="2920825" cy="369332"/>
          </a:xfrm>
          <a:prstGeom prst="rect">
            <a:avLst/>
          </a:prstGeom>
          <a:noFill/>
        </p:spPr>
        <p:txBody>
          <a:bodyPr wrap="square">
            <a:spAutoFit/>
          </a:bodyPr>
          <a:lstStyle/>
          <a:p>
            <a:r>
              <a:rPr lang="zh-CN" altLang="zh-CN" sz="1800" dirty="0">
                <a:solidFill>
                  <a:schemeClr val="accent6"/>
                </a:solidFill>
                <a:effectLst/>
                <a:latin typeface="+mn-ea"/>
                <a:ea typeface="+mn-ea"/>
                <a:cs typeface="Times New Roman" panose="02020603050405020304" pitchFamily="18" charset="0"/>
              </a:rPr>
              <a:t>解析日期和时间字符串</a:t>
            </a:r>
            <a:endParaRPr lang="zh-CN" altLang="en-US" dirty="0">
              <a:solidFill>
                <a:schemeClr val="accent6"/>
              </a:solidFill>
              <a:latin typeface="+mn-ea"/>
              <a:ea typeface="+mn-ea"/>
            </a:endParaRPr>
          </a:p>
        </p:txBody>
      </p:sp>
      <p:sp>
        <p:nvSpPr>
          <p:cNvPr id="9" name="矩形 8">
            <a:extLst>
              <a:ext uri="{FF2B5EF4-FFF2-40B4-BE49-F238E27FC236}">
                <a16:creationId xmlns:a16="http://schemas.microsoft.com/office/drawing/2014/main" id="{E3C6ECD7-1513-14B1-C8EF-790044370AFD}"/>
              </a:ext>
            </a:extLst>
          </p:cNvPr>
          <p:cNvSpPr/>
          <p:nvPr/>
        </p:nvSpPr>
        <p:spPr>
          <a:xfrm>
            <a:off x="1981200" y="3009900"/>
            <a:ext cx="2286000" cy="483632"/>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箭头: 右 9">
            <a:extLst>
              <a:ext uri="{FF2B5EF4-FFF2-40B4-BE49-F238E27FC236}">
                <a16:creationId xmlns:a16="http://schemas.microsoft.com/office/drawing/2014/main" id="{144018CD-4B19-702D-4E2E-EF1C12FEEEA3}"/>
              </a:ext>
            </a:extLst>
          </p:cNvPr>
          <p:cNvSpPr/>
          <p:nvPr/>
        </p:nvSpPr>
        <p:spPr>
          <a:xfrm>
            <a:off x="4696745" y="3120931"/>
            <a:ext cx="297837" cy="257515"/>
          </a:xfrm>
          <a:prstGeom prst="rightArrow">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CB606360-5C47-75CC-CDDA-166FADBEB2D2}"/>
              </a:ext>
            </a:extLst>
          </p:cNvPr>
          <p:cNvSpPr txBox="1"/>
          <p:nvPr/>
        </p:nvSpPr>
        <p:spPr>
          <a:xfrm>
            <a:off x="5257800" y="3059668"/>
            <a:ext cx="2920825" cy="369332"/>
          </a:xfrm>
          <a:prstGeom prst="rect">
            <a:avLst/>
          </a:prstGeom>
          <a:noFill/>
        </p:spPr>
        <p:txBody>
          <a:bodyPr wrap="square">
            <a:spAutoFit/>
          </a:bodyPr>
          <a:lstStyle/>
          <a:p>
            <a:r>
              <a:rPr lang="zh-CN" altLang="en-US" sz="1800" dirty="0">
                <a:solidFill>
                  <a:schemeClr val="accent6"/>
                </a:solidFill>
                <a:effectLst/>
                <a:latin typeface="+mn-ea"/>
                <a:ea typeface="+mn-ea"/>
                <a:cs typeface="Times New Roman" panose="02020603050405020304" pitchFamily="18" charset="0"/>
              </a:rPr>
              <a:t>创建时间间隔</a:t>
            </a:r>
            <a:endParaRPr lang="zh-CN" altLang="en-US" dirty="0">
              <a:solidFill>
                <a:schemeClr val="accent6"/>
              </a:solidFill>
              <a:latin typeface="+mn-ea"/>
              <a:ea typeface="+mn-ea"/>
            </a:endParaRPr>
          </a:p>
        </p:txBody>
      </p:sp>
      <p:sp>
        <p:nvSpPr>
          <p:cNvPr id="13" name="矩形 12">
            <a:extLst>
              <a:ext uri="{FF2B5EF4-FFF2-40B4-BE49-F238E27FC236}">
                <a16:creationId xmlns:a16="http://schemas.microsoft.com/office/drawing/2014/main" id="{A02950FF-808B-036D-EE14-9B95219B5ED3}"/>
              </a:ext>
            </a:extLst>
          </p:cNvPr>
          <p:cNvSpPr/>
          <p:nvPr/>
        </p:nvSpPr>
        <p:spPr>
          <a:xfrm>
            <a:off x="2133600" y="3673892"/>
            <a:ext cx="2743200" cy="288510"/>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箭头: 右 13">
            <a:extLst>
              <a:ext uri="{FF2B5EF4-FFF2-40B4-BE49-F238E27FC236}">
                <a16:creationId xmlns:a16="http://schemas.microsoft.com/office/drawing/2014/main" id="{D46078D8-29E3-0935-1CC0-E0521C5283CD}"/>
              </a:ext>
            </a:extLst>
          </p:cNvPr>
          <p:cNvSpPr/>
          <p:nvPr/>
        </p:nvSpPr>
        <p:spPr>
          <a:xfrm>
            <a:off x="5118012" y="3673892"/>
            <a:ext cx="476251" cy="257515"/>
          </a:xfrm>
          <a:prstGeom prst="rightArrow">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A26487C7-1F0A-B7D0-413A-2B473480A99B}"/>
              </a:ext>
            </a:extLst>
          </p:cNvPr>
          <p:cNvSpPr txBox="1"/>
          <p:nvPr/>
        </p:nvSpPr>
        <p:spPr>
          <a:xfrm>
            <a:off x="5701205" y="3633481"/>
            <a:ext cx="3214195" cy="369332"/>
          </a:xfrm>
          <a:prstGeom prst="rect">
            <a:avLst/>
          </a:prstGeom>
          <a:noFill/>
        </p:spPr>
        <p:txBody>
          <a:bodyPr wrap="square">
            <a:spAutoFit/>
          </a:bodyPr>
          <a:lstStyle/>
          <a:p>
            <a:r>
              <a:rPr lang="zh-CN" altLang="en-US" sz="1800" dirty="0">
                <a:solidFill>
                  <a:schemeClr val="accent6"/>
                </a:solidFill>
                <a:effectLst/>
                <a:latin typeface="+mn-ea"/>
                <a:ea typeface="+mn-ea"/>
                <a:cs typeface="Times New Roman" panose="02020603050405020304" pitchFamily="18" charset="0"/>
              </a:rPr>
              <a:t>检查两个时间间隔是否有重叠</a:t>
            </a:r>
            <a:endParaRPr lang="zh-CN" altLang="en-US" dirty="0">
              <a:solidFill>
                <a:schemeClr val="accent6"/>
              </a:solidFill>
              <a:latin typeface="+mn-ea"/>
              <a:ea typeface="+mn-ea"/>
            </a:endParaRPr>
          </a:p>
        </p:txBody>
      </p:sp>
      <p:sp>
        <p:nvSpPr>
          <p:cNvPr id="16" name="矩形 15">
            <a:extLst>
              <a:ext uri="{FF2B5EF4-FFF2-40B4-BE49-F238E27FC236}">
                <a16:creationId xmlns:a16="http://schemas.microsoft.com/office/drawing/2014/main" id="{41517FB8-0ABD-FF1A-B3D3-5D9115AF60D9}"/>
              </a:ext>
            </a:extLst>
          </p:cNvPr>
          <p:cNvSpPr/>
          <p:nvPr/>
        </p:nvSpPr>
        <p:spPr>
          <a:xfrm>
            <a:off x="1004395" y="4949759"/>
            <a:ext cx="1319705" cy="483632"/>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箭头: 右 16">
            <a:extLst>
              <a:ext uri="{FF2B5EF4-FFF2-40B4-BE49-F238E27FC236}">
                <a16:creationId xmlns:a16="http://schemas.microsoft.com/office/drawing/2014/main" id="{9200B89B-5A27-7BFB-FCD1-A5F54CFCF567}"/>
              </a:ext>
            </a:extLst>
          </p:cNvPr>
          <p:cNvSpPr/>
          <p:nvPr/>
        </p:nvSpPr>
        <p:spPr>
          <a:xfrm>
            <a:off x="2617207" y="5056851"/>
            <a:ext cx="430793" cy="257515"/>
          </a:xfrm>
          <a:prstGeom prst="rightArrow">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634442CE-85C2-5555-A24B-66EA4DFFB104}"/>
              </a:ext>
            </a:extLst>
          </p:cNvPr>
          <p:cNvSpPr txBox="1"/>
          <p:nvPr/>
        </p:nvSpPr>
        <p:spPr>
          <a:xfrm>
            <a:off x="3176095" y="5016440"/>
            <a:ext cx="3214195" cy="369332"/>
          </a:xfrm>
          <a:prstGeom prst="rect">
            <a:avLst/>
          </a:prstGeom>
          <a:noFill/>
        </p:spPr>
        <p:txBody>
          <a:bodyPr wrap="square">
            <a:spAutoFit/>
          </a:bodyPr>
          <a:lstStyle/>
          <a:p>
            <a:r>
              <a:rPr lang="zh-CN" altLang="en-US" dirty="0">
                <a:solidFill>
                  <a:schemeClr val="accent6"/>
                </a:solidFill>
                <a:latin typeface="+mn-ea"/>
                <a:ea typeface="+mn-ea"/>
              </a:rPr>
              <a:t>提取日期组件（年份和月份）</a:t>
            </a:r>
          </a:p>
        </p:txBody>
      </p:sp>
      <p:sp>
        <p:nvSpPr>
          <p:cNvPr id="19" name="矩形 18">
            <a:extLst>
              <a:ext uri="{FF2B5EF4-FFF2-40B4-BE49-F238E27FC236}">
                <a16:creationId xmlns:a16="http://schemas.microsoft.com/office/drawing/2014/main" id="{A0FDC299-5303-2ECF-C8BF-85EE46023810}"/>
              </a:ext>
            </a:extLst>
          </p:cNvPr>
          <p:cNvSpPr/>
          <p:nvPr/>
        </p:nvSpPr>
        <p:spPr>
          <a:xfrm>
            <a:off x="2779067" y="5568466"/>
            <a:ext cx="1792933" cy="483632"/>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箭头: 右 19">
            <a:extLst>
              <a:ext uri="{FF2B5EF4-FFF2-40B4-BE49-F238E27FC236}">
                <a16:creationId xmlns:a16="http://schemas.microsoft.com/office/drawing/2014/main" id="{7BACC283-F2E3-1A27-7681-77D2053F432E}"/>
              </a:ext>
            </a:extLst>
          </p:cNvPr>
          <p:cNvSpPr/>
          <p:nvPr/>
        </p:nvSpPr>
        <p:spPr>
          <a:xfrm>
            <a:off x="5019413" y="5675558"/>
            <a:ext cx="352687" cy="257515"/>
          </a:xfrm>
          <a:prstGeom prst="rightArrow">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41236ADB-41F9-8B1A-81AF-1898F9754B5C}"/>
              </a:ext>
            </a:extLst>
          </p:cNvPr>
          <p:cNvSpPr txBox="1"/>
          <p:nvPr/>
        </p:nvSpPr>
        <p:spPr>
          <a:xfrm>
            <a:off x="5578301" y="5635147"/>
            <a:ext cx="3214195" cy="369332"/>
          </a:xfrm>
          <a:prstGeom prst="rect">
            <a:avLst/>
          </a:prstGeom>
          <a:noFill/>
        </p:spPr>
        <p:txBody>
          <a:bodyPr wrap="square">
            <a:spAutoFit/>
          </a:bodyPr>
          <a:lstStyle/>
          <a:p>
            <a:r>
              <a:rPr lang="zh-CN" altLang="en-US" dirty="0">
                <a:solidFill>
                  <a:schemeClr val="accent6"/>
                </a:solidFill>
                <a:latin typeface="+mn-ea"/>
                <a:ea typeface="+mn-ea"/>
              </a:rPr>
              <a:t>进行日期的加减运算</a:t>
            </a:r>
          </a:p>
        </p:txBody>
      </p:sp>
    </p:spTree>
    <p:extLst>
      <p:ext uri="{BB962C8B-B14F-4D97-AF65-F5344CB8AC3E}">
        <p14:creationId xmlns:p14="http://schemas.microsoft.com/office/powerpoint/2010/main" val="42307462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1A4116-18C0-76F6-C0EB-76B32748795E}"/>
              </a:ext>
            </a:extLst>
          </p:cNvPr>
          <p:cNvSpPr>
            <a:spLocks noGrp="1"/>
          </p:cNvSpPr>
          <p:nvPr>
            <p:ph type="title"/>
          </p:nvPr>
        </p:nvSpPr>
        <p:spPr>
          <a:xfrm>
            <a:off x="971550" y="174625"/>
            <a:ext cx="6896099" cy="663575"/>
          </a:xfrm>
        </p:spPr>
        <p:txBody>
          <a:bodyPr/>
          <a:lstStyle/>
          <a:p>
            <a:r>
              <a:rPr lang="zh-CN" altLang="en-US" dirty="0"/>
              <a:t>参考教材</a:t>
            </a:r>
          </a:p>
        </p:txBody>
      </p:sp>
      <p:sp>
        <p:nvSpPr>
          <p:cNvPr id="4" name="Slide Number Placeholder 3"/>
          <p:cNvSpPr>
            <a:spLocks noGrp="1"/>
          </p:cNvSpPr>
          <p:nvPr>
            <p:ph type="sldNum" sz="quarter" idx="12"/>
          </p:nvPr>
        </p:nvSpPr>
        <p:spPr>
          <a:prstGeom prst="rect">
            <a:avLst/>
          </a:prstGeom>
        </p:spPr>
        <p:txBody>
          <a:bodyPr/>
          <a:lstStyle/>
          <a:p>
            <a:pPr>
              <a:defRPr/>
            </a:pPr>
            <a:fld id="{4169501A-70AB-40D4-B144-E9884F45072F}" type="slidenum">
              <a:rPr lang="zh-CN" altLang="en-US" smtClean="0">
                <a:solidFill>
                  <a:schemeClr val="bg1">
                    <a:lumMod val="65000"/>
                  </a:schemeClr>
                </a:solidFill>
              </a:rPr>
              <a:t>54</a:t>
            </a:fld>
            <a:endParaRPr lang="zh-CN" altLang="en-US" dirty="0">
              <a:solidFill>
                <a:schemeClr val="bg1">
                  <a:lumMod val="65000"/>
                </a:schemeClr>
              </a:solidFill>
            </a:endParaRPr>
          </a:p>
        </p:txBody>
      </p:sp>
      <p:sp>
        <p:nvSpPr>
          <p:cNvPr id="3" name="AutoShape 2" descr="https://wx.qq.com/cgi-bin/mmwebwx-bin/webwxgetmsgimg?&amp;MsgID=1011342995928164582&amp;skey=%40crypt_f86d81c0_f5935c9dae5f61551a58979cad691918"/>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6" name="图片 5">
            <a:extLst>
              <a:ext uri="{FF2B5EF4-FFF2-40B4-BE49-F238E27FC236}">
                <a16:creationId xmlns:a16="http://schemas.microsoft.com/office/drawing/2014/main" id="{FD64FBEF-05A7-A185-BB75-88B38013D53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40490" y="1418579"/>
            <a:ext cx="3274810" cy="4601221"/>
          </a:xfrm>
          <a:prstGeom prst="rect">
            <a:avLst/>
          </a:prstGeom>
        </p:spPr>
      </p:pic>
      <p:pic>
        <p:nvPicPr>
          <p:cNvPr id="10" name="图片 9">
            <a:extLst>
              <a:ext uri="{FF2B5EF4-FFF2-40B4-BE49-F238E27FC236}">
                <a16:creationId xmlns:a16="http://schemas.microsoft.com/office/drawing/2014/main" id="{8A4ECE16-AA4B-8A19-EB0D-84744197EEBF}"/>
              </a:ext>
            </a:extLst>
          </p:cNvPr>
          <p:cNvPicPr>
            <a:picLocks noChangeAspect="1"/>
          </p:cNvPicPr>
          <p:nvPr/>
        </p:nvPicPr>
        <p:blipFill>
          <a:blip r:embed="rId3"/>
          <a:stretch>
            <a:fillRect/>
          </a:stretch>
        </p:blipFill>
        <p:spPr>
          <a:xfrm>
            <a:off x="876300" y="1440809"/>
            <a:ext cx="3353787" cy="4578991"/>
          </a:xfrm>
          <a:prstGeom prst="rect">
            <a:avLst/>
          </a:prstGeom>
          <a:ln>
            <a:solidFill>
              <a:srgbClr val="F9FAFC"/>
            </a:solid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91.0453543307087,&quot;left&quot;:299.00834645669295,&quot;top&quot;:117.97732283464568,&quot;width&quot;:498.74165354330705}"/>
</p:tagLst>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44546A"/>
      </a:dk2>
      <a:lt2>
        <a:srgbClr val="E7E6E6"/>
      </a:lt2>
      <a:accent1>
        <a:srgbClr val="005390"/>
      </a:accent1>
      <a:accent2>
        <a:srgbClr val="FFC000"/>
      </a:accent2>
      <a:accent3>
        <a:srgbClr val="FFFF00"/>
      </a:accent3>
      <a:accent4>
        <a:srgbClr val="00B050"/>
      </a:accent4>
      <a:accent5>
        <a:srgbClr val="00B0F0"/>
      </a:accent5>
      <a:accent6>
        <a:srgbClr val="0070C0"/>
      </a:accent6>
      <a:hlink>
        <a:srgbClr val="7030A0"/>
      </a:hlink>
      <a:folHlink>
        <a:srgbClr val="954F72"/>
      </a:folHlink>
    </a:clrScheme>
    <a:fontScheme name="自定义 1">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6380</TotalTime>
  <Words>7341</Words>
  <Application>Microsoft Office PowerPoint</Application>
  <PresentationFormat>全屏显示(4:3)</PresentationFormat>
  <Paragraphs>759</Paragraphs>
  <Slides>54</Slides>
  <Notes>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54</vt:i4>
      </vt:variant>
    </vt:vector>
  </HeadingPairs>
  <TitlesOfParts>
    <vt:vector size="62" baseType="lpstr">
      <vt:lpstr>宋体</vt:lpstr>
      <vt:lpstr>微软雅黑</vt:lpstr>
      <vt:lpstr>Arial</vt:lpstr>
      <vt:lpstr>Calibri</vt:lpstr>
      <vt:lpstr>Consolas</vt:lpstr>
      <vt:lpstr>Times New Roman</vt:lpstr>
      <vt:lpstr>Wingdings</vt:lpstr>
      <vt:lpstr>Office 主题​​</vt:lpstr>
      <vt:lpstr>第二章 R语言 基础数据文件操作处理</vt:lpstr>
      <vt:lpstr>目录</vt:lpstr>
      <vt:lpstr>2.1 章节R函数包准备 </vt:lpstr>
      <vt:lpstr>2.2 基础数据读写</vt:lpstr>
      <vt:lpstr>2.2 基础数据读写</vt:lpstr>
      <vt:lpstr>2.2.1 基础数据读入</vt:lpstr>
      <vt:lpstr>2.2.1 基础数据读入</vt:lpstr>
      <vt:lpstr>2.2.1 基础数据读入</vt:lpstr>
      <vt:lpstr>2.2.1 基础数据读入</vt:lpstr>
      <vt:lpstr>2.2.1 基础数据读入</vt:lpstr>
      <vt:lpstr>2.2.2 基础数据写出</vt:lpstr>
      <vt:lpstr>2.2.2 基础数据写出</vt:lpstr>
      <vt:lpstr>2.2.2 基础数据写出</vt:lpstr>
      <vt:lpstr>2.3 R工作空间数据文件存储</vt:lpstr>
      <vt:lpstr>2.3 R工作空间数据文件存储</vt:lpstr>
      <vt:lpstr>2.3 R工作空间数据文件存储</vt:lpstr>
      <vt:lpstr>2.4 基础数据操作与处理</vt:lpstr>
      <vt:lpstr>2.4.1 基础数据提取</vt:lpstr>
      <vt:lpstr>2.4.1 基础数据提取</vt:lpstr>
      <vt:lpstr>2.4.1 基础数据提取</vt:lpstr>
      <vt:lpstr>2.4.1 基础数据提取</vt:lpstr>
      <vt:lpstr>2.4.1 基础数据提取</vt:lpstr>
      <vt:lpstr>2.4.1 基础数据提取</vt:lpstr>
      <vt:lpstr>2.4.1 基础数据提取</vt:lpstr>
      <vt:lpstr>2.4.1 基础数据提取</vt:lpstr>
      <vt:lpstr>2.4.2 管道操作</vt:lpstr>
      <vt:lpstr>2.4.2 管道操作</vt:lpstr>
      <vt:lpstr>2.4.2 管道操作</vt:lpstr>
      <vt:lpstr>2.4.2 管道操作</vt:lpstr>
      <vt:lpstr>2.4.3 数据连接</vt:lpstr>
      <vt:lpstr>2.4.3 数据连接</vt:lpstr>
      <vt:lpstr>2.4.3 数据连接</vt:lpstr>
      <vt:lpstr>2.4.3 数据连接</vt:lpstr>
      <vt:lpstr>2.4.3 数据连接</vt:lpstr>
      <vt:lpstr>2.4.3 数据连接</vt:lpstr>
      <vt:lpstr>2.4.4 数据重塑</vt:lpstr>
      <vt:lpstr>2.4.4 数据重塑</vt:lpstr>
      <vt:lpstr>2.4.4 数据重塑</vt:lpstr>
      <vt:lpstr>2.4.4 数据重塑</vt:lpstr>
      <vt:lpstr>2.4.4 数据重塑</vt:lpstr>
      <vt:lpstr>2.4.5 缺失值与异常值的处理</vt:lpstr>
      <vt:lpstr>2.4.5 缺失值与异常值的处理</vt:lpstr>
      <vt:lpstr>2.4.5 缺失值与异常值的处理</vt:lpstr>
      <vt:lpstr>2.4.6 非关系型数据的处理</vt:lpstr>
      <vt:lpstr>2.4.6 非关系型数据的处理</vt:lpstr>
      <vt:lpstr>2.4.6 非关系型数据的处理</vt:lpstr>
      <vt:lpstr>2.4.6 非关系型数据的处理</vt:lpstr>
      <vt:lpstr>2.4.6 非关系型数据的处理</vt:lpstr>
      <vt:lpstr>2.4.7 关系型数据库文件处理</vt:lpstr>
      <vt:lpstr>2.4.7 关系型数据库文件处理</vt:lpstr>
      <vt:lpstr>2.4.7 关系型数据库文件处理</vt:lpstr>
      <vt:lpstr>2.4.8 lubridate概述与时间序列处理</vt:lpstr>
      <vt:lpstr>2.4.8 lubridate概述与时间序列处理</vt:lpstr>
      <vt:lpstr>参考教材</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Binbin Lu</cp:lastModifiedBy>
  <cp:revision>567</cp:revision>
  <dcterms:created xsi:type="dcterms:W3CDTF">2019-05-21T17:53:00Z</dcterms:created>
  <dcterms:modified xsi:type="dcterms:W3CDTF">2025-04-07T02:12:51Z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2052-12.1.0.18912</vt:lpwstr>
  </property>
  <property fmtid="{D5CDD505-2E9C-101B-9397-08002B2CF9AE}" pid="3" name="ICV">
    <vt:lpwstr>2BF106B6094D49028DE9D54E62957DB2_12</vt:lpwstr>
  </property>
</Properties>
</file>