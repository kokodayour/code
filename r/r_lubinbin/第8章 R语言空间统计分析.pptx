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handoutMasterIdLst>
    <p:handoutMasterId r:id="rId83"/>
  </p:handoutMasterIdLst>
  <p:sldIdLst>
    <p:sldId id="256" r:id="rId2"/>
    <p:sldId id="600" r:id="rId3"/>
    <p:sldId id="305" r:id="rId4"/>
    <p:sldId id="835" r:id="rId5"/>
    <p:sldId id="331" r:id="rId6"/>
    <p:sldId id="306" r:id="rId7"/>
    <p:sldId id="330" r:id="rId8"/>
    <p:sldId id="626" r:id="rId9"/>
    <p:sldId id="335" r:id="rId10"/>
    <p:sldId id="385" r:id="rId11"/>
    <p:sldId id="336" r:id="rId12"/>
    <p:sldId id="337" r:id="rId13"/>
    <p:sldId id="340" r:id="rId14"/>
    <p:sldId id="342" r:id="rId15"/>
    <p:sldId id="344" r:id="rId16"/>
    <p:sldId id="343" r:id="rId17"/>
    <p:sldId id="345" r:id="rId18"/>
    <p:sldId id="347" r:id="rId19"/>
    <p:sldId id="836" r:id="rId20"/>
    <p:sldId id="350" r:id="rId21"/>
    <p:sldId id="439" r:id="rId22"/>
    <p:sldId id="440" r:id="rId23"/>
    <p:sldId id="352" r:id="rId24"/>
    <p:sldId id="355" r:id="rId25"/>
    <p:sldId id="354" r:id="rId26"/>
    <p:sldId id="356" r:id="rId27"/>
    <p:sldId id="357" r:id="rId28"/>
    <p:sldId id="358" r:id="rId29"/>
    <p:sldId id="442" r:id="rId30"/>
    <p:sldId id="444" r:id="rId31"/>
    <p:sldId id="359" r:id="rId32"/>
    <p:sldId id="360" r:id="rId33"/>
    <p:sldId id="446" r:id="rId34"/>
    <p:sldId id="362" r:id="rId35"/>
    <p:sldId id="448" r:id="rId36"/>
    <p:sldId id="361" r:id="rId37"/>
    <p:sldId id="365" r:id="rId38"/>
    <p:sldId id="366" r:id="rId39"/>
    <p:sldId id="368" r:id="rId40"/>
    <p:sldId id="370" r:id="rId41"/>
    <p:sldId id="627" r:id="rId42"/>
    <p:sldId id="630" r:id="rId43"/>
    <p:sldId id="628" r:id="rId44"/>
    <p:sldId id="631" r:id="rId45"/>
    <p:sldId id="629" r:id="rId46"/>
    <p:sldId id="632" r:id="rId47"/>
    <p:sldId id="633" r:id="rId48"/>
    <p:sldId id="634" r:id="rId49"/>
    <p:sldId id="635" r:id="rId50"/>
    <p:sldId id="373" r:id="rId51"/>
    <p:sldId id="625" r:id="rId52"/>
    <p:sldId id="375" r:id="rId53"/>
    <p:sldId id="376" r:id="rId54"/>
    <p:sldId id="739" r:id="rId55"/>
    <p:sldId id="740" r:id="rId56"/>
    <p:sldId id="378" r:id="rId57"/>
    <p:sldId id="379" r:id="rId58"/>
    <p:sldId id="380" r:id="rId59"/>
    <p:sldId id="381" r:id="rId60"/>
    <p:sldId id="450" r:id="rId61"/>
    <p:sldId id="741" r:id="rId62"/>
    <p:sldId id="451" r:id="rId63"/>
    <p:sldId id="742" r:id="rId64"/>
    <p:sldId id="819" r:id="rId65"/>
    <p:sldId id="820" r:id="rId66"/>
    <p:sldId id="821" r:id="rId67"/>
    <p:sldId id="822" r:id="rId68"/>
    <p:sldId id="823" r:id="rId69"/>
    <p:sldId id="824" r:id="rId70"/>
    <p:sldId id="825" r:id="rId71"/>
    <p:sldId id="826" r:id="rId72"/>
    <p:sldId id="827" r:id="rId73"/>
    <p:sldId id="834" r:id="rId74"/>
    <p:sldId id="828" r:id="rId75"/>
    <p:sldId id="829" r:id="rId76"/>
    <p:sldId id="830" r:id="rId77"/>
    <p:sldId id="831" r:id="rId78"/>
    <p:sldId id="832" r:id="rId79"/>
    <p:sldId id="833" r:id="rId80"/>
    <p:sldId id="624" r:id="rId8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8" userDrawn="1">
          <p15:clr>
            <a:srgbClr val="A4A3A4"/>
          </p15:clr>
        </p15:guide>
        <p15:guide id="2" pos="285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怡彤 丁" initials="怡丁"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03F3"/>
    <a:srgbClr val="F9FAFC"/>
    <a:srgbClr val="074996"/>
    <a:srgbClr val="2D22C0"/>
    <a:srgbClr val="160A02"/>
    <a:srgbClr val="F13B09"/>
    <a:srgbClr val="F75529"/>
    <a:srgbClr val="170401"/>
    <a:srgbClr val="170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66" autoAdjust="0"/>
    <p:restoredTop sz="93536" autoAdjust="0"/>
  </p:normalViewPr>
  <p:slideViewPr>
    <p:cSldViewPr showGuides="1">
      <p:cViewPr varScale="1">
        <p:scale>
          <a:sx n="101" d="100"/>
          <a:sy n="101" d="100"/>
        </p:scale>
        <p:origin x="1280" y="56"/>
      </p:cViewPr>
      <p:guideLst>
        <p:guide orient="horz" pos="2208"/>
        <p:guide pos="2853"/>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62" d="100"/>
          <a:sy n="62" d="100"/>
        </p:scale>
        <p:origin x="2299" y="58"/>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5T16:19:09.220" idx="1">
    <p:pos x="2256" y="758"/>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C7DB12-D159-4442-8014-437DE5BA55C7}" type="datetimeFigureOut">
              <a:rPr lang="zh-CN" altLang="en-US" smtClean="0"/>
              <a:t>2025/4/2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B4347-C9BC-4556-8FC3-B2E0153CF99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0128E977-6F5A-48DB-ACA7-C6E15821CB3C}" type="datetimeFigureOut">
              <a:rPr lang="zh-CN" altLang="en-US"/>
              <a:t>2025/4/2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panose="020B0604020202020204" pitchFamily="34" charset="0"/>
                <a:ea typeface="宋体" panose="02010600030101010101" pitchFamily="2" charset="-122"/>
              </a:defRPr>
            </a:lvl1pPr>
          </a:lstStyle>
          <a:p>
            <a:pPr>
              <a:defRPr/>
            </a:pPr>
            <a:fld id="{5F5AD7FC-C08A-4786-B2D8-ABE422D63548}"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8FC65C-FC7A-4192-9B2D-44DFEE13D47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zh-CN" sz="1200" kern="1200" dirty="0">
                <a:solidFill>
                  <a:schemeClr val="tx1"/>
                </a:solidFill>
                <a:effectLst/>
                <a:latin typeface="+mn-lt"/>
                <a:ea typeface="+mn-ea"/>
                <a:cs typeface="+mn-cs"/>
              </a:rPr>
              <a:t>可以发现房屋价格随着距离增加，这意味着价格在空间上是自相关的。</a:t>
            </a:r>
          </a:p>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16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空间依赖性仅通过因变量体现</a:t>
            </a:r>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41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空间依赖性仅通过因变量体现</a:t>
            </a:r>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42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空间依赖性仅通过因变量体现</a:t>
            </a:r>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44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空间依赖性仅通过因变量体现</a:t>
            </a:r>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46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1013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D8336C-2E62-48B4-9CC1-30752A2AC376}" type="slidenum">
              <a:rPr lang="zh-CN" altLang="en-US" smtClean="0"/>
              <a:t>54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34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1034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88C0A22-BF55-44A2-8BB4-592B56FDE34F}" type="slidenum">
              <a:rPr lang="zh-CN" altLang="en-US" smtClean="0"/>
              <a:t>55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0418"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19"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FD71717-DC5D-41BC-82F0-5B79F88A9A54}" type="slidenum">
              <a:rPr lang="zh-CN" altLang="en-US" smtClean="0"/>
              <a:t>66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2466"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7"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5BFF2F-E8AE-4671-A823-03D0608BD5C4}" type="slidenum">
              <a:rPr lang="zh-CN" altLang="en-US" smtClean="0"/>
              <a:t>67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2466"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7"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5BFF2F-E8AE-4671-A823-03D0608BD5C4}" type="slidenum">
              <a:rPr lang="zh-CN" altLang="en-US" smtClean="0"/>
              <a:t>68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71</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74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159" name="图片 15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7956"/>
            <a:ext cx="9144000" cy="2932680"/>
          </a:xfrm>
          <a:prstGeom prst="rect">
            <a:avLst/>
          </a:prstGeom>
        </p:spPr>
      </p:pic>
      <p:sp>
        <p:nvSpPr>
          <p:cNvPr id="2" name="标题 1"/>
          <p:cNvSpPr>
            <a:spLocks noGrp="1"/>
          </p:cNvSpPr>
          <p:nvPr>
            <p:ph type="ctrTitle"/>
          </p:nvPr>
        </p:nvSpPr>
        <p:spPr>
          <a:xfrm>
            <a:off x="692934" y="3924304"/>
            <a:ext cx="7772400" cy="746125"/>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4914904"/>
            <a:ext cx="6400800" cy="746125"/>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2" name="任意形状 36"/>
          <p:cNvSpPr/>
          <p:nvPr userDrawn="1"/>
        </p:nvSpPr>
        <p:spPr>
          <a:xfrm>
            <a:off x="-138132" y="-147919"/>
            <a:ext cx="9434532" cy="3238555"/>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84" name="矩形 83"/>
          <p:cNvSpPr/>
          <p:nvPr userDrawn="1"/>
        </p:nvSpPr>
        <p:spPr>
          <a:xfrm>
            <a:off x="0" y="0"/>
            <a:ext cx="9144000" cy="163286"/>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nvGrpSpPr>
          <p:cNvPr id="85" name="组合 84"/>
          <p:cNvGrpSpPr/>
          <p:nvPr userDrawn="1"/>
        </p:nvGrpSpPr>
        <p:grpSpPr>
          <a:xfrm>
            <a:off x="3962400" y="2400300"/>
            <a:ext cx="1219200" cy="1231468"/>
            <a:chOff x="6678206" y="3208602"/>
            <a:chExt cx="1219200" cy="1231468"/>
          </a:xfrm>
        </p:grpSpPr>
        <p:sp>
          <p:nvSpPr>
            <p:cNvPr id="86" name="椭圆 85"/>
            <p:cNvSpPr/>
            <p:nvPr/>
          </p:nvSpPr>
          <p:spPr>
            <a:xfrm>
              <a:off x="6683774" y="3226438"/>
              <a:ext cx="1213632" cy="1213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nvGrpSpPr>
            <p:cNvPr id="87" name="íšḻîďê"/>
            <p:cNvGrpSpPr/>
            <p:nvPr/>
          </p:nvGrpSpPr>
          <p:grpSpPr>
            <a:xfrm>
              <a:off x="6678206" y="3208602"/>
              <a:ext cx="1219200" cy="1227234"/>
              <a:chOff x="3551238" y="3067050"/>
              <a:chExt cx="722313" cy="727075"/>
            </a:xfrm>
          </p:grpSpPr>
          <p:sp>
            <p:nvSpPr>
              <p:cNvPr id="88"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9"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sz="1800"/>
              </a:p>
            </p:txBody>
          </p:sp>
          <p:sp>
            <p:nvSpPr>
              <p:cNvPr id="90"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1"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2"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3"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4"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5"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6"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7"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8"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9"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0"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1"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2"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3"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4"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5"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6"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7"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8"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9"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0"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1"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2"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3"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4"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5"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6"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7"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8"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9"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0"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1"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2"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3"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4"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5"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6"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7"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8"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9"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0"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1"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2"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3"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4"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5"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6"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7"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8"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9"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0"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1"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2"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3"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4"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5"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6"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7"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8"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9"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0"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1"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2"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3"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4"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5"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6"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7"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pic>
        <p:nvPicPr>
          <p:cNvPr id="161" name="图片 16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266702" y="268906"/>
            <a:ext cx="710933" cy="159284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5673244" y="-1"/>
            <a:ext cx="7356956" cy="6858001"/>
          </a:xfrm>
          <a:prstGeom prst="rect">
            <a:avLst/>
          </a:prstGeom>
        </p:spPr>
      </p:pic>
      <p:sp>
        <p:nvSpPr>
          <p:cNvPr id="4" name="矩形 3"/>
          <p:cNvSpPr/>
          <p:nvPr userDrawn="1"/>
        </p:nvSpPr>
        <p:spPr>
          <a:xfrm>
            <a:off x="-12646" y="0"/>
            <a:ext cx="177972"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图片占位符 8"/>
          <p:cNvSpPr>
            <a:spLocks noGrp="1"/>
          </p:cNvSpPr>
          <p:nvPr>
            <p:ph type="pic" sz="quarter" idx="15"/>
          </p:nvPr>
        </p:nvSpPr>
        <p:spPr>
          <a:xfrm flipH="1">
            <a:off x="170624" y="0"/>
            <a:ext cx="292800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dirty="0"/>
          </a:p>
        </p:txBody>
      </p:sp>
      <p:sp>
        <p:nvSpPr>
          <p:cNvPr id="6" name="任意形状 9"/>
          <p:cNvSpPr/>
          <p:nvPr userDrawn="1"/>
        </p:nvSpPr>
        <p:spPr>
          <a:xfrm flipH="1">
            <a:off x="33862" y="-98854"/>
            <a:ext cx="3064764"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7" name="标题 1"/>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109" name="图片 108" descr="图片包含 天空, 户外, 建筑物, 日落&#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12" name="直线连接符 3"/>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灯片编号占位符 5"/>
          <p:cNvSpPr>
            <a:spLocks noGrp="1"/>
          </p:cNvSpPr>
          <p:nvPr>
            <p:ph type="sldNum" sz="quarter" idx="12"/>
          </p:nvPr>
        </p:nvSpPr>
        <p:spPr>
          <a:xfrm>
            <a:off x="457200" y="6253087"/>
            <a:ext cx="2133600" cy="365125"/>
          </a:xfrm>
          <a:prstGeom prst="rect">
            <a:avLst/>
          </a:prstGeom>
        </p:spPr>
        <p:txBody>
          <a:bodyPr/>
          <a:lstStyle>
            <a:lvl1pPr>
              <a:defRPr/>
            </a:lvl1pPr>
          </a:lstStyle>
          <a:p>
            <a:pPr>
              <a:defRPr/>
            </a:pPr>
            <a:fld id="{6B3369F9-03CD-4B48-86A9-9EE39A82955A}" type="slidenum">
              <a:rPr lang="zh-CN" altLang="en-US"/>
              <a:t>‹#›</a:t>
            </a:fld>
            <a:endParaRPr lang="zh-CN" altLang="en-US" dirty="0"/>
          </a:p>
        </p:txBody>
      </p:sp>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5" name="图片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2" name="图片 1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7.jpe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emf"/><Relationship Id="rId7" Type="http://schemas.openxmlformats.org/officeDocument/2006/relationships/image" Target="../media/image64.emf"/><Relationship Id="rId2" Type="http://schemas.openxmlformats.org/officeDocument/2006/relationships/image" Target="../media/image59.jpeg"/><Relationship Id="rId1" Type="http://schemas.openxmlformats.org/officeDocument/2006/relationships/slideLayout" Target="../slideLayouts/slideLayout3.xml"/><Relationship Id="rId6" Type="http://schemas.openxmlformats.org/officeDocument/2006/relationships/image" Target="../media/image63.emf"/><Relationship Id="rId5" Type="http://schemas.openxmlformats.org/officeDocument/2006/relationships/image" Target="../media/image62.emf"/><Relationship Id="rId4" Type="http://schemas.openxmlformats.org/officeDocument/2006/relationships/image" Target="../media/image61.e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8" Type="http://schemas.openxmlformats.org/officeDocument/2006/relationships/image" Target="../media/image76.emf"/><Relationship Id="rId3" Type="http://schemas.openxmlformats.org/officeDocument/2006/relationships/image" Target="../media/image73.emf"/><Relationship Id="rId7" Type="http://schemas.openxmlformats.org/officeDocument/2006/relationships/image" Target="../media/image75.png"/><Relationship Id="rId2" Type="http://schemas.openxmlformats.org/officeDocument/2006/relationships/image" Target="../media/image72.png"/><Relationship Id="rId1" Type="http://schemas.openxmlformats.org/officeDocument/2006/relationships/slideLayout" Target="../slideLayouts/slideLayout3.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4.emf"/><Relationship Id="rId9" Type="http://schemas.openxmlformats.org/officeDocument/2006/relationships/image" Target="../media/image77.emf"/></Relationships>
</file>

<file path=ppt/slides/_rels/slide6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1.png"/><Relationship Id="rId7" Type="http://schemas.openxmlformats.org/officeDocument/2006/relationships/image" Target="../media/image83.png"/><Relationship Id="rId2" Type="http://schemas.openxmlformats.org/officeDocument/2006/relationships/image" Target="../media/image80.png"/><Relationship Id="rId1" Type="http://schemas.openxmlformats.org/officeDocument/2006/relationships/slideLayout" Target="../slideLayouts/slideLayout3.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2.png"/><Relationship Id="rId9" Type="http://schemas.openxmlformats.org/officeDocument/2006/relationships/image" Target="../media/image90.png"/></Relationships>
</file>

<file path=ppt/slides/_rels/slide6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2.png"/></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5.png"/></Relationships>
</file>

<file path=ppt/slides/_rels/slide69.xml.rels><?xml version="1.0" encoding="UTF-8" standalone="yes"?>
<Relationships xmlns="http://schemas.openxmlformats.org/package/2006/relationships"><Relationship Id="rId3" Type="http://schemas.openxmlformats.org/officeDocument/2006/relationships/image" Target="../media/image87.tiff"/><Relationship Id="rId7" Type="http://schemas.openxmlformats.org/officeDocument/2006/relationships/image" Target="../media/image87.png"/><Relationship Id="rId2" Type="http://schemas.openxmlformats.org/officeDocument/2006/relationships/image" Target="../media/image86.tiff"/><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image" Target="../media/image81.png"/><Relationship Id="rId4" Type="http://schemas.openxmlformats.org/officeDocument/2006/relationships/image" Target="../media/image82.png"/></Relationships>
</file>

<file path=ppt/slides/_rels/slide7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99.png"/><Relationship Id="rId5" Type="http://schemas.openxmlformats.org/officeDocument/2006/relationships/image" Target="../media/image97.png"/><Relationship Id="rId4" Type="http://schemas.openxmlformats.org/officeDocument/2006/relationships/image" Target="../media/image96.png"/></Relationships>
</file>

<file path=ppt/slides/_rels/slide7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1.png"/><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3.xml"/><Relationship Id="rId4" Type="http://schemas.openxmlformats.org/officeDocument/2006/relationships/image" Target="../media/image112.png"/></Relationships>
</file>

<file path=ppt/slides/_rels/slide7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jpeg"/><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692935" y="3902077"/>
            <a:ext cx="7772400" cy="746125"/>
          </a:xfrm>
        </p:spPr>
        <p:txBody>
          <a:bodyPr/>
          <a:lstStyle/>
          <a:p>
            <a:pPr eaLnBrk="1" hangingPunct="1">
              <a:lnSpc>
                <a:spcPct val="90000"/>
              </a:lnSpc>
            </a:pPr>
            <a:r>
              <a:rPr lang="zh-CN" altLang="en-US" b="1" dirty="0">
                <a:solidFill>
                  <a:srgbClr val="074996"/>
                </a:solidFill>
                <a:latin typeface="+mj-ea"/>
              </a:rPr>
              <a:t>第八章 </a:t>
            </a:r>
            <a:r>
              <a:rPr lang="en-US" altLang="zh-CN" b="1" dirty="0">
                <a:solidFill>
                  <a:srgbClr val="074996"/>
                </a:solidFill>
                <a:latin typeface="+mj-ea"/>
              </a:rPr>
              <a:t>R</a:t>
            </a:r>
            <a:r>
              <a:rPr lang="zh-CN" altLang="en-US" b="1" dirty="0">
                <a:solidFill>
                  <a:srgbClr val="074996"/>
                </a:solidFill>
                <a:latin typeface="+mj-ea"/>
              </a:rPr>
              <a:t>语言空间统计分析</a:t>
            </a:r>
          </a:p>
        </p:txBody>
      </p:sp>
      <p:sp>
        <p:nvSpPr>
          <p:cNvPr id="8" name="副标题 7"/>
          <p:cNvSpPr>
            <a:spLocks noGrp="1"/>
          </p:cNvSpPr>
          <p:nvPr>
            <p:ph type="subTitle" idx="1"/>
          </p:nvPr>
        </p:nvSpPr>
        <p:spPr>
          <a:xfrm>
            <a:off x="1371600" y="4914901"/>
            <a:ext cx="6400800" cy="1104900"/>
          </a:xfrm>
        </p:spPr>
        <p:txBody>
          <a:bodyPr/>
          <a:lstStyle/>
          <a:p>
            <a:pPr>
              <a:lnSpc>
                <a:spcPct val="150000"/>
              </a:lnSpc>
            </a:pPr>
            <a:r>
              <a:rPr lang="zh-CN" altLang="en-US" sz="1800" dirty="0">
                <a:solidFill>
                  <a:schemeClr val="tx1">
                    <a:lumMod val="75000"/>
                    <a:lumOff val="25000"/>
                  </a:schemeClr>
                </a:solidFill>
                <a:latin typeface="+mj-ea"/>
                <a:ea typeface="+mj-ea"/>
              </a:rPr>
              <a:t>卢宾宾</a:t>
            </a:r>
            <a:endParaRPr lang="en-US" altLang="zh-CN" sz="1800" dirty="0">
              <a:solidFill>
                <a:schemeClr val="tx1">
                  <a:lumMod val="75000"/>
                  <a:lumOff val="25000"/>
                </a:schemeClr>
              </a:solidFill>
              <a:latin typeface="+mj-ea"/>
              <a:ea typeface="+mj-ea"/>
            </a:endParaRPr>
          </a:p>
          <a:p>
            <a:pPr>
              <a:lnSpc>
                <a:spcPct val="150000"/>
              </a:lnSpc>
            </a:pPr>
            <a:r>
              <a:rPr lang="zh-CN" altLang="en-US" sz="1800" dirty="0">
                <a:solidFill>
                  <a:schemeClr val="tx1">
                    <a:lumMod val="75000"/>
                    <a:lumOff val="25000"/>
                  </a:schemeClr>
                </a:solidFill>
                <a:latin typeface="+mj-ea"/>
                <a:ea typeface="+mj-ea"/>
              </a:rPr>
              <a:t>武汉大学遥感信息工程学院</a:t>
            </a:r>
          </a:p>
          <a:p>
            <a:endParaRPr lang="zh-CN" altLang="en-US" dirty="0">
              <a:latin typeface="+mj-ea"/>
              <a:ea typeface="+mj-ea"/>
            </a:endParaRPr>
          </a:p>
        </p:txBody>
      </p:sp>
    </p:spTree>
  </p:cSld>
  <p:clrMapOvr>
    <a:masterClrMapping/>
  </p:clrMapOvr>
  <p:transition spd="slow" advTm="514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5"/>
          </p:nvPr>
        </p:nvPicPr>
        <p:blipFill>
          <a:blip r:embed="rId23">
            <a:extLst>
              <a:ext uri="{28A0092B-C50C-407E-A947-70E740481C1C}">
                <a14:useLocalDpi xmlns:a14="http://schemas.microsoft.com/office/drawing/2010/main" val="0"/>
              </a:ext>
            </a:extLst>
          </a:blip>
          <a:srcRect l="20087" r="20087"/>
          <a:stretch>
            <a:fillRect/>
          </a:stretch>
        </p:blipFill>
        <p:spPr/>
      </p:pic>
      <p:sp>
        <p:nvSpPr>
          <p:cNvPr id="47105" name="标题 1"/>
          <p:cNvSpPr>
            <a:spLocks noGrp="1"/>
          </p:cNvSpPr>
          <p:nvPr>
            <p:ph type="title" idx="4294967295"/>
          </p:nvPr>
        </p:nvSpPr>
        <p:spPr>
          <a:xfrm>
            <a:off x="3797406" y="342900"/>
            <a:ext cx="4889394" cy="1143000"/>
          </a:xfrm>
          <a:prstGeom prst="rect">
            <a:avLst/>
          </a:prstGeom>
        </p:spPr>
        <p:txBody>
          <a:bodyPr/>
          <a:lstStyle/>
          <a:p>
            <a:pPr algn="l"/>
            <a:r>
              <a:rPr lang="zh-CN" altLang="en-US" sz="4800" b="1" dirty="0">
                <a:solidFill>
                  <a:schemeClr val="accent1"/>
                </a:solidFill>
                <a:latin typeface="+mj-ea"/>
                <a:cs typeface="Times New Roman" panose="02020603050405020304" charset="0"/>
              </a:rPr>
              <a:t>目录</a:t>
            </a:r>
          </a:p>
        </p:txBody>
      </p:sp>
      <p:grpSp>
        <p:nvGrpSpPr>
          <p:cNvPr id="28" name="组合 27"/>
          <p:cNvGrpSpPr/>
          <p:nvPr>
            <p:custDataLst>
              <p:tags r:id="rId1"/>
            </p:custDataLst>
          </p:nvPr>
        </p:nvGrpSpPr>
        <p:grpSpPr>
          <a:xfrm>
            <a:off x="3797406" y="1498312"/>
            <a:ext cx="6334019" cy="749588"/>
            <a:chOff x="3797406" y="1425837"/>
            <a:chExt cx="6334019" cy="749588"/>
          </a:xfrm>
        </p:grpSpPr>
        <p:sp>
          <p:nvSpPr>
            <p:cNvPr id="12" name="文本框 11"/>
            <p:cNvSpPr txBox="1"/>
            <p:nvPr>
              <p:custDataLst>
                <p:tags r:id="rId18"/>
              </p:custDataLst>
            </p:nvPr>
          </p:nvSpPr>
          <p:spPr>
            <a:xfrm>
              <a:off x="3797406" y="1559872"/>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8.1</a:t>
              </a:r>
            </a:p>
          </p:txBody>
        </p:sp>
        <p:sp>
          <p:nvSpPr>
            <p:cNvPr id="13" name="文本占位符 27"/>
            <p:cNvSpPr txBox="1"/>
            <p:nvPr>
              <p:custDataLst>
                <p:tags r:id="rId19"/>
              </p:custDataLst>
            </p:nvPr>
          </p:nvSpPr>
          <p:spPr>
            <a:xfrm>
              <a:off x="4838700"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章节</a:t>
              </a:r>
              <a:r>
                <a:rPr lang="en-US" altLang="zh-CN" dirty="0">
                  <a:solidFill>
                    <a:schemeClr val="accent1"/>
                  </a:solidFill>
                  <a:latin typeface="Times New Roman" panose="02020603050405020304" charset="0"/>
                  <a:cs typeface="Times New Roman" panose="02020603050405020304" charset="0"/>
                </a:rPr>
                <a:t>R</a:t>
              </a:r>
              <a:r>
                <a:rPr lang="zh-CN" altLang="en-US" dirty="0">
                  <a:solidFill>
                    <a:schemeClr val="accent1"/>
                  </a:solidFill>
                  <a:latin typeface="Times New Roman" panose="02020603050405020304" charset="0"/>
                  <a:cs typeface="Times New Roman" panose="02020603050405020304" charset="0"/>
                </a:rPr>
                <a:t>函数包准备</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14" name="直线连接符 13"/>
            <p:cNvCxnSpPr/>
            <p:nvPr>
              <p:custDataLst>
                <p:tags r:id="rId20"/>
              </p:custDataLst>
            </p:nvPr>
          </p:nvCxnSpPr>
          <p:spPr>
            <a:xfrm>
              <a:off x="3797406" y="2133862"/>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custDataLst>
              <p:tags r:id="rId2"/>
            </p:custDataLst>
          </p:nvPr>
        </p:nvGrpSpPr>
        <p:grpSpPr>
          <a:xfrm>
            <a:off x="3797406" y="2565112"/>
            <a:ext cx="6334019" cy="749588"/>
            <a:chOff x="3797406" y="2539558"/>
            <a:chExt cx="6334019" cy="749588"/>
          </a:xfrm>
        </p:grpSpPr>
        <p:sp>
          <p:nvSpPr>
            <p:cNvPr id="15" name="文本框 14"/>
            <p:cNvSpPr txBox="1"/>
            <p:nvPr>
              <p:custDataLst>
                <p:tags r:id="rId15"/>
              </p:custDataLst>
            </p:nvPr>
          </p:nvSpPr>
          <p:spPr>
            <a:xfrm>
              <a:off x="3797406" y="2673593"/>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8.2</a:t>
              </a:r>
            </a:p>
          </p:txBody>
        </p:sp>
        <p:sp>
          <p:nvSpPr>
            <p:cNvPr id="16" name="文本占位符 27"/>
            <p:cNvSpPr txBox="1"/>
            <p:nvPr>
              <p:custDataLst>
                <p:tags r:id="rId16"/>
              </p:custDataLst>
            </p:nvPr>
          </p:nvSpPr>
          <p:spPr>
            <a:xfrm>
              <a:off x="4838700"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空间插值</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17" name="直线连接符 16"/>
            <p:cNvCxnSpPr/>
            <p:nvPr>
              <p:custDataLst>
                <p:tags r:id="rId17"/>
              </p:custDataLst>
            </p:nvPr>
          </p:nvCxnSpPr>
          <p:spPr>
            <a:xfrm>
              <a:off x="3797406" y="3247583"/>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3"/>
            </p:custDataLst>
          </p:nvPr>
        </p:nvGrpSpPr>
        <p:grpSpPr>
          <a:xfrm>
            <a:off x="3797406" y="3632531"/>
            <a:ext cx="6334019" cy="749588"/>
            <a:chOff x="3797406" y="3632531"/>
            <a:chExt cx="6334019" cy="749588"/>
          </a:xfrm>
        </p:grpSpPr>
        <p:sp>
          <p:nvSpPr>
            <p:cNvPr id="18" name="文本框 17"/>
            <p:cNvSpPr txBox="1"/>
            <p:nvPr>
              <p:custDataLst>
                <p:tags r:id="rId12"/>
              </p:custDataLst>
            </p:nvPr>
          </p:nvSpPr>
          <p:spPr>
            <a:xfrm>
              <a:off x="3797406" y="3766566"/>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8.3</a:t>
              </a:r>
            </a:p>
          </p:txBody>
        </p:sp>
        <p:sp>
          <p:nvSpPr>
            <p:cNvPr id="19" name="文本占位符 27"/>
            <p:cNvSpPr txBox="1"/>
            <p:nvPr>
              <p:custDataLst>
                <p:tags r:id="rId13"/>
              </p:custDataLst>
            </p:nvPr>
          </p:nvSpPr>
          <p:spPr>
            <a:xfrm>
              <a:off x="4838700" y="3632531"/>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空间自相关</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20" name="直线连接符 19"/>
            <p:cNvCxnSpPr/>
            <p:nvPr>
              <p:custDataLst>
                <p:tags r:id="rId14"/>
              </p:custDataLst>
            </p:nvPr>
          </p:nvCxnSpPr>
          <p:spPr>
            <a:xfrm>
              <a:off x="3797406" y="4340556"/>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4"/>
            </p:custDataLst>
          </p:nvPr>
        </p:nvGrpSpPr>
        <p:grpSpPr>
          <a:xfrm>
            <a:off x="3797406" y="4686300"/>
            <a:ext cx="6334019" cy="749588"/>
            <a:chOff x="3797406" y="4704550"/>
            <a:chExt cx="6334019" cy="749588"/>
          </a:xfrm>
        </p:grpSpPr>
        <p:sp>
          <p:nvSpPr>
            <p:cNvPr id="21" name="文本框 20"/>
            <p:cNvSpPr txBox="1"/>
            <p:nvPr>
              <p:custDataLst>
                <p:tags r:id="rId9"/>
              </p:custDataLst>
            </p:nvPr>
          </p:nvSpPr>
          <p:spPr>
            <a:xfrm>
              <a:off x="3797406" y="4838585"/>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8.4</a:t>
              </a:r>
            </a:p>
          </p:txBody>
        </p:sp>
        <p:sp>
          <p:nvSpPr>
            <p:cNvPr id="22" name="文本占位符 27"/>
            <p:cNvSpPr txBox="1"/>
            <p:nvPr>
              <p:custDataLst>
                <p:tags r:id="rId10"/>
              </p:custDataLst>
            </p:nvPr>
          </p:nvSpPr>
          <p:spPr>
            <a:xfrm>
              <a:off x="4838700" y="4704550"/>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空间回归分析</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23" name="直线连接符 22"/>
            <p:cNvCxnSpPr/>
            <p:nvPr>
              <p:custDataLst>
                <p:tags r:id="rId11"/>
              </p:custDataLst>
            </p:nvPr>
          </p:nvCxnSpPr>
          <p:spPr>
            <a:xfrm>
              <a:off x="3797406" y="5412575"/>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custDataLst>
              <p:tags r:id="rId5"/>
            </p:custDataLst>
          </p:nvPr>
        </p:nvGrpSpPr>
        <p:grpSpPr>
          <a:xfrm>
            <a:off x="3797406" y="5715000"/>
            <a:ext cx="6334019" cy="749588"/>
            <a:chOff x="3797406" y="5781255"/>
            <a:chExt cx="6334019" cy="749588"/>
          </a:xfrm>
        </p:grpSpPr>
        <p:sp>
          <p:nvSpPr>
            <p:cNvPr id="25" name="文本框 24"/>
            <p:cNvSpPr txBox="1"/>
            <p:nvPr>
              <p:custDataLst>
                <p:tags r:id="rId6"/>
              </p:custDataLst>
            </p:nvPr>
          </p:nvSpPr>
          <p:spPr>
            <a:xfrm>
              <a:off x="3797406" y="5915290"/>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charset="0"/>
                  <a:cs typeface="Times New Roman" panose="02020603050405020304" charset="0"/>
                </a:rPr>
                <a:t>8.5</a:t>
              </a:r>
            </a:p>
          </p:txBody>
        </p:sp>
        <p:sp>
          <p:nvSpPr>
            <p:cNvPr id="26" name="文本占位符 27"/>
            <p:cNvSpPr txBox="1"/>
            <p:nvPr>
              <p:custDataLst>
                <p:tags r:id="rId7"/>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charset="0"/>
                  <a:cs typeface="Times New Roman" panose="02020603050405020304" charset="0"/>
                </a:rPr>
                <a:t>空间点模式分析</a:t>
              </a:r>
              <a:endParaRPr kumimoji="1" lang="zh-CN" altLang="en-US" dirty="0">
                <a:solidFill>
                  <a:schemeClr val="accent1"/>
                </a:solidFill>
                <a:latin typeface="Times New Roman" panose="02020603050405020304" charset="0"/>
                <a:cs typeface="Times New Roman" panose="02020603050405020304" charset="0"/>
              </a:endParaRPr>
            </a:p>
          </p:txBody>
        </p:sp>
        <p:cxnSp>
          <p:nvCxnSpPr>
            <p:cNvPr id="27" name="直线连接符 22"/>
            <p:cNvCxnSpPr/>
            <p:nvPr>
              <p:custDataLst>
                <p:tags r:id="rId8"/>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lang="en-US" altLang="zh-CN" sz="3600" dirty="0">
                <a:latin typeface="Times New Roman" panose="02020603050405020304" charset="0"/>
                <a:cs typeface="Times New Roman" panose="02020603050405020304" charset="0"/>
              </a:rPr>
              <a:t>8.1 </a:t>
            </a:r>
            <a:r>
              <a:rPr lang="zh-CN" altLang="en-US" sz="3600" dirty="0">
                <a:latin typeface="Times New Roman" panose="02020603050405020304" charset="0"/>
                <a:cs typeface="Times New Roman" panose="02020603050405020304" charset="0"/>
              </a:rPr>
              <a:t>章节</a:t>
            </a:r>
            <a:r>
              <a:rPr lang="en-US" altLang="zh-CN" sz="3600" dirty="0">
                <a:latin typeface="Times New Roman" panose="02020603050405020304" charset="0"/>
                <a:cs typeface="Times New Roman" panose="02020603050405020304" charset="0"/>
              </a:rPr>
              <a:t>R</a:t>
            </a:r>
            <a:r>
              <a:rPr lang="zh-CN" altLang="en-US" sz="3600" dirty="0">
                <a:latin typeface="Times New Roman" panose="02020603050405020304" charset="0"/>
                <a:cs typeface="Times New Roman" panose="02020603050405020304" charset="0"/>
              </a:rPr>
              <a:t>函数包准备</a:t>
            </a:r>
          </a:p>
        </p:txBody>
      </p:sp>
      <p:sp>
        <p:nvSpPr>
          <p:cNvPr id="8" name="灯片编号占位符 7"/>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3</a:t>
            </a:fld>
            <a:endParaRPr lang="zh-CN" altLang="en-US" dirty="0">
              <a:solidFill>
                <a:schemeClr val="bg2">
                  <a:lumMod val="75000"/>
                </a:schemeClr>
              </a:solidFill>
            </a:endParaRPr>
          </a:p>
        </p:txBody>
      </p:sp>
      <p:sp>
        <p:nvSpPr>
          <p:cNvPr id="9" name="矩形 8"/>
          <p:cNvSpPr/>
          <p:nvPr/>
        </p:nvSpPr>
        <p:spPr>
          <a:xfrm>
            <a:off x="5372100" y="2416600"/>
            <a:ext cx="2829240" cy="2536400"/>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加载函数包</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gstat</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automap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spdep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GWmodel</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spatstat</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p:txBody>
      </p:sp>
      <p:sp>
        <p:nvSpPr>
          <p:cNvPr id="10" name="矩形 9"/>
          <p:cNvSpPr/>
          <p:nvPr/>
        </p:nvSpPr>
        <p:spPr>
          <a:xfrm>
            <a:off x="984485" y="2416600"/>
            <a:ext cx="3892315" cy="2536400"/>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安装函数包</a:t>
            </a:r>
            <a:endPar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endParaRP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gstat</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automap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spdep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GWmodel</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spatstat</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B6FC-8DF5-D487-69C9-1A63E402AAF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1FB0B4B-D313-D274-9651-2F2F26C405E2}"/>
              </a:ext>
            </a:extLst>
          </p:cNvPr>
          <p:cNvSpPr>
            <a:spLocks noGrp="1"/>
          </p:cNvSpPr>
          <p:nvPr>
            <p:ph type="title"/>
          </p:nvPr>
        </p:nvSpPr>
        <p:spPr/>
        <p:txBody>
          <a:bodyPr/>
          <a:lstStyle/>
          <a:p>
            <a:pPr algn="l"/>
            <a:r>
              <a:rPr lang="en-US" altLang="zh-CN" sz="3600" dirty="0">
                <a:latin typeface="Times New Roman" panose="02020603050405020304" charset="0"/>
                <a:cs typeface="Times New Roman" panose="02020603050405020304" charset="0"/>
              </a:rPr>
              <a:t>8.2 </a:t>
            </a:r>
            <a:r>
              <a:rPr lang="zh-CN" altLang="en-US" sz="3600" dirty="0">
                <a:latin typeface="Times New Roman" panose="02020603050405020304" charset="0"/>
                <a:cs typeface="Times New Roman" panose="02020603050405020304" charset="0"/>
              </a:rPr>
              <a:t>空间插值</a:t>
            </a:r>
          </a:p>
        </p:txBody>
      </p:sp>
      <p:sp>
        <p:nvSpPr>
          <p:cNvPr id="8" name="灯片编号占位符 7">
            <a:extLst>
              <a:ext uri="{FF2B5EF4-FFF2-40B4-BE49-F238E27FC236}">
                <a16:creationId xmlns:a16="http://schemas.microsoft.com/office/drawing/2014/main" id="{5A1C3491-2CBB-3779-668D-416A7DDE991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1EEC67A5-59FB-81E9-DF4F-B660C781434C}"/>
              </a:ext>
            </a:extLst>
          </p:cNvPr>
          <p:cNvSpPr/>
          <p:nvPr/>
        </p:nvSpPr>
        <p:spPr>
          <a:xfrm>
            <a:off x="1638300" y="1333500"/>
            <a:ext cx="2787943" cy="3732368"/>
          </a:xfrm>
          <a:prstGeom prst="rect">
            <a:avLst/>
          </a:prstGeom>
        </p:spPr>
        <p:txBody>
          <a:bodyPr wrap="none">
            <a:spAutoFit/>
          </a:bodyPr>
          <a:lstStyle/>
          <a:p>
            <a:pPr>
              <a:lnSpc>
                <a:spcPct val="300000"/>
              </a:lnSpc>
            </a:pPr>
            <a:r>
              <a:rPr lang="en-US" altLang="zh-CN" sz="2800" b="1" dirty="0">
                <a:solidFill>
                  <a:schemeClr val="accent1"/>
                </a:solidFill>
                <a:latin typeface="+mn-lt"/>
                <a:ea typeface="微软雅黑" panose="020B0503020204020204" pitchFamily="34" charset="-122"/>
                <a:cs typeface="+mn-ea"/>
                <a:sym typeface="Consolas" panose="020B0609020204030204" pitchFamily="49" charset="0"/>
              </a:rPr>
              <a:t>8.2.1 </a:t>
            </a:r>
            <a:r>
              <a:rPr lang="zh-CN" altLang="en-US" sz="2800" b="1" dirty="0">
                <a:solidFill>
                  <a:schemeClr val="accent1"/>
                </a:solidFill>
                <a:latin typeface="+mn-lt"/>
                <a:ea typeface="微软雅黑" panose="020B0503020204020204" pitchFamily="34" charset="-122"/>
                <a:cs typeface="+mn-ea"/>
                <a:sym typeface="Consolas" panose="020B0609020204030204" pitchFamily="49" charset="0"/>
              </a:rPr>
              <a:t>最邻近插值</a:t>
            </a:r>
            <a:endParaRPr lang="en-US" altLang="zh-CN" sz="2800" b="1" dirty="0">
              <a:solidFill>
                <a:schemeClr val="accent1"/>
              </a:solidFill>
              <a:latin typeface="+mn-lt"/>
              <a:ea typeface="微软雅黑" panose="020B0503020204020204" pitchFamily="34" charset="-122"/>
              <a:cs typeface="+mn-ea"/>
              <a:sym typeface="Consolas" panose="020B0609020204030204" pitchFamily="49" charset="0"/>
            </a:endParaRPr>
          </a:p>
          <a:p>
            <a:pPr>
              <a:lnSpc>
                <a:spcPct val="300000"/>
              </a:lnSpc>
            </a:pPr>
            <a:r>
              <a:rPr lang="en-US" altLang="zh-CN" sz="2800" b="1" dirty="0">
                <a:solidFill>
                  <a:schemeClr val="accent1"/>
                </a:solidFill>
                <a:latin typeface="+mn-lt"/>
                <a:ea typeface="微软雅黑" panose="020B0503020204020204" pitchFamily="34" charset="-122"/>
                <a:cs typeface="+mn-ea"/>
                <a:sym typeface="Consolas" panose="020B0609020204030204" pitchFamily="49" charset="0"/>
              </a:rPr>
              <a:t>8.2.2 IDW</a:t>
            </a:r>
            <a:r>
              <a:rPr lang="zh-CN" altLang="en-US" sz="2800" b="1" dirty="0">
                <a:solidFill>
                  <a:schemeClr val="accent1"/>
                </a:solidFill>
                <a:latin typeface="+mn-lt"/>
                <a:ea typeface="微软雅黑" panose="020B0503020204020204" pitchFamily="34" charset="-122"/>
                <a:cs typeface="+mn-ea"/>
                <a:sym typeface="Consolas" panose="020B0609020204030204" pitchFamily="49" charset="0"/>
              </a:rPr>
              <a:t>插值</a:t>
            </a:r>
            <a:endParaRPr lang="en-US" altLang="zh-CN" sz="2800" b="1" dirty="0">
              <a:solidFill>
                <a:schemeClr val="accent1"/>
              </a:solidFill>
              <a:latin typeface="+mn-lt"/>
              <a:ea typeface="微软雅黑" panose="020B0503020204020204" pitchFamily="34" charset="-122"/>
              <a:cs typeface="+mn-ea"/>
              <a:sym typeface="Consolas" panose="020B0609020204030204" pitchFamily="49" charset="0"/>
            </a:endParaRPr>
          </a:p>
          <a:p>
            <a:pPr>
              <a:lnSpc>
                <a:spcPct val="300000"/>
              </a:lnSpc>
            </a:pPr>
            <a:r>
              <a:rPr lang="en-US" altLang="zh-CN" sz="2800" b="1" dirty="0">
                <a:solidFill>
                  <a:schemeClr val="accent1"/>
                </a:solidFill>
                <a:latin typeface="+mn-lt"/>
                <a:ea typeface="微软雅黑" panose="020B0503020204020204" pitchFamily="34" charset="-122"/>
                <a:cs typeface="+mn-ea"/>
                <a:sym typeface="Consolas" panose="020B0609020204030204" pitchFamily="49" charset="0"/>
              </a:rPr>
              <a:t>8.2.3</a:t>
            </a:r>
            <a:r>
              <a:rPr lang="zh-CN" altLang="en-US" sz="2800" b="1" dirty="0">
                <a:solidFill>
                  <a:schemeClr val="accent1"/>
                </a:solidFill>
                <a:latin typeface="+mn-lt"/>
                <a:ea typeface="微软雅黑" panose="020B0503020204020204" pitchFamily="34" charset="-122"/>
                <a:cs typeface="+mn-ea"/>
                <a:sym typeface="Consolas" panose="020B0609020204030204" pitchFamily="49" charset="0"/>
              </a:rPr>
              <a:t> 克里金插值</a:t>
            </a:r>
          </a:p>
        </p:txBody>
      </p:sp>
    </p:spTree>
    <p:extLst>
      <p:ext uri="{BB962C8B-B14F-4D97-AF65-F5344CB8AC3E}">
        <p14:creationId xmlns:p14="http://schemas.microsoft.com/office/powerpoint/2010/main" val="770399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314700" y="2324100"/>
            <a:ext cx="4991100" cy="2228239"/>
          </a:xfrm>
          <a:prstGeom prst="rect">
            <a:avLst/>
          </a:prstGeom>
        </p:spPr>
        <p:txBody>
          <a:bodyPr wrap="square">
            <a:spAutoFit/>
          </a:bodyPr>
          <a:lstStyle/>
          <a:p>
            <a:pPr algn="just">
              <a:lnSpc>
                <a:spcPct val="150000"/>
              </a:lnSpc>
            </a:pPr>
            <a:r>
              <a:rPr lang="en-US" altLang="zh-CN" dirty="0">
                <a:latin typeface="Times New Roman" panose="02020603050405020304" charset="0"/>
                <a:ea typeface="+mj-ea"/>
                <a:cs typeface="Times New Roman" panose="02020603050405020304" charset="0"/>
                <a:sym typeface="Consolas" panose="020B0609020204030204" pitchFamily="49" charset="0"/>
              </a:rPr>
              <a:t>Everything is related to everything else, but near things are more related to each other.</a:t>
            </a:r>
          </a:p>
          <a:p>
            <a:pPr algn="just">
              <a:lnSpc>
                <a:spcPct val="12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gn="just">
              <a:lnSpc>
                <a:spcPct val="120000"/>
              </a:lnSpc>
            </a:pPr>
            <a:r>
              <a:rPr lang="zh-CN" altLang="en-US" dirty="0">
                <a:latin typeface="Consolas" panose="020B0609020204030204" pitchFamily="49" charset="0"/>
                <a:ea typeface="微软雅黑" panose="020B0503020204020204" pitchFamily="34" charset="-122"/>
                <a:sym typeface="Consolas" panose="020B0609020204030204" pitchFamily="49" charset="0"/>
              </a:rPr>
              <a:t>任何事物都相关，相近的事物关联更紧密。</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gn="just">
              <a:lnSpc>
                <a:spcPct val="12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gn="r">
              <a:lnSpc>
                <a:spcPct val="120000"/>
              </a:lnSpc>
            </a:pPr>
            <a:r>
              <a:rPr lang="en-US" altLang="zh-CN" dirty="0">
                <a:latin typeface="Consolas" panose="020B0609020204030204" pitchFamily="49" charset="0"/>
                <a:ea typeface="微软雅黑" panose="020B0503020204020204" pitchFamily="34" charset="-122"/>
                <a:sym typeface="Consolas" panose="020B0609020204030204" pitchFamily="49" charset="0"/>
              </a:rPr>
              <a:t>——</a:t>
            </a:r>
            <a:r>
              <a:rPr lang="zh-CN" altLang="en-US" dirty="0">
                <a:latin typeface="Consolas" panose="020B0609020204030204" pitchFamily="49" charset="0"/>
                <a:ea typeface="微软雅黑" panose="020B0503020204020204" pitchFamily="34" charset="-122"/>
                <a:sym typeface="Consolas" panose="020B0609020204030204" pitchFamily="49" charset="0"/>
              </a:rPr>
              <a:t>地理学第一定律</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pic>
        <p:nvPicPr>
          <p:cNvPr id="1026" name="Picture 2" descr="https://ss2.baidu.com/6ONYsjip0QIZ8tyhnq/it/u=287183807,1003768889&amp;fm=173&amp;s=EA3347CBDC531ADC609CB09A03005053&amp;w=250&amp;h=320&amp;img.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193" y="1904999"/>
            <a:ext cx="2381251" cy="3048001"/>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661193" y="5067301"/>
            <a:ext cx="2381251" cy="295145"/>
          </a:xfrm>
          <a:prstGeom prst="rect">
            <a:avLst/>
          </a:prstGeom>
        </p:spPr>
        <p:txBody>
          <a:bodyPr wrap="square">
            <a:spAutoFit/>
          </a:bodyPr>
          <a:lstStyle/>
          <a:p>
            <a:pPr algn="ctr">
              <a:lnSpc>
                <a:spcPct val="120000"/>
              </a:lnSpc>
            </a:pPr>
            <a:r>
              <a:rPr lang="en-US" altLang="zh-CN" sz="1200" dirty="0">
                <a:latin typeface="Times New Roman" panose="02020603050405020304" charset="0"/>
                <a:ea typeface="+mj-ea"/>
                <a:cs typeface="Times New Roman" panose="02020603050405020304" charset="0"/>
                <a:sym typeface="Consolas" panose="020B0609020204030204" pitchFamily="49" charset="0"/>
              </a:rPr>
              <a:t>Waldo R. Tobler</a:t>
            </a:r>
            <a:r>
              <a:rPr lang="zh-CN" altLang="en-US" sz="1200" dirty="0">
                <a:latin typeface="Times New Roman" panose="02020603050405020304" charset="0"/>
                <a:ea typeface="+mj-ea"/>
                <a:cs typeface="Times New Roman" panose="02020603050405020304" charset="0"/>
                <a:sym typeface="Consolas" panose="020B0609020204030204" pitchFamily="49" charset="0"/>
              </a:rPr>
              <a:t>（</a:t>
            </a:r>
            <a:r>
              <a:rPr lang="en-US" altLang="zh-CN" sz="1200" dirty="0">
                <a:latin typeface="Times New Roman" panose="02020603050405020304" charset="0"/>
                <a:ea typeface="+mj-ea"/>
                <a:cs typeface="Times New Roman" panose="02020603050405020304" charset="0"/>
                <a:sym typeface="Consolas" panose="020B0609020204030204" pitchFamily="49" charset="0"/>
              </a:rPr>
              <a:t>1930-2018)</a:t>
            </a:r>
            <a:endParaRPr lang="zh-CN" altLang="en-US" sz="1200" dirty="0">
              <a:latin typeface="Times New Roman" panose="02020603050405020304" charset="0"/>
              <a:ea typeface="+mj-ea"/>
              <a:cs typeface="Times New Roman" panose="02020603050405020304" charset="0"/>
              <a:sym typeface="Consolas" panose="020B0609020204030204" pitchFamily="49" charset="0"/>
            </a:endParaRPr>
          </a:p>
        </p:txBody>
      </p:sp>
      <p:sp>
        <p:nvSpPr>
          <p:cNvPr id="7" name="标题 6"/>
          <p:cNvSpPr>
            <a:spLocks noGrp="1"/>
          </p:cNvSpPr>
          <p:nvPr>
            <p:ph type="title"/>
          </p:nvPr>
        </p:nvSpPr>
        <p:spPr/>
        <p:txBody>
          <a:bodyPr/>
          <a:lstStyle/>
          <a:p>
            <a:pPr algn="l"/>
            <a:r>
              <a:rPr lang="en-US" altLang="zh-CN" sz="3600" dirty="0">
                <a:latin typeface="Times New Roman" panose="02020603050405020304" charset="0"/>
                <a:cs typeface="Times New Roman" panose="02020603050405020304" charset="0"/>
              </a:rPr>
              <a:t>8.2 </a:t>
            </a:r>
            <a:r>
              <a:rPr lang="zh-CN" altLang="en-US" sz="3600" dirty="0">
                <a:latin typeface="Times New Roman" panose="02020603050405020304" charset="0"/>
                <a:cs typeface="Times New Roman" panose="02020603050405020304" charset="0"/>
              </a:rPr>
              <a:t>空间插值</a:t>
            </a:r>
          </a:p>
        </p:txBody>
      </p:sp>
      <p:sp>
        <p:nvSpPr>
          <p:cNvPr id="8" name="灯片编号占位符 7"/>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a:t>
            </a:fld>
            <a:endParaRPr lang="zh-CN" altLang="en-US" dirty="0">
              <a:solidFill>
                <a:schemeClr val="bg2">
                  <a:lumMod val="7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2019-01-22 22-42-06 的屏幕截图"/>
          <p:cNvPicPr>
            <a:picLocks noChangeAspect="1"/>
          </p:cNvPicPr>
          <p:nvPr/>
        </p:nvPicPr>
        <p:blipFill>
          <a:blip r:embed="rId2"/>
          <a:stretch>
            <a:fillRect/>
          </a:stretch>
        </p:blipFill>
        <p:spPr>
          <a:xfrm>
            <a:off x="1193166" y="3006094"/>
            <a:ext cx="6755130" cy="3249295"/>
          </a:xfrm>
          <a:prstGeom prst="rect">
            <a:avLst/>
          </a:prstGeom>
        </p:spPr>
      </p:pic>
      <p:sp>
        <p:nvSpPr>
          <p:cNvPr id="11" name="矩形 10"/>
          <p:cNvSpPr/>
          <p:nvPr/>
        </p:nvSpPr>
        <p:spPr>
          <a:xfrm>
            <a:off x="501971" y="1276613"/>
            <a:ext cx="8137525" cy="1705403"/>
          </a:xfrm>
          <a:prstGeom prst="rect">
            <a:avLst/>
          </a:prstGeom>
        </p:spPr>
        <p:txBody>
          <a:bodyPr wrap="square">
            <a:spAutoFit/>
          </a:bodyPr>
          <a:lstStyle/>
          <a:p>
            <a:pPr indent="457200">
              <a:lnSpc>
                <a:spcPct val="150000"/>
              </a:lnSpc>
            </a:pPr>
            <a:r>
              <a:rPr lang="zh-CN" altLang="en-US" dirty="0">
                <a:latin typeface="+mj-ea"/>
                <a:ea typeface="+mj-ea"/>
                <a:sym typeface="Consolas" panose="020B0609020204030204" pitchFamily="49" charset="0"/>
              </a:rPr>
              <a:t>现实世界中的地理现象是连续的、任意地点的，而通常情况下只能在有限地点进行测量，如降水量、空气质量、水质等观测值。</a:t>
            </a:r>
            <a:endParaRPr lang="en-US" altLang="zh-CN" dirty="0">
              <a:latin typeface="+mj-ea"/>
              <a:ea typeface="+mj-ea"/>
              <a:sym typeface="Consolas" panose="020B0609020204030204" pitchFamily="49" charset="0"/>
            </a:endParaRPr>
          </a:p>
          <a:p>
            <a:pPr indent="457200">
              <a:lnSpc>
                <a:spcPct val="150000"/>
              </a:lnSpc>
            </a:pPr>
            <a:r>
              <a:rPr lang="zh-CN" altLang="en-US" dirty="0">
                <a:latin typeface="+mj-ea"/>
                <a:ea typeface="+mj-ea"/>
                <a:sym typeface="Consolas" panose="020B0609020204030204" pitchFamily="49" charset="0"/>
              </a:rPr>
              <a:t>空间插值是指依据地理学第一定律，依据离散点的观测值对连续的空间格网单元按照一定规则进行赋值的过程。</a:t>
            </a:r>
            <a:endParaRPr lang="en-US" altLang="zh-CN" dirty="0">
              <a:latin typeface="+mj-ea"/>
              <a:ea typeface="+mj-ea"/>
              <a:sym typeface="Consolas" panose="020B0609020204030204" pitchFamily="49" charset="0"/>
            </a:endParaRPr>
          </a:p>
        </p:txBody>
      </p:sp>
      <p:sp>
        <p:nvSpPr>
          <p:cNvPr id="10" name="标题 9"/>
          <p:cNvSpPr>
            <a:spLocks noGrp="1"/>
          </p:cNvSpPr>
          <p:nvPr>
            <p:ph type="title"/>
          </p:nvPr>
        </p:nvSpPr>
        <p:spPr/>
        <p:txBody>
          <a:bodyPr/>
          <a:lstStyle/>
          <a:p>
            <a:pPr algn="l"/>
            <a:r>
              <a:rPr lang="en-US" altLang="zh-CN" sz="3600" dirty="0">
                <a:latin typeface="Times New Roman" panose="02020603050405020304" charset="0"/>
                <a:cs typeface="Times New Roman" panose="02020603050405020304" charset="0"/>
              </a:rPr>
              <a:t>8.2 </a:t>
            </a:r>
            <a:r>
              <a:rPr lang="zh-CN" altLang="en-US" sz="3600" dirty="0">
                <a:latin typeface="Times New Roman" panose="02020603050405020304" charset="0"/>
                <a:cs typeface="Times New Roman" panose="02020603050405020304" charset="0"/>
              </a:rPr>
              <a:t>空间插值</a:t>
            </a:r>
          </a:p>
        </p:txBody>
      </p:sp>
      <p:sp>
        <p:nvSpPr>
          <p:cNvPr id="12" name="灯片编号占位符 11"/>
          <p:cNvSpPr>
            <a:spLocks noGrp="1"/>
          </p:cNvSpPr>
          <p:nvPr>
            <p:ph type="sldNum" sz="quarter" idx="12"/>
          </p:nvPr>
        </p:nvSpPr>
        <p:spPr/>
        <p:txBody>
          <a:bodyPr/>
          <a:lstStyle/>
          <a:p>
            <a:fld id="{6B3369F9-03CD-4B48-86A9-9EE39A82955A}" type="slidenum">
              <a:rPr lang="zh-CN" altLang="en-US">
                <a:solidFill>
                  <a:schemeClr val="bg2">
                    <a:lumMod val="75000"/>
                  </a:schemeClr>
                </a:solidFill>
              </a:rPr>
              <a:t>6</a:t>
            </a:fld>
            <a:endParaRPr lang="zh-CN" altLang="en-US" dirty="0">
              <a:solidFill>
                <a:schemeClr val="bg2">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95300" y="1447800"/>
            <a:ext cx="8137525" cy="3987182"/>
          </a:xfrm>
          <a:prstGeom prst="rect">
            <a:avLst/>
          </a:prstGeom>
        </p:spPr>
        <p:txBody>
          <a:bodyPr wrap="square">
            <a:spAutoFit/>
          </a:bodyPr>
          <a:lstStyle/>
          <a:p>
            <a:pPr indent="457200">
              <a:lnSpc>
                <a:spcPct val="150000"/>
              </a:lnSpc>
            </a:pPr>
            <a:r>
              <a:rPr lang="zh-CN" altLang="en-US" dirty="0">
                <a:latin typeface="Consolas" panose="020B0609020204030204" pitchFamily="49" charset="0"/>
                <a:ea typeface="微软雅黑" panose="020B0503020204020204" pitchFamily="34" charset="-122"/>
                <a:sym typeface="Consolas" panose="020B0609020204030204" pitchFamily="49" charset="0"/>
              </a:rPr>
              <a:t>最邻近插值方法是最为直观的插值方法，即利用距离带插值点最邻近的观测值进行赋值操作。</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sym typeface="Consolas" panose="020B0609020204030204" pitchFamily="49" charset="0"/>
              </a:rPr>
              <a:t>生成用于插值计算的网格单元数据</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sym typeface="Consolas" panose="020B0609020204030204" pitchFamily="49" charset="0"/>
              </a:rPr>
              <a:t>计算距离矩阵并找出每个栅格单元对应的最近距离数据点</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a:lnSpc>
                <a:spcPct val="14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a:lnSpc>
                <a:spcPct val="14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457200">
              <a:lnSpc>
                <a:spcPct val="140000"/>
              </a:lnSpc>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sym typeface="Consolas" panose="020B0609020204030204" pitchFamily="49" charset="0"/>
              </a:rPr>
              <a:t>完成最终的插值结果展示</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
        <p:nvSpPr>
          <p:cNvPr id="13"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8.2.1 </a:t>
            </a:r>
            <a:r>
              <a:rPr lang="zh-CN" altLang="en-US" sz="3600" dirty="0">
                <a:latin typeface="Times New Roman" panose="02020603050405020304" charset="0"/>
                <a:cs typeface="Times New Roman" panose="02020603050405020304" charset="0"/>
              </a:rPr>
              <a:t>最邻近插值</a:t>
            </a:r>
          </a:p>
        </p:txBody>
      </p:sp>
      <p:sp>
        <p:nvSpPr>
          <p:cNvPr id="14" name="灯片编号占位符 13"/>
          <p:cNvSpPr>
            <a:spLocks noGrp="1"/>
          </p:cNvSpPr>
          <p:nvPr>
            <p:ph type="sldNum" sz="quarter" idx="12"/>
          </p:nvPr>
        </p:nvSpPr>
        <p:spPr/>
        <p:txBody>
          <a:bodyPr/>
          <a:lstStyle/>
          <a:p>
            <a:fld id="{6B3369F9-03CD-4B48-86A9-9EE39A82955A}" type="slidenum">
              <a:rPr lang="zh-CN" altLang="en-US">
                <a:solidFill>
                  <a:schemeClr val="bg2">
                    <a:lumMod val="75000"/>
                  </a:schemeClr>
                </a:solidFill>
              </a:rPr>
              <a:t>7</a:t>
            </a:fld>
            <a:endParaRPr lang="zh-CN" altLang="en-US" dirty="0">
              <a:solidFill>
                <a:schemeClr val="bg2">
                  <a:lumMod val="75000"/>
                </a:schemeClr>
              </a:solidFill>
            </a:endParaRPr>
          </a:p>
        </p:txBody>
      </p:sp>
      <p:sp>
        <p:nvSpPr>
          <p:cNvPr id="2" name="文本框 1"/>
          <p:cNvSpPr txBox="1"/>
          <p:nvPr/>
        </p:nvSpPr>
        <p:spPr>
          <a:xfrm>
            <a:off x="1127123" y="5372943"/>
            <a:ext cx="8069266" cy="63094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nearest_dat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grid_raster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rasterize(grid,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field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nn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grid_raster,main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"Average price in Wuhan (Nearest-neighbor interpolation)"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3" name="文本框 2"/>
          <p:cNvSpPr txBox="1"/>
          <p:nvPr/>
        </p:nvSpPr>
        <p:spPr>
          <a:xfrm>
            <a:off x="1127123" y="3849528"/>
            <a:ext cx="8069266" cy="99001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grid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as.points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na.rm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st_as_sf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(grid)</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dist_matrix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st_distance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grid.sf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nearest_dat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apply(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dist_matrix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which.min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4" name="文本框 3"/>
          <p:cNvSpPr txBox="1"/>
          <p:nvPr/>
        </p:nvSpPr>
        <p:spPr>
          <a:xfrm>
            <a:off x="1127123" y="2723286"/>
            <a:ext cx="8694106" cy="63094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cs typeface="宋体" panose="02010600030101010101" pitchFamily="2" charset="-122"/>
              </a:rPr>
              <a:t>require(terra)</a:t>
            </a:r>
            <a:endParaRPr lang="zh-CN" altLang="zh-CN" sz="1200" dirty="0">
              <a:latin typeface="Consolas" panose="020B0609020204030204" pitchFamily="49" charset="0"/>
            </a:endParaRPr>
          </a:p>
          <a:p>
            <a:pPr indent="127000">
              <a:lnSpc>
                <a:spcPts val="1425"/>
              </a:lnSpc>
            </a:pPr>
            <a:r>
              <a:rPr lang="en-US" altLang="zh-CN" sz="1200" dirty="0" err="1">
                <a:solidFill>
                  <a:srgbClr val="000000"/>
                </a:solidFill>
                <a:latin typeface="Consolas" panose="020B0609020204030204" pitchFamily="49" charset="0"/>
                <a:cs typeface="宋体" panose="02010600030101010101" pitchFamily="2" charset="-122"/>
              </a:rPr>
              <a:t>WHHP.rast</a:t>
            </a:r>
            <a:r>
              <a:rPr lang="en-US" altLang="zh-CN" sz="1200" dirty="0">
                <a:solidFill>
                  <a:srgbClr val="000000"/>
                </a:solidFill>
                <a:latin typeface="Consolas" panose="020B0609020204030204" pitchFamily="49" charset="0"/>
                <a:cs typeface="宋体" panose="02010600030101010101" pitchFamily="2" charset="-122"/>
              </a:rPr>
              <a:t> &lt;- </a:t>
            </a:r>
            <a:r>
              <a:rPr lang="en-US" altLang="zh-CN" sz="1200" dirty="0" err="1">
                <a:solidFill>
                  <a:srgbClr val="000000"/>
                </a:solidFill>
                <a:latin typeface="Consolas" panose="020B0609020204030204" pitchFamily="49" charset="0"/>
                <a:cs typeface="宋体" panose="02010600030101010101" pitchFamily="2" charset="-122"/>
              </a:rPr>
              <a:t>rast</a:t>
            </a:r>
            <a:r>
              <a:rPr lang="en-US" altLang="zh-CN" sz="1200" dirty="0">
                <a:solidFill>
                  <a:srgbClr val="000000"/>
                </a:solidFill>
                <a:latin typeface="Consolas" panose="020B0609020204030204" pitchFamily="49" charset="0"/>
                <a:cs typeface="宋体" panose="02010600030101010101" pitchFamily="2" charset="-122"/>
              </a:rPr>
              <a:t>(</a:t>
            </a:r>
            <a:r>
              <a:rPr lang="en-US" altLang="zh-CN" sz="1200" dirty="0" err="1">
                <a:solidFill>
                  <a:srgbClr val="000000"/>
                </a:solidFill>
                <a:latin typeface="Consolas" panose="020B0609020204030204" pitchFamily="49" charset="0"/>
                <a:cs typeface="宋体" panose="02010600030101010101" pitchFamily="2" charset="-122"/>
              </a:rPr>
              <a:t>nrows</a:t>
            </a:r>
            <a:r>
              <a:rPr lang="en-US" altLang="zh-CN" sz="1200" dirty="0">
                <a:solidFill>
                  <a:srgbClr val="000000"/>
                </a:solidFill>
                <a:latin typeface="Consolas" panose="020B0609020204030204" pitchFamily="49" charset="0"/>
                <a:cs typeface="宋体" panose="02010600030101010101" pitchFamily="2" charset="-122"/>
              </a:rPr>
              <a:t> = </a:t>
            </a:r>
            <a:r>
              <a:rPr lang="en-US" altLang="zh-CN" sz="1200" dirty="0">
                <a:solidFill>
                  <a:srgbClr val="098658"/>
                </a:solidFill>
                <a:latin typeface="Consolas" panose="020B0609020204030204" pitchFamily="49" charset="0"/>
                <a:cs typeface="宋体" panose="02010600030101010101" pitchFamily="2" charset="-122"/>
              </a:rPr>
              <a:t>50</a:t>
            </a:r>
            <a:r>
              <a:rPr lang="en-US" altLang="zh-CN" sz="1200" dirty="0">
                <a:solidFill>
                  <a:srgbClr val="000000"/>
                </a:solidFill>
                <a:latin typeface="Consolas" panose="020B0609020204030204" pitchFamily="49" charset="0"/>
                <a:cs typeface="宋体" panose="02010600030101010101" pitchFamily="2" charset="-122"/>
              </a:rPr>
              <a:t>, </a:t>
            </a:r>
            <a:r>
              <a:rPr lang="en-US" altLang="zh-CN" sz="1200" dirty="0" err="1">
                <a:solidFill>
                  <a:srgbClr val="000000"/>
                </a:solidFill>
                <a:latin typeface="Consolas" panose="020B0609020204030204" pitchFamily="49" charset="0"/>
                <a:cs typeface="宋体" panose="02010600030101010101" pitchFamily="2" charset="-122"/>
              </a:rPr>
              <a:t>ncols</a:t>
            </a:r>
            <a:r>
              <a:rPr lang="en-US" altLang="zh-CN" sz="1200" dirty="0">
                <a:solidFill>
                  <a:srgbClr val="000000"/>
                </a:solidFill>
                <a:latin typeface="Consolas" panose="020B0609020204030204" pitchFamily="49" charset="0"/>
                <a:cs typeface="宋体" panose="02010600030101010101" pitchFamily="2" charset="-122"/>
              </a:rPr>
              <a:t> = </a:t>
            </a:r>
            <a:r>
              <a:rPr lang="en-US" altLang="zh-CN" sz="1200" dirty="0">
                <a:solidFill>
                  <a:srgbClr val="098658"/>
                </a:solidFill>
                <a:latin typeface="Consolas" panose="020B0609020204030204" pitchFamily="49" charset="0"/>
                <a:cs typeface="宋体" panose="02010600030101010101" pitchFamily="2" charset="-122"/>
              </a:rPr>
              <a:t>60</a:t>
            </a:r>
            <a:r>
              <a:rPr lang="en-US" altLang="zh-CN" sz="1200" dirty="0">
                <a:solidFill>
                  <a:srgbClr val="000000"/>
                </a:solidFill>
                <a:latin typeface="Consolas" panose="020B0609020204030204" pitchFamily="49" charset="0"/>
                <a:cs typeface="宋体" panose="02010600030101010101" pitchFamily="2" charset="-122"/>
              </a:rPr>
              <a:t>, </a:t>
            </a:r>
            <a:r>
              <a:rPr lang="en-US" altLang="zh-CN" sz="1200" dirty="0" err="1">
                <a:solidFill>
                  <a:srgbClr val="000000"/>
                </a:solidFill>
                <a:latin typeface="Consolas" panose="020B0609020204030204" pitchFamily="49" charset="0"/>
                <a:cs typeface="宋体" panose="02010600030101010101" pitchFamily="2" charset="-122"/>
              </a:rPr>
              <a:t>ext</a:t>
            </a:r>
            <a:r>
              <a:rPr lang="en-US" altLang="zh-CN" sz="1200" dirty="0">
                <a:solidFill>
                  <a:srgbClr val="000000"/>
                </a:solidFill>
                <a:latin typeface="Consolas" panose="020B0609020204030204" pitchFamily="49" charset="0"/>
                <a:cs typeface="宋体" panose="02010600030101010101" pitchFamily="2" charset="-122"/>
              </a:rPr>
              <a:t> = </a:t>
            </a:r>
            <a:r>
              <a:rPr lang="en-US" altLang="zh-CN" sz="1200" dirty="0" err="1">
                <a:solidFill>
                  <a:srgbClr val="000000"/>
                </a:solidFill>
                <a:latin typeface="Consolas" panose="020B0609020204030204" pitchFamily="49" charset="0"/>
                <a:cs typeface="宋体" panose="02010600030101010101" pitchFamily="2" charset="-122"/>
              </a:rPr>
              <a:t>ext</a:t>
            </a:r>
            <a:r>
              <a:rPr lang="en-US" altLang="zh-CN" sz="1200" dirty="0">
                <a:solidFill>
                  <a:srgbClr val="000000"/>
                </a:solidFill>
                <a:latin typeface="Consolas" panose="020B0609020204030204" pitchFamily="49" charset="0"/>
                <a:cs typeface="宋体" panose="02010600030101010101" pitchFamily="2" charset="-122"/>
              </a:rPr>
              <a:t>(WHHP))</a:t>
            </a:r>
            <a:endParaRPr lang="zh-CN" altLang="zh-CN" sz="1200" dirty="0">
              <a:latin typeface="Consolas" panose="020B0609020204030204" pitchFamily="49" charset="0"/>
            </a:endParaRPr>
          </a:p>
          <a:p>
            <a:pPr indent="127000">
              <a:lnSpc>
                <a:spcPts val="1425"/>
              </a:lnSpc>
            </a:pPr>
            <a:r>
              <a:rPr lang="en-US" altLang="zh-CN" sz="1200" dirty="0" err="1">
                <a:solidFill>
                  <a:srgbClr val="000000"/>
                </a:solidFill>
                <a:latin typeface="Consolas" panose="020B0609020204030204" pitchFamily="49" charset="0"/>
                <a:cs typeface="宋体" panose="02010600030101010101" pitchFamily="2" charset="-122"/>
              </a:rPr>
              <a:t>WHHP.rast</a:t>
            </a:r>
            <a:r>
              <a:rPr lang="en-US" altLang="zh-CN" sz="1200" dirty="0">
                <a:solidFill>
                  <a:srgbClr val="000000"/>
                </a:solidFill>
                <a:latin typeface="Consolas" panose="020B0609020204030204" pitchFamily="49" charset="0"/>
                <a:cs typeface="宋体" panose="02010600030101010101" pitchFamily="2" charset="-122"/>
              </a:rPr>
              <a:t> &lt;- rasterize(WHHP, </a:t>
            </a:r>
            <a:r>
              <a:rPr lang="en-US" altLang="zh-CN" sz="1200" dirty="0" err="1">
                <a:solidFill>
                  <a:srgbClr val="000000"/>
                </a:solidFill>
                <a:latin typeface="Consolas" panose="020B0609020204030204" pitchFamily="49" charset="0"/>
                <a:cs typeface="宋体" panose="02010600030101010101" pitchFamily="2" charset="-122"/>
              </a:rPr>
              <a:t>WHHP.rast</a:t>
            </a:r>
            <a:r>
              <a:rPr lang="en-US" altLang="zh-CN" sz="1200" dirty="0">
                <a:solidFill>
                  <a:srgbClr val="000000"/>
                </a:solidFill>
                <a:latin typeface="Consolas" panose="020B0609020204030204" pitchFamily="49" charset="0"/>
                <a:cs typeface="宋体" panose="02010600030101010101" pitchFamily="2" charset="-122"/>
              </a:rPr>
              <a:t>, field = </a:t>
            </a:r>
            <a:r>
              <a:rPr lang="en-US" altLang="zh-CN" sz="1200" dirty="0">
                <a:solidFill>
                  <a:srgbClr val="A31515"/>
                </a:solidFill>
                <a:latin typeface="Consolas" panose="020B0609020204030204" pitchFamily="49" charset="0"/>
                <a:cs typeface="宋体" panose="02010600030101010101" pitchFamily="2" charset="-122"/>
              </a:rPr>
              <a:t>"</a:t>
            </a:r>
            <a:r>
              <a:rPr lang="en-US" altLang="zh-CN" sz="1200" dirty="0" err="1">
                <a:solidFill>
                  <a:srgbClr val="A31515"/>
                </a:solidFill>
                <a:latin typeface="Consolas" panose="020B0609020204030204" pitchFamily="49" charset="0"/>
                <a:cs typeface="宋体" panose="02010600030101010101" pitchFamily="2" charset="-122"/>
              </a:rPr>
              <a:t>Avg_HP</a:t>
            </a:r>
            <a:r>
              <a:rPr lang="en-US" altLang="zh-CN" sz="1200" dirty="0">
                <a:solidFill>
                  <a:srgbClr val="A31515"/>
                </a:solidFill>
                <a:latin typeface="Consolas" panose="020B0609020204030204" pitchFamily="49" charset="0"/>
                <a:cs typeface="宋体" panose="02010600030101010101" pitchFamily="2" charset="-122"/>
              </a:rPr>
              <a:t>"</a:t>
            </a:r>
            <a:r>
              <a:rPr lang="en-US" altLang="zh-CN" sz="1200" dirty="0">
                <a:solidFill>
                  <a:srgbClr val="000000"/>
                </a:solidFill>
                <a:latin typeface="Consolas" panose="020B0609020204030204" pitchFamily="49" charset="0"/>
                <a:cs typeface="宋体" panose="02010600030101010101" pitchFamily="2" charset="-122"/>
              </a:rPr>
              <a:t>)</a:t>
            </a:r>
            <a:endParaRPr lang="zh-CN" altLang="zh-CN" sz="1200" dirty="0">
              <a:latin typeface="Consolas" panose="020B06090202040302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8</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495300" y="1257300"/>
            <a:ext cx="8137525" cy="732445"/>
          </a:xfrm>
          <a:prstGeom prst="rect">
            <a:avLst/>
          </a:prstGeom>
        </p:spPr>
        <p:txBody>
          <a:bodyPr wrap="square">
            <a:spAutoFit/>
          </a:bodyPr>
          <a:lstStyle/>
          <a:p>
            <a:pPr indent="457200">
              <a:lnSpc>
                <a:spcPct val="120000"/>
              </a:lnSpc>
            </a:pPr>
            <a:r>
              <a:rPr lang="zh-CN" altLang="en-US" dirty="0">
                <a:latin typeface="Consolas" panose="020B0609020204030204" pitchFamily="49" charset="0"/>
                <a:ea typeface="微软雅黑" panose="020B0503020204020204" pitchFamily="34" charset="-122"/>
                <a:sym typeface="Consolas" panose="020B0609020204030204" pitchFamily="49" charset="0"/>
              </a:rPr>
              <a:t>最邻近插值方法是最为直观的插值方法，即利用距离带插值点最邻近的观测值进行赋值操作。</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pic>
        <p:nvPicPr>
          <p:cNvPr id="12" name="图片 11"/>
          <p:cNvPicPr/>
          <p:nvPr/>
        </p:nvPicPr>
        <p:blipFill>
          <a:blip r:embed="rId2"/>
          <a:stretch>
            <a:fillRect/>
          </a:stretch>
        </p:blipFill>
        <p:spPr>
          <a:xfrm>
            <a:off x="1576388" y="2019300"/>
            <a:ext cx="5905500" cy="4484612"/>
          </a:xfrm>
          <a:prstGeom prst="rect">
            <a:avLst/>
          </a:prstGeom>
        </p:spPr>
      </p:pic>
      <p:sp>
        <p:nvSpPr>
          <p:cNvPr id="6" name="标题 9">
            <a:extLst>
              <a:ext uri="{FF2B5EF4-FFF2-40B4-BE49-F238E27FC236}">
                <a16:creationId xmlns:a16="http://schemas.microsoft.com/office/drawing/2014/main" id="{12838E01-4A7A-5DB2-289E-A4B787962F95}"/>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8.2.1 </a:t>
            </a:r>
            <a:r>
              <a:rPr lang="zh-CN" altLang="en-US" sz="3600" dirty="0">
                <a:latin typeface="Times New Roman" panose="02020603050405020304" charset="0"/>
                <a:cs typeface="Times New Roman" panose="02020603050405020304" charset="0"/>
              </a:rPr>
              <a:t>最邻近插值</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9</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725587" y="1333499"/>
            <a:ext cx="7692825" cy="1064843"/>
          </a:xfrm>
          <a:prstGeom prst="rect">
            <a:avLst/>
          </a:prstGeom>
        </p:spPr>
        <p:txBody>
          <a:bodyPr wrap="square">
            <a:spAutoFit/>
          </a:bodyPr>
          <a:lstStyle/>
          <a:p>
            <a:pPr indent="457200">
              <a:lnSpc>
                <a:spcPct val="120000"/>
              </a:lnSpc>
            </a:pPr>
            <a:r>
              <a:rPr lang="zh-CN" altLang="en-US" dirty="0">
                <a:latin typeface="+mj-ea"/>
                <a:ea typeface="+mj-ea"/>
                <a:sym typeface="Consolas" panose="020B0609020204030204" pitchFamily="49" charset="0"/>
              </a:rPr>
              <a:t>反距离加权插值</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Inverse Distance-based Weighted Interpolation, IDW</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zh-CN" altLang="en-US" dirty="0">
                <a:latin typeface="+mj-ea"/>
                <a:ea typeface="+mj-ea"/>
                <a:sym typeface="Consolas" panose="020B0609020204030204" pitchFamily="49" charset="0"/>
              </a:rPr>
              <a:t>是最常用的空间插值方法之一。它在每个插值点采用数据点的反距离加权平均作为该位置点的值。</a:t>
            </a:r>
            <a:endParaRPr lang="en-US" altLang="zh-CN" dirty="0">
              <a:latin typeface="+mj-ea"/>
              <a:ea typeface="+mj-ea"/>
              <a:sym typeface="Consolas" panose="020B0609020204030204" pitchFamily="49" charset="0"/>
            </a:endParaRPr>
          </a:p>
        </p:txBody>
      </p:sp>
      <p:pic>
        <p:nvPicPr>
          <p:cNvPr id="1026" name="Picture 2" descr="https://img-blog.csdn.net/20160831104437773"/>
          <p:cNvPicPr>
            <a:picLocks noChangeAspect="1" noChangeArrowheads="1"/>
          </p:cNvPicPr>
          <p:nvPr/>
        </p:nvPicPr>
        <p:blipFill rotWithShape="1">
          <a:blip r:embed="rId2">
            <a:extLst>
              <a:ext uri="{28A0092B-C50C-407E-A947-70E740481C1C}">
                <a14:useLocalDpi xmlns:a14="http://schemas.microsoft.com/office/drawing/2010/main" val="0"/>
              </a:ext>
            </a:extLst>
          </a:blip>
          <a:srcRect l="4188" r="10808"/>
          <a:stretch>
            <a:fillRect/>
          </a:stretch>
        </p:blipFill>
        <p:spPr bwMode="auto">
          <a:xfrm>
            <a:off x="4251994" y="2590800"/>
            <a:ext cx="4050631" cy="35814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534347" y="3013412"/>
            <a:ext cx="4139605" cy="732445"/>
          </a:xfrm>
          <a:prstGeom prst="rect">
            <a:avLst/>
          </a:prstGeom>
        </p:spPr>
        <p:txBody>
          <a:bodyPr wrap="square">
            <a:spAutoFit/>
          </a:bodyPr>
          <a:lstStyle/>
          <a:p>
            <a:pPr indent="457200">
              <a:lnSpc>
                <a:spcPct val="120000"/>
              </a:lnSpc>
            </a:pPr>
            <a:r>
              <a:rPr lang="zh-CN" altLang="en-US" dirty="0">
                <a:latin typeface="Consolas" panose="020B0609020204030204" pitchFamily="49" charset="0"/>
                <a:ea typeface="微软雅黑" panose="020B0503020204020204" pitchFamily="34" charset="-122"/>
                <a:sym typeface="Consolas" panose="020B0609020204030204" pitchFamily="49" charset="0"/>
              </a:rPr>
              <a:t>此方法假定所映射的变量因受到与其采样位置间的距离的影响而减小。</a:t>
            </a:r>
          </a:p>
        </p:txBody>
      </p:sp>
      <mc:AlternateContent xmlns:mc="http://schemas.openxmlformats.org/markup-compatibility/2006" xmlns:a14="http://schemas.microsoft.com/office/drawing/2010/main">
        <mc:Choice Requires="a14">
          <p:sp>
            <p:nvSpPr>
              <p:cNvPr id="5" name="矩形 4"/>
              <p:cNvSpPr/>
              <p:nvPr/>
            </p:nvSpPr>
            <p:spPr>
              <a:xfrm>
                <a:off x="841375" y="4381500"/>
                <a:ext cx="3210302" cy="590996"/>
              </a:xfrm>
              <a:prstGeom prst="rect">
                <a:avLst/>
              </a:prstGeom>
            </p:spPr>
            <p:txBody>
              <a:bodyPr wrap="none">
                <a:spAutoFit/>
              </a:bodyPr>
              <a:lstStyle/>
              <a:p>
                <a14:m>
                  <m:oMath xmlns:m="http://schemas.openxmlformats.org/officeDocument/2006/math">
                    <m:acc>
                      <m:accPr>
                        <m:chr m:val="̂"/>
                        <m:ctrlPr>
                          <a:rPr lang="zh-CN" altLang="zh-CN" sz="2000" i="1">
                            <a:latin typeface="Cambria Math" panose="02040503050406030204" pitchFamily="18" charset="0"/>
                            <a:ea typeface="Cambria Math" panose="02040503050406030204" pitchFamily="18" charset="0"/>
                          </a:rPr>
                        </m:ctrlPr>
                      </m:accPr>
                      <m:e>
                        <m:r>
                          <a:rPr lang="en-US" altLang="zh-CN" sz="2000" i="1" kern="0">
                            <a:latin typeface="Cambria Math" panose="02040503050406030204" pitchFamily="18" charset="0"/>
                            <a:cs typeface="Times New Roman" panose="02020603050405020304" charset="0"/>
                          </a:rPr>
                          <m:t>𝑧</m:t>
                        </m:r>
                      </m:e>
                    </m:acc>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e>
                    </m:d>
                    <m:r>
                      <a:rPr lang="en-US" altLang="zh-CN" sz="2000" i="1" kern="0">
                        <a:latin typeface="Cambria Math" panose="02040503050406030204" pitchFamily="18" charset="0"/>
                        <a:cs typeface="Times New Roman" panose="02020603050405020304" charset="0"/>
                      </a:rPr>
                      <m:t>= </m:t>
                    </m:r>
                    <m:f>
                      <m:fPr>
                        <m:type m:val="lin"/>
                        <m:ctrlPr>
                          <a:rPr lang="zh-CN" altLang="zh-CN" sz="2000" i="1">
                            <a:latin typeface="Cambria Math" panose="02040503050406030204" pitchFamily="18" charset="0"/>
                            <a:ea typeface="Cambria Math" panose="02040503050406030204" pitchFamily="18" charset="0"/>
                          </a:rPr>
                        </m:ctrlPr>
                      </m:fPr>
                      <m:num>
                        <m:nary>
                          <m:naryPr>
                            <m:chr m:val="∑"/>
                            <m:limLoc m:val="subSup"/>
                            <m:supHide m:val="on"/>
                            <m:ctrlPr>
                              <a:rPr lang="zh-CN" altLang="zh-CN" sz="2000" i="1">
                                <a:latin typeface="Cambria Math" panose="02040503050406030204" pitchFamily="18" charset="0"/>
                                <a:ea typeface="Cambria Math" panose="02040503050406030204" pitchFamily="18" charset="0"/>
                              </a:rPr>
                            </m:ctrlPr>
                          </m:naryPr>
                          <m:sub>
                            <m:r>
                              <a:rPr lang="en-US" altLang="zh-CN" sz="2000" i="1" kern="0">
                                <a:latin typeface="Cambria Math" panose="02040503050406030204" pitchFamily="18" charset="0"/>
                                <a:cs typeface="Times New Roman" panose="02020603050405020304" charset="0"/>
                              </a:rPr>
                              <m:t>𝑖</m:t>
                            </m:r>
                          </m:sub>
                          <m:sup/>
                          <m:e>
                            <m:f>
                              <m:fPr>
                                <m:ctrlPr>
                                  <a:rPr lang="zh-CN" altLang="zh-CN" sz="2000" i="1">
                                    <a:latin typeface="Cambria Math" panose="02040503050406030204" pitchFamily="18" charset="0"/>
                                    <a:ea typeface="Cambria Math" panose="02040503050406030204" pitchFamily="18" charset="0"/>
                                  </a:rPr>
                                </m:ctrlPr>
                              </m:fPr>
                              <m:num>
                                <m:r>
                                  <a:rPr lang="en-US" altLang="zh-CN" sz="2000" i="1" kern="0">
                                    <a:latin typeface="Cambria Math" panose="02040503050406030204" pitchFamily="18" charset="0"/>
                                    <a:cs typeface="Times New Roman" panose="02020603050405020304" charset="0"/>
                                  </a:rPr>
                                  <m:t>𝑧</m:t>
                                </m:r>
                                <m:d>
                                  <m:dPr>
                                    <m:ctrlPr>
                                      <a:rPr lang="zh-CN" altLang="zh-CN" sz="2000" i="1">
                                        <a:latin typeface="Cambria Math" panose="02040503050406030204" pitchFamily="18" charset="0"/>
                                        <a:ea typeface="Cambria Math" panose="02040503050406030204" pitchFamily="18" charset="0"/>
                                      </a:rPr>
                                    </m:ctrlPr>
                                  </m:dPr>
                                  <m:e>
                                    <m:sSub>
                                      <m:sSubPr>
                                        <m:ctrlPr>
                                          <a:rPr lang="zh-CN" altLang="zh-CN" sz="2000" i="1">
                                            <a:latin typeface="Cambria Math" panose="02040503050406030204" pitchFamily="18" charset="0"/>
                                            <a:ea typeface="Cambria Math" panose="02040503050406030204" pitchFamily="18" charset="0"/>
                                          </a:rPr>
                                        </m:ctrlPr>
                                      </m:sSubPr>
                                      <m:e>
                                        <m:r>
                                          <a:rPr lang="en-US" altLang="zh-CN" sz="2000" i="1" kern="0">
                                            <a:latin typeface="Cambria Math" panose="02040503050406030204" pitchFamily="18" charset="0"/>
                                            <a:cs typeface="Times New Roman" panose="02020603050405020304" charset="0"/>
                                          </a:rPr>
                                          <m:t>𝑠</m:t>
                                        </m:r>
                                      </m:e>
                                      <m:sub>
                                        <m:r>
                                          <a:rPr lang="en-US" altLang="zh-CN" sz="2000" i="1" kern="0">
                                            <a:latin typeface="Cambria Math" panose="02040503050406030204" pitchFamily="18" charset="0"/>
                                            <a:cs typeface="Times New Roman" panose="02020603050405020304" charset="0"/>
                                          </a:rPr>
                                          <m:t>𝑖</m:t>
                                        </m:r>
                                      </m:sub>
                                    </m:sSub>
                                  </m:e>
                                </m:d>
                              </m:num>
                              <m:den>
                                <m:sSup>
                                  <m:sSupPr>
                                    <m:ctrlPr>
                                      <a:rPr lang="zh-CN" altLang="zh-CN" sz="2000" i="1">
                                        <a:latin typeface="Cambria Math" panose="02040503050406030204" pitchFamily="18" charset="0"/>
                                        <a:ea typeface="Cambria Math" panose="02040503050406030204" pitchFamily="18" charset="0"/>
                                      </a:rPr>
                                    </m:ctrlPr>
                                  </m:sSupPr>
                                  <m:e>
                                    <m:r>
                                      <a:rPr lang="en-US" altLang="zh-CN" sz="2000" i="1" kern="0">
                                        <a:latin typeface="Cambria Math" panose="02040503050406030204" pitchFamily="18" charset="0"/>
                                        <a:cs typeface="Times New Roman" panose="02020603050405020304" charset="0"/>
                                      </a:rPr>
                                      <m:t>𝑑</m:t>
                                    </m:r>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r>
                                          <a:rPr lang="en-US" altLang="zh-CN" sz="2000" i="1" kern="0">
                                            <a:latin typeface="Cambria Math" panose="02040503050406030204" pitchFamily="18" charset="0"/>
                                            <a:cs typeface="Times New Roman" panose="02020603050405020304"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0">
                                                <a:latin typeface="Cambria Math" panose="02040503050406030204" pitchFamily="18" charset="0"/>
                                                <a:cs typeface="Times New Roman" panose="02020603050405020304" charset="0"/>
                                              </a:rPr>
                                              <m:t>𝑠</m:t>
                                            </m:r>
                                          </m:e>
                                          <m:sub>
                                            <m:r>
                                              <a:rPr lang="en-US" altLang="zh-CN" sz="2000" i="1" kern="0">
                                                <a:latin typeface="Cambria Math" panose="02040503050406030204" pitchFamily="18" charset="0"/>
                                                <a:cs typeface="Times New Roman" panose="02020603050405020304" charset="0"/>
                                              </a:rPr>
                                              <m:t>𝑖</m:t>
                                            </m:r>
                                          </m:sub>
                                        </m:sSub>
                                      </m:e>
                                    </m:d>
                                  </m:e>
                                  <m:sup>
                                    <m:r>
                                      <a:rPr lang="en-US" altLang="zh-CN" sz="2000" i="1" kern="0">
                                        <a:latin typeface="Cambria Math" panose="02040503050406030204" pitchFamily="18" charset="0"/>
                                        <a:cs typeface="Times New Roman" panose="02020603050405020304" charset="0"/>
                                      </a:rPr>
                                      <m:t>𝑝</m:t>
                                    </m:r>
                                  </m:sup>
                                </m:sSup>
                              </m:den>
                            </m:f>
                          </m:e>
                        </m:nary>
                      </m:num>
                      <m:den>
                        <m:nary>
                          <m:naryPr>
                            <m:chr m:val="∑"/>
                            <m:limLoc m:val="subSup"/>
                            <m:supHide m:val="on"/>
                            <m:ctrlPr>
                              <a:rPr lang="zh-CN" altLang="zh-CN" sz="2000" i="1">
                                <a:latin typeface="Cambria Math" panose="02040503050406030204" pitchFamily="18" charset="0"/>
                                <a:ea typeface="Cambria Math" panose="02040503050406030204" pitchFamily="18" charset="0"/>
                              </a:rPr>
                            </m:ctrlPr>
                          </m:naryPr>
                          <m:sub>
                            <m:r>
                              <a:rPr lang="en-US" altLang="zh-CN" sz="2000" i="1" kern="0">
                                <a:latin typeface="Cambria Math" panose="02040503050406030204" pitchFamily="18" charset="0"/>
                                <a:cs typeface="Times New Roman" panose="02020603050405020304" charset="0"/>
                              </a:rPr>
                              <m:t>𝑖</m:t>
                            </m:r>
                          </m:sub>
                          <m:sup/>
                          <m:e>
                            <m:f>
                              <m:fPr>
                                <m:ctrlPr>
                                  <a:rPr lang="zh-CN" altLang="zh-CN" sz="2000" i="1">
                                    <a:latin typeface="Cambria Math" panose="02040503050406030204" pitchFamily="18" charset="0"/>
                                    <a:ea typeface="Cambria Math" panose="02040503050406030204" pitchFamily="18" charset="0"/>
                                  </a:rPr>
                                </m:ctrlPr>
                              </m:fPr>
                              <m:num>
                                <m:r>
                                  <a:rPr lang="en-US" altLang="zh-CN" sz="2000" i="1" kern="0">
                                    <a:latin typeface="Cambria Math" panose="02040503050406030204" pitchFamily="18" charset="0"/>
                                    <a:cs typeface="Times New Roman" panose="02020603050405020304" charset="0"/>
                                  </a:rPr>
                                  <m:t>1</m:t>
                                </m:r>
                              </m:num>
                              <m:den>
                                <m:sSup>
                                  <m:sSupPr>
                                    <m:ctrlPr>
                                      <a:rPr lang="zh-CN" altLang="zh-CN" sz="2000" i="1">
                                        <a:latin typeface="Cambria Math" panose="02040503050406030204" pitchFamily="18" charset="0"/>
                                        <a:ea typeface="Cambria Math" panose="02040503050406030204" pitchFamily="18" charset="0"/>
                                      </a:rPr>
                                    </m:ctrlPr>
                                  </m:sSupPr>
                                  <m:e>
                                    <m:r>
                                      <a:rPr lang="en-US" altLang="zh-CN" sz="2000" i="1" kern="0">
                                        <a:latin typeface="Cambria Math" panose="02040503050406030204" pitchFamily="18" charset="0"/>
                                        <a:cs typeface="Times New Roman" panose="02020603050405020304" charset="0"/>
                                      </a:rPr>
                                      <m:t>𝑑</m:t>
                                    </m:r>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r>
                                          <a:rPr lang="en-US" altLang="zh-CN" sz="2000" i="1" kern="0">
                                            <a:latin typeface="Cambria Math" panose="02040503050406030204" pitchFamily="18" charset="0"/>
                                            <a:cs typeface="Times New Roman" panose="02020603050405020304" charset="0"/>
                                          </a:rPr>
                                          <m:t>,</m:t>
                                        </m:r>
                                        <m:sSub>
                                          <m:sSubPr>
                                            <m:ctrlPr>
                                              <a:rPr lang="zh-CN" altLang="zh-CN" sz="2000" i="1">
                                                <a:latin typeface="Cambria Math" panose="02040503050406030204" pitchFamily="18" charset="0"/>
                                                <a:ea typeface="Cambria Math" panose="02040503050406030204" pitchFamily="18" charset="0"/>
                                              </a:rPr>
                                            </m:ctrlPr>
                                          </m:sSubPr>
                                          <m:e>
                                            <m:r>
                                              <a:rPr lang="en-US" altLang="zh-CN" sz="2000" i="1" kern="0">
                                                <a:latin typeface="Cambria Math" panose="02040503050406030204" pitchFamily="18" charset="0"/>
                                                <a:cs typeface="Times New Roman" panose="02020603050405020304" charset="0"/>
                                              </a:rPr>
                                              <m:t>𝑠</m:t>
                                            </m:r>
                                          </m:e>
                                          <m:sub>
                                            <m:r>
                                              <a:rPr lang="en-US" altLang="zh-CN" sz="2000" i="1" kern="0">
                                                <a:latin typeface="Cambria Math" panose="02040503050406030204" pitchFamily="18" charset="0"/>
                                                <a:cs typeface="Times New Roman" panose="02020603050405020304" charset="0"/>
                                              </a:rPr>
                                              <m:t>𝑖</m:t>
                                            </m:r>
                                          </m:sub>
                                        </m:sSub>
                                      </m:e>
                                    </m:d>
                                  </m:e>
                                  <m:sup>
                                    <m:r>
                                      <a:rPr lang="en-US" altLang="zh-CN" sz="2000" i="1" kern="0">
                                        <a:latin typeface="Cambria Math" panose="02040503050406030204" pitchFamily="18" charset="0"/>
                                        <a:cs typeface="Times New Roman" panose="02020603050405020304" charset="0"/>
                                      </a:rPr>
                                      <m:t>𝑝</m:t>
                                    </m:r>
                                  </m:sup>
                                </m:sSup>
                              </m:den>
                            </m:f>
                          </m:e>
                        </m:nary>
                      </m:den>
                    </m:f>
                  </m:oMath>
                </a14:m>
                <a:r>
                  <a:rPr lang="en-US" altLang="zh-CN" sz="2000" kern="0" dirty="0">
                    <a:latin typeface="Times New Roman" panose="02020603050405020304" charset="0"/>
                  </a:rPr>
                  <a:t> </a:t>
                </a:r>
                <a:endParaRPr lang="zh-CN" altLang="en-US" sz="2000" dirty="0"/>
              </a:p>
            </p:txBody>
          </p:sp>
        </mc:Choice>
        <mc:Fallback xmlns="">
          <p:sp>
            <p:nvSpPr>
              <p:cNvPr id="5" name="矩形 4"/>
              <p:cNvSpPr>
                <a:spLocks noRot="1" noChangeAspect="1" noMove="1" noResize="1" noEditPoints="1" noAdjustHandles="1" noChangeArrowheads="1" noChangeShapeType="1" noTextEdit="1"/>
              </p:cNvSpPr>
              <p:nvPr/>
            </p:nvSpPr>
            <p:spPr>
              <a:xfrm>
                <a:off x="841375" y="4381500"/>
                <a:ext cx="3210302" cy="590996"/>
              </a:xfrm>
              <a:prstGeom prst="rect">
                <a:avLst/>
              </a:prstGeom>
              <a:blipFill>
                <a:blip r:embed="rId3"/>
                <a:stretch>
                  <a:fillRect/>
                </a:stretch>
              </a:blipFill>
            </p:spPr>
            <p:txBody>
              <a:bodyPr/>
              <a:lstStyle/>
              <a:p>
                <a:r>
                  <a:rPr lang="zh-CN" altLang="en-US">
                    <a:noFill/>
                  </a:rPr>
                  <a:t> </a:t>
                </a:r>
              </a:p>
            </p:txBody>
          </p:sp>
        </mc:Fallback>
      </mc:AlternateContent>
      <p:sp>
        <p:nvSpPr>
          <p:cNvPr id="12"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8.2.2</a:t>
            </a:r>
            <a:r>
              <a:rPr lang="zh-CN" altLang="en-US" sz="3600" dirty="0">
                <a:latin typeface="Times New Roman" panose="02020603050405020304" charset="0"/>
                <a:cs typeface="Times New Roman" panose="02020603050405020304" charset="0"/>
              </a:rPr>
              <a:t> </a:t>
            </a:r>
            <a:r>
              <a:rPr lang="en-US" altLang="zh-CN" sz="3600" dirty="0">
                <a:latin typeface="Times New Roman" panose="02020603050405020304" charset="0"/>
                <a:cs typeface="Times New Roman" panose="02020603050405020304" charset="0"/>
              </a:rPr>
              <a:t>IDW</a:t>
            </a:r>
            <a:r>
              <a:rPr lang="zh-CN" altLang="en-US" sz="3600" dirty="0">
                <a:latin typeface="Times New Roman" panose="02020603050405020304" charset="0"/>
                <a:cs typeface="Times New Roman" panose="02020603050405020304" charset="0"/>
              </a:rPr>
              <a:t>插值</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10</a:t>
            </a:fld>
            <a:endParaRPr lang="zh-CN" altLang="en-US" dirty="0">
              <a:solidFill>
                <a:schemeClr val="bg2">
                  <a:lumMod val="75000"/>
                </a:schemeClr>
              </a:solidFill>
              <a:sym typeface="Consolas" panose="020B0609020204030204" pitchFamily="49" charset="0"/>
            </a:endParaRPr>
          </a:p>
        </p:txBody>
      </p:sp>
      <p:sp>
        <p:nvSpPr>
          <p:cNvPr id="5" name="矩形 4"/>
          <p:cNvSpPr/>
          <p:nvPr/>
        </p:nvSpPr>
        <p:spPr>
          <a:xfrm>
            <a:off x="502840" y="1333500"/>
            <a:ext cx="8137127" cy="1721305"/>
          </a:xfrm>
          <a:prstGeom prst="rect">
            <a:avLst/>
          </a:prstGeom>
        </p:spPr>
        <p:txBody>
          <a:bodyPr wrap="square">
            <a:spAutoFit/>
          </a:bodyPr>
          <a:lstStyle/>
          <a:p>
            <a:pPr indent="457200">
              <a:lnSpc>
                <a:spcPct val="120000"/>
              </a:lnSpc>
            </a:pPr>
            <a:r>
              <a:rPr lang="zh-CN" altLang="en-US" dirty="0">
                <a:latin typeface="+mj-ea"/>
                <a:ea typeface="+mj-ea"/>
              </a:rPr>
              <a:t>权重与反距离（数据点与预测位置之间）的 </a:t>
            </a:r>
            <a:r>
              <a:rPr lang="en-US" altLang="zh-CN" i="1" dirty="0">
                <a:latin typeface="+mj-ea"/>
                <a:ea typeface="+mj-ea"/>
              </a:rPr>
              <a:t>p</a:t>
            </a:r>
            <a:r>
              <a:rPr lang="zh-CN" altLang="en-US" dirty="0">
                <a:latin typeface="+mj-ea"/>
                <a:ea typeface="+mj-ea"/>
              </a:rPr>
              <a:t> 次幂成正比。因此，随着距离的增加，权重将迅速降低。权重下降的速度取决于 </a:t>
            </a:r>
            <a:r>
              <a:rPr lang="en-US" altLang="zh-CN" i="1" dirty="0">
                <a:latin typeface="+mj-ea"/>
                <a:ea typeface="+mj-ea"/>
              </a:rPr>
              <a:t>p</a:t>
            </a:r>
            <a:r>
              <a:rPr lang="zh-CN" altLang="en-US" dirty="0">
                <a:latin typeface="+mj-ea"/>
                <a:ea typeface="+mj-ea"/>
              </a:rPr>
              <a:t> 值。如果 </a:t>
            </a:r>
            <a:r>
              <a:rPr lang="en-US" altLang="zh-CN" i="1" dirty="0">
                <a:latin typeface="+mj-ea"/>
                <a:ea typeface="+mj-ea"/>
              </a:rPr>
              <a:t>p</a:t>
            </a:r>
            <a:r>
              <a:rPr lang="zh-CN" altLang="en-US" dirty="0">
                <a:latin typeface="+mj-ea"/>
                <a:ea typeface="+mj-ea"/>
              </a:rPr>
              <a:t> </a:t>
            </a:r>
            <a:r>
              <a:rPr lang="en-US" altLang="zh-CN" dirty="0">
                <a:latin typeface="+mj-ea"/>
                <a:ea typeface="+mj-ea"/>
              </a:rPr>
              <a:t>= 0</a:t>
            </a:r>
            <a:r>
              <a:rPr lang="zh-CN" altLang="en-US" dirty="0">
                <a:latin typeface="+mj-ea"/>
                <a:ea typeface="+mj-ea"/>
              </a:rPr>
              <a:t>，则表示权重不随距离减小，且因每个权重 </a:t>
            </a:r>
            <a:r>
              <a:rPr lang="en-US" altLang="zh-CN" dirty="0" err="1">
                <a:latin typeface="+mj-ea"/>
                <a:ea typeface="+mj-ea"/>
              </a:rPr>
              <a:t>λ</a:t>
            </a:r>
            <a:r>
              <a:rPr lang="en-US" altLang="zh-CN" baseline="-25000" dirty="0" err="1">
                <a:latin typeface="+mj-ea"/>
                <a:ea typeface="+mj-ea"/>
              </a:rPr>
              <a:t>i</a:t>
            </a:r>
            <a:r>
              <a:rPr lang="zh-CN" altLang="en-US" dirty="0">
                <a:latin typeface="+mj-ea"/>
                <a:ea typeface="+mj-ea"/>
              </a:rPr>
              <a:t> 的值均相同，预测值将是搜索邻域内的所有数据值的平均值。随着 </a:t>
            </a:r>
            <a:r>
              <a:rPr lang="en-US" altLang="zh-CN" i="1" dirty="0">
                <a:latin typeface="+mj-ea"/>
                <a:ea typeface="+mj-ea"/>
              </a:rPr>
              <a:t>p</a:t>
            </a:r>
            <a:r>
              <a:rPr lang="zh-CN" altLang="en-US" dirty="0">
                <a:latin typeface="+mj-ea"/>
                <a:ea typeface="+mj-ea"/>
              </a:rPr>
              <a:t> 值的增大，较远数据点的权重将迅速减小。如果 </a:t>
            </a:r>
            <a:r>
              <a:rPr lang="en-US" altLang="zh-CN" i="1" dirty="0">
                <a:latin typeface="+mj-ea"/>
                <a:ea typeface="+mj-ea"/>
              </a:rPr>
              <a:t>p</a:t>
            </a:r>
            <a:r>
              <a:rPr lang="zh-CN" altLang="en-US" dirty="0">
                <a:latin typeface="+mj-ea"/>
                <a:ea typeface="+mj-ea"/>
              </a:rPr>
              <a:t> 值极大，则仅最邻近的数据点会对预测产生影响。</a:t>
            </a:r>
          </a:p>
        </p:txBody>
      </p:sp>
      <p:sp>
        <p:nvSpPr>
          <p:cNvPr id="11"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8.2.2 IDW</a:t>
            </a:r>
            <a:r>
              <a:rPr lang="zh-CN" altLang="en-US" sz="3600" dirty="0">
                <a:latin typeface="Times New Roman" panose="02020603050405020304" charset="0"/>
                <a:cs typeface="Times New Roman" panose="02020603050405020304" charset="0"/>
              </a:rPr>
              <a:t>插值</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3276600"/>
            <a:ext cx="4257706" cy="3028110"/>
          </a:xfrm>
          <a:prstGeom prst="rect">
            <a:avLst/>
          </a:prstGeom>
        </p:spPr>
      </p:pic>
      <p:cxnSp>
        <p:nvCxnSpPr>
          <p:cNvPr id="9" name="直接箭头连接符 8"/>
          <p:cNvCxnSpPr/>
          <p:nvPr/>
        </p:nvCxnSpPr>
        <p:spPr>
          <a:xfrm flipH="1" flipV="1">
            <a:off x="5676900" y="3622948"/>
            <a:ext cx="800100" cy="3810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2" name="直接箭头连接符 11"/>
          <p:cNvCxnSpPr/>
          <p:nvPr/>
        </p:nvCxnSpPr>
        <p:spPr>
          <a:xfrm flipH="1">
            <a:off x="5539150" y="4818125"/>
            <a:ext cx="937850" cy="60960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p:nvPr/>
        </p:nvCxnSpPr>
        <p:spPr>
          <a:xfrm flipH="1">
            <a:off x="6079462" y="5285039"/>
            <a:ext cx="453847" cy="30447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6497821" y="3839646"/>
            <a:ext cx="545342" cy="369332"/>
          </a:xfrm>
          <a:prstGeom prst="rect">
            <a:avLst/>
          </a:prstGeom>
          <a:noFill/>
        </p:spPr>
        <p:txBody>
          <a:bodyPr wrap="none" rtlCol="0">
            <a:spAutoFit/>
          </a:bodyPr>
          <a:lstStyle/>
          <a:p>
            <a:r>
              <a:rPr lang="en-US" altLang="zh-CN" dirty="0">
                <a:latin typeface="+mn-lt"/>
              </a:rPr>
              <a:t>p=0</a:t>
            </a:r>
            <a:endParaRPr lang="zh-CN" altLang="en-US" dirty="0">
              <a:latin typeface="+mn-lt"/>
            </a:endParaRPr>
          </a:p>
        </p:txBody>
      </p:sp>
      <p:sp>
        <p:nvSpPr>
          <p:cNvPr id="19" name="文本框 18"/>
          <p:cNvSpPr txBox="1"/>
          <p:nvPr/>
        </p:nvSpPr>
        <p:spPr>
          <a:xfrm>
            <a:off x="6510801" y="4575448"/>
            <a:ext cx="545342" cy="369332"/>
          </a:xfrm>
          <a:prstGeom prst="rect">
            <a:avLst/>
          </a:prstGeom>
          <a:noFill/>
        </p:spPr>
        <p:txBody>
          <a:bodyPr wrap="none" rtlCol="0">
            <a:spAutoFit/>
          </a:bodyPr>
          <a:lstStyle/>
          <a:p>
            <a:r>
              <a:rPr lang="en-US" altLang="zh-CN" dirty="0">
                <a:latin typeface="+mn-lt"/>
              </a:rPr>
              <a:t>p=1</a:t>
            </a:r>
            <a:endParaRPr lang="zh-CN" altLang="en-US" dirty="0">
              <a:latin typeface="+mn-lt"/>
            </a:endParaRPr>
          </a:p>
        </p:txBody>
      </p:sp>
      <p:sp>
        <p:nvSpPr>
          <p:cNvPr id="20" name="文本框 19"/>
          <p:cNvSpPr txBox="1"/>
          <p:nvPr/>
        </p:nvSpPr>
        <p:spPr>
          <a:xfrm>
            <a:off x="6497822" y="5032648"/>
            <a:ext cx="545342" cy="369332"/>
          </a:xfrm>
          <a:prstGeom prst="rect">
            <a:avLst/>
          </a:prstGeom>
          <a:noFill/>
        </p:spPr>
        <p:txBody>
          <a:bodyPr wrap="none" rtlCol="0">
            <a:spAutoFit/>
          </a:bodyPr>
          <a:lstStyle/>
          <a:p>
            <a:r>
              <a:rPr lang="en-US" altLang="zh-CN" dirty="0">
                <a:latin typeface="+mn-lt"/>
              </a:rPr>
              <a:t>p=2</a:t>
            </a:r>
            <a:endParaRPr lang="zh-CN" altLang="en-US" dirty="0">
              <a:latin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11</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524485" y="1066800"/>
            <a:ext cx="2093843" cy="497957"/>
          </a:xfrm>
          <a:prstGeom prst="rect">
            <a:avLst/>
          </a:prstGeom>
        </p:spPr>
        <p:txBody>
          <a:bodyPr wrap="none">
            <a:spAutoFit/>
          </a:bodyPr>
          <a:lstStyle/>
          <a:p>
            <a:pPr algn="ctr">
              <a:lnSpc>
                <a:spcPct val="120000"/>
              </a:lnSpc>
            </a:pPr>
            <a:r>
              <a:rPr lang="en-US" altLang="zh-CN" sz="2400" b="1" dirty="0">
                <a:latin typeface="Times New Roman" panose="02020603050405020304" charset="0"/>
                <a:ea typeface="+mj-ea"/>
                <a:cs typeface="Times New Roman" panose="02020603050405020304" charset="0"/>
                <a:sym typeface="Consolas" panose="020B0609020204030204" pitchFamily="49" charset="0"/>
              </a:rPr>
              <a:t>IDW</a:t>
            </a:r>
            <a:r>
              <a:rPr lang="zh-CN" altLang="en-US" sz="2400" b="1" dirty="0">
                <a:latin typeface="Times New Roman" panose="02020603050405020304" charset="0"/>
                <a:ea typeface="+mj-ea"/>
                <a:cs typeface="Times New Roman" panose="02020603050405020304" charset="0"/>
                <a:sym typeface="Consolas" panose="020B0609020204030204" pitchFamily="49" charset="0"/>
              </a:rPr>
              <a:t>计算步骤</a:t>
            </a:r>
          </a:p>
        </p:txBody>
      </p:sp>
      <p:sp>
        <p:nvSpPr>
          <p:cNvPr id="5" name="矩形 4"/>
          <p:cNvSpPr/>
          <p:nvPr/>
        </p:nvSpPr>
        <p:spPr>
          <a:xfrm>
            <a:off x="616148" y="1984877"/>
            <a:ext cx="8137127" cy="258445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计算未知点到所有已知点的距离</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285750">
              <a:lnSpc>
                <a:spcPct val="15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计算每个点的权重，权重值大小为距离的倒数</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nSpc>
                <a:spcPct val="15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nSpc>
                <a:spcPct val="15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a:lnSpc>
                <a:spcPct val="15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a:p>
            <a:pPr marL="285750" indent="-285750">
              <a:lnSpc>
                <a:spcPct val="15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根据权重加权计算得到未知点的值</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
        <p:nvSpPr>
          <p:cNvPr id="12" name="标题 9"/>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8.2.2 </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IDW</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插值</a:t>
            </a:r>
            <a:endParaRPr lang="zh-CN" altLang="en-US"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 name="文本框 1"/>
              <p:cNvSpPr txBox="1"/>
              <p:nvPr/>
            </p:nvSpPr>
            <p:spPr>
              <a:xfrm>
                <a:off x="2133536" y="2933954"/>
                <a:ext cx="1642745" cy="118300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𝑑</m:t>
                                  </m:r>
                                </m:e>
                                <m:sub>
                                  <m:r>
                                    <a:rPr lang="en-US" altLang="zh-CN" i="1">
                                      <a:latin typeface="Cambria Math" panose="02040503050406030204" pitchFamily="18" charset="0"/>
                                      <a:cs typeface="Cambria Math" panose="02040503050406030204" pitchFamily="18" charset="0"/>
                                    </a:rPr>
                                    <m:t>𝑖</m:t>
                                  </m:r>
                                </m:sub>
                              </m:sSub>
                            </m:den>
                          </m:f>
                        </m:num>
                        <m:den>
                          <m:r>
                            <a:rPr lang="en-US" altLang="zh-CN" i="1">
                              <a:latin typeface="Cambria Math" panose="02040503050406030204" pitchFamily="18" charset="0"/>
                              <a:cs typeface="Cambria Math" panose="02040503050406030204" pitchFamily="18" charset="0"/>
                            </a:rPr>
                            <m:t>(</m:t>
                          </m:r>
                          <m:nary>
                            <m:naryPr>
                              <m:chr m:val="∑"/>
                              <m:limLoc m:val="subSup"/>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𝑛</m:t>
                              </m:r>
                            </m:sup>
                            <m:e>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𝑑</m:t>
                                      </m:r>
                                    </m:e>
                                    <m:sub>
                                      <m:r>
                                        <a:rPr lang="en-US" altLang="zh-CN" i="1">
                                          <a:latin typeface="Cambria Math" panose="02040503050406030204" pitchFamily="18" charset="0"/>
                                          <a:cs typeface="Cambria Math" panose="02040503050406030204" pitchFamily="18" charset="0"/>
                                        </a:rPr>
                                        <m:t>𝑖</m:t>
                                      </m:r>
                                    </m:sub>
                                  </m:sSub>
                                </m:den>
                              </m:f>
                            </m:e>
                          </m:nary>
                          <m:r>
                            <a:rPr lang="en-US" altLang="zh-CN" i="1">
                              <a:latin typeface="Cambria Math" panose="02040503050406030204" pitchFamily="18" charset="0"/>
                              <a:cs typeface="Cambria Math" panose="02040503050406030204" pitchFamily="18" charset="0"/>
                            </a:rPr>
                            <m:t>)</m:t>
                          </m:r>
                        </m:den>
                      </m:f>
                    </m:oMath>
                  </m:oMathPara>
                </a14:m>
                <a:endParaRPr lang="zh-CN" altLang="en-US"/>
              </a:p>
            </p:txBody>
          </p:sp>
        </mc:Choice>
        <mc:Fallback xmlns="">
          <p:sp>
            <p:nvSpPr>
              <p:cNvPr id="2" name="文本框 1"/>
              <p:cNvSpPr txBox="1">
                <a:spLocks noRot="1" noChangeAspect="1" noMove="1" noResize="1" noEditPoints="1" noAdjustHandles="1" noChangeArrowheads="1" noChangeShapeType="1" noTextEdit="1"/>
              </p:cNvSpPr>
              <p:nvPr/>
            </p:nvSpPr>
            <p:spPr>
              <a:xfrm>
                <a:off x="2133536" y="2933954"/>
                <a:ext cx="1642745" cy="1183005"/>
              </a:xfrm>
              <a:prstGeom prst="rect">
                <a:avLst/>
              </a:prstGeom>
              <a:blipFill rotWithShape="1">
                <a:blip r:embed="rId2"/>
                <a:stretch>
                  <a:fillRect l="-35" t="-21" r="35" b="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1790636" y="4724654"/>
                <a:ext cx="2738755" cy="8445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acc>
                        <m:accPr>
                          <m:chr m:val="̂"/>
                          <m:ctrlPr>
                            <a:rPr lang="en-US" altLang="zh-CN" i="1">
                              <a:latin typeface="Cambria Math" panose="02040503050406030204" pitchFamily="18" charset="0"/>
                              <a:cs typeface="Cambria Math" panose="02040503050406030204" pitchFamily="18" charset="0"/>
                            </a:rPr>
                          </m:ctrlPr>
                        </m:accPr>
                        <m:e>
                          <m:r>
                            <a:rPr lang="en-US" altLang="zh-CN" i="1">
                              <a:latin typeface="Cambria Math" panose="02040503050406030204" pitchFamily="18" charset="0"/>
                              <a:cs typeface="Cambria Math" panose="02040503050406030204" pitchFamily="18" charset="0"/>
                            </a:rPr>
                            <m:t>𝑍</m:t>
                          </m:r>
                        </m:e>
                      </m:acc>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𝑋</m:t>
                          </m:r>
                        </m:e>
                        <m:sub>
                          <m:r>
                            <a:rPr lang="en-US" altLang="zh-CN" i="1">
                              <a:latin typeface="Cambria Math" panose="02040503050406030204" pitchFamily="18" charset="0"/>
                              <a:cs typeface="Cambria Math" panose="02040503050406030204" pitchFamily="18" charset="0"/>
                            </a:rPr>
                            <m:t>0</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𝑌</m:t>
                          </m:r>
                        </m:e>
                        <m:sub>
                          <m:r>
                            <a:rPr lang="en-US" altLang="zh-CN" i="1">
                              <a:latin typeface="Cambria Math" panose="02040503050406030204" pitchFamily="18" charset="0"/>
                              <a:cs typeface="Cambria Math" panose="02040503050406030204" pitchFamily="18" charset="0"/>
                            </a:rPr>
                            <m:t>0</m:t>
                          </m:r>
                        </m:sub>
                      </m:sSub>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𝑛</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𝑍</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𝑋</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𝑌</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e>
                      </m:nary>
                    </m:oMath>
                  </m:oMathPara>
                </a14:m>
                <a:endParaRPr lang="zh-CN" altLang="en-US"/>
              </a:p>
            </p:txBody>
          </p:sp>
        </mc:Choice>
        <mc:Fallback xmlns="">
          <p:sp>
            <p:nvSpPr>
              <p:cNvPr id="3" name="文本框 2"/>
              <p:cNvSpPr txBox="1">
                <a:spLocks noRot="1" noChangeAspect="1" noMove="1" noResize="1" noEditPoints="1" noAdjustHandles="1" noChangeArrowheads="1" noChangeShapeType="1" noTextEdit="1"/>
              </p:cNvSpPr>
              <p:nvPr/>
            </p:nvSpPr>
            <p:spPr>
              <a:xfrm>
                <a:off x="1790636" y="4724654"/>
                <a:ext cx="2738755" cy="844550"/>
              </a:xfrm>
              <a:prstGeom prst="rect">
                <a:avLst/>
              </a:prstGeom>
              <a:blipFill rotWithShape="1">
                <a:blip r:embed="rId3"/>
                <a:stretch>
                  <a:fillRect l="-21" t="-30" r="21" b="30"/>
                </a:stretch>
              </a:blipFill>
            </p:spPr>
            <p:txBody>
              <a:bodyPr/>
              <a:lstStyle/>
              <a:p>
                <a:r>
                  <a:rPr lang="zh-CN" altLang="en-US">
                    <a:noFill/>
                  </a:rPr>
                  <a:t> </a:t>
                </a:r>
              </a:p>
            </p:txBody>
          </p:sp>
        </mc:Fallback>
      </mc:AlternateContent>
      <p:grpSp>
        <p:nvGrpSpPr>
          <p:cNvPr id="10" name="组合 9"/>
          <p:cNvGrpSpPr/>
          <p:nvPr/>
        </p:nvGrpSpPr>
        <p:grpSpPr>
          <a:xfrm>
            <a:off x="4318000" y="2752725"/>
            <a:ext cx="4354171" cy="2927745"/>
            <a:chOff x="2760" y="3420"/>
            <a:chExt cx="7584" cy="5125"/>
          </a:xfrm>
        </p:grpSpPr>
        <p:cxnSp>
          <p:nvCxnSpPr>
            <p:cNvPr id="11" name="直接连接符 10"/>
            <p:cNvCxnSpPr/>
            <p:nvPr/>
          </p:nvCxnSpPr>
          <p:spPr>
            <a:xfrm flipH="1">
              <a:off x="2760" y="3420"/>
              <a:ext cx="3060" cy="204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flipH="1">
              <a:off x="6324" y="5725"/>
              <a:ext cx="4020" cy="282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flipH="1" flipV="1">
              <a:off x="2760" y="5460"/>
              <a:ext cx="3561" cy="3079"/>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直接箭头连接符 14"/>
            <p:cNvCxnSpPr/>
            <p:nvPr/>
          </p:nvCxnSpPr>
          <p:spPr>
            <a:xfrm flipH="1">
              <a:off x="6540" y="4046"/>
              <a:ext cx="0" cy="1762"/>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6" name="椭圆 15"/>
            <p:cNvSpPr/>
            <p:nvPr/>
          </p:nvSpPr>
          <p:spPr>
            <a:xfrm>
              <a:off x="7560" y="4440"/>
              <a:ext cx="360" cy="240"/>
            </a:xfrm>
            <a:prstGeom prst="ellipse">
              <a:avLst/>
            </a:prstGeom>
            <a:solidFill>
              <a:srgbClr val="F50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5502" y="4913"/>
              <a:ext cx="360" cy="187"/>
            </a:xfrm>
            <a:prstGeom prst="ellipse">
              <a:avLst/>
            </a:prstGeom>
            <a:solidFill>
              <a:srgbClr val="F50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8280" y="6420"/>
              <a:ext cx="360" cy="187"/>
            </a:xfrm>
            <a:prstGeom prst="ellipse">
              <a:avLst/>
            </a:prstGeom>
            <a:solidFill>
              <a:srgbClr val="F50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760" y="7320"/>
              <a:ext cx="420" cy="180"/>
            </a:xfrm>
            <a:prstGeom prst="ellipse">
              <a:avLst/>
            </a:prstGeom>
            <a:solidFill>
              <a:srgbClr val="F50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3780" y="5736"/>
              <a:ext cx="360" cy="187"/>
            </a:xfrm>
            <a:prstGeom prst="ellipse">
              <a:avLst/>
            </a:prstGeom>
            <a:solidFill>
              <a:srgbClr val="F50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flipH="1">
              <a:off x="5502" y="5808"/>
              <a:ext cx="1038" cy="12"/>
            </a:xfrm>
            <a:prstGeom prst="line">
              <a:avLst/>
            </a:prstGeom>
            <a:ln w="9525"/>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flipH="1">
              <a:off x="3960" y="5836"/>
              <a:ext cx="960" cy="0"/>
            </a:xfrm>
            <a:prstGeom prst="line">
              <a:avLst/>
            </a:prstGeom>
            <a:ln w="9525"/>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flipH="1">
              <a:off x="6346" y="5808"/>
              <a:ext cx="194" cy="512"/>
            </a:xfrm>
            <a:prstGeom prst="line">
              <a:avLst/>
            </a:prstGeom>
            <a:ln w="9525"/>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flipH="1">
              <a:off x="5940" y="6885"/>
              <a:ext cx="176" cy="525"/>
            </a:xfrm>
            <a:prstGeom prst="line">
              <a:avLst/>
            </a:prstGeom>
            <a:ln w="9525"/>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a:off x="6540" y="5811"/>
              <a:ext cx="660" cy="279"/>
            </a:xfrm>
            <a:prstGeom prst="line">
              <a:avLst/>
            </a:prstGeom>
            <a:ln w="9525"/>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7740" y="6240"/>
              <a:ext cx="702" cy="252"/>
            </a:xfrm>
            <a:prstGeom prst="line">
              <a:avLst/>
            </a:prstGeom>
            <a:ln w="9525"/>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flipV="1">
              <a:off x="6540" y="5400"/>
              <a:ext cx="390" cy="408"/>
            </a:xfrm>
            <a:prstGeom prst="line">
              <a:avLst/>
            </a:prstGeom>
            <a:ln w="9525"/>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flipV="1">
              <a:off x="7313" y="4559"/>
              <a:ext cx="427" cy="448"/>
            </a:xfrm>
            <a:prstGeom prst="line">
              <a:avLst/>
            </a:prstGeom>
            <a:ln w="9525"/>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6324" y="5610"/>
              <a:ext cx="216" cy="198"/>
            </a:xfrm>
            <a:prstGeom prst="line">
              <a:avLst/>
            </a:prstGeom>
            <a:ln w="9525"/>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5633" y="5031"/>
              <a:ext cx="301" cy="249"/>
            </a:xfrm>
            <a:prstGeom prst="line">
              <a:avLst/>
            </a:prstGeom>
            <a:ln w="952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文本框 41"/>
                <p:cNvSpPr txBox="1"/>
                <p:nvPr/>
              </p:nvSpPr>
              <p:spPr>
                <a:xfrm>
                  <a:off x="5502" y="3505"/>
                  <a:ext cx="2306" cy="5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𝑷</m:t>
                            </m:r>
                          </m:e>
                          <m:sub>
                            <m:r>
                              <a:rPr lang="en-US" altLang="zh-CN" sz="1600" b="1" i="1" smtClean="0">
                                <a:latin typeface="Cambria Math" panose="02040503050406030204" pitchFamily="18" charset="0"/>
                              </a:rPr>
                              <m:t>𝟎</m:t>
                            </m:r>
                          </m:sub>
                        </m:sSub>
                        <m:r>
                          <a:rPr lang="en-US" altLang="zh-CN" sz="1600" b="1" i="1" smtClean="0">
                            <a:latin typeface="Cambria Math" panose="02040503050406030204" pitchFamily="18" charset="0"/>
                          </a:rPr>
                          <m:t> </m:t>
                        </m:r>
                        <m:r>
                          <a:rPr lang="en-US" altLang="zh-CN" sz="1600" b="1" i="0" smtClean="0">
                            <a:latin typeface="Cambria Math" panose="02040503050406030204" pitchFamily="18" charset="0"/>
                          </a:rPr>
                          <m:t>𝐔</m:t>
                        </m:r>
                        <m:r>
                          <a:rPr lang="en-US" altLang="zh-CN" sz="1600" b="1" i="1">
                            <a:latin typeface="Cambria Math" panose="02040503050406030204" pitchFamily="18" charset="0"/>
                          </a:rPr>
                          <m:t>𝒏</m:t>
                        </m:r>
                        <m:r>
                          <a:rPr lang="en-US" altLang="zh-CN" sz="1600" b="1" i="0" smtClean="0">
                            <a:latin typeface="Cambria Math" panose="02040503050406030204" pitchFamily="18" charset="0"/>
                          </a:rPr>
                          <m:t>𝐤𝐧𝐨𝐰𝐧</m:t>
                        </m:r>
                      </m:oMath>
                    </m:oMathPara>
                  </a14:m>
                  <a:endParaRPr lang="zh-CN" altLang="en-US" sz="1600" b="1" dirty="0"/>
                </a:p>
              </p:txBody>
            </p:sp>
          </mc:Choice>
          <mc:Fallback xmlns="">
            <p:sp>
              <p:nvSpPr>
                <p:cNvPr id="42" name="文本框 41"/>
                <p:cNvSpPr txBox="1">
                  <a:spLocks noRot="1" noChangeAspect="1" noMove="1" noResize="1" noEditPoints="1" noAdjustHandles="1" noChangeArrowheads="1" noChangeShapeType="1" noTextEdit="1"/>
                </p:cNvSpPr>
                <p:nvPr/>
              </p:nvSpPr>
              <p:spPr>
                <a:xfrm>
                  <a:off x="5502" y="3505"/>
                  <a:ext cx="2306" cy="590"/>
                </a:xfrm>
                <a:prstGeom prst="rect">
                  <a:avLst/>
                </a:prstGeom>
                <a:blipFill rotWithShape="1">
                  <a:blip r:embed="rId4"/>
                </a:blipFill>
              </p:spPr>
              <p:txBody>
                <a:bodyPr/>
                <a:lstStyle/>
                <a:p>
                  <a:r>
                    <a:rPr lang="zh-CN" altLang="en-US">
                      <a:noFill/>
                    </a:rPr>
                    <a:t> </a:t>
                  </a:r>
                </a:p>
              </p:txBody>
            </p:sp>
          </mc:Fallback>
        </mc:AlternateContent>
        <p:sp>
          <p:nvSpPr>
            <p:cNvPr id="43" name="文本框 42"/>
            <p:cNvSpPr txBox="1"/>
            <p:nvPr/>
          </p:nvSpPr>
          <p:spPr>
            <a:xfrm>
              <a:off x="5008" y="4416"/>
              <a:ext cx="776" cy="482"/>
            </a:xfrm>
            <a:prstGeom prst="rect">
              <a:avLst/>
            </a:prstGeom>
            <a:noFill/>
          </p:spPr>
          <p:txBody>
            <a:bodyPr wrap="square" rtlCol="0">
              <a:spAutoFit/>
            </a:bodyPr>
            <a:lstStyle/>
            <a:p>
              <a:r>
                <a:rPr lang="en-US" altLang="zh-CN" sz="1200" dirty="0">
                  <a:solidFill>
                    <a:srgbClr val="F503F3"/>
                  </a:solidFill>
                  <a:latin typeface="+mn-lt"/>
                </a:rPr>
                <a:t>420</a:t>
              </a:r>
            </a:p>
          </p:txBody>
        </p:sp>
        <p:sp>
          <p:nvSpPr>
            <p:cNvPr id="44" name="文本框 43"/>
            <p:cNvSpPr txBox="1"/>
            <p:nvPr/>
          </p:nvSpPr>
          <p:spPr>
            <a:xfrm>
              <a:off x="3311" y="5261"/>
              <a:ext cx="776" cy="482"/>
            </a:xfrm>
            <a:prstGeom prst="rect">
              <a:avLst/>
            </a:prstGeom>
            <a:noFill/>
          </p:spPr>
          <p:txBody>
            <a:bodyPr wrap="square" rtlCol="0">
              <a:spAutoFit/>
            </a:bodyPr>
            <a:lstStyle/>
            <a:p>
              <a:r>
                <a:rPr lang="en-US" altLang="zh-CN" sz="1200" dirty="0">
                  <a:solidFill>
                    <a:srgbClr val="F503F3"/>
                  </a:solidFill>
                  <a:latin typeface="+mn-lt"/>
                </a:rPr>
                <a:t>200</a:t>
              </a:r>
            </a:p>
          </p:txBody>
        </p:sp>
        <p:sp>
          <p:nvSpPr>
            <p:cNvPr id="46" name="文本框 45"/>
            <p:cNvSpPr txBox="1"/>
            <p:nvPr/>
          </p:nvSpPr>
          <p:spPr>
            <a:xfrm>
              <a:off x="7599" y="4021"/>
              <a:ext cx="776" cy="482"/>
            </a:xfrm>
            <a:prstGeom prst="rect">
              <a:avLst/>
            </a:prstGeom>
            <a:noFill/>
          </p:spPr>
          <p:txBody>
            <a:bodyPr wrap="square" rtlCol="0">
              <a:spAutoFit/>
            </a:bodyPr>
            <a:lstStyle/>
            <a:p>
              <a:r>
                <a:rPr lang="en-US" altLang="zh-CN" sz="1200" dirty="0">
                  <a:solidFill>
                    <a:srgbClr val="F503F3"/>
                  </a:solidFill>
                  <a:latin typeface="+mn-lt"/>
                </a:rPr>
                <a:t>480</a:t>
              </a:r>
            </a:p>
          </p:txBody>
        </p:sp>
        <p:sp>
          <p:nvSpPr>
            <p:cNvPr id="47" name="文本框 46"/>
            <p:cNvSpPr txBox="1"/>
            <p:nvPr/>
          </p:nvSpPr>
          <p:spPr>
            <a:xfrm>
              <a:off x="6021" y="7410"/>
              <a:ext cx="776" cy="482"/>
            </a:xfrm>
            <a:prstGeom prst="rect">
              <a:avLst/>
            </a:prstGeom>
            <a:noFill/>
          </p:spPr>
          <p:txBody>
            <a:bodyPr wrap="square" rtlCol="0">
              <a:spAutoFit/>
            </a:bodyPr>
            <a:lstStyle/>
            <a:p>
              <a:r>
                <a:rPr lang="en-US" altLang="zh-CN" sz="1200" dirty="0">
                  <a:solidFill>
                    <a:srgbClr val="F503F3"/>
                  </a:solidFill>
                  <a:latin typeface="+mn-lt"/>
                </a:rPr>
                <a:t>170</a:t>
              </a:r>
            </a:p>
          </p:txBody>
        </p:sp>
        <p:sp>
          <p:nvSpPr>
            <p:cNvPr id="48" name="文本框 92"/>
            <p:cNvSpPr txBox="1"/>
            <p:nvPr/>
          </p:nvSpPr>
          <p:spPr>
            <a:xfrm>
              <a:off x="8523" y="5996"/>
              <a:ext cx="776" cy="48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solidFill>
                    <a:srgbClr val="F503F3"/>
                  </a:solidFill>
                  <a:latin typeface="+mn-lt"/>
                </a:rPr>
                <a:t>240</a:t>
              </a:r>
            </a:p>
          </p:txBody>
        </p:sp>
        <p:sp>
          <p:nvSpPr>
            <p:cNvPr id="49" name="文本框 92"/>
            <p:cNvSpPr txBox="1"/>
            <p:nvPr/>
          </p:nvSpPr>
          <p:spPr>
            <a:xfrm>
              <a:off x="4800" y="5597"/>
              <a:ext cx="856" cy="48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latin typeface="+mn-lt"/>
                </a:rPr>
                <a:t>22.3</a:t>
              </a:r>
            </a:p>
          </p:txBody>
        </p:sp>
        <p:sp>
          <p:nvSpPr>
            <p:cNvPr id="50" name="文本框 92"/>
            <p:cNvSpPr txBox="1"/>
            <p:nvPr/>
          </p:nvSpPr>
          <p:spPr>
            <a:xfrm rot="17494179">
              <a:off x="5702" y="6238"/>
              <a:ext cx="1156" cy="480"/>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latin typeface="+mn-lt"/>
                </a:rPr>
                <a:t>18.3</a:t>
              </a:r>
            </a:p>
          </p:txBody>
        </p:sp>
        <p:sp>
          <p:nvSpPr>
            <p:cNvPr id="51" name="文本框 92"/>
            <p:cNvSpPr txBox="1"/>
            <p:nvPr/>
          </p:nvSpPr>
          <p:spPr>
            <a:xfrm rot="1127857">
              <a:off x="7061" y="5884"/>
              <a:ext cx="848" cy="48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latin typeface="+mn-lt"/>
                </a:rPr>
                <a:t>21.1</a:t>
              </a:r>
            </a:p>
          </p:txBody>
        </p:sp>
        <p:sp>
          <p:nvSpPr>
            <p:cNvPr id="53" name="文本框 92"/>
            <p:cNvSpPr txBox="1"/>
            <p:nvPr/>
          </p:nvSpPr>
          <p:spPr>
            <a:xfrm rot="18580482">
              <a:off x="6713" y="4973"/>
              <a:ext cx="856" cy="480"/>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latin typeface="+mn-lt"/>
                </a:rPr>
                <a:t>17.4</a:t>
              </a:r>
            </a:p>
          </p:txBody>
        </p:sp>
        <p:sp>
          <p:nvSpPr>
            <p:cNvPr id="54" name="文本框 92"/>
            <p:cNvSpPr txBox="1"/>
            <p:nvPr/>
          </p:nvSpPr>
          <p:spPr>
            <a:xfrm rot="2700000">
              <a:off x="5696" y="5135"/>
              <a:ext cx="848" cy="480"/>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200" dirty="0">
                  <a:latin typeface="+mn-lt"/>
                </a:rPr>
                <a:t>14.8</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12</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033965" y="1066800"/>
            <a:ext cx="3074881" cy="497765"/>
          </a:xfrm>
          <a:prstGeom prst="rect">
            <a:avLst/>
          </a:prstGeom>
        </p:spPr>
        <p:txBody>
          <a:bodyPr wrap="none">
            <a:spAutoFit/>
          </a:bodyPr>
          <a:lstStyle/>
          <a:p>
            <a:pPr algn="ctr">
              <a:lnSpc>
                <a:spcPct val="120000"/>
              </a:lnSpc>
            </a:pPr>
            <a:r>
              <a:rPr lang="en-US" altLang="zh-CN" sz="2400" b="1" dirty="0" err="1">
                <a:latin typeface="Times New Roman" panose="02020603050405020304" charset="0"/>
                <a:ea typeface="+mj-ea"/>
                <a:cs typeface="Times New Roman" panose="02020603050405020304" charset="0"/>
              </a:rPr>
              <a:t>gstat</a:t>
            </a:r>
            <a:r>
              <a:rPr lang="zh-CN" altLang="zh-CN" sz="2400" b="1" dirty="0">
                <a:latin typeface="Times New Roman" panose="02020603050405020304" charset="0"/>
                <a:ea typeface="+mj-ea"/>
                <a:cs typeface="Times New Roman" panose="02020603050405020304" charset="0"/>
              </a:rPr>
              <a:t>函数包</a:t>
            </a:r>
            <a:r>
              <a:rPr lang="zh-CN" altLang="en-US" sz="2400" b="1" dirty="0">
                <a:latin typeface="Times New Roman" panose="02020603050405020304" charset="0"/>
                <a:ea typeface="+mj-ea"/>
                <a:cs typeface="Times New Roman" panose="02020603050405020304" charset="0"/>
                <a:sym typeface="Consolas" panose="020B0609020204030204" pitchFamily="49" charset="0"/>
              </a:rPr>
              <a:t>示例代码</a:t>
            </a:r>
          </a:p>
        </p:txBody>
      </p:sp>
      <p:sp>
        <p:nvSpPr>
          <p:cNvPr id="9" name="矩形 8"/>
          <p:cNvSpPr/>
          <p:nvPr/>
        </p:nvSpPr>
        <p:spPr>
          <a:xfrm>
            <a:off x="601666" y="1611868"/>
            <a:ext cx="2057400" cy="369332"/>
          </a:xfrm>
          <a:prstGeom prst="rect">
            <a:avLst/>
          </a:prstGeom>
        </p:spPr>
        <p:txBody>
          <a:bodyPr wrap="square">
            <a:spAutoFit/>
          </a:bodyPr>
          <a:lstStyle/>
          <a:p>
            <a:pPr marL="285750" indent="-285750">
              <a:buFont typeface="Wingdings" panose="05000000000000000000" pitchFamily="2" charset="2"/>
              <a:buChar char="ü"/>
            </a:pPr>
            <a:r>
              <a:rPr lang="zh-CN" altLang="zh-CN" kern="0" dirty="0">
                <a:latin typeface="+mj-ea"/>
                <a:ea typeface="+mj-ea"/>
                <a:cs typeface="Times New Roman" panose="02020603050405020304" charset="0"/>
              </a:rPr>
              <a:t>创建</a:t>
            </a:r>
            <a:r>
              <a:rPr lang="en-US" altLang="zh-CN" kern="0" dirty="0" err="1">
                <a:latin typeface="+mj-ea"/>
                <a:ea typeface="+mj-ea"/>
                <a:cs typeface="Times New Roman" panose="02020603050405020304" charset="0"/>
              </a:rPr>
              <a:t>gstat</a:t>
            </a:r>
            <a:r>
              <a:rPr lang="zh-CN" altLang="zh-CN" kern="0" dirty="0">
                <a:latin typeface="+mj-ea"/>
                <a:ea typeface="+mj-ea"/>
                <a:cs typeface="Times New Roman" panose="02020603050405020304" charset="0"/>
              </a:rPr>
              <a:t>对象</a:t>
            </a:r>
            <a:endParaRPr lang="zh-CN" altLang="en-US" kern="0" dirty="0">
              <a:latin typeface="+mj-ea"/>
              <a:ea typeface="+mj-ea"/>
              <a:cs typeface="Times New Roman" panose="02020603050405020304" charset="0"/>
            </a:endParaRPr>
          </a:p>
        </p:txBody>
      </p:sp>
      <p:sp>
        <p:nvSpPr>
          <p:cNvPr id="10" name="矩形 9"/>
          <p:cNvSpPr/>
          <p:nvPr/>
        </p:nvSpPr>
        <p:spPr>
          <a:xfrm>
            <a:off x="611191" y="3250168"/>
            <a:ext cx="5229317" cy="369332"/>
          </a:xfrm>
          <a:prstGeom prst="rect">
            <a:avLst/>
          </a:prstGeom>
        </p:spPr>
        <p:txBody>
          <a:bodyPr wrap="none">
            <a:spAutoFit/>
          </a:bodyPr>
          <a:lstStyle/>
          <a:p>
            <a:pPr marL="285750" indent="-285750">
              <a:buFont typeface="Wingdings" panose="05000000000000000000" pitchFamily="2" charset="2"/>
              <a:buChar char="ü"/>
            </a:pPr>
            <a:r>
              <a:rPr lang="zh-CN" altLang="zh-CN" kern="0" dirty="0">
                <a:latin typeface="+mj-ea"/>
                <a:ea typeface="+mj-ea"/>
                <a:cs typeface="Times New Roman" panose="02020603050405020304" charset="0"/>
              </a:rPr>
              <a:t>利用</a:t>
            </a:r>
            <a:r>
              <a:rPr lang="en-US" altLang="zh-CN" kern="0" dirty="0" err="1">
                <a:latin typeface="+mj-ea"/>
                <a:ea typeface="+mj-ea"/>
              </a:rPr>
              <a:t>gstat</a:t>
            </a:r>
            <a:r>
              <a:rPr lang="zh-CN" altLang="zh-CN" kern="0" dirty="0">
                <a:latin typeface="+mj-ea"/>
                <a:ea typeface="+mj-ea"/>
                <a:cs typeface="Times New Roman" panose="02020603050405020304" charset="0"/>
              </a:rPr>
              <a:t>函数包中的</a:t>
            </a:r>
            <a:r>
              <a:rPr lang="en-US" altLang="zh-CN" b="1" i="1" kern="0" dirty="0">
                <a:latin typeface="+mj-ea"/>
                <a:ea typeface="+mj-ea"/>
              </a:rPr>
              <a:t>predict()</a:t>
            </a:r>
            <a:r>
              <a:rPr lang="zh-CN" altLang="zh-CN" b="1" kern="0" dirty="0">
                <a:latin typeface="+mj-ea"/>
                <a:ea typeface="+mj-ea"/>
                <a:cs typeface="Times New Roman" panose="02020603050405020304" charset="0"/>
              </a:rPr>
              <a:t>函数</a:t>
            </a:r>
            <a:r>
              <a:rPr lang="zh-CN" altLang="en-US" kern="0" dirty="0">
                <a:latin typeface="+mj-ea"/>
                <a:ea typeface="+mj-ea"/>
                <a:cs typeface="Times New Roman" panose="02020603050405020304" charset="0"/>
              </a:rPr>
              <a:t>进行预测：</a:t>
            </a:r>
            <a:endParaRPr lang="zh-CN" altLang="en-US" dirty="0">
              <a:latin typeface="+mj-ea"/>
              <a:ea typeface="+mj-ea"/>
            </a:endParaRPr>
          </a:p>
        </p:txBody>
      </p:sp>
      <p:sp>
        <p:nvSpPr>
          <p:cNvPr id="12" name="矩形 11"/>
          <p:cNvSpPr/>
          <p:nvPr/>
        </p:nvSpPr>
        <p:spPr>
          <a:xfrm>
            <a:off x="611195" y="4800600"/>
            <a:ext cx="2319866" cy="369332"/>
          </a:xfrm>
          <a:prstGeom prst="rect">
            <a:avLst/>
          </a:prstGeom>
        </p:spPr>
        <p:txBody>
          <a:bodyPr wrap="none">
            <a:spAutoFit/>
          </a:bodyPr>
          <a:lstStyle/>
          <a:p>
            <a:pPr marL="285750" indent="-285750">
              <a:buFont typeface="Wingdings" panose="05000000000000000000" pitchFamily="2" charset="2"/>
              <a:buChar char="ü"/>
            </a:pPr>
            <a:r>
              <a:rPr lang="zh-CN" altLang="zh-CN" kern="0" dirty="0">
                <a:latin typeface="+mj-ea"/>
                <a:ea typeface="+mj-ea"/>
                <a:cs typeface="Times New Roman" panose="02020603050405020304" charset="0"/>
              </a:rPr>
              <a:t>插值结果可视化</a:t>
            </a:r>
            <a:r>
              <a:rPr lang="zh-CN" altLang="en-US" kern="0" dirty="0">
                <a:latin typeface="+mj-ea"/>
                <a:ea typeface="+mj-ea"/>
                <a:cs typeface="Times New Roman" panose="02020603050405020304" charset="0"/>
              </a:rPr>
              <a:t>：</a:t>
            </a:r>
            <a:endParaRPr lang="zh-CN" altLang="en-US" dirty="0">
              <a:latin typeface="+mj-ea"/>
              <a:ea typeface="+mj-ea"/>
            </a:endParaRPr>
          </a:p>
        </p:txBody>
      </p:sp>
      <p:sp>
        <p:nvSpPr>
          <p:cNvPr id="15" name="标题 9"/>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8.2.2 </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IDW</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插值</a:t>
            </a:r>
            <a:endParaRPr lang="zh-CN" altLang="en-US" dirty="0">
              <a:latin typeface="Times New Roman" panose="02020603050405020304" charset="0"/>
              <a:cs typeface="Times New Roman" panose="02020603050405020304" charset="0"/>
            </a:endParaRPr>
          </a:p>
        </p:txBody>
      </p:sp>
      <p:sp>
        <p:nvSpPr>
          <p:cNvPr id="2" name="文本框 1"/>
          <p:cNvSpPr txBox="1"/>
          <p:nvPr/>
        </p:nvSpPr>
        <p:spPr>
          <a:xfrm>
            <a:off x="533400" y="5181600"/>
            <a:ext cx="8069266" cy="116955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(z1_raster)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proj4string</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(z2_raster)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proj4string</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z1_raster &lt;- mask(z1_raster, 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z2_raster &lt;- mask(z2_raster, 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plot(z1_raster, main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"IDW Interpolation (beta = 0.3)"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plot(z2_raster, main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"IDW Interpolation (beta = 10)"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11" name="文本框 10"/>
          <p:cNvSpPr txBox="1"/>
          <p:nvPr/>
        </p:nvSpPr>
        <p:spPr>
          <a:xfrm>
            <a:off x="533400" y="3581400"/>
            <a:ext cx="8069266" cy="116955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z1 &lt;- predict(g1,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newdata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z2 &lt;- predict(g2,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newdata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z1</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var1.pred</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z1_raster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z2</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var1.pred</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z2_raster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endParaRPr lang="zh-CN" altLang="zh-CN" sz="1200" dirty="0">
              <a:latin typeface="Times New Roman" panose="02020603050405020304" charset="0"/>
              <a:ea typeface="宋体" panose="02010600030101010101" pitchFamily="2" charset="-122"/>
            </a:endParaRPr>
          </a:p>
        </p:txBody>
      </p:sp>
      <p:sp>
        <p:nvSpPr>
          <p:cNvPr id="13" name="文本框 12"/>
          <p:cNvSpPr txBox="1"/>
          <p:nvPr/>
        </p:nvSpPr>
        <p:spPr>
          <a:xfrm>
            <a:off x="533400" y="1999262"/>
            <a:ext cx="8694106" cy="116955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st_centroid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g1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gstat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(formula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locations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set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list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idp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8000"/>
                </a:solidFill>
                <a:latin typeface="Consolas" panose="020B0609020204030204" pitchFamily="49" charset="0"/>
                <a:ea typeface="宋体" panose="02010600030101010101" pitchFamily="2" charset="-122"/>
                <a:cs typeface="宋体" panose="02010600030101010101" pitchFamily="2" charset="-122"/>
              </a:rPr>
              <a:t>idp</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 0.3</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g2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gstat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(formula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locations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set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list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idp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8000"/>
                </a:solidFill>
                <a:latin typeface="Consolas" panose="020B0609020204030204" pitchFamily="49" charset="0"/>
                <a:ea typeface="宋体" panose="02010600030101010101" pitchFamily="2" charset="-122"/>
                <a:cs typeface="宋体" panose="02010600030101010101" pitchFamily="2" charset="-122"/>
              </a:rPr>
              <a:t>idp</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 10</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as.data.frame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xyFromCell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ncell(</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colnames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c(</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st_as_sf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coords = c(</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13</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780801"/>
            <a:ext cx="8137525" cy="400046"/>
          </a:xfrm>
          <a:prstGeom prst="rect">
            <a:avLst/>
          </a:prstGeom>
        </p:spPr>
        <p:txBody>
          <a:bodyPr wrap="square">
            <a:spAutoFit/>
          </a:bodyPr>
          <a:lstStyle/>
          <a:p>
            <a:pPr>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利用</a:t>
            </a:r>
            <a:r>
              <a:rPr lang="en-US" altLang="zh-CN" dirty="0">
                <a:latin typeface="Times New Roman" panose="02020603050405020304" charset="0"/>
                <a:ea typeface="+mj-ea"/>
                <a:cs typeface="Times New Roman" panose="02020603050405020304" charset="0"/>
                <a:sym typeface="Consolas" panose="020B0609020204030204" pitchFamily="49" charset="0"/>
              </a:rPr>
              <a:t>IDW</a:t>
            </a:r>
            <a:r>
              <a:rPr lang="zh-CN" altLang="en-US" dirty="0">
                <a:latin typeface="Times New Roman" panose="02020603050405020304" charset="0"/>
                <a:ea typeface="+mj-ea"/>
                <a:cs typeface="Times New Roman" panose="02020603050405020304" charset="0"/>
                <a:sym typeface="Consolas" panose="020B0609020204030204" pitchFamily="49" charset="0"/>
              </a:rPr>
              <a:t>插值方法对</a:t>
            </a:r>
            <a:r>
              <a:rPr lang="en-US" altLang="zh-CN" dirty="0">
                <a:latin typeface="Times New Roman" panose="02020603050405020304" charset="0"/>
                <a:ea typeface="+mj-ea"/>
                <a:cs typeface="Times New Roman" panose="02020603050405020304" charset="0"/>
                <a:sym typeface="Consolas" panose="020B0609020204030204" pitchFamily="49" charset="0"/>
              </a:rPr>
              <a:t>WHHP</a:t>
            </a:r>
            <a:r>
              <a:rPr lang="zh-CN" altLang="en-US" dirty="0">
                <a:latin typeface="Times New Roman" panose="02020603050405020304" charset="0"/>
                <a:ea typeface="+mj-ea"/>
                <a:cs typeface="Times New Roman" panose="02020603050405020304" charset="0"/>
                <a:sym typeface="Consolas" panose="020B0609020204030204" pitchFamily="49" charset="0"/>
              </a:rPr>
              <a:t>数据中的房屋价格（</a:t>
            </a:r>
            <a:r>
              <a:rPr lang="en-US" altLang="zh-CN" dirty="0" err="1">
                <a:latin typeface="Times New Roman" panose="02020603050405020304" charset="0"/>
                <a:ea typeface="+mj-ea"/>
                <a:cs typeface="Times New Roman" panose="02020603050405020304" charset="0"/>
                <a:sym typeface="Consolas" panose="020B0609020204030204" pitchFamily="49" charset="0"/>
              </a:rPr>
              <a:t>Avg_HP</a:t>
            </a:r>
            <a:r>
              <a:rPr lang="zh-CN" altLang="en-US" dirty="0">
                <a:latin typeface="Times New Roman" panose="02020603050405020304" charset="0"/>
                <a:ea typeface="+mj-ea"/>
                <a:cs typeface="Times New Roman" panose="02020603050405020304" charset="0"/>
                <a:sym typeface="Consolas" panose="020B0609020204030204" pitchFamily="49" charset="0"/>
              </a:rPr>
              <a:t>）进行插值的结果：</a:t>
            </a:r>
          </a:p>
        </p:txBody>
      </p:sp>
      <p:pic>
        <p:nvPicPr>
          <p:cNvPr id="9" name="图片 8"/>
          <p:cNvPicPr/>
          <p:nvPr/>
        </p:nvPicPr>
        <p:blipFill rotWithShape="1">
          <a:blip r:embed="rId2"/>
          <a:srcRect l="12641" r="10065"/>
          <a:stretch>
            <a:fillRect/>
          </a:stretch>
        </p:blipFill>
        <p:spPr bwMode="auto">
          <a:xfrm>
            <a:off x="47626" y="2420248"/>
            <a:ext cx="4562475" cy="3599552"/>
          </a:xfrm>
          <a:prstGeom prst="rect">
            <a:avLst/>
          </a:prstGeom>
          <a:ln>
            <a:noFill/>
          </a:ln>
        </p:spPr>
      </p:pic>
      <p:pic>
        <p:nvPicPr>
          <p:cNvPr id="13" name="图片 12"/>
          <p:cNvPicPr/>
          <p:nvPr/>
        </p:nvPicPr>
        <p:blipFill rotWithShape="1">
          <a:blip r:embed="rId3"/>
          <a:srcRect l="12461" r="11240"/>
          <a:stretch>
            <a:fillRect/>
          </a:stretch>
        </p:blipFill>
        <p:spPr bwMode="auto">
          <a:xfrm>
            <a:off x="4610100" y="2420248"/>
            <a:ext cx="4419600" cy="3599552"/>
          </a:xfrm>
          <a:prstGeom prst="rect">
            <a:avLst/>
          </a:prstGeom>
          <a:ln>
            <a:noFill/>
          </a:ln>
        </p:spPr>
      </p:pic>
      <p:sp>
        <p:nvSpPr>
          <p:cNvPr id="10" name="标题 9"/>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8.2.2 </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IDW</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插值</a:t>
            </a:r>
            <a:endParaRPr lang="zh-CN" altLang="en-US" dirty="0">
              <a:latin typeface="Times New Roman" panose="02020603050405020304" charset="0"/>
              <a:cs typeface="Times New Roman" panose="02020603050405020304" charset="0"/>
            </a:endParaRPr>
          </a:p>
        </p:txBody>
      </p:sp>
      <p:sp>
        <p:nvSpPr>
          <p:cNvPr id="2" name="矩形 1"/>
          <p:cNvSpPr/>
          <p:nvPr/>
        </p:nvSpPr>
        <p:spPr>
          <a:xfrm>
            <a:off x="3538109" y="1066800"/>
            <a:ext cx="2066592" cy="497765"/>
          </a:xfrm>
          <a:prstGeom prst="rect">
            <a:avLst/>
          </a:prstGeom>
        </p:spPr>
        <p:txBody>
          <a:bodyPr wrap="none">
            <a:spAutoFit/>
          </a:bodyPr>
          <a:lstStyle/>
          <a:p>
            <a:pPr algn="ctr">
              <a:lnSpc>
                <a:spcPct val="120000"/>
              </a:lnSpc>
            </a:pPr>
            <a:r>
              <a:rPr lang="en-US" altLang="zh-CN" sz="2400" b="1" dirty="0">
                <a:latin typeface="Times New Roman" panose="02020603050405020304" charset="0"/>
                <a:ea typeface="+mj-ea"/>
                <a:cs typeface="Times New Roman" panose="02020603050405020304" charset="0"/>
                <a:sym typeface="Consolas" panose="020B0609020204030204" pitchFamily="49" charset="0"/>
              </a:rPr>
              <a:t>IDW</a:t>
            </a:r>
            <a:r>
              <a:rPr lang="zh-CN" altLang="en-US" sz="2400" b="1" dirty="0">
                <a:latin typeface="Times New Roman" panose="02020603050405020304" charset="0"/>
                <a:ea typeface="+mj-ea"/>
                <a:cs typeface="Times New Roman" panose="02020603050405020304" charset="0"/>
                <a:sym typeface="Consolas" panose="020B0609020204030204" pitchFamily="49" charset="0"/>
              </a:rPr>
              <a:t>插值结果</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841959" y="2668009"/>
            <a:ext cx="4124825" cy="3504191"/>
          </a:xfrm>
          <a:prstGeom prst="rect">
            <a:avLst/>
          </a:prstGeom>
        </p:spPr>
      </p:pic>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14</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402430" y="1378104"/>
            <a:ext cx="8335966" cy="1289905"/>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克里金插值（</a:t>
            </a:r>
            <a:r>
              <a:rPr lang="en-US" altLang="zh-CN" dirty="0">
                <a:latin typeface="Times New Roman" panose="02020603050405020304" charset="0"/>
                <a:ea typeface="+mj-ea"/>
                <a:cs typeface="Times New Roman" panose="02020603050405020304" charset="0"/>
                <a:sym typeface="Consolas" panose="020B0609020204030204" pitchFamily="49" charset="0"/>
              </a:rPr>
              <a:t>Kriging</a:t>
            </a:r>
            <a:r>
              <a:rPr lang="zh-CN" altLang="en-US" dirty="0">
                <a:latin typeface="Times New Roman" panose="02020603050405020304" charset="0"/>
                <a:ea typeface="+mj-ea"/>
                <a:cs typeface="Times New Roman" panose="02020603050405020304" charset="0"/>
                <a:sym typeface="Consolas" panose="020B0609020204030204" pitchFamily="49" charset="0"/>
              </a:rPr>
              <a:t>）是地统计学（</a:t>
            </a:r>
            <a:r>
              <a:rPr lang="en-US" altLang="zh-CN" dirty="0" err="1">
                <a:latin typeface="Times New Roman" panose="02020603050405020304" charset="0"/>
                <a:ea typeface="+mj-ea"/>
                <a:cs typeface="Times New Roman" panose="02020603050405020304" charset="0"/>
                <a:sym typeface="Consolas" panose="020B0609020204030204" pitchFamily="49" charset="0"/>
              </a:rPr>
              <a:t>Geostatistics</a:t>
            </a:r>
            <a:r>
              <a:rPr lang="zh-CN" altLang="en-US" dirty="0">
                <a:latin typeface="Times New Roman" panose="02020603050405020304" charset="0"/>
                <a:ea typeface="+mj-ea"/>
                <a:cs typeface="Times New Roman" panose="02020603050405020304" charset="0"/>
                <a:sym typeface="Consolas" panose="020B0609020204030204" pitchFamily="49" charset="0"/>
              </a:rPr>
              <a:t>）中核心空间插值方法，一种空间局部光滑内插插值方法， 以变异函数理论和结构分析为基础，在指定区域内对区域变量进行无偏最优估计。</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sp>
        <p:nvSpPr>
          <p:cNvPr id="8" name="矩形 7"/>
          <p:cNvSpPr/>
          <p:nvPr/>
        </p:nvSpPr>
        <p:spPr>
          <a:xfrm>
            <a:off x="304800" y="3168804"/>
            <a:ext cx="5444494" cy="2478499"/>
          </a:xfrm>
          <a:prstGeom prst="rect">
            <a:avLst/>
          </a:prstGeom>
        </p:spPr>
        <p:txBody>
          <a:bodyPr wrap="square">
            <a:spAutoFit/>
          </a:bodyPr>
          <a:lstStyle/>
          <a:p>
            <a:pPr>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克里金插值技术时地统计学领域的核心方法，包括：</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marL="285750" indent="-285750">
              <a:lnSpc>
                <a:spcPct val="150000"/>
              </a:lnSpc>
              <a:buFont typeface="Arial" panose="020B0604020202020204" pitchFamily="34" charset="0"/>
              <a:buChar char="•"/>
            </a:pPr>
            <a:r>
              <a:rPr lang="zh-CN" altLang="en-US" dirty="0">
                <a:latin typeface="Times New Roman" panose="02020603050405020304" charset="0"/>
                <a:ea typeface="+mj-ea"/>
                <a:cs typeface="Times New Roman" panose="02020603050405020304" charset="0"/>
                <a:sym typeface="Consolas" panose="020B0609020204030204" pitchFamily="49" charset="0"/>
              </a:rPr>
              <a:t>简单克里金方法（</a:t>
            </a:r>
            <a:r>
              <a:rPr lang="en-US" altLang="zh-CN" dirty="0">
                <a:latin typeface="Times New Roman" panose="02020603050405020304" charset="0"/>
                <a:ea typeface="+mj-ea"/>
                <a:cs typeface="Times New Roman" panose="02020603050405020304" charset="0"/>
                <a:sym typeface="Consolas" panose="020B0609020204030204" pitchFamily="49" charset="0"/>
              </a:rPr>
              <a:t>Simple Kriging</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SK</a:t>
            </a:r>
            <a:r>
              <a:rPr lang="zh-CN" altLang="en-US" dirty="0">
                <a:latin typeface="Times New Roman" panose="02020603050405020304" charset="0"/>
                <a:ea typeface="+mj-ea"/>
                <a:cs typeface="Times New Roman" panose="02020603050405020304" charset="0"/>
                <a:sym typeface="Consolas" panose="020B0609020204030204" pitchFamily="49" charset="0"/>
              </a:rPr>
              <a:t>）</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marL="285750" indent="-285750">
              <a:lnSpc>
                <a:spcPct val="150000"/>
              </a:lnSpc>
              <a:buFont typeface="Arial" panose="020B0604020202020204" pitchFamily="34" charset="0"/>
              <a:buChar char="•"/>
            </a:pPr>
            <a:r>
              <a:rPr lang="zh-CN" altLang="en-US" dirty="0">
                <a:solidFill>
                  <a:srgbClr val="FF0000"/>
                </a:solidFill>
                <a:latin typeface="Times New Roman" panose="02020603050405020304" charset="0"/>
                <a:ea typeface="+mj-ea"/>
                <a:cs typeface="Times New Roman" panose="02020603050405020304" charset="0"/>
                <a:sym typeface="Consolas" panose="020B0609020204030204" pitchFamily="49" charset="0"/>
              </a:rPr>
              <a:t>普通克里金方法（</a:t>
            </a:r>
            <a:r>
              <a:rPr lang="en-US" altLang="zh-CN" dirty="0">
                <a:solidFill>
                  <a:srgbClr val="FF0000"/>
                </a:solidFill>
                <a:latin typeface="Times New Roman" panose="02020603050405020304" charset="0"/>
                <a:ea typeface="+mj-ea"/>
                <a:cs typeface="Times New Roman" panose="02020603050405020304" charset="0"/>
                <a:sym typeface="Consolas" panose="020B0609020204030204" pitchFamily="49" charset="0"/>
              </a:rPr>
              <a:t>Ordinary Kriging</a:t>
            </a:r>
            <a:r>
              <a:rPr lang="zh-CN" altLang="en-US" dirty="0">
                <a:solidFill>
                  <a:srgbClr val="FF0000"/>
                </a:solidFill>
                <a:latin typeface="Times New Roman" panose="02020603050405020304" charset="0"/>
                <a:ea typeface="+mj-ea"/>
                <a:cs typeface="Times New Roman" panose="02020603050405020304" charset="0"/>
                <a:sym typeface="Consolas" panose="020B0609020204030204" pitchFamily="49" charset="0"/>
              </a:rPr>
              <a:t>，</a:t>
            </a:r>
            <a:r>
              <a:rPr lang="en-US" altLang="zh-CN" dirty="0">
                <a:solidFill>
                  <a:srgbClr val="FF0000"/>
                </a:solidFill>
                <a:latin typeface="Times New Roman" panose="02020603050405020304" charset="0"/>
                <a:ea typeface="+mj-ea"/>
                <a:cs typeface="Times New Roman" panose="02020603050405020304" charset="0"/>
                <a:sym typeface="Consolas" panose="020B0609020204030204" pitchFamily="49" charset="0"/>
              </a:rPr>
              <a:t>OK</a:t>
            </a:r>
            <a:r>
              <a:rPr lang="zh-CN" altLang="en-US" dirty="0">
                <a:solidFill>
                  <a:srgbClr val="FF0000"/>
                </a:solidFill>
                <a:latin typeface="Times New Roman" panose="02020603050405020304" charset="0"/>
                <a:ea typeface="+mj-ea"/>
                <a:cs typeface="Times New Roman" panose="02020603050405020304" charset="0"/>
                <a:sym typeface="Consolas" panose="020B0609020204030204" pitchFamily="49" charset="0"/>
              </a:rPr>
              <a:t>）</a:t>
            </a:r>
            <a:endParaRPr lang="en-US" altLang="zh-CN" dirty="0">
              <a:solidFill>
                <a:srgbClr val="FF0000"/>
              </a:solidFill>
              <a:latin typeface="Times New Roman" panose="02020603050405020304" charset="0"/>
              <a:ea typeface="+mj-ea"/>
              <a:cs typeface="Times New Roman" panose="02020603050405020304" charset="0"/>
              <a:sym typeface="Consolas" panose="020B0609020204030204" pitchFamily="49" charset="0"/>
            </a:endParaRPr>
          </a:p>
          <a:p>
            <a:pPr marL="285750" indent="-285750">
              <a:lnSpc>
                <a:spcPct val="150000"/>
              </a:lnSpc>
              <a:buFont typeface="Arial" panose="020B0604020202020204" pitchFamily="34" charset="0"/>
              <a:buChar char="•"/>
            </a:pPr>
            <a:r>
              <a:rPr lang="zh-CN" altLang="en-US" dirty="0">
                <a:latin typeface="Times New Roman" panose="02020603050405020304" charset="0"/>
                <a:ea typeface="+mj-ea"/>
                <a:cs typeface="Times New Roman" panose="02020603050405020304" charset="0"/>
                <a:sym typeface="Consolas" panose="020B0609020204030204" pitchFamily="49" charset="0"/>
              </a:rPr>
              <a:t>泛克里金方法（</a:t>
            </a:r>
            <a:r>
              <a:rPr lang="en-US" altLang="zh-CN" dirty="0">
                <a:latin typeface="Times New Roman" panose="02020603050405020304" charset="0"/>
                <a:ea typeface="+mj-ea"/>
                <a:cs typeface="Times New Roman" panose="02020603050405020304" charset="0"/>
                <a:sym typeface="Consolas" panose="020B0609020204030204" pitchFamily="49" charset="0"/>
              </a:rPr>
              <a:t>Universal Kriging</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UK</a:t>
            </a:r>
            <a:r>
              <a:rPr lang="zh-CN" altLang="en-US" dirty="0">
                <a:latin typeface="Times New Roman" panose="02020603050405020304" charset="0"/>
                <a:ea typeface="+mj-ea"/>
                <a:cs typeface="Times New Roman" panose="02020603050405020304" charset="0"/>
                <a:sym typeface="Consolas" panose="020B0609020204030204" pitchFamily="49" charset="0"/>
              </a:rPr>
              <a:t>）</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a:lnSpc>
                <a:spcPct val="150000"/>
              </a:lnSpc>
            </a:pPr>
            <a:r>
              <a:rPr lang="en-US" altLang="zh-CN" dirty="0">
                <a:latin typeface="+mj-ea"/>
                <a:ea typeface="+mj-ea"/>
                <a:sym typeface="Consolas" panose="020B0609020204030204" pitchFamily="49" charset="0"/>
              </a:rPr>
              <a:t>...</a:t>
            </a:r>
          </a:p>
          <a:p>
            <a:pPr>
              <a:lnSpc>
                <a:spcPct val="120000"/>
              </a:lnSpc>
            </a:pP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
        <p:nvSpPr>
          <p:cNvPr id="12" name="标题 9"/>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.3</a:t>
            </a:r>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 </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克里金插值</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15</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632780"/>
            <a:ext cx="8137525" cy="4044120"/>
          </a:xfrm>
          <a:prstGeom prst="rect">
            <a:avLst/>
          </a:prstGeom>
        </p:spPr>
        <p:txBody>
          <a:bodyPr wrap="square">
            <a:spAutoFit/>
          </a:bodyPr>
          <a:lstStyle/>
          <a:p>
            <a:pPr marL="285750" indent="-285750">
              <a:lnSpc>
                <a:spcPct val="200000"/>
              </a:lnSpc>
              <a:spcBef>
                <a:spcPts val="600"/>
              </a:spcBef>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rPr>
              <a:t>克里金法假定采样点之间的距离或方向可以反映可用于说明表面变化的空间相关性。克里金法工具可将数学函数与指定数量的点或指定半径内的所有点进行拟合以确定每个位置的输出值。</a:t>
            </a:r>
          </a:p>
          <a:p>
            <a:pPr marL="285750" indent="-285750">
              <a:lnSpc>
                <a:spcPct val="200000"/>
              </a:lnSpc>
              <a:spcBef>
                <a:spcPts val="600"/>
              </a:spcBef>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rPr>
              <a:t>克里金法是一个多步过程；它包括数据的探索性统计分析、变异函数建模和创建表面，还包括研究方差表面。</a:t>
            </a:r>
          </a:p>
          <a:p>
            <a:pPr marL="285750" indent="-285750">
              <a:lnSpc>
                <a:spcPct val="200000"/>
              </a:lnSpc>
              <a:spcBef>
                <a:spcPts val="600"/>
              </a:spcBef>
              <a:buFont typeface="Wingdings" panose="05000000000000000000" pitchFamily="2" charset="2"/>
              <a:buChar char="ü"/>
            </a:pPr>
            <a:r>
              <a:rPr lang="zh-CN" altLang="en-US" dirty="0">
                <a:latin typeface="Consolas" panose="020B0609020204030204" pitchFamily="49" charset="0"/>
                <a:ea typeface="微软雅黑" panose="020B0503020204020204" pitchFamily="34" charset="-122"/>
              </a:rPr>
              <a:t>当数据中存在空间相关距离或方向偏差后，克里金法则是最适合的方法。该方法通常用在土壤科学和地质中。</a:t>
            </a:r>
          </a:p>
        </p:txBody>
      </p:sp>
      <p:sp>
        <p:nvSpPr>
          <p:cNvPr id="9" name="标题 9"/>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.3</a:t>
            </a:r>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 </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克里金插值</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16</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311149" y="1522729"/>
            <a:ext cx="8572502" cy="396583"/>
          </a:xfrm>
          <a:prstGeom prst="rect">
            <a:avLst/>
          </a:prstGeom>
        </p:spPr>
        <p:txBody>
          <a:bodyPr wrap="square">
            <a:spAutoFit/>
          </a:bodyPr>
          <a:lstStyle/>
          <a:p>
            <a:pPr>
              <a:lnSpc>
                <a:spcPct val="120000"/>
              </a:lnSpc>
            </a:pPr>
            <a:r>
              <a:rPr lang="zh-CN" altLang="en-US" dirty="0">
                <a:latin typeface="+mj-lt"/>
                <a:ea typeface="+mj-ea"/>
                <a:sym typeface="Consolas" panose="020B0609020204030204" pitchFamily="49" charset="0"/>
              </a:rPr>
              <a:t>采用函数包</a:t>
            </a:r>
            <a:r>
              <a:rPr lang="en-US" altLang="zh-CN" dirty="0">
                <a:latin typeface="+mj-lt"/>
                <a:ea typeface="+mj-ea"/>
                <a:sym typeface="Consolas" panose="020B0609020204030204" pitchFamily="49" charset="0"/>
              </a:rPr>
              <a:t>raster</a:t>
            </a:r>
            <a:r>
              <a:rPr lang="zh-CN" altLang="en-US" dirty="0">
                <a:latin typeface="+mj-lt"/>
                <a:ea typeface="+mj-ea"/>
                <a:sym typeface="Consolas" panose="020B0609020204030204" pitchFamily="49" charset="0"/>
              </a:rPr>
              <a:t>并配合函数包</a:t>
            </a:r>
            <a:r>
              <a:rPr lang="en-US" altLang="zh-CN" dirty="0" err="1">
                <a:latin typeface="+mj-lt"/>
                <a:ea typeface="+mj-ea"/>
                <a:sym typeface="Consolas" panose="020B0609020204030204" pitchFamily="49" charset="0"/>
              </a:rPr>
              <a:t>automap</a:t>
            </a:r>
            <a:r>
              <a:rPr lang="zh-CN" altLang="en-US" dirty="0">
                <a:latin typeface="+mj-lt"/>
                <a:ea typeface="+mj-ea"/>
                <a:sym typeface="Consolas" panose="020B0609020204030204" pitchFamily="49" charset="0"/>
              </a:rPr>
              <a:t>实现对</a:t>
            </a:r>
            <a:r>
              <a:rPr lang="en-US" altLang="zh-CN" dirty="0">
                <a:latin typeface="+mj-lt"/>
                <a:ea typeface="+mj-ea"/>
                <a:sym typeface="Consolas" panose="020B0609020204030204" pitchFamily="49" charset="0"/>
              </a:rPr>
              <a:t>WHHP</a:t>
            </a:r>
            <a:r>
              <a:rPr lang="zh-CN" altLang="en-US" dirty="0">
                <a:latin typeface="+mj-lt"/>
                <a:ea typeface="+mj-ea"/>
                <a:sym typeface="Consolas" panose="020B0609020204030204" pitchFamily="49" charset="0"/>
              </a:rPr>
              <a:t>数据中房屋价格插值操作：</a:t>
            </a:r>
            <a:endParaRPr lang="en-US" altLang="zh-CN" dirty="0">
              <a:latin typeface="+mj-lt"/>
              <a:ea typeface="+mj-ea"/>
              <a:sym typeface="Consolas" panose="020B0609020204030204" pitchFamily="49" charset="0"/>
            </a:endParaRPr>
          </a:p>
        </p:txBody>
      </p:sp>
      <p:sp>
        <p:nvSpPr>
          <p:cNvPr id="8" name="矩形 7"/>
          <p:cNvSpPr/>
          <p:nvPr/>
        </p:nvSpPr>
        <p:spPr>
          <a:xfrm>
            <a:off x="381000" y="2665729"/>
            <a:ext cx="4069554" cy="874407"/>
          </a:xfrm>
          <a:prstGeom prst="rect">
            <a:avLst/>
          </a:prstGeom>
        </p:spPr>
        <p:txBody>
          <a:bodyPr wrap="square">
            <a:spAutoFit/>
          </a:bodyPr>
          <a:lstStyle/>
          <a:p>
            <a:pPr indent="457200" algn="just">
              <a:lnSpc>
                <a:spcPct val="150000"/>
              </a:lnSpc>
            </a:pPr>
            <a:r>
              <a:rPr lang="en-US" altLang="zh-CN" dirty="0">
                <a:latin typeface="+mj-ea"/>
                <a:ea typeface="+mj-ea"/>
                <a:sym typeface="Consolas" panose="020B0609020204030204" pitchFamily="49" charset="0"/>
              </a:rPr>
              <a:t>1. </a:t>
            </a:r>
            <a:r>
              <a:rPr lang="zh-CN" altLang="en-US" dirty="0">
                <a:latin typeface="+mj-ea"/>
                <a:ea typeface="+mj-ea"/>
                <a:sym typeface="Consolas" panose="020B0609020204030204" pitchFamily="49" charset="0"/>
              </a:rPr>
              <a:t>通过半变异函数观察数据中属性项是否具有显著的空间自相关模式：</a:t>
            </a:r>
          </a:p>
        </p:txBody>
      </p:sp>
      <p:pic>
        <p:nvPicPr>
          <p:cNvPr id="12" name="图片 11"/>
          <p:cNvPicPr/>
          <p:nvPr/>
        </p:nvPicPr>
        <p:blipFill rotWithShape="1">
          <a:blip r:embed="rId3"/>
          <a:srcRect t="3645" r="2147" b="2118"/>
          <a:stretch>
            <a:fillRect/>
          </a:stretch>
        </p:blipFill>
        <p:spPr bwMode="auto">
          <a:xfrm>
            <a:off x="4691355" y="2360929"/>
            <a:ext cx="3981293" cy="3582671"/>
          </a:xfrm>
          <a:prstGeom prst="rect">
            <a:avLst/>
          </a:prstGeom>
          <a:ln>
            <a:noFill/>
          </a:ln>
        </p:spPr>
      </p:pic>
      <p:sp>
        <p:nvSpPr>
          <p:cNvPr id="3" name="文本框 2"/>
          <p:cNvSpPr txBox="1"/>
          <p:nvPr/>
        </p:nvSpPr>
        <p:spPr>
          <a:xfrm>
            <a:off x="381000" y="4204702"/>
            <a:ext cx="4141388" cy="81047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gstat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(formula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ev</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variogram(g)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ev,cex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,pch=</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7" name="标题 9">
            <a:extLst>
              <a:ext uri="{FF2B5EF4-FFF2-40B4-BE49-F238E27FC236}">
                <a16:creationId xmlns:a16="http://schemas.microsoft.com/office/drawing/2014/main" id="{E8E3D90A-81BC-66CA-72C3-49E26E92B193}"/>
              </a:ext>
            </a:extLst>
          </p:cNvPr>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.3</a:t>
            </a:r>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 </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克里金插值</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17</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219200"/>
            <a:ext cx="8137525" cy="874407"/>
          </a:xfrm>
          <a:prstGeom prst="rect">
            <a:avLst/>
          </a:prstGeom>
        </p:spPr>
        <p:txBody>
          <a:bodyPr wrap="square">
            <a:spAutoFit/>
          </a:bodyPr>
          <a:lstStyle/>
          <a:p>
            <a:pPr indent="457200">
              <a:lnSpc>
                <a:spcPct val="150000"/>
              </a:lnSpc>
            </a:pPr>
            <a:r>
              <a:rPr lang="en-US" altLang="zh-CN" dirty="0">
                <a:latin typeface="+mn-lt"/>
                <a:ea typeface="+mj-ea"/>
                <a:sym typeface="Consolas" panose="020B0609020204030204" pitchFamily="49" charset="0"/>
              </a:rPr>
              <a:t>2. </a:t>
            </a:r>
            <a:r>
              <a:rPr lang="zh-CN" altLang="en-US" dirty="0">
                <a:latin typeface="+mn-lt"/>
                <a:ea typeface="+mj-ea"/>
                <a:sym typeface="Consolas" panose="020B0609020204030204" pitchFamily="49" charset="0"/>
              </a:rPr>
              <a:t>使用</a:t>
            </a:r>
            <a:r>
              <a:rPr lang="en-US" altLang="zh-CN" dirty="0" err="1">
                <a:latin typeface="+mn-lt"/>
                <a:ea typeface="+mj-ea"/>
                <a:sym typeface="Consolas" panose="020B0609020204030204" pitchFamily="49" charset="0"/>
              </a:rPr>
              <a:t>automap</a:t>
            </a:r>
            <a:r>
              <a:rPr lang="zh-CN" altLang="en-US" dirty="0">
                <a:latin typeface="+mn-lt"/>
                <a:ea typeface="+mj-ea"/>
                <a:sym typeface="Consolas" panose="020B0609020204030204" pitchFamily="49" charset="0"/>
              </a:rPr>
              <a:t>函数包中的自动拟合函数</a:t>
            </a:r>
            <a:r>
              <a:rPr lang="en-US" altLang="zh-CN" dirty="0" err="1">
                <a:latin typeface="+mn-lt"/>
                <a:ea typeface="+mj-ea"/>
                <a:sym typeface="Consolas" panose="020B0609020204030204" pitchFamily="49" charset="0"/>
              </a:rPr>
              <a:t>autofitVariogram</a:t>
            </a:r>
            <a:r>
              <a:rPr lang="zh-CN" altLang="en-US" dirty="0">
                <a:latin typeface="+mn-lt"/>
                <a:ea typeface="+mj-ea"/>
                <a:sym typeface="Consolas" panose="020B0609020204030204" pitchFamily="49" charset="0"/>
              </a:rPr>
              <a:t>对</a:t>
            </a:r>
            <a:r>
              <a:rPr lang="en-US" altLang="zh-CN" dirty="0">
                <a:latin typeface="+mn-lt"/>
                <a:ea typeface="+mj-ea"/>
                <a:sym typeface="Consolas" panose="020B0609020204030204" pitchFamily="49" charset="0"/>
              </a:rPr>
              <a:t>1</a:t>
            </a:r>
            <a:r>
              <a:rPr lang="zh-CN" altLang="en-US" dirty="0">
                <a:latin typeface="+mn-lt"/>
                <a:ea typeface="+mj-ea"/>
                <a:sym typeface="Consolas" panose="020B0609020204030204" pitchFamily="49" charset="0"/>
              </a:rPr>
              <a:t>得到的经验半变异函数进行自动拟合。</a:t>
            </a:r>
            <a:endParaRPr lang="en-US" altLang="zh-CN" dirty="0">
              <a:latin typeface="+mn-lt"/>
              <a:ea typeface="+mj-ea"/>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5" name="图片 4"/>
          <p:cNvPicPr>
            <a:picLocks noChangeAspect="1"/>
          </p:cNvPicPr>
          <p:nvPr/>
        </p:nvPicPr>
        <p:blipFill>
          <a:blip r:embed="rId3"/>
          <a:stretch>
            <a:fillRect/>
          </a:stretch>
        </p:blipFill>
        <p:spPr>
          <a:xfrm>
            <a:off x="2299922" y="2895600"/>
            <a:ext cx="4458431" cy="3775801"/>
          </a:xfrm>
          <a:prstGeom prst="rect">
            <a:avLst/>
          </a:prstGeom>
        </p:spPr>
      </p:pic>
      <p:sp>
        <p:nvSpPr>
          <p:cNvPr id="2" name="文本框 1"/>
          <p:cNvSpPr txBox="1"/>
          <p:nvPr/>
        </p:nvSpPr>
        <p:spPr>
          <a:xfrm>
            <a:off x="757238" y="2194160"/>
            <a:ext cx="7543800" cy="45140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v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autofitVariogram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(formula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input_data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v,pch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lwd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,cex=</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9" name="标题 9">
            <a:extLst>
              <a:ext uri="{FF2B5EF4-FFF2-40B4-BE49-F238E27FC236}">
                <a16:creationId xmlns:a16="http://schemas.microsoft.com/office/drawing/2014/main" id="{F3C30EF3-39D5-B787-CD9C-578047893DCB}"/>
              </a:ext>
            </a:extLst>
          </p:cNvPr>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.3</a:t>
            </a:r>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 </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克里金插值</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18</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503241" y="1219200"/>
            <a:ext cx="8137525" cy="874407"/>
          </a:xfrm>
          <a:prstGeom prst="rect">
            <a:avLst/>
          </a:prstGeom>
        </p:spPr>
        <p:txBody>
          <a:bodyPr wrap="square">
            <a:spAutoFit/>
          </a:bodyPr>
          <a:lstStyle/>
          <a:p>
            <a:pPr indent="457200">
              <a:lnSpc>
                <a:spcPct val="150000"/>
              </a:lnSpc>
            </a:pPr>
            <a:r>
              <a:rPr lang="en-US" altLang="zh-CN" dirty="0">
                <a:latin typeface="+mn-lt"/>
                <a:ea typeface="+mj-ea"/>
                <a:sym typeface="Consolas" panose="020B0609020204030204" pitchFamily="49" charset="0"/>
              </a:rPr>
              <a:t>3.</a:t>
            </a:r>
            <a:r>
              <a:rPr lang="zh-CN" altLang="en-US" dirty="0">
                <a:latin typeface="+mn-lt"/>
                <a:ea typeface="+mj-ea"/>
                <a:sym typeface="Consolas" panose="020B0609020204030204" pitchFamily="49" charset="0"/>
              </a:rPr>
              <a:t>将半变异函数模型拟合结果传递给</a:t>
            </a:r>
            <a:r>
              <a:rPr lang="en-US" altLang="zh-CN" dirty="0" err="1">
                <a:latin typeface="+mn-lt"/>
                <a:ea typeface="+mj-ea"/>
                <a:sym typeface="Consolas" panose="020B0609020204030204" pitchFamily="49" charset="0"/>
              </a:rPr>
              <a:t>gstat</a:t>
            </a:r>
            <a:r>
              <a:rPr lang="en-US" altLang="zh-CN"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函数，以用于后续克里金插值计算过程，并将插值结果赋值给指定的栅格对象，并可视化结果</a:t>
            </a:r>
            <a:endParaRPr lang="en-US" altLang="zh-CN" dirty="0">
              <a:latin typeface="+mn-lt"/>
              <a:ea typeface="+mj-ea"/>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13" name="图片 12"/>
          <p:cNvPicPr/>
          <p:nvPr/>
        </p:nvPicPr>
        <p:blipFill rotWithShape="1">
          <a:blip r:embed="rId3"/>
          <a:srcRect l="12413" r="10948"/>
          <a:stretch>
            <a:fillRect/>
          </a:stretch>
        </p:blipFill>
        <p:spPr bwMode="auto">
          <a:xfrm>
            <a:off x="4121080" y="2819400"/>
            <a:ext cx="4343400" cy="3251639"/>
          </a:xfrm>
          <a:prstGeom prst="rect">
            <a:avLst/>
          </a:prstGeom>
          <a:ln>
            <a:noFill/>
          </a:ln>
        </p:spPr>
      </p:pic>
      <p:sp>
        <p:nvSpPr>
          <p:cNvPr id="3" name="文本框 2"/>
          <p:cNvSpPr txBox="1"/>
          <p:nvPr/>
        </p:nvSpPr>
        <p:spPr>
          <a:xfrm>
            <a:off x="388934" y="2171700"/>
            <a:ext cx="8069266" cy="99001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g_OK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gstat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(formula = WHHP_centroids</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model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v</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var_model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z &lt;- predict(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g_OK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newdata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WHHP_grid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nrows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ncols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60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ext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ext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z</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var1.pred</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z_raster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WHHP.rast</a:t>
            </a:r>
            <a:endParaRPr lang="zh-CN" altLang="zh-CN" sz="1200" dirty="0">
              <a:latin typeface="Times New Roman" panose="02020603050405020304" charset="0"/>
              <a:ea typeface="宋体" panose="02010600030101010101" pitchFamily="2" charset="-122"/>
            </a:endParaRPr>
          </a:p>
        </p:txBody>
      </p:sp>
      <p:sp>
        <p:nvSpPr>
          <p:cNvPr id="5" name="文本框 4"/>
          <p:cNvSpPr txBox="1"/>
          <p:nvPr/>
        </p:nvSpPr>
        <p:spPr>
          <a:xfrm>
            <a:off x="363534" y="3896802"/>
            <a:ext cx="4238576" cy="63094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z_raster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proj4string</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z_raster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mask(</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z_raster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z_raster,main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"Ordinary Kriging"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8" name="标题 9">
            <a:extLst>
              <a:ext uri="{FF2B5EF4-FFF2-40B4-BE49-F238E27FC236}">
                <a16:creationId xmlns:a16="http://schemas.microsoft.com/office/drawing/2014/main" id="{B9CADF8B-A99F-1C33-F834-F09A390C22D1}"/>
              </a:ext>
            </a:extLst>
          </p:cNvPr>
          <p:cNvSpPr>
            <a:spLocks noGrp="1"/>
          </p:cNvSpPr>
          <p:nvPr>
            <p:ph type="title"/>
          </p:nvPr>
        </p:nvSpPr>
        <p:spPr>
          <a:xfrm>
            <a:off x="1181100" y="342900"/>
            <a:ext cx="7007225" cy="663575"/>
          </a:xfrm>
        </p:spPr>
        <p:txBody>
          <a:bodyPr/>
          <a:lstStyle/>
          <a:p>
            <a:pPr algn="l"/>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8.2</a:t>
            </a:r>
            <a:r>
              <a:rPr lang="en-US" altLang="zh-CN" sz="3600" dirty="0">
                <a:solidFill>
                  <a:srgbClr val="005390"/>
                </a:solidFill>
                <a:latin typeface="Times New Roman" panose="02020603050405020304" charset="0"/>
                <a:ea typeface="微软雅黑" panose="020B0503020204020204" pitchFamily="34" charset="-122"/>
                <a:cs typeface="Times New Roman" panose="02020603050405020304" charset="0"/>
              </a:rPr>
              <a:t>.3</a:t>
            </a:r>
            <a:r>
              <a:rPr kumimoji="0" lang="en-US" altLang="zh-CN"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 </a:t>
            </a:r>
            <a:r>
              <a:rPr kumimoji="0" lang="zh-CN" altLang="en-US" sz="3600" b="1" i="0" u="none" strike="noStrike" kern="1200" cap="none" spc="0" normalizeH="0" baseline="0" noProof="0" dirty="0">
                <a:ln>
                  <a:noFill/>
                </a:ln>
                <a:solidFill>
                  <a:srgbClr val="005390"/>
                </a:solidFill>
                <a:effectLst/>
                <a:uLnTx/>
                <a:uFillTx/>
                <a:latin typeface="Times New Roman" panose="02020603050405020304" charset="0"/>
                <a:ea typeface="微软雅黑" panose="020B0503020204020204" pitchFamily="34" charset="-122"/>
                <a:cs typeface="Times New Roman" panose="02020603050405020304" charset="0"/>
              </a:rPr>
              <a:t>克里金插值</a:t>
            </a:r>
            <a:endParaRPr lang="zh-CN" altLang="en-US" dirty="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AE898-E6BB-8FD6-61A8-507E3ACEB18D}"/>
            </a:ext>
          </a:extLst>
        </p:cNvPr>
        <p:cNvGrpSpPr/>
        <p:nvPr/>
      </p:nvGrpSpPr>
      <p:grpSpPr>
        <a:xfrm>
          <a:off x="0" y="0"/>
          <a:ext cx="0" cy="0"/>
          <a:chOff x="0" y="0"/>
          <a:chExt cx="0" cy="0"/>
        </a:xfrm>
      </p:grpSpPr>
      <p:sp>
        <p:nvSpPr>
          <p:cNvPr id="8" name="灯片编号占位符 7">
            <a:extLst>
              <a:ext uri="{FF2B5EF4-FFF2-40B4-BE49-F238E27FC236}">
                <a16:creationId xmlns:a16="http://schemas.microsoft.com/office/drawing/2014/main" id="{C6AEC480-3AE4-F258-8DEA-050427EE3E2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19</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E82C3255-20A2-40EC-D6C3-510139EC0822}"/>
              </a:ext>
            </a:extLst>
          </p:cNvPr>
          <p:cNvSpPr/>
          <p:nvPr/>
        </p:nvSpPr>
        <p:spPr>
          <a:xfrm>
            <a:off x="1524000" y="2057400"/>
            <a:ext cx="3506088" cy="2439707"/>
          </a:xfrm>
          <a:prstGeom prst="rect">
            <a:avLst/>
          </a:prstGeom>
        </p:spPr>
        <p:txBody>
          <a:bodyPr wrap="none">
            <a:spAutoFit/>
          </a:bodyPr>
          <a:lstStyle/>
          <a:p>
            <a:pPr>
              <a:lnSpc>
                <a:spcPct val="300000"/>
              </a:lnSpc>
            </a:pPr>
            <a:r>
              <a:rPr lang="en-US" altLang="zh-CN" sz="2800" b="1" dirty="0">
                <a:solidFill>
                  <a:schemeClr val="accent1"/>
                </a:solidFill>
                <a:latin typeface="+mn-lt"/>
                <a:ea typeface="微软雅黑" panose="020B0503020204020204" pitchFamily="34" charset="-122"/>
                <a:cs typeface="+mn-ea"/>
                <a:sym typeface="Consolas" panose="020B0609020204030204" pitchFamily="49" charset="0"/>
              </a:rPr>
              <a:t>8.3.1 </a:t>
            </a:r>
            <a:r>
              <a:rPr lang="zh-CN" altLang="en-US" sz="2800" b="1" dirty="0">
                <a:solidFill>
                  <a:schemeClr val="accent1"/>
                </a:solidFill>
                <a:latin typeface="+mn-lt"/>
                <a:ea typeface="微软雅黑" panose="020B0503020204020204" pitchFamily="34" charset="-122"/>
                <a:cs typeface="+mn-ea"/>
                <a:sym typeface="Consolas" panose="020B0609020204030204" pitchFamily="49" charset="0"/>
              </a:rPr>
              <a:t>全局空间自相关</a:t>
            </a:r>
            <a:endParaRPr lang="en-US" altLang="zh-CN" sz="2800" b="1" dirty="0">
              <a:solidFill>
                <a:schemeClr val="accent1"/>
              </a:solidFill>
              <a:latin typeface="+mn-lt"/>
              <a:ea typeface="微软雅黑" panose="020B0503020204020204" pitchFamily="34" charset="-122"/>
              <a:cs typeface="+mn-ea"/>
              <a:sym typeface="Consolas" panose="020B0609020204030204" pitchFamily="49" charset="0"/>
            </a:endParaRPr>
          </a:p>
          <a:p>
            <a:pPr>
              <a:lnSpc>
                <a:spcPct val="300000"/>
              </a:lnSpc>
            </a:pPr>
            <a:r>
              <a:rPr lang="en-US" altLang="zh-CN" sz="2800" b="1" dirty="0">
                <a:solidFill>
                  <a:schemeClr val="accent1"/>
                </a:solidFill>
                <a:latin typeface="+mn-lt"/>
                <a:ea typeface="微软雅黑" panose="020B0503020204020204" pitchFamily="34" charset="-122"/>
                <a:cs typeface="+mn-ea"/>
                <a:sym typeface="Consolas" panose="020B0609020204030204" pitchFamily="49" charset="0"/>
              </a:rPr>
              <a:t>8.3.2 </a:t>
            </a:r>
            <a:r>
              <a:rPr lang="zh-CN" altLang="en-US" sz="2800" b="1" dirty="0">
                <a:solidFill>
                  <a:schemeClr val="accent1"/>
                </a:solidFill>
                <a:latin typeface="+mn-lt"/>
                <a:ea typeface="微软雅黑" panose="020B0503020204020204" pitchFamily="34" charset="-122"/>
                <a:cs typeface="+mn-ea"/>
                <a:sym typeface="Consolas" panose="020B0609020204030204" pitchFamily="49" charset="0"/>
              </a:rPr>
              <a:t>局部空间自相关</a:t>
            </a:r>
            <a:endParaRPr lang="en-US" altLang="zh-CN" sz="2800" b="1" dirty="0">
              <a:solidFill>
                <a:schemeClr val="accent1"/>
              </a:solidFill>
              <a:latin typeface="+mn-lt"/>
              <a:ea typeface="微软雅黑" panose="020B0503020204020204" pitchFamily="34" charset="-122"/>
              <a:cs typeface="+mn-ea"/>
              <a:sym typeface="Consolas" panose="020B0609020204030204" pitchFamily="49" charset="0"/>
            </a:endParaRPr>
          </a:p>
        </p:txBody>
      </p:sp>
      <p:sp>
        <p:nvSpPr>
          <p:cNvPr id="5" name="标题 14">
            <a:extLst>
              <a:ext uri="{FF2B5EF4-FFF2-40B4-BE49-F238E27FC236}">
                <a16:creationId xmlns:a16="http://schemas.microsoft.com/office/drawing/2014/main" id="{CD844975-2719-1C22-C84A-FABEAC46DBCE}"/>
              </a:ext>
            </a:extLst>
          </p:cNvPr>
          <p:cNvSpPr>
            <a:spLocks noGrp="1"/>
          </p:cNvSpPr>
          <p:nvPr>
            <p:ph type="title"/>
          </p:nvPr>
        </p:nvSpPr>
        <p:spPr>
          <a:xfrm>
            <a:off x="1181101" y="342900"/>
            <a:ext cx="6896099" cy="663575"/>
          </a:xfrm>
        </p:spPr>
        <p:txBody>
          <a:bodyPr/>
          <a:lstStyle/>
          <a:p>
            <a:pPr algn="l"/>
            <a:r>
              <a:rPr lang="en-US" altLang="zh-CN" sz="3600" dirty="0"/>
              <a:t>8.3 </a:t>
            </a:r>
            <a:r>
              <a:rPr lang="zh-CN" altLang="en-US" sz="3600" dirty="0"/>
              <a:t>空间自相关分析</a:t>
            </a:r>
          </a:p>
        </p:txBody>
      </p:sp>
    </p:spTree>
    <p:extLst>
      <p:ext uri="{BB962C8B-B14F-4D97-AF65-F5344CB8AC3E}">
        <p14:creationId xmlns:p14="http://schemas.microsoft.com/office/powerpoint/2010/main" val="1181777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2019-01-22 22-40-30 的屏幕截图"/>
          <p:cNvPicPr>
            <a:picLocks noChangeAspect="1"/>
          </p:cNvPicPr>
          <p:nvPr/>
        </p:nvPicPr>
        <p:blipFill>
          <a:blip r:embed="rId2"/>
          <a:stretch>
            <a:fillRect/>
          </a:stretch>
        </p:blipFill>
        <p:spPr>
          <a:xfrm>
            <a:off x="575311" y="3352800"/>
            <a:ext cx="7993378" cy="2904733"/>
          </a:xfrm>
          <a:prstGeom prst="rect">
            <a:avLst/>
          </a:prstGeom>
        </p:spPr>
      </p:pic>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20</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2294188" y="1066800"/>
            <a:ext cx="4554452" cy="497765"/>
          </a:xfrm>
          <a:prstGeom prst="rect">
            <a:avLst/>
          </a:prstGeom>
        </p:spPr>
        <p:txBody>
          <a:bodyPr wrap="none">
            <a:spAutoFit/>
          </a:bodyPr>
          <a:lstStyle/>
          <a:p>
            <a:pPr algn="ctr">
              <a:lnSpc>
                <a:spcPct val="120000"/>
              </a:lnSpc>
            </a:pPr>
            <a:r>
              <a:rPr lang="zh-CN" altLang="en-US" sz="2400" b="1" dirty="0">
                <a:latin typeface="+mj-lt"/>
                <a:ea typeface="+mj-ea"/>
                <a:sym typeface="Consolas" panose="020B0609020204030204" pitchFamily="49" charset="0"/>
              </a:rPr>
              <a:t>空间邻域（</a:t>
            </a:r>
            <a:r>
              <a:rPr lang="en-US" altLang="zh-CN" sz="2400" b="1" dirty="0">
                <a:latin typeface="+mj-lt"/>
                <a:ea typeface="+mj-ea"/>
                <a:sym typeface="Consolas" panose="020B0609020204030204" pitchFamily="49" charset="0"/>
              </a:rPr>
              <a:t>Spatial </a:t>
            </a:r>
            <a:r>
              <a:rPr lang="en-US" altLang="zh-CN" sz="2400" b="1" dirty="0" err="1">
                <a:latin typeface="+mj-lt"/>
                <a:ea typeface="+mj-ea"/>
                <a:sym typeface="Consolas" panose="020B0609020204030204" pitchFamily="49" charset="0"/>
              </a:rPr>
              <a:t>Neighbours</a:t>
            </a:r>
            <a:r>
              <a:rPr lang="zh-CN" altLang="en-US" sz="2400" b="1" dirty="0">
                <a:latin typeface="+mj-lt"/>
                <a:ea typeface="+mj-ea"/>
                <a:sym typeface="Consolas" panose="020B0609020204030204" pitchFamily="49" charset="0"/>
              </a:rPr>
              <a:t>）</a:t>
            </a:r>
            <a:endParaRPr lang="zh-CN" altLang="en-US" sz="2400" b="1" dirty="0">
              <a:latin typeface="+mj-lt"/>
              <a:ea typeface="+mj-ea"/>
              <a:cs typeface="+mn-ea"/>
              <a:sym typeface="Consolas" panose="020B0609020204030204" pitchFamily="49" charset="0"/>
            </a:endParaRPr>
          </a:p>
        </p:txBody>
      </p:sp>
      <p:sp>
        <p:nvSpPr>
          <p:cNvPr id="11" name="矩形 10"/>
          <p:cNvSpPr/>
          <p:nvPr/>
        </p:nvSpPr>
        <p:spPr>
          <a:xfrm>
            <a:off x="503241" y="1575062"/>
            <a:ext cx="8137525" cy="1729641"/>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空间领域是空间上下文（背景）分析的基础，一个人周围环境的特性描述。</a:t>
            </a:r>
          </a:p>
          <a:p>
            <a:pPr marL="285750" indent="-285750">
              <a:lnSpc>
                <a:spcPct val="12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空间领域是空间自相关分析权重计算的基础，直接关系到空间自相关分析的最终结果。</a:t>
            </a:r>
          </a:p>
          <a:p>
            <a:pPr marL="285750" indent="-285750">
              <a:lnSpc>
                <a:spcPct val="12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在地理空间分析中，空间领域是指一组相邻的区域或单元。</a:t>
            </a:r>
          </a:p>
          <a:p>
            <a:pPr marL="285750" indent="-285750">
              <a:lnSpc>
                <a:spcPct val="120000"/>
              </a:lnSpc>
              <a:buFont typeface="Arial" panose="020B0604020202020204" pitchFamily="34" charset="0"/>
              <a:buChar char="•"/>
            </a:pPr>
            <a:r>
              <a:rPr lang="zh-CN" altLang="en-US" dirty="0">
                <a:latin typeface="Consolas" panose="020B0609020204030204" pitchFamily="49" charset="0"/>
                <a:ea typeface="微软雅黑" panose="020B0503020204020204" pitchFamily="34" charset="-122"/>
                <a:sym typeface="Consolas" panose="020B0609020204030204" pitchFamily="49" charset="0"/>
              </a:rPr>
              <a:t>一般来说，空间邻域分别针对面（多边形）数据和点数据进行定义。</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pic>
        <p:nvPicPr>
          <p:cNvPr id="12" name="图片 11"/>
          <p:cNvPicPr>
            <a:picLocks noChangeAspect="1"/>
          </p:cNvPicPr>
          <p:nvPr/>
        </p:nvPicPr>
        <p:blipFill>
          <a:blip r:embed="rId3"/>
          <a:stretch>
            <a:fillRect/>
          </a:stretch>
        </p:blipFill>
        <p:spPr>
          <a:xfrm>
            <a:off x="4181524" y="3395669"/>
            <a:ext cx="780952" cy="66667"/>
          </a:xfrm>
          <a:prstGeom prst="rect">
            <a:avLst/>
          </a:prstGeom>
        </p:spPr>
      </p:pic>
      <p:sp>
        <p:nvSpPr>
          <p:cNvPr id="15" name="标题 14"/>
          <p:cNvSpPr>
            <a:spLocks noGrp="1"/>
          </p:cNvSpPr>
          <p:nvPr>
            <p:ph type="title"/>
          </p:nvPr>
        </p:nvSpPr>
        <p:spPr/>
        <p:txBody>
          <a:bodyPr/>
          <a:lstStyle/>
          <a:p>
            <a:pPr algn="l"/>
            <a:r>
              <a:rPr lang="en-US" altLang="zh-CN" sz="3600" dirty="0"/>
              <a:t>8.3 </a:t>
            </a:r>
            <a:r>
              <a:rPr lang="zh-CN" altLang="en-US" sz="3600" dirty="0"/>
              <a:t>空间自相关分析</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21</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863526" y="1066800"/>
            <a:ext cx="1415772"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空间邻域</a:t>
            </a:r>
          </a:p>
        </p:txBody>
      </p:sp>
      <p:sp>
        <p:nvSpPr>
          <p:cNvPr id="11" name="矩形 10"/>
          <p:cNvSpPr/>
          <p:nvPr/>
        </p:nvSpPr>
        <p:spPr>
          <a:xfrm>
            <a:off x="398623" y="1790700"/>
            <a:ext cx="8335959" cy="732445"/>
          </a:xfrm>
          <a:prstGeom prst="rect">
            <a:avLst/>
          </a:prstGeom>
        </p:spPr>
        <p:txBody>
          <a:bodyPr wrap="square">
            <a:spAutoFit/>
          </a:bodyPr>
          <a:lstStyle/>
          <a:p>
            <a:pPr indent="457200">
              <a:lnSpc>
                <a:spcPct val="120000"/>
              </a:lnSpc>
            </a:pPr>
            <a:r>
              <a:rPr lang="zh-CN" altLang="en-US" dirty="0">
                <a:latin typeface="+mn-lt"/>
                <a:ea typeface="微软雅黑" panose="020B0503020204020204" pitchFamily="34" charset="-122"/>
                <a:sym typeface="Consolas" panose="020B0609020204030204" pitchFamily="49" charset="0"/>
              </a:rPr>
              <a:t>面数据的空间领域一般表示多边形之间的邻接关系，分为</a:t>
            </a:r>
            <a:r>
              <a:rPr lang="en-US" altLang="zh-CN" dirty="0">
                <a:latin typeface="+mn-lt"/>
                <a:ea typeface="微软雅黑" panose="020B0503020204020204" pitchFamily="34" charset="-122"/>
                <a:sym typeface="Consolas" panose="020B0609020204030204" pitchFamily="49" charset="0"/>
              </a:rPr>
              <a:t>Rook</a:t>
            </a:r>
            <a:r>
              <a:rPr lang="zh-CN" altLang="en-US" dirty="0">
                <a:latin typeface="+mn-lt"/>
                <a:ea typeface="微软雅黑" panose="020B0503020204020204" pitchFamily="34" charset="-122"/>
                <a:cs typeface="+mn-ea"/>
                <a:sym typeface="Consolas" panose="020B0609020204030204" pitchFamily="49" charset="0"/>
              </a:rPr>
              <a:t>邻域</a:t>
            </a:r>
            <a:r>
              <a:rPr lang="zh-CN" altLang="en-US" dirty="0">
                <a:latin typeface="+mn-lt"/>
                <a:ea typeface="微软雅黑" panose="020B0503020204020204" pitchFamily="34" charset="-122"/>
                <a:sym typeface="Consolas" panose="020B0609020204030204" pitchFamily="49" charset="0"/>
              </a:rPr>
              <a:t>、</a:t>
            </a:r>
            <a:r>
              <a:rPr lang="en-US" altLang="zh-CN" dirty="0">
                <a:latin typeface="+mn-lt"/>
                <a:ea typeface="微软雅黑" panose="020B0503020204020204" pitchFamily="34" charset="-122"/>
                <a:sym typeface="Consolas" panose="020B0609020204030204" pitchFamily="49" charset="0"/>
              </a:rPr>
              <a:t>Bishop</a:t>
            </a:r>
            <a:r>
              <a:rPr lang="zh-CN" altLang="en-US" dirty="0">
                <a:latin typeface="+mn-lt"/>
                <a:ea typeface="微软雅黑" panose="020B0503020204020204" pitchFamily="34" charset="-122"/>
                <a:cs typeface="+mn-ea"/>
                <a:sym typeface="Consolas" panose="020B0609020204030204" pitchFamily="49" charset="0"/>
              </a:rPr>
              <a:t>邻域</a:t>
            </a:r>
            <a:r>
              <a:rPr lang="zh-CN" altLang="en-US" dirty="0">
                <a:latin typeface="+mn-lt"/>
                <a:ea typeface="微软雅黑" panose="020B0503020204020204" pitchFamily="34" charset="-122"/>
                <a:sym typeface="Consolas" panose="020B0609020204030204" pitchFamily="49" charset="0"/>
              </a:rPr>
              <a:t>和</a:t>
            </a:r>
            <a:r>
              <a:rPr lang="en-US" altLang="zh-CN" dirty="0">
                <a:latin typeface="+mn-lt"/>
                <a:ea typeface="微软雅黑" panose="020B0503020204020204" pitchFamily="34" charset="-122"/>
                <a:sym typeface="Consolas" panose="020B0609020204030204" pitchFamily="49" charset="0"/>
              </a:rPr>
              <a:t>Queen</a:t>
            </a:r>
            <a:r>
              <a:rPr lang="zh-CN" altLang="en-US" dirty="0">
                <a:latin typeface="+mn-lt"/>
                <a:ea typeface="微软雅黑" panose="020B0503020204020204" pitchFamily="34" charset="-122"/>
                <a:cs typeface="+mn-ea"/>
                <a:sym typeface="Consolas" panose="020B0609020204030204" pitchFamily="49" charset="0"/>
              </a:rPr>
              <a:t>邻域</a:t>
            </a:r>
            <a:r>
              <a:rPr lang="zh-CN" altLang="en-US" dirty="0">
                <a:latin typeface="+mn-lt"/>
                <a:ea typeface="微软雅黑" panose="020B0503020204020204" pitchFamily="34" charset="-122"/>
                <a:sym typeface="Consolas" panose="020B0609020204030204" pitchFamily="49" charset="0"/>
              </a:rPr>
              <a:t>三种不同的定义模式：</a:t>
            </a: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5" name="图片 4" descr="2019-01-22 22-52-22 的屏幕截图"/>
          <p:cNvPicPr>
            <a:picLocks noChangeAspect="1"/>
          </p:cNvPicPr>
          <p:nvPr/>
        </p:nvPicPr>
        <p:blipFill>
          <a:blip r:embed="rId3"/>
          <a:stretch>
            <a:fillRect/>
          </a:stretch>
        </p:blipFill>
        <p:spPr>
          <a:xfrm>
            <a:off x="0" y="2741295"/>
            <a:ext cx="9137651" cy="3088005"/>
          </a:xfrm>
          <a:prstGeom prst="rect">
            <a:avLst/>
          </a:prstGeom>
        </p:spPr>
      </p:pic>
      <p:sp>
        <p:nvSpPr>
          <p:cNvPr id="15" name="标题 14"/>
          <p:cNvSpPr>
            <a:spLocks noGrp="1"/>
          </p:cNvSpPr>
          <p:nvPr>
            <p:ph type="title"/>
          </p:nvPr>
        </p:nvSpPr>
        <p:spPr>
          <a:xfrm>
            <a:off x="1181100" y="342900"/>
            <a:ext cx="7007225" cy="663575"/>
          </a:xfrm>
        </p:spPr>
        <p:txBody>
          <a:bodyPr/>
          <a:lstStyle/>
          <a:p>
            <a:pPr algn="l"/>
            <a:r>
              <a:rPr lang="en-US" altLang="zh-CN" sz="3600" dirty="0"/>
              <a:t>8.3 </a:t>
            </a:r>
            <a:r>
              <a:rPr lang="zh-CN" altLang="en-US" sz="3600" dirty="0"/>
              <a:t>空间自相关分析</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22</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863526" y="1066800"/>
            <a:ext cx="1415772"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空间邻域</a:t>
            </a:r>
          </a:p>
        </p:txBody>
      </p:sp>
      <p:sp>
        <p:nvSpPr>
          <p:cNvPr id="11" name="矩形 10"/>
          <p:cNvSpPr/>
          <p:nvPr/>
        </p:nvSpPr>
        <p:spPr>
          <a:xfrm>
            <a:off x="841582" y="1718845"/>
            <a:ext cx="7459659" cy="400046"/>
          </a:xfrm>
          <a:prstGeom prst="rect">
            <a:avLst/>
          </a:prstGeom>
        </p:spPr>
        <p:txBody>
          <a:bodyPr wrap="square">
            <a:spAutoFit/>
          </a:bodyPr>
          <a:lstStyle/>
          <a:p>
            <a:pPr>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函数包</a:t>
            </a:r>
            <a:r>
              <a:rPr lang="en-US" altLang="zh-CN" dirty="0" err="1">
                <a:latin typeface="Times New Roman" panose="02020603050405020304" charset="0"/>
                <a:ea typeface="+mj-ea"/>
                <a:cs typeface="Times New Roman" panose="02020603050405020304" charset="0"/>
                <a:sym typeface="Consolas" panose="020B0609020204030204" pitchFamily="49" charset="0"/>
              </a:rPr>
              <a:t>spdep</a:t>
            </a:r>
            <a:r>
              <a:rPr lang="zh-CN" altLang="en-US" dirty="0">
                <a:latin typeface="Times New Roman" panose="02020603050405020304" charset="0"/>
                <a:ea typeface="+mj-ea"/>
                <a:cs typeface="Times New Roman" panose="02020603050405020304" charset="0"/>
                <a:sym typeface="Consolas" panose="020B0609020204030204" pitchFamily="49" charset="0"/>
              </a:rPr>
              <a:t>提供了</a:t>
            </a:r>
            <a:r>
              <a:rPr lang="en-US" altLang="zh-CN" dirty="0" err="1">
                <a:latin typeface="Times New Roman" panose="02020603050405020304" charset="0"/>
                <a:ea typeface="+mj-ea"/>
                <a:cs typeface="Times New Roman" panose="02020603050405020304" charset="0"/>
                <a:sym typeface="Consolas" panose="020B0609020204030204" pitchFamily="49" charset="0"/>
              </a:rPr>
              <a:t>poly2nb</a:t>
            </a:r>
            <a:r>
              <a:rPr lang="zh-CN" altLang="en-US" dirty="0">
                <a:latin typeface="Times New Roman" panose="02020603050405020304" charset="0"/>
                <a:ea typeface="+mj-ea"/>
                <a:cs typeface="Times New Roman" panose="02020603050405020304" charset="0"/>
                <a:sym typeface="Consolas" panose="020B0609020204030204" pitchFamily="49" charset="0"/>
              </a:rPr>
              <a:t>函数生成多边形</a:t>
            </a:r>
            <a:r>
              <a:rPr lang="en-US" altLang="zh-CN" dirty="0">
                <a:latin typeface="Times New Roman" panose="02020603050405020304" charset="0"/>
                <a:ea typeface="+mj-ea"/>
                <a:cs typeface="Times New Roman" panose="02020603050405020304" charset="0"/>
                <a:sym typeface="Consolas" panose="020B0609020204030204" pitchFamily="49" charset="0"/>
              </a:rPr>
              <a:t>Queen</a:t>
            </a:r>
            <a:r>
              <a:rPr lang="zh-CN" altLang="en-US" dirty="0">
                <a:latin typeface="Times New Roman" panose="02020603050405020304" charset="0"/>
                <a:ea typeface="+mj-ea"/>
                <a:cs typeface="Times New Roman" panose="02020603050405020304" charset="0"/>
                <a:sym typeface="Consolas" panose="020B0609020204030204" pitchFamily="49" charset="0"/>
              </a:rPr>
              <a:t>邻域和</a:t>
            </a:r>
            <a:r>
              <a:rPr lang="en-US" altLang="zh-CN" dirty="0">
                <a:latin typeface="Times New Roman" panose="02020603050405020304" charset="0"/>
                <a:ea typeface="+mj-ea"/>
                <a:cs typeface="Times New Roman" panose="02020603050405020304" charset="0"/>
                <a:sym typeface="Consolas" panose="020B0609020204030204" pitchFamily="49" charset="0"/>
              </a:rPr>
              <a:t>Rook</a:t>
            </a:r>
            <a:r>
              <a:rPr lang="zh-CN" altLang="en-US" dirty="0">
                <a:latin typeface="Times New Roman" panose="02020603050405020304" charset="0"/>
                <a:ea typeface="+mj-ea"/>
                <a:cs typeface="Times New Roman" panose="02020603050405020304" charset="0"/>
                <a:sym typeface="Consolas" panose="020B0609020204030204" pitchFamily="49" charset="0"/>
              </a:rPr>
              <a:t>邻域。</a:t>
            </a:r>
          </a:p>
        </p:txBody>
      </p:sp>
      <p:pic>
        <p:nvPicPr>
          <p:cNvPr id="12" name="图片 11"/>
          <p:cNvPicPr>
            <a:picLocks noChangeAspect="1"/>
          </p:cNvPicPr>
          <p:nvPr/>
        </p:nvPicPr>
        <p:blipFill>
          <a:blip r:embed="rId2"/>
          <a:stretch>
            <a:fillRect/>
          </a:stretch>
        </p:blipFill>
        <p:spPr>
          <a:xfrm>
            <a:off x="4181524" y="3518858"/>
            <a:ext cx="780952" cy="66667"/>
          </a:xfrm>
          <a:prstGeom prst="rect">
            <a:avLst/>
          </a:prstGeom>
        </p:spPr>
      </p:pic>
      <p:sp>
        <p:nvSpPr>
          <p:cNvPr id="8" name="文本框 7"/>
          <p:cNvSpPr txBox="1"/>
          <p:nvPr/>
        </p:nvSpPr>
        <p:spPr>
          <a:xfrm>
            <a:off x="1753059" y="2356484"/>
            <a:ext cx="1249060" cy="369332"/>
          </a:xfrm>
          <a:prstGeom prst="rect">
            <a:avLst/>
          </a:prstGeom>
          <a:noFill/>
        </p:spPr>
        <p:txBody>
          <a:bodyPr wrap="none" rtlCol="0" anchor="t">
            <a:spAutoFit/>
          </a:bodyPr>
          <a:lstStyle/>
          <a:p>
            <a:r>
              <a:rPr lang="en-US" altLang="zh-CN" dirty="0">
                <a:latin typeface="+mn-lt"/>
                <a:ea typeface="+mj-ea"/>
                <a:sym typeface="Consolas" panose="020B0609020204030204" pitchFamily="49" charset="0"/>
              </a:rPr>
              <a:t>Queen</a:t>
            </a:r>
            <a:r>
              <a:rPr lang="zh-CN" altLang="en-US" dirty="0">
                <a:latin typeface="+mn-lt"/>
                <a:ea typeface="+mj-ea"/>
                <a:sym typeface="Consolas" panose="020B0609020204030204" pitchFamily="49" charset="0"/>
              </a:rPr>
              <a:t>邻域</a:t>
            </a:r>
            <a:endParaRPr lang="zh-CN" altLang="en-US" dirty="0">
              <a:latin typeface="+mn-lt"/>
              <a:ea typeface="+mj-ea"/>
            </a:endParaRPr>
          </a:p>
        </p:txBody>
      </p:sp>
      <p:sp>
        <p:nvSpPr>
          <p:cNvPr id="9" name="文本框 8"/>
          <p:cNvSpPr txBox="1"/>
          <p:nvPr/>
        </p:nvSpPr>
        <p:spPr>
          <a:xfrm>
            <a:off x="6150254" y="2356484"/>
            <a:ext cx="1146468" cy="369332"/>
          </a:xfrm>
          <a:prstGeom prst="rect">
            <a:avLst/>
          </a:prstGeom>
          <a:noFill/>
        </p:spPr>
        <p:txBody>
          <a:bodyPr wrap="none" rtlCol="0" anchor="t">
            <a:spAutoFit/>
          </a:bodyPr>
          <a:lstStyle/>
          <a:p>
            <a:r>
              <a:rPr lang="en-US" altLang="zh-CN" dirty="0">
                <a:latin typeface="+mn-lt"/>
                <a:ea typeface="+mj-ea"/>
                <a:sym typeface="Consolas" panose="020B0609020204030204" pitchFamily="49" charset="0"/>
              </a:rPr>
              <a:t>Rook</a:t>
            </a:r>
            <a:r>
              <a:rPr lang="zh-CN" altLang="en-US" dirty="0">
                <a:latin typeface="+mn-lt"/>
                <a:ea typeface="+mj-ea"/>
                <a:sym typeface="Consolas" panose="020B0609020204030204" pitchFamily="49" charset="0"/>
              </a:rPr>
              <a:t>邻域</a:t>
            </a:r>
            <a:endParaRPr lang="zh-CN" altLang="en-US" dirty="0">
              <a:latin typeface="+mn-lt"/>
              <a:ea typeface="+mj-ea"/>
            </a:endParaRPr>
          </a:p>
        </p:txBody>
      </p:sp>
      <p:pic>
        <p:nvPicPr>
          <p:cNvPr id="14" name="图片 13" descr="Rplot"/>
          <p:cNvPicPr>
            <a:picLocks noChangeAspect="1"/>
          </p:cNvPicPr>
          <p:nvPr/>
        </p:nvPicPr>
        <p:blipFill>
          <a:blip r:embed="rId3"/>
          <a:srcRect l="23100" t="11774" r="19722" b="14330"/>
          <a:stretch>
            <a:fillRect/>
          </a:stretch>
        </p:blipFill>
        <p:spPr>
          <a:xfrm>
            <a:off x="468629" y="2904489"/>
            <a:ext cx="3950971" cy="3115311"/>
          </a:xfrm>
          <a:prstGeom prst="rect">
            <a:avLst/>
          </a:prstGeom>
        </p:spPr>
      </p:pic>
      <p:pic>
        <p:nvPicPr>
          <p:cNvPr id="15" name="图片 14" descr="Rplot01"/>
          <p:cNvPicPr>
            <a:picLocks noChangeAspect="1"/>
          </p:cNvPicPr>
          <p:nvPr/>
        </p:nvPicPr>
        <p:blipFill>
          <a:blip r:embed="rId4"/>
          <a:srcRect l="23226" t="12581" r="19482" b="15510"/>
          <a:stretch>
            <a:fillRect/>
          </a:stretch>
        </p:blipFill>
        <p:spPr>
          <a:xfrm>
            <a:off x="4775836" y="2946399"/>
            <a:ext cx="3958591" cy="3031491"/>
          </a:xfrm>
          <a:prstGeom prst="rect">
            <a:avLst/>
          </a:prstGeom>
        </p:spPr>
      </p:pic>
      <p:sp>
        <p:nvSpPr>
          <p:cNvPr id="17" name="标题 14"/>
          <p:cNvSpPr>
            <a:spLocks noGrp="1"/>
          </p:cNvSpPr>
          <p:nvPr>
            <p:ph type="title"/>
          </p:nvPr>
        </p:nvSpPr>
        <p:spPr>
          <a:xfrm>
            <a:off x="1181100" y="342900"/>
            <a:ext cx="7007225" cy="663575"/>
          </a:xfrm>
        </p:spPr>
        <p:txBody>
          <a:bodyPr/>
          <a:lstStyle/>
          <a:p>
            <a:pPr algn="l"/>
            <a:r>
              <a:rPr lang="en-US" altLang="zh-CN" sz="3600" dirty="0"/>
              <a:t>8.3 </a:t>
            </a:r>
            <a:r>
              <a:rPr lang="zh-CN" altLang="en-US" sz="3600" dirty="0"/>
              <a:t>空间自相关分析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23</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346282" y="1540856"/>
            <a:ext cx="8450259" cy="732445"/>
          </a:xfrm>
          <a:prstGeom prst="rect">
            <a:avLst/>
          </a:prstGeom>
        </p:spPr>
        <p:txBody>
          <a:bodyPr wrap="square">
            <a:spAutoFit/>
          </a:bodyPr>
          <a:lstStyle/>
          <a:p>
            <a:pPr indent="457200">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点数据的空间邻域是基于点位之间距离的定义，一般为</a:t>
            </a:r>
            <a:r>
              <a:rPr lang="en-US" altLang="zh-CN" dirty="0">
                <a:latin typeface="Times New Roman" panose="02020603050405020304" charset="0"/>
                <a:ea typeface="+mj-ea"/>
                <a:cs typeface="Times New Roman" panose="02020603050405020304" charset="0"/>
                <a:sym typeface="Consolas" panose="020B0609020204030204" pitchFamily="49" charset="0"/>
              </a:rPr>
              <a:t>k</a:t>
            </a:r>
            <a:r>
              <a:rPr lang="zh-CN" altLang="en-US" dirty="0">
                <a:latin typeface="Times New Roman" panose="02020603050405020304" charset="0"/>
                <a:ea typeface="+mj-ea"/>
                <a:cs typeface="Times New Roman" panose="02020603050405020304" charset="0"/>
                <a:sym typeface="Consolas" panose="020B0609020204030204" pitchFamily="49" charset="0"/>
              </a:rPr>
              <a:t>最近邻域（</a:t>
            </a:r>
            <a:r>
              <a:rPr lang="en-US" altLang="zh-CN" dirty="0">
                <a:latin typeface="Times New Roman" panose="02020603050405020304" charset="0"/>
                <a:ea typeface="+mj-ea"/>
                <a:cs typeface="Times New Roman" panose="02020603050405020304" charset="0"/>
                <a:sym typeface="Consolas" panose="020B0609020204030204" pitchFamily="49" charset="0"/>
              </a:rPr>
              <a:t>k nearest </a:t>
            </a:r>
            <a:r>
              <a:rPr lang="en-US" altLang="zh-CN" dirty="0" err="1">
                <a:latin typeface="Times New Roman" panose="02020603050405020304" charset="0"/>
                <a:ea typeface="+mj-ea"/>
                <a:cs typeface="Times New Roman" panose="02020603050405020304" charset="0"/>
                <a:sym typeface="Consolas" panose="020B0609020204030204" pitchFamily="49" charset="0"/>
              </a:rPr>
              <a:t>neighbours</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KNN</a:t>
            </a:r>
            <a:r>
              <a:rPr lang="zh-CN" altLang="en-US" dirty="0">
                <a:latin typeface="Times New Roman" panose="02020603050405020304" charset="0"/>
                <a:ea typeface="+mj-ea"/>
                <a:cs typeface="Times New Roman" panose="02020603050405020304" charset="0"/>
                <a:sym typeface="Consolas" panose="020B0609020204030204" pitchFamily="49" charset="0"/>
              </a:rPr>
              <a:t>）</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9" name="图片 8"/>
          <p:cNvPicPr/>
          <p:nvPr/>
        </p:nvPicPr>
        <p:blipFill rotWithShape="1">
          <a:blip r:embed="rId3"/>
          <a:srcRect l="22850" t="11625" r="20820" b="13614"/>
          <a:stretch>
            <a:fillRect/>
          </a:stretch>
        </p:blipFill>
        <p:spPr bwMode="auto">
          <a:xfrm>
            <a:off x="1939762" y="3072943"/>
            <a:ext cx="4483524" cy="3635372"/>
          </a:xfrm>
          <a:prstGeom prst="rect">
            <a:avLst/>
          </a:prstGeom>
          <a:ln>
            <a:noFill/>
          </a:ln>
        </p:spPr>
      </p:pic>
      <p:sp>
        <p:nvSpPr>
          <p:cNvPr id="14" name="标题 14"/>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 </a:t>
            </a:r>
            <a:r>
              <a:rPr lang="zh-CN" altLang="en-US" sz="3600" dirty="0">
                <a:latin typeface="Times New Roman" panose="02020603050405020304" charset="0"/>
                <a:cs typeface="Times New Roman" panose="02020603050405020304" charset="0"/>
              </a:rPr>
              <a:t>空间自相关分析</a:t>
            </a:r>
          </a:p>
        </p:txBody>
      </p:sp>
      <p:sp>
        <p:nvSpPr>
          <p:cNvPr id="2" name="矩形 1"/>
          <p:cNvSpPr/>
          <p:nvPr/>
        </p:nvSpPr>
        <p:spPr>
          <a:xfrm>
            <a:off x="3863526" y="1066800"/>
            <a:ext cx="1415772"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空间邻域</a:t>
            </a:r>
          </a:p>
        </p:txBody>
      </p:sp>
      <p:sp>
        <p:nvSpPr>
          <p:cNvPr id="3" name="文本框 2"/>
          <p:cNvSpPr txBox="1"/>
          <p:nvPr/>
        </p:nvSpPr>
        <p:spPr>
          <a:xfrm>
            <a:off x="1676400" y="2249765"/>
            <a:ext cx="8069266" cy="81047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knn2nb(</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knearneigh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k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make.sym.nb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st_geometry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st_coordinates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add=T, 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24</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1021803" y="1871973"/>
            <a:ext cx="7131597" cy="400046"/>
          </a:xfrm>
          <a:prstGeom prst="rect">
            <a:avLst/>
          </a:prstGeom>
        </p:spPr>
        <p:txBody>
          <a:bodyPr wrap="square">
            <a:spAutoFit/>
          </a:bodyPr>
          <a:lstStyle/>
          <a:p>
            <a:pPr indent="457200">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莫兰指数（</a:t>
            </a:r>
            <a:r>
              <a:rPr lang="en-US" altLang="zh-CN" dirty="0">
                <a:latin typeface="Times New Roman" panose="02020603050405020304" charset="0"/>
                <a:ea typeface="+mj-ea"/>
                <a:cs typeface="Times New Roman" panose="02020603050405020304" charset="0"/>
                <a:sym typeface="Consolas" panose="020B0609020204030204" pitchFamily="49" charset="0"/>
              </a:rPr>
              <a:t>Moran’s I</a:t>
            </a:r>
            <a:r>
              <a:rPr lang="zh-CN" altLang="en-US" dirty="0">
                <a:latin typeface="Times New Roman" panose="02020603050405020304" charset="0"/>
                <a:ea typeface="+mj-ea"/>
                <a:cs typeface="Times New Roman" panose="02020603050405020304" charset="0"/>
                <a:sym typeface="Consolas" panose="020B0609020204030204" pitchFamily="49" charset="0"/>
              </a:rPr>
              <a:t>）是描述全局空间自相关最常用的度量。</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sp>
        <p:nvSpPr>
          <p:cNvPr id="7" name="文本框 6"/>
          <p:cNvSpPr txBox="1"/>
          <p:nvPr/>
        </p:nvSpPr>
        <p:spPr>
          <a:xfrm>
            <a:off x="249429" y="3971497"/>
            <a:ext cx="8894571" cy="1705403"/>
          </a:xfrm>
          <a:prstGeom prst="rect">
            <a:avLst/>
          </a:prstGeom>
          <a:noFill/>
        </p:spPr>
        <p:txBody>
          <a:bodyPr wrap="square" rtlCol="0">
            <a:spAutoFit/>
          </a:bodyPr>
          <a:lstStyle/>
          <a:p>
            <a:pPr algn="l">
              <a:lnSpc>
                <a:spcPct val="150000"/>
              </a:lnSpc>
            </a:pPr>
            <a:r>
              <a:rPr lang="zh-CN" altLang="en-US" dirty="0">
                <a:latin typeface="Times New Roman" panose="02020603050405020304" charset="0"/>
                <a:ea typeface="+mj-ea"/>
                <a:cs typeface="Times New Roman" panose="02020603050405020304" charset="0"/>
              </a:rPr>
              <a:t>经过方差归一化后，莫兰指数的值会被归一化到</a:t>
            </a:r>
            <a:r>
              <a:rPr lang="en-US" altLang="zh-CN" dirty="0">
                <a:latin typeface="Times New Roman" panose="02020603050405020304" charset="0"/>
                <a:ea typeface="+mj-ea"/>
                <a:cs typeface="Times New Roman" panose="02020603050405020304" charset="0"/>
              </a:rPr>
              <a:t>[-1, 1]</a:t>
            </a:r>
            <a:r>
              <a:rPr lang="zh-CN" altLang="en-US" dirty="0">
                <a:latin typeface="Times New Roman" panose="02020603050405020304" charset="0"/>
                <a:ea typeface="+mj-ea"/>
                <a:cs typeface="Times New Roman" panose="02020603050405020304" charset="0"/>
              </a:rPr>
              <a:t>之间：</a:t>
            </a:r>
          </a:p>
          <a:p>
            <a:pPr marL="285750" indent="-285750" algn="l">
              <a:lnSpc>
                <a:spcPct val="150000"/>
              </a:lnSpc>
              <a:buFont typeface="Wingdings" panose="05000000000000000000" pitchFamily="2" charset="2"/>
              <a:buChar char="ü"/>
            </a:pPr>
            <a:r>
              <a:rPr lang="zh-CN" altLang="en-US" dirty="0">
                <a:latin typeface="Times New Roman" panose="02020603050405020304" charset="0"/>
                <a:ea typeface="+mj-ea"/>
                <a:cs typeface="Times New Roman" panose="02020603050405020304" charset="0"/>
              </a:rPr>
              <a:t>正相关（</a:t>
            </a:r>
            <a:r>
              <a:rPr lang="en-US" altLang="zh-CN" dirty="0">
                <a:latin typeface="Times New Roman" panose="02020603050405020304" charset="0"/>
                <a:ea typeface="+mj-ea"/>
                <a:cs typeface="Times New Roman" panose="02020603050405020304" charset="0"/>
              </a:rPr>
              <a:t>I &gt; 0</a:t>
            </a:r>
            <a:r>
              <a:rPr lang="zh-CN" altLang="en-US" dirty="0">
                <a:latin typeface="Times New Roman" panose="02020603050405020304" charset="0"/>
                <a:ea typeface="+mj-ea"/>
                <a:cs typeface="Times New Roman" panose="02020603050405020304" charset="0"/>
              </a:rPr>
              <a:t>）：代表相邻地区的类似值出现聚集趋势，如高</a:t>
            </a:r>
            <a:r>
              <a:rPr lang="en-US" altLang="zh-CN" dirty="0">
                <a:latin typeface="Times New Roman" panose="02020603050405020304" charset="0"/>
                <a:ea typeface="+mj-ea"/>
                <a:cs typeface="Times New Roman" panose="02020603050405020304" charset="0"/>
              </a:rPr>
              <a:t>——</a:t>
            </a:r>
            <a:r>
              <a:rPr lang="zh-CN" altLang="en-US" dirty="0">
                <a:latin typeface="Times New Roman" panose="02020603050405020304" charset="0"/>
                <a:ea typeface="+mj-ea"/>
                <a:cs typeface="Times New Roman" panose="02020603050405020304" charset="0"/>
              </a:rPr>
              <a:t>高、低</a:t>
            </a:r>
            <a:r>
              <a:rPr lang="en-US" altLang="zh-CN" dirty="0">
                <a:latin typeface="Times New Roman" panose="02020603050405020304" charset="0"/>
                <a:ea typeface="+mj-ea"/>
                <a:cs typeface="Times New Roman" panose="02020603050405020304" charset="0"/>
              </a:rPr>
              <a:t>——</a:t>
            </a:r>
            <a:r>
              <a:rPr lang="zh-CN" altLang="en-US" dirty="0">
                <a:latin typeface="Times New Roman" panose="02020603050405020304" charset="0"/>
                <a:ea typeface="+mj-ea"/>
                <a:cs typeface="Times New Roman" panose="02020603050405020304" charset="0"/>
              </a:rPr>
              <a:t>低；</a:t>
            </a:r>
          </a:p>
          <a:p>
            <a:pPr marL="285750" indent="-285750" algn="l">
              <a:lnSpc>
                <a:spcPct val="150000"/>
              </a:lnSpc>
              <a:buFont typeface="Wingdings" panose="05000000000000000000" pitchFamily="2" charset="2"/>
              <a:buChar char="ü"/>
            </a:pPr>
            <a:r>
              <a:rPr lang="zh-CN" altLang="en-US" dirty="0">
                <a:latin typeface="Times New Roman" panose="02020603050405020304" charset="0"/>
                <a:ea typeface="+mj-ea"/>
                <a:cs typeface="Times New Roman" panose="02020603050405020304" charset="0"/>
                <a:sym typeface="+mn-ea"/>
              </a:rPr>
              <a:t>负相关（</a:t>
            </a:r>
            <a:r>
              <a:rPr lang="en-US" altLang="zh-CN" dirty="0">
                <a:latin typeface="Times New Roman" panose="02020603050405020304" charset="0"/>
                <a:ea typeface="+mj-ea"/>
                <a:cs typeface="Times New Roman" panose="02020603050405020304" charset="0"/>
                <a:sym typeface="+mn-ea"/>
              </a:rPr>
              <a:t>I &lt; 0</a:t>
            </a:r>
            <a:r>
              <a:rPr lang="zh-CN" altLang="en-US" dirty="0">
                <a:latin typeface="Times New Roman" panose="02020603050405020304" charset="0"/>
                <a:ea typeface="+mj-ea"/>
                <a:cs typeface="Times New Roman" panose="02020603050405020304" charset="0"/>
                <a:sym typeface="+mn-ea"/>
              </a:rPr>
              <a:t>）：代表出现相异属性值的聚集趋势，如高</a:t>
            </a:r>
            <a:r>
              <a:rPr lang="en-US" altLang="zh-CN" dirty="0">
                <a:latin typeface="Times New Roman" panose="02020603050405020304" charset="0"/>
                <a:ea typeface="+mj-ea"/>
                <a:cs typeface="Times New Roman" panose="02020603050405020304" charset="0"/>
                <a:sym typeface="+mn-ea"/>
              </a:rPr>
              <a:t>——</a:t>
            </a:r>
            <a:r>
              <a:rPr lang="zh-CN" altLang="en-US" dirty="0">
                <a:latin typeface="Times New Roman" panose="02020603050405020304" charset="0"/>
                <a:ea typeface="+mj-ea"/>
                <a:cs typeface="Times New Roman" panose="02020603050405020304" charset="0"/>
                <a:sym typeface="+mn-ea"/>
              </a:rPr>
              <a:t>低、低</a:t>
            </a:r>
            <a:r>
              <a:rPr lang="en-US" altLang="zh-CN" dirty="0">
                <a:latin typeface="Times New Roman" panose="02020603050405020304" charset="0"/>
                <a:ea typeface="+mj-ea"/>
                <a:cs typeface="Times New Roman" panose="02020603050405020304" charset="0"/>
                <a:sym typeface="+mn-ea"/>
              </a:rPr>
              <a:t>——</a:t>
            </a:r>
            <a:r>
              <a:rPr lang="zh-CN" altLang="en-US" dirty="0">
                <a:latin typeface="Times New Roman" panose="02020603050405020304" charset="0"/>
                <a:ea typeface="+mj-ea"/>
                <a:cs typeface="Times New Roman" panose="02020603050405020304" charset="0"/>
                <a:sym typeface="+mn-ea"/>
              </a:rPr>
              <a:t>高；</a:t>
            </a:r>
          </a:p>
          <a:p>
            <a:pPr marL="285750" indent="-285750" algn="l">
              <a:lnSpc>
                <a:spcPct val="150000"/>
              </a:lnSpc>
              <a:buFont typeface="Wingdings" panose="05000000000000000000" pitchFamily="2" charset="2"/>
              <a:buChar char="ü"/>
            </a:pPr>
            <a:r>
              <a:rPr lang="zh-CN" altLang="en-US" dirty="0">
                <a:latin typeface="Times New Roman" panose="02020603050405020304" charset="0"/>
                <a:ea typeface="+mj-ea"/>
                <a:cs typeface="Times New Roman" panose="02020603050405020304" charset="0"/>
              </a:rPr>
              <a:t>随机分布（</a:t>
            </a:r>
            <a:r>
              <a:rPr lang="en-US" altLang="zh-CN" dirty="0">
                <a:latin typeface="Times New Roman" panose="02020603050405020304" charset="0"/>
                <a:ea typeface="+mj-ea"/>
                <a:cs typeface="Times New Roman" panose="02020603050405020304" charset="0"/>
              </a:rPr>
              <a:t>I = 0</a:t>
            </a:r>
            <a:r>
              <a:rPr lang="zh-CN" altLang="en-US" dirty="0">
                <a:latin typeface="Times New Roman" panose="02020603050405020304" charset="0"/>
                <a:ea typeface="+mj-ea"/>
                <a:cs typeface="Times New Roman" panose="02020603050405020304" charset="0"/>
              </a:rPr>
              <a:t>）：代表属性值随机分布，不存在空间自相关特征。</a:t>
            </a:r>
            <a:endParaRPr lang="en-US" altLang="zh-CN" dirty="0">
              <a:latin typeface="Times New Roman" panose="02020603050405020304" charset="0"/>
              <a:ea typeface="+mj-ea"/>
              <a:cs typeface="Times New Roman" panose="02020603050405020304" charset="0"/>
            </a:endParaRPr>
          </a:p>
        </p:txBody>
      </p:sp>
      <p:sp>
        <p:nvSpPr>
          <p:cNvPr id="15" name="标题 14"/>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mc:AlternateContent xmlns:mc="http://schemas.openxmlformats.org/markup-compatibility/2006" xmlns:a14="http://schemas.microsoft.com/office/drawing/2010/main">
        <mc:Choice Requires="a14">
          <p:sp>
            <p:nvSpPr>
              <p:cNvPr id="2" name="文本框 1"/>
              <p:cNvSpPr txBox="1"/>
              <p:nvPr/>
            </p:nvSpPr>
            <p:spPr>
              <a:xfrm>
                <a:off x="2480642" y="2676096"/>
                <a:ext cx="4179542" cy="7198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𝐼</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𝑛</m:t>
                          </m:r>
                        </m:num>
                        <m:den>
                          <m:nary>
                            <m:naryPr>
                              <m:chr m:val="∑"/>
                              <m:limLoc m:val="subSup"/>
                              <m:supHide m:val="on"/>
                              <m:ctrlPr>
                                <a:rPr lang="en-US" altLang="zh-CN" sz="2000" b="0" i="1" smtClean="0">
                                  <a:latin typeface="Cambria Math" panose="02040503050406030204" pitchFamily="18" charset="0"/>
                                </a:rPr>
                              </m:ctrlPr>
                            </m:naryPr>
                            <m:sub>
                              <m:r>
                                <m:rPr>
                                  <m:brk m:alnAt="9"/>
                                </m:rPr>
                                <a:rPr lang="en-US" altLang="zh-CN" sz="2000" b="0" i="1" smtClean="0">
                                  <a:latin typeface="Cambria Math" panose="02040503050406030204" pitchFamily="18" charset="0"/>
                                </a:rPr>
                                <m:t>𝑖</m:t>
                              </m:r>
                            </m:sub>
                            <m:sup/>
                            <m:e>
                              <m:nary>
                                <m:naryPr>
                                  <m:chr m:val="∑"/>
                                  <m:limLoc m:val="subSup"/>
                                  <m:supHide m:val="on"/>
                                  <m:ctrlPr>
                                    <a:rPr lang="en-US" altLang="zh-CN" sz="2000" b="0" i="1" smtClean="0">
                                      <a:latin typeface="Cambria Math" panose="02040503050406030204" pitchFamily="18" charset="0"/>
                                    </a:rPr>
                                  </m:ctrlPr>
                                </m:naryPr>
                                <m:sub>
                                  <m:r>
                                    <m:rPr>
                                      <m:brk m:alnAt="9"/>
                                    </m:rPr>
                                    <a:rPr lang="en-US" altLang="zh-CN" sz="2000" b="0" i="1" smtClean="0">
                                      <a:latin typeface="Cambria Math" panose="02040503050406030204" pitchFamily="18" charset="0"/>
                                    </a:rPr>
                                    <m:t>𝑗</m:t>
                                  </m:r>
                                </m:sub>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𝑖𝑗</m:t>
                                      </m:r>
                                    </m:sub>
                                  </m:sSub>
                                </m:e>
                              </m:nary>
                            </m:e>
                          </m:nary>
                        </m:den>
                      </m:f>
                      <m:f>
                        <m:fPr>
                          <m:ctrlPr>
                            <a:rPr lang="en-US" altLang="zh-CN" sz="2000" b="0" i="1" smtClean="0">
                              <a:latin typeface="Cambria Math" panose="02040503050406030204" pitchFamily="18" charset="0"/>
                            </a:rPr>
                          </m:ctrlPr>
                        </m:fPr>
                        <m:num>
                          <m:nary>
                            <m:naryPr>
                              <m:chr m:val="∑"/>
                              <m:supHide m:val="on"/>
                              <m:ctrlPr>
                                <a:rPr lang="en-US" altLang="zh-CN" sz="2000" b="0" i="1" smtClean="0">
                                  <a:latin typeface="Cambria Math" panose="02040503050406030204" pitchFamily="18" charset="0"/>
                                </a:rPr>
                              </m:ctrlPr>
                            </m:naryPr>
                            <m:sub>
                              <m:r>
                                <m:rPr>
                                  <m:brk m:alnAt="7"/>
                                </m:rPr>
                                <a:rPr lang="en-US" altLang="zh-CN" sz="2000" b="0" i="1" smtClean="0">
                                  <a:latin typeface="Cambria Math" panose="02040503050406030204" pitchFamily="18" charset="0"/>
                                </a:rPr>
                                <m:t>𝑖</m:t>
                              </m:r>
                            </m:sub>
                            <m:sup/>
                            <m:e>
                              <m:nary>
                                <m:naryPr>
                                  <m:chr m:val="∑"/>
                                  <m:supHide m:val="on"/>
                                  <m:ctrlPr>
                                    <a:rPr lang="en-US" altLang="zh-CN" sz="2000" b="0" i="1" smtClean="0">
                                      <a:latin typeface="Cambria Math" panose="02040503050406030204" pitchFamily="18" charset="0"/>
                                    </a:rPr>
                                  </m:ctrlPr>
                                </m:naryPr>
                                <m:sub>
                                  <m:r>
                                    <m:rPr>
                                      <m:brk m:alnAt="7"/>
                                    </m:rPr>
                                    <a:rPr lang="en-US" altLang="zh-CN" sz="2000" b="0" i="1" smtClean="0">
                                      <a:latin typeface="Cambria Math" panose="02040503050406030204" pitchFamily="18" charset="0"/>
                                    </a:rPr>
                                    <m:t>𝑗</m:t>
                                  </m:r>
                                </m:sub>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a:latin typeface="Cambria Math" panose="02040503050406030204" pitchFamily="18" charset="0"/>
                                        </a:rPr>
                                        <m:t>𝑖𝑗</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𝑧</m:t>
                                      </m:r>
                                    </m:e>
                                  </m:acc>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𝑗</m:t>
                                      </m:r>
                                    </m:sub>
                                  </m:sSub>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𝑧</m:t>
                                      </m:r>
                                    </m:e>
                                  </m:acc>
                                  <m:r>
                                    <a:rPr lang="en-US" altLang="zh-CN" sz="2000" b="0" i="1" smtClean="0">
                                      <a:latin typeface="Cambria Math" panose="02040503050406030204" pitchFamily="18" charset="0"/>
                                    </a:rPr>
                                    <m:t>)</m:t>
                                  </m:r>
                                </m:e>
                              </m:nary>
                            </m:e>
                          </m:nary>
                        </m:num>
                        <m:den>
                          <m:nary>
                            <m:naryPr>
                              <m:chr m:val="∑"/>
                              <m:supHide m:val="on"/>
                              <m:ctrlPr>
                                <a:rPr lang="en-US" altLang="zh-CN" sz="2000" i="1" smtClean="0">
                                  <a:latin typeface="Cambria Math" panose="02040503050406030204" pitchFamily="18" charset="0"/>
                                </a:rPr>
                              </m:ctrlPr>
                            </m:naryPr>
                            <m:sub>
                              <m:r>
                                <a:rPr lang="en-US" altLang="zh-CN" sz="2000" b="0" i="1" smtClean="0">
                                  <a:latin typeface="Cambria Math" panose="02040503050406030204" pitchFamily="18" charset="0"/>
                                </a:rPr>
                                <m:t>𝑖</m:t>
                              </m:r>
                            </m:sub>
                            <m:sup/>
                            <m:e>
                              <m:r>
                                <a:rPr lang="en-US" altLang="zh-CN" sz="2000" i="1" smtClean="0">
                                  <a:latin typeface="Cambria Math" panose="02040503050406030204" pitchFamily="18" charset="0"/>
                                </a:rPr>
                                <m:t> </m:t>
                              </m:r>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𝑧</m:t>
                                  </m:r>
                                </m:e>
                              </m:acc>
                              <m:r>
                                <a:rPr lang="en-US" altLang="zh-CN" sz="2000" i="1">
                                  <a:latin typeface="Cambria Math" panose="02040503050406030204" pitchFamily="18" charset="0"/>
                                </a:rPr>
                                <m:t>)</m:t>
                              </m:r>
                            </m:e>
                          </m:nary>
                        </m:den>
                      </m:f>
                    </m:oMath>
                  </m:oMathPara>
                </a14:m>
                <a:endParaRPr lang="zh-CN" altLang="en-US" sz="2000" dirty="0"/>
              </a:p>
            </p:txBody>
          </p:sp>
        </mc:Choice>
        <mc:Fallback xmlns="">
          <p:sp>
            <p:nvSpPr>
              <p:cNvPr id="2" name="文本框 1"/>
              <p:cNvSpPr txBox="1">
                <a:spLocks noRot="1" noChangeAspect="1" noMove="1" noResize="1" noEditPoints="1" noAdjustHandles="1" noChangeArrowheads="1" noChangeShapeType="1" noTextEdit="1"/>
              </p:cNvSpPr>
              <p:nvPr/>
            </p:nvSpPr>
            <p:spPr>
              <a:xfrm>
                <a:off x="2480642" y="2676096"/>
                <a:ext cx="4179542" cy="719877"/>
              </a:xfrm>
              <a:prstGeom prst="rect">
                <a:avLst/>
              </a:prstGeom>
              <a:blipFill>
                <a:blip r:embed="rId3"/>
                <a:stretch>
                  <a:fillRect b="-847"/>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8759244F-B273-E557-60DD-C6C8784C29CF}"/>
              </a:ext>
            </a:extLst>
          </p:cNvPr>
          <p:cNvSpPr/>
          <p:nvPr/>
        </p:nvSpPr>
        <p:spPr>
          <a:xfrm>
            <a:off x="3875663" y="1066800"/>
            <a:ext cx="1415772"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莫兰指数</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25</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1650" y="1638300"/>
            <a:ext cx="8137525" cy="1544590"/>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函数包</a:t>
            </a:r>
            <a:r>
              <a:rPr lang="en-US" altLang="zh-CN" dirty="0" err="1">
                <a:latin typeface="Times New Roman" panose="02020603050405020304" charset="0"/>
                <a:ea typeface="+mj-ea"/>
                <a:cs typeface="Times New Roman" panose="02020603050405020304" charset="0"/>
                <a:sym typeface="Consolas" panose="020B0609020204030204" pitchFamily="49" charset="0"/>
              </a:rPr>
              <a:t>spdep</a:t>
            </a:r>
            <a:r>
              <a:rPr lang="zh-CN" altLang="en-US" dirty="0">
                <a:latin typeface="Times New Roman" panose="02020603050405020304" charset="0"/>
                <a:ea typeface="+mj-ea"/>
                <a:cs typeface="Times New Roman" panose="02020603050405020304" charset="0"/>
                <a:sym typeface="Consolas" panose="020B0609020204030204" pitchFamily="49" charset="0"/>
              </a:rPr>
              <a:t>提供了</a:t>
            </a:r>
            <a:r>
              <a:rPr lang="en-US" altLang="zh-CN" dirty="0" err="1">
                <a:latin typeface="Times New Roman" panose="02020603050405020304" charset="0"/>
                <a:ea typeface="+mj-ea"/>
                <a:cs typeface="Times New Roman" panose="02020603050405020304" charset="0"/>
                <a:sym typeface="Consolas" panose="020B0609020204030204" pitchFamily="49" charset="0"/>
              </a:rPr>
              <a:t>moran</a:t>
            </a:r>
            <a:r>
              <a:rPr lang="zh-CN" altLang="en-US" dirty="0">
                <a:latin typeface="Times New Roman" panose="02020603050405020304" charset="0"/>
                <a:ea typeface="+mj-ea"/>
                <a:cs typeface="Times New Roman" panose="02020603050405020304" charset="0"/>
                <a:sym typeface="Consolas" panose="020B0609020204030204" pitchFamily="49" charset="0"/>
              </a:rPr>
              <a:t>函数计算莫兰指数，以</a:t>
            </a:r>
            <a:r>
              <a:rPr lang="en-US" altLang="zh-CN" dirty="0">
                <a:latin typeface="Times New Roman" panose="02020603050405020304" charset="0"/>
                <a:ea typeface="+mj-ea"/>
                <a:cs typeface="Times New Roman" panose="02020603050405020304" charset="0"/>
                <a:sym typeface="Consolas" panose="020B0609020204030204" pitchFamily="49" charset="0"/>
              </a:rPr>
              <a:t>WHHP</a:t>
            </a:r>
            <a:r>
              <a:rPr lang="zh-CN" altLang="en-US" dirty="0">
                <a:latin typeface="Times New Roman" panose="02020603050405020304" charset="0"/>
                <a:ea typeface="+mj-ea"/>
                <a:cs typeface="Times New Roman" panose="02020603050405020304" charset="0"/>
                <a:sym typeface="Consolas" panose="020B0609020204030204" pitchFamily="49" charset="0"/>
              </a:rPr>
              <a:t>数据中的房屋价格为例，基于空间邻域计算，得出其对应的莫兰指数为</a:t>
            </a:r>
            <a:r>
              <a:rPr lang="en-US" altLang="zh-CN" dirty="0">
                <a:latin typeface="Times New Roman" panose="02020603050405020304" charset="0"/>
                <a:ea typeface="+mj-ea"/>
                <a:cs typeface="Times New Roman" panose="02020603050405020304" charset="0"/>
                <a:sym typeface="Consolas" panose="020B0609020204030204" pitchFamily="49" charset="0"/>
              </a:rPr>
              <a:t>0.916</a:t>
            </a:r>
            <a:r>
              <a:rPr lang="zh-CN" altLang="en-US" dirty="0">
                <a:latin typeface="Times New Roman" panose="02020603050405020304" charset="0"/>
                <a:ea typeface="+mj-ea"/>
                <a:cs typeface="Times New Roman" panose="02020603050405020304" charset="0"/>
                <a:sym typeface="Consolas" panose="020B0609020204030204" pitchFamily="49" charset="0"/>
              </a:rPr>
              <a:t>，说明武汉市房价存在着正相关特征，即出现了高</a:t>
            </a:r>
            <a:r>
              <a:rPr lang="en-US" altLang="zh-CN" dirty="0">
                <a:latin typeface="Times New Roman" panose="02020603050405020304" charset="0"/>
                <a:ea typeface="+mj-ea"/>
                <a:cs typeface="Times New Roman" panose="02020603050405020304" charset="0"/>
                <a:sym typeface="Consolas" panose="020B0609020204030204" pitchFamily="49" charset="0"/>
              </a:rPr>
              <a:t>—</a:t>
            </a:r>
            <a:r>
              <a:rPr lang="zh-CN" altLang="en-US" dirty="0">
                <a:latin typeface="Times New Roman" panose="02020603050405020304" charset="0"/>
                <a:ea typeface="+mj-ea"/>
                <a:cs typeface="Times New Roman" panose="02020603050405020304" charset="0"/>
                <a:sym typeface="Consolas" panose="020B0609020204030204" pitchFamily="49" charset="0"/>
              </a:rPr>
              <a:t>高、低</a:t>
            </a:r>
            <a:r>
              <a:rPr lang="en-US" altLang="zh-CN" dirty="0">
                <a:latin typeface="Times New Roman" panose="02020603050405020304" charset="0"/>
                <a:ea typeface="+mj-ea"/>
                <a:cs typeface="Times New Roman" panose="02020603050405020304" charset="0"/>
                <a:sym typeface="Consolas" panose="020B0609020204030204" pitchFamily="49" charset="0"/>
              </a:rPr>
              <a:t>—</a:t>
            </a:r>
            <a:r>
              <a:rPr lang="zh-CN" altLang="en-US" dirty="0">
                <a:latin typeface="Times New Roman" panose="02020603050405020304" charset="0"/>
                <a:ea typeface="+mj-ea"/>
                <a:cs typeface="Times New Roman" panose="02020603050405020304" charset="0"/>
                <a:sym typeface="Consolas" panose="020B0609020204030204" pitchFamily="49" charset="0"/>
              </a:rPr>
              <a:t>低的聚集模式。</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a:lnSpc>
                <a:spcPct val="120000"/>
              </a:lnSpc>
            </a:pPr>
            <a:endParaRPr lang="en-US" altLang="zh-CN" sz="12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p:txBody>
      </p:sp>
      <p:pic>
        <p:nvPicPr>
          <p:cNvPr id="10" name="图片 9"/>
          <p:cNvPicPr/>
          <p:nvPr/>
        </p:nvPicPr>
        <p:blipFill>
          <a:blip r:embed="rId2">
            <a:extLst>
              <a:ext uri="{28A0092B-C50C-407E-A947-70E740481C1C}">
                <a14:useLocalDpi xmlns:a14="http://schemas.microsoft.com/office/drawing/2010/main" val="0"/>
              </a:ext>
            </a:extLst>
          </a:blip>
          <a:srcRect/>
          <a:stretch>
            <a:fillRect/>
          </a:stretch>
        </p:blipFill>
        <p:spPr bwMode="auto">
          <a:xfrm>
            <a:off x="3497262" y="4610100"/>
            <a:ext cx="2146300" cy="688975"/>
          </a:xfrm>
          <a:prstGeom prst="rect">
            <a:avLst/>
          </a:prstGeom>
          <a:noFill/>
          <a:ln>
            <a:noFill/>
          </a:ln>
        </p:spPr>
      </p:pic>
      <p:sp>
        <p:nvSpPr>
          <p:cNvPr id="6" name="文本框 5"/>
          <p:cNvSpPr txBox="1"/>
          <p:nvPr/>
        </p:nvSpPr>
        <p:spPr>
          <a:xfrm>
            <a:off x="1905000" y="3390900"/>
            <a:ext cx="5829300" cy="61664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WHHPnb_s,style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"W")</a:t>
            </a: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str(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moran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col.W,length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Szero</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p>
        </p:txBody>
      </p:sp>
      <p:sp>
        <p:nvSpPr>
          <p:cNvPr id="7" name="标题 14">
            <a:extLst>
              <a:ext uri="{FF2B5EF4-FFF2-40B4-BE49-F238E27FC236}">
                <a16:creationId xmlns:a16="http://schemas.microsoft.com/office/drawing/2014/main" id="{5C761EF3-C680-A699-ED3E-43E5A028493D}"/>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26</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143000"/>
            <a:ext cx="8137525" cy="732445"/>
          </a:xfrm>
          <a:prstGeom prst="rect">
            <a:avLst/>
          </a:prstGeom>
        </p:spPr>
        <p:txBody>
          <a:bodyPr wrap="square">
            <a:spAutoFit/>
          </a:bodyPr>
          <a:lstStyle/>
          <a:p>
            <a:pPr indent="457200">
              <a:lnSpc>
                <a:spcPct val="120000"/>
              </a:lnSpc>
            </a:pPr>
            <a:r>
              <a:rPr lang="zh-CN" altLang="en-US"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为了检验莫兰指数的显著性水平，</a:t>
            </a:r>
            <a:r>
              <a:rPr lang="en-US" altLang="zh-CN" dirty="0" err="1">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moran.test</a:t>
            </a:r>
            <a:r>
              <a:rPr lang="zh-CN" altLang="en-US"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函数提供了随机检验和正态近似检验两种方法：</a:t>
            </a:r>
            <a:endPar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13" name="图片 12"/>
          <p:cNvPicPr/>
          <p:nvPr/>
        </p:nvPicPr>
        <p:blipFill>
          <a:blip r:embed="rId3"/>
          <a:stretch>
            <a:fillRect/>
          </a:stretch>
        </p:blipFill>
        <p:spPr>
          <a:xfrm>
            <a:off x="2220015" y="2400300"/>
            <a:ext cx="4702811" cy="1626235"/>
          </a:xfrm>
          <a:prstGeom prst="rect">
            <a:avLst/>
          </a:prstGeom>
          <a:ln>
            <a:solidFill>
              <a:schemeClr val="accent1"/>
            </a:solidFill>
          </a:ln>
        </p:spPr>
      </p:pic>
      <p:sp>
        <p:nvSpPr>
          <p:cNvPr id="3" name="文本框 2"/>
          <p:cNvSpPr txBox="1"/>
          <p:nvPr/>
        </p:nvSpPr>
        <p:spPr>
          <a:xfrm>
            <a:off x="820419" y="1905000"/>
            <a:ext cx="7607300" cy="45140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moran_WHHP_rn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moran.test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moran_WHHP_rn</a:t>
            </a:r>
            <a:endParaRPr lang="zh-CN" altLang="zh-CN" sz="1600" dirty="0">
              <a:latin typeface="Times New Roman" panose="02020603050405020304" charset="0"/>
              <a:ea typeface="宋体" panose="02010600030101010101" pitchFamily="2" charset="-122"/>
            </a:endParaRPr>
          </a:p>
        </p:txBody>
      </p:sp>
      <p:sp>
        <p:nvSpPr>
          <p:cNvPr id="5" name="文本框 4"/>
          <p:cNvSpPr txBox="1"/>
          <p:nvPr/>
        </p:nvSpPr>
        <p:spPr>
          <a:xfrm>
            <a:off x="802639" y="4191000"/>
            <a:ext cx="8069266" cy="45140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marL="0" marR="0" indent="0" algn="l">
              <a:lnSpc>
                <a:spcPts val="1425"/>
              </a:lnSpc>
              <a:buNone/>
            </a:pP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moran_WHHP_nor</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moran.test</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a:t>
            </a:r>
            <a:r>
              <a:rPr lang="en-US" altLang="zh-CN" sz="1200" kern="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Avg_HP</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listw</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nb2listw(</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WHHPnb_s</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randomisation</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200" kern="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2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200" dirty="0">
              <a:effectLst/>
              <a:latin typeface="Times New Roman" panose="02020603050405020304" charset="0"/>
              <a:ea typeface="宋体" panose="02010600030101010101" pitchFamily="2" charset="-122"/>
            </a:endParaRPr>
          </a:p>
          <a:p>
            <a:pPr marL="0" marR="0" indent="0" algn="l">
              <a:lnSpc>
                <a:spcPts val="1425"/>
              </a:lnSpc>
            </a:pPr>
            <a:r>
              <a:rPr lang="en-US" altLang="zh-CN" sz="12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moran_WHHP_nor</a:t>
            </a:r>
            <a:endParaRPr lang="en-US" altLang="zh-CN" sz="1200" dirty="0">
              <a:effectLst/>
              <a:latin typeface="Times New Roman" panose="02020603050405020304" charset="0"/>
              <a:ea typeface="宋体" panose="02010600030101010101" pitchFamily="2" charset="-122"/>
            </a:endParaRPr>
          </a:p>
        </p:txBody>
      </p:sp>
      <p:pic>
        <p:nvPicPr>
          <p:cNvPr id="6"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2303780" y="4786914"/>
            <a:ext cx="4460240" cy="1540510"/>
          </a:xfrm>
          <a:prstGeom prst="rect">
            <a:avLst/>
          </a:prstGeom>
          <a:noFill/>
          <a:ln>
            <a:solidFill>
              <a:schemeClr val="accent1"/>
            </a:solidFill>
          </a:ln>
        </p:spPr>
      </p:pic>
      <p:sp>
        <p:nvSpPr>
          <p:cNvPr id="9" name="标题 14">
            <a:extLst>
              <a:ext uri="{FF2B5EF4-FFF2-40B4-BE49-F238E27FC236}">
                <a16:creationId xmlns:a16="http://schemas.microsoft.com/office/drawing/2014/main" id="{2A8D4B26-04C3-5F5D-2395-51EDCBC2CB45}"/>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27</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729455" y="1923845"/>
            <a:ext cx="7685088" cy="732445"/>
          </a:xfrm>
          <a:prstGeom prst="rect">
            <a:avLst/>
          </a:prstGeom>
        </p:spPr>
        <p:txBody>
          <a:bodyPr wrap="square">
            <a:spAutoFit/>
          </a:bodyPr>
          <a:lstStyle/>
          <a:p>
            <a:pPr indent="457200">
              <a:lnSpc>
                <a:spcPct val="120000"/>
              </a:lnSpc>
            </a:pPr>
            <a:r>
              <a:rPr lang="zh-CN" altLang="en-US" dirty="0">
                <a:latin typeface="+mn-lt"/>
                <a:ea typeface="+mj-ea"/>
                <a:sym typeface="Consolas" panose="020B0609020204030204" pitchFamily="49" charset="0"/>
              </a:rPr>
              <a:t>除了莫兰指数之外，</a:t>
            </a:r>
            <a:r>
              <a:rPr lang="en-US" altLang="zh-CN" dirty="0">
                <a:latin typeface="+mn-lt"/>
                <a:ea typeface="+mj-ea"/>
                <a:sym typeface="Consolas" panose="020B0609020204030204" pitchFamily="49" charset="0"/>
              </a:rPr>
              <a:t>Geary</a:t>
            </a:r>
            <a:r>
              <a:rPr lang="zh-CN" altLang="en-US" dirty="0">
                <a:latin typeface="+mn-lt"/>
                <a:ea typeface="+mj-ea"/>
                <a:sym typeface="Consolas" panose="020B0609020204030204" pitchFamily="49" charset="0"/>
              </a:rPr>
              <a:t>系数（</a:t>
            </a:r>
            <a:r>
              <a:rPr lang="en-US" altLang="zh-CN" dirty="0">
                <a:latin typeface="+mn-lt"/>
                <a:ea typeface="+mj-ea"/>
                <a:sym typeface="Consolas" panose="020B0609020204030204" pitchFamily="49" charset="0"/>
              </a:rPr>
              <a:t>Geary’s C</a:t>
            </a:r>
            <a:r>
              <a:rPr lang="zh-CN" altLang="en-US" dirty="0">
                <a:latin typeface="+mn-lt"/>
                <a:ea typeface="+mj-ea"/>
                <a:sym typeface="Consolas" panose="020B0609020204030204" pitchFamily="49" charset="0"/>
              </a:rPr>
              <a:t>）是另一个空间自相关的常用度量。</a:t>
            </a:r>
            <a:endParaRPr lang="en-US" altLang="zh-CN" dirty="0">
              <a:latin typeface="+mn-lt"/>
              <a:ea typeface="+mj-ea"/>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sp>
        <p:nvSpPr>
          <p:cNvPr id="7" name="矩形 6"/>
          <p:cNvSpPr/>
          <p:nvPr/>
        </p:nvSpPr>
        <p:spPr>
          <a:xfrm>
            <a:off x="3292004" y="4000500"/>
            <a:ext cx="2536894" cy="1705403"/>
          </a:xfrm>
          <a:prstGeom prst="rect">
            <a:avLst/>
          </a:prstGeom>
        </p:spPr>
        <p:txBody>
          <a:bodyPr wrap="square">
            <a:spAutoFit/>
          </a:bodyPr>
          <a:lstStyle/>
          <a:p>
            <a:pPr>
              <a:lnSpc>
                <a:spcPct val="150000"/>
              </a:lnSpc>
            </a:pPr>
            <a:r>
              <a:rPr lang="en-US" dirty="0">
                <a:latin typeface="+mn-lt"/>
                <a:ea typeface="+mj-ea"/>
                <a:sym typeface="Consolas" panose="020B0609020204030204" pitchFamily="49" charset="0"/>
              </a:rPr>
              <a:t>C</a:t>
            </a:r>
            <a:r>
              <a:rPr lang="zh-CN" altLang="en-US" dirty="0">
                <a:latin typeface="+mn-lt"/>
                <a:ea typeface="+mj-ea"/>
                <a:sym typeface="Consolas" panose="020B0609020204030204" pitchFamily="49" charset="0"/>
              </a:rPr>
              <a:t>的取值范围为</a:t>
            </a:r>
            <a:r>
              <a:rPr lang="en-US" altLang="zh-CN" dirty="0">
                <a:latin typeface="+mn-lt"/>
                <a:ea typeface="+mj-ea"/>
                <a:sym typeface="Consolas" panose="020B0609020204030204" pitchFamily="49" charset="0"/>
              </a:rPr>
              <a:t>[0, 2]:</a:t>
            </a:r>
          </a:p>
          <a:p>
            <a:pPr marL="285750" indent="-285750">
              <a:lnSpc>
                <a:spcPct val="150000"/>
              </a:lnSpc>
              <a:buFont typeface="Wingdings" panose="05000000000000000000" pitchFamily="2" charset="2"/>
              <a:buChar char="ü"/>
            </a:pPr>
            <a:r>
              <a:rPr lang="zh-CN" altLang="en-US" dirty="0">
                <a:latin typeface="+mn-lt"/>
                <a:ea typeface="+mj-ea"/>
                <a:sym typeface="Consolas" panose="020B0609020204030204" pitchFamily="49" charset="0"/>
              </a:rPr>
              <a:t>大于</a:t>
            </a:r>
            <a:r>
              <a:rPr lang="en-US" altLang="zh-CN" dirty="0">
                <a:latin typeface="+mn-lt"/>
                <a:ea typeface="+mj-ea"/>
                <a:sym typeface="Consolas" panose="020B0609020204030204" pitchFamily="49" charset="0"/>
              </a:rPr>
              <a:t>1</a:t>
            </a:r>
            <a:r>
              <a:rPr lang="zh-CN" altLang="en-US" dirty="0">
                <a:latin typeface="+mn-lt"/>
                <a:ea typeface="+mj-ea"/>
                <a:sym typeface="Consolas" panose="020B0609020204030204" pitchFamily="49" charset="0"/>
              </a:rPr>
              <a:t>表示负相关，</a:t>
            </a:r>
            <a:endParaRPr lang="en-US" altLang="zh-CN" dirty="0">
              <a:latin typeface="+mn-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n-lt"/>
                <a:ea typeface="+mj-ea"/>
                <a:sym typeface="Consolas" panose="020B0609020204030204" pitchFamily="49" charset="0"/>
              </a:rPr>
              <a:t>等于</a:t>
            </a:r>
            <a:r>
              <a:rPr lang="en-US" altLang="zh-CN" dirty="0">
                <a:latin typeface="+mn-lt"/>
                <a:ea typeface="+mj-ea"/>
                <a:sym typeface="Consolas" panose="020B0609020204030204" pitchFamily="49" charset="0"/>
              </a:rPr>
              <a:t>1</a:t>
            </a:r>
            <a:r>
              <a:rPr lang="zh-CN" altLang="en-US" dirty="0">
                <a:latin typeface="+mn-lt"/>
                <a:ea typeface="+mj-ea"/>
                <a:sym typeface="Consolas" panose="020B0609020204030204" pitchFamily="49" charset="0"/>
              </a:rPr>
              <a:t>表示不相关，</a:t>
            </a:r>
            <a:endParaRPr lang="en-US" altLang="zh-CN" dirty="0">
              <a:latin typeface="+mn-lt"/>
              <a:ea typeface="+mj-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n-lt"/>
                <a:ea typeface="+mj-ea"/>
                <a:sym typeface="Consolas" panose="020B0609020204030204" pitchFamily="49" charset="0"/>
              </a:rPr>
              <a:t>小于</a:t>
            </a:r>
            <a:r>
              <a:rPr lang="en-US" altLang="zh-CN" dirty="0">
                <a:latin typeface="+mn-lt"/>
                <a:ea typeface="+mj-ea"/>
                <a:sym typeface="Consolas" panose="020B0609020204030204" pitchFamily="49" charset="0"/>
              </a:rPr>
              <a:t>1</a:t>
            </a:r>
            <a:r>
              <a:rPr lang="zh-CN" altLang="en-US" dirty="0">
                <a:latin typeface="+mn-lt"/>
                <a:ea typeface="+mj-ea"/>
                <a:sym typeface="Consolas" panose="020B0609020204030204" pitchFamily="49" charset="0"/>
              </a:rPr>
              <a:t>表示正相关。</a:t>
            </a:r>
          </a:p>
        </p:txBody>
      </p:sp>
      <mc:AlternateContent xmlns:mc="http://schemas.openxmlformats.org/markup-compatibility/2006" xmlns:a14="http://schemas.microsoft.com/office/drawing/2010/main">
        <mc:Choice Requires="a14">
          <p:sp>
            <p:nvSpPr>
              <p:cNvPr id="8" name="文本框 7"/>
              <p:cNvSpPr txBox="1"/>
              <p:nvPr/>
            </p:nvSpPr>
            <p:spPr>
              <a:xfrm>
                <a:off x="2263115" y="2773956"/>
                <a:ext cx="4617768" cy="92858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𝑐</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𝑖𝑗</m:t>
                                      </m:r>
                                    </m:sub>
                                  </m:sSub>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𝑧</m:t>
                                          </m:r>
                                        </m:e>
                                        <m:sub>
                                          <m:r>
                                            <a:rPr lang="en-US" altLang="zh-CN" sz="2400" i="1">
                                              <a:latin typeface="Cambria Math" panose="02040503050406030204" pitchFamily="18" charset="0"/>
                                            </a:rPr>
                                            <m:t>𝑗</m:t>
                                          </m:r>
                                        </m:sub>
                                      </m:sSub>
                                      <m:r>
                                        <a:rPr lang="en-US" altLang="zh-CN" sz="2400" i="1">
                                          <a:latin typeface="Cambria Math" panose="02040503050406030204" pitchFamily="18" charset="0"/>
                                        </a:rPr>
                                        <m:t>)</m:t>
                                      </m:r>
                                    </m:e>
                                    <m:sup>
                                      <m:r>
                                        <a:rPr lang="en-US" altLang="zh-CN" sz="2400" b="0" i="1" smtClean="0">
                                          <a:latin typeface="Cambria Math" panose="02040503050406030204" pitchFamily="18" charset="0"/>
                                        </a:rPr>
                                        <m:t>2</m:t>
                                      </m:r>
                                    </m:sup>
                                  </m:sSup>
                                </m:e>
                              </m:nary>
                            </m:e>
                          </m:nary>
                        </m:num>
                        <m:den>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𝑆</m:t>
                                  </m:r>
                                </m:e>
                                <m:sub>
                                  <m:r>
                                    <a:rPr lang="en-US" altLang="zh-CN" sz="2400" i="1">
                                      <a:latin typeface="Cambria Math" panose="02040503050406030204" pitchFamily="18" charset="0"/>
                                    </a:rPr>
                                    <m:t>𝑍</m:t>
                                  </m:r>
                                </m:sub>
                              </m:sSub>
                            </m:e>
                            <m:sup>
                              <m:r>
                                <a:rPr lang="en-US" altLang="zh-CN" sz="2400" i="1">
                                  <a:latin typeface="Cambria Math" panose="02040503050406030204" pitchFamily="18" charset="0"/>
                                </a:rPr>
                                <m:t>2</m:t>
                              </m:r>
                            </m:sup>
                          </m:sSup>
                          <m:r>
                            <a:rPr lang="en-US" altLang="zh-CN" sz="2400" b="0" i="1" smtClean="0">
                              <a:latin typeface="Cambria Math" panose="02040503050406030204" pitchFamily="18" charset="0"/>
                            </a:rPr>
                            <m:t>2</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𝑤</m:t>
                                      </m:r>
                                    </m:e>
                                    <m:sub>
                                      <m:r>
                                        <a:rPr lang="en-US" altLang="zh-CN" sz="2400" b="0" i="1" smtClean="0">
                                          <a:latin typeface="Cambria Math" panose="02040503050406030204" pitchFamily="18" charset="0"/>
                                        </a:rPr>
                                        <m:t>𝑖𝑗</m:t>
                                      </m:r>
                                    </m:sub>
                                  </m:sSub>
                                </m:e>
                              </m:nary>
                            </m:e>
                          </m:nary>
                        </m:den>
                      </m:f>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2263115" y="2773956"/>
                <a:ext cx="4617768" cy="928588"/>
              </a:xfrm>
              <a:prstGeom prst="rect">
                <a:avLst/>
              </a:prstGeom>
              <a:blipFill rotWithShape="1">
                <a:blip r:embed="rId3"/>
                <a:stretch>
                  <a:fillRect l="-13" t="-30" b="-6306"/>
                </a:stretch>
              </a:blipFill>
            </p:spPr>
            <p:txBody>
              <a:bodyPr/>
              <a:lstStyle/>
              <a:p>
                <a:r>
                  <a:rPr lang="zh-CN" altLang="en-US">
                    <a:noFill/>
                  </a:rPr>
                  <a:t> </a:t>
                </a:r>
              </a:p>
            </p:txBody>
          </p:sp>
        </mc:Fallback>
      </mc:AlternateContent>
      <p:sp>
        <p:nvSpPr>
          <p:cNvPr id="10" name="标题 14">
            <a:extLst>
              <a:ext uri="{FF2B5EF4-FFF2-40B4-BE49-F238E27FC236}">
                <a16:creationId xmlns:a16="http://schemas.microsoft.com/office/drawing/2014/main" id="{C07AE9BC-148E-952F-4B91-31561881F4C2}"/>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
        <p:nvSpPr>
          <p:cNvPr id="14" name="矩形 13">
            <a:extLst>
              <a:ext uri="{FF2B5EF4-FFF2-40B4-BE49-F238E27FC236}">
                <a16:creationId xmlns:a16="http://schemas.microsoft.com/office/drawing/2014/main" id="{A6882729-25E5-5080-9666-CBDD9114FA44}"/>
              </a:ext>
            </a:extLst>
          </p:cNvPr>
          <p:cNvSpPr/>
          <p:nvPr/>
        </p:nvSpPr>
        <p:spPr>
          <a:xfrm>
            <a:off x="3758644" y="1066800"/>
            <a:ext cx="1649812" cy="502638"/>
          </a:xfrm>
          <a:prstGeom prst="rect">
            <a:avLst/>
          </a:prstGeom>
        </p:spPr>
        <p:txBody>
          <a:bodyPr wrap="none">
            <a:spAutoFit/>
          </a:bodyPr>
          <a:lstStyle/>
          <a:p>
            <a:pPr algn="ctr">
              <a:lnSpc>
                <a:spcPct val="120000"/>
              </a:lnSpc>
            </a:pPr>
            <a:r>
              <a:rPr lang="en-US" altLang="zh-CN" sz="2400" b="1" dirty="0">
                <a:latin typeface="+mn-lt"/>
                <a:ea typeface="微软雅黑" panose="020B0503020204020204" pitchFamily="34" charset="-122"/>
                <a:cs typeface="+mn-ea"/>
                <a:sym typeface="Consolas" panose="020B0609020204030204" pitchFamily="49" charset="0"/>
              </a:rPr>
              <a:t>Geary</a:t>
            </a:r>
            <a:r>
              <a:rPr lang="zh-CN" altLang="en-US" sz="2400" b="1" dirty="0">
                <a:latin typeface="+mn-lt"/>
                <a:ea typeface="微软雅黑" panose="020B0503020204020204" pitchFamily="34" charset="-122"/>
                <a:cs typeface="+mn-ea"/>
                <a:sym typeface="Consolas" panose="020B0609020204030204" pitchFamily="49" charset="0"/>
              </a:rPr>
              <a:t>系数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28</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514786" y="1714500"/>
            <a:ext cx="8137525" cy="1232004"/>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求出得</a:t>
            </a:r>
            <a:r>
              <a:rPr lang="en-US" altLang="zh-CN" dirty="0">
                <a:latin typeface="+mn-lt"/>
                <a:ea typeface="+mj-ea"/>
                <a:sym typeface="Consolas" panose="020B0609020204030204" pitchFamily="49" charset="0"/>
              </a:rPr>
              <a:t>WHHP</a:t>
            </a:r>
            <a:r>
              <a:rPr lang="zh-CN" altLang="en-US" dirty="0">
                <a:latin typeface="+mn-lt"/>
                <a:ea typeface="+mj-ea"/>
                <a:sym typeface="Consolas" panose="020B0609020204030204" pitchFamily="49" charset="0"/>
              </a:rPr>
              <a:t>数据房屋价格对应的</a:t>
            </a:r>
            <a:r>
              <a:rPr lang="en-US" altLang="zh-CN" dirty="0">
                <a:latin typeface="+mn-lt"/>
                <a:ea typeface="+mj-ea"/>
                <a:sym typeface="Consolas" panose="020B0609020204030204" pitchFamily="49" charset="0"/>
              </a:rPr>
              <a:t>Geary</a:t>
            </a:r>
            <a:r>
              <a:rPr lang="zh-CN" altLang="en-US" dirty="0">
                <a:latin typeface="+mn-lt"/>
                <a:ea typeface="+mj-ea"/>
                <a:sym typeface="Consolas" panose="020B0609020204030204" pitchFamily="49" charset="0"/>
              </a:rPr>
              <a:t>系数为</a:t>
            </a:r>
            <a:r>
              <a:rPr lang="en-US" altLang="zh-CN" dirty="0">
                <a:latin typeface="+mn-lt"/>
                <a:ea typeface="+mj-ea"/>
                <a:sym typeface="Consolas" panose="020B0609020204030204" pitchFamily="49" charset="0"/>
              </a:rPr>
              <a:t>0.083</a:t>
            </a:r>
            <a:r>
              <a:rPr lang="zh-CN" altLang="en-US" dirty="0">
                <a:latin typeface="+mn-lt"/>
                <a:ea typeface="+mj-ea"/>
                <a:sym typeface="Consolas" panose="020B0609020204030204" pitchFamily="49" charset="0"/>
              </a:rPr>
              <a:t>，表示其为正相关模式，这与之前的莫兰指数的结果是一致的。</a:t>
            </a:r>
            <a:endParaRPr lang="en-US" altLang="zh-CN" dirty="0">
              <a:latin typeface="+mn-lt"/>
              <a:ea typeface="+mj-ea"/>
              <a:sym typeface="Consolas" panose="020B0609020204030204" pitchFamily="49" charset="0"/>
            </a:endParaRPr>
          </a:p>
          <a:p>
            <a:pPr>
              <a:lnSpc>
                <a:spcPct val="120000"/>
              </a:lnSpc>
            </a:pPr>
            <a:endParaRPr lang="en-US" altLang="zh-CN" dirty="0">
              <a:latin typeface="+mn-lt"/>
              <a:ea typeface="微软雅黑" panose="020B0503020204020204" pitchFamily="34" charset="-122"/>
              <a:sym typeface="Consolas" panose="020B0609020204030204" pitchFamily="49" charset="0"/>
            </a:endParaRPr>
          </a:p>
        </p:txBody>
      </p:sp>
      <p:pic>
        <p:nvPicPr>
          <p:cNvPr id="8" name="图片 7"/>
          <p:cNvPicPr/>
          <p:nvPr/>
        </p:nvPicPr>
        <p:blipFill>
          <a:blip r:embed="rId2"/>
          <a:stretch>
            <a:fillRect/>
          </a:stretch>
        </p:blipFill>
        <p:spPr>
          <a:xfrm>
            <a:off x="3559928" y="4313919"/>
            <a:ext cx="2047240" cy="695960"/>
          </a:xfrm>
          <a:prstGeom prst="rect">
            <a:avLst/>
          </a:prstGeom>
        </p:spPr>
      </p:pic>
      <p:sp>
        <p:nvSpPr>
          <p:cNvPr id="3" name="文本框 2"/>
          <p:cNvSpPr txBox="1"/>
          <p:nvPr/>
        </p:nvSpPr>
        <p:spPr>
          <a:xfrm>
            <a:off x="1039931" y="3352800"/>
            <a:ext cx="7607300" cy="27186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str(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geary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Avg_HP,col.W,length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),length(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,Szero(</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p:txBody>
      </p:sp>
      <p:sp>
        <p:nvSpPr>
          <p:cNvPr id="7" name="标题 14">
            <a:extLst>
              <a:ext uri="{FF2B5EF4-FFF2-40B4-BE49-F238E27FC236}">
                <a16:creationId xmlns:a16="http://schemas.microsoft.com/office/drawing/2014/main" id="{AE58DCA8-8C71-76B5-6AD6-C833849139C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29</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594520" y="1524000"/>
            <a:ext cx="7954959" cy="1564403"/>
          </a:xfrm>
          <a:prstGeom prst="rect">
            <a:avLst/>
          </a:prstGeom>
        </p:spPr>
        <p:txBody>
          <a:bodyPr wrap="square">
            <a:spAutoFit/>
          </a:bodyPr>
          <a:lstStyle/>
          <a:p>
            <a:pPr indent="457200">
              <a:lnSpc>
                <a:spcPct val="150000"/>
              </a:lnSpc>
            </a:pPr>
            <a:r>
              <a:rPr lang="en-US" altLang="zh-CN" dirty="0">
                <a:latin typeface="Times New Roman" panose="02020603050405020304" charset="0"/>
                <a:ea typeface="+mj-ea"/>
                <a:cs typeface="Times New Roman" panose="02020603050405020304" charset="0"/>
                <a:sym typeface="Consolas" panose="020B0609020204030204" pitchFamily="49" charset="0"/>
              </a:rPr>
              <a:t>Geary</a:t>
            </a:r>
            <a:r>
              <a:rPr lang="zh-CN" altLang="en-US" dirty="0">
                <a:latin typeface="Times New Roman" panose="02020603050405020304" charset="0"/>
                <a:ea typeface="+mj-ea"/>
                <a:cs typeface="Times New Roman" panose="02020603050405020304" charset="0"/>
                <a:sym typeface="Consolas" panose="020B0609020204030204" pitchFamily="49" charset="0"/>
              </a:rPr>
              <a:t>系数的显著性水平也对应随机检验和正态近似检验，由</a:t>
            </a:r>
            <a:r>
              <a:rPr lang="en-US" altLang="zh-CN" dirty="0">
                <a:latin typeface="Times New Roman" panose="02020603050405020304" charset="0"/>
                <a:ea typeface="+mj-ea"/>
                <a:cs typeface="Times New Roman" panose="02020603050405020304" charset="0"/>
                <a:sym typeface="Consolas" panose="020B0609020204030204" pitchFamily="49" charset="0"/>
              </a:rPr>
              <a:t>geary.test</a:t>
            </a:r>
            <a:r>
              <a:rPr lang="zh-CN" altLang="en-US" dirty="0">
                <a:latin typeface="Times New Roman" panose="02020603050405020304" charset="0"/>
                <a:ea typeface="+mj-ea"/>
                <a:cs typeface="Times New Roman" panose="02020603050405020304" charset="0"/>
                <a:sym typeface="Consolas" panose="020B0609020204030204" pitchFamily="49" charset="0"/>
              </a:rPr>
              <a:t>函数完成：</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a:lnSpc>
                <a:spcPct val="12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a:lnSpc>
                <a:spcPct val="12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bwMode="auto">
          <a:xfrm>
            <a:off x="1825466" y="3619500"/>
            <a:ext cx="5493068" cy="1999615"/>
          </a:xfrm>
          <a:prstGeom prst="rect">
            <a:avLst/>
          </a:prstGeom>
          <a:noFill/>
          <a:ln>
            <a:noFill/>
          </a:ln>
        </p:spPr>
      </p:pic>
      <p:sp>
        <p:nvSpPr>
          <p:cNvPr id="3" name="文本框 2"/>
          <p:cNvSpPr txBox="1"/>
          <p:nvPr/>
        </p:nvSpPr>
        <p:spPr>
          <a:xfrm>
            <a:off x="1536700" y="2667000"/>
            <a:ext cx="5863908" cy="45140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GR_WHHP_rn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geary.test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GR_WHHP_rn</a:t>
            </a:r>
            <a:endParaRPr lang="zh-CN" altLang="zh-CN" sz="1200" dirty="0">
              <a:latin typeface="Times New Roman" panose="02020603050405020304" charset="0"/>
              <a:ea typeface="宋体" panose="02010600030101010101" pitchFamily="2" charset="-122"/>
            </a:endParaRPr>
          </a:p>
        </p:txBody>
      </p:sp>
      <p:sp>
        <p:nvSpPr>
          <p:cNvPr id="7" name="标题 14">
            <a:extLst>
              <a:ext uri="{FF2B5EF4-FFF2-40B4-BE49-F238E27FC236}">
                <a16:creationId xmlns:a16="http://schemas.microsoft.com/office/drawing/2014/main" id="{C0B596DC-02BD-B3FE-432C-75972E5C7BA4}"/>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30</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63998" y="1447800"/>
            <a:ext cx="8039101" cy="1564403"/>
          </a:xfrm>
          <a:prstGeom prst="rect">
            <a:avLst/>
          </a:prstGeom>
        </p:spPr>
        <p:txBody>
          <a:bodyPr wrap="square">
            <a:spAutoFit/>
          </a:bodyPr>
          <a:lstStyle/>
          <a:p>
            <a:pPr indent="457200">
              <a:lnSpc>
                <a:spcPct val="150000"/>
              </a:lnSpc>
            </a:pPr>
            <a:r>
              <a:rPr lang="en-US" altLang="zh-CN" dirty="0">
                <a:latin typeface="Times New Roman" panose="02020603050405020304" charset="0"/>
                <a:ea typeface="+mj-ea"/>
                <a:cs typeface="Times New Roman" panose="02020603050405020304" charset="0"/>
                <a:sym typeface="Consolas" panose="020B0609020204030204" pitchFamily="49" charset="0"/>
              </a:rPr>
              <a:t>Geary</a:t>
            </a:r>
            <a:r>
              <a:rPr lang="zh-CN" altLang="en-US" dirty="0">
                <a:latin typeface="Times New Roman" panose="02020603050405020304" charset="0"/>
                <a:ea typeface="+mj-ea"/>
                <a:cs typeface="Times New Roman" panose="02020603050405020304" charset="0"/>
                <a:sym typeface="Consolas" panose="020B0609020204030204" pitchFamily="49" charset="0"/>
              </a:rPr>
              <a:t>系数的显著性水平也对应随机检验和正态近似检验，由</a:t>
            </a:r>
            <a:r>
              <a:rPr lang="en-US" altLang="zh-CN" dirty="0">
                <a:latin typeface="Times New Roman" panose="02020603050405020304" charset="0"/>
                <a:ea typeface="+mj-ea"/>
                <a:cs typeface="Times New Roman" panose="02020603050405020304" charset="0"/>
                <a:sym typeface="Consolas" panose="020B0609020204030204" pitchFamily="49" charset="0"/>
              </a:rPr>
              <a:t>geary.test</a:t>
            </a:r>
            <a:r>
              <a:rPr lang="zh-CN" altLang="en-US" dirty="0">
                <a:latin typeface="Times New Roman" panose="02020603050405020304" charset="0"/>
                <a:ea typeface="+mj-ea"/>
                <a:cs typeface="Times New Roman" panose="02020603050405020304" charset="0"/>
                <a:sym typeface="Consolas" panose="020B0609020204030204" pitchFamily="49" charset="0"/>
              </a:rPr>
              <a:t>函数完成：</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a:lnSpc>
                <a:spcPct val="120000"/>
              </a:lnSpc>
            </a:pPr>
            <a:endPar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a:p>
            <a:pPr>
              <a:lnSpc>
                <a:spcPct val="120000"/>
              </a:lnSpc>
            </a:pPr>
            <a:endPar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p:txBody>
      </p:sp>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bwMode="auto">
          <a:xfrm>
            <a:off x="1860391" y="3657600"/>
            <a:ext cx="5420043" cy="2095500"/>
          </a:xfrm>
          <a:prstGeom prst="rect">
            <a:avLst/>
          </a:prstGeom>
          <a:noFill/>
          <a:ln>
            <a:noFill/>
          </a:ln>
        </p:spPr>
      </p:pic>
      <p:sp>
        <p:nvSpPr>
          <p:cNvPr id="3" name="文本框 2"/>
          <p:cNvSpPr txBox="1"/>
          <p:nvPr/>
        </p:nvSpPr>
        <p:spPr>
          <a:xfrm>
            <a:off x="685800" y="2628900"/>
            <a:ext cx="7831138" cy="45140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GR_WHHP_nor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geary.test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randomisation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FALSE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GR_WHHP_nor</a:t>
            </a:r>
            <a:endParaRPr lang="zh-CN" altLang="zh-CN" sz="1200" dirty="0">
              <a:latin typeface="Times New Roman" panose="02020603050405020304" charset="0"/>
              <a:ea typeface="宋体" panose="02010600030101010101" pitchFamily="2" charset="-122"/>
            </a:endParaRPr>
          </a:p>
        </p:txBody>
      </p:sp>
      <p:sp>
        <p:nvSpPr>
          <p:cNvPr id="7" name="标题 14">
            <a:extLst>
              <a:ext uri="{FF2B5EF4-FFF2-40B4-BE49-F238E27FC236}">
                <a16:creationId xmlns:a16="http://schemas.microsoft.com/office/drawing/2014/main" id="{14CECC27-4A1D-32D9-AEFE-41229110975B}"/>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8.3.1 </a:t>
            </a:r>
            <a:r>
              <a:rPr lang="zh-CN" altLang="en-US" sz="3600" dirty="0">
                <a:latin typeface="Times New Roman" panose="02020603050405020304" charset="0"/>
                <a:cs typeface="Times New Roman" panose="02020603050405020304" charset="0"/>
              </a:rPr>
              <a:t>全局空间自相关</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31</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421480" y="2781300"/>
            <a:ext cx="8526463" cy="1670778"/>
          </a:xfrm>
          <a:prstGeom prst="rect">
            <a:avLst/>
          </a:prstGeom>
        </p:spPr>
        <p:txBody>
          <a:bodyPr wrap="square">
            <a:spAutoFit/>
          </a:bodyPr>
          <a:lstStyle/>
          <a:p>
            <a:pPr indent="457200">
              <a:lnSpc>
                <a:spcPct val="200000"/>
              </a:lnSpc>
            </a:pPr>
            <a:r>
              <a:rPr lang="zh-CN" altLang="en-US" dirty="0">
                <a:latin typeface="+mn-lt"/>
                <a:ea typeface="+mj-ea"/>
                <a:sym typeface="Consolas" panose="020B0609020204030204" pitchFamily="49" charset="0"/>
              </a:rPr>
              <a:t>局部空间相关指数（</a:t>
            </a:r>
            <a:r>
              <a:rPr lang="en-US" altLang="zh-CN" dirty="0">
                <a:latin typeface="+mn-lt"/>
                <a:ea typeface="+mj-ea"/>
                <a:sym typeface="Consolas" panose="020B0609020204030204" pitchFamily="49" charset="0"/>
              </a:rPr>
              <a:t>Local indicators of spatial association, LISA</a:t>
            </a:r>
            <a:r>
              <a:rPr lang="zh-CN" altLang="en-US" dirty="0">
                <a:latin typeface="+mn-lt"/>
                <a:ea typeface="+mj-ea"/>
                <a:sym typeface="Consolas" panose="020B0609020204030204" pitchFamily="49" charset="0"/>
              </a:rPr>
              <a:t>）</a:t>
            </a:r>
            <a:r>
              <a:rPr lang="en-US" altLang="zh-CN" dirty="0">
                <a:latin typeface="+mn-lt"/>
                <a:ea typeface="+mj-ea"/>
                <a:sym typeface="Consolas" panose="020B0609020204030204" pitchFamily="49" charset="0"/>
              </a:rPr>
              <a:t>:</a:t>
            </a:r>
          </a:p>
          <a:p>
            <a:pPr marL="285750" indent="457200">
              <a:lnSpc>
                <a:spcPct val="200000"/>
              </a:lnSpc>
              <a:buFont typeface="Arial" panose="020B0604020202020204" pitchFamily="34" charset="0"/>
              <a:buChar char="•"/>
            </a:pPr>
            <a:r>
              <a:rPr lang="zh-CN" altLang="en-US" dirty="0">
                <a:latin typeface="+mn-lt"/>
                <a:ea typeface="+mj-ea"/>
                <a:sym typeface="Consolas" panose="020B0609020204030204" pitchFamily="49" charset="0"/>
              </a:rPr>
              <a:t>局部莫兰系数（</a:t>
            </a:r>
            <a:r>
              <a:rPr lang="en-US" altLang="zh-CN" dirty="0">
                <a:latin typeface="+mn-lt"/>
                <a:ea typeface="+mj-ea"/>
                <a:sym typeface="Consolas" panose="020B0609020204030204" pitchFamily="49" charset="0"/>
              </a:rPr>
              <a:t>Local  Moran's I</a:t>
            </a:r>
            <a:r>
              <a:rPr lang="zh-CN" altLang="en-US" dirty="0">
                <a:latin typeface="+mn-lt"/>
                <a:ea typeface="+mj-ea"/>
                <a:sym typeface="Consolas" panose="020B0609020204030204" pitchFamily="49" charset="0"/>
              </a:rPr>
              <a:t>）</a:t>
            </a:r>
          </a:p>
          <a:p>
            <a:pPr marL="285750" indent="457200">
              <a:lnSpc>
                <a:spcPct val="200000"/>
              </a:lnSpc>
              <a:buFont typeface="Arial" panose="020B0604020202020204" pitchFamily="34" charset="0"/>
              <a:buChar char="•"/>
            </a:pPr>
            <a:r>
              <a:rPr lang="zh-CN" altLang="en-US" dirty="0">
                <a:latin typeface="+mn-lt"/>
                <a:ea typeface="+mj-ea"/>
                <a:sym typeface="Consolas" panose="020B0609020204030204" pitchFamily="49" charset="0"/>
              </a:rPr>
              <a:t>局部</a:t>
            </a:r>
            <a:r>
              <a:rPr lang="en-US" altLang="zh-CN" dirty="0">
                <a:latin typeface="+mn-lt"/>
                <a:ea typeface="+mj-ea"/>
                <a:sym typeface="Consolas" panose="020B0609020204030204" pitchFamily="49" charset="0"/>
              </a:rPr>
              <a:t>Geary</a:t>
            </a:r>
            <a:r>
              <a:rPr lang="zh-CN" altLang="en-US" dirty="0">
                <a:latin typeface="+mn-lt"/>
                <a:ea typeface="+mj-ea"/>
                <a:sym typeface="Consolas" panose="020B0609020204030204" pitchFamily="49" charset="0"/>
              </a:rPr>
              <a:t>系数（</a:t>
            </a:r>
            <a:r>
              <a:rPr lang="en-US" altLang="zh-CN" dirty="0">
                <a:latin typeface="+mn-lt"/>
                <a:ea typeface="+mj-ea"/>
                <a:sym typeface="Consolas" panose="020B0609020204030204" pitchFamily="49" charset="0"/>
              </a:rPr>
              <a:t>Local Geary's C</a:t>
            </a:r>
            <a:r>
              <a:rPr lang="zh-CN" altLang="en-US" dirty="0">
                <a:latin typeface="+mn-lt"/>
                <a:ea typeface="+mj-ea"/>
                <a:sym typeface="Consolas" panose="020B0609020204030204" pitchFamily="49" charset="0"/>
              </a:rPr>
              <a:t>）</a:t>
            </a:r>
          </a:p>
        </p:txBody>
      </p:sp>
      <p:pic>
        <p:nvPicPr>
          <p:cNvPr id="5" name="图片 4"/>
          <p:cNvPicPr>
            <a:picLocks noChangeAspect="1"/>
          </p:cNvPicPr>
          <p:nvPr/>
        </p:nvPicPr>
        <p:blipFill>
          <a:blip r:embed="rId2"/>
          <a:stretch>
            <a:fillRect/>
          </a:stretch>
        </p:blipFill>
        <p:spPr>
          <a:xfrm>
            <a:off x="4838700" y="3429000"/>
            <a:ext cx="3124200" cy="2915604"/>
          </a:xfrm>
          <a:prstGeom prst="rect">
            <a:avLst/>
          </a:prstGeom>
        </p:spPr>
      </p:pic>
      <p:sp>
        <p:nvSpPr>
          <p:cNvPr id="9" name="标题 14"/>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
        <p:nvSpPr>
          <p:cNvPr id="3" name="文本框 2"/>
          <p:cNvSpPr txBox="1"/>
          <p:nvPr/>
        </p:nvSpPr>
        <p:spPr>
          <a:xfrm>
            <a:off x="762000" y="1447800"/>
            <a:ext cx="7548880" cy="1289905"/>
          </a:xfrm>
          <a:prstGeom prst="rect">
            <a:avLst/>
          </a:prstGeom>
          <a:noFill/>
        </p:spPr>
        <p:txBody>
          <a:bodyPr wrap="square">
            <a:spAutoFit/>
          </a:bodyPr>
          <a:lstStyle/>
          <a:p>
            <a:pPr indent="457200">
              <a:lnSpc>
                <a:spcPct val="150000"/>
              </a:lnSpc>
            </a:pPr>
            <a:r>
              <a:rPr lang="zh-CN" altLang="en-US" dirty="0">
                <a:latin typeface="+mn-lt"/>
                <a:ea typeface="+mj-ea"/>
                <a:sym typeface="Consolas" panose="020B0609020204030204" pitchFamily="49" charset="0"/>
              </a:rPr>
              <a:t>全局空间自相关分析仅使用单一的莫兰指数或</a:t>
            </a:r>
            <a:r>
              <a:rPr lang="en-US" altLang="zh-CN" dirty="0">
                <a:latin typeface="+mn-lt"/>
                <a:ea typeface="+mj-ea"/>
                <a:sym typeface="Consolas" panose="020B0609020204030204" pitchFamily="49" charset="0"/>
              </a:rPr>
              <a:t>Geary</a:t>
            </a:r>
            <a:r>
              <a:rPr lang="zh-CN" altLang="en-US" dirty="0">
                <a:latin typeface="+mn-lt"/>
                <a:ea typeface="+mj-ea"/>
                <a:sym typeface="Consolas" panose="020B0609020204030204" pitchFamily="49" charset="0"/>
              </a:rPr>
              <a:t>系数来反映属性数据整体空间自相关模式，却难以发现不同位置或区域存在的各异的空间自相关特征。</a:t>
            </a:r>
            <a:endParaRPr lang="en-US" altLang="zh-CN" dirty="0">
              <a:latin typeface="+mn-lt"/>
              <a:ea typeface="+mj-ea"/>
              <a:sym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32</a:t>
            </a:fld>
            <a:endParaRPr lang="zh-CN" altLang="en-US" dirty="0">
              <a:solidFill>
                <a:schemeClr val="bg2">
                  <a:lumMod val="75000"/>
                </a:schemeClr>
              </a:solidFill>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sp>
        <p:nvSpPr>
          <p:cNvPr id="13" name="矩形 12"/>
          <p:cNvSpPr/>
          <p:nvPr/>
        </p:nvSpPr>
        <p:spPr>
          <a:xfrm>
            <a:off x="1076500" y="4270090"/>
            <a:ext cx="6989842" cy="877869"/>
          </a:xfrm>
          <a:prstGeom prst="rect">
            <a:avLst/>
          </a:prstGeom>
        </p:spPr>
        <p:txBody>
          <a:bodyPr wrap="square">
            <a:spAutoFit/>
          </a:bodyPr>
          <a:lstStyle/>
          <a:p>
            <a:pPr indent="457200">
              <a:lnSpc>
                <a:spcPct val="150000"/>
              </a:lnSpc>
            </a:pPr>
            <a:r>
              <a:rPr lang="zh-CN" altLang="en-US" dirty="0" err="1">
                <a:latin typeface="Consolas" panose="020B0609020204030204" pitchFamily="49" charset="0"/>
                <a:ea typeface="微软雅黑" panose="020B0503020204020204" pitchFamily="34" charset="-122"/>
                <a:sym typeface="Consolas" panose="020B0609020204030204" pitchFamily="49" charset="0"/>
              </a:rPr>
              <a:t>局部莫兰指数能揭示属性数据的空间自相关特征体现出的空间异质性特征，用于识别不同区域上存在的不同相关性特征。</a:t>
            </a:r>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
        <p:nvSpPr>
          <p:cNvPr id="2" name="矩形 1"/>
          <p:cNvSpPr/>
          <p:nvPr/>
        </p:nvSpPr>
        <p:spPr>
          <a:xfrm>
            <a:off x="3555758" y="1066800"/>
            <a:ext cx="2031325"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局部墨兰系数</a:t>
            </a:r>
          </a:p>
        </p:txBody>
      </p:sp>
      <mc:AlternateContent xmlns:mc="http://schemas.openxmlformats.org/markup-compatibility/2006" xmlns:a14="http://schemas.microsoft.com/office/drawing/2010/main">
        <mc:Choice Requires="a14">
          <p:sp>
            <p:nvSpPr>
              <p:cNvPr id="3" name="文本框 2"/>
              <p:cNvSpPr txBox="1"/>
              <p:nvPr/>
            </p:nvSpPr>
            <p:spPr>
              <a:xfrm>
                <a:off x="2933700" y="2745440"/>
                <a:ext cx="3177793" cy="7597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𝐼</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𝑖𝑗</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𝑧</m:t>
                                  </m:r>
                                </m:e>
                              </m:acc>
                              <m:r>
                                <a:rPr lang="en-US" altLang="zh-CN" sz="2000" b="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𝑧</m:t>
                                  </m:r>
                                </m:e>
                                <m:sub>
                                  <m:r>
                                    <a:rPr lang="en-US" altLang="zh-CN" sz="2000" b="0" i="1" smtClean="0">
                                      <a:latin typeface="Cambria Math" panose="02040503050406030204" pitchFamily="18" charset="0"/>
                                    </a:rPr>
                                    <m:t>𝑗</m:t>
                                  </m:r>
                                </m:sub>
                              </m:sSub>
                              <m:r>
                                <a:rPr lang="en-US" altLang="zh-CN" sz="2000" i="1">
                                  <a:latin typeface="Cambria Math" panose="02040503050406030204" pitchFamily="18" charset="0"/>
                                </a:rPr>
                                <m:t>−</m:t>
                              </m:r>
                              <m:acc>
                                <m:accPr>
                                  <m:chr m:val="̅"/>
                                  <m:ctrlPr>
                                    <a:rPr lang="en-US" altLang="zh-CN" sz="2000" i="1">
                                      <a:latin typeface="Cambria Math" panose="02040503050406030204" pitchFamily="18" charset="0"/>
                                    </a:rPr>
                                  </m:ctrlPr>
                                </m:accPr>
                                <m:e>
                                  <m:r>
                                    <a:rPr lang="en-US" altLang="zh-CN" sz="2000" i="1">
                                      <a:latin typeface="Cambria Math" panose="02040503050406030204" pitchFamily="18" charset="0"/>
                                    </a:rPr>
                                    <m:t>𝑧</m:t>
                                  </m:r>
                                </m:e>
                              </m:acc>
                              <m:r>
                                <a:rPr lang="en-US" altLang="zh-CN" sz="2000" b="0" i="1" smtClean="0">
                                  <a:latin typeface="Cambria Math" panose="02040503050406030204" pitchFamily="18" charset="0"/>
                                </a:rPr>
                                <m:t>)</m:t>
                              </m:r>
                            </m:e>
                          </m:nary>
                        </m:num>
                        <m:den>
                          <m:sSup>
                            <m:sSupPr>
                              <m:ctrlPr>
                                <a:rPr lang="en-US" altLang="zh-CN" sz="2000" b="0" i="1" smtClean="0">
                                  <a:latin typeface="Cambria Math" panose="02040503050406030204" pitchFamily="18" charset="0"/>
                                </a:rPr>
                              </m:ctrlPr>
                            </m:sSup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𝑍</m:t>
                                  </m:r>
                                </m:sub>
                              </m:sSub>
                            </m:e>
                            <m:sup>
                              <m:r>
                                <a:rPr lang="en-US" altLang="zh-CN" sz="2000" b="0" i="1" smtClean="0">
                                  <a:latin typeface="Cambria Math" panose="02040503050406030204" pitchFamily="18" charset="0"/>
                                </a:rPr>
                                <m:t>2</m:t>
                              </m:r>
                            </m:sup>
                          </m:sSup>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𝑖𝑗</m:t>
                                  </m:r>
                                </m:sub>
                              </m:sSub>
                            </m:e>
                          </m:nary>
                        </m:den>
                      </m:f>
                    </m:oMath>
                  </m:oMathPara>
                </a14:m>
                <a:endParaRPr lang="zh-CN" altLang="en-US"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2933700" y="2745440"/>
                <a:ext cx="3177793" cy="759760"/>
              </a:xfrm>
              <a:prstGeom prst="rect">
                <a:avLst/>
              </a:prstGeom>
              <a:blipFill>
                <a:blip r:embed="rId3"/>
                <a:stretch>
                  <a:fillRect/>
                </a:stretch>
              </a:blipFill>
            </p:spPr>
            <p:txBody>
              <a:bodyPr/>
              <a:lstStyle/>
              <a:p>
                <a:r>
                  <a:rPr lang="zh-CN" altLang="en-US">
                    <a:noFill/>
                  </a:rPr>
                  <a:t> </a:t>
                </a:r>
              </a:p>
            </p:txBody>
          </p:sp>
        </mc:Fallback>
      </mc:AlternateContent>
      <p:sp>
        <p:nvSpPr>
          <p:cNvPr id="7" name="标题 14">
            <a:extLst>
              <a:ext uri="{FF2B5EF4-FFF2-40B4-BE49-F238E27FC236}">
                <a16:creationId xmlns:a16="http://schemas.microsoft.com/office/drawing/2014/main" id="{6C878C6E-2061-F4D6-F653-AC4AD880B4CA}"/>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33</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295400"/>
            <a:ext cx="8137525" cy="877869"/>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函数包</a:t>
            </a:r>
            <a:r>
              <a:rPr lang="en-US" altLang="zh-CN" dirty="0">
                <a:latin typeface="+mn-lt"/>
                <a:ea typeface="+mj-ea"/>
                <a:sym typeface="Consolas" panose="020B0609020204030204" pitchFamily="49" charset="0"/>
              </a:rPr>
              <a:t>spdep</a:t>
            </a:r>
            <a:r>
              <a:rPr lang="zh-CN" altLang="en-US" dirty="0">
                <a:latin typeface="+mn-lt"/>
                <a:ea typeface="+mj-ea"/>
                <a:sym typeface="Consolas" panose="020B0609020204030204" pitchFamily="49" charset="0"/>
              </a:rPr>
              <a:t>提供了</a:t>
            </a:r>
            <a:r>
              <a:rPr lang="en-US" altLang="zh-CN" dirty="0">
                <a:latin typeface="+mn-lt"/>
                <a:ea typeface="+mj-ea"/>
                <a:sym typeface="Consolas" panose="020B0609020204030204" pitchFamily="49" charset="0"/>
              </a:rPr>
              <a:t>localmoran</a:t>
            </a:r>
            <a:r>
              <a:rPr lang="zh-CN" altLang="en-US" dirty="0">
                <a:latin typeface="+mn-lt"/>
                <a:ea typeface="+mj-ea"/>
                <a:sym typeface="Consolas" panose="020B0609020204030204" pitchFamily="49" charset="0"/>
              </a:rPr>
              <a:t>函数，以计算局部莫兰指数。以</a:t>
            </a:r>
            <a:r>
              <a:rPr lang="en-US" altLang="zh-CN" dirty="0">
                <a:latin typeface="+mn-lt"/>
                <a:ea typeface="+mj-ea"/>
                <a:sym typeface="Consolas" panose="020B0609020204030204" pitchFamily="49" charset="0"/>
              </a:rPr>
              <a:t>WHHP</a:t>
            </a:r>
            <a:r>
              <a:rPr lang="zh-CN" altLang="en-US" dirty="0">
                <a:latin typeface="+mn-lt"/>
                <a:ea typeface="+mj-ea"/>
                <a:sym typeface="Consolas" panose="020B0609020204030204" pitchFamily="49" charset="0"/>
              </a:rPr>
              <a:t>数据中的房屋价格为例，其局部莫兰指数为：</a:t>
            </a:r>
            <a:endParaRPr lang="en-US" altLang="zh-CN" dirty="0">
              <a:latin typeface="+mn-lt"/>
              <a:ea typeface="+mj-ea"/>
              <a:sym typeface="Consolas" panose="020B0609020204030204" pitchFamily="49" charset="0"/>
            </a:endParaRPr>
          </a:p>
        </p:txBody>
      </p:sp>
      <p:sp>
        <p:nvSpPr>
          <p:cNvPr id="10" name="矩形 9"/>
          <p:cNvSpPr/>
          <p:nvPr/>
        </p:nvSpPr>
        <p:spPr>
          <a:xfrm>
            <a:off x="962720" y="2971800"/>
            <a:ext cx="1569660" cy="369332"/>
          </a:xfrm>
          <a:prstGeom prst="rect">
            <a:avLst/>
          </a:prstGeom>
        </p:spPr>
        <p:txBody>
          <a:bodyPr wrap="none">
            <a:spAutoFit/>
          </a:bodyPr>
          <a:lstStyle/>
          <a:p>
            <a:r>
              <a:rPr lang="zh-CN" altLang="en-US" dirty="0">
                <a:latin typeface="Consolas" panose="020B0609020204030204" pitchFamily="49" charset="0"/>
                <a:ea typeface="微软雅黑" panose="020B0503020204020204" pitchFamily="34" charset="-122"/>
                <a:sym typeface="Consolas" panose="020B0609020204030204" pitchFamily="49" charset="0"/>
              </a:rPr>
              <a:t>结果可视化：</a:t>
            </a:r>
            <a:endParaRPr lang="zh-CN" altLang="en-US" dirty="0"/>
          </a:p>
        </p:txBody>
      </p:sp>
      <p:sp>
        <p:nvSpPr>
          <p:cNvPr id="3" name="文本框 2"/>
          <p:cNvSpPr txBox="1"/>
          <p:nvPr/>
        </p:nvSpPr>
        <p:spPr>
          <a:xfrm>
            <a:off x="855980" y="3276600"/>
            <a:ext cx="7581900" cy="25548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WHHP %&gt;% filter(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&gt;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&amp;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ggplot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geom_sf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(data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(fill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endParaRPr lang="zh-CN" altLang="zh-CN" sz="16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mid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high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"red"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midpoint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name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"Local Moran 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6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theme_minimal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labs(title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"Local Moran Statistic"</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6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theme(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legend.position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"right"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endParaRPr lang="zh-CN" altLang="zh-CN" sz="1600" dirty="0">
              <a:latin typeface="Times New Roman" panose="02020603050405020304" charset="0"/>
              <a:ea typeface="宋体" panose="02010600030101010101" pitchFamily="2" charset="-122"/>
            </a:endParaRPr>
          </a:p>
          <a:p>
            <a:pPr indent="13335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annotation_scale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(location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endParaRPr lang="zh-CN" altLang="zh-CN" sz="16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(location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"tr"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which_north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style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p:txBody>
      </p:sp>
      <p:sp>
        <p:nvSpPr>
          <p:cNvPr id="5" name="文本框 4"/>
          <p:cNvSpPr txBox="1"/>
          <p:nvPr/>
        </p:nvSpPr>
        <p:spPr>
          <a:xfrm>
            <a:off x="838200" y="2247900"/>
            <a:ext cx="7581900" cy="61587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localmoran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style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9" name="标题 14">
            <a:extLst>
              <a:ext uri="{FF2B5EF4-FFF2-40B4-BE49-F238E27FC236}">
                <a16:creationId xmlns:a16="http://schemas.microsoft.com/office/drawing/2014/main" id="{C1989966-8EDC-5FF7-E198-A490CC0CE35E}"/>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34</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897733" y="1409700"/>
            <a:ext cx="7345359" cy="400046"/>
          </a:xfrm>
          <a:prstGeom prst="rect">
            <a:avLst/>
          </a:prstGeom>
        </p:spPr>
        <p:txBody>
          <a:bodyPr wrap="square">
            <a:spAutoFit/>
          </a:bodyPr>
          <a:lstStyle/>
          <a:p>
            <a:pPr>
              <a:lnSpc>
                <a:spcPct val="120000"/>
              </a:lnSpc>
            </a:pPr>
            <a:r>
              <a:rPr lang="zh-CN" altLang="en-US" dirty="0">
                <a:latin typeface="Consolas" panose="020B0609020204030204" pitchFamily="49" charset="0"/>
                <a:ea typeface="微软雅黑" panose="020B0503020204020204" pitchFamily="34" charset="-122"/>
                <a:sym typeface="Consolas" panose="020B0609020204030204" pitchFamily="49" charset="0"/>
              </a:rPr>
              <a:t>可以通过绘制莫兰散点图来辅助查看数据空间分布的局部自相关特征。</a:t>
            </a:r>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5" name="图片 4"/>
          <p:cNvPicPr>
            <a:picLocks noChangeAspect="1"/>
          </p:cNvPicPr>
          <p:nvPr/>
        </p:nvPicPr>
        <p:blipFill>
          <a:blip r:embed="rId3"/>
          <a:stretch>
            <a:fillRect/>
          </a:stretch>
        </p:blipFill>
        <p:spPr>
          <a:xfrm>
            <a:off x="473625" y="2127914"/>
            <a:ext cx="3907875" cy="3603048"/>
          </a:xfrm>
          <a:prstGeom prst="rect">
            <a:avLst/>
          </a:prstGeom>
        </p:spPr>
      </p:pic>
      <p:pic>
        <p:nvPicPr>
          <p:cNvPr id="13" name="图片 12"/>
          <p:cNvPicPr/>
          <p:nvPr/>
        </p:nvPicPr>
        <p:blipFill rotWithShape="1">
          <a:blip r:embed="rId4"/>
          <a:srcRect t="8205" r="3685"/>
          <a:stretch>
            <a:fillRect/>
          </a:stretch>
        </p:blipFill>
        <p:spPr bwMode="auto">
          <a:xfrm>
            <a:off x="4381500" y="1923362"/>
            <a:ext cx="4495800" cy="4012153"/>
          </a:xfrm>
          <a:prstGeom prst="rect">
            <a:avLst/>
          </a:prstGeom>
          <a:ln>
            <a:noFill/>
          </a:ln>
        </p:spPr>
      </p:pic>
      <p:sp>
        <p:nvSpPr>
          <p:cNvPr id="7" name="标题 14">
            <a:extLst>
              <a:ext uri="{FF2B5EF4-FFF2-40B4-BE49-F238E27FC236}">
                <a16:creationId xmlns:a16="http://schemas.microsoft.com/office/drawing/2014/main" id="{D4CEFF34-2204-E8D6-661E-5BA1CBC135B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35</a:t>
            </a:fld>
            <a:endParaRPr lang="zh-CN" altLang="en-US" dirty="0">
              <a:solidFill>
                <a:schemeClr val="bg2">
                  <a:lumMod val="75000"/>
                </a:schemeClr>
              </a:solidFill>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sp>
        <p:nvSpPr>
          <p:cNvPr id="2" name="矩形 1"/>
          <p:cNvSpPr/>
          <p:nvPr/>
        </p:nvSpPr>
        <p:spPr>
          <a:xfrm>
            <a:off x="3453968" y="1066800"/>
            <a:ext cx="2234906" cy="497765"/>
          </a:xfrm>
          <a:prstGeom prst="rect">
            <a:avLst/>
          </a:prstGeom>
        </p:spPr>
        <p:txBody>
          <a:bodyPr wrap="none">
            <a:spAutoFit/>
          </a:bodyPr>
          <a:lstStyle/>
          <a:p>
            <a:pPr algn="ctr">
              <a:lnSpc>
                <a:spcPct val="120000"/>
              </a:lnSpc>
            </a:pPr>
            <a:r>
              <a:rPr lang="zh-CN" altLang="en-US" sz="2400" b="1" dirty="0">
                <a:latin typeface="+mn-lt"/>
                <a:ea typeface="微软雅黑" panose="020B0503020204020204" pitchFamily="34" charset="-122"/>
                <a:cs typeface="+mn-ea"/>
                <a:sym typeface="Consolas" panose="020B0609020204030204" pitchFamily="49" charset="0"/>
              </a:rPr>
              <a:t>局部</a:t>
            </a:r>
            <a:r>
              <a:rPr lang="en-US" altLang="zh-CN" sz="2400" b="1" dirty="0">
                <a:latin typeface="+mn-lt"/>
                <a:ea typeface="微软雅黑" panose="020B0503020204020204" pitchFamily="34" charset="-122"/>
                <a:cs typeface="+mn-ea"/>
                <a:sym typeface="Consolas" panose="020B0609020204030204" pitchFamily="49" charset="0"/>
              </a:rPr>
              <a:t>Geary</a:t>
            </a:r>
            <a:r>
              <a:rPr lang="zh-CN" altLang="en-US" sz="2400" b="1" dirty="0">
                <a:latin typeface="+mn-lt"/>
                <a:ea typeface="微软雅黑" panose="020B0503020204020204" pitchFamily="34" charset="-122"/>
                <a:cs typeface="+mn-ea"/>
                <a:sym typeface="Consolas" panose="020B0609020204030204" pitchFamily="49" charset="0"/>
              </a:rPr>
              <a:t>系数</a:t>
            </a:r>
          </a:p>
        </p:txBody>
      </p:sp>
      <mc:AlternateContent xmlns:mc="http://schemas.openxmlformats.org/markup-compatibility/2006" xmlns:a14="http://schemas.microsoft.com/office/drawing/2010/main">
        <mc:Choice Requires="a14">
          <p:sp>
            <p:nvSpPr>
              <p:cNvPr id="3" name="文本框 2"/>
              <p:cNvSpPr txBox="1"/>
              <p:nvPr/>
            </p:nvSpPr>
            <p:spPr>
              <a:xfrm>
                <a:off x="3009900" y="3075499"/>
                <a:ext cx="2578398" cy="77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𝑖𝑗</m:t>
                                  </m:r>
                                </m:sub>
                              </m:sSub>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𝑧</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e>
                                <m:sup>
                                  <m:r>
                                    <a:rPr lang="en-US" altLang="zh-CN" sz="2000" b="0" i="1" smtClean="0">
                                      <a:latin typeface="Cambria Math" panose="02040503050406030204" pitchFamily="18" charset="0"/>
                                    </a:rPr>
                                    <m:t>2</m:t>
                                  </m:r>
                                </m:sup>
                              </m:sSup>
                            </m:e>
                          </m:nary>
                        </m:num>
                        <m:den>
                          <m:sSup>
                            <m:sSupPr>
                              <m:ctrlPr>
                                <a:rPr lang="en-US" altLang="zh-CN" sz="2000" b="0" i="1" smtClean="0">
                                  <a:latin typeface="Cambria Math" panose="02040503050406030204" pitchFamily="18" charset="0"/>
                                </a:rPr>
                              </m:ctrlPr>
                            </m:sSup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𝑧</m:t>
                                  </m:r>
                                </m:sub>
                              </m:sSub>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2</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b="0" i="1" smtClean="0">
                                      <a:latin typeface="Cambria Math" panose="02040503050406030204" pitchFamily="18" charset="0"/>
                                    </a:rPr>
                                    <m:t>𝑖𝑗</m:t>
                                  </m:r>
                                </m:sub>
                              </m:sSub>
                            </m:e>
                          </m:nary>
                        </m:den>
                      </m:f>
                    </m:oMath>
                  </m:oMathPara>
                </a14:m>
                <a:endParaRPr lang="zh-CN" altLang="en-US" sz="2000" dirty="0"/>
              </a:p>
            </p:txBody>
          </p:sp>
        </mc:Choice>
        <mc:Fallback xmlns="">
          <p:sp>
            <p:nvSpPr>
              <p:cNvPr id="3" name="文本框 2"/>
              <p:cNvSpPr txBox="1">
                <a:spLocks noRot="1" noChangeAspect="1" noMove="1" noResize="1" noEditPoints="1" noAdjustHandles="1" noChangeArrowheads="1" noChangeShapeType="1" noTextEdit="1"/>
              </p:cNvSpPr>
              <p:nvPr/>
            </p:nvSpPr>
            <p:spPr>
              <a:xfrm>
                <a:off x="3009900" y="3075499"/>
                <a:ext cx="2578398" cy="773673"/>
              </a:xfrm>
              <a:prstGeom prst="rect">
                <a:avLst/>
              </a:prstGeom>
              <a:blipFill rotWithShape="1">
                <a:blip r:embed="rId3"/>
                <a:stretch>
                  <a:fillRect t="-25" r="-309" b="-6099"/>
                </a:stretch>
              </a:blipFill>
            </p:spPr>
            <p:txBody>
              <a:bodyPr/>
              <a:lstStyle/>
              <a:p>
                <a:r>
                  <a:rPr lang="zh-CN" altLang="en-US">
                    <a:noFill/>
                  </a:rPr>
                  <a:t> </a:t>
                </a:r>
              </a:p>
            </p:txBody>
          </p:sp>
        </mc:Fallback>
      </mc:AlternateContent>
      <p:sp>
        <p:nvSpPr>
          <p:cNvPr id="7" name="标题 14">
            <a:extLst>
              <a:ext uri="{FF2B5EF4-FFF2-40B4-BE49-F238E27FC236}">
                <a16:creationId xmlns:a16="http://schemas.microsoft.com/office/drawing/2014/main" id="{BAC990AB-2DCD-A586-44B1-FBA1DB927A37}"/>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36</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1832191" y="1333500"/>
            <a:ext cx="5478459" cy="400046"/>
          </a:xfrm>
          <a:prstGeom prst="rect">
            <a:avLst/>
          </a:prstGeom>
        </p:spPr>
        <p:txBody>
          <a:bodyPr wrap="square">
            <a:spAutoFit/>
          </a:bodyPr>
          <a:lstStyle/>
          <a:p>
            <a:pPr>
              <a:lnSpc>
                <a:spcPct val="120000"/>
              </a:lnSpc>
            </a:pPr>
            <a:r>
              <a:rPr lang="zh-CN" altLang="en-US"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同样，可以通过</a:t>
            </a:r>
            <a:r>
              <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localG</a:t>
            </a:r>
            <a:r>
              <a:rPr lang="zh-CN" altLang="en-US"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函数计算局部</a:t>
            </a:r>
            <a:r>
              <a:rPr lang="en-US" altLang="zh-CN" dirty="0">
                <a:latin typeface="Times New Roman" panose="02020603050405020304" charset="0"/>
                <a:ea typeface="+mj-ea"/>
                <a:cs typeface="Times New Roman" panose="02020603050405020304" charset="0"/>
                <a:sym typeface="Consolas" panose="020B0609020204030204" pitchFamily="49" charset="0"/>
              </a:rPr>
              <a:t>Geary</a:t>
            </a:r>
            <a:r>
              <a:rPr lang="zh-CN" altLang="en-US"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系数：</a:t>
            </a: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9" name="图片 8"/>
          <p:cNvPicPr/>
          <p:nvPr/>
        </p:nvPicPr>
        <p:blipFill>
          <a:blip r:embed="rId3"/>
          <a:stretch>
            <a:fillRect/>
          </a:stretch>
        </p:blipFill>
        <p:spPr>
          <a:xfrm>
            <a:off x="121340" y="1899003"/>
            <a:ext cx="4457700" cy="3898900"/>
          </a:xfrm>
          <a:prstGeom prst="rect">
            <a:avLst/>
          </a:prstGeom>
        </p:spPr>
      </p:pic>
      <p:sp>
        <p:nvSpPr>
          <p:cNvPr id="3" name="文本框 2"/>
          <p:cNvSpPr txBox="1"/>
          <p:nvPr/>
        </p:nvSpPr>
        <p:spPr>
          <a:xfrm>
            <a:off x="4401207" y="1684544"/>
            <a:ext cx="4742793" cy="504785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library(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ggspatial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library(ggplot2)</a:t>
            </a: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G_WHHP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localG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WHHPnb_s,style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rPr>
              <a:t>lenData</a:t>
            </a:r>
            <a:r>
              <a:rPr lang="en-US" altLang="zh-CN" sz="1200" dirty="0">
                <a:solidFill>
                  <a:srgbClr val="000000"/>
                </a:solidFill>
                <a:latin typeface="Consolas" panose="020B0609020204030204" pitchFamily="49" charset="0"/>
                <a:ea typeface="宋体" panose="02010600030101010101" pitchFamily="2" charset="-122"/>
              </a:rPr>
              <a:t> &lt;- length(G_WHHP)</a:t>
            </a:r>
            <a:endParaRPr lang="zh-CN" altLang="zh-CN" sz="1200" dirty="0">
              <a:solidFill>
                <a:srgbClr val="000000"/>
              </a:solidFill>
              <a:latin typeface="Consolas" panose="020B0609020204030204" pitchFamily="49"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G&lt;- G_WHHP[</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lenData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WHHP %&gt;% filter(G &gt;=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&amp; G &lt;=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ggplot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geom_sf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(data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(fill = G)) +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"red"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mid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high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midpoint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name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"Local Moran 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theme_minimal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labs(title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"Local Geary's C statistic"</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theme(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legend.position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"right"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annotation_scale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(location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(location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"tr"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which_north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style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10" name="标题 14">
            <a:extLst>
              <a:ext uri="{FF2B5EF4-FFF2-40B4-BE49-F238E27FC236}">
                <a16:creationId xmlns:a16="http://schemas.microsoft.com/office/drawing/2014/main" id="{08834C35-C336-6002-751C-E24BEEFA61A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charset="0"/>
                <a:cs typeface="Times New Roman" panose="02020603050405020304" charset="0"/>
              </a:rPr>
              <a:t>8.3.2 </a:t>
            </a:r>
            <a:r>
              <a:rPr lang="zh-CN" altLang="en-US" sz="3600" dirty="0">
                <a:latin typeface="Times New Roman" panose="02020603050405020304" charset="0"/>
                <a:cs typeface="Times New Roman" panose="02020603050405020304" charset="0"/>
              </a:rPr>
              <a:t>局部空间自相关</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 </a:t>
            </a:r>
            <a:r>
              <a:rPr lang="zh-CN" altLang="en-US" sz="3600" dirty="0">
                <a:latin typeface="Times New Roman" panose="02020603050405020304" charset="0"/>
                <a:cs typeface="Times New Roman" panose="02020603050405020304" charset="0"/>
                <a:sym typeface="Consolas" panose="020B0609020204030204" pitchFamily="49" charset="0"/>
              </a:rPr>
              <a:t>空间回归分析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37</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503237" y="1676400"/>
            <a:ext cx="8137525" cy="961289"/>
          </a:xfrm>
          <a:prstGeom prst="rect">
            <a:avLst/>
          </a:prstGeom>
        </p:spPr>
        <p:txBody>
          <a:bodyPr wrap="square">
            <a:spAutoFit/>
          </a:bodyPr>
          <a:lstStyle/>
          <a:p>
            <a:pPr indent="457200">
              <a:lnSpc>
                <a:spcPct val="150000"/>
              </a:lnSpc>
            </a:pPr>
            <a:r>
              <a:rPr lang="zh-CN" altLang="en-US" sz="2000" dirty="0">
                <a:latin typeface="+mj-ea"/>
                <a:ea typeface="+mj-ea"/>
                <a:sym typeface="Consolas" panose="020B0609020204030204" pitchFamily="49" charset="0"/>
              </a:rPr>
              <a:t>在计量统计学中，回归分析技术是变量间关系定量分析的核心技术之一，也是多元数据分析的基础技术。</a:t>
            </a:r>
            <a:endParaRPr lang="en-US" altLang="zh-CN" sz="2000" dirty="0">
              <a:latin typeface="+mj-ea"/>
              <a:ea typeface="+mj-ea"/>
              <a:sym typeface="Consolas" panose="020B0609020204030204" pitchFamily="49" charset="0"/>
            </a:endParaRP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sp>
        <p:nvSpPr>
          <p:cNvPr id="6" name="文本框 5"/>
          <p:cNvSpPr txBox="1"/>
          <p:nvPr/>
        </p:nvSpPr>
        <p:spPr>
          <a:xfrm>
            <a:off x="1112410" y="2992419"/>
            <a:ext cx="6138228" cy="2461700"/>
          </a:xfrm>
          <a:prstGeom prst="rect">
            <a:avLst/>
          </a:prstGeom>
          <a:noFill/>
        </p:spPr>
        <p:txBody>
          <a:bodyPr wrap="square">
            <a:spAutoFit/>
          </a:bodyPr>
          <a:lstStyle/>
          <a:p>
            <a:pPr>
              <a:lnSpc>
                <a:spcPct val="200000"/>
              </a:lnSpc>
            </a:pPr>
            <a:r>
              <a:rPr lang="zh-CN" altLang="en-US" sz="2000" dirty="0">
                <a:latin typeface="+mn-lt"/>
                <a:ea typeface="+mj-ea"/>
                <a:sym typeface="Consolas" panose="020B0609020204030204" pitchFamily="49" charset="0"/>
              </a:rPr>
              <a:t>本节主要内容：</a:t>
            </a:r>
            <a:endParaRPr lang="en-US" altLang="zh-CN" sz="2000" dirty="0">
              <a:latin typeface="+mn-lt"/>
              <a:ea typeface="+mj-ea"/>
              <a:sym typeface="Consolas" panose="020B0609020204030204" pitchFamily="49" charset="0"/>
            </a:endParaRPr>
          </a:p>
          <a:p>
            <a:pPr>
              <a:lnSpc>
                <a:spcPct val="200000"/>
              </a:lnSpc>
            </a:pPr>
            <a:r>
              <a:rPr lang="en-US" altLang="zh-CN" sz="2000" dirty="0">
                <a:latin typeface="+mn-lt"/>
                <a:ea typeface="+mj-ea"/>
                <a:sym typeface="Consolas" panose="020B0609020204030204" pitchFamily="49" charset="0"/>
              </a:rPr>
              <a:t>8.4.1 </a:t>
            </a:r>
            <a:r>
              <a:rPr lang="zh-CN" altLang="en-US" sz="2000" dirty="0">
                <a:latin typeface="+mn-lt"/>
                <a:ea typeface="+mj-ea"/>
                <a:sym typeface="Consolas" panose="020B0609020204030204" pitchFamily="49" charset="0"/>
              </a:rPr>
              <a:t>线性回归分析</a:t>
            </a:r>
            <a:endParaRPr lang="en-US" altLang="zh-CN" sz="2000" dirty="0">
              <a:latin typeface="+mn-lt"/>
              <a:ea typeface="+mj-ea"/>
              <a:sym typeface="Consolas" panose="020B0609020204030204" pitchFamily="49" charset="0"/>
            </a:endParaRPr>
          </a:p>
          <a:p>
            <a:pPr>
              <a:lnSpc>
                <a:spcPct val="200000"/>
              </a:lnSpc>
            </a:pPr>
            <a:r>
              <a:rPr lang="en-US" altLang="zh-CN" sz="2000" dirty="0">
                <a:latin typeface="+mn-lt"/>
                <a:ea typeface="+mj-ea"/>
                <a:sym typeface="Consolas" panose="020B0609020204030204" pitchFamily="49" charset="0"/>
              </a:rPr>
              <a:t>8.4.2 </a:t>
            </a:r>
            <a:r>
              <a:rPr lang="zh-CN" altLang="en-US" sz="2000" dirty="0">
                <a:latin typeface="+mn-lt"/>
                <a:ea typeface="+mj-ea"/>
                <a:sym typeface="Consolas" panose="020B0609020204030204" pitchFamily="49" charset="0"/>
              </a:rPr>
              <a:t>空间滞后</a:t>
            </a:r>
            <a:r>
              <a:rPr lang="en-US" altLang="zh-CN" sz="2000" dirty="0">
                <a:latin typeface="+mn-lt"/>
                <a:ea typeface="+mj-ea"/>
                <a:sym typeface="Consolas" panose="020B0609020204030204" pitchFamily="49" charset="0"/>
              </a:rPr>
              <a:t>/</a:t>
            </a:r>
            <a:r>
              <a:rPr lang="zh-CN" altLang="en-US" sz="2000" dirty="0">
                <a:latin typeface="+mn-lt"/>
                <a:ea typeface="+mj-ea"/>
                <a:sym typeface="Consolas" panose="020B0609020204030204" pitchFamily="49" charset="0"/>
              </a:rPr>
              <a:t>模型</a:t>
            </a:r>
            <a:r>
              <a:rPr lang="en-US" altLang="zh-CN" sz="2000" dirty="0">
                <a:latin typeface="+mn-lt"/>
                <a:ea typeface="+mj-ea"/>
                <a:sym typeface="Consolas" panose="020B0609020204030204" pitchFamily="49" charset="0"/>
              </a:rPr>
              <a:t>/</a:t>
            </a:r>
            <a:r>
              <a:rPr lang="zh-CN" altLang="en-US" sz="2000" dirty="0">
                <a:latin typeface="+mn-lt"/>
                <a:ea typeface="+mj-ea"/>
                <a:sym typeface="Consolas" panose="020B0609020204030204" pitchFamily="49" charset="0"/>
              </a:rPr>
              <a:t>杜宾模型</a:t>
            </a:r>
            <a:endParaRPr lang="en-US" altLang="zh-CN" sz="2000" dirty="0">
              <a:latin typeface="+mn-lt"/>
              <a:ea typeface="+mj-ea"/>
              <a:sym typeface="Consolas" panose="020B0609020204030204" pitchFamily="49" charset="0"/>
            </a:endParaRPr>
          </a:p>
          <a:p>
            <a:pPr>
              <a:lnSpc>
                <a:spcPct val="200000"/>
              </a:lnSpc>
            </a:pPr>
            <a:r>
              <a:rPr lang="en-US" altLang="zh-CN" sz="2000" dirty="0">
                <a:latin typeface="+mn-lt"/>
                <a:ea typeface="+mj-ea"/>
                <a:sym typeface="Consolas" panose="020B0609020204030204" pitchFamily="49" charset="0"/>
              </a:rPr>
              <a:t>8.4.3 </a:t>
            </a:r>
            <a:r>
              <a:rPr lang="zh-CN" altLang="en-US" sz="2000" dirty="0">
                <a:latin typeface="+mn-lt"/>
                <a:ea typeface="+mj-ea"/>
                <a:sym typeface="Consolas" panose="020B0609020204030204" pitchFamily="49" charset="0"/>
              </a:rPr>
              <a:t>地理加权回归分析</a:t>
            </a:r>
            <a:r>
              <a:rPr lang="en-US" altLang="zh-CN" sz="2000" dirty="0">
                <a:latin typeface="+mn-lt"/>
                <a:ea typeface="+mj-ea"/>
                <a:sym typeface="Consolas" panose="020B0609020204030204" pitchFamily="49" charset="0"/>
              </a:rPr>
              <a:t>(</a:t>
            </a:r>
            <a:r>
              <a:rPr lang="zh-CN" altLang="en-US" sz="2000" dirty="0">
                <a:latin typeface="+mn-lt"/>
                <a:ea typeface="+mj-ea"/>
                <a:sym typeface="Consolas" panose="020B0609020204030204" pitchFamily="49" charset="0"/>
              </a:rPr>
              <a:t>基础</a:t>
            </a:r>
            <a:r>
              <a:rPr lang="en-US" altLang="zh-CN" sz="2000" dirty="0">
                <a:latin typeface="+mn-lt"/>
                <a:ea typeface="+mj-ea"/>
                <a:sym typeface="Consolas" panose="020B0609020204030204" pitchFamily="49" charset="0"/>
              </a:rPr>
              <a:t>+</a:t>
            </a:r>
            <a:r>
              <a:rPr lang="zh-CN" altLang="en-US" sz="2000" dirty="0">
                <a:latin typeface="+mn-lt"/>
                <a:ea typeface="+mj-ea"/>
                <a:sym typeface="Consolas" panose="020B0609020204030204" pitchFamily="49" charset="0"/>
              </a:rPr>
              <a:t>多尺度）</a:t>
            </a:r>
            <a:endParaRPr lang="en-US" altLang="zh-CN" sz="2000" dirty="0">
              <a:latin typeface="+mn-lt"/>
              <a:ea typeface="+mj-ea"/>
              <a:sym typeface="Consolas" panose="020B0609020204030204"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mn-lt"/>
                <a:sym typeface="Consolas" panose="020B0609020204030204" pitchFamily="49" charset="0"/>
              </a:rPr>
              <a:t>8.4.1 </a:t>
            </a:r>
            <a:r>
              <a:rPr lang="zh-CN" altLang="en-US" sz="3600" dirty="0">
                <a:latin typeface="+mn-lt"/>
                <a:sym typeface="Consolas" panose="020B0609020204030204" pitchFamily="49" charset="0"/>
              </a:rPr>
              <a:t>线性回归分析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38</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503241" y="1371600"/>
            <a:ext cx="8137525" cy="874407"/>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线性回归分析是最基础的回归分析方法，针对</a:t>
            </a:r>
            <a:r>
              <a:rPr lang="en-US" altLang="zh-CN" dirty="0">
                <a:latin typeface="Times New Roman" panose="02020603050405020304" charset="0"/>
                <a:ea typeface="+mj-ea"/>
                <a:cs typeface="Times New Roman" panose="02020603050405020304" charset="0"/>
                <a:sym typeface="Consolas" panose="020B0609020204030204" pitchFamily="49" charset="0"/>
              </a:rPr>
              <a:t>WHHP</a:t>
            </a:r>
            <a:r>
              <a:rPr lang="zh-CN" altLang="en-US" dirty="0">
                <a:latin typeface="Times New Roman" panose="02020603050405020304" charset="0"/>
                <a:ea typeface="+mj-ea"/>
                <a:cs typeface="Times New Roman" panose="02020603050405020304" charset="0"/>
                <a:sym typeface="Consolas" panose="020B0609020204030204" pitchFamily="49" charset="0"/>
              </a:rPr>
              <a:t>数据中房价和地均</a:t>
            </a:r>
            <a:r>
              <a:rPr lang="en-US" altLang="zh-CN" dirty="0">
                <a:latin typeface="Times New Roman" panose="02020603050405020304" charset="0"/>
                <a:ea typeface="+mj-ea"/>
                <a:cs typeface="Times New Roman" panose="02020603050405020304" charset="0"/>
                <a:sym typeface="Consolas" panose="020B0609020204030204" pitchFamily="49" charset="0"/>
              </a:rPr>
              <a:t>GDP</a:t>
            </a:r>
            <a:r>
              <a:rPr lang="zh-CN" altLang="en-US" dirty="0">
                <a:latin typeface="Times New Roman" panose="02020603050405020304" charset="0"/>
                <a:ea typeface="+mj-ea"/>
                <a:cs typeface="Times New Roman" panose="02020603050405020304" charset="0"/>
                <a:sym typeface="Consolas" panose="020B0609020204030204" pitchFamily="49" charset="0"/>
              </a:rPr>
              <a:t>作一元线性回归分析，可使用</a:t>
            </a:r>
            <a:r>
              <a:rPr lang="en-US" altLang="zh-CN" dirty="0">
                <a:latin typeface="Times New Roman" panose="02020603050405020304" charset="0"/>
                <a:ea typeface="+mj-ea"/>
                <a:cs typeface="Times New Roman" panose="02020603050405020304" charset="0"/>
                <a:sym typeface="Consolas" panose="020B0609020204030204" pitchFamily="49" charset="0"/>
              </a:rPr>
              <a:t>R</a:t>
            </a:r>
            <a:r>
              <a:rPr lang="zh-CN" altLang="en-US" dirty="0">
                <a:latin typeface="Times New Roman" panose="02020603050405020304" charset="0"/>
                <a:ea typeface="+mj-ea"/>
                <a:cs typeface="Times New Roman" panose="02020603050405020304" charset="0"/>
                <a:sym typeface="Consolas" panose="020B0609020204030204" pitchFamily="49" charset="0"/>
              </a:rPr>
              <a:t>中</a:t>
            </a:r>
            <a:r>
              <a:rPr lang="en-US" altLang="zh-CN" dirty="0">
                <a:latin typeface="Times New Roman" panose="02020603050405020304" charset="0"/>
                <a:ea typeface="+mj-ea"/>
                <a:cs typeface="Times New Roman" panose="02020603050405020304" charset="0"/>
                <a:sym typeface="Consolas" panose="020B0609020204030204" pitchFamily="49" charset="0"/>
              </a:rPr>
              <a:t>lm</a:t>
            </a:r>
            <a:r>
              <a:rPr lang="zh-CN" altLang="en-US" dirty="0">
                <a:latin typeface="Times New Roman" panose="02020603050405020304" charset="0"/>
                <a:ea typeface="+mj-ea"/>
                <a:cs typeface="Times New Roman" panose="02020603050405020304" charset="0"/>
                <a:sym typeface="Consolas" panose="020B0609020204030204" pitchFamily="49" charset="0"/>
              </a:rPr>
              <a:t>函数实现：</a:t>
            </a:r>
          </a:p>
        </p:txBody>
      </p:sp>
      <p:pic>
        <p:nvPicPr>
          <p:cNvPr id="12" name="图片 11"/>
          <p:cNvPicPr>
            <a:picLocks noChangeAspect="1"/>
          </p:cNvPicPr>
          <p:nvPr/>
        </p:nvPicPr>
        <p:blipFill>
          <a:blip r:embed="rId2"/>
          <a:stretch>
            <a:fillRect/>
          </a:stretch>
        </p:blipFill>
        <p:spPr>
          <a:xfrm>
            <a:off x="4181524" y="3395669"/>
            <a:ext cx="780952" cy="66667"/>
          </a:xfrm>
          <a:prstGeom prst="rect">
            <a:avLst/>
          </a:prstGeom>
        </p:spPr>
      </p:pic>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bwMode="auto">
          <a:xfrm>
            <a:off x="304800" y="3371650"/>
            <a:ext cx="4781551" cy="2587625"/>
          </a:xfrm>
          <a:prstGeom prst="rect">
            <a:avLst/>
          </a:prstGeom>
          <a:noFill/>
          <a:ln>
            <a:noFill/>
          </a:ln>
        </p:spPr>
      </p:pic>
      <p:pic>
        <p:nvPicPr>
          <p:cNvPr id="13" name="图片 12"/>
          <p:cNvPicPr/>
          <p:nvPr/>
        </p:nvPicPr>
        <p:blipFill rotWithShape="1">
          <a:blip r:embed="rId4"/>
          <a:srcRect t="3043" r="3482"/>
          <a:stretch>
            <a:fillRect/>
          </a:stretch>
        </p:blipFill>
        <p:spPr bwMode="auto">
          <a:xfrm>
            <a:off x="5075884" y="2590800"/>
            <a:ext cx="3818620" cy="3467100"/>
          </a:xfrm>
          <a:prstGeom prst="rect">
            <a:avLst/>
          </a:prstGeom>
          <a:ln>
            <a:noFill/>
          </a:ln>
        </p:spPr>
      </p:pic>
      <p:sp>
        <p:nvSpPr>
          <p:cNvPr id="3" name="文本框 2"/>
          <p:cNvSpPr txBox="1"/>
          <p:nvPr/>
        </p:nvSpPr>
        <p:spPr>
          <a:xfrm>
            <a:off x="312739" y="2438400"/>
            <a:ext cx="8801100" cy="63094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=WHHP)</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summary(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39</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247978" y="1066800"/>
            <a:ext cx="2646879"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线性回归结果解释</a:t>
            </a:r>
          </a:p>
        </p:txBody>
      </p:sp>
      <p:grpSp>
        <p:nvGrpSpPr>
          <p:cNvPr id="53" name="组合 52"/>
          <p:cNvGrpSpPr/>
          <p:nvPr/>
        </p:nvGrpSpPr>
        <p:grpSpPr>
          <a:xfrm>
            <a:off x="304800" y="1600200"/>
            <a:ext cx="8660998" cy="4566244"/>
            <a:chOff x="650395" y="1631082"/>
            <a:chExt cx="8660998" cy="4566243"/>
          </a:xfrm>
        </p:grpSpPr>
        <p:sp>
          <p:nvSpPr>
            <p:cNvPr id="44" name="矩形 43"/>
            <p:cNvSpPr/>
            <p:nvPr/>
          </p:nvSpPr>
          <p:spPr>
            <a:xfrm>
              <a:off x="3566234" y="2539726"/>
              <a:ext cx="5745159" cy="1397242"/>
            </a:xfrm>
            <a:prstGeom prst="rect">
              <a:avLst/>
            </a:prstGeom>
          </p:spPr>
          <p:txBody>
            <a:bodyPr wrap="square">
              <a:spAutoFit/>
            </a:bodyPr>
            <a:lstStyle/>
            <a:p>
              <a:pPr algn="just">
                <a:lnSpc>
                  <a:spcPct val="120000"/>
                </a:lnSpc>
              </a:pPr>
              <a:r>
                <a:rPr lang="zh-CN" altLang="en-US" dirty="0">
                  <a:latin typeface="+mn-lt"/>
                  <a:ea typeface="+mj-ea"/>
                  <a:sym typeface="Consolas" panose="020B0609020204030204" pitchFamily="49" charset="0"/>
                </a:rPr>
                <a:t>参数估计结果，其中“</a:t>
              </a:r>
              <a:r>
                <a:rPr lang="en-US" altLang="zh-CN" dirty="0">
                  <a:latin typeface="+mn-lt"/>
                  <a:ea typeface="+mj-ea"/>
                  <a:sym typeface="Consolas" panose="020B0609020204030204" pitchFamily="49" charset="0"/>
                </a:rPr>
                <a:t>Estimate</a:t>
              </a:r>
              <a:r>
                <a:rPr lang="zh-CN" altLang="en-US" dirty="0">
                  <a:latin typeface="+mn-lt"/>
                  <a:ea typeface="+mj-ea"/>
                  <a:sym typeface="Consolas" panose="020B0609020204030204" pitchFamily="49" charset="0"/>
                </a:rPr>
                <a:t>”列表示所估计的回归系数；“</a:t>
              </a:r>
              <a:r>
                <a:rPr lang="en-US" altLang="zh-CN" dirty="0" err="1">
                  <a:latin typeface="+mn-lt"/>
                  <a:ea typeface="+mj-ea"/>
                  <a:sym typeface="Consolas" panose="020B0609020204030204" pitchFamily="49" charset="0"/>
                </a:rPr>
                <a:t>Std.Error</a:t>
              </a:r>
              <a:r>
                <a:rPr lang="zh-CN" altLang="en-US" dirty="0">
                  <a:latin typeface="+mn-lt"/>
                  <a:ea typeface="+mj-ea"/>
                  <a:sym typeface="Consolas" panose="020B0609020204030204" pitchFamily="49" charset="0"/>
                </a:rPr>
                <a:t>”列表示对应回归系数的标准差；“</a:t>
              </a:r>
              <a:r>
                <a:rPr lang="en-US" altLang="zh-CN" dirty="0">
                  <a:latin typeface="+mn-lt"/>
                  <a:ea typeface="+mj-ea"/>
                  <a:sym typeface="Consolas" panose="020B0609020204030204" pitchFamily="49" charset="0"/>
                </a:rPr>
                <a:t>t value</a:t>
              </a:r>
              <a:r>
                <a:rPr lang="zh-CN" altLang="en-US" dirty="0">
                  <a:latin typeface="+mn-lt"/>
                  <a:ea typeface="+mj-ea"/>
                  <a:sym typeface="Consolas" panose="020B0609020204030204" pitchFamily="49" charset="0"/>
                </a:rPr>
                <a:t>”表示对应的</a:t>
              </a:r>
              <a:r>
                <a:rPr lang="en-US" altLang="zh-CN" dirty="0">
                  <a:latin typeface="+mn-lt"/>
                  <a:ea typeface="+mj-ea"/>
                  <a:sym typeface="Consolas" panose="020B0609020204030204" pitchFamily="49" charset="0"/>
                </a:rPr>
                <a:t>t</a:t>
              </a:r>
              <a:r>
                <a:rPr lang="zh-CN" altLang="en-US" dirty="0">
                  <a:latin typeface="+mn-lt"/>
                  <a:ea typeface="+mj-ea"/>
                  <a:sym typeface="Consolas" panose="020B0609020204030204" pitchFamily="49" charset="0"/>
                </a:rPr>
                <a:t>统计量；“</a:t>
              </a:r>
              <a:r>
                <a:rPr lang="en-US" altLang="zh-CN" dirty="0" err="1">
                  <a:latin typeface="+mn-lt"/>
                  <a:ea typeface="+mj-ea"/>
                  <a:sym typeface="Consolas" panose="020B0609020204030204" pitchFamily="49" charset="0"/>
                </a:rPr>
                <a:t>Pr</a:t>
              </a:r>
              <a:r>
                <a:rPr lang="en-US" altLang="zh-CN" dirty="0">
                  <a:latin typeface="+mn-lt"/>
                  <a:ea typeface="+mj-ea"/>
                  <a:sym typeface="Consolas" panose="020B0609020204030204" pitchFamily="49" charset="0"/>
                </a:rPr>
                <a:t>(&gt;|t|)</a:t>
              </a:r>
              <a:r>
                <a:rPr lang="zh-CN" altLang="en-US" dirty="0">
                  <a:latin typeface="+mn-lt"/>
                  <a:ea typeface="+mj-ea"/>
                  <a:sym typeface="Consolas" panose="020B0609020204030204" pitchFamily="49" charset="0"/>
                </a:rPr>
                <a:t>”表示</a:t>
              </a:r>
              <a:r>
                <a:rPr lang="en-US" altLang="zh-CN" dirty="0">
                  <a:latin typeface="+mn-lt"/>
                  <a:ea typeface="+mj-ea"/>
                  <a:sym typeface="Consolas" panose="020B0609020204030204" pitchFamily="49" charset="0"/>
                </a:rPr>
                <a:t>t</a:t>
              </a:r>
              <a:r>
                <a:rPr lang="zh-CN" altLang="en-US" dirty="0">
                  <a:latin typeface="+mn-lt"/>
                  <a:ea typeface="+mj-ea"/>
                  <a:sym typeface="Consolas" panose="020B0609020204030204" pitchFamily="49" charset="0"/>
                </a:rPr>
                <a:t>检验对应的</a:t>
              </a:r>
              <a:r>
                <a:rPr lang="en-US" altLang="zh-CN" dirty="0">
                  <a:latin typeface="+mn-lt"/>
                  <a:ea typeface="+mj-ea"/>
                  <a:sym typeface="Consolas" panose="020B0609020204030204" pitchFamily="49" charset="0"/>
                </a:rPr>
                <a:t>p</a:t>
              </a:r>
              <a:r>
                <a:rPr lang="zh-CN" altLang="en-US" dirty="0">
                  <a:latin typeface="+mn-lt"/>
                  <a:ea typeface="+mj-ea"/>
                  <a:sym typeface="Consolas" panose="020B0609020204030204" pitchFamily="49" charset="0"/>
                </a:rPr>
                <a:t>值；“*”表示对应的显著性水平</a:t>
              </a:r>
              <a:endParaRPr lang="en-US" altLang="zh-CN" dirty="0">
                <a:latin typeface="+mn-lt"/>
                <a:ea typeface="+mj-ea"/>
                <a:sym typeface="Consolas" panose="020B0609020204030204" pitchFamily="49" charset="0"/>
              </a:endParaRPr>
            </a:p>
          </p:txBody>
        </p:sp>
        <p:sp>
          <p:nvSpPr>
            <p:cNvPr id="15" name="îślidé"/>
            <p:cNvSpPr/>
            <p:nvPr/>
          </p:nvSpPr>
          <p:spPr>
            <a:xfrm>
              <a:off x="652510" y="1667038"/>
              <a:ext cx="2797523" cy="6635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tIns="46800" bIns="46800" anchor="ctr">
              <a:normAutofit/>
            </a:bodyPr>
            <a:lstStyle/>
            <a:p>
              <a:pPr algn="ctr">
                <a:lnSpc>
                  <a:spcPct val="120000"/>
                </a:lnSpc>
              </a:pPr>
              <a:r>
                <a:rPr lang="en-US" altLang="zh-CN" b="1" dirty="0">
                  <a:ea typeface="+mj-ea"/>
                  <a:sym typeface="Consolas" panose="020B0609020204030204" pitchFamily="49" charset="0"/>
                </a:rPr>
                <a:t>Residuals</a:t>
              </a:r>
              <a:endParaRPr lang="zh-CN" altLang="en-US" b="1" dirty="0">
                <a:ea typeface="+mj-ea"/>
                <a:sym typeface="Consolas" panose="020B0609020204030204" pitchFamily="49" charset="0"/>
              </a:endParaRPr>
            </a:p>
          </p:txBody>
        </p:sp>
        <p:sp>
          <p:nvSpPr>
            <p:cNvPr id="16" name="îş1iḑe"/>
            <p:cNvSpPr/>
            <p:nvPr/>
          </p:nvSpPr>
          <p:spPr>
            <a:xfrm>
              <a:off x="655638" y="2573544"/>
              <a:ext cx="2797523" cy="133371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tIns="46800" bIns="46800" anchor="ctr">
              <a:normAutofit/>
            </a:bodyPr>
            <a:lstStyle/>
            <a:p>
              <a:pPr algn="ctr">
                <a:lnSpc>
                  <a:spcPct val="120000"/>
                </a:lnSpc>
              </a:pPr>
              <a:r>
                <a:rPr lang="en-US" altLang="zh-CN" b="1" dirty="0">
                  <a:ea typeface="+mj-ea"/>
                  <a:sym typeface="Consolas" panose="020B0609020204030204" pitchFamily="49" charset="0"/>
                </a:rPr>
                <a:t>Coefficients</a:t>
              </a:r>
              <a:endParaRPr lang="zh-CN" altLang="en-US" b="1" dirty="0">
                <a:ea typeface="+mj-ea"/>
                <a:sym typeface="Consolas" panose="020B0609020204030204" pitchFamily="49" charset="0"/>
              </a:endParaRPr>
            </a:p>
          </p:txBody>
        </p:sp>
        <p:sp>
          <p:nvSpPr>
            <p:cNvPr id="17" name="iṩ1íḓê"/>
            <p:cNvSpPr/>
            <p:nvPr/>
          </p:nvSpPr>
          <p:spPr>
            <a:xfrm>
              <a:off x="655292" y="4913542"/>
              <a:ext cx="2797523" cy="520427"/>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tIns="46800" bIns="46800" anchor="ctr">
              <a:normAutofit/>
            </a:bodyPr>
            <a:lstStyle/>
            <a:p>
              <a:pPr algn="ctr">
                <a:lnSpc>
                  <a:spcPct val="120000"/>
                </a:lnSpc>
              </a:pPr>
              <a:r>
                <a:rPr lang="en-US" altLang="zh-CN" b="1" dirty="0">
                  <a:ea typeface="+mj-ea"/>
                  <a:sym typeface="Consolas" panose="020B0609020204030204" pitchFamily="49" charset="0"/>
                </a:rPr>
                <a:t>Multiple R-squared</a:t>
              </a:r>
              <a:endParaRPr lang="zh-CN" altLang="en-US" b="1" dirty="0">
                <a:ea typeface="+mj-ea"/>
                <a:sym typeface="Consolas" panose="020B0609020204030204" pitchFamily="49" charset="0"/>
              </a:endParaRPr>
            </a:p>
          </p:txBody>
        </p:sp>
        <p:sp>
          <p:nvSpPr>
            <p:cNvPr id="18" name="ïṩlíďe"/>
            <p:cNvSpPr/>
            <p:nvPr/>
          </p:nvSpPr>
          <p:spPr>
            <a:xfrm>
              <a:off x="655638" y="4150184"/>
              <a:ext cx="2797523" cy="520427"/>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tIns="46800" bIns="46800" anchor="ctr">
              <a:normAutofit/>
            </a:bodyPr>
            <a:lstStyle/>
            <a:p>
              <a:pPr algn="ctr">
                <a:lnSpc>
                  <a:spcPct val="120000"/>
                </a:lnSpc>
              </a:pPr>
              <a:r>
                <a:rPr lang="en-US" altLang="zh-CN" b="1" dirty="0">
                  <a:ea typeface="+mj-ea"/>
                  <a:sym typeface="Consolas" panose="020B0609020204030204" pitchFamily="49" charset="0"/>
                </a:rPr>
                <a:t>Residual standard error</a:t>
              </a:r>
              <a:endParaRPr lang="zh-CN" altLang="en-US" b="1" dirty="0">
                <a:ea typeface="+mj-ea"/>
                <a:sym typeface="Consolas" panose="020B0609020204030204" pitchFamily="49" charset="0"/>
              </a:endParaRPr>
            </a:p>
          </p:txBody>
        </p:sp>
        <p:sp>
          <p:nvSpPr>
            <p:cNvPr id="19" name="ïṩḻïďè"/>
            <p:cNvSpPr/>
            <p:nvPr/>
          </p:nvSpPr>
          <p:spPr>
            <a:xfrm>
              <a:off x="650395" y="5676898"/>
              <a:ext cx="2799638" cy="520427"/>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tIns="46800" bIns="46800" anchor="ctr">
              <a:normAutofit/>
            </a:bodyPr>
            <a:lstStyle/>
            <a:p>
              <a:pPr algn="ctr">
                <a:lnSpc>
                  <a:spcPct val="120000"/>
                </a:lnSpc>
              </a:pPr>
              <a:r>
                <a:rPr lang="en-US" altLang="zh-CN" b="1" dirty="0">
                  <a:ea typeface="+mj-ea"/>
                  <a:sym typeface="Consolas" panose="020B0609020204030204" pitchFamily="49" charset="0"/>
                </a:rPr>
                <a:t>F-statistic</a:t>
              </a:r>
              <a:endParaRPr lang="zh-CN" altLang="en-US" b="1" dirty="0">
                <a:ea typeface="+mj-ea"/>
                <a:sym typeface="Consolas" panose="020B0609020204030204" pitchFamily="49" charset="0"/>
              </a:endParaRPr>
            </a:p>
          </p:txBody>
        </p:sp>
        <p:sp>
          <p:nvSpPr>
            <p:cNvPr id="5" name="矩形 4"/>
            <p:cNvSpPr/>
            <p:nvPr/>
          </p:nvSpPr>
          <p:spPr>
            <a:xfrm>
              <a:off x="3599490" y="1631082"/>
              <a:ext cx="5369003" cy="732445"/>
            </a:xfrm>
            <a:prstGeom prst="rect">
              <a:avLst/>
            </a:prstGeom>
          </p:spPr>
          <p:txBody>
            <a:bodyPr wrap="square">
              <a:spAutoFit/>
            </a:bodyPr>
            <a:lstStyle/>
            <a:p>
              <a:pPr algn="just">
                <a:lnSpc>
                  <a:spcPct val="120000"/>
                </a:lnSpc>
              </a:pPr>
              <a:r>
                <a:rPr lang="zh-CN" altLang="en-US" dirty="0">
                  <a:latin typeface="+mn-lt"/>
                  <a:ea typeface="+mj-ea"/>
                  <a:sym typeface="Consolas" panose="020B0609020204030204" pitchFamily="49" charset="0"/>
                </a:rPr>
                <a:t>残差项的汇总统计，列出了残差的最小值、</a:t>
              </a:r>
              <a:r>
                <a:rPr lang="en-US" altLang="zh-CN" dirty="0">
                  <a:latin typeface="+mn-lt"/>
                  <a:ea typeface="+mj-ea"/>
                  <a:sym typeface="Consolas" panose="020B0609020204030204" pitchFamily="49" charset="0"/>
                </a:rPr>
                <a:t>20%</a:t>
              </a:r>
              <a:r>
                <a:rPr lang="zh-CN" altLang="en-US" dirty="0">
                  <a:latin typeface="+mn-lt"/>
                  <a:ea typeface="+mj-ea"/>
                  <a:sym typeface="Consolas" panose="020B0609020204030204" pitchFamily="49" charset="0"/>
                </a:rPr>
                <a:t>分位数、中值、</a:t>
              </a:r>
              <a:r>
                <a:rPr lang="en-US" altLang="zh-CN" dirty="0">
                  <a:latin typeface="+mn-lt"/>
                  <a:ea typeface="+mj-ea"/>
                  <a:sym typeface="Consolas" panose="020B0609020204030204" pitchFamily="49" charset="0"/>
                </a:rPr>
                <a:t>75%</a:t>
              </a:r>
              <a:r>
                <a:rPr lang="zh-CN" altLang="en-US" dirty="0">
                  <a:latin typeface="+mn-lt"/>
                  <a:ea typeface="+mj-ea"/>
                  <a:sym typeface="Consolas" panose="020B0609020204030204" pitchFamily="49" charset="0"/>
                </a:rPr>
                <a:t>分位数和最大值点</a:t>
              </a:r>
            </a:p>
          </p:txBody>
        </p:sp>
        <p:sp>
          <p:nvSpPr>
            <p:cNvPr id="45" name="矩形 44"/>
            <p:cNvSpPr/>
            <p:nvPr/>
          </p:nvSpPr>
          <p:spPr>
            <a:xfrm>
              <a:off x="3623097" y="4216125"/>
              <a:ext cx="5531051" cy="400046"/>
            </a:xfrm>
            <a:prstGeom prst="rect">
              <a:avLst/>
            </a:prstGeom>
          </p:spPr>
          <p:txBody>
            <a:bodyPr wrap="square">
              <a:spAutoFit/>
            </a:bodyPr>
            <a:lstStyle/>
            <a:p>
              <a:pPr>
                <a:lnSpc>
                  <a:spcPct val="120000"/>
                </a:lnSpc>
              </a:pPr>
              <a:r>
                <a:rPr lang="zh-CN" altLang="en-US" dirty="0">
                  <a:latin typeface="+mn-lt"/>
                  <a:ea typeface="微软雅黑" panose="020B0503020204020204" pitchFamily="34" charset="-122"/>
                  <a:sym typeface="Consolas" panose="020B0609020204030204" pitchFamily="49" charset="0"/>
                </a:rPr>
                <a:t>标准化残差</a:t>
              </a:r>
            </a:p>
          </p:txBody>
        </p:sp>
        <p:sp>
          <p:nvSpPr>
            <p:cNvPr id="46" name="矩形 45"/>
            <p:cNvSpPr/>
            <p:nvPr/>
          </p:nvSpPr>
          <p:spPr>
            <a:xfrm>
              <a:off x="3623097" y="4978125"/>
              <a:ext cx="4370778" cy="400046"/>
            </a:xfrm>
            <a:prstGeom prst="rect">
              <a:avLst/>
            </a:prstGeom>
          </p:spPr>
          <p:txBody>
            <a:bodyPr wrap="square">
              <a:spAutoFit/>
            </a:bodyPr>
            <a:lstStyle/>
            <a:p>
              <a:pPr>
                <a:lnSpc>
                  <a:spcPct val="120000"/>
                </a:lnSpc>
              </a:pPr>
              <a:r>
                <a:rPr lang="en-US" altLang="zh-CN" dirty="0">
                  <a:latin typeface="+mn-lt"/>
                  <a:ea typeface="微软雅黑" panose="020B0503020204020204" pitchFamily="34" charset="-122"/>
                  <a:sym typeface="Consolas" panose="020B0609020204030204" pitchFamily="49" charset="0"/>
                </a:rPr>
                <a:t>R</a:t>
              </a:r>
              <a:r>
                <a:rPr lang="zh-CN" altLang="en-US" dirty="0">
                  <a:latin typeface="+mn-lt"/>
                  <a:ea typeface="微软雅黑" panose="020B0503020204020204" pitchFamily="34" charset="-122"/>
                  <a:sym typeface="Consolas" panose="020B0609020204030204" pitchFamily="49" charset="0"/>
                </a:rPr>
                <a:t>方值的大小</a:t>
              </a:r>
            </a:p>
          </p:txBody>
        </p:sp>
        <p:sp>
          <p:nvSpPr>
            <p:cNvPr id="47" name="矩形 46"/>
            <p:cNvSpPr/>
            <p:nvPr/>
          </p:nvSpPr>
          <p:spPr>
            <a:xfrm>
              <a:off x="3645215" y="5714998"/>
              <a:ext cx="4370778" cy="400046"/>
            </a:xfrm>
            <a:prstGeom prst="rect">
              <a:avLst/>
            </a:prstGeom>
          </p:spPr>
          <p:txBody>
            <a:bodyPr wrap="square">
              <a:spAutoFit/>
            </a:bodyPr>
            <a:lstStyle/>
            <a:p>
              <a:pPr>
                <a:lnSpc>
                  <a:spcPct val="120000"/>
                </a:lnSpc>
              </a:pPr>
              <a:r>
                <a:rPr lang="zh-CN" altLang="en-US" dirty="0">
                  <a:latin typeface="+mn-lt"/>
                  <a:ea typeface="微软雅黑" panose="020B0503020204020204" pitchFamily="34" charset="-122"/>
                  <a:sym typeface="Consolas" panose="020B0609020204030204" pitchFamily="49" charset="0"/>
                </a:rPr>
                <a:t>回归分析模型的</a:t>
              </a:r>
              <a:r>
                <a:rPr lang="en-US" altLang="zh-CN" dirty="0">
                  <a:latin typeface="+mn-lt"/>
                  <a:ea typeface="微软雅黑" panose="020B0503020204020204" pitchFamily="34" charset="-122"/>
                  <a:sym typeface="Consolas" panose="020B0609020204030204" pitchFamily="49" charset="0"/>
                </a:rPr>
                <a:t>F</a:t>
              </a:r>
              <a:r>
                <a:rPr lang="zh-CN" altLang="en-US" dirty="0">
                  <a:latin typeface="+mn-lt"/>
                  <a:ea typeface="微软雅黑" panose="020B0503020204020204" pitchFamily="34" charset="-122"/>
                  <a:sym typeface="Consolas" panose="020B0609020204030204" pitchFamily="49" charset="0"/>
                </a:rPr>
                <a:t>检验统计量</a:t>
              </a:r>
            </a:p>
          </p:txBody>
        </p:sp>
      </p:grpSp>
      <p:sp>
        <p:nvSpPr>
          <p:cNvPr id="8" name="标题 1">
            <a:extLst>
              <a:ext uri="{FF2B5EF4-FFF2-40B4-BE49-F238E27FC236}">
                <a16:creationId xmlns:a16="http://schemas.microsoft.com/office/drawing/2014/main" id="{70B58788-6C09-5FEA-4F0A-1682D3B6B0A7}"/>
              </a:ext>
            </a:extLst>
          </p:cNvPr>
          <p:cNvSpPr>
            <a:spLocks noGrp="1"/>
          </p:cNvSpPr>
          <p:nvPr>
            <p:ph type="title"/>
          </p:nvPr>
        </p:nvSpPr>
        <p:spPr>
          <a:xfrm>
            <a:off x="1181101" y="342900"/>
            <a:ext cx="6896099" cy="663575"/>
          </a:xfrm>
        </p:spPr>
        <p:txBody>
          <a:bodyPr lIns="0"/>
          <a:lstStyle/>
          <a:p>
            <a:pPr algn="l"/>
            <a:r>
              <a:rPr lang="en-US" altLang="zh-CN" sz="3600" dirty="0">
                <a:latin typeface="+mn-lt"/>
                <a:sym typeface="Consolas" panose="020B0609020204030204" pitchFamily="49" charset="0"/>
              </a:rPr>
              <a:t>8.4.1 </a:t>
            </a:r>
            <a:r>
              <a:rPr lang="zh-CN" altLang="en-US" sz="3600" dirty="0">
                <a:latin typeface="+mn-lt"/>
                <a:sym typeface="Consolas" panose="020B0609020204030204" pitchFamily="49" charset="0"/>
              </a:rPr>
              <a:t>线性回归分析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40</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650083" y="1181100"/>
            <a:ext cx="7840659" cy="1064843"/>
          </a:xfrm>
          <a:prstGeom prst="rect">
            <a:avLst/>
          </a:prstGeom>
        </p:spPr>
        <p:txBody>
          <a:bodyPr wrap="square">
            <a:spAutoFit/>
          </a:bodyPr>
          <a:lstStyle/>
          <a:p>
            <a:pPr indent="457200">
              <a:lnSpc>
                <a:spcPct val="120000"/>
              </a:lnSpc>
            </a:pPr>
            <a:r>
              <a:rPr lang="zh-CN" altLang="en-US" dirty="0">
                <a:latin typeface="+mn-lt"/>
                <a:ea typeface="+mj-ea"/>
                <a:sym typeface="Consolas" panose="020B0609020204030204" pitchFamily="49" charset="0"/>
              </a:rPr>
              <a:t>使用武汉市房价与环境要素（</a:t>
            </a:r>
            <a:r>
              <a:rPr lang="en-US" altLang="zh-CN" dirty="0" err="1">
                <a:latin typeface="+mn-lt"/>
                <a:ea typeface="+mj-ea"/>
                <a:sym typeface="Consolas" panose="020B0609020204030204" pitchFamily="49" charset="0"/>
              </a:rPr>
              <a:t>Annual_AQI</a:t>
            </a:r>
            <a:r>
              <a:rPr lang="zh-CN" altLang="en-US" dirty="0">
                <a:latin typeface="+mn-lt"/>
                <a:ea typeface="+mj-ea"/>
                <a:sym typeface="Consolas" panose="020B0609020204030204" pitchFamily="49" charset="0"/>
              </a:rPr>
              <a:t>、</a:t>
            </a:r>
            <a:r>
              <a:rPr lang="en-US" altLang="zh-CN" dirty="0" err="1">
                <a:latin typeface="+mn-lt"/>
                <a:ea typeface="+mj-ea"/>
                <a:sym typeface="Consolas" panose="020B0609020204030204" pitchFamily="49" charset="0"/>
              </a:rPr>
              <a:t>Green_Rate</a:t>
            </a:r>
            <a:r>
              <a:rPr lang="zh-CN" altLang="en-US" dirty="0">
                <a:latin typeface="+mn-lt"/>
                <a:ea typeface="+mj-ea"/>
                <a:sym typeface="Consolas" panose="020B0609020204030204" pitchFamily="49" charset="0"/>
              </a:rPr>
              <a:t>）、经济要素（</a:t>
            </a:r>
            <a:r>
              <a:rPr lang="en-US" altLang="zh-CN" dirty="0" err="1">
                <a:latin typeface="+mn-lt"/>
                <a:ea typeface="+mj-ea"/>
                <a:sym typeface="Consolas" panose="020B0609020204030204" pitchFamily="49" charset="0"/>
              </a:rPr>
              <a:t>GDP_per_Land</a:t>
            </a:r>
            <a:r>
              <a:rPr lang="en-US" altLang="zh-CN" dirty="0">
                <a:latin typeface="+mn-lt"/>
                <a:ea typeface="+mj-ea"/>
                <a:sym typeface="Consolas" panose="020B0609020204030204" pitchFamily="49" charset="0"/>
              </a:rPr>
              <a:t> </a:t>
            </a:r>
            <a:r>
              <a:rPr lang="zh-CN" altLang="en-US" dirty="0">
                <a:latin typeface="+mn-lt"/>
                <a:ea typeface="+mj-ea"/>
                <a:sym typeface="Consolas" panose="020B0609020204030204" pitchFamily="49" charset="0"/>
              </a:rPr>
              <a:t>、 </a:t>
            </a:r>
            <a:r>
              <a:rPr lang="en-US" altLang="zh-CN" dirty="0" err="1">
                <a:latin typeface="+mn-lt"/>
                <a:ea typeface="+mj-ea"/>
                <a:sym typeface="Consolas" panose="020B0609020204030204" pitchFamily="49" charset="0"/>
              </a:rPr>
              <a:t>Rev_per_Land</a:t>
            </a:r>
            <a:r>
              <a:rPr lang="en-US" altLang="zh-CN" dirty="0">
                <a:latin typeface="+mn-lt"/>
                <a:ea typeface="+mj-ea"/>
                <a:sym typeface="Consolas" panose="020B0609020204030204" pitchFamily="49" charset="0"/>
              </a:rPr>
              <a:t> </a:t>
            </a:r>
            <a:r>
              <a:rPr lang="zh-CN" altLang="en-US" dirty="0">
                <a:latin typeface="+mn-lt"/>
                <a:ea typeface="+mj-ea"/>
                <a:sym typeface="Consolas" panose="020B0609020204030204" pitchFamily="49" charset="0"/>
              </a:rPr>
              <a:t>、 </a:t>
            </a:r>
            <a:r>
              <a:rPr lang="en-US" altLang="zh-CN" dirty="0" err="1">
                <a:latin typeface="+mn-lt"/>
                <a:ea typeface="+mj-ea"/>
                <a:sym typeface="Consolas" panose="020B0609020204030204" pitchFamily="49" charset="0"/>
              </a:rPr>
              <a:t>FAI_per_Land</a:t>
            </a:r>
            <a:r>
              <a:rPr lang="zh-CN" altLang="en-US" dirty="0">
                <a:latin typeface="+mn-lt"/>
                <a:ea typeface="+mj-ea"/>
                <a:sym typeface="Consolas" panose="020B0609020204030204" pitchFamily="49" charset="0"/>
              </a:rPr>
              <a:t>和</a:t>
            </a:r>
            <a:r>
              <a:rPr lang="en-US" altLang="zh-CN" dirty="0" err="1">
                <a:latin typeface="+mn-lt"/>
                <a:ea typeface="+mj-ea"/>
                <a:sym typeface="Consolas" panose="020B0609020204030204" pitchFamily="49" charset="0"/>
              </a:rPr>
              <a:t>TertI_Rate</a:t>
            </a:r>
            <a:r>
              <a:rPr lang="zh-CN" altLang="en-US" dirty="0">
                <a:latin typeface="+mn-lt"/>
                <a:ea typeface="+mj-ea"/>
                <a:sym typeface="Consolas" panose="020B0609020204030204" pitchFamily="49" charset="0"/>
              </a:rPr>
              <a:t>）和其他要素（</a:t>
            </a:r>
            <a:r>
              <a:rPr lang="en-US" altLang="zh-CN" dirty="0" err="1">
                <a:latin typeface="+mn-lt"/>
                <a:ea typeface="+mj-ea"/>
                <a:sym typeface="Consolas" panose="020B0609020204030204" pitchFamily="49" charset="0"/>
              </a:rPr>
              <a:t>Den_POI</a:t>
            </a:r>
            <a:r>
              <a:rPr lang="zh-CN" altLang="en-US" dirty="0">
                <a:latin typeface="+mn-lt"/>
                <a:ea typeface="+mj-ea"/>
                <a:sym typeface="Consolas" panose="020B0609020204030204" pitchFamily="49" charset="0"/>
              </a:rPr>
              <a:t>、</a:t>
            </a:r>
            <a:r>
              <a:rPr lang="en-US" altLang="zh-CN" dirty="0" err="1">
                <a:latin typeface="+mn-lt"/>
                <a:ea typeface="+mj-ea"/>
                <a:sym typeface="Consolas" panose="020B0609020204030204" pitchFamily="49" charset="0"/>
              </a:rPr>
              <a:t>Pop_Den</a:t>
            </a:r>
            <a:r>
              <a:rPr lang="zh-CN" altLang="en-US" dirty="0">
                <a:latin typeface="+mn-lt"/>
                <a:ea typeface="+mj-ea"/>
                <a:sym typeface="Consolas" panose="020B0609020204030204" pitchFamily="49" charset="0"/>
              </a:rPr>
              <a:t>），通过</a:t>
            </a:r>
            <a:r>
              <a:rPr lang="en-US" altLang="zh-CN" dirty="0" err="1">
                <a:latin typeface="+mn-lt"/>
                <a:ea typeface="+mj-ea"/>
                <a:sym typeface="Consolas" panose="020B0609020204030204" pitchFamily="49" charset="0"/>
              </a:rPr>
              <a:t>lm</a:t>
            </a:r>
            <a:r>
              <a:rPr lang="zh-CN" altLang="en-US" dirty="0">
                <a:latin typeface="+mn-lt"/>
                <a:ea typeface="+mj-ea"/>
                <a:sym typeface="Consolas" panose="020B0609020204030204" pitchFamily="49" charset="0"/>
              </a:rPr>
              <a:t>函数，进行多元回归分析。</a:t>
            </a:r>
            <a:endParaRPr lang="en-US" altLang="zh-CN" dirty="0">
              <a:latin typeface="+mn-lt"/>
              <a:ea typeface="+mj-ea"/>
              <a:sym typeface="Consolas" panose="020B0609020204030204" pitchFamily="49" charset="0"/>
            </a:endParaRPr>
          </a:p>
        </p:txBody>
      </p:sp>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2209801" y="3048000"/>
            <a:ext cx="4665380" cy="3467100"/>
          </a:xfrm>
          <a:prstGeom prst="rect">
            <a:avLst/>
          </a:prstGeom>
          <a:noFill/>
          <a:ln>
            <a:noFill/>
          </a:ln>
        </p:spPr>
      </p:pic>
      <p:sp>
        <p:nvSpPr>
          <p:cNvPr id="6" name="文本框 5"/>
          <p:cNvSpPr txBox="1"/>
          <p:nvPr/>
        </p:nvSpPr>
        <p:spPr>
          <a:xfrm>
            <a:off x="342900" y="2362200"/>
            <a:ext cx="8801100" cy="63094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Annual_AQI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FAI_per_Land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TertI_Rate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data=WHHP)</a:t>
            </a:r>
            <a:endParaRPr lang="en-US" altLang="zh-CN" sz="16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summary(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lm_WH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p:txBody>
      </p:sp>
      <p:sp>
        <p:nvSpPr>
          <p:cNvPr id="9" name="标题 1">
            <a:extLst>
              <a:ext uri="{FF2B5EF4-FFF2-40B4-BE49-F238E27FC236}">
                <a16:creationId xmlns:a16="http://schemas.microsoft.com/office/drawing/2014/main" id="{B9B9D259-5D4B-721F-02DD-3BB759352238}"/>
              </a:ext>
            </a:extLst>
          </p:cNvPr>
          <p:cNvSpPr>
            <a:spLocks noGrp="1"/>
          </p:cNvSpPr>
          <p:nvPr>
            <p:ph type="title"/>
          </p:nvPr>
        </p:nvSpPr>
        <p:spPr>
          <a:xfrm>
            <a:off x="1181101" y="342900"/>
            <a:ext cx="6896099" cy="663575"/>
          </a:xfrm>
        </p:spPr>
        <p:txBody>
          <a:bodyPr lIns="0"/>
          <a:lstStyle/>
          <a:p>
            <a:pPr algn="l"/>
            <a:r>
              <a:rPr lang="en-US" altLang="zh-CN" sz="3600" dirty="0">
                <a:latin typeface="+mn-lt"/>
                <a:sym typeface="Consolas" panose="020B0609020204030204" pitchFamily="49" charset="0"/>
              </a:rPr>
              <a:t>8.4.1 </a:t>
            </a:r>
            <a:r>
              <a:rPr lang="zh-CN" altLang="en-US" sz="3600" dirty="0">
                <a:latin typeface="+mn-lt"/>
                <a:sym typeface="Consolas" panose="020B0609020204030204" pitchFamily="49" charset="0"/>
              </a:rPr>
              <a:t>线性回归分析</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41</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空间滞后模型</a:t>
            </a:r>
          </a:p>
        </p:txBody>
      </p:sp>
      <p:sp>
        <p:nvSpPr>
          <p:cNvPr id="5" name="矩形 4"/>
          <p:cNvSpPr/>
          <p:nvPr/>
        </p:nvSpPr>
        <p:spPr>
          <a:xfrm>
            <a:off x="266700" y="1600200"/>
            <a:ext cx="8648701" cy="4293483"/>
          </a:xfrm>
          <a:prstGeom prst="rect">
            <a:avLst/>
          </a:prstGeom>
        </p:spPr>
        <p:txBody>
          <a:bodyPr wrap="square">
            <a:spAutoFit/>
          </a:bodyPr>
          <a:lstStyle/>
          <a:p>
            <a:pPr indent="457200">
              <a:lnSpc>
                <a:spcPct val="150000"/>
              </a:lnSpc>
            </a:pPr>
            <a:r>
              <a:rPr lang="zh-CN" altLang="zh-CN" kern="0" dirty="0">
                <a:latin typeface="Times New Roman" panose="02020603050405020304" charset="0"/>
                <a:ea typeface="+mj-ea"/>
                <a:cs typeface="Times New Roman" panose="02020603050405020304" charset="0"/>
              </a:rPr>
              <a:t>空间滞后模型（</a:t>
            </a:r>
            <a:r>
              <a:rPr lang="en-US" altLang="zh-CN" kern="0" dirty="0">
                <a:latin typeface="Times New Roman" panose="02020603050405020304" charset="0"/>
                <a:ea typeface="+mj-ea"/>
                <a:cs typeface="Times New Roman" panose="02020603050405020304" charset="0"/>
              </a:rPr>
              <a:t>Spatial Lag Model, SLM</a:t>
            </a:r>
            <a:r>
              <a:rPr lang="zh-CN" altLang="zh-CN" kern="0" dirty="0">
                <a:latin typeface="Times New Roman" panose="02020603050405020304" charset="0"/>
                <a:ea typeface="+mj-ea"/>
                <a:cs typeface="Times New Roman" panose="02020603050405020304" charset="0"/>
              </a:rPr>
              <a:t>）</a:t>
            </a:r>
            <a:r>
              <a:rPr lang="zh-CN" altLang="en-US" kern="0" dirty="0">
                <a:latin typeface="Times New Roman" panose="02020603050405020304" charset="0"/>
                <a:ea typeface="+mj-ea"/>
                <a:cs typeface="Times New Roman" panose="02020603050405020304" charset="0"/>
              </a:rPr>
              <a:t>：主要考虑因变量间存在的空间依赖性特征，通过引入滞后因子针对其进行建模：</a:t>
            </a: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r>
              <a:rPr lang="en-US" altLang="zh-CN" i="1" dirty="0">
                <a:latin typeface="Times New Roman" panose="02020603050405020304" charset="0"/>
                <a:ea typeface="+mj-ea"/>
                <a:cs typeface="Times New Roman" panose="02020603050405020304" charset="0"/>
              </a:rPr>
              <a:t>ρ</a:t>
            </a:r>
            <a:r>
              <a:rPr lang="zh-CN" altLang="en-US" i="1" dirty="0">
                <a:latin typeface="Times New Roman" panose="02020603050405020304" charset="0"/>
                <a:ea typeface="+mj-ea"/>
                <a:cs typeface="Times New Roman" panose="02020603050405020304" charset="0"/>
              </a:rPr>
              <a:t>：</a:t>
            </a:r>
            <a:r>
              <a:rPr lang="zh-CN" altLang="en-US" dirty="0">
                <a:latin typeface="Times New Roman" panose="02020603050405020304" charset="0"/>
                <a:ea typeface="+mj-ea"/>
                <a:cs typeface="Times New Roman" panose="02020603050405020304" charset="0"/>
              </a:rPr>
              <a:t>空间滞后系数，衡量邻居对因变量的影响强度，通常取值范围为 </a:t>
            </a:r>
            <a:r>
              <a:rPr lang="en-US" altLang="zh-CN" dirty="0">
                <a:latin typeface="Times New Roman" panose="02020603050405020304" charset="0"/>
                <a:ea typeface="+mj-ea"/>
                <a:cs typeface="Times New Roman" panose="02020603050405020304" charset="0"/>
              </a:rPr>
              <a:t>(-1, 1)</a:t>
            </a:r>
            <a:r>
              <a:rPr lang="zh-CN" altLang="en-US" dirty="0">
                <a:latin typeface="Times New Roman" panose="02020603050405020304" charset="0"/>
                <a:ea typeface="+mj-ea"/>
                <a:cs typeface="Times New Roman" panose="02020603050405020304" charset="0"/>
              </a:rPr>
              <a:t>，</a:t>
            </a:r>
            <a:r>
              <a:rPr lang="en-US" altLang="zh-CN" i="1" dirty="0">
                <a:latin typeface="Times New Roman" panose="02020603050405020304" charset="0"/>
                <a:ea typeface="+mj-ea"/>
                <a:cs typeface="Times New Roman" panose="02020603050405020304" charset="0"/>
              </a:rPr>
              <a:t> ρ</a:t>
            </a:r>
            <a:r>
              <a:rPr lang="en-US" altLang="zh-CN" dirty="0">
                <a:latin typeface="Times New Roman" panose="02020603050405020304" charset="0"/>
                <a:ea typeface="+mj-ea"/>
                <a:cs typeface="Times New Roman" panose="02020603050405020304" charset="0"/>
              </a:rPr>
              <a:t>&gt;0</a:t>
            </a:r>
            <a:r>
              <a:rPr lang="zh-CN" altLang="en-US" dirty="0">
                <a:latin typeface="Times New Roman" panose="02020603050405020304" charset="0"/>
                <a:ea typeface="+mj-ea"/>
                <a:cs typeface="Times New Roman" panose="02020603050405020304" charset="0"/>
              </a:rPr>
              <a:t>代表正向空间溢出效应，反之代表负向空间抑制效应；</a:t>
            </a:r>
          </a:p>
          <a:p>
            <a:pPr marL="285750" indent="457200">
              <a:lnSpc>
                <a:spcPct val="150000"/>
              </a:lnSpc>
              <a:buFont typeface="Wingdings" panose="05000000000000000000" pitchFamily="2" charset="2"/>
              <a:buChar char="ü"/>
            </a:pPr>
            <a:r>
              <a:rPr lang="en-US" altLang="zh-CN" i="1" dirty="0">
                <a:latin typeface="Times New Roman" panose="02020603050405020304" charset="0"/>
                <a:ea typeface="+mj-ea"/>
                <a:cs typeface="Times New Roman" panose="02020603050405020304" charset="0"/>
              </a:rPr>
              <a:t>W</a:t>
            </a:r>
            <a:r>
              <a:rPr lang="zh-CN" altLang="en-US" i="1" dirty="0">
                <a:latin typeface="Times New Roman" panose="02020603050405020304" charset="0"/>
                <a:ea typeface="+mj-ea"/>
                <a:cs typeface="Times New Roman" panose="02020603050405020304" charset="0"/>
              </a:rPr>
              <a:t>：</a:t>
            </a:r>
            <a:r>
              <a:rPr lang="zh-CN" altLang="en-US" dirty="0">
                <a:latin typeface="Times New Roman" panose="02020603050405020304" charset="0"/>
                <a:ea typeface="+mj-ea"/>
                <a:cs typeface="Times New Roman" panose="02020603050405020304" charset="0"/>
              </a:rPr>
              <a:t>空间权重矩阵</a:t>
            </a:r>
            <a:endParaRPr lang="en-US" altLang="zh-CN"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极大似然估计方法</a:t>
            </a:r>
            <a:endParaRPr lang="en-US" altLang="zh-CN" kern="0" dirty="0">
              <a:latin typeface="Times New Roman" panose="02020603050405020304" charset="0"/>
              <a:ea typeface="+mj-ea"/>
              <a:cs typeface="Times New Roman" panose="02020603050405020304" charset="0"/>
            </a:endParaRPr>
          </a:p>
          <a:p>
            <a:endParaRPr lang="en-US" altLang="zh-CN" sz="2800" kern="0" dirty="0">
              <a:latin typeface="Times New Roman" panose="02020603050405020304" charset="0"/>
              <a:cs typeface="Times New Roman" panose="02020603050405020304" charset="0"/>
            </a:endParaRPr>
          </a:p>
          <a:p>
            <a:endParaRPr lang="en-US" altLang="zh-CN" sz="2800" kern="0" dirty="0">
              <a:latin typeface="Times New Roman" panose="02020603050405020304" charset="0"/>
              <a:cs typeface="Times New Roman" panose="02020603050405020304" charset="0"/>
            </a:endParaRPr>
          </a:p>
          <a:p>
            <a:endParaRPr lang="zh-CN" altLang="en-US" sz="2800" dirty="0">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7" name="矩形 6"/>
              <p:cNvSpPr/>
              <p:nvPr/>
            </p:nvSpPr>
            <p:spPr>
              <a:xfrm>
                <a:off x="3488225" y="2514600"/>
                <a:ext cx="2164375" cy="369332"/>
              </a:xfrm>
              <a:prstGeom prst="rect">
                <a:avLst/>
              </a:prstGeom>
            </p:spPr>
            <p:txBody>
              <a:bodyPr wrap="none">
                <a:spAutoFit/>
              </a:bodyPr>
              <a:lstStyle/>
              <a:p>
                <a14:m>
                  <m:oMath xmlns:m="http://schemas.openxmlformats.org/officeDocument/2006/math">
                    <m:r>
                      <a:rPr lang="en-US" altLang="zh-CN" b="1" i="1" kern="0">
                        <a:latin typeface="Cambria Math" panose="02040503050406030204" pitchFamily="18" charset="0"/>
                        <a:ea typeface="宋体" panose="02010600030101010101" pitchFamily="2" charset="-122"/>
                        <a:cs typeface="AdobeSongStd-Light"/>
                      </a:rPr>
                      <m:t>𝒚</m:t>
                    </m:r>
                    <m:r>
                      <a:rPr lang="en-US" altLang="zh-CN" i="1" kern="0">
                        <a:latin typeface="Cambria Math" panose="02040503050406030204" pitchFamily="18" charset="0"/>
                        <a:ea typeface="宋体" panose="02010600030101010101" pitchFamily="2" charset="-122"/>
                        <a:cs typeface="AdobeSongStd-Light"/>
                      </a:rPr>
                      <m:t>=</m:t>
                    </m:r>
                    <m:r>
                      <a:rPr lang="en-US" altLang="zh-CN" i="1" kern="0">
                        <a:latin typeface="Cambria Math" panose="02040503050406030204" pitchFamily="18" charset="0"/>
                        <a:ea typeface="宋体" panose="02010600030101010101" pitchFamily="2" charset="-122"/>
                        <a:cs typeface="Times New Roman" panose="02020603050405020304" charset="0"/>
                      </a:rPr>
                      <m:t>𝜌</m:t>
                    </m:r>
                    <m:r>
                      <a:rPr lang="en-US" altLang="zh-CN" b="1" i="1" kern="0">
                        <a:latin typeface="Cambria Math" panose="02040503050406030204" pitchFamily="18" charset="0"/>
                        <a:ea typeface="宋体" panose="02010600030101010101" pitchFamily="2" charset="-122"/>
                        <a:cs typeface="Times New Roman" panose="02020603050405020304" charset="0"/>
                      </a:rPr>
                      <m:t>𝑾𝒚</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𝑿</m:t>
                    </m:r>
                    <m:r>
                      <a:rPr lang="en-US" altLang="zh-CN" b="1" i="1" kern="0">
                        <a:latin typeface="Cambria Math" panose="02040503050406030204" pitchFamily="18" charset="0"/>
                        <a:ea typeface="宋体" panose="02010600030101010101" pitchFamily="2" charset="-122"/>
                        <a:cs typeface="Times New Roman" panose="02020603050405020304" charset="0"/>
                      </a:rPr>
                      <m:t>𝜷</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𝜺</m:t>
                    </m:r>
                  </m:oMath>
                </a14:m>
                <a:r>
                  <a:rPr lang="en-US" altLang="zh-CN" b="1" kern="0" dirty="0">
                    <a:latin typeface="Times New Roman" panose="02020603050405020304" charset="0"/>
                    <a:ea typeface="宋体" panose="02010600030101010101" pitchFamily="2" charset="-122"/>
                  </a:rPr>
                  <a:t> </a:t>
                </a:r>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3488225" y="2514600"/>
                <a:ext cx="2164375" cy="369332"/>
              </a:xfrm>
              <a:prstGeom prst="rect">
                <a:avLst/>
              </a:prstGeom>
              <a:blipFill>
                <a:blip r:embed="rId3"/>
                <a:stretch>
                  <a:fillRect b="-15000"/>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stretch>
            <a:fillRect/>
          </a:stretch>
        </p:blipFill>
        <p:spPr>
          <a:xfrm>
            <a:off x="3263423" y="3886200"/>
            <a:ext cx="4982374" cy="2366887"/>
          </a:xfrm>
          <a:prstGeom prst="rect">
            <a:avLst/>
          </a:prstGeom>
        </p:spPr>
      </p:pic>
      <p:sp>
        <p:nvSpPr>
          <p:cNvPr id="9" name="标题 1">
            <a:extLst>
              <a:ext uri="{FF2B5EF4-FFF2-40B4-BE49-F238E27FC236}">
                <a16:creationId xmlns:a16="http://schemas.microsoft.com/office/drawing/2014/main" id="{999E0DD4-4560-A1BB-9F25-690B46BA242B}"/>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42</a:t>
            </a:fld>
            <a:endParaRPr lang="zh-CN" altLang="en-US" dirty="0">
              <a:solidFill>
                <a:schemeClr val="bg2">
                  <a:lumMod val="75000"/>
                </a:schemeClr>
              </a:solidFill>
              <a:sym typeface="Consolas" panose="020B0609020204030204" pitchFamily="49" charset="0"/>
            </a:endParaRPr>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5549" y="3068322"/>
            <a:ext cx="3832901" cy="3603623"/>
          </a:xfrm>
          <a:prstGeom prst="rect">
            <a:avLst/>
          </a:prstGeom>
          <a:noFill/>
          <a:ln>
            <a:noFill/>
          </a:ln>
        </p:spPr>
      </p:pic>
      <p:sp>
        <p:nvSpPr>
          <p:cNvPr id="5" name="矩形 4"/>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空间滞后模型</a:t>
            </a:r>
          </a:p>
        </p:txBody>
      </p:sp>
      <p:sp>
        <p:nvSpPr>
          <p:cNvPr id="6" name="文本框 5"/>
          <p:cNvSpPr txBox="1"/>
          <p:nvPr/>
        </p:nvSpPr>
        <p:spPr>
          <a:xfrm>
            <a:off x="419100" y="1447800"/>
            <a:ext cx="8801100" cy="17081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require(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spdep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require(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spatialreg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zh-CN"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构建邻接矩阵和空间权重矩阵</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poly2nb(WHHP)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nb2listw(</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zero.policy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zh-CN"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空间滞后模型</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(SLM)</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lagsarlm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 = WHHP,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zero.policy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summary(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8" name="标题 1">
            <a:extLst>
              <a:ext uri="{FF2B5EF4-FFF2-40B4-BE49-F238E27FC236}">
                <a16:creationId xmlns:a16="http://schemas.microsoft.com/office/drawing/2014/main" id="{6078B7A2-D526-8ADA-C793-B5FB359EE35B}"/>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43</a:t>
            </a:fld>
            <a:endParaRPr lang="zh-CN" altLang="en-US">
              <a:solidFill>
                <a:schemeClr val="bg2">
                  <a:lumMod val="75000"/>
                </a:schemeClr>
              </a:solidFill>
              <a:sym typeface="Consolas" panose="020B0609020204030204" pitchFamily="49" charset="0"/>
            </a:endParaRPr>
          </a:p>
        </p:txBody>
      </p:sp>
      <mc:AlternateContent xmlns:mc="http://schemas.openxmlformats.org/markup-compatibility/2006" xmlns:a14="http://schemas.microsoft.com/office/drawing/2010/main">
        <mc:Choice Requires="a14">
          <p:sp>
            <p:nvSpPr>
              <p:cNvPr id="5" name="矩形 4"/>
              <p:cNvSpPr/>
              <p:nvPr/>
            </p:nvSpPr>
            <p:spPr>
              <a:xfrm>
                <a:off x="342900" y="1676400"/>
                <a:ext cx="8496300" cy="6895029"/>
              </a:xfrm>
              <a:prstGeom prst="rect">
                <a:avLst/>
              </a:prstGeom>
            </p:spPr>
            <p:txBody>
              <a:bodyPr wrap="square">
                <a:spAutoFit/>
              </a:bodyPr>
              <a:lstStyle/>
              <a:p>
                <a:pPr indent="457200">
                  <a:lnSpc>
                    <a:spcPct val="150000"/>
                  </a:lnSpc>
                </a:pPr>
                <a:r>
                  <a:rPr lang="zh-CN" altLang="en-US" kern="0" dirty="0">
                    <a:latin typeface="Times New Roman" panose="02020603050405020304" charset="0"/>
                    <a:ea typeface="+mj-ea"/>
                    <a:cs typeface="Times New Roman" panose="02020603050405020304" charset="0"/>
                  </a:rPr>
                  <a:t>空间误差模型（</a:t>
                </a:r>
                <a:r>
                  <a:rPr lang="en-US" altLang="zh-CN" kern="0" dirty="0">
                    <a:latin typeface="Times New Roman" panose="02020603050405020304" charset="0"/>
                    <a:ea typeface="+mj-ea"/>
                    <a:cs typeface="Times New Roman" panose="02020603050405020304" charset="0"/>
                  </a:rPr>
                  <a:t>Spatial Error Model, SEM</a:t>
                </a:r>
                <a:r>
                  <a:rPr lang="zh-CN" altLang="en-US" kern="0" dirty="0">
                    <a:latin typeface="Times New Roman" panose="02020603050405020304" charset="0"/>
                    <a:ea typeface="+mj-ea"/>
                    <a:cs typeface="Times New Roman" panose="02020603050405020304" charset="0"/>
                  </a:rPr>
                  <a:t>）：通过引入空间自相关的误差项来调整模型，处理误差项中存在空间依赖性特征的情形</a:t>
                </a: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14:m>
                  <m:oMath xmlns:m="http://schemas.openxmlformats.org/officeDocument/2006/math">
                    <m:r>
                      <a:rPr lang="en-US" altLang="zh-CN" b="1" i="1" kern="0">
                        <a:latin typeface="Cambria Math" panose="02040503050406030204" pitchFamily="18" charset="0"/>
                        <a:ea typeface="+mj-ea"/>
                        <a:cs typeface="Times New Roman" panose="02020603050405020304" charset="0"/>
                      </a:rPr>
                      <m:t>𝜺</m:t>
                    </m:r>
                    <m:r>
                      <a:rPr lang="zh-CN" altLang="en-US" b="1" i="1" kern="0">
                        <a:latin typeface="Cambria Math" panose="02040503050406030204" pitchFamily="18" charset="0"/>
                        <a:ea typeface="+mj-ea"/>
                        <a:cs typeface="Times New Roman" panose="02020603050405020304" charset="0"/>
                      </a:rPr>
                      <m:t>：</m:t>
                    </m:r>
                  </m:oMath>
                </a14:m>
                <a:r>
                  <a:rPr lang="zh-CN" altLang="en-US" kern="0" dirty="0">
                    <a:latin typeface="Times New Roman" panose="02020603050405020304" charset="0"/>
                    <a:ea typeface="+mj-ea"/>
                    <a:cs typeface="Times New Roman" panose="02020603050405020304" charset="0"/>
                  </a:rPr>
                  <a:t>误差项，包含未观测因素或随机扰动。</a:t>
                </a:r>
                <a:endParaRPr lang="en-US" altLang="zh-CN" kern="0"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14:m>
                  <m:oMath xmlns:m="http://schemas.openxmlformats.org/officeDocument/2006/math">
                    <m:r>
                      <a:rPr lang="en-US" altLang="zh-CN" i="1" kern="0">
                        <a:latin typeface="Cambria Math" panose="02040503050406030204" pitchFamily="18" charset="0"/>
                        <a:ea typeface="+mj-ea"/>
                        <a:cs typeface="Times New Roman" panose="02020603050405020304" charset="0"/>
                      </a:rPr>
                      <m:t>𝜆</m:t>
                    </m:r>
                    <m:r>
                      <a:rPr lang="zh-CN" altLang="en-US" i="1" kern="0">
                        <a:latin typeface="Cambria Math" panose="02040503050406030204" pitchFamily="18" charset="0"/>
                        <a:ea typeface="+mj-ea"/>
                        <a:cs typeface="Times New Roman" panose="02020603050405020304" charset="0"/>
                      </a:rPr>
                      <m:t>：</m:t>
                    </m:r>
                  </m:oMath>
                </a14:m>
                <a:r>
                  <a:rPr lang="zh-CN" altLang="en-US" kern="0" dirty="0">
                    <a:latin typeface="Times New Roman" panose="02020603050405020304" charset="0"/>
                    <a:ea typeface="+mj-ea"/>
                    <a:cs typeface="Times New Roman" panose="02020603050405020304" charset="0"/>
                  </a:rPr>
                  <a:t>空间误差系数，衡量误差项的空间自相关性，正值代表误差正空间自相关，反之则代表负空间自相关；</a:t>
                </a:r>
                <a:endParaRPr lang="en-US" altLang="zh-CN" kern="0"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14:m>
                  <m:oMath xmlns:m="http://schemas.openxmlformats.org/officeDocument/2006/math">
                    <m:r>
                      <a:rPr lang="en-US" altLang="zh-CN" b="1" i="1" kern="0">
                        <a:latin typeface="Cambria Math" panose="02040503050406030204" pitchFamily="18" charset="0"/>
                        <a:ea typeface="+mj-ea"/>
                        <a:cs typeface="Times New Roman" panose="02020603050405020304" charset="0"/>
                      </a:rPr>
                      <m:t>𝑾</m:t>
                    </m:r>
                  </m:oMath>
                </a14:m>
                <a:r>
                  <a:rPr lang="zh-CN" altLang="en-US" kern="0" dirty="0">
                    <a:latin typeface="Times New Roman" panose="02020603050405020304" charset="0"/>
                    <a:ea typeface="+mj-ea"/>
                    <a:cs typeface="Times New Roman" panose="02020603050405020304" charset="0"/>
                  </a:rPr>
                  <a:t>：空间权重矩阵</a:t>
                </a:r>
                <a:endParaRPr lang="en-US" altLang="zh-CN" kern="0" dirty="0">
                  <a:latin typeface="Times New Roman" panose="02020603050405020304" charset="0"/>
                  <a:ea typeface="+mj-ea"/>
                  <a:cs typeface="Times New Roman" panose="02020603050405020304" charset="0"/>
                </a:endParaRPr>
              </a:p>
              <a:p>
                <a:pPr marL="285750"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与</a:t>
                </a:r>
                <a:r>
                  <a:rPr lang="en-US" altLang="zh-CN" kern="0" dirty="0">
                    <a:latin typeface="Times New Roman" panose="02020603050405020304" charset="0"/>
                    <a:ea typeface="+mj-ea"/>
                    <a:cs typeface="Times New Roman" panose="02020603050405020304" charset="0"/>
                  </a:rPr>
                  <a:t>SLM</a:t>
                </a:r>
                <a:r>
                  <a:rPr lang="zh-CN" altLang="en-US" kern="0" dirty="0">
                    <a:latin typeface="Times New Roman" panose="02020603050405020304" charset="0"/>
                    <a:ea typeface="+mj-ea"/>
                    <a:cs typeface="Times New Roman" panose="02020603050405020304" charset="0"/>
                  </a:rPr>
                  <a:t>的本质区别：</a:t>
                </a:r>
                <a:endParaRPr lang="en-US" altLang="zh-CN" kern="0" dirty="0">
                  <a:latin typeface="Times New Roman" panose="02020603050405020304" charset="0"/>
                  <a:ea typeface="+mj-ea"/>
                  <a:cs typeface="Times New Roman" panose="02020603050405020304" charset="0"/>
                </a:endParaRPr>
              </a:p>
              <a:p>
                <a:pPr marL="742950" lvl="1" indent="457200">
                  <a:lnSpc>
                    <a:spcPct val="150000"/>
                  </a:lnSpc>
                  <a:buFont typeface="Wingdings" panose="05000000000000000000" pitchFamily="2" charset="2"/>
                  <a:buChar char="p"/>
                </a:pPr>
                <a:r>
                  <a:rPr lang="en-US" altLang="zh-CN" kern="0" dirty="0">
                    <a:latin typeface="Times New Roman" panose="02020603050405020304" charset="0"/>
                    <a:ea typeface="+mj-ea"/>
                    <a:cs typeface="Times New Roman" panose="02020603050405020304" charset="0"/>
                  </a:rPr>
                  <a:t>SLM</a:t>
                </a:r>
                <a:r>
                  <a:rPr lang="zh-CN" altLang="en-US" kern="0" dirty="0">
                    <a:latin typeface="Times New Roman" panose="02020603050405020304" charset="0"/>
                    <a:ea typeface="+mj-ea"/>
                    <a:cs typeface="Times New Roman" panose="02020603050405020304" charset="0"/>
                  </a:rPr>
                  <a:t>：因变量直接受邻居因变量的影响（主动溢出效应）。</a:t>
                </a:r>
                <a:endParaRPr lang="en-US" altLang="zh-CN" kern="0" dirty="0">
                  <a:latin typeface="Times New Roman" panose="02020603050405020304" charset="0"/>
                  <a:ea typeface="+mj-ea"/>
                  <a:cs typeface="Times New Roman" panose="02020603050405020304" charset="0"/>
                </a:endParaRPr>
              </a:p>
              <a:p>
                <a:pPr marL="742950" lvl="1" indent="457200">
                  <a:lnSpc>
                    <a:spcPct val="150000"/>
                  </a:lnSpc>
                  <a:buFont typeface="Wingdings" panose="05000000000000000000" pitchFamily="2" charset="2"/>
                  <a:buChar char="p"/>
                </a:pPr>
                <a:r>
                  <a:rPr lang="en-US" altLang="zh-CN" kern="0" dirty="0">
                    <a:latin typeface="Times New Roman" panose="02020603050405020304" charset="0"/>
                    <a:ea typeface="+mj-ea"/>
                    <a:cs typeface="Times New Roman" panose="02020603050405020304" charset="0"/>
                  </a:rPr>
                  <a:t>SEM</a:t>
                </a:r>
                <a:r>
                  <a:rPr lang="zh-CN" altLang="en-US" kern="0" dirty="0">
                    <a:latin typeface="Times New Roman" panose="02020603050405020304" charset="0"/>
                    <a:ea typeface="+mj-ea"/>
                    <a:cs typeface="Times New Roman" panose="02020603050405020304" charset="0"/>
                  </a:rPr>
                  <a:t>：误差项的空间自相关反映被动扩散（如未观测的因素等）。</a:t>
                </a: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zh-CN" altLang="en-US" sz="2800" dirty="0">
                  <a:latin typeface="Times New Roman" panose="02020603050405020304" charset="0"/>
                  <a:ea typeface="+mj-ea"/>
                  <a:cs typeface="Times New Roman" panose="02020603050405020304"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42900" y="1676400"/>
                <a:ext cx="8496300" cy="6895029"/>
              </a:xfrm>
              <a:prstGeom prst="rect">
                <a:avLst/>
              </a:prstGeom>
              <a:blipFill rotWithShape="1">
                <a:blip r:embed="rId2"/>
                <a:stretch>
                  <a:fillRect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873748" y="2552700"/>
                <a:ext cx="1393330" cy="369332"/>
              </a:xfrm>
              <a:prstGeom prst="rect">
                <a:avLst/>
              </a:prstGeom>
            </p:spPr>
            <p:txBody>
              <a:bodyPr wrap="none">
                <a:spAutoFit/>
              </a:bodyPr>
              <a:lstStyle/>
              <a:p>
                <a14:m>
                  <m:oMath xmlns:m="http://schemas.openxmlformats.org/officeDocument/2006/math">
                    <m:r>
                      <a:rPr lang="en-US" altLang="zh-CN" b="1" i="1" kern="0">
                        <a:latin typeface="Cambria Math" panose="02040503050406030204" pitchFamily="18" charset="0"/>
                        <a:ea typeface="宋体" panose="02010600030101010101" pitchFamily="2" charset="-122"/>
                        <a:cs typeface="AdobeSongStd-Light"/>
                      </a:rPr>
                      <m:t>𝒚</m:t>
                    </m:r>
                    <m:r>
                      <a:rPr lang="en-US" altLang="zh-CN" i="1" kern="0">
                        <a:latin typeface="Cambria Math" panose="02040503050406030204" pitchFamily="18" charset="0"/>
                        <a:ea typeface="宋体" panose="02010600030101010101" pitchFamily="2" charset="-122"/>
                        <a:cs typeface="AdobeSongStd-Light"/>
                      </a:rPr>
                      <m:t>=</m:t>
                    </m:r>
                    <m:r>
                      <a:rPr lang="en-US" altLang="zh-CN" b="1" i="1" kern="0">
                        <a:latin typeface="Cambria Math" panose="02040503050406030204" pitchFamily="18" charset="0"/>
                        <a:ea typeface="宋体" panose="02010600030101010101" pitchFamily="2" charset="-122"/>
                        <a:cs typeface="Times New Roman" panose="02020603050405020304" charset="0"/>
                      </a:rPr>
                      <m:t>𝑿</m:t>
                    </m:r>
                    <m:r>
                      <a:rPr lang="en-US" altLang="zh-CN" b="1" i="1" kern="0">
                        <a:latin typeface="Cambria Math" panose="02040503050406030204" pitchFamily="18" charset="0"/>
                        <a:ea typeface="宋体" panose="02010600030101010101" pitchFamily="2" charset="-122"/>
                        <a:cs typeface="Times New Roman" panose="02020603050405020304" charset="0"/>
                      </a:rPr>
                      <m:t>𝜷</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𝜺</m:t>
                    </m:r>
                  </m:oMath>
                </a14:m>
                <a:r>
                  <a:rPr lang="en-US" altLang="zh-CN" b="1" kern="0" dirty="0">
                    <a:latin typeface="Times New Roman" panose="02020603050405020304" charset="0"/>
                    <a:ea typeface="宋体" panose="02010600030101010101" pitchFamily="2" charset="-122"/>
                  </a:rPr>
                  <a:t> </a:t>
                </a:r>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3873748" y="2552700"/>
                <a:ext cx="1393330" cy="369332"/>
              </a:xfrm>
              <a:prstGeom prst="rect">
                <a:avLst/>
              </a:prstGeom>
              <a:blipFill rotWithShape="1">
                <a:blip r:embed="rId3"/>
                <a:stretch>
                  <a:fillRect l="-18" r="-109" b="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808826" y="2983468"/>
                <a:ext cx="1523174" cy="369332"/>
              </a:xfrm>
              <a:prstGeom prst="rect">
                <a:avLst/>
              </a:prstGeom>
            </p:spPr>
            <p:txBody>
              <a:bodyPr wrap="none">
                <a:spAutoFit/>
              </a:bodyPr>
              <a:lstStyle/>
              <a:p>
                <a14:m>
                  <m:oMath xmlns:m="http://schemas.openxmlformats.org/officeDocument/2006/math">
                    <m:r>
                      <a:rPr lang="en-US" altLang="zh-CN" b="1" i="1" kern="0">
                        <a:latin typeface="Cambria Math" panose="02040503050406030204" pitchFamily="18" charset="0"/>
                        <a:ea typeface="宋体" panose="02010600030101010101" pitchFamily="2" charset="-122"/>
                        <a:cs typeface="Times New Roman" panose="02020603050405020304" charset="0"/>
                      </a:rPr>
                      <m:t>𝜺</m:t>
                    </m:r>
                    <m:r>
                      <a:rPr lang="en-US" altLang="zh-CN" i="1" kern="0">
                        <a:latin typeface="Cambria Math" panose="02040503050406030204" pitchFamily="18" charset="0"/>
                        <a:ea typeface="宋体" panose="02010600030101010101" pitchFamily="2" charset="-122"/>
                        <a:cs typeface="AdobeSongStd-Light"/>
                      </a:rPr>
                      <m:t>=</m:t>
                    </m:r>
                    <m:r>
                      <a:rPr lang="en-US" altLang="zh-CN" i="1" kern="0">
                        <a:latin typeface="Cambria Math" panose="02040503050406030204" pitchFamily="18" charset="0"/>
                        <a:ea typeface="宋体" panose="02010600030101010101" pitchFamily="2" charset="-122"/>
                        <a:cs typeface="Times New Roman" panose="02020603050405020304" charset="0"/>
                      </a:rPr>
                      <m:t>𝜆</m:t>
                    </m:r>
                    <m:r>
                      <a:rPr lang="en-US" altLang="zh-CN" b="1" i="1" kern="0">
                        <a:latin typeface="Cambria Math" panose="02040503050406030204" pitchFamily="18" charset="0"/>
                        <a:ea typeface="宋体" panose="02010600030101010101" pitchFamily="2" charset="-122"/>
                        <a:cs typeface="Times New Roman" panose="02020603050405020304" charset="0"/>
                      </a:rPr>
                      <m:t>𝑾</m:t>
                    </m:r>
                    <m:r>
                      <a:rPr lang="en-US" altLang="zh-CN" b="1" i="1" kern="0">
                        <a:latin typeface="Cambria Math" panose="02040503050406030204" pitchFamily="18" charset="0"/>
                        <a:ea typeface="宋体" panose="02010600030101010101" pitchFamily="2" charset="-122"/>
                        <a:cs typeface="Times New Roman" panose="02020603050405020304" charset="0"/>
                      </a:rPr>
                      <m:t>𝜺</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𝝃</m:t>
                    </m:r>
                  </m:oMath>
                </a14:m>
                <a:r>
                  <a:rPr lang="en-US" altLang="zh-CN" b="1" kern="0" dirty="0">
                    <a:latin typeface="Times New Roman" panose="02020603050405020304" charset="0"/>
                    <a:ea typeface="宋体" panose="02010600030101010101" pitchFamily="2" charset="-122"/>
                  </a:rPr>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3808826" y="2983468"/>
                <a:ext cx="1523174" cy="369332"/>
              </a:xfrm>
              <a:prstGeom prst="rect">
                <a:avLst/>
              </a:prstGeom>
              <a:blipFill rotWithShape="1">
                <a:blip r:embed="rId4"/>
                <a:stretch>
                  <a:fillRect l="-6" t="-64" r="-48"/>
                </a:stretch>
              </a:blipFill>
            </p:spPr>
            <p:txBody>
              <a:bodyPr/>
              <a:lstStyle/>
              <a:p>
                <a:r>
                  <a:rPr lang="zh-CN" altLang="en-US">
                    <a:noFill/>
                  </a:rPr>
                  <a:t> </a:t>
                </a:r>
              </a:p>
            </p:txBody>
          </p:sp>
        </mc:Fallback>
      </mc:AlternateContent>
      <p:sp>
        <p:nvSpPr>
          <p:cNvPr id="3" name="矩形 2"/>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空间误差模型</a:t>
            </a:r>
          </a:p>
        </p:txBody>
      </p:sp>
      <p:sp>
        <p:nvSpPr>
          <p:cNvPr id="12" name="标题 1">
            <a:extLst>
              <a:ext uri="{FF2B5EF4-FFF2-40B4-BE49-F238E27FC236}">
                <a16:creationId xmlns:a16="http://schemas.microsoft.com/office/drawing/2014/main" id="{3CBCE516-704A-99D6-2173-D21700A0A8FE}"/>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44</a:t>
            </a:fld>
            <a:endParaRPr lang="zh-CN" altLang="en-US">
              <a:solidFill>
                <a:schemeClr val="bg2">
                  <a:lumMod val="75000"/>
                </a:schemeClr>
              </a:solidFill>
              <a:sym typeface="Consolas" panose="020B0609020204030204" pitchFamily="49" charset="0"/>
            </a:endParaRP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2338388" y="2731652"/>
            <a:ext cx="4381500" cy="3865708"/>
          </a:xfrm>
          <a:prstGeom prst="rect">
            <a:avLst/>
          </a:prstGeom>
          <a:noFill/>
          <a:ln>
            <a:noFill/>
          </a:ln>
        </p:spPr>
      </p:pic>
      <p:sp>
        <p:nvSpPr>
          <p:cNvPr id="3" name="矩形 2"/>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空间误差模型</a:t>
            </a:r>
          </a:p>
        </p:txBody>
      </p:sp>
      <p:sp>
        <p:nvSpPr>
          <p:cNvPr id="6" name="文本框 5"/>
          <p:cNvSpPr txBox="1"/>
          <p:nvPr/>
        </p:nvSpPr>
        <p:spPr>
          <a:xfrm>
            <a:off x="457200" y="1562100"/>
            <a:ext cx="8801100" cy="116955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zh-CN"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空间误差模型</a:t>
            </a: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(SEM)</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sem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errorsarlm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 = WHHP,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zero.policy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zh-CN"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输出空间误差模型结果</a:t>
            </a:r>
            <a:endParaRPr lang="zh-CN" altLang="zh-CN" sz="1200" dirty="0">
              <a:latin typeface="Times New Roman" panose="02020603050405020304" charset="0"/>
              <a:ea typeface="宋体" panose="02010600030101010101" pitchFamily="2" charset="-122"/>
            </a:endParaRPr>
          </a:p>
          <a:p>
            <a:pPr indent="2667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summary(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sem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10" name="标题 1">
            <a:extLst>
              <a:ext uri="{FF2B5EF4-FFF2-40B4-BE49-F238E27FC236}">
                <a16:creationId xmlns:a16="http://schemas.microsoft.com/office/drawing/2014/main" id="{71912AB6-C149-6525-3E2D-0459A2C7204E}"/>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45</a:t>
            </a:fld>
            <a:endParaRPr lang="zh-CN" altLang="en-US" dirty="0">
              <a:solidFill>
                <a:schemeClr val="bg2">
                  <a:lumMod val="75000"/>
                </a:schemeClr>
              </a:solidFill>
              <a:sym typeface="Consolas" panose="020B0609020204030204" pitchFamily="49" charset="0"/>
            </a:endParaRPr>
          </a:p>
        </p:txBody>
      </p:sp>
      <mc:AlternateContent xmlns:mc="http://schemas.openxmlformats.org/markup-compatibility/2006" xmlns:a14="http://schemas.microsoft.com/office/drawing/2010/main">
        <mc:Choice Requires="a14">
          <p:sp>
            <p:nvSpPr>
              <p:cNvPr id="5" name="矩形 4"/>
              <p:cNvSpPr/>
              <p:nvPr/>
            </p:nvSpPr>
            <p:spPr>
              <a:xfrm>
                <a:off x="447675" y="1722596"/>
                <a:ext cx="8496300" cy="4678204"/>
              </a:xfrm>
              <a:prstGeom prst="rect">
                <a:avLst/>
              </a:prstGeom>
            </p:spPr>
            <p:txBody>
              <a:bodyPr wrap="square">
                <a:spAutoFit/>
              </a:bodyPr>
              <a:lstStyle/>
              <a:p>
                <a:pPr indent="457200">
                  <a:lnSpc>
                    <a:spcPct val="150000"/>
                  </a:lnSpc>
                </a:pPr>
                <a:r>
                  <a:rPr lang="zh-CN" altLang="en-US" kern="0" dirty="0">
                    <a:latin typeface="Times New Roman" panose="02020603050405020304" charset="0"/>
                    <a:ea typeface="+mj-ea"/>
                    <a:cs typeface="Times New Roman" panose="02020603050405020304" charset="0"/>
                  </a:rPr>
                  <a:t>空间杜宾模型（</a:t>
                </a:r>
                <a:r>
                  <a:rPr lang="en-US" altLang="zh-CN" kern="0" dirty="0">
                    <a:latin typeface="Times New Roman" panose="02020603050405020304" charset="0"/>
                    <a:ea typeface="+mj-ea"/>
                    <a:cs typeface="Times New Roman" panose="02020603050405020304" charset="0"/>
                  </a:rPr>
                  <a:t>Spatial Durbin Model, SDM</a:t>
                </a:r>
                <a:r>
                  <a:rPr lang="zh-CN" altLang="en-US" kern="0" dirty="0">
                    <a:latin typeface="Times New Roman" panose="02020603050405020304" charset="0"/>
                    <a:ea typeface="+mj-ea"/>
                    <a:cs typeface="Times New Roman" panose="02020603050405020304" charset="0"/>
                  </a:rPr>
                  <a:t>）：同时捕捉因变量和自变量的空间溢出效应，通过引入因变量和自变量空间滞后项构建空间回归分析模型，全面反映空间单元之间的相互影响。</a:t>
                </a:r>
                <a:endParaRPr lang="en-US" altLang="zh-CN" kern="0" dirty="0">
                  <a:latin typeface="Times New Roman" panose="02020603050405020304" charset="0"/>
                  <a:ea typeface="+mj-ea"/>
                  <a:cs typeface="Times New Roman" panose="02020603050405020304" charset="0"/>
                </a:endParaRPr>
              </a:p>
              <a:p>
                <a:pPr indent="457200">
                  <a:lnSpc>
                    <a:spcPct val="150000"/>
                  </a:lnSpc>
                </a:pPr>
                <a:endParaRPr lang="en-US" altLang="zh-CN" kern="0" dirty="0">
                  <a:latin typeface="Times New Roman" panose="02020603050405020304" charset="0"/>
                  <a:ea typeface="+mj-ea"/>
                  <a:cs typeface="Times New Roman" panose="02020603050405020304" charset="0"/>
                </a:endParaRPr>
              </a:p>
              <a:p>
                <a:pPr marL="342900" indent="457200">
                  <a:lnSpc>
                    <a:spcPct val="150000"/>
                  </a:lnSpc>
                  <a:buFont typeface="Wingdings" panose="05000000000000000000" pitchFamily="2" charset="2"/>
                  <a:buChar char="ü"/>
                </a:pPr>
                <a:r>
                  <a:rPr lang="en-US" altLang="zh-CN" i="1" dirty="0">
                    <a:latin typeface="Times New Roman" panose="02020603050405020304" charset="0"/>
                    <a:ea typeface="+mj-ea"/>
                    <a:cs typeface="Times New Roman" panose="02020603050405020304" charset="0"/>
                  </a:rPr>
                  <a:t>ρ</a:t>
                </a:r>
                <a:r>
                  <a:rPr lang="en-US" altLang="zh-CN" dirty="0">
                    <a:latin typeface="Times New Roman" panose="02020603050405020304" charset="0"/>
                    <a:ea typeface="+mj-ea"/>
                    <a:cs typeface="Times New Roman" panose="02020603050405020304" charset="0"/>
                  </a:rPr>
                  <a:t>: </a:t>
                </a:r>
                <a:r>
                  <a:rPr lang="zh-CN" altLang="en-US" dirty="0">
                    <a:latin typeface="Times New Roman" panose="02020603050405020304" charset="0"/>
                    <a:ea typeface="+mj-ea"/>
                    <a:cs typeface="Times New Roman" panose="02020603050405020304" charset="0"/>
                  </a:rPr>
                  <a:t>空间滞后系数</a:t>
                </a:r>
                <a:endParaRPr lang="en-US" altLang="zh-CN" dirty="0">
                  <a:latin typeface="Times New Roman" panose="02020603050405020304" charset="0"/>
                  <a:ea typeface="+mj-ea"/>
                  <a:cs typeface="Times New Roman" panose="02020603050405020304" charset="0"/>
                </a:endParaRPr>
              </a:p>
              <a:p>
                <a:pPr marL="342900" indent="457200">
                  <a:lnSpc>
                    <a:spcPct val="150000"/>
                  </a:lnSpc>
                  <a:buFont typeface="Wingdings" panose="05000000000000000000" pitchFamily="2" charset="2"/>
                  <a:buChar char="ü"/>
                </a:pPr>
                <a14:m>
                  <m:oMath xmlns:m="http://schemas.openxmlformats.org/officeDocument/2006/math">
                    <m:r>
                      <a:rPr lang="en-US" altLang="zh-CN" b="1" i="1" kern="0">
                        <a:latin typeface="Cambria Math" panose="02040503050406030204" pitchFamily="18" charset="0"/>
                        <a:ea typeface="+mj-ea"/>
                        <a:cs typeface="Times New Roman" panose="02020603050405020304" charset="0"/>
                      </a:rPr>
                      <m:t>𝑾𝑿</m:t>
                    </m:r>
                    <m:r>
                      <a:rPr lang="en-US" altLang="zh-CN" b="1" i="1" kern="0">
                        <a:latin typeface="Cambria Math" panose="02040503050406030204" pitchFamily="18" charset="0"/>
                        <a:ea typeface="+mj-ea"/>
                        <a:cs typeface="Times New Roman" panose="02020603050405020304" charset="0"/>
                      </a:rPr>
                      <m:t>𝜽</m:t>
                    </m:r>
                  </m:oMath>
                </a14:m>
                <a:r>
                  <a:rPr lang="zh-CN" altLang="en-US" kern="0" dirty="0">
                    <a:latin typeface="Times New Roman" panose="02020603050405020304" charset="0"/>
                    <a:ea typeface="+mj-ea"/>
                    <a:cs typeface="Times New Roman" panose="02020603050405020304" charset="0"/>
                  </a:rPr>
                  <a:t>：自变量的空间滞后项，解释变量的空间交互效应</a:t>
                </a:r>
                <a:endParaRPr lang="en-US" altLang="zh-CN" kern="0" dirty="0">
                  <a:latin typeface="Times New Roman" panose="02020603050405020304" charset="0"/>
                  <a:ea typeface="+mj-ea"/>
                  <a:cs typeface="Times New Roman" panose="02020603050405020304" charset="0"/>
                </a:endParaRPr>
              </a:p>
              <a:p>
                <a:pPr marL="342900"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空间效应分解：</a:t>
                </a:r>
                <a:endParaRPr lang="en-US" altLang="zh-CN" kern="0" dirty="0">
                  <a:latin typeface="Times New Roman" panose="02020603050405020304" charset="0"/>
                  <a:ea typeface="+mj-ea"/>
                  <a:cs typeface="Times New Roman" panose="02020603050405020304" charset="0"/>
                </a:endParaRPr>
              </a:p>
              <a:p>
                <a:pPr marL="800100" lvl="1"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直接效应：自变量对本地因变量的影响</a:t>
                </a:r>
                <a:endParaRPr lang="en-US" altLang="zh-CN" kern="0" dirty="0">
                  <a:latin typeface="Times New Roman" panose="02020603050405020304" charset="0"/>
                  <a:ea typeface="+mj-ea"/>
                  <a:cs typeface="Times New Roman" panose="02020603050405020304" charset="0"/>
                </a:endParaRPr>
              </a:p>
              <a:p>
                <a:pPr marL="800100" lvl="1"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间接效应（空间溢出效应）：自变量通过空间滞后项对邻区的影响</a:t>
                </a:r>
                <a:endParaRPr lang="en-US" altLang="zh-CN" kern="0" dirty="0">
                  <a:latin typeface="Times New Roman" panose="02020603050405020304" charset="0"/>
                  <a:ea typeface="+mj-ea"/>
                  <a:cs typeface="Times New Roman" panose="02020603050405020304" charset="0"/>
                </a:endParaRPr>
              </a:p>
              <a:p>
                <a:pPr marL="800100" lvl="1" indent="457200">
                  <a:lnSpc>
                    <a:spcPct val="150000"/>
                  </a:lnSpc>
                  <a:buFont typeface="Wingdings" panose="05000000000000000000" pitchFamily="2" charset="2"/>
                  <a:buChar char="ü"/>
                </a:pPr>
                <a:r>
                  <a:rPr lang="zh-CN" altLang="en-US" kern="0" dirty="0">
                    <a:latin typeface="Times New Roman" panose="02020603050405020304" charset="0"/>
                    <a:ea typeface="+mj-ea"/>
                    <a:cs typeface="Times New Roman" panose="02020603050405020304" charset="0"/>
                  </a:rPr>
                  <a:t>总效应：直接效应 </a:t>
                </a:r>
                <a:r>
                  <a:rPr lang="en-US" altLang="zh-CN" kern="0" dirty="0">
                    <a:latin typeface="Times New Roman" panose="02020603050405020304" charset="0"/>
                    <a:ea typeface="+mj-ea"/>
                    <a:cs typeface="Times New Roman" panose="02020603050405020304" charset="0"/>
                  </a:rPr>
                  <a:t>+ </a:t>
                </a:r>
                <a:r>
                  <a:rPr lang="zh-CN" altLang="en-US" kern="0" dirty="0">
                    <a:latin typeface="Times New Roman" panose="02020603050405020304" charset="0"/>
                    <a:ea typeface="+mj-ea"/>
                    <a:cs typeface="Times New Roman" panose="02020603050405020304" charset="0"/>
                  </a:rPr>
                  <a:t>间接效应。</a:t>
                </a:r>
                <a:endParaRPr lang="en-US" altLang="zh-CN" kern="0" dirty="0">
                  <a:latin typeface="Times New Roman" panose="02020603050405020304" charset="0"/>
                  <a:ea typeface="+mj-ea"/>
                  <a:cs typeface="Times New Roman" panose="02020603050405020304" charset="0"/>
                </a:endParaRPr>
              </a:p>
              <a:p>
                <a:endParaRPr lang="zh-CN" altLang="en-US" sz="2800" dirty="0">
                  <a:latin typeface="Times New Roman" panose="02020603050405020304" charset="0"/>
                  <a:cs typeface="Times New Roman" panose="02020603050405020304"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447675" y="1722596"/>
                <a:ext cx="8496300" cy="4678204"/>
              </a:xfrm>
              <a:prstGeom prst="rect">
                <a:avLst/>
              </a:prstGeom>
              <a:blipFill rotWithShape="1">
                <a:blip r:embed="rId2"/>
                <a:stretch>
                  <a:fillRect t="-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084268" y="3040909"/>
                <a:ext cx="2972289" cy="369332"/>
              </a:xfrm>
              <a:prstGeom prst="rect">
                <a:avLst/>
              </a:prstGeom>
            </p:spPr>
            <p:txBody>
              <a:bodyPr wrap="none">
                <a:spAutoFit/>
              </a:bodyPr>
              <a:lstStyle/>
              <a:p>
                <a14:m>
                  <m:oMath xmlns:m="http://schemas.openxmlformats.org/officeDocument/2006/math">
                    <m:r>
                      <a:rPr lang="en-US" altLang="zh-CN" b="1" i="1" kern="0">
                        <a:latin typeface="Cambria Math" panose="02040503050406030204" pitchFamily="18" charset="0"/>
                        <a:ea typeface="宋体" panose="02010600030101010101" pitchFamily="2" charset="-122"/>
                        <a:cs typeface="AdobeSongStd-Light"/>
                      </a:rPr>
                      <m:t>𝒚</m:t>
                    </m:r>
                    <m:r>
                      <a:rPr lang="en-US" altLang="zh-CN" i="1" kern="0">
                        <a:latin typeface="Cambria Math" panose="02040503050406030204" pitchFamily="18" charset="0"/>
                        <a:ea typeface="宋体" panose="02010600030101010101" pitchFamily="2" charset="-122"/>
                        <a:cs typeface="AdobeSongStd-Light"/>
                      </a:rPr>
                      <m:t>=</m:t>
                    </m:r>
                    <m:r>
                      <a:rPr lang="en-US" altLang="zh-CN" i="1" kern="0">
                        <a:latin typeface="Cambria Math" panose="02040503050406030204" pitchFamily="18" charset="0"/>
                        <a:ea typeface="宋体" panose="02010600030101010101" pitchFamily="2" charset="-122"/>
                        <a:cs typeface="Times New Roman" panose="02020603050405020304" charset="0"/>
                      </a:rPr>
                      <m:t>𝜌</m:t>
                    </m:r>
                    <m:r>
                      <a:rPr lang="en-US" altLang="zh-CN" b="1" i="1" kern="0">
                        <a:latin typeface="Cambria Math" panose="02040503050406030204" pitchFamily="18" charset="0"/>
                        <a:ea typeface="宋体" panose="02010600030101010101" pitchFamily="2" charset="-122"/>
                        <a:cs typeface="Times New Roman" panose="02020603050405020304" charset="0"/>
                      </a:rPr>
                      <m:t>𝑾𝒚</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𝑿</m:t>
                    </m:r>
                    <m:r>
                      <a:rPr lang="en-US" altLang="zh-CN" b="1" i="1" kern="0">
                        <a:latin typeface="Cambria Math" panose="02040503050406030204" pitchFamily="18" charset="0"/>
                        <a:ea typeface="宋体" panose="02010600030101010101" pitchFamily="2" charset="-122"/>
                        <a:cs typeface="Times New Roman" panose="02020603050405020304" charset="0"/>
                      </a:rPr>
                      <m:t>𝜷</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𝑾𝑿</m:t>
                    </m:r>
                    <m:r>
                      <a:rPr lang="en-US" altLang="zh-CN" b="1" i="1" kern="0">
                        <a:latin typeface="Cambria Math" panose="02040503050406030204" pitchFamily="18" charset="0"/>
                        <a:ea typeface="宋体" panose="02010600030101010101" pitchFamily="2" charset="-122"/>
                        <a:cs typeface="Times New Roman" panose="02020603050405020304" charset="0"/>
                      </a:rPr>
                      <m:t>𝜽</m:t>
                    </m:r>
                    <m:r>
                      <a:rPr lang="en-US" altLang="zh-CN" i="1" kern="0">
                        <a:latin typeface="Cambria Math" panose="02040503050406030204" pitchFamily="18" charset="0"/>
                        <a:ea typeface="宋体" panose="02010600030101010101" pitchFamily="2" charset="-122"/>
                        <a:cs typeface="Times New Roman" panose="02020603050405020304" charset="0"/>
                      </a:rPr>
                      <m:t>+</m:t>
                    </m:r>
                    <m:r>
                      <a:rPr lang="en-US" altLang="zh-CN" b="1" i="1" kern="0">
                        <a:latin typeface="Cambria Math" panose="02040503050406030204" pitchFamily="18" charset="0"/>
                        <a:ea typeface="宋体" panose="02010600030101010101" pitchFamily="2" charset="-122"/>
                        <a:cs typeface="Times New Roman" panose="02020603050405020304" charset="0"/>
                      </a:rPr>
                      <m:t>𝜺</m:t>
                    </m:r>
                  </m:oMath>
                </a14:m>
                <a:r>
                  <a:rPr lang="en-US" altLang="zh-CN" b="1" kern="0" dirty="0">
                    <a:latin typeface="Times New Roman" panose="02020603050405020304" charset="0"/>
                    <a:ea typeface="宋体" panose="02010600030101010101" pitchFamily="2" charset="-122"/>
                  </a:rPr>
                  <a:t> </a:t>
                </a:r>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3084268" y="3040909"/>
                <a:ext cx="2972289" cy="369332"/>
              </a:xfrm>
              <a:prstGeom prst="rect">
                <a:avLst/>
              </a:prstGeom>
              <a:blipFill rotWithShape="1">
                <a:blip r:embed="rId3"/>
                <a:stretch>
                  <a:fillRect l="-2" t="-143" r="19" b="79"/>
                </a:stretch>
              </a:blipFill>
            </p:spPr>
            <p:txBody>
              <a:bodyPr/>
              <a:lstStyle/>
              <a:p>
                <a:r>
                  <a:rPr lang="zh-CN" altLang="en-US">
                    <a:noFill/>
                  </a:rPr>
                  <a:t> </a:t>
                </a:r>
              </a:p>
            </p:txBody>
          </p:sp>
        </mc:Fallback>
      </mc:AlternateContent>
      <p:sp>
        <p:nvSpPr>
          <p:cNvPr id="3" name="矩形 2"/>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空间杜宾模型</a:t>
            </a:r>
          </a:p>
        </p:txBody>
      </p:sp>
      <p:sp>
        <p:nvSpPr>
          <p:cNvPr id="9" name="标题 1">
            <a:extLst>
              <a:ext uri="{FF2B5EF4-FFF2-40B4-BE49-F238E27FC236}">
                <a16:creationId xmlns:a16="http://schemas.microsoft.com/office/drawing/2014/main" id="{B025FD58-C8D4-27F4-FCA8-FDB9D7F31FD5}"/>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46</a:t>
            </a:fld>
            <a:endParaRPr lang="zh-CN" altLang="en-US" dirty="0">
              <a:solidFill>
                <a:schemeClr val="bg2">
                  <a:lumMod val="75000"/>
                </a:schemeClr>
              </a:solidFill>
              <a:sym typeface="Consolas" panose="020B0609020204030204" pitchFamily="49" charset="0"/>
            </a:endParaRPr>
          </a:p>
        </p:txBody>
      </p:sp>
      <p:pic>
        <p:nvPicPr>
          <p:cNvPr id="9" name="图片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6374" y="2324100"/>
            <a:ext cx="4028078" cy="4229100"/>
          </a:xfrm>
          <a:prstGeom prst="rect">
            <a:avLst/>
          </a:prstGeom>
          <a:noFill/>
          <a:ln>
            <a:noFill/>
          </a:ln>
        </p:spPr>
      </p:pic>
      <p:sp>
        <p:nvSpPr>
          <p:cNvPr id="5" name="矩形 4"/>
          <p:cNvSpPr/>
          <p:nvPr/>
        </p:nvSpPr>
        <p:spPr>
          <a:xfrm>
            <a:off x="3554750" y="1066800"/>
            <a:ext cx="2031325" cy="497957"/>
          </a:xfrm>
          <a:prstGeom prst="rect">
            <a:avLst/>
          </a:prstGeom>
        </p:spPr>
        <p:txBody>
          <a:bodyPr wrap="none">
            <a:spAutoFit/>
          </a:bodyPr>
          <a:lstStyle/>
          <a:p>
            <a:pPr algn="ctr">
              <a:lnSpc>
                <a:spcPct val="120000"/>
              </a:lnSpc>
            </a:pPr>
            <a:r>
              <a:rPr lang="zh-CN" altLang="en-US" sz="2400" b="1" dirty="0">
                <a:latin typeface="+mj-ea"/>
                <a:ea typeface="+mj-ea"/>
                <a:cs typeface="+mn-ea"/>
                <a:sym typeface="Consolas" panose="020B0609020204030204" pitchFamily="49" charset="0"/>
              </a:rPr>
              <a:t>空间杜宾模型</a:t>
            </a:r>
          </a:p>
        </p:txBody>
      </p:sp>
      <p:sp>
        <p:nvSpPr>
          <p:cNvPr id="6" name="文本框 5"/>
          <p:cNvSpPr txBox="1"/>
          <p:nvPr/>
        </p:nvSpPr>
        <p:spPr>
          <a:xfrm>
            <a:off x="457200" y="1562100"/>
            <a:ext cx="8801100" cy="81047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lagsarlm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data = WHHP,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listW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zero.policy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type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"mixed"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 </a:t>
            </a:r>
            <a:r>
              <a:rPr lang="zh-CN" altLang="zh-CN" sz="1200" dirty="0">
                <a:solidFill>
                  <a:srgbClr val="008000"/>
                </a:solidFill>
                <a:latin typeface="Consolas" panose="020B0609020204030204" pitchFamily="49" charset="0"/>
                <a:ea typeface="宋体" panose="02010600030101010101" pitchFamily="2" charset="-122"/>
                <a:cs typeface="宋体" panose="02010600030101010101" pitchFamily="2" charset="-122"/>
              </a:rPr>
              <a:t>输出空间杜宾模型结果</a:t>
            </a:r>
            <a:endParaRPr lang="zh-CN" altLang="zh-CN" sz="1600" dirty="0">
              <a:latin typeface="Times New Roman" panose="02020603050405020304" charset="0"/>
              <a:ea typeface="宋体" panose="02010600030101010101" pitchFamily="2" charset="-122"/>
            </a:endParaRPr>
          </a:p>
          <a:p>
            <a:pPr indent="2667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summary(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600" dirty="0">
              <a:latin typeface="Times New Roman" panose="02020603050405020304" charset="0"/>
              <a:ea typeface="宋体" panose="02010600030101010101" pitchFamily="2" charset="-122"/>
            </a:endParaRPr>
          </a:p>
        </p:txBody>
      </p:sp>
      <p:sp>
        <p:nvSpPr>
          <p:cNvPr id="10" name="标题 1">
            <a:extLst>
              <a:ext uri="{FF2B5EF4-FFF2-40B4-BE49-F238E27FC236}">
                <a16:creationId xmlns:a16="http://schemas.microsoft.com/office/drawing/2014/main" id="{63E6CE51-CB39-90A2-8EE5-30165C9B5BCB}"/>
              </a:ext>
            </a:extLst>
          </p:cNvPr>
          <p:cNvSpPr>
            <a:spLocks noGrp="1"/>
          </p:cNvSpPr>
          <p:nvPr>
            <p:ph type="title"/>
          </p:nvPr>
        </p:nvSpPr>
        <p:spPr>
          <a:xfrm>
            <a:off x="1066800" y="342900"/>
            <a:ext cx="6896099" cy="663575"/>
          </a:xfrm>
        </p:spPr>
        <p:txBody>
          <a:bodyPr lIns="0"/>
          <a:lstStyle/>
          <a:p>
            <a:pPr algn="l"/>
            <a:r>
              <a:rPr lang="en-US" altLang="zh-CN" sz="3600" dirty="0">
                <a:latin typeface="+mn-lt"/>
                <a:sym typeface="Consolas" panose="020B0609020204030204" pitchFamily="49" charset="0"/>
              </a:rPr>
              <a:t>8.4.2 </a:t>
            </a:r>
            <a:r>
              <a:rPr lang="zh-CN" altLang="en-US" sz="3600" b="1" dirty="0">
                <a:latin typeface="+mj-ea"/>
                <a:ea typeface="+mj-ea"/>
                <a:cs typeface="+mn-ea"/>
                <a:sym typeface="Consolas" panose="020B0609020204030204" pitchFamily="49" charset="0"/>
              </a:rPr>
              <a:t>空间滞后</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误差</a:t>
            </a:r>
            <a:r>
              <a:rPr lang="en-US" altLang="zh-CN" sz="3600" b="1" dirty="0">
                <a:latin typeface="+mj-ea"/>
                <a:ea typeface="+mj-ea"/>
                <a:cs typeface="+mn-ea"/>
                <a:sym typeface="Consolas" panose="020B0609020204030204" pitchFamily="49" charset="0"/>
              </a:rPr>
              <a:t>/</a:t>
            </a:r>
            <a:r>
              <a:rPr lang="zh-CN" altLang="en-US" sz="3600" b="1" dirty="0">
                <a:latin typeface="+mj-ea"/>
                <a:ea typeface="+mj-ea"/>
                <a:cs typeface="+mn-ea"/>
                <a:sym typeface="Consolas" panose="020B0609020204030204" pitchFamily="49" charset="0"/>
              </a:rPr>
              <a:t>杜宾模型</a:t>
            </a:r>
            <a:endParaRPr lang="zh-CN" altLang="en-US" sz="3600" dirty="0">
              <a:latin typeface="+mn-lt"/>
              <a:sym typeface="Consolas" panose="020B06090202040302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47</a:t>
            </a:fld>
            <a:endParaRPr lang="zh-CN" altLang="en-US" dirty="0">
              <a:solidFill>
                <a:schemeClr val="bg2">
                  <a:lumMod val="75000"/>
                </a:schemeClr>
              </a:solidFill>
              <a:sym typeface="Consolas" panose="020B0609020204030204" pitchFamily="49" charset="0"/>
            </a:endParaRPr>
          </a:p>
        </p:txBody>
      </p:sp>
      <p:sp>
        <p:nvSpPr>
          <p:cNvPr id="7" name="内容占位符 2"/>
          <p:cNvSpPr txBox="1"/>
          <p:nvPr/>
        </p:nvSpPr>
        <p:spPr>
          <a:xfrm>
            <a:off x="381000" y="1007956"/>
            <a:ext cx="8229600" cy="1011344"/>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pPr>
            <a:r>
              <a:rPr lang="zh-CN" altLang="en-US" sz="2000" dirty="0">
                <a:latin typeface="Times New Roman" panose="02020603050405020304" charset="0"/>
                <a:ea typeface="+mj-ea"/>
                <a:cs typeface="Times New Roman" panose="02020603050405020304" charset="0"/>
              </a:rPr>
              <a:t>空间异质性（</a:t>
            </a:r>
            <a:r>
              <a:rPr lang="en-US" altLang="zh-CN" sz="2000" dirty="0">
                <a:latin typeface="Times New Roman" panose="02020603050405020304" charset="0"/>
                <a:ea typeface="+mj-ea"/>
                <a:cs typeface="Times New Roman" panose="02020603050405020304" charset="0"/>
              </a:rPr>
              <a:t>spatial heterogeneity</a:t>
            </a:r>
            <a:r>
              <a:rPr lang="zh-CN" altLang="en-US" sz="2000" dirty="0">
                <a:latin typeface="Times New Roman" panose="02020603050405020304" charset="0"/>
                <a:ea typeface="+mj-ea"/>
                <a:cs typeface="Times New Roman" panose="02020603050405020304" charset="0"/>
              </a:rPr>
              <a:t>）是指生态、社会等空间过程和格局在空间分布上的不均匀性及其复杂性。</a:t>
            </a:r>
            <a:endParaRPr lang="en-US" altLang="zh-CN" sz="2000" dirty="0">
              <a:latin typeface="Times New Roman" panose="02020603050405020304" charset="0"/>
              <a:ea typeface="+mj-ea"/>
              <a:cs typeface="Times New Roman" panose="02020603050405020304" charset="0"/>
            </a:endParaRPr>
          </a:p>
          <a:p>
            <a:pPr marL="0" indent="0" algn="just">
              <a:buNone/>
            </a:pPr>
            <a:endParaRPr lang="en-US" altLang="zh-CN" dirty="0">
              <a:latin typeface="Times New Roman" panose="02020603050405020304" charset="0"/>
              <a:cs typeface="Times New Roman" panose="02020603050405020304" charset="0"/>
            </a:endParaRPr>
          </a:p>
          <a:p>
            <a:pPr lvl="1" algn="just"/>
            <a:endParaRPr lang="en-US" altLang="zh-CN" dirty="0">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rcRect l="19710" t="3145" r="19507" b="4582"/>
          <a:stretch>
            <a:fillRect/>
          </a:stretch>
        </p:blipFill>
        <p:spPr>
          <a:xfrm>
            <a:off x="2438400" y="2008479"/>
            <a:ext cx="4191000" cy="3581210"/>
          </a:xfrm>
          <a:prstGeom prst="rect">
            <a:avLst/>
          </a:prstGeom>
        </p:spPr>
      </p:pic>
      <p:sp>
        <p:nvSpPr>
          <p:cNvPr id="10" name="矩形 9"/>
          <p:cNvSpPr/>
          <p:nvPr/>
        </p:nvSpPr>
        <p:spPr>
          <a:xfrm>
            <a:off x="523568" y="5640169"/>
            <a:ext cx="8087032" cy="646331"/>
          </a:xfrm>
          <a:prstGeom prst="rect">
            <a:avLst/>
          </a:prstGeom>
        </p:spPr>
        <p:txBody>
          <a:bodyPr wrap="square">
            <a:spAutoFit/>
          </a:bodyPr>
          <a:lstStyle/>
          <a:p>
            <a:pPr algn="ctr"/>
            <a:r>
              <a:rPr lang="zh-CN" altLang="en-US" dirty="0">
                <a:latin typeface="宋体" panose="02010600030101010101" pitchFamily="2" charset="-122"/>
              </a:rPr>
              <a:t>“橘生淮南则为橘，生于淮北则为枳，叶徒相似，其实味不同。 水土异也。”</a:t>
            </a:r>
            <a:endParaRPr lang="en-US" altLang="zh-CN" dirty="0">
              <a:latin typeface="宋体" panose="02010600030101010101" pitchFamily="2" charset="-122"/>
            </a:endParaRPr>
          </a:p>
          <a:p>
            <a:pPr algn="r"/>
            <a:r>
              <a:rPr lang="en-US" altLang="zh-CN" dirty="0">
                <a:latin typeface="宋体" panose="02010600030101010101" pitchFamily="2" charset="-122"/>
              </a:rPr>
              <a:t>——《</a:t>
            </a:r>
            <a:r>
              <a:rPr lang="zh-CN" altLang="en-US" dirty="0">
                <a:latin typeface="宋体" panose="02010600030101010101" pitchFamily="2" charset="-122"/>
              </a:rPr>
              <a:t>晏子春秋</a:t>
            </a:r>
            <a:r>
              <a:rPr lang="en-US" altLang="zh-CN" dirty="0">
                <a:latin typeface="宋体" panose="02010600030101010101" pitchFamily="2" charset="-122"/>
              </a:rPr>
              <a:t>·</a:t>
            </a:r>
            <a:r>
              <a:rPr lang="zh-CN" altLang="en-US" dirty="0">
                <a:latin typeface="宋体" panose="02010600030101010101" pitchFamily="2" charset="-122"/>
              </a:rPr>
              <a:t>杂下之十</a:t>
            </a:r>
            <a:r>
              <a:rPr lang="en-US" altLang="zh-CN" dirty="0">
                <a:latin typeface="宋体" panose="02010600030101010101" pitchFamily="2" charset="-122"/>
              </a:rPr>
              <a:t>》</a:t>
            </a:r>
            <a:r>
              <a:rPr lang="zh-CN" altLang="en-US" dirty="0">
                <a:latin typeface="宋体" panose="02010600030101010101" pitchFamily="2" charset="-122"/>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2"/>
          <p:cNvSpPr txBox="1"/>
          <p:nvPr/>
        </p:nvSpPr>
        <p:spPr>
          <a:xfrm>
            <a:off x="190500" y="1066800"/>
            <a:ext cx="8610600" cy="5465763"/>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pPr>
            <a:r>
              <a:rPr lang="zh-CN" altLang="en-US" sz="2400" dirty="0">
                <a:latin typeface="+mj-ea"/>
                <a:ea typeface="+mj-ea"/>
                <a:cs typeface="Times New Roman" panose="02020603050405020304" charset="0"/>
              </a:rPr>
              <a:t>地理学第二定律（备选）</a:t>
            </a:r>
            <a:r>
              <a:rPr lang="zh-CN" altLang="en-US" sz="2400" dirty="0">
                <a:latin typeface="Times New Roman" panose="02020603050405020304" charset="0"/>
                <a:cs typeface="Times New Roman" panose="02020603050405020304" charset="0"/>
              </a:rPr>
              <a:t>：</a:t>
            </a:r>
            <a:r>
              <a:rPr lang="en-US" altLang="zh-CN" sz="2400" dirty="0">
                <a:latin typeface="Times New Roman" panose="02020603050405020304" charset="0"/>
                <a:cs typeface="Times New Roman" panose="02020603050405020304" charset="0"/>
              </a:rPr>
              <a:t>A candidate second law of geography by Goodchild (2004)</a:t>
            </a:r>
          </a:p>
          <a:p>
            <a:pPr lvl="1" algn="just">
              <a:lnSpc>
                <a:spcPct val="150000"/>
              </a:lnSpc>
            </a:pPr>
            <a:r>
              <a:rPr lang="zh-CN" altLang="en-US" sz="2400" b="1" dirty="0">
                <a:latin typeface="Times New Roman" panose="02020603050405020304" charset="0"/>
                <a:cs typeface="Times New Roman" panose="02020603050405020304" charset="0"/>
              </a:rPr>
              <a:t>空间异质性定理（</a:t>
            </a:r>
            <a:r>
              <a:rPr lang="en-US" altLang="zh-CN" sz="2400" b="1" dirty="0">
                <a:latin typeface="Times New Roman" panose="02020603050405020304" charset="0"/>
                <a:cs typeface="Times New Roman" panose="02020603050405020304" charset="0"/>
              </a:rPr>
              <a:t>The principle of spatial heterogeneity</a:t>
            </a:r>
            <a:r>
              <a:rPr lang="zh-CN" altLang="en-US" sz="2400" b="1" dirty="0">
                <a:latin typeface="Times New Roman" panose="02020603050405020304" charset="0"/>
                <a:cs typeface="Times New Roman" panose="02020603050405020304" charset="0"/>
              </a:rPr>
              <a:t>）</a:t>
            </a:r>
            <a:endParaRPr lang="en-US" altLang="zh-CN" sz="2400" b="1" dirty="0">
              <a:latin typeface="Times New Roman" panose="02020603050405020304" charset="0"/>
              <a:cs typeface="Times New Roman" panose="02020603050405020304" charset="0"/>
            </a:endParaRPr>
          </a:p>
          <a:p>
            <a:pPr lvl="1" algn="just">
              <a:lnSpc>
                <a:spcPct val="150000"/>
              </a:lnSpc>
            </a:pPr>
            <a:r>
              <a:rPr lang="en-US" altLang="zh-CN" sz="2400" dirty="0">
                <a:latin typeface="Times New Roman" panose="02020603050405020304" charset="0"/>
                <a:cs typeface="Times New Roman" panose="02020603050405020304" charset="0"/>
              </a:rPr>
              <a:t>“</a:t>
            </a:r>
            <a:r>
              <a:rPr lang="en-US" altLang="zh-CN" sz="2400" dirty="0">
                <a:solidFill>
                  <a:srgbClr val="FF0000"/>
                </a:solidFill>
                <a:latin typeface="Times New Roman" panose="02020603050405020304" charset="0"/>
                <a:cs typeface="Times New Roman" panose="02020603050405020304" charset="0"/>
              </a:rPr>
              <a:t>Spatial heterogeneity or non-stationarity </a:t>
            </a:r>
            <a:r>
              <a:rPr lang="en-US" altLang="zh-CN" sz="2400" dirty="0">
                <a:latin typeface="Times New Roman" panose="02020603050405020304" charset="0"/>
                <a:cs typeface="Times New Roman" panose="02020603050405020304" charset="0"/>
              </a:rPr>
              <a:t>in the statistical meaning of that term, implies that </a:t>
            </a:r>
            <a:r>
              <a:rPr lang="en-US" altLang="zh-CN" sz="2400" dirty="0">
                <a:solidFill>
                  <a:srgbClr val="FF0000"/>
                </a:solidFill>
                <a:latin typeface="Times New Roman" panose="02020603050405020304" charset="0"/>
                <a:cs typeface="Times New Roman" panose="02020603050405020304" charset="0"/>
              </a:rPr>
              <a:t>geographic variables exhibit uncontrolled variance</a:t>
            </a:r>
            <a:r>
              <a:rPr lang="en-US" altLang="zh-CN" sz="2400" dirty="0">
                <a:latin typeface="Times New Roman" panose="02020603050405020304" charset="0"/>
                <a:cs typeface="Times New Roman" panose="02020603050405020304" charset="0"/>
              </a:rPr>
              <a:t>.”</a:t>
            </a:r>
          </a:p>
          <a:p>
            <a:pPr lvl="1" algn="just">
              <a:lnSpc>
                <a:spcPct val="150000"/>
              </a:lnSpc>
            </a:pPr>
            <a:r>
              <a:rPr lang="en-US" altLang="zh-CN" sz="2400" dirty="0">
                <a:latin typeface="Times New Roman" panose="02020603050405020304" charset="0"/>
                <a:cs typeface="Times New Roman" panose="02020603050405020304" charset="0"/>
              </a:rPr>
              <a:t>“A corollary of uncontrolled variance in space is that the results of analysis depend explicitly on the bounds of the analysis: </a:t>
            </a:r>
            <a:r>
              <a:rPr lang="en-US" altLang="zh-CN" sz="2400" dirty="0">
                <a:solidFill>
                  <a:srgbClr val="FF0000"/>
                </a:solidFill>
                <a:latin typeface="Times New Roman" panose="02020603050405020304" charset="0"/>
                <a:cs typeface="Times New Roman" panose="02020603050405020304" charset="0"/>
              </a:rPr>
              <a:t>move the study area, and the results will change</a:t>
            </a:r>
            <a:r>
              <a:rPr lang="en-US" altLang="zh-CN" sz="2400" dirty="0">
                <a:latin typeface="Times New Roman" panose="02020603050405020304" charset="0"/>
                <a:cs typeface="Times New Roman" panose="02020603050405020304" charset="0"/>
              </a:rPr>
              <a:t>”</a:t>
            </a:r>
          </a:p>
          <a:p>
            <a:pPr algn="just"/>
            <a:endParaRPr lang="en-US" altLang="zh-CN" sz="2400" dirty="0">
              <a:latin typeface="Times New Roman" panose="02020603050405020304" charset="0"/>
              <a:cs typeface="Times New Roman" panose="02020603050405020304" charset="0"/>
            </a:endParaRPr>
          </a:p>
          <a:p>
            <a:pPr lvl="1" algn="just"/>
            <a:endParaRPr lang="en-US" altLang="zh-CN" dirty="0">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2"/>
          </p:nvPr>
        </p:nvSpPr>
        <p:spPr/>
        <p:txBody>
          <a:bodyPr/>
          <a:lstStyle/>
          <a:p>
            <a:fld id="{6B3369F9-03CD-4B48-86A9-9EE39A82955A}" type="slidenum">
              <a:rPr lang="zh-CN" altLang="en-US">
                <a:solidFill>
                  <a:schemeClr val="bg2">
                    <a:lumMod val="75000"/>
                  </a:schemeClr>
                </a:solidFill>
              </a:rPr>
              <a:t>48</a:t>
            </a:fld>
            <a:endParaRPr lang="zh-CN" altLang="en-US" dirty="0">
              <a:solidFill>
                <a:schemeClr val="bg2">
                  <a:lumMod val="75000"/>
                </a:schemeClr>
              </a:solidFill>
            </a:endParaRPr>
          </a:p>
        </p:txBody>
      </p:sp>
      <p:sp>
        <p:nvSpPr>
          <p:cNvPr id="6" name="标题 1">
            <a:extLst>
              <a:ext uri="{FF2B5EF4-FFF2-40B4-BE49-F238E27FC236}">
                <a16:creationId xmlns:a16="http://schemas.microsoft.com/office/drawing/2014/main" id="{077C106F-3B34-9B59-55A7-2FFEEA6B6CDB}"/>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1123279"/>
            <a:ext cx="6400800" cy="590518"/>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r>
              <a:rPr lang="zh-CN" altLang="en-US" sz="2400" dirty="0">
                <a:latin typeface="+mj-ea"/>
                <a:ea typeface="+mj-ea"/>
                <a:cs typeface="Times New Roman" panose="02020603050405020304" charset="0"/>
              </a:rPr>
              <a:t>空间异质性定理强调了基于位置的分析</a:t>
            </a:r>
            <a:endParaRPr lang="en-US" altLang="zh-CN" sz="2400" dirty="0">
              <a:latin typeface="+mj-ea"/>
              <a:ea typeface="+mj-ea"/>
              <a:cs typeface="Times New Roman" panose="02020603050405020304" charset="0"/>
            </a:endParaRPr>
          </a:p>
          <a:p>
            <a:pPr lvl="1" algn="just"/>
            <a:endParaRPr lang="en-US" altLang="zh-CN" dirty="0">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a:p>
            <a:pPr lvl="1" algn="just"/>
            <a:endParaRPr lang="en-US" altLang="zh-CN" dirty="0">
              <a:solidFill>
                <a:srgbClr val="2D22C0"/>
              </a:solidFill>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stretch>
            <a:fillRect/>
          </a:stretch>
        </p:blipFill>
        <p:spPr>
          <a:xfrm>
            <a:off x="4419600" y="2450246"/>
            <a:ext cx="4583324" cy="3464265"/>
          </a:xfrm>
          <a:prstGeom prst="rect">
            <a:avLst/>
          </a:prstGeom>
        </p:spPr>
      </p:pic>
      <p:pic>
        <p:nvPicPr>
          <p:cNvPr id="6" name="图片 5"/>
          <p:cNvPicPr>
            <a:picLocks noChangeAspect="1"/>
          </p:cNvPicPr>
          <p:nvPr/>
        </p:nvPicPr>
        <p:blipFill>
          <a:blip r:embed="rId3"/>
          <a:stretch>
            <a:fillRect/>
          </a:stretch>
        </p:blipFill>
        <p:spPr>
          <a:xfrm>
            <a:off x="263877" y="1643930"/>
            <a:ext cx="4308124" cy="5076897"/>
          </a:xfrm>
          <a:prstGeom prst="rect">
            <a:avLst/>
          </a:prstGeom>
        </p:spPr>
      </p:pic>
      <p:sp>
        <p:nvSpPr>
          <p:cNvPr id="7" name="灯片编号占位符 6"/>
          <p:cNvSpPr>
            <a:spLocks noGrp="1"/>
          </p:cNvSpPr>
          <p:nvPr>
            <p:ph type="sldNum" sz="quarter" idx="12"/>
          </p:nvPr>
        </p:nvSpPr>
        <p:spPr/>
        <p:txBody>
          <a:bodyPr/>
          <a:lstStyle/>
          <a:p>
            <a:fld id="{6B3369F9-03CD-4B48-86A9-9EE39A82955A}" type="slidenum">
              <a:rPr lang="zh-CN" altLang="en-US">
                <a:solidFill>
                  <a:schemeClr val="bg2">
                    <a:lumMod val="75000"/>
                  </a:schemeClr>
                </a:solidFill>
              </a:rPr>
              <a:t>49</a:t>
            </a:fld>
            <a:endParaRPr lang="zh-CN" altLang="en-US" dirty="0">
              <a:solidFill>
                <a:schemeClr val="bg2">
                  <a:lumMod val="75000"/>
                </a:schemeClr>
              </a:solidFill>
            </a:endParaRPr>
          </a:p>
        </p:txBody>
      </p:sp>
      <p:sp>
        <p:nvSpPr>
          <p:cNvPr id="9" name="标题 1">
            <a:extLst>
              <a:ext uri="{FF2B5EF4-FFF2-40B4-BE49-F238E27FC236}">
                <a16:creationId xmlns:a16="http://schemas.microsoft.com/office/drawing/2014/main" id="{2885D178-26CD-FFB5-B1C9-4E8B2C10B6CA}"/>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50</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247982" y="1066800"/>
            <a:ext cx="2646879" cy="502638"/>
          </a:xfrm>
          <a:prstGeom prst="rect">
            <a:avLst/>
          </a:prstGeom>
        </p:spPr>
        <p:txBody>
          <a:bodyPr wrap="none">
            <a:spAutoFit/>
          </a:bodyPr>
          <a:lstStyle/>
          <a:p>
            <a:pPr algn="ctr">
              <a:lnSpc>
                <a:spcPct val="120000"/>
              </a:lnSpc>
            </a:pPr>
            <a:r>
              <a:rPr lang="zh-CN" altLang="en-US" sz="2400" b="1"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地理加权回归分析</a:t>
            </a:r>
          </a:p>
        </p:txBody>
      </p:sp>
      <p:sp>
        <p:nvSpPr>
          <p:cNvPr id="11" name="矩形 10"/>
          <p:cNvSpPr/>
          <p:nvPr/>
        </p:nvSpPr>
        <p:spPr>
          <a:xfrm>
            <a:off x="612991" y="1594556"/>
            <a:ext cx="7916859" cy="4613892"/>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普通线性回归分析技术从一个“全局假设”的角度出发，认为在研究区域内变量关系是固定的，不随空间位置的变化而变化。现实地理空间中不确定性或异质性无处不在，这个前提假设的适用性不断受到挑战。</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例如，对房屋的价格进行描述，传统的回归分析方法仅用单一的数值进行描述，而事实上在这个区域内由于房型、小区环境、学区、楼层等多个因素的不同，可能造成这个区域内的房屋单价存在很大的差异。</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因此，区别于研究“单一普适关系”线性回归分析方法，地理加权回归（</a:t>
            </a:r>
            <a:r>
              <a:rPr lang="en-US" altLang="zh-CN" dirty="0">
                <a:latin typeface="Times New Roman" panose="02020603050405020304" charset="0"/>
                <a:ea typeface="+mj-ea"/>
                <a:cs typeface="Times New Roman" panose="02020603050405020304" charset="0"/>
                <a:sym typeface="Consolas" panose="020B0609020204030204" pitchFamily="49" charset="0"/>
              </a:rPr>
              <a:t>Geographically Weighed Regression</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GWR</a:t>
            </a:r>
            <a:r>
              <a:rPr lang="zh-CN" altLang="en-US" dirty="0">
                <a:latin typeface="Times New Roman" panose="02020603050405020304" charset="0"/>
                <a:ea typeface="+mj-ea"/>
                <a:cs typeface="Times New Roman" panose="02020603050405020304" charset="0"/>
                <a:sym typeface="Consolas" panose="020B0609020204030204" pitchFamily="49" charset="0"/>
              </a:rPr>
              <a:t>）在研究区域中抽样回归分析点，定量反映空间位置变化所带来的变量关系空间异质性和多相性过程。</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sp>
        <p:nvSpPr>
          <p:cNvPr id="8" name="标题 1">
            <a:extLst>
              <a:ext uri="{FF2B5EF4-FFF2-40B4-BE49-F238E27FC236}">
                <a16:creationId xmlns:a16="http://schemas.microsoft.com/office/drawing/2014/main" id="{6D976EE5-EAB9-EA31-0935-5C1C27FE8CF7}"/>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51</a:t>
            </a:fld>
            <a:endParaRPr lang="zh-CN" altLang="en-US" dirty="0">
              <a:solidFill>
                <a:schemeClr val="bg2">
                  <a:lumMod val="75000"/>
                </a:schemeClr>
              </a:solidFill>
              <a:sym typeface="Consolas" panose="020B0609020204030204" pitchFamily="49" charset="0"/>
            </a:endParaRPr>
          </a:p>
        </p:txBody>
      </p:sp>
      <p:pic>
        <p:nvPicPr>
          <p:cNvPr id="5" name="图片 4"/>
          <p:cNvPicPr>
            <a:picLocks noChangeAspect="1"/>
          </p:cNvPicPr>
          <p:nvPr/>
        </p:nvPicPr>
        <p:blipFill rotWithShape="1">
          <a:blip r:embed="rId2"/>
          <a:srcRect r="5416"/>
          <a:stretch>
            <a:fillRect/>
          </a:stretch>
        </p:blipFill>
        <p:spPr>
          <a:xfrm>
            <a:off x="1" y="1714500"/>
            <a:ext cx="9144000" cy="4353519"/>
          </a:xfrm>
          <a:prstGeom prst="rect">
            <a:avLst/>
          </a:prstGeom>
        </p:spPr>
      </p:pic>
      <p:sp>
        <p:nvSpPr>
          <p:cNvPr id="3" name="矩形 2"/>
          <p:cNvSpPr/>
          <p:nvPr/>
        </p:nvSpPr>
        <p:spPr>
          <a:xfrm>
            <a:off x="3247982" y="1066800"/>
            <a:ext cx="2646879" cy="502638"/>
          </a:xfrm>
          <a:prstGeom prst="rect">
            <a:avLst/>
          </a:prstGeom>
        </p:spPr>
        <p:txBody>
          <a:bodyPr wrap="none">
            <a:spAutoFit/>
          </a:bodyPr>
          <a:lstStyle/>
          <a:p>
            <a:pPr algn="ctr">
              <a:lnSpc>
                <a:spcPct val="120000"/>
              </a:lnSpc>
            </a:pPr>
            <a:r>
              <a:rPr lang="zh-CN" altLang="en-US" sz="2400" b="1" dirty="0">
                <a:latin typeface="Consolas" panose="020B0609020204030204" pitchFamily="49" charset="0"/>
                <a:ea typeface="微软雅黑" panose="020B0503020204020204" pitchFamily="34" charset="-122"/>
                <a:cs typeface="+mn-ea"/>
                <a:sym typeface="Consolas" panose="020B0609020204030204" pitchFamily="49" charset="0"/>
              </a:rPr>
              <a:t>地理加权回归分析</a:t>
            </a:r>
          </a:p>
        </p:txBody>
      </p:sp>
      <p:sp>
        <p:nvSpPr>
          <p:cNvPr id="8" name="标题 1">
            <a:extLst>
              <a:ext uri="{FF2B5EF4-FFF2-40B4-BE49-F238E27FC236}">
                <a16:creationId xmlns:a16="http://schemas.microsoft.com/office/drawing/2014/main" id="{F21DB0A2-D568-7671-8AB0-FBB3DDF327CD}"/>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52</a:t>
            </a:fld>
            <a:endParaRPr lang="zh-CN" altLang="en-US">
              <a:solidFill>
                <a:schemeClr val="bg2">
                  <a:lumMod val="75000"/>
                </a:schemeClr>
              </a:solidFill>
              <a:sym typeface="Consolas" panose="020B0609020204030204" pitchFamily="49" charset="0"/>
            </a:endParaRPr>
          </a:p>
        </p:txBody>
      </p:sp>
      <p:sp>
        <p:nvSpPr>
          <p:cNvPr id="6" name="矩形 5"/>
          <p:cNvSpPr/>
          <p:nvPr/>
        </p:nvSpPr>
        <p:spPr>
          <a:xfrm>
            <a:off x="3246973" y="1676400"/>
            <a:ext cx="2646879" cy="502638"/>
          </a:xfrm>
          <a:prstGeom prst="rect">
            <a:avLst/>
          </a:prstGeom>
        </p:spPr>
        <p:txBody>
          <a:bodyPr wrap="none">
            <a:spAutoFit/>
          </a:bodyPr>
          <a:lstStyle/>
          <a:p>
            <a:pPr algn="ctr">
              <a:lnSpc>
                <a:spcPct val="120000"/>
              </a:lnSpc>
            </a:pPr>
            <a:r>
              <a:rPr lang="zh-CN" altLang="en-US" sz="2400" dirty="0">
                <a:latin typeface="Consolas" panose="020B0609020204030204" pitchFamily="49" charset="0"/>
                <a:ea typeface="微软雅黑" panose="020B0503020204020204" pitchFamily="34" charset="-122"/>
                <a:cs typeface="+mn-ea"/>
                <a:sym typeface="Consolas" panose="020B0609020204030204" pitchFamily="49" charset="0"/>
              </a:rPr>
              <a:t>常用的权重核函数</a:t>
            </a:r>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1522413" y="2415900"/>
              <a:ext cx="6096000" cy="2880000"/>
            </p:xfrm>
            <a:graphic>
              <a:graphicData uri="http://schemas.openxmlformats.org/drawingml/2006/table">
                <a:tbl>
                  <a:tblPr firstRow="1" bandRow="1">
                    <a:tableStyleId>{9D7B26C5-4107-4FEC-AEDC-1716B250A1EF}</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20000">
                    <a:tc>
                      <a:txBody>
                        <a:bodyPr/>
                        <a:lstStyle/>
                        <a:p>
                          <a:pPr algn="ctr"/>
                          <a:r>
                            <a:rPr lang="zh-CN" altLang="en-US" b="1" dirty="0">
                              <a:latin typeface="+mj-ea"/>
                              <a:ea typeface="+mj-ea"/>
                            </a:rPr>
                            <a:t>函数名称</a:t>
                          </a:r>
                        </a:p>
                      </a:txBody>
                      <a:tcPr anchor="ctr"/>
                    </a:tc>
                    <a:tc>
                      <a:txBody>
                        <a:bodyPr/>
                        <a:lstStyle/>
                        <a:p>
                          <a:pPr algn="ctr"/>
                          <a:r>
                            <a:rPr lang="zh-CN" altLang="en-US" b="1" dirty="0">
                              <a:latin typeface="+mj-ea"/>
                              <a:ea typeface="+mj-ea"/>
                            </a:rPr>
                            <a:t>表达式</a:t>
                          </a:r>
                        </a:p>
                      </a:txBody>
                      <a:tcPr anchor="ctr"/>
                    </a:tc>
                    <a:extLst>
                      <a:ext uri="{0D108BD9-81ED-4DB2-BD59-A6C34878D82A}">
                        <a16:rowId xmlns:a16="http://schemas.microsoft.com/office/drawing/2014/main" val="10000"/>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Global model</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oMath>
                            </m:oMathPara>
                          </a14:m>
                          <a:endParaRPr lang="zh-CN" altLang="en-US" dirty="0"/>
                        </a:p>
                      </a:txBody>
                      <a:tcPr anchor="ctr"/>
                    </a:tc>
                    <a:extLst>
                      <a:ext uri="{0D108BD9-81ED-4DB2-BD59-A6C34878D82A}">
                        <a16:rowId xmlns:a16="http://schemas.microsoft.com/office/drawing/2014/main" val="10001"/>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Gaussian</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f>
                                              <m:fPr>
                                                <m:type m:val="skw"/>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𝑖𝑗</m:t>
                                                    </m:r>
                                                  </m:sub>
                                                </m:sSub>
                                              </m:num>
                                              <m:den>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num>
                                      <m:den>
                                        <m:r>
                                          <a:rPr lang="en-US" altLang="zh-CN" b="0" i="1" smtClean="0">
                                            <a:latin typeface="Cambria Math" panose="02040503050406030204" pitchFamily="18" charset="0"/>
                                          </a:rPr>
                                          <m:t>2</m:t>
                                        </m:r>
                                      </m:den>
                                    </m:f>
                                  </m:sup>
                                </m:sSup>
                              </m:oMath>
                            </m:oMathPara>
                          </a14:m>
                          <a:endParaRPr lang="zh-CN" altLang="en-US" dirty="0"/>
                        </a:p>
                      </a:txBody>
                      <a:tcPr anchor="ctr"/>
                    </a:tc>
                    <a:extLst>
                      <a:ext uri="{0D108BD9-81ED-4DB2-BD59-A6C34878D82A}">
                        <a16:rowId xmlns:a16="http://schemas.microsoft.com/office/drawing/2014/main" val="10002"/>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Exponential</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exp</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𝑖𝑗</m:t>
                                            </m:r>
                                          </m:sub>
                                        </m:sSub>
                                      </m:e>
                                    </m:d>
                                  </m:num>
                                  <m:den>
                                    <m:r>
                                      <a:rPr lang="en-US" altLang="zh-CN" b="0" i="1" smtClean="0">
                                        <a:latin typeface="Cambria Math" panose="02040503050406030204" pitchFamily="18" charset="0"/>
                                      </a:rPr>
                                      <m:t>𝑏</m:t>
                                    </m:r>
                                  </m:den>
                                </m:f>
                                <m:r>
                                  <a:rPr lang="en-US" altLang="zh-CN" b="0" i="1" smtClean="0">
                                    <a:latin typeface="Cambria Math" panose="02040503050406030204" pitchFamily="18" charset="0"/>
                                  </a:rPr>
                                  <m:t>)</m:t>
                                </m:r>
                              </m:oMath>
                            </m:oMathPara>
                          </a14:m>
                          <a:endParaRPr lang="zh-CN" altLang="en-US" dirty="0"/>
                        </a:p>
                      </a:txBody>
                      <a:tcPr anchor="ctr"/>
                    </a:tc>
                    <a:extLst>
                      <a:ext uri="{0D108BD9-81ED-4DB2-BD59-A6C34878D82A}">
                        <a16:rowId xmlns:a16="http://schemas.microsoft.com/office/drawing/2014/main" val="10003"/>
                      </a:ext>
                    </a:extLst>
                  </a:tr>
                </a:tbl>
              </a:graphicData>
            </a:graphic>
          </p:graphicFrame>
        </mc:Choice>
        <mc:Fallback xmlns="">
          <p:graphicFrame>
            <p:nvGraphicFramePr>
              <p:cNvPr id="3" name="表格 2"/>
              <p:cNvGraphicFramePr>
                <a:graphicFrameLocks noGrp="1"/>
              </p:cNvGraphicFramePr>
              <p:nvPr/>
            </p:nvGraphicFramePr>
            <p:xfrm>
              <a:off x="1522413" y="2415900"/>
              <a:ext cx="6096000" cy="2880000"/>
            </p:xfrm>
            <a:graphic>
              <a:graphicData uri="http://schemas.openxmlformats.org/drawingml/2006/table">
                <a:tbl>
                  <a:tblPr firstRow="1" bandRow="1">
                    <a:tableStyleId>{9D7B26C5-4107-4FEC-AEDC-1716B250A1EF}</a:tableStyleId>
                  </a:tblPr>
                  <a:tblGrid>
                    <a:gridCol w="3048000"/>
                    <a:gridCol w="3048000"/>
                  </a:tblGrid>
                  <a:tr h="720000">
                    <a:tc>
                      <a:txBody>
                        <a:bodyPr/>
                        <a:lstStyle/>
                        <a:p>
                          <a:pPr algn="ctr"/>
                          <a:r>
                            <a:rPr lang="zh-CN" altLang="en-US" b="1" dirty="0">
                              <a:latin typeface="+mj-ea"/>
                              <a:ea typeface="+mj-ea"/>
                            </a:rPr>
                            <a:t>函数名称</a:t>
                          </a:r>
                          <a:endParaRPr lang="zh-CN" altLang="en-US" b="1" dirty="0">
                            <a:latin typeface="+mj-ea"/>
                            <a:ea typeface="+mj-ea"/>
                          </a:endParaRPr>
                        </a:p>
                      </a:txBody>
                      <a:tcPr anchor="ctr"/>
                    </a:tc>
                    <a:tc>
                      <a:txBody>
                        <a:bodyPr/>
                        <a:lstStyle/>
                        <a:p>
                          <a:pPr algn="ctr"/>
                          <a:r>
                            <a:rPr lang="zh-CN" altLang="en-US" b="1" dirty="0">
                              <a:latin typeface="+mj-ea"/>
                              <a:ea typeface="+mj-ea"/>
                            </a:rPr>
                            <a:t>表达式</a:t>
                          </a:r>
                          <a:endParaRPr lang="zh-CN" altLang="en-US" b="1" dirty="0">
                            <a:latin typeface="+mj-ea"/>
                            <a:ea typeface="+mj-ea"/>
                          </a:endParaRPr>
                        </a:p>
                      </a:txBody>
                      <a:tcPr anchor="ctr"/>
                    </a:tc>
                  </a:tr>
                  <a:tr h="72009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Global model</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endParaRPr lang="zh-CN"/>
                        </a:p>
                      </a:txBody>
                      <a:tcPr anchor="ctr">
                        <a:blipFill>
                          <a:blip r:embed="rId2"/>
                        </a:blipFill>
                      </a:tcPr>
                    </a:tc>
                  </a:tr>
                  <a:tr h="72009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Gaussian</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endParaRPr lang="zh-CN"/>
                        </a:p>
                      </a:txBody>
                      <a:tcPr anchor="ctr">
                        <a:blipFill>
                          <a:blip r:embed="rId2"/>
                        </a:blipFill>
                      </a:tcPr>
                    </a:tc>
                  </a:tr>
                  <a:tr h="7194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800" kern="100" dirty="0">
                              <a:solidFill>
                                <a:schemeClr val="dk1"/>
                              </a:solidFill>
                              <a:effectLst/>
                              <a:sym typeface="Consolas" panose="020B0609020204030204" pitchFamily="49" charset="0"/>
                            </a:rPr>
                            <a:t>Exponential</a:t>
                          </a:r>
                          <a:endParaRPr lang="zh-CN" altLang="zh-CN" sz="1800" kern="100" dirty="0">
                            <a:solidFill>
                              <a:schemeClr val="dk1"/>
                            </a:solidFill>
                            <a:effectLst/>
                            <a:latin typeface="+mj-ea"/>
                            <a:ea typeface="+mn-ea"/>
                            <a:cs typeface="+mn-cs"/>
                            <a:sym typeface="Consolas" panose="020B0609020204030204" pitchFamily="49" charset="0"/>
                          </a:endParaRPr>
                        </a:p>
                      </a:txBody>
                      <a:tcPr anchor="ctr"/>
                    </a:tc>
                    <a:tc>
                      <a:txBody>
                        <a:bodyPr/>
                        <a:lstStyle/>
                        <a:p>
                          <a:endParaRPr lang="zh-CN"/>
                        </a:p>
                      </a:txBody>
                      <a:tcPr anchor="ctr">
                        <a:blipFill>
                          <a:blip r:embed="rId2"/>
                        </a:blipFill>
                      </a:tcPr>
                    </a:tc>
                  </a:tr>
                </a:tbl>
              </a:graphicData>
            </a:graphic>
          </p:graphicFrame>
        </mc:Fallback>
      </mc:AlternateContent>
      <p:sp>
        <p:nvSpPr>
          <p:cNvPr id="8" name="标题 1">
            <a:extLst>
              <a:ext uri="{FF2B5EF4-FFF2-40B4-BE49-F238E27FC236}">
                <a16:creationId xmlns:a16="http://schemas.microsoft.com/office/drawing/2014/main" id="{7EEA3501-8BE0-0961-5CAE-816E1F562145}"/>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4" descr="Fig1kernelplot.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53726" y="1535053"/>
            <a:ext cx="4316688" cy="4932426"/>
          </a:xfrm>
          <a:prstGeom prst="rect">
            <a:avLst/>
          </a:prstGeom>
        </p:spPr>
      </p:pic>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53</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246973" y="1032415"/>
            <a:ext cx="2646879" cy="502638"/>
          </a:xfrm>
          <a:prstGeom prst="rect">
            <a:avLst/>
          </a:prstGeom>
        </p:spPr>
        <p:txBody>
          <a:bodyPr wrap="none">
            <a:spAutoFit/>
          </a:bodyPr>
          <a:lstStyle/>
          <a:p>
            <a:pPr algn="ctr">
              <a:lnSpc>
                <a:spcPct val="120000"/>
              </a:lnSpc>
            </a:pPr>
            <a:r>
              <a:rPr lang="zh-CN" altLang="en-US" sz="2400" dirty="0">
                <a:latin typeface="Consolas" panose="020B0609020204030204" pitchFamily="49" charset="0"/>
                <a:ea typeface="微软雅黑" panose="020B0503020204020204" pitchFamily="34" charset="-122"/>
                <a:cs typeface="+mn-ea"/>
                <a:sym typeface="Consolas" panose="020B0609020204030204" pitchFamily="49" charset="0"/>
              </a:rPr>
              <a:t>常用的权重核函数</a:t>
            </a:r>
          </a:p>
        </p:txBody>
      </p:sp>
      <p:sp>
        <p:nvSpPr>
          <p:cNvPr id="9" name="内容占位符 2"/>
          <p:cNvSpPr txBox="1"/>
          <p:nvPr/>
        </p:nvSpPr>
        <p:spPr bwMode="auto">
          <a:xfrm>
            <a:off x="4685724" y="1617610"/>
            <a:ext cx="4015802" cy="4630790"/>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lr>
                <a:srgbClr val="C00000"/>
              </a:buClr>
              <a:buFont typeface="Wingdings" panose="05000000000000000000" pitchFamily="2" charset="2"/>
              <a:buChar char="Ø"/>
              <a:defRPr sz="2800" kern="1200">
                <a:solidFill>
                  <a:schemeClr val="tx1"/>
                </a:solidFill>
                <a:latin typeface="黑体" panose="02010609060101010101" charset="-122"/>
                <a:ea typeface="黑体" panose="02010609060101010101" charset="-122"/>
                <a:cs typeface="+mn-cs"/>
              </a:defRPr>
            </a:lvl1pPr>
            <a:lvl2pPr marL="742950" indent="-285750" algn="l" rtl="0" eaLnBrk="0" fontAlgn="base" hangingPunct="0">
              <a:lnSpc>
                <a:spcPct val="150000"/>
              </a:lnSpc>
              <a:spcBef>
                <a:spcPct val="20000"/>
              </a:spcBef>
              <a:spcAft>
                <a:spcPct val="0"/>
              </a:spcAft>
              <a:buFont typeface="Wingdings" panose="05000000000000000000" pitchFamily="2" charset="2"/>
              <a:buChar char="ü"/>
              <a:defRPr sz="2400" kern="1200">
                <a:solidFill>
                  <a:schemeClr val="tx1"/>
                </a:solidFill>
                <a:latin typeface="黑体" panose="02010609060101010101" charset="-122"/>
                <a:ea typeface="黑体" panose="02010609060101010101" charset="-122"/>
                <a:cs typeface="+mn-cs"/>
              </a:defRPr>
            </a:lvl2pPr>
            <a:lvl3pPr marL="1143000" indent="-228600" algn="l" rtl="0" eaLnBrk="0" fontAlgn="base" hangingPunct="0">
              <a:lnSpc>
                <a:spcPct val="150000"/>
              </a:lnSpc>
              <a:spcBef>
                <a:spcPct val="20000"/>
              </a:spcBef>
              <a:spcAft>
                <a:spcPct val="0"/>
              </a:spcAft>
              <a:buFont typeface="Wingdings" panose="05000000000000000000" pitchFamily="2" charset="2"/>
              <a:buChar char="p"/>
              <a:defRPr sz="2000" kern="1200">
                <a:solidFill>
                  <a:schemeClr val="tx1"/>
                </a:solidFill>
                <a:latin typeface="黑体" panose="02010609060101010101" charset="-122"/>
                <a:ea typeface="黑体" panose="02010609060101010101" charset="-122"/>
                <a:cs typeface="+mn-cs"/>
              </a:defRPr>
            </a:lvl3pPr>
            <a:lvl4pPr marL="1600200" indent="-228600" algn="l" rtl="0" eaLnBrk="0" fontAlgn="base" hangingPunct="0">
              <a:lnSpc>
                <a:spcPct val="150000"/>
              </a:lnSpc>
              <a:spcBef>
                <a:spcPct val="20000"/>
              </a:spcBef>
              <a:spcAft>
                <a:spcPct val="0"/>
              </a:spcAft>
              <a:buFont typeface="Arial" panose="020B0604020202020204" pitchFamily="34" charset="0"/>
              <a:buChar char="–"/>
              <a:defRPr sz="1800" kern="1200">
                <a:solidFill>
                  <a:schemeClr val="tx1"/>
                </a:solidFill>
                <a:latin typeface="黑体" panose="02010609060101010101" charset="-122"/>
                <a:ea typeface="黑体" panose="02010609060101010101" charset="-122"/>
                <a:cs typeface="+mn-cs"/>
              </a:defRPr>
            </a:lvl4pPr>
            <a:lvl5pPr marL="2057400" indent="-228600" algn="l" rtl="0" eaLnBrk="0" fontAlgn="base" hangingPunct="0">
              <a:lnSpc>
                <a:spcPct val="150000"/>
              </a:lnSpc>
              <a:spcBef>
                <a:spcPct val="20000"/>
              </a:spcBef>
              <a:spcAft>
                <a:spcPct val="0"/>
              </a:spcAft>
              <a:buFont typeface="Arial" panose="020B0604020202020204" pitchFamily="34" charset="0"/>
              <a:buChar char="»"/>
              <a:defRPr sz="1800" kern="1200">
                <a:solidFill>
                  <a:schemeClr val="tx1"/>
                </a:solidFill>
                <a:latin typeface="黑体" panose="02010609060101010101" charset="-122"/>
                <a:ea typeface="黑体" panose="02010609060101010101"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defRPr/>
            </a:pPr>
            <a:r>
              <a:rPr lang="en-US" altLang="zh-CN" sz="1800" dirty="0">
                <a:latin typeface="Times New Roman" panose="02020603050405020304" charset="0"/>
                <a:cs typeface="Times New Roman" panose="02020603050405020304" charset="0"/>
              </a:rPr>
              <a:t>Global model</a:t>
            </a:r>
          </a:p>
          <a:p>
            <a:pPr marL="457200" lvl="1" indent="0">
              <a:lnSpc>
                <a:spcPct val="120000"/>
              </a:lnSpc>
              <a:buNone/>
              <a:defRPr/>
            </a:pPr>
            <a:endParaRPr lang="en-US" altLang="zh-CN" sz="1400" dirty="0">
              <a:latin typeface="Times New Roman" panose="02020603050405020304" charset="0"/>
              <a:cs typeface="Times New Roman" panose="02020603050405020304" charset="0"/>
            </a:endParaRPr>
          </a:p>
          <a:p>
            <a:pPr marL="0" indent="0">
              <a:lnSpc>
                <a:spcPct val="120000"/>
              </a:lnSpc>
              <a:buNone/>
              <a:defRPr/>
            </a:pPr>
            <a:r>
              <a:rPr lang="en-US" altLang="zh-CN" sz="1800" dirty="0">
                <a:latin typeface="Times New Roman" panose="02020603050405020304" charset="0"/>
                <a:cs typeface="Times New Roman" panose="02020603050405020304" charset="0"/>
              </a:rPr>
              <a:t>Gaussian</a:t>
            </a:r>
          </a:p>
          <a:p>
            <a:pPr lvl="1">
              <a:lnSpc>
                <a:spcPct val="120000"/>
              </a:lnSpc>
              <a:defRPr/>
            </a:pPr>
            <a:endParaRPr lang="en-US" altLang="zh-CN" sz="1400" dirty="0">
              <a:latin typeface="Times New Roman" panose="02020603050405020304" charset="0"/>
              <a:cs typeface="Times New Roman" panose="02020603050405020304" charset="0"/>
            </a:endParaRPr>
          </a:p>
          <a:p>
            <a:pPr marL="0" indent="0">
              <a:lnSpc>
                <a:spcPct val="120000"/>
              </a:lnSpc>
              <a:buNone/>
              <a:defRPr/>
            </a:pPr>
            <a:r>
              <a:rPr lang="en-US" altLang="zh-CN" sz="1800" dirty="0">
                <a:latin typeface="Times New Roman" panose="02020603050405020304" charset="0"/>
                <a:cs typeface="Times New Roman" panose="02020603050405020304" charset="0"/>
              </a:rPr>
              <a:t>Exponential</a:t>
            </a:r>
          </a:p>
          <a:p>
            <a:pPr lvl="1">
              <a:defRPr/>
            </a:pPr>
            <a:endParaRPr lang="en-US" altLang="zh-CN" sz="1400" dirty="0">
              <a:latin typeface="Times New Roman" panose="02020603050405020304" charset="0"/>
              <a:cs typeface="Times New Roman" panose="02020603050405020304" charset="0"/>
            </a:endParaRPr>
          </a:p>
          <a:p>
            <a:pPr marL="0" indent="0">
              <a:buNone/>
              <a:defRPr/>
            </a:pPr>
            <a:r>
              <a:rPr lang="en-US" altLang="zh-CN" sz="1800" dirty="0">
                <a:latin typeface="Times New Roman" panose="02020603050405020304" charset="0"/>
                <a:cs typeface="Times New Roman" panose="02020603050405020304" charset="0"/>
              </a:rPr>
              <a:t>Box-car</a:t>
            </a:r>
          </a:p>
          <a:p>
            <a:pPr lvl="1">
              <a:defRPr/>
            </a:pPr>
            <a:endParaRPr lang="en-US" altLang="zh-CN" sz="1400" dirty="0">
              <a:latin typeface="Times New Roman" panose="02020603050405020304" charset="0"/>
              <a:cs typeface="Times New Roman" panose="02020603050405020304" charset="0"/>
            </a:endParaRPr>
          </a:p>
          <a:p>
            <a:pPr marL="0" indent="0">
              <a:buNone/>
              <a:defRPr/>
            </a:pPr>
            <a:r>
              <a:rPr lang="en-US" altLang="zh-CN" sz="1800" dirty="0">
                <a:latin typeface="Times New Roman" panose="02020603050405020304" charset="0"/>
                <a:cs typeface="Times New Roman" panose="02020603050405020304" charset="0"/>
              </a:rPr>
              <a:t>Bi-square</a:t>
            </a:r>
          </a:p>
          <a:p>
            <a:pPr lvl="1">
              <a:defRPr/>
            </a:pPr>
            <a:endParaRPr lang="en-US" altLang="zh-CN" sz="1400" dirty="0">
              <a:latin typeface="Times New Roman" panose="02020603050405020304" charset="0"/>
              <a:cs typeface="Times New Roman" panose="02020603050405020304" charset="0"/>
            </a:endParaRPr>
          </a:p>
          <a:p>
            <a:pPr marL="0" indent="0">
              <a:buNone/>
              <a:defRPr/>
            </a:pPr>
            <a:r>
              <a:rPr lang="en-US" altLang="zh-CN" sz="1800" dirty="0">
                <a:latin typeface="Times New Roman" panose="02020603050405020304" charset="0"/>
                <a:cs typeface="Times New Roman" panose="02020603050405020304" charset="0"/>
              </a:rPr>
              <a:t>Tri-cube</a:t>
            </a:r>
          </a:p>
          <a:p>
            <a:pPr>
              <a:defRPr/>
            </a:pPr>
            <a:endParaRPr lang="en-US" altLang="zh-CN" sz="1800" dirty="0">
              <a:latin typeface="Times New Roman" panose="02020603050405020304" charset="0"/>
              <a:cs typeface="Times New Roman" panose="02020603050405020304" charset="0"/>
            </a:endParaRPr>
          </a:p>
          <a:p>
            <a:pPr marL="0" indent="0">
              <a:buNone/>
              <a:defRPr/>
            </a:pPr>
            <a:endParaRPr lang="en-US" altLang="zh-CN" sz="1800" dirty="0">
              <a:latin typeface="Times New Roman" panose="02020603050405020304" charset="0"/>
              <a:cs typeface="Times New Roman" panose="02020603050405020304" charset="0"/>
            </a:endParaRPr>
          </a:p>
        </p:txBody>
      </p:sp>
      <p:pic>
        <p:nvPicPr>
          <p:cNvPr id="10"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0594" y="1717997"/>
            <a:ext cx="1079011" cy="34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31677" y="2173814"/>
            <a:ext cx="1127515" cy="617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12"/>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19512" y="3740530"/>
            <a:ext cx="1547979" cy="60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1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37755" y="4485769"/>
            <a:ext cx="2620635" cy="84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14"/>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893852" y="5327610"/>
            <a:ext cx="2520233" cy="8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4"/>
          <p:cNvPicPr>
            <a:picLocks noChangeAspect="1"/>
          </p:cNvPicPr>
          <p:nvPr/>
        </p:nvPicPr>
        <p:blipFill>
          <a:blip r:embed="rId8"/>
          <a:stretch>
            <a:fillRect/>
          </a:stretch>
        </p:blipFill>
        <p:spPr>
          <a:xfrm>
            <a:off x="6328065" y="2916129"/>
            <a:ext cx="1662253" cy="550971"/>
          </a:xfrm>
          <a:prstGeom prst="rect">
            <a:avLst/>
          </a:prstGeom>
        </p:spPr>
      </p:pic>
      <p:sp>
        <p:nvSpPr>
          <p:cNvPr id="7" name="标题 1">
            <a:extLst>
              <a:ext uri="{FF2B5EF4-FFF2-40B4-BE49-F238E27FC236}">
                <a16:creationId xmlns:a16="http://schemas.microsoft.com/office/drawing/2014/main" id="{4ABD95B6-E985-FA89-637B-B1DF2BABE77B}"/>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a:xfrm>
            <a:off x="2862550" y="1104900"/>
            <a:ext cx="3403757" cy="476046"/>
          </a:xfrm>
          <a:prstGeom prst="rect">
            <a:avLst/>
          </a:prstGeom>
        </p:spPr>
        <p:txBody>
          <a:bodyPr lIns="0"/>
          <a:lstStyle/>
          <a:p>
            <a:pPr algn="l"/>
            <a:r>
              <a:rPr lang="zh-CN" altLang="en-US" sz="2400" dirty="0">
                <a:solidFill>
                  <a:schemeClr val="tx1"/>
                </a:solidFill>
                <a:latin typeface="Times New Roman" panose="02020603050405020304" charset="0"/>
                <a:cs typeface="Times New Roman" panose="02020603050405020304" charset="0"/>
              </a:rPr>
              <a:t>带宽（</a:t>
            </a:r>
            <a:r>
              <a:rPr lang="en-US" altLang="zh-CN" sz="2400" dirty="0">
                <a:solidFill>
                  <a:schemeClr val="tx1"/>
                </a:solidFill>
                <a:latin typeface="Times New Roman" panose="02020603050405020304" charset="0"/>
                <a:cs typeface="Times New Roman" panose="02020603050405020304" charset="0"/>
              </a:rPr>
              <a:t>Bandwidth, b</a:t>
            </a:r>
            <a:r>
              <a:rPr lang="zh-CN" altLang="en-US" sz="2400" dirty="0">
                <a:solidFill>
                  <a:schemeClr val="tx1"/>
                </a:solidFill>
                <a:latin typeface="Times New Roman" panose="02020603050405020304" charset="0"/>
                <a:cs typeface="Times New Roman" panose="02020603050405020304" charset="0"/>
              </a:rPr>
              <a:t>）</a:t>
            </a:r>
            <a:endParaRPr lang="en-US" altLang="zh-CN" sz="2400" dirty="0">
              <a:solidFill>
                <a:schemeClr val="tx1"/>
              </a:solidFill>
              <a:latin typeface="Times New Roman" panose="02020603050405020304" charset="0"/>
              <a:cs typeface="Times New Roman" panose="02020603050405020304" charset="0"/>
            </a:endParaRPr>
          </a:p>
        </p:txBody>
      </p:sp>
      <p:sp>
        <p:nvSpPr>
          <p:cNvPr id="4" name="灯片编号占位符 3"/>
          <p:cNvSpPr>
            <a:spLocks noGrp="1"/>
          </p:cNvSpPr>
          <p:nvPr>
            <p:ph type="sldNum" sz="quarter" idx="12"/>
          </p:nvPr>
        </p:nvSpPr>
        <p:spPr>
          <a:prstGeom prst="rect">
            <a:avLst/>
          </a:prstGeom>
        </p:spPr>
        <p:txBody>
          <a:bodyPr/>
          <a:lstStyle/>
          <a:p>
            <a:fld id="{C7ECF9A6-8C04-4AA2-84EE-CA2B7E77500A}" type="slidenum">
              <a:rPr lang="zh-CN" altLang="en-US">
                <a:solidFill>
                  <a:schemeClr val="bg2">
                    <a:lumMod val="75000"/>
                  </a:schemeClr>
                </a:solidFill>
              </a:rPr>
              <a:t>54</a:t>
            </a:fld>
            <a:endParaRPr lang="zh-CN" altLang="en-US" dirty="0">
              <a:solidFill>
                <a:schemeClr val="bg2">
                  <a:lumMod val="75000"/>
                </a:schemeClr>
              </a:solidFill>
            </a:endParaRPr>
          </a:p>
        </p:txBody>
      </p:sp>
      <p:sp>
        <p:nvSpPr>
          <p:cNvPr id="16" name="内容占位符 2"/>
          <p:cNvSpPr>
            <a:spLocks noGrp="1"/>
          </p:cNvSpPr>
          <p:nvPr>
            <p:ph idx="4294967295"/>
          </p:nvPr>
        </p:nvSpPr>
        <p:spPr>
          <a:xfrm>
            <a:off x="990600" y="1752600"/>
            <a:ext cx="7154862" cy="1366137"/>
          </a:xfrm>
          <a:prstGeom prst="rect">
            <a:avLst/>
          </a:prstGeom>
        </p:spPr>
        <p:txBody>
          <a:bodyPr/>
          <a:lstStyle/>
          <a:p>
            <a:pPr>
              <a:defRPr/>
            </a:pPr>
            <a:r>
              <a:rPr lang="zh-CN" altLang="en-US" sz="2400" dirty="0">
                <a:latin typeface="Times New Roman" panose="02020603050405020304" charset="0"/>
                <a:ea typeface="+mj-ea"/>
                <a:cs typeface="Times New Roman" panose="02020603050405020304" charset="0"/>
              </a:rPr>
              <a:t>固定型带宽（</a:t>
            </a:r>
            <a:r>
              <a:rPr lang="en-US" altLang="zh-CN" sz="2400" dirty="0">
                <a:latin typeface="Times New Roman" panose="02020603050405020304" charset="0"/>
                <a:ea typeface="+mj-ea"/>
                <a:cs typeface="Times New Roman" panose="02020603050405020304" charset="0"/>
              </a:rPr>
              <a:t>Fixed weighting scheme</a:t>
            </a:r>
            <a:r>
              <a:rPr lang="zh-CN" altLang="en-US" sz="2400" dirty="0">
                <a:latin typeface="Times New Roman" panose="02020603050405020304" charset="0"/>
                <a:ea typeface="+mj-ea"/>
                <a:cs typeface="Times New Roman" panose="02020603050405020304" charset="0"/>
              </a:rPr>
              <a:t>）</a:t>
            </a:r>
            <a:endParaRPr lang="en-US" altLang="zh-CN" sz="2400" dirty="0">
              <a:latin typeface="Times New Roman" panose="02020603050405020304" charset="0"/>
              <a:ea typeface="+mj-ea"/>
              <a:cs typeface="Times New Roman" panose="02020603050405020304" charset="0"/>
            </a:endParaRPr>
          </a:p>
          <a:p>
            <a:pPr lvl="1">
              <a:defRPr/>
            </a:pPr>
            <a:r>
              <a:rPr lang="zh-CN" altLang="en-US" sz="2000" dirty="0">
                <a:latin typeface="Times New Roman" panose="02020603050405020304" charset="0"/>
                <a:ea typeface="+mj-ea"/>
                <a:cs typeface="Times New Roman" panose="02020603050405020304" charset="0"/>
              </a:rPr>
              <a:t>定义一个固定的距离阈值</a:t>
            </a:r>
            <a:r>
              <a:rPr lang="en-US" altLang="zh-CN" sz="2000" i="1" dirty="0">
                <a:latin typeface="Times New Roman" panose="02020603050405020304" charset="0"/>
                <a:ea typeface="+mj-ea"/>
                <a:cs typeface="Times New Roman" panose="02020603050405020304" charset="0"/>
              </a:rPr>
              <a:t>b</a:t>
            </a:r>
          </a:p>
          <a:p>
            <a:pPr lvl="1">
              <a:defRPr/>
            </a:pPr>
            <a:r>
              <a:rPr lang="zh-CN" altLang="en-US" sz="2000" dirty="0">
                <a:latin typeface="Times New Roman" panose="02020603050405020304" charset="0"/>
                <a:ea typeface="+mj-ea"/>
                <a:cs typeface="Times New Roman" panose="02020603050405020304" charset="0"/>
              </a:rPr>
              <a:t>将固定值</a:t>
            </a:r>
            <a:r>
              <a:rPr lang="en-US" altLang="zh-CN" sz="2000" i="1" dirty="0">
                <a:latin typeface="Times New Roman" panose="02020603050405020304" charset="0"/>
                <a:ea typeface="+mj-ea"/>
                <a:cs typeface="Times New Roman" panose="02020603050405020304" charset="0"/>
              </a:rPr>
              <a:t>b</a:t>
            </a:r>
            <a:r>
              <a:rPr lang="zh-CN" altLang="en-US" sz="2000" dirty="0">
                <a:latin typeface="Times New Roman" panose="02020603050405020304" charset="0"/>
                <a:ea typeface="+mj-ea"/>
                <a:cs typeface="Times New Roman" panose="02020603050405020304" charset="0"/>
              </a:rPr>
              <a:t>用于所有点的权重计算</a:t>
            </a:r>
            <a:endParaRPr lang="en-US" altLang="zh-CN" sz="2000" dirty="0">
              <a:latin typeface="Times New Roman" panose="02020603050405020304" charset="0"/>
              <a:ea typeface="+mj-ea"/>
              <a:cs typeface="Times New Roman" panose="02020603050405020304" charset="0"/>
            </a:endParaRPr>
          </a:p>
          <a:p>
            <a:pPr>
              <a:defRPr/>
            </a:pPr>
            <a:endParaRPr lang="en-US" altLang="zh-CN" sz="2400" dirty="0">
              <a:latin typeface="Times New Roman" panose="02020603050405020304" charset="0"/>
              <a:cs typeface="Times New Roman" panose="02020603050405020304" charset="0"/>
            </a:endParaRPr>
          </a:p>
          <a:p>
            <a:pPr marL="0" indent="0">
              <a:buNone/>
              <a:defRPr/>
            </a:pPr>
            <a:endParaRPr lang="en-US" altLang="zh-CN" sz="2400" dirty="0">
              <a:latin typeface="Times New Roman" panose="02020603050405020304" charset="0"/>
              <a:cs typeface="Times New Roman" panose="02020603050405020304" charset="0"/>
            </a:endParaRPr>
          </a:p>
        </p:txBody>
      </p:sp>
      <p:grpSp>
        <p:nvGrpSpPr>
          <p:cNvPr id="10" name="组合 9"/>
          <p:cNvGrpSpPr/>
          <p:nvPr/>
        </p:nvGrpSpPr>
        <p:grpSpPr bwMode="auto">
          <a:xfrm>
            <a:off x="158750" y="3162300"/>
            <a:ext cx="8826501" cy="2895600"/>
            <a:chOff x="694060" y="3412475"/>
            <a:chExt cx="8827266" cy="2895600"/>
          </a:xfrm>
        </p:grpSpPr>
        <p:sp>
          <p:nvSpPr>
            <p:cNvPr id="21" name="AutoShape 2"/>
            <p:cNvSpPr>
              <a:spLocks noChangeArrowheads="1"/>
            </p:cNvSpPr>
            <p:nvPr/>
          </p:nvSpPr>
          <p:spPr bwMode="auto">
            <a:xfrm>
              <a:off x="694060" y="3412475"/>
              <a:ext cx="7772400" cy="2895600"/>
            </a:xfrm>
            <a:prstGeom prst="parallelogram">
              <a:avLst>
                <a:gd name="adj" fmla="val 67105"/>
              </a:avLst>
            </a:prstGeom>
            <a:solidFill>
              <a:schemeClr val="bg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2" name="Oval 6"/>
            <p:cNvSpPr>
              <a:spLocks noChangeArrowheads="1"/>
            </p:cNvSpPr>
            <p:nvPr/>
          </p:nvSpPr>
          <p:spPr bwMode="auto">
            <a:xfrm flipH="1" flipV="1">
              <a:off x="1989460" y="52412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3" name="Oval 9"/>
            <p:cNvSpPr>
              <a:spLocks noChangeArrowheads="1"/>
            </p:cNvSpPr>
            <p:nvPr/>
          </p:nvSpPr>
          <p:spPr bwMode="auto">
            <a:xfrm flipH="1" flipV="1">
              <a:off x="2037085" y="60032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4" name="Oval 10"/>
            <p:cNvSpPr>
              <a:spLocks noChangeArrowheads="1"/>
            </p:cNvSpPr>
            <p:nvPr/>
          </p:nvSpPr>
          <p:spPr bwMode="auto">
            <a:xfrm flipH="1" flipV="1">
              <a:off x="2980060" y="56222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5" name="Oval 24"/>
            <p:cNvSpPr>
              <a:spLocks noChangeArrowheads="1"/>
            </p:cNvSpPr>
            <p:nvPr/>
          </p:nvSpPr>
          <p:spPr bwMode="auto">
            <a:xfrm flipH="1" flipV="1">
              <a:off x="4351660" y="4126850"/>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6" name="Oval 25"/>
            <p:cNvSpPr>
              <a:spLocks noChangeArrowheads="1"/>
            </p:cNvSpPr>
            <p:nvPr/>
          </p:nvSpPr>
          <p:spPr bwMode="auto">
            <a:xfrm flipH="1" flipV="1">
              <a:off x="6909123" y="4712638"/>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7" name="Oval 26"/>
            <p:cNvSpPr>
              <a:spLocks noChangeArrowheads="1"/>
            </p:cNvSpPr>
            <p:nvPr/>
          </p:nvSpPr>
          <p:spPr bwMode="auto">
            <a:xfrm flipH="1" flipV="1">
              <a:off x="5694685" y="41744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8" name="Oval 27"/>
            <p:cNvSpPr>
              <a:spLocks noChangeArrowheads="1"/>
            </p:cNvSpPr>
            <p:nvPr/>
          </p:nvSpPr>
          <p:spPr bwMode="auto">
            <a:xfrm flipH="1" flipV="1">
              <a:off x="7247260" y="40220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29" name="Oval 29"/>
            <p:cNvSpPr>
              <a:spLocks noChangeArrowheads="1"/>
            </p:cNvSpPr>
            <p:nvPr/>
          </p:nvSpPr>
          <p:spPr bwMode="auto">
            <a:xfrm flipH="1" flipV="1">
              <a:off x="5399410" y="5393675"/>
              <a:ext cx="76200" cy="76200"/>
            </a:xfrm>
            <a:prstGeom prst="ellipse">
              <a:avLst/>
            </a:prstGeom>
            <a:solidFill>
              <a:schemeClr val="accent1"/>
            </a:solidFill>
            <a:ln w="9525">
              <a:solidFill>
                <a:schemeClr val="tx1"/>
              </a:solidFill>
              <a:round/>
            </a:ln>
          </p:spPr>
          <p:txBody>
            <a:bodyPr rot="10800000"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GB" altLang="zh-CN" sz="1800">
                <a:latin typeface="Arial" panose="020B0604020202020204" pitchFamily="34" charset="0"/>
              </a:endParaRPr>
            </a:p>
          </p:txBody>
        </p:sp>
        <p:sp>
          <p:nvSpPr>
            <p:cNvPr id="30" name="Oval 5"/>
            <p:cNvSpPr>
              <a:spLocks noChangeArrowheads="1"/>
            </p:cNvSpPr>
            <p:nvPr/>
          </p:nvSpPr>
          <p:spPr bwMode="auto">
            <a:xfrm flipH="1" flipV="1">
              <a:off x="2951485" y="4817413"/>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31" name="Oval 8"/>
            <p:cNvSpPr>
              <a:spLocks noChangeArrowheads="1"/>
            </p:cNvSpPr>
            <p:nvPr/>
          </p:nvSpPr>
          <p:spPr bwMode="auto">
            <a:xfrm flipH="1" flipV="1">
              <a:off x="2265685" y="46316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32" name="Oval 7"/>
            <p:cNvSpPr>
              <a:spLocks noChangeArrowheads="1"/>
            </p:cNvSpPr>
            <p:nvPr/>
          </p:nvSpPr>
          <p:spPr bwMode="auto">
            <a:xfrm flipH="1" flipV="1">
              <a:off x="2522860" y="5317475"/>
              <a:ext cx="76200"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33" name="Oval 33"/>
            <p:cNvSpPr>
              <a:spLocks noChangeArrowheads="1"/>
            </p:cNvSpPr>
            <p:nvPr/>
          </p:nvSpPr>
          <p:spPr bwMode="auto">
            <a:xfrm flipH="1" flipV="1">
              <a:off x="7387726" y="5510670"/>
              <a:ext cx="76200"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34" name="Oval 34"/>
            <p:cNvSpPr>
              <a:spLocks noChangeArrowheads="1"/>
            </p:cNvSpPr>
            <p:nvPr/>
          </p:nvSpPr>
          <p:spPr bwMode="auto">
            <a:xfrm flipH="1" flipV="1">
              <a:off x="7387726" y="6044070"/>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35" name="Text Box 35"/>
            <p:cNvSpPr txBox="1">
              <a:spLocks noChangeArrowheads="1"/>
            </p:cNvSpPr>
            <p:nvPr/>
          </p:nvSpPr>
          <p:spPr bwMode="auto">
            <a:xfrm>
              <a:off x="7463926" y="5372557"/>
              <a:ext cx="2057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en-US" altLang="zh-CN" sz="1800">
                  <a:latin typeface="+mj-lt"/>
                </a:rPr>
                <a:t>Regression point</a:t>
              </a:r>
            </a:p>
          </p:txBody>
        </p:sp>
        <p:sp>
          <p:nvSpPr>
            <p:cNvPr id="36" name="Text Box 36"/>
            <p:cNvSpPr txBox="1">
              <a:spLocks noChangeArrowheads="1"/>
            </p:cNvSpPr>
            <p:nvPr/>
          </p:nvSpPr>
          <p:spPr bwMode="auto">
            <a:xfrm>
              <a:off x="7463926" y="5905957"/>
              <a:ext cx="2057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en-US" altLang="zh-CN" sz="1800" dirty="0">
                  <a:latin typeface="+mj-lt"/>
                </a:rPr>
                <a:t>Data point</a:t>
              </a:r>
            </a:p>
          </p:txBody>
        </p:sp>
        <p:sp>
          <p:nvSpPr>
            <p:cNvPr id="37" name="Oval 29"/>
            <p:cNvSpPr>
              <a:spLocks noChangeArrowheads="1"/>
            </p:cNvSpPr>
            <p:nvPr/>
          </p:nvSpPr>
          <p:spPr bwMode="auto">
            <a:xfrm flipH="1" flipV="1">
              <a:off x="5551810" y="5546075"/>
              <a:ext cx="76200" cy="76200"/>
            </a:xfrm>
            <a:prstGeom prst="ellipse">
              <a:avLst/>
            </a:prstGeom>
            <a:solidFill>
              <a:schemeClr val="accent1"/>
            </a:solidFill>
            <a:ln w="9525">
              <a:solidFill>
                <a:schemeClr val="tx1"/>
              </a:solidFill>
              <a:round/>
            </a:ln>
          </p:spPr>
          <p:txBody>
            <a:bodyPr rot="10800000"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GB" altLang="zh-CN" sz="1800">
                <a:latin typeface="Arial" panose="020B0604020202020204" pitchFamily="34" charset="0"/>
              </a:endParaRPr>
            </a:p>
          </p:txBody>
        </p:sp>
        <p:sp>
          <p:nvSpPr>
            <p:cNvPr id="38" name="Oval 10"/>
            <p:cNvSpPr>
              <a:spLocks noChangeArrowheads="1"/>
            </p:cNvSpPr>
            <p:nvPr/>
          </p:nvSpPr>
          <p:spPr bwMode="auto">
            <a:xfrm flipH="1" flipV="1">
              <a:off x="3132460" y="5774675"/>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40" name="Oval 10"/>
            <p:cNvSpPr>
              <a:spLocks noChangeArrowheads="1"/>
            </p:cNvSpPr>
            <p:nvPr/>
          </p:nvSpPr>
          <p:spPr bwMode="auto">
            <a:xfrm flipH="1" flipV="1">
              <a:off x="3218758" y="5056743"/>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41" name="Oval 10"/>
            <p:cNvSpPr>
              <a:spLocks noChangeArrowheads="1"/>
            </p:cNvSpPr>
            <p:nvPr/>
          </p:nvSpPr>
          <p:spPr bwMode="auto">
            <a:xfrm flipH="1" flipV="1">
              <a:off x="2899270" y="4318612"/>
              <a:ext cx="76200"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sp>
          <p:nvSpPr>
            <p:cNvPr id="42" name="Oval 15"/>
            <p:cNvSpPr>
              <a:spLocks noChangeArrowheads="1"/>
            </p:cNvSpPr>
            <p:nvPr/>
          </p:nvSpPr>
          <p:spPr bwMode="auto">
            <a:xfrm flipH="1" flipV="1">
              <a:off x="6180460" y="4684063"/>
              <a:ext cx="76200"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Arial" panose="020B0604020202020204" pitchFamily="34" charset="0"/>
              </a:endParaRPr>
            </a:p>
          </p:txBody>
        </p:sp>
      </p:grpSp>
      <p:grpSp>
        <p:nvGrpSpPr>
          <p:cNvPr id="11" name="组合 10"/>
          <p:cNvGrpSpPr/>
          <p:nvPr/>
        </p:nvGrpSpPr>
        <p:grpSpPr bwMode="auto">
          <a:xfrm>
            <a:off x="4781550" y="3579813"/>
            <a:ext cx="1771650" cy="1801812"/>
            <a:chOff x="5307718" y="3821334"/>
            <a:chExt cx="1771650" cy="1801658"/>
          </a:xfrm>
        </p:grpSpPr>
        <p:sp>
          <p:nvSpPr>
            <p:cNvPr id="18" name="椭圆 17"/>
            <p:cNvSpPr>
              <a:spLocks noChangeArrowheads="1"/>
            </p:cNvSpPr>
            <p:nvPr/>
          </p:nvSpPr>
          <p:spPr bwMode="auto">
            <a:xfrm>
              <a:off x="5307718" y="3821334"/>
              <a:ext cx="1771650" cy="1801658"/>
            </a:xfrm>
            <a:prstGeom prst="ellipse">
              <a:avLst/>
            </a:prstGeom>
            <a:noFill/>
            <a:ln w="19050" algn="ctr">
              <a:solidFill>
                <a:schemeClr val="tx1"/>
              </a:solidFill>
              <a:prstDash val="sysDash"/>
              <a:rou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endParaRPr lang="zh-CN" altLang="en-US" sz="1600">
                <a:solidFill>
                  <a:srgbClr val="000000"/>
                </a:solidFill>
                <a:latin typeface="Arial" panose="020B0604020202020204" pitchFamily="34" charset="0"/>
              </a:endParaRPr>
            </a:p>
          </p:txBody>
        </p:sp>
        <p:cxnSp>
          <p:nvCxnSpPr>
            <p:cNvPr id="19" name="直接箭头连接符 18"/>
            <p:cNvCxnSpPr>
              <a:cxnSpLocks noChangeShapeType="1"/>
              <a:endCxn id="18" idx="7"/>
            </p:cNvCxnSpPr>
            <p:nvPr/>
          </p:nvCxnSpPr>
          <p:spPr bwMode="auto">
            <a:xfrm flipV="1">
              <a:off x="6200167" y="4085181"/>
              <a:ext cx="619749" cy="654540"/>
            </a:xfrm>
            <a:prstGeom prst="straightConnector1">
              <a:avLst/>
            </a:prstGeom>
            <a:noFill/>
            <a:ln w="1905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20" name="文本框 41"/>
            <p:cNvSpPr txBox="1">
              <a:spLocks noChangeArrowheads="1"/>
            </p:cNvSpPr>
            <p:nvPr/>
          </p:nvSpPr>
          <p:spPr bwMode="auto">
            <a:xfrm>
              <a:off x="6316161" y="4164032"/>
              <a:ext cx="296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i="1">
                  <a:latin typeface="Arial" panose="020B0604020202020204" pitchFamily="34" charset="0"/>
                </a:rPr>
                <a:t>b</a:t>
              </a:r>
              <a:endParaRPr lang="zh-CN" altLang="en-US" sz="1800" i="1">
                <a:latin typeface="Arial" panose="020B0604020202020204" pitchFamily="34" charset="0"/>
              </a:endParaRPr>
            </a:p>
          </p:txBody>
        </p:sp>
      </p:grpSp>
      <p:grpSp>
        <p:nvGrpSpPr>
          <p:cNvPr id="12" name="组合 11"/>
          <p:cNvGrpSpPr/>
          <p:nvPr/>
        </p:nvGrpSpPr>
        <p:grpSpPr bwMode="auto">
          <a:xfrm>
            <a:off x="1157288" y="4186238"/>
            <a:ext cx="1771650" cy="1801812"/>
            <a:chOff x="1692340" y="4436448"/>
            <a:chExt cx="1771650" cy="1801658"/>
          </a:xfrm>
        </p:grpSpPr>
        <p:sp>
          <p:nvSpPr>
            <p:cNvPr id="13" name="椭圆 12"/>
            <p:cNvSpPr>
              <a:spLocks noChangeArrowheads="1"/>
            </p:cNvSpPr>
            <p:nvPr/>
          </p:nvSpPr>
          <p:spPr bwMode="auto">
            <a:xfrm>
              <a:off x="1692340" y="4436448"/>
              <a:ext cx="1771650" cy="1801658"/>
            </a:xfrm>
            <a:prstGeom prst="ellipse">
              <a:avLst/>
            </a:prstGeom>
            <a:noFill/>
            <a:ln w="19050" algn="ctr">
              <a:solidFill>
                <a:schemeClr val="tx1"/>
              </a:solidFill>
              <a:prstDash val="sysDash"/>
              <a:round/>
              <a:tailEnd type="triangle" w="med" len="me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endParaRPr lang="zh-CN" altLang="en-US" sz="1600">
                <a:solidFill>
                  <a:srgbClr val="000000"/>
                </a:solidFill>
                <a:latin typeface="Arial" panose="020B0604020202020204" pitchFamily="34" charset="0"/>
              </a:endParaRPr>
            </a:p>
          </p:txBody>
        </p:sp>
        <p:cxnSp>
          <p:nvCxnSpPr>
            <p:cNvPr id="14" name="直接箭头连接符 13"/>
            <p:cNvCxnSpPr>
              <a:cxnSpLocks noChangeShapeType="1"/>
              <a:endCxn id="13" idx="7"/>
            </p:cNvCxnSpPr>
            <p:nvPr/>
          </p:nvCxnSpPr>
          <p:spPr bwMode="auto">
            <a:xfrm flipV="1">
              <a:off x="2584789" y="4700295"/>
              <a:ext cx="619749" cy="654540"/>
            </a:xfrm>
            <a:prstGeom prst="straightConnector1">
              <a:avLst/>
            </a:prstGeom>
            <a:noFill/>
            <a:ln w="1905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5" name="文本框 45"/>
            <p:cNvSpPr txBox="1">
              <a:spLocks noChangeArrowheads="1"/>
            </p:cNvSpPr>
            <p:nvPr/>
          </p:nvSpPr>
          <p:spPr bwMode="auto">
            <a:xfrm>
              <a:off x="2700783" y="4779146"/>
              <a:ext cx="2965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i="1">
                  <a:latin typeface="Arial" panose="020B0604020202020204" pitchFamily="34" charset="0"/>
                </a:rPr>
                <a:t>b</a:t>
              </a:r>
              <a:endParaRPr lang="zh-CN" altLang="en-US" sz="1800" i="1">
                <a:latin typeface="Arial" panose="020B0604020202020204" pitchFamily="34" charset="0"/>
              </a:endParaRPr>
            </a:p>
          </p:txBody>
        </p:sp>
      </p:grpSp>
      <p:sp>
        <p:nvSpPr>
          <p:cNvPr id="3" name="标题 1">
            <a:extLst>
              <a:ext uri="{FF2B5EF4-FFF2-40B4-BE49-F238E27FC236}">
                <a16:creationId xmlns:a16="http://schemas.microsoft.com/office/drawing/2014/main" id="{2AF1B68A-1328-A4FF-1FAB-BF4EAA07F824}"/>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174646EA-0D44-4A35-ADC6-08535192789B}" type="slidenum">
              <a:rPr lang="zh-CN" altLang="en-US">
                <a:solidFill>
                  <a:schemeClr val="bg2">
                    <a:lumMod val="75000"/>
                  </a:schemeClr>
                </a:solidFill>
              </a:rPr>
              <a:t>55</a:t>
            </a:fld>
            <a:endParaRPr lang="zh-CN" altLang="en-US" dirty="0">
              <a:solidFill>
                <a:schemeClr val="bg2">
                  <a:lumMod val="75000"/>
                </a:schemeClr>
              </a:solidFill>
            </a:endParaRPr>
          </a:p>
        </p:txBody>
      </p:sp>
      <p:sp>
        <p:nvSpPr>
          <p:cNvPr id="16" name="内容占位符 2"/>
          <p:cNvSpPr>
            <a:spLocks noGrp="1"/>
          </p:cNvSpPr>
          <p:nvPr>
            <p:ph idx="4294967295"/>
          </p:nvPr>
        </p:nvSpPr>
        <p:spPr>
          <a:xfrm>
            <a:off x="984985" y="1758522"/>
            <a:ext cx="7007225" cy="1764821"/>
          </a:xfrm>
          <a:prstGeom prst="rect">
            <a:avLst/>
          </a:prstGeom>
        </p:spPr>
        <p:txBody>
          <a:bodyPr/>
          <a:lstStyle/>
          <a:p>
            <a:pPr algn="just">
              <a:defRPr/>
            </a:pPr>
            <a:r>
              <a:rPr lang="zh-CN" altLang="en-US" sz="2400" dirty="0">
                <a:latin typeface="Times New Roman" panose="02020603050405020304" charset="0"/>
                <a:ea typeface="+mj-ea"/>
                <a:cs typeface="Times New Roman" panose="02020603050405020304" charset="0"/>
              </a:rPr>
              <a:t>可变型带宽（</a:t>
            </a:r>
            <a:r>
              <a:rPr lang="en-US" altLang="zh-CN" sz="2400" dirty="0">
                <a:latin typeface="Times New Roman" panose="02020603050405020304" charset="0"/>
                <a:ea typeface="+mj-ea"/>
                <a:cs typeface="Times New Roman" panose="02020603050405020304" charset="0"/>
              </a:rPr>
              <a:t>Adaptive weighting scheme</a:t>
            </a:r>
            <a:r>
              <a:rPr lang="zh-CN" altLang="en-US" sz="2400" dirty="0">
                <a:latin typeface="Times New Roman" panose="02020603050405020304" charset="0"/>
                <a:ea typeface="+mj-ea"/>
                <a:cs typeface="Times New Roman" panose="02020603050405020304" charset="0"/>
              </a:rPr>
              <a:t>）</a:t>
            </a:r>
            <a:endParaRPr lang="en-US" altLang="zh-CN" sz="2400" dirty="0">
              <a:latin typeface="Times New Roman" panose="02020603050405020304" charset="0"/>
              <a:ea typeface="+mj-ea"/>
              <a:cs typeface="Times New Roman" panose="02020603050405020304" charset="0"/>
            </a:endParaRPr>
          </a:p>
          <a:p>
            <a:pPr lvl="1" algn="just">
              <a:defRPr/>
            </a:pPr>
            <a:r>
              <a:rPr lang="zh-CN" altLang="en-US" sz="2000" dirty="0">
                <a:latin typeface="Times New Roman" panose="02020603050405020304" charset="0"/>
                <a:ea typeface="+mj-ea"/>
                <a:cs typeface="Times New Roman" panose="02020603050405020304" charset="0"/>
              </a:rPr>
              <a:t>定义一个正整数</a:t>
            </a:r>
            <a:r>
              <a:rPr lang="en-US" altLang="zh-CN" sz="2000" i="1" dirty="0">
                <a:latin typeface="Times New Roman" panose="02020603050405020304" charset="0"/>
                <a:ea typeface="+mj-ea"/>
                <a:cs typeface="Times New Roman" panose="02020603050405020304" charset="0"/>
              </a:rPr>
              <a:t>N</a:t>
            </a:r>
          </a:p>
          <a:p>
            <a:pPr lvl="1" algn="just">
              <a:defRPr/>
            </a:pPr>
            <a:r>
              <a:rPr lang="zh-CN" altLang="en-US" sz="2000" dirty="0">
                <a:latin typeface="Times New Roman" panose="02020603050405020304" charset="0"/>
                <a:ea typeface="+mj-ea"/>
                <a:cs typeface="Times New Roman" panose="02020603050405020304" charset="0"/>
              </a:rPr>
              <a:t>针对任意求解位置点，计算数据点到该点的距离，取距其第</a:t>
            </a:r>
            <a:r>
              <a:rPr lang="en-US" altLang="zh-CN" sz="2000" i="1" dirty="0">
                <a:latin typeface="Times New Roman" panose="02020603050405020304" charset="0"/>
                <a:ea typeface="+mj-ea"/>
                <a:cs typeface="Times New Roman" panose="02020603050405020304" charset="0"/>
              </a:rPr>
              <a:t>N</a:t>
            </a:r>
            <a:r>
              <a:rPr lang="zh-CN" altLang="en-US" sz="2000" dirty="0">
                <a:latin typeface="Times New Roman" panose="02020603050405020304" charset="0"/>
                <a:ea typeface="+mj-ea"/>
                <a:cs typeface="Times New Roman" panose="02020603050405020304" charset="0"/>
              </a:rPr>
              <a:t>近的距离值作为当前的带宽值</a:t>
            </a:r>
            <a:r>
              <a:rPr lang="en-US" altLang="zh-CN" sz="2000" i="1" dirty="0">
                <a:latin typeface="Times New Roman" panose="02020603050405020304" charset="0"/>
                <a:ea typeface="+mj-ea"/>
                <a:cs typeface="Times New Roman" panose="02020603050405020304" charset="0"/>
              </a:rPr>
              <a:t>b</a:t>
            </a:r>
            <a:endParaRPr lang="en-US" altLang="zh-CN" sz="2000" dirty="0">
              <a:latin typeface="Times New Roman" panose="02020603050405020304" charset="0"/>
              <a:ea typeface="+mj-ea"/>
              <a:cs typeface="Times New Roman" panose="02020603050405020304" charset="0"/>
            </a:endParaRPr>
          </a:p>
          <a:p>
            <a:pPr algn="just">
              <a:defRPr/>
            </a:pPr>
            <a:endParaRPr lang="en-US" altLang="zh-CN" sz="2400" dirty="0">
              <a:latin typeface="Times New Roman" panose="02020603050405020304" charset="0"/>
              <a:cs typeface="Times New Roman" panose="02020603050405020304" charset="0"/>
            </a:endParaRPr>
          </a:p>
          <a:p>
            <a:pPr marL="0" indent="0" algn="just">
              <a:buNone/>
              <a:defRPr/>
            </a:pPr>
            <a:endParaRPr lang="en-US" altLang="zh-CN" sz="2400" dirty="0">
              <a:latin typeface="Times New Roman" panose="02020603050405020304" charset="0"/>
              <a:cs typeface="Times New Roman" panose="02020603050405020304" charset="0"/>
            </a:endParaRPr>
          </a:p>
        </p:txBody>
      </p:sp>
      <p:grpSp>
        <p:nvGrpSpPr>
          <p:cNvPr id="8" name="组合 7"/>
          <p:cNvGrpSpPr/>
          <p:nvPr/>
        </p:nvGrpSpPr>
        <p:grpSpPr>
          <a:xfrm>
            <a:off x="266700" y="3352800"/>
            <a:ext cx="8826500" cy="2895601"/>
            <a:chOff x="317501" y="3790954"/>
            <a:chExt cx="8826500" cy="2895601"/>
          </a:xfrm>
        </p:grpSpPr>
        <p:sp>
          <p:nvSpPr>
            <p:cNvPr id="102414" name="AutoShape 2"/>
            <p:cNvSpPr>
              <a:spLocks noChangeArrowheads="1"/>
            </p:cNvSpPr>
            <p:nvPr/>
          </p:nvSpPr>
          <p:spPr bwMode="auto">
            <a:xfrm>
              <a:off x="317501" y="3790954"/>
              <a:ext cx="7771726" cy="2895601"/>
            </a:xfrm>
            <a:prstGeom prst="parallelogram">
              <a:avLst>
                <a:gd name="adj" fmla="val 67105"/>
              </a:avLst>
            </a:prstGeom>
            <a:solidFill>
              <a:schemeClr val="bg1"/>
            </a:solidFill>
            <a:ln w="9525">
              <a:solidFill>
                <a:schemeClr val="tx1"/>
              </a:solidFill>
              <a:miter lim="800000"/>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15" name="Oval 6"/>
            <p:cNvSpPr>
              <a:spLocks noChangeArrowheads="1"/>
            </p:cNvSpPr>
            <p:nvPr/>
          </p:nvSpPr>
          <p:spPr bwMode="auto">
            <a:xfrm flipH="1" flipV="1">
              <a:off x="1612789" y="5619755"/>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16" name="Oval 9"/>
            <p:cNvSpPr>
              <a:spLocks noChangeArrowheads="1"/>
            </p:cNvSpPr>
            <p:nvPr/>
          </p:nvSpPr>
          <p:spPr bwMode="auto">
            <a:xfrm flipH="1" flipV="1">
              <a:off x="1660409" y="6381755"/>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17" name="Oval 24"/>
            <p:cNvSpPr>
              <a:spLocks noChangeArrowheads="1"/>
            </p:cNvSpPr>
            <p:nvPr/>
          </p:nvSpPr>
          <p:spPr bwMode="auto">
            <a:xfrm flipH="1" flipV="1">
              <a:off x="3974784" y="4505329"/>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18" name="Oval 25"/>
            <p:cNvSpPr>
              <a:spLocks noChangeArrowheads="1"/>
            </p:cNvSpPr>
            <p:nvPr/>
          </p:nvSpPr>
          <p:spPr bwMode="auto">
            <a:xfrm flipH="1" flipV="1">
              <a:off x="6532025" y="5091117"/>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19" name="Oval 26"/>
            <p:cNvSpPr>
              <a:spLocks noChangeArrowheads="1"/>
            </p:cNvSpPr>
            <p:nvPr/>
          </p:nvSpPr>
          <p:spPr bwMode="auto">
            <a:xfrm flipH="1" flipV="1">
              <a:off x="5317692" y="4552954"/>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0" name="Oval 29"/>
            <p:cNvSpPr>
              <a:spLocks noChangeArrowheads="1"/>
            </p:cNvSpPr>
            <p:nvPr/>
          </p:nvSpPr>
          <p:spPr bwMode="auto">
            <a:xfrm flipH="1" flipV="1">
              <a:off x="5022443" y="5772155"/>
              <a:ext cx="76193" cy="76200"/>
            </a:xfrm>
            <a:prstGeom prst="ellipse">
              <a:avLst/>
            </a:prstGeom>
            <a:solidFill>
              <a:schemeClr val="accent1"/>
            </a:solidFill>
            <a:ln w="9525">
              <a:solidFill>
                <a:schemeClr val="tx1"/>
              </a:solidFill>
              <a:round/>
            </a:ln>
          </p:spPr>
          <p:txBody>
            <a:bodyPr rot="10800000"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GB" altLang="zh-CN" sz="1800">
                <a:latin typeface="Times New Roman" panose="02020603050405020304" charset="0"/>
                <a:cs typeface="Times New Roman" panose="02020603050405020304" charset="0"/>
              </a:endParaRPr>
            </a:p>
          </p:txBody>
        </p:sp>
        <p:sp>
          <p:nvSpPr>
            <p:cNvPr id="102421" name="Oval 5"/>
            <p:cNvSpPr>
              <a:spLocks noChangeArrowheads="1"/>
            </p:cNvSpPr>
            <p:nvPr/>
          </p:nvSpPr>
          <p:spPr bwMode="auto">
            <a:xfrm flipH="1" flipV="1">
              <a:off x="2277299" y="5427250"/>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2" name="Oval 8"/>
            <p:cNvSpPr>
              <a:spLocks noChangeArrowheads="1"/>
            </p:cNvSpPr>
            <p:nvPr/>
          </p:nvSpPr>
          <p:spPr bwMode="auto">
            <a:xfrm flipH="1" flipV="1">
              <a:off x="1888990" y="5010154"/>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3" name="Oval 7"/>
            <p:cNvSpPr>
              <a:spLocks noChangeArrowheads="1"/>
            </p:cNvSpPr>
            <p:nvPr/>
          </p:nvSpPr>
          <p:spPr bwMode="auto">
            <a:xfrm flipH="1" flipV="1">
              <a:off x="2146142" y="5695955"/>
              <a:ext cx="76193"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4" name="Oval 33"/>
            <p:cNvSpPr>
              <a:spLocks noChangeArrowheads="1"/>
            </p:cNvSpPr>
            <p:nvPr/>
          </p:nvSpPr>
          <p:spPr bwMode="auto">
            <a:xfrm flipH="1" flipV="1">
              <a:off x="7010586" y="5889150"/>
              <a:ext cx="76193"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5" name="Oval 34"/>
            <p:cNvSpPr>
              <a:spLocks noChangeArrowheads="1"/>
            </p:cNvSpPr>
            <p:nvPr/>
          </p:nvSpPr>
          <p:spPr bwMode="auto">
            <a:xfrm flipH="1" flipV="1">
              <a:off x="7010586" y="6422550"/>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6" name="Oval 29"/>
            <p:cNvSpPr>
              <a:spLocks noChangeArrowheads="1"/>
            </p:cNvSpPr>
            <p:nvPr/>
          </p:nvSpPr>
          <p:spPr bwMode="auto">
            <a:xfrm flipH="1" flipV="1">
              <a:off x="5174829" y="5924555"/>
              <a:ext cx="76193" cy="76200"/>
            </a:xfrm>
            <a:prstGeom prst="ellipse">
              <a:avLst/>
            </a:prstGeom>
            <a:solidFill>
              <a:schemeClr val="accent1"/>
            </a:solidFill>
            <a:ln w="9525">
              <a:solidFill>
                <a:schemeClr val="tx1"/>
              </a:solidFill>
              <a:round/>
            </a:ln>
          </p:spPr>
          <p:txBody>
            <a:bodyPr rot="10800000"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GB" altLang="zh-CN" sz="1800">
                <a:latin typeface="Times New Roman" panose="02020603050405020304" charset="0"/>
                <a:cs typeface="Times New Roman" panose="02020603050405020304" charset="0"/>
              </a:endParaRPr>
            </a:p>
          </p:txBody>
        </p:sp>
        <p:sp>
          <p:nvSpPr>
            <p:cNvPr id="102427" name="Oval 10"/>
            <p:cNvSpPr>
              <a:spLocks noChangeArrowheads="1"/>
            </p:cNvSpPr>
            <p:nvPr/>
          </p:nvSpPr>
          <p:spPr bwMode="auto">
            <a:xfrm flipH="1" flipV="1">
              <a:off x="2755689" y="6153155"/>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8" name="Oval 10"/>
            <p:cNvSpPr>
              <a:spLocks noChangeArrowheads="1"/>
            </p:cNvSpPr>
            <p:nvPr/>
          </p:nvSpPr>
          <p:spPr bwMode="auto">
            <a:xfrm flipH="1" flipV="1">
              <a:off x="2841980" y="5435223"/>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29" name="Oval 10"/>
            <p:cNvSpPr>
              <a:spLocks noChangeArrowheads="1"/>
            </p:cNvSpPr>
            <p:nvPr/>
          </p:nvSpPr>
          <p:spPr bwMode="auto">
            <a:xfrm flipH="1" flipV="1">
              <a:off x="2522520" y="4697091"/>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30" name="Oval 15"/>
            <p:cNvSpPr>
              <a:spLocks noChangeArrowheads="1"/>
            </p:cNvSpPr>
            <p:nvPr/>
          </p:nvSpPr>
          <p:spPr bwMode="auto">
            <a:xfrm flipH="1" flipV="1">
              <a:off x="5803425" y="5062542"/>
              <a:ext cx="76193" cy="76200"/>
            </a:xfrm>
            <a:prstGeom prst="ellipse">
              <a:avLst/>
            </a:prstGeom>
            <a:solidFill>
              <a:srgbClr val="FF0000"/>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31" name="Oval 10"/>
            <p:cNvSpPr>
              <a:spLocks noChangeArrowheads="1"/>
            </p:cNvSpPr>
            <p:nvPr/>
          </p:nvSpPr>
          <p:spPr bwMode="auto">
            <a:xfrm flipH="1" flipV="1">
              <a:off x="2625335" y="6000755"/>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32" name="文本框 65"/>
            <p:cNvSpPr txBox="1">
              <a:spLocks noChangeArrowheads="1"/>
            </p:cNvSpPr>
            <p:nvPr/>
          </p:nvSpPr>
          <p:spPr bwMode="auto">
            <a:xfrm>
              <a:off x="4370523" y="3816470"/>
              <a:ext cx="7969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i="1">
                  <a:latin typeface="Times New Roman" panose="02020603050405020304" charset="0"/>
                  <a:cs typeface="Times New Roman" panose="02020603050405020304" charset="0"/>
                </a:rPr>
                <a:t>N=</a:t>
              </a:r>
              <a:r>
                <a:rPr lang="en-US" altLang="zh-CN" sz="1800">
                  <a:latin typeface="Times New Roman" panose="02020603050405020304" charset="0"/>
                  <a:cs typeface="Times New Roman" panose="02020603050405020304" charset="0"/>
                </a:rPr>
                <a:t>3</a:t>
              </a:r>
              <a:endParaRPr lang="zh-CN" altLang="en-US" sz="1800">
                <a:latin typeface="Times New Roman" panose="02020603050405020304" charset="0"/>
                <a:cs typeface="Times New Roman" panose="02020603050405020304" charset="0"/>
              </a:endParaRPr>
            </a:p>
          </p:txBody>
        </p:sp>
        <p:sp>
          <p:nvSpPr>
            <p:cNvPr id="102433" name="Oval 27"/>
            <p:cNvSpPr>
              <a:spLocks noChangeArrowheads="1"/>
            </p:cNvSpPr>
            <p:nvPr/>
          </p:nvSpPr>
          <p:spPr bwMode="auto">
            <a:xfrm flipH="1" flipV="1">
              <a:off x="6440514" y="4378520"/>
              <a:ext cx="76193" cy="76200"/>
            </a:xfrm>
            <a:prstGeom prst="ellipse">
              <a:avLst/>
            </a:prstGeom>
            <a:solidFill>
              <a:schemeClr val="accent1"/>
            </a:solidFill>
            <a:ln w="9525">
              <a:solidFill>
                <a:schemeClr val="tx1"/>
              </a:solidFill>
              <a:rou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en-IE" altLang="zh-CN" sz="1800">
                <a:latin typeface="Times New Roman" panose="02020603050405020304" charset="0"/>
                <a:cs typeface="Times New Roman" panose="02020603050405020304" charset="0"/>
              </a:endParaRPr>
            </a:p>
          </p:txBody>
        </p:sp>
        <p:sp>
          <p:nvSpPr>
            <p:cNvPr id="102434" name="Text Box 35"/>
            <p:cNvSpPr txBox="1">
              <a:spLocks noChangeArrowheads="1"/>
            </p:cNvSpPr>
            <p:nvPr/>
          </p:nvSpPr>
          <p:spPr bwMode="auto">
            <a:xfrm>
              <a:off x="7086780" y="5751038"/>
              <a:ext cx="20572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charset="0"/>
                  <a:cs typeface="Times New Roman" panose="02020603050405020304" charset="0"/>
                </a:rPr>
                <a:t>Regression point</a:t>
              </a:r>
            </a:p>
          </p:txBody>
        </p:sp>
        <p:sp>
          <p:nvSpPr>
            <p:cNvPr id="102435" name="Text Box 36"/>
            <p:cNvSpPr txBox="1">
              <a:spLocks noChangeArrowheads="1"/>
            </p:cNvSpPr>
            <p:nvPr/>
          </p:nvSpPr>
          <p:spPr bwMode="auto">
            <a:xfrm>
              <a:off x="7086780" y="6284438"/>
              <a:ext cx="20572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pPr>
              <a:r>
                <a:rPr lang="en-US" altLang="zh-CN" sz="1800">
                  <a:latin typeface="Times New Roman" panose="02020603050405020304" charset="0"/>
                  <a:cs typeface="Times New Roman" panose="02020603050405020304" charset="0"/>
                </a:rPr>
                <a:t>Data point</a:t>
              </a:r>
            </a:p>
          </p:txBody>
        </p:sp>
        <p:sp>
          <p:nvSpPr>
            <p:cNvPr id="102411" name="椭圆 70"/>
            <p:cNvSpPr>
              <a:spLocks noChangeArrowheads="1"/>
            </p:cNvSpPr>
            <p:nvPr/>
          </p:nvSpPr>
          <p:spPr bwMode="auto">
            <a:xfrm>
              <a:off x="4879976" y="4849906"/>
              <a:ext cx="1885951" cy="476071"/>
            </a:xfrm>
            <a:prstGeom prst="ellipse">
              <a:avLst/>
            </a:prstGeom>
            <a:noFill/>
            <a:ln w="19050" algn="ctr">
              <a:solidFill>
                <a:schemeClr val="tx1"/>
              </a:solidFill>
              <a:prstDash val="sysDash"/>
              <a:rou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endParaRPr lang="zh-CN" altLang="en-US" sz="1600">
                <a:solidFill>
                  <a:srgbClr val="000000"/>
                </a:solidFill>
                <a:latin typeface="Times New Roman" panose="02020603050405020304" charset="0"/>
                <a:cs typeface="Times New Roman" panose="02020603050405020304" charset="0"/>
              </a:endParaRPr>
            </a:p>
          </p:txBody>
        </p:sp>
        <p:cxnSp>
          <p:nvCxnSpPr>
            <p:cNvPr id="102412" name="直接箭头连接符 71"/>
            <p:cNvCxnSpPr>
              <a:cxnSpLocks noChangeShapeType="1"/>
              <a:stCxn id="102430" idx="2"/>
              <a:endCxn id="102411" idx="7"/>
            </p:cNvCxnSpPr>
            <p:nvPr/>
          </p:nvCxnSpPr>
          <p:spPr bwMode="auto">
            <a:xfrm flipV="1">
              <a:off x="5879619" y="4919625"/>
              <a:ext cx="610117" cy="181017"/>
            </a:xfrm>
            <a:prstGeom prst="straightConnector1">
              <a:avLst/>
            </a:prstGeom>
            <a:noFill/>
            <a:ln w="1905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02413" name="文本框 72"/>
            <p:cNvSpPr txBox="1">
              <a:spLocks noChangeArrowheads="1"/>
            </p:cNvSpPr>
            <p:nvPr/>
          </p:nvSpPr>
          <p:spPr bwMode="auto">
            <a:xfrm>
              <a:off x="5938911" y="4542908"/>
              <a:ext cx="2964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i="1">
                  <a:latin typeface="Times New Roman" panose="02020603050405020304" charset="0"/>
                  <a:cs typeface="Times New Roman" panose="02020603050405020304" charset="0"/>
                </a:rPr>
                <a:t>b</a:t>
              </a:r>
              <a:endParaRPr lang="zh-CN" altLang="en-US" sz="1800" i="1">
                <a:latin typeface="Times New Roman" panose="02020603050405020304" charset="0"/>
                <a:cs typeface="Times New Roman" panose="02020603050405020304" charset="0"/>
              </a:endParaRPr>
            </a:p>
          </p:txBody>
        </p:sp>
        <p:sp>
          <p:nvSpPr>
            <p:cNvPr id="102408" name="椭圆 74"/>
            <p:cNvSpPr>
              <a:spLocks noChangeArrowheads="1"/>
            </p:cNvSpPr>
            <p:nvPr/>
          </p:nvSpPr>
          <p:spPr bwMode="auto">
            <a:xfrm>
              <a:off x="1601790" y="5457930"/>
              <a:ext cx="1195387" cy="476071"/>
            </a:xfrm>
            <a:prstGeom prst="ellipse">
              <a:avLst/>
            </a:prstGeom>
            <a:noFill/>
            <a:ln w="19050" algn="ctr">
              <a:solidFill>
                <a:schemeClr val="tx1"/>
              </a:solidFill>
              <a:prstDash val="sysDash"/>
              <a:rou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50000"/>
                </a:spcBef>
                <a:buFontTx/>
                <a:buNone/>
              </a:pPr>
              <a:endParaRPr lang="zh-CN" altLang="en-US" sz="1600">
                <a:solidFill>
                  <a:srgbClr val="000000"/>
                </a:solidFill>
                <a:latin typeface="Times New Roman" panose="02020603050405020304" charset="0"/>
                <a:cs typeface="Times New Roman" panose="02020603050405020304" charset="0"/>
              </a:endParaRPr>
            </a:p>
          </p:txBody>
        </p:sp>
        <p:sp>
          <p:nvSpPr>
            <p:cNvPr id="102409" name="文本框 75"/>
            <p:cNvSpPr txBox="1">
              <a:spLocks noChangeArrowheads="1"/>
            </p:cNvSpPr>
            <p:nvPr/>
          </p:nvSpPr>
          <p:spPr bwMode="auto">
            <a:xfrm>
              <a:off x="2337661" y="5375944"/>
              <a:ext cx="2964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en-US" altLang="zh-CN" sz="1800" i="1">
                  <a:latin typeface="Times New Roman" panose="02020603050405020304" charset="0"/>
                  <a:cs typeface="Times New Roman" panose="02020603050405020304" charset="0"/>
                </a:rPr>
                <a:t>b</a:t>
              </a:r>
              <a:endParaRPr lang="zh-CN" altLang="en-US" sz="1800" i="1">
                <a:latin typeface="Times New Roman" panose="02020603050405020304" charset="0"/>
                <a:cs typeface="Times New Roman" panose="02020603050405020304" charset="0"/>
              </a:endParaRPr>
            </a:p>
          </p:txBody>
        </p:sp>
        <p:cxnSp>
          <p:nvCxnSpPr>
            <p:cNvPr id="102410" name="直接箭头连接符 76"/>
            <p:cNvCxnSpPr>
              <a:cxnSpLocks noChangeShapeType="1"/>
              <a:stCxn id="102423" idx="3"/>
              <a:endCxn id="102408" idx="7"/>
            </p:cNvCxnSpPr>
            <p:nvPr/>
          </p:nvCxnSpPr>
          <p:spPr bwMode="auto">
            <a:xfrm flipV="1">
              <a:off x="2211178" y="5527649"/>
              <a:ext cx="410939" cy="179465"/>
            </a:xfrm>
            <a:prstGeom prst="straightConnector1">
              <a:avLst/>
            </a:prstGeom>
            <a:noFill/>
            <a:ln w="19050" algn="ctr">
              <a:solidFill>
                <a:schemeClr val="tx1"/>
              </a:solidFill>
              <a:round/>
              <a:tailEnd type="triangle" w="med" len="med"/>
            </a:ln>
            <a:extLst>
              <a:ext uri="{909E8E84-426E-40DD-AFC4-6F175D3DCCD1}">
                <a14:hiddenFill xmlns:a14="http://schemas.microsoft.com/office/drawing/2010/main">
                  <a:noFill/>
                </a14:hiddenFill>
              </a:ext>
            </a:extLst>
          </p:spPr>
        </p:cxnSp>
      </p:grpSp>
      <p:sp>
        <p:nvSpPr>
          <p:cNvPr id="7" name="标题 1"/>
          <p:cNvSpPr>
            <a:spLocks noGrp="1"/>
          </p:cNvSpPr>
          <p:nvPr>
            <p:ph type="title"/>
          </p:nvPr>
        </p:nvSpPr>
        <p:spPr>
          <a:xfrm>
            <a:off x="2862550" y="1104900"/>
            <a:ext cx="3403757" cy="476046"/>
          </a:xfrm>
          <a:prstGeom prst="rect">
            <a:avLst/>
          </a:prstGeom>
        </p:spPr>
        <p:txBody>
          <a:bodyPr lIns="0"/>
          <a:lstStyle/>
          <a:p>
            <a:pPr algn="l"/>
            <a:r>
              <a:rPr lang="zh-CN" altLang="en-US" sz="2400" dirty="0">
                <a:solidFill>
                  <a:schemeClr val="tx1"/>
                </a:solidFill>
                <a:latin typeface="Times New Roman" panose="02020603050405020304" charset="0"/>
                <a:cs typeface="Times New Roman" panose="02020603050405020304" charset="0"/>
              </a:rPr>
              <a:t>带宽（</a:t>
            </a:r>
            <a:r>
              <a:rPr lang="en-US" altLang="zh-CN" sz="2400" dirty="0">
                <a:solidFill>
                  <a:schemeClr val="tx1"/>
                </a:solidFill>
                <a:latin typeface="Times New Roman" panose="02020603050405020304" charset="0"/>
                <a:cs typeface="Times New Roman" panose="02020603050405020304" charset="0"/>
              </a:rPr>
              <a:t>Bandwidth, b</a:t>
            </a:r>
            <a:r>
              <a:rPr lang="zh-CN" altLang="en-US" sz="2400" dirty="0">
                <a:solidFill>
                  <a:schemeClr val="tx1"/>
                </a:solidFill>
                <a:latin typeface="Times New Roman" panose="02020603050405020304" charset="0"/>
                <a:cs typeface="Times New Roman" panose="02020603050405020304" charset="0"/>
              </a:rPr>
              <a:t>）</a:t>
            </a:r>
            <a:endParaRPr lang="en-US" altLang="zh-CN" sz="2400" dirty="0">
              <a:solidFill>
                <a:schemeClr val="tx1"/>
              </a:solidFill>
              <a:latin typeface="Times New Roman" panose="02020603050405020304" charset="0"/>
              <a:cs typeface="Times New Roman" panose="02020603050405020304" charset="0"/>
            </a:endParaRPr>
          </a:p>
        </p:txBody>
      </p:sp>
      <p:sp>
        <p:nvSpPr>
          <p:cNvPr id="2" name="标题 1">
            <a:extLst>
              <a:ext uri="{FF2B5EF4-FFF2-40B4-BE49-F238E27FC236}">
                <a16:creationId xmlns:a16="http://schemas.microsoft.com/office/drawing/2014/main" id="{2CF0FEDA-C361-D842-D8C8-5A3813BBBA79}"/>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98813" y="1104900"/>
            <a:ext cx="2743200" cy="401140"/>
          </a:xfrm>
        </p:spPr>
        <p:txBody>
          <a:bodyPr lIns="0"/>
          <a:lstStyle/>
          <a:p>
            <a:r>
              <a:rPr lang="zh-CN" altLang="en-US" sz="2400" dirty="0">
                <a:solidFill>
                  <a:schemeClr val="tx1"/>
                </a:solidFill>
                <a:latin typeface="Times New Roman" panose="02020603050405020304" charset="0"/>
                <a:cs typeface="Times New Roman" panose="02020603050405020304" charset="0"/>
                <a:sym typeface="Consolas" panose="020B0609020204030204" pitchFamily="49" charset="0"/>
              </a:rPr>
              <a:t>地理加权回归分析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56</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503241" y="1667855"/>
            <a:ext cx="8137525" cy="732445"/>
          </a:xfrm>
          <a:prstGeom prst="rect">
            <a:avLst/>
          </a:prstGeom>
        </p:spPr>
        <p:txBody>
          <a:bodyPr wrap="square">
            <a:spAutoFit/>
          </a:bodyPr>
          <a:lstStyle/>
          <a:p>
            <a:pPr indent="457200">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以</a:t>
            </a:r>
            <a:r>
              <a:rPr lang="en-US" altLang="zh-CN" dirty="0">
                <a:latin typeface="Times New Roman" panose="02020603050405020304" charset="0"/>
                <a:ea typeface="+mj-ea"/>
                <a:cs typeface="Times New Roman" panose="02020603050405020304" charset="0"/>
                <a:sym typeface="Consolas" panose="020B0609020204030204" pitchFamily="49" charset="0"/>
              </a:rPr>
              <a:t>WHHP</a:t>
            </a:r>
            <a:r>
              <a:rPr lang="zh-CN" altLang="en-US" dirty="0">
                <a:latin typeface="Times New Roman" panose="02020603050405020304" charset="0"/>
                <a:ea typeface="+mj-ea"/>
                <a:cs typeface="Times New Roman" panose="02020603050405020304" charset="0"/>
                <a:sym typeface="Consolas" panose="020B0609020204030204" pitchFamily="49" charset="0"/>
              </a:rPr>
              <a:t>数据为例，因为过多的自变量可能导致局部共线性问题的存在，所以需要通过函数</a:t>
            </a:r>
            <a:r>
              <a:rPr lang="en-US" altLang="zh-CN" dirty="0" err="1">
                <a:latin typeface="Times New Roman" panose="02020603050405020304" charset="0"/>
                <a:ea typeface="+mj-ea"/>
                <a:cs typeface="Times New Roman" panose="02020603050405020304" charset="0"/>
                <a:sym typeface="Consolas" panose="020B0609020204030204" pitchFamily="49" charset="0"/>
              </a:rPr>
              <a:t>model.selection.gwr</a:t>
            </a:r>
            <a:r>
              <a:rPr lang="zh-CN" altLang="en-US" dirty="0">
                <a:latin typeface="Times New Roman" panose="02020603050405020304" charset="0"/>
                <a:ea typeface="+mj-ea"/>
                <a:cs typeface="Times New Roman" panose="02020603050405020304" charset="0"/>
                <a:sym typeface="Consolas" panose="020B0609020204030204" pitchFamily="49" charset="0"/>
              </a:rPr>
              <a:t>对模型进行优选。</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sp>
        <p:nvSpPr>
          <p:cNvPr id="5" name="文本框 4"/>
          <p:cNvSpPr txBox="1"/>
          <p:nvPr/>
        </p:nvSpPr>
        <p:spPr>
          <a:xfrm>
            <a:off x="419100" y="2433138"/>
            <a:ext cx="8420100" cy="366286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require(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GWmodel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DeVar &lt;-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InDeVars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c(</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"Pop"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Annual_AQI</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FAI_per_Land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TertI_Rate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model.sel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gwr.model.selection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DeVar,InDeVars,data</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WHHP,kernel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gaussian"</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,adaptive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TRUE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,bw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10000000000000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sorted.models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gwr.model.sort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model.sel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numVars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length(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InDeVars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ruler.vector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model.sel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model.list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sorted.models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gwr.model.view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(DeVar,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InDeVars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model.list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model.list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sorted.models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col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"black"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pch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lty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main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"Alternative view of GWR model selection procedure"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ylab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AICc</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xlab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"Model number"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type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en-US"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abline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(v=c(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9</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17</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39</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lty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"grey"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6" name="标题 1">
            <a:extLst>
              <a:ext uri="{FF2B5EF4-FFF2-40B4-BE49-F238E27FC236}">
                <a16:creationId xmlns:a16="http://schemas.microsoft.com/office/drawing/2014/main" id="{90C8B958-ADF0-CE61-45E2-4165CBEE7994}"/>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57</a:t>
            </a:fld>
            <a:endParaRPr lang="zh-CN" altLang="en-US" dirty="0">
              <a:solidFill>
                <a:schemeClr val="bg2">
                  <a:lumMod val="75000"/>
                </a:schemeClr>
              </a:solidFill>
              <a:sym typeface="Consolas" panose="020B0609020204030204" pitchFamily="49" charset="0"/>
            </a:endParaRPr>
          </a:p>
        </p:txBody>
      </p:sp>
      <p:pic>
        <p:nvPicPr>
          <p:cNvPr id="9" name="图片 8"/>
          <p:cNvPicPr/>
          <p:nvPr/>
        </p:nvPicPr>
        <p:blipFill rotWithShape="1">
          <a:blip r:embed="rId2"/>
          <a:srcRect l="11146" t="29756" r="5995" b="19699"/>
          <a:stretch>
            <a:fillRect/>
          </a:stretch>
        </p:blipFill>
        <p:spPr bwMode="auto">
          <a:xfrm>
            <a:off x="566859" y="1650365"/>
            <a:ext cx="4943475" cy="2807335"/>
          </a:xfrm>
          <a:prstGeom prst="rect">
            <a:avLst/>
          </a:prstGeom>
          <a:ln>
            <a:noFill/>
          </a:ln>
        </p:spPr>
      </p:pic>
      <p:pic>
        <p:nvPicPr>
          <p:cNvPr id="12" name="图片 11"/>
          <p:cNvPicPr/>
          <p:nvPr/>
        </p:nvPicPr>
        <p:blipFill rotWithShape="1">
          <a:blip r:embed="rId3"/>
          <a:srcRect t="3619" r="2049"/>
          <a:stretch>
            <a:fillRect/>
          </a:stretch>
        </p:blipFill>
        <p:spPr bwMode="auto">
          <a:xfrm>
            <a:off x="3619500" y="3886200"/>
            <a:ext cx="5105400" cy="2438400"/>
          </a:xfrm>
          <a:prstGeom prst="rect">
            <a:avLst/>
          </a:prstGeom>
          <a:ln>
            <a:noFill/>
          </a:ln>
        </p:spPr>
      </p:pic>
      <p:sp>
        <p:nvSpPr>
          <p:cNvPr id="6" name="标题 1"/>
          <p:cNvSpPr>
            <a:spLocks noGrp="1"/>
          </p:cNvSpPr>
          <p:nvPr>
            <p:ph type="title"/>
          </p:nvPr>
        </p:nvSpPr>
        <p:spPr>
          <a:xfrm>
            <a:off x="3198813" y="1104900"/>
            <a:ext cx="2743200" cy="401140"/>
          </a:xfrm>
        </p:spPr>
        <p:txBody>
          <a:bodyPr lIns="0"/>
          <a:lstStyle/>
          <a:p>
            <a:r>
              <a:rPr lang="zh-CN" altLang="en-US" sz="2400" dirty="0">
                <a:solidFill>
                  <a:schemeClr val="tx1"/>
                </a:solidFill>
                <a:latin typeface="+mj-ea"/>
                <a:sym typeface="Consolas" panose="020B0609020204030204" pitchFamily="49" charset="0"/>
              </a:rPr>
              <a:t>地理加权回归分析</a:t>
            </a:r>
          </a:p>
        </p:txBody>
      </p:sp>
      <p:sp>
        <p:nvSpPr>
          <p:cNvPr id="2" name="标题 1">
            <a:extLst>
              <a:ext uri="{FF2B5EF4-FFF2-40B4-BE49-F238E27FC236}">
                <a16:creationId xmlns:a16="http://schemas.microsoft.com/office/drawing/2014/main" id="{751A3CD8-DB21-36FC-854C-917C0E75F7DE}"/>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3288327" y="1066800"/>
            <a:ext cx="2566194" cy="663575"/>
          </a:xfrm>
        </p:spPr>
        <p:txBody>
          <a:bodyPr lIns="0"/>
          <a:lstStyle/>
          <a:p>
            <a:pPr>
              <a:lnSpc>
                <a:spcPct val="120000"/>
              </a:lnSpc>
            </a:pPr>
            <a:r>
              <a:rPr lang="zh-CN" altLang="en-US" sz="2400" dirty="0">
                <a:solidFill>
                  <a:schemeClr val="tx1"/>
                </a:solidFill>
                <a:latin typeface="Times New Roman" panose="02020603050405020304" charset="0"/>
                <a:cs typeface="Times New Roman" panose="02020603050405020304" charset="0"/>
                <a:sym typeface="Consolas" panose="020B0609020204030204" pitchFamily="49" charset="0"/>
              </a:rPr>
              <a:t>地理加权回归分析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58</a:t>
            </a:fld>
            <a:endParaRPr lang="zh-CN" altLang="en-US" dirty="0">
              <a:solidFill>
                <a:schemeClr val="bg2">
                  <a:lumMod val="75000"/>
                </a:schemeClr>
              </a:solidFill>
              <a:sym typeface="Consolas" panose="020B0609020204030204" pitchFamily="49" charset="0"/>
            </a:endParaRPr>
          </a:p>
        </p:txBody>
      </p:sp>
      <p:sp>
        <p:nvSpPr>
          <p:cNvPr id="6" name="矩形 5"/>
          <p:cNvSpPr/>
          <p:nvPr/>
        </p:nvSpPr>
        <p:spPr>
          <a:xfrm>
            <a:off x="3353783" y="1676400"/>
            <a:ext cx="2435283" cy="430182"/>
          </a:xfrm>
          <a:prstGeom prst="rect">
            <a:avLst/>
          </a:prstGeom>
        </p:spPr>
        <p:txBody>
          <a:bodyPr wrap="none">
            <a:spAutoFit/>
          </a:bodyPr>
          <a:lstStyle/>
          <a:p>
            <a:pPr algn="ctr">
              <a:lnSpc>
                <a:spcPct val="120000"/>
              </a:lnSpc>
            </a:pPr>
            <a:r>
              <a:rPr lang="zh-CN" altLang="en-US" sz="20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带宽优选</a:t>
            </a:r>
            <a:r>
              <a:rPr lang="en-US" altLang="zh-CN" sz="20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&amp;</a:t>
            </a:r>
            <a:r>
              <a:rPr lang="zh-CN" altLang="en-US" sz="20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模型求解</a:t>
            </a:r>
          </a:p>
        </p:txBody>
      </p:sp>
      <p:sp>
        <p:nvSpPr>
          <p:cNvPr id="11" name="矩形 10"/>
          <p:cNvSpPr/>
          <p:nvPr/>
        </p:nvSpPr>
        <p:spPr>
          <a:xfrm>
            <a:off x="250031" y="2474931"/>
            <a:ext cx="8640763" cy="877869"/>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从结果可以看出，当模型包含</a:t>
            </a:r>
            <a:r>
              <a:rPr lang="en-US" altLang="zh-CN" dirty="0">
                <a:latin typeface="Times New Roman" panose="02020603050405020304" charset="0"/>
                <a:ea typeface="+mj-ea"/>
                <a:cs typeface="Times New Roman" panose="02020603050405020304" charset="0"/>
                <a:sym typeface="Consolas" panose="020B0609020204030204" pitchFamily="49" charset="0"/>
              </a:rPr>
              <a:t>5</a:t>
            </a:r>
            <a:r>
              <a:rPr lang="zh-CN" altLang="en-US" dirty="0">
                <a:latin typeface="Times New Roman" panose="02020603050405020304" charset="0"/>
                <a:ea typeface="+mj-ea"/>
                <a:cs typeface="Times New Roman" panose="02020603050405020304" charset="0"/>
                <a:sym typeface="Consolas" panose="020B0609020204030204" pitchFamily="49" charset="0"/>
              </a:rPr>
              <a:t>个以上的自变量时，</a:t>
            </a:r>
            <a:r>
              <a:rPr lang="en-US" altLang="zh-CN" dirty="0" err="1">
                <a:latin typeface="Times New Roman" panose="02020603050405020304" charset="0"/>
                <a:ea typeface="+mj-ea"/>
                <a:cs typeface="Times New Roman" panose="02020603050405020304" charset="0"/>
                <a:sym typeface="Consolas" panose="020B0609020204030204" pitchFamily="49" charset="0"/>
              </a:rPr>
              <a:t>AICc</a:t>
            </a:r>
            <a:r>
              <a:rPr lang="zh-CN" altLang="en-US" dirty="0">
                <a:latin typeface="Times New Roman" panose="02020603050405020304" charset="0"/>
                <a:ea typeface="+mj-ea"/>
                <a:cs typeface="Times New Roman" panose="02020603050405020304" charset="0"/>
                <a:sym typeface="Consolas" panose="020B0609020204030204" pitchFamily="49" charset="0"/>
              </a:rPr>
              <a:t>值不再显著改变，按照回归分析模型尽量简单化的原则，可保留</a:t>
            </a:r>
            <a:r>
              <a:rPr lang="en-US" altLang="zh-CN" dirty="0">
                <a:latin typeface="Times New Roman" panose="02020603050405020304" charset="0"/>
                <a:ea typeface="+mj-ea"/>
                <a:cs typeface="Times New Roman" panose="02020603050405020304" charset="0"/>
                <a:sym typeface="Consolas" panose="020B0609020204030204" pitchFamily="49" charset="0"/>
              </a:rPr>
              <a:t>5</a:t>
            </a:r>
            <a:r>
              <a:rPr lang="zh-CN" altLang="en-US" dirty="0">
                <a:latin typeface="Times New Roman" panose="02020603050405020304" charset="0"/>
                <a:ea typeface="+mj-ea"/>
                <a:cs typeface="Times New Roman" panose="02020603050405020304" charset="0"/>
                <a:sym typeface="Consolas" panose="020B0609020204030204" pitchFamily="49" charset="0"/>
              </a:rPr>
              <a:t>个变量作为自变量</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sp>
        <p:nvSpPr>
          <p:cNvPr id="2" name="文本框 1"/>
          <p:cNvSpPr txBox="1"/>
          <p:nvPr/>
        </p:nvSpPr>
        <p:spPr>
          <a:xfrm>
            <a:off x="398462" y="3658529"/>
            <a:ext cx="8343900" cy="144687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bw1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bw.gwr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WHHP, kernel=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bisquare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,adaptive=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T,approach</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"AIC"</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gn="just">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gwr.res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gwr.basic</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WHHP, kernel=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bisquare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,adaptive=T,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bw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=bw1)</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print(gwr.res)</a:t>
            </a:r>
            <a:endParaRPr lang="zh-CN" altLang="zh-CN" sz="1200" dirty="0">
              <a:latin typeface="Times New Roman" panose="02020603050405020304" charset="0"/>
              <a:ea typeface="宋体" panose="02010600030101010101" pitchFamily="2" charset="-122"/>
            </a:endParaRPr>
          </a:p>
        </p:txBody>
      </p:sp>
      <p:sp>
        <p:nvSpPr>
          <p:cNvPr id="3" name="标题 1">
            <a:extLst>
              <a:ext uri="{FF2B5EF4-FFF2-40B4-BE49-F238E27FC236}">
                <a16:creationId xmlns:a16="http://schemas.microsoft.com/office/drawing/2014/main" id="{0B3D4EBB-A8C8-6638-F7A4-939FA35E884C}"/>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59</a:t>
            </a:fld>
            <a:endParaRPr lang="zh-CN" altLang="en-US">
              <a:solidFill>
                <a:schemeClr val="bg2">
                  <a:lumMod val="75000"/>
                </a:schemeClr>
              </a:solidFill>
              <a:sym typeface="Consolas" panose="020B0609020204030204" pitchFamily="49" charset="0"/>
            </a:endParaRPr>
          </a:p>
        </p:txBody>
      </p:sp>
      <p:pic>
        <p:nvPicPr>
          <p:cNvPr id="10" name="图片 9"/>
          <p:cNvPicPr/>
          <p:nvPr/>
        </p:nvPicPr>
        <p:blipFill>
          <a:blip r:embed="rId2">
            <a:extLst>
              <a:ext uri="{28A0092B-C50C-407E-A947-70E740481C1C}">
                <a14:useLocalDpi xmlns:a14="http://schemas.microsoft.com/office/drawing/2010/main" val="0"/>
              </a:ext>
            </a:extLst>
          </a:blip>
          <a:srcRect/>
          <a:stretch>
            <a:fillRect/>
          </a:stretch>
        </p:blipFill>
        <p:spPr bwMode="auto">
          <a:xfrm>
            <a:off x="190500" y="1790700"/>
            <a:ext cx="4431665" cy="3810635"/>
          </a:xfrm>
          <a:prstGeom prst="rect">
            <a:avLst/>
          </a:prstGeom>
          <a:noFill/>
          <a:ln>
            <a:noFill/>
          </a:ln>
        </p:spPr>
      </p:pic>
      <p:pic>
        <p:nvPicPr>
          <p:cNvPr id="13" name="图片 12"/>
          <p:cNvPicPr/>
          <p:nvPr/>
        </p:nvPicPr>
        <p:blipFill>
          <a:blip r:embed="rId3"/>
          <a:stretch>
            <a:fillRect/>
          </a:stretch>
        </p:blipFill>
        <p:spPr>
          <a:xfrm>
            <a:off x="4622166" y="1866900"/>
            <a:ext cx="4319905" cy="3693795"/>
          </a:xfrm>
          <a:prstGeom prst="rect">
            <a:avLst/>
          </a:prstGeom>
        </p:spPr>
      </p:pic>
      <p:sp>
        <p:nvSpPr>
          <p:cNvPr id="9" name="矩形 8"/>
          <p:cNvSpPr/>
          <p:nvPr/>
        </p:nvSpPr>
        <p:spPr>
          <a:xfrm>
            <a:off x="1257300" y="5715635"/>
            <a:ext cx="2297424" cy="338554"/>
          </a:xfrm>
          <a:prstGeom prst="rect">
            <a:avLst/>
          </a:prstGeom>
        </p:spPr>
        <p:txBody>
          <a:bodyPr wrap="none">
            <a:spAutoFit/>
          </a:bodyPr>
          <a:lstStyle/>
          <a:p>
            <a:r>
              <a:rPr lang="zh-CN" altLang="zh-CN" sz="1600" kern="0" dirty="0">
                <a:latin typeface="+mj-ea"/>
                <a:ea typeface="+mj-ea"/>
              </a:rPr>
              <a:t> </a:t>
            </a:r>
            <a:r>
              <a:rPr lang="zh-CN" altLang="zh-CN" sz="1600" kern="0" dirty="0">
                <a:latin typeface="+mj-ea"/>
                <a:ea typeface="+mj-ea"/>
                <a:cs typeface="Times New Roman" panose="02020603050405020304" charset="0"/>
              </a:rPr>
              <a:t>线性回归分析模型结果</a:t>
            </a:r>
            <a:endParaRPr lang="zh-CN" altLang="en-US" sz="1600" dirty="0">
              <a:latin typeface="+mj-ea"/>
              <a:ea typeface="+mj-ea"/>
            </a:endParaRPr>
          </a:p>
        </p:txBody>
      </p:sp>
      <p:sp>
        <p:nvSpPr>
          <p:cNvPr id="14" name="矩形 13"/>
          <p:cNvSpPr/>
          <p:nvPr/>
        </p:nvSpPr>
        <p:spPr>
          <a:xfrm>
            <a:off x="5981697" y="5719005"/>
            <a:ext cx="1911101" cy="338554"/>
          </a:xfrm>
          <a:prstGeom prst="rect">
            <a:avLst/>
          </a:prstGeom>
        </p:spPr>
        <p:txBody>
          <a:bodyPr wrap="none">
            <a:spAutoFit/>
          </a:bodyPr>
          <a:lstStyle/>
          <a:p>
            <a:r>
              <a:rPr lang="en-US" altLang="zh-CN" sz="1600" kern="0" dirty="0">
                <a:latin typeface="+mj-ea"/>
                <a:ea typeface="+mj-ea"/>
              </a:rPr>
              <a:t>GWR</a:t>
            </a:r>
            <a:r>
              <a:rPr lang="zh-CN" altLang="zh-CN" sz="1600" kern="0" dirty="0">
                <a:latin typeface="+mj-ea"/>
                <a:ea typeface="+mj-ea"/>
                <a:cs typeface="Times New Roman" panose="02020603050405020304" charset="0"/>
              </a:rPr>
              <a:t>模型结果部分</a:t>
            </a:r>
            <a:endParaRPr lang="zh-CN" altLang="en-US" sz="1600" dirty="0">
              <a:latin typeface="+mj-ea"/>
              <a:ea typeface="+mj-ea"/>
            </a:endParaRPr>
          </a:p>
        </p:txBody>
      </p:sp>
      <p:sp>
        <p:nvSpPr>
          <p:cNvPr id="7" name="标题 1"/>
          <p:cNvSpPr>
            <a:spLocks noGrp="1"/>
          </p:cNvSpPr>
          <p:nvPr>
            <p:ph type="title"/>
          </p:nvPr>
        </p:nvSpPr>
        <p:spPr>
          <a:xfrm>
            <a:off x="3288327" y="1066800"/>
            <a:ext cx="2566194" cy="663575"/>
          </a:xfrm>
        </p:spPr>
        <p:txBody>
          <a:bodyPr lIns="0"/>
          <a:lstStyle/>
          <a:p>
            <a:pPr>
              <a:lnSpc>
                <a:spcPct val="120000"/>
              </a:lnSpc>
            </a:pPr>
            <a:r>
              <a:rPr lang="zh-CN" altLang="en-US" sz="2400" dirty="0">
                <a:solidFill>
                  <a:schemeClr val="tx1"/>
                </a:solidFill>
                <a:latin typeface="+mj-ea"/>
                <a:cs typeface="Times New Roman" panose="02020603050405020304" charset="0"/>
                <a:sym typeface="Consolas" panose="020B0609020204030204" pitchFamily="49" charset="0"/>
              </a:rPr>
              <a:t>地理加权回归分析</a:t>
            </a:r>
          </a:p>
        </p:txBody>
      </p:sp>
      <p:sp>
        <p:nvSpPr>
          <p:cNvPr id="2" name="标题 1">
            <a:extLst>
              <a:ext uri="{FF2B5EF4-FFF2-40B4-BE49-F238E27FC236}">
                <a16:creationId xmlns:a16="http://schemas.microsoft.com/office/drawing/2014/main" id="{DA774D2C-7114-3B07-F914-BC9FA8D8638F}"/>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60</a:t>
            </a:fld>
            <a:endParaRPr lang="zh-CN" altLang="en-US">
              <a:solidFill>
                <a:schemeClr val="bg2">
                  <a:lumMod val="75000"/>
                </a:schemeClr>
              </a:solidFill>
              <a:sym typeface="Consolas" panose="020B0609020204030204" pitchFamily="49" charset="0"/>
            </a:endParaRPr>
          </a:p>
        </p:txBody>
      </p:sp>
      <p:sp>
        <p:nvSpPr>
          <p:cNvPr id="6" name="矩形 5"/>
          <p:cNvSpPr/>
          <p:nvPr/>
        </p:nvSpPr>
        <p:spPr>
          <a:xfrm>
            <a:off x="3837887" y="1524000"/>
            <a:ext cx="1467068" cy="434286"/>
          </a:xfrm>
          <a:prstGeom prst="rect">
            <a:avLst/>
          </a:prstGeom>
        </p:spPr>
        <p:txBody>
          <a:bodyPr wrap="none">
            <a:spAutoFit/>
          </a:bodyPr>
          <a:lstStyle/>
          <a:p>
            <a:pPr algn="ctr">
              <a:lnSpc>
                <a:spcPct val="120000"/>
              </a:lnSpc>
            </a:pPr>
            <a:r>
              <a:rPr lang="zh-CN" altLang="en-US" sz="2000" dirty="0">
                <a:latin typeface="Consolas" panose="020B0609020204030204" pitchFamily="49" charset="0"/>
                <a:ea typeface="微软雅黑" panose="020B0503020204020204" pitchFamily="34" charset="-122"/>
                <a:cs typeface="+mn-ea"/>
                <a:sym typeface="Consolas" panose="020B0609020204030204" pitchFamily="49" charset="0"/>
              </a:rPr>
              <a:t>残差项对比</a:t>
            </a:r>
          </a:p>
        </p:txBody>
      </p:sp>
      <p:sp>
        <p:nvSpPr>
          <p:cNvPr id="8" name="标题 1"/>
          <p:cNvSpPr>
            <a:spLocks noGrp="1"/>
          </p:cNvSpPr>
          <p:nvPr>
            <p:ph type="title"/>
          </p:nvPr>
        </p:nvSpPr>
        <p:spPr>
          <a:xfrm>
            <a:off x="3288327" y="1066801"/>
            <a:ext cx="2566194" cy="495300"/>
          </a:xfrm>
        </p:spPr>
        <p:txBody>
          <a:bodyPr lIns="0"/>
          <a:lstStyle/>
          <a:p>
            <a:pPr>
              <a:lnSpc>
                <a:spcPct val="120000"/>
              </a:lnSpc>
            </a:pPr>
            <a:r>
              <a:rPr lang="zh-CN" altLang="en-US" sz="2400" dirty="0">
                <a:solidFill>
                  <a:schemeClr val="tx1"/>
                </a:solidFill>
                <a:latin typeface="+mj-ea"/>
                <a:cs typeface="Times New Roman" panose="02020603050405020304" charset="0"/>
                <a:sym typeface="Consolas" panose="020B0609020204030204" pitchFamily="49" charset="0"/>
              </a:rPr>
              <a:t>地理加权回归分析</a:t>
            </a:r>
          </a:p>
        </p:txBody>
      </p:sp>
      <p:sp>
        <p:nvSpPr>
          <p:cNvPr id="2" name="文本框 1"/>
          <p:cNvSpPr txBox="1"/>
          <p:nvPr/>
        </p:nvSpPr>
        <p:spPr>
          <a:xfrm>
            <a:off x="723900" y="1800726"/>
            <a:ext cx="8039100" cy="463492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require(maps)</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lm_residual</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&lt;-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lm</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residuals</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p1&lt;-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lm_residual</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high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midpoint = </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"Residuals of LM"</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p2&lt;-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1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(fill=residual))+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high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midpoint = </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"Residuals of GWR"</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1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1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1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require(patchwork)</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nSpc>
                <a:spcPct val="150000"/>
              </a:lnSpc>
            </a:pPr>
            <a:r>
              <a:rPr lang="en-US" altLang="zh-CN" sz="11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p1 / p2</a:t>
            </a:r>
            <a:endParaRPr lang="zh-CN" altLang="zh-CN" sz="11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p:txBody>
      </p:sp>
      <p:sp>
        <p:nvSpPr>
          <p:cNvPr id="3" name="标题 1">
            <a:extLst>
              <a:ext uri="{FF2B5EF4-FFF2-40B4-BE49-F238E27FC236}">
                <a16:creationId xmlns:a16="http://schemas.microsoft.com/office/drawing/2014/main" id="{11DA197E-759F-742E-C004-893CB8C988BD}"/>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61</a:t>
            </a:fld>
            <a:endParaRPr lang="zh-CN" altLang="en-US" dirty="0">
              <a:solidFill>
                <a:schemeClr val="bg2">
                  <a:lumMod val="75000"/>
                </a:schemeClr>
              </a:solidFill>
              <a:sym typeface="Consolas" panose="020B0609020204030204" pitchFamily="49" charset="0"/>
            </a:endParaRPr>
          </a:p>
        </p:txBody>
      </p:sp>
      <p:sp>
        <p:nvSpPr>
          <p:cNvPr id="11" name="矩形 10"/>
          <p:cNvSpPr/>
          <p:nvPr/>
        </p:nvSpPr>
        <p:spPr>
          <a:xfrm>
            <a:off x="251039" y="2059357"/>
            <a:ext cx="8640763" cy="1064843"/>
          </a:xfrm>
          <a:prstGeom prst="rect">
            <a:avLst/>
          </a:prstGeom>
        </p:spPr>
        <p:txBody>
          <a:bodyPr wrap="square">
            <a:spAutoFit/>
          </a:bodyPr>
          <a:lstStyle/>
          <a:p>
            <a:pPr indent="457200">
              <a:lnSpc>
                <a:spcPct val="12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相比于全局的线性回归分析模型</a:t>
            </a:r>
            <a:r>
              <a:rPr lang="en-US" altLang="zh-CN" dirty="0">
                <a:latin typeface="Times New Roman" panose="02020603050405020304" charset="0"/>
                <a:ea typeface="+mj-ea"/>
                <a:cs typeface="Times New Roman" panose="02020603050405020304" charset="0"/>
                <a:sym typeface="Consolas" panose="020B0609020204030204" pitchFamily="49" charset="0"/>
              </a:rPr>
              <a:t>(Linear model, LM)</a:t>
            </a:r>
            <a:r>
              <a:rPr lang="zh-CN" altLang="en-US" dirty="0">
                <a:latin typeface="Times New Roman" panose="02020603050405020304" charset="0"/>
                <a:ea typeface="+mj-ea"/>
                <a:cs typeface="Times New Roman" panose="02020603050405020304" charset="0"/>
                <a:sym typeface="Consolas" panose="020B0609020204030204" pitchFamily="49" charset="0"/>
              </a:rPr>
              <a:t>，</a:t>
            </a:r>
            <a:r>
              <a:rPr lang="en-US" altLang="zh-CN" dirty="0">
                <a:latin typeface="Times New Roman" panose="02020603050405020304" charset="0"/>
                <a:ea typeface="+mj-ea"/>
                <a:cs typeface="Times New Roman" panose="02020603050405020304" charset="0"/>
                <a:sym typeface="Consolas" panose="020B0609020204030204" pitchFamily="49" charset="0"/>
              </a:rPr>
              <a:t>GWR</a:t>
            </a:r>
            <a:r>
              <a:rPr lang="zh-CN" altLang="en-US" dirty="0">
                <a:latin typeface="Times New Roman" panose="02020603050405020304" charset="0"/>
                <a:ea typeface="+mj-ea"/>
                <a:cs typeface="Times New Roman" panose="02020603050405020304" charset="0"/>
                <a:sym typeface="Consolas" panose="020B0609020204030204" pitchFamily="49" charset="0"/>
              </a:rPr>
              <a:t>模型残差项大幅度减少，而且呈现了近随机的无规律分布，反观</a:t>
            </a:r>
            <a:r>
              <a:rPr lang="en-US" altLang="zh-CN" dirty="0">
                <a:latin typeface="Times New Roman" panose="02020603050405020304" charset="0"/>
                <a:ea typeface="+mj-ea"/>
                <a:cs typeface="Times New Roman" panose="02020603050405020304" charset="0"/>
                <a:sym typeface="Consolas" panose="020B0609020204030204" pitchFamily="49" charset="0"/>
              </a:rPr>
              <a:t>LM</a:t>
            </a:r>
            <a:r>
              <a:rPr lang="zh-CN" altLang="en-US" dirty="0">
                <a:latin typeface="Times New Roman" panose="02020603050405020304" charset="0"/>
                <a:ea typeface="+mj-ea"/>
                <a:cs typeface="Times New Roman" panose="02020603050405020304" charset="0"/>
                <a:sym typeface="Consolas" panose="020B0609020204030204" pitchFamily="49" charset="0"/>
              </a:rPr>
              <a:t>模型的残差项数值较大，且呈现明显的聚集性特征。</a:t>
            </a:r>
          </a:p>
        </p:txBody>
      </p:sp>
      <p:pic>
        <p:nvPicPr>
          <p:cNvPr id="9" name="图片 8"/>
          <p:cNvPicPr/>
          <p:nvPr/>
        </p:nvPicPr>
        <p:blipFill rotWithShape="1">
          <a:blip r:embed="rId2"/>
          <a:srcRect l="8849" r="10336" b="49773"/>
          <a:stretch>
            <a:fillRect/>
          </a:stretch>
        </p:blipFill>
        <p:spPr bwMode="auto">
          <a:xfrm>
            <a:off x="56574" y="3189287"/>
            <a:ext cx="4448755" cy="2982913"/>
          </a:xfrm>
          <a:prstGeom prst="rect">
            <a:avLst/>
          </a:prstGeom>
          <a:ln>
            <a:noFill/>
          </a:ln>
        </p:spPr>
      </p:pic>
      <p:pic>
        <p:nvPicPr>
          <p:cNvPr id="10" name="图片 9"/>
          <p:cNvPicPr/>
          <p:nvPr/>
        </p:nvPicPr>
        <p:blipFill rotWithShape="1">
          <a:blip r:embed="rId2"/>
          <a:srcRect l="8849" t="49773" r="10336"/>
          <a:stretch>
            <a:fillRect/>
          </a:stretch>
        </p:blipFill>
        <p:spPr bwMode="auto">
          <a:xfrm>
            <a:off x="4638677" y="3189287"/>
            <a:ext cx="4448755" cy="2982913"/>
          </a:xfrm>
          <a:prstGeom prst="rect">
            <a:avLst/>
          </a:prstGeom>
          <a:ln>
            <a:noFill/>
          </a:ln>
        </p:spPr>
      </p:pic>
      <p:sp>
        <p:nvSpPr>
          <p:cNvPr id="7" name="标题 1"/>
          <p:cNvSpPr>
            <a:spLocks noGrp="1"/>
          </p:cNvSpPr>
          <p:nvPr>
            <p:ph type="title"/>
          </p:nvPr>
        </p:nvSpPr>
        <p:spPr>
          <a:xfrm>
            <a:off x="3288327" y="1066801"/>
            <a:ext cx="2566194" cy="495300"/>
          </a:xfrm>
        </p:spPr>
        <p:txBody>
          <a:bodyPr lIns="0"/>
          <a:lstStyle/>
          <a:p>
            <a:pPr>
              <a:lnSpc>
                <a:spcPct val="120000"/>
              </a:lnSpc>
            </a:pPr>
            <a:r>
              <a:rPr lang="zh-CN" altLang="en-US" sz="2400" dirty="0">
                <a:solidFill>
                  <a:schemeClr val="tx1"/>
                </a:solidFill>
                <a:latin typeface="+mj-ea"/>
                <a:cs typeface="Times New Roman" panose="02020603050405020304" charset="0"/>
                <a:sym typeface="Consolas" panose="020B0609020204030204" pitchFamily="49" charset="0"/>
              </a:rPr>
              <a:t>地理加权回归分析</a:t>
            </a:r>
          </a:p>
        </p:txBody>
      </p:sp>
      <p:sp>
        <p:nvSpPr>
          <p:cNvPr id="8" name="矩形 7"/>
          <p:cNvSpPr/>
          <p:nvPr/>
        </p:nvSpPr>
        <p:spPr>
          <a:xfrm>
            <a:off x="3837887" y="1524000"/>
            <a:ext cx="1467068" cy="434286"/>
          </a:xfrm>
          <a:prstGeom prst="rect">
            <a:avLst/>
          </a:prstGeom>
        </p:spPr>
        <p:txBody>
          <a:bodyPr wrap="none">
            <a:spAutoFit/>
          </a:bodyPr>
          <a:lstStyle/>
          <a:p>
            <a:pPr algn="ctr">
              <a:lnSpc>
                <a:spcPct val="120000"/>
              </a:lnSpc>
            </a:pPr>
            <a:r>
              <a:rPr lang="zh-CN" altLang="en-US" sz="2000" dirty="0">
                <a:latin typeface="Consolas" panose="020B0609020204030204" pitchFamily="49" charset="0"/>
                <a:ea typeface="微软雅黑" panose="020B0503020204020204" pitchFamily="34" charset="-122"/>
                <a:cs typeface="+mn-ea"/>
                <a:sym typeface="Consolas" panose="020B0609020204030204" pitchFamily="49" charset="0"/>
              </a:rPr>
              <a:t>残差项对比</a:t>
            </a:r>
          </a:p>
        </p:txBody>
      </p:sp>
      <p:sp>
        <p:nvSpPr>
          <p:cNvPr id="2" name="标题 1">
            <a:extLst>
              <a:ext uri="{FF2B5EF4-FFF2-40B4-BE49-F238E27FC236}">
                <a16:creationId xmlns:a16="http://schemas.microsoft.com/office/drawing/2014/main" id="{5ACC978E-FE4D-9D99-48BB-58E5D89787BF}"/>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62</a:t>
            </a:fld>
            <a:endParaRPr lang="zh-CN" altLang="en-US">
              <a:solidFill>
                <a:schemeClr val="bg2">
                  <a:lumMod val="75000"/>
                </a:schemeClr>
              </a:solidFill>
              <a:sym typeface="Consolas" panose="020B0609020204030204" pitchFamily="49" charset="0"/>
            </a:endParaRPr>
          </a:p>
        </p:txBody>
      </p:sp>
      <p:sp>
        <p:nvSpPr>
          <p:cNvPr id="6" name="矩形 5"/>
          <p:cNvSpPr/>
          <p:nvPr/>
        </p:nvSpPr>
        <p:spPr>
          <a:xfrm>
            <a:off x="3838466" y="1508814"/>
            <a:ext cx="1467068" cy="434286"/>
          </a:xfrm>
          <a:prstGeom prst="rect">
            <a:avLst/>
          </a:prstGeom>
        </p:spPr>
        <p:txBody>
          <a:bodyPr wrap="none">
            <a:spAutoFit/>
          </a:bodyPr>
          <a:lstStyle/>
          <a:p>
            <a:pPr algn="ctr">
              <a:lnSpc>
                <a:spcPct val="120000"/>
              </a:lnSpc>
            </a:pPr>
            <a:r>
              <a:rPr lang="zh-CN" altLang="en-US" sz="20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系数可视化</a:t>
            </a:r>
          </a:p>
        </p:txBody>
      </p:sp>
      <p:sp>
        <p:nvSpPr>
          <p:cNvPr id="11" name="矩形 10"/>
          <p:cNvSpPr/>
          <p:nvPr/>
        </p:nvSpPr>
        <p:spPr>
          <a:xfrm>
            <a:off x="722313" y="2053968"/>
            <a:ext cx="7696200" cy="396134"/>
          </a:xfrm>
          <a:prstGeom prst="rect">
            <a:avLst/>
          </a:prstGeom>
        </p:spPr>
        <p:txBody>
          <a:bodyPr wrap="square">
            <a:spAutoFit/>
          </a:bodyPr>
          <a:lstStyle/>
          <a:p>
            <a:pPr>
              <a:lnSpc>
                <a:spcPct val="120000"/>
              </a:lnSpc>
            </a:pPr>
            <a:r>
              <a:rPr lang="en-US" dirty="0">
                <a:latin typeface="Times New Roman" panose="02020603050405020304" charset="0"/>
                <a:ea typeface="+mj-ea"/>
                <a:cs typeface="Times New Roman" panose="02020603050405020304" charset="0"/>
                <a:sym typeface="Consolas" panose="020B0609020204030204" pitchFamily="49" charset="0"/>
              </a:rPr>
              <a:t>GWR</a:t>
            </a:r>
            <a:r>
              <a:rPr lang="zh-CN" altLang="en-US" dirty="0">
                <a:latin typeface="Times New Roman" panose="02020603050405020304" charset="0"/>
                <a:ea typeface="+mj-ea"/>
                <a:cs typeface="Times New Roman" panose="02020603050405020304" charset="0"/>
                <a:sym typeface="Consolas" panose="020B0609020204030204" pitchFamily="49" charset="0"/>
              </a:rPr>
              <a:t>技术最大优势在于，参数估计的结果可以进行便捷的地图可视化：</a:t>
            </a:r>
          </a:p>
        </p:txBody>
      </p:sp>
      <p:sp>
        <p:nvSpPr>
          <p:cNvPr id="7" name="标题 1"/>
          <p:cNvSpPr>
            <a:spLocks noGrp="1"/>
          </p:cNvSpPr>
          <p:nvPr>
            <p:ph type="title"/>
          </p:nvPr>
        </p:nvSpPr>
        <p:spPr>
          <a:xfrm>
            <a:off x="3288327" y="1066801"/>
            <a:ext cx="2566194" cy="495300"/>
          </a:xfrm>
        </p:spPr>
        <p:txBody>
          <a:bodyPr lIns="0"/>
          <a:lstStyle/>
          <a:p>
            <a:pPr>
              <a:lnSpc>
                <a:spcPct val="120000"/>
              </a:lnSpc>
            </a:pPr>
            <a:r>
              <a:rPr lang="zh-CN" altLang="en-US" sz="2400" dirty="0">
                <a:solidFill>
                  <a:schemeClr val="tx1"/>
                </a:solidFill>
                <a:latin typeface="Times New Roman" panose="02020603050405020304" charset="0"/>
                <a:cs typeface="Times New Roman" panose="02020603050405020304" charset="0"/>
                <a:sym typeface="Consolas" panose="020B0609020204030204" pitchFamily="49" charset="0"/>
              </a:rPr>
              <a:t>地理加权回归分析</a:t>
            </a:r>
          </a:p>
        </p:txBody>
      </p:sp>
      <p:sp>
        <p:nvSpPr>
          <p:cNvPr id="2" name="文本框 1"/>
          <p:cNvSpPr txBox="1"/>
          <p:nvPr/>
        </p:nvSpPr>
        <p:spPr>
          <a:xfrm>
            <a:off x="647700" y="2438400"/>
            <a:ext cx="8343900" cy="414119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p1&lt;-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0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(fill=Intercept)) +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scale_fill_gradient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(trans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"reverse"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"Est. Intercept"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style =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p2&lt;-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0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Green_Rate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"green"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high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midpoint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"Est. </a:t>
            </a:r>
            <a:r>
              <a:rPr lang="en-US" altLang="zh-CN" sz="100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Green_Rate</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p3&lt;-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0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GDP_per_Land</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marL="133350" indent="-13335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high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midpoint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"Est. </a:t>
            </a:r>
            <a:r>
              <a:rPr lang="en-US" altLang="zh-CN" sz="100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GDP_per_Land</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33350" algn="just">
              <a:lnSpc>
                <a:spcPct val="120000"/>
              </a:lnSpc>
            </a:pP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p4&lt;-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ggplot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gwr.res</a:t>
            </a:r>
            <a:r>
              <a:rPr lang="en-US" altLang="zh-CN" sz="1000" dirty="0" err="1">
                <a:solidFill>
                  <a:srgbClr val="0000FF"/>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SDF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geom_sf</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aes</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(fill=</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Rev_per_Land</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marL="133350" indent="-13335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scale_fill_gradient2(low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"white"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high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"red"</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midpoint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name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"Est. </a:t>
            </a:r>
            <a:r>
              <a:rPr lang="en-US" altLang="zh-CN" sz="1000" dirty="0" err="1">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Rev_per_Land</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annotation_scale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"bl"</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width_hint</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annotation_north_arrow</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(location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which_north</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"true"</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33350" algn="just">
              <a:lnSpc>
                <a:spcPct val="120000"/>
              </a:lnSpc>
            </a:pP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pad_x</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pad_y</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 unit(</a:t>
            </a:r>
            <a:r>
              <a:rPr lang="en-US" altLang="zh-CN" sz="1000" dirty="0">
                <a:solidFill>
                  <a:srgbClr val="098658"/>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0.1</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a:t>
            </a:r>
            <a:r>
              <a:rPr lang="en-US" altLang="zh-CN" sz="1000" dirty="0">
                <a:solidFill>
                  <a:srgbClr val="A31515"/>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"in"</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a:p>
            <a:pPr indent="127000" algn="just">
              <a:lnSpc>
                <a:spcPct val="120000"/>
              </a:lnSpc>
            </a:pP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  style = </a:t>
            </a:r>
            <a:r>
              <a:rPr lang="en-US" altLang="zh-CN" sz="1000" dirty="0" err="1">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north_arrow_fancy_orienteering</a:t>
            </a:r>
            <a:r>
              <a:rPr lang="en-US" altLang="zh-CN" sz="1000" dirty="0">
                <a:solidFill>
                  <a:srgbClr val="000000"/>
                </a:solidFill>
                <a:effectLst>
                  <a:outerShdw blurRad="38100" dist="38100" dir="2700000" algn="tl">
                    <a:srgbClr val="000000">
                      <a:alpha val="43137"/>
                    </a:srgbClr>
                  </a:outerShdw>
                </a:effectLst>
                <a:latin typeface="Consolas" panose="020B0609020204030204" pitchFamily="49" charset="0"/>
                <a:ea typeface="宋体" panose="02010600030101010101" pitchFamily="2" charset="-122"/>
                <a:cs typeface="宋体" panose="02010600030101010101" pitchFamily="2" charset="-122"/>
              </a:rPr>
              <a:t>)</a:t>
            </a:r>
            <a:endParaRPr lang="zh-CN" altLang="zh-CN" sz="1000" dirty="0">
              <a:effectLst>
                <a:outerShdw blurRad="38100" dist="38100" dir="2700000" algn="tl">
                  <a:srgbClr val="000000">
                    <a:alpha val="43137"/>
                  </a:srgbClr>
                </a:outerShdw>
              </a:effectLst>
              <a:latin typeface="Times New Roman" panose="02020603050405020304" charset="0"/>
              <a:ea typeface="宋体" panose="02010600030101010101" pitchFamily="2" charset="-122"/>
            </a:endParaRPr>
          </a:p>
        </p:txBody>
      </p:sp>
      <p:sp>
        <p:nvSpPr>
          <p:cNvPr id="3" name="标题 1">
            <a:extLst>
              <a:ext uri="{FF2B5EF4-FFF2-40B4-BE49-F238E27FC236}">
                <a16:creationId xmlns:a16="http://schemas.microsoft.com/office/drawing/2014/main" id="{010C5E57-C463-C106-832F-0995418547B7}"/>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63</a:t>
            </a:fld>
            <a:endParaRPr lang="zh-CN" altLang="en-US">
              <a:solidFill>
                <a:schemeClr val="bg2">
                  <a:lumMod val="75000"/>
                </a:schemeClr>
              </a:solidFill>
              <a:sym typeface="Consolas" panose="020B0609020204030204" pitchFamily="49" charset="0"/>
            </a:endParaRPr>
          </a:p>
        </p:txBody>
      </p:sp>
      <p:pic>
        <p:nvPicPr>
          <p:cNvPr id="7" name="图片 6"/>
          <p:cNvPicPr/>
          <p:nvPr/>
        </p:nvPicPr>
        <p:blipFill rotWithShape="1">
          <a:blip r:embed="rId2" cstate="print">
            <a:extLst>
              <a:ext uri="{28A0092B-C50C-407E-A947-70E740481C1C}">
                <a14:useLocalDpi xmlns:a14="http://schemas.microsoft.com/office/drawing/2010/main" val="0"/>
              </a:ext>
            </a:extLst>
          </a:blip>
          <a:srcRect b="34087"/>
          <a:stretch>
            <a:fillRect/>
          </a:stretch>
        </p:blipFill>
        <p:spPr bwMode="auto">
          <a:xfrm>
            <a:off x="1581150" y="2438400"/>
            <a:ext cx="5924550" cy="3898821"/>
          </a:xfrm>
          <a:prstGeom prst="rect">
            <a:avLst/>
          </a:prstGeom>
          <a:noFill/>
          <a:ln>
            <a:noFill/>
          </a:ln>
        </p:spPr>
      </p:pic>
      <p:sp>
        <p:nvSpPr>
          <p:cNvPr id="5" name="矩形 4"/>
          <p:cNvSpPr/>
          <p:nvPr/>
        </p:nvSpPr>
        <p:spPr>
          <a:xfrm>
            <a:off x="3838466" y="1508814"/>
            <a:ext cx="1467068" cy="434286"/>
          </a:xfrm>
          <a:prstGeom prst="rect">
            <a:avLst/>
          </a:prstGeom>
        </p:spPr>
        <p:txBody>
          <a:bodyPr wrap="none">
            <a:spAutoFit/>
          </a:bodyPr>
          <a:lstStyle/>
          <a:p>
            <a:pPr algn="ctr">
              <a:lnSpc>
                <a:spcPct val="120000"/>
              </a:lnSpc>
            </a:pPr>
            <a:r>
              <a:rPr lang="zh-CN" altLang="en-US" sz="2000"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rPr>
              <a:t>系数可视化</a:t>
            </a:r>
          </a:p>
        </p:txBody>
      </p:sp>
      <p:sp>
        <p:nvSpPr>
          <p:cNvPr id="8" name="矩形 7"/>
          <p:cNvSpPr/>
          <p:nvPr/>
        </p:nvSpPr>
        <p:spPr>
          <a:xfrm>
            <a:off x="723324" y="2057400"/>
            <a:ext cx="7696200" cy="396134"/>
          </a:xfrm>
          <a:prstGeom prst="rect">
            <a:avLst/>
          </a:prstGeom>
        </p:spPr>
        <p:txBody>
          <a:bodyPr wrap="square">
            <a:spAutoFit/>
          </a:bodyPr>
          <a:lstStyle/>
          <a:p>
            <a:pPr>
              <a:lnSpc>
                <a:spcPct val="120000"/>
              </a:lnSpc>
            </a:pPr>
            <a:r>
              <a:rPr lang="en-US" dirty="0">
                <a:latin typeface="Times New Roman" panose="02020603050405020304" charset="0"/>
                <a:ea typeface="+mj-ea"/>
                <a:cs typeface="Times New Roman" panose="02020603050405020304" charset="0"/>
                <a:sym typeface="Consolas" panose="020B0609020204030204" pitchFamily="49" charset="0"/>
              </a:rPr>
              <a:t>GWR</a:t>
            </a:r>
            <a:r>
              <a:rPr lang="zh-CN" altLang="en-US" dirty="0">
                <a:latin typeface="Times New Roman" panose="02020603050405020304" charset="0"/>
                <a:ea typeface="+mj-ea"/>
                <a:cs typeface="Times New Roman" panose="02020603050405020304" charset="0"/>
                <a:sym typeface="Consolas" panose="020B0609020204030204" pitchFamily="49" charset="0"/>
              </a:rPr>
              <a:t>技术最大优势在于，参数估计的结果可以进行便捷的地图可视化：</a:t>
            </a:r>
          </a:p>
        </p:txBody>
      </p:sp>
      <p:sp>
        <p:nvSpPr>
          <p:cNvPr id="12" name="标题 1"/>
          <p:cNvSpPr>
            <a:spLocks noGrp="1"/>
          </p:cNvSpPr>
          <p:nvPr>
            <p:ph type="title"/>
          </p:nvPr>
        </p:nvSpPr>
        <p:spPr>
          <a:xfrm>
            <a:off x="3288327" y="1066801"/>
            <a:ext cx="2566194" cy="495300"/>
          </a:xfrm>
        </p:spPr>
        <p:txBody>
          <a:bodyPr lIns="0"/>
          <a:lstStyle/>
          <a:p>
            <a:pPr>
              <a:lnSpc>
                <a:spcPct val="120000"/>
              </a:lnSpc>
            </a:pPr>
            <a:r>
              <a:rPr lang="zh-CN" altLang="en-US" sz="2400" dirty="0">
                <a:solidFill>
                  <a:schemeClr val="tx1"/>
                </a:solidFill>
                <a:latin typeface="Times New Roman" panose="02020603050405020304" charset="0"/>
                <a:cs typeface="Times New Roman" panose="02020603050405020304" charset="0"/>
                <a:sym typeface="Consolas" panose="020B0609020204030204" pitchFamily="49" charset="0"/>
              </a:rPr>
              <a:t>地理加权回归分析</a:t>
            </a:r>
          </a:p>
        </p:txBody>
      </p:sp>
      <p:sp>
        <p:nvSpPr>
          <p:cNvPr id="2" name="标题 1">
            <a:extLst>
              <a:ext uri="{FF2B5EF4-FFF2-40B4-BE49-F238E27FC236}">
                <a16:creationId xmlns:a16="http://schemas.microsoft.com/office/drawing/2014/main" id="{6659DD1A-A312-A490-B4A7-D42D39B58839}"/>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8"/>
          <p:cNvSpPr>
            <a:spLocks noChangeArrowheads="1"/>
          </p:cNvSpPr>
          <p:nvPr/>
        </p:nvSpPr>
        <p:spPr bwMode="auto">
          <a:xfrm>
            <a:off x="57975" y="2450534"/>
            <a:ext cx="25314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800100" lvl="1" indent="-342900" algn="ctr" eaLnBrk="1" hangingPunct="1">
              <a:buFont typeface="Arial" panose="020B0604020202020204" pitchFamily="34" charset="0"/>
              <a:buChar char="•"/>
            </a:pPr>
            <a:r>
              <a:rPr lang="zh-CN" altLang="en-US" sz="2000" dirty="0">
                <a:latin typeface="+mj-ea"/>
                <a:ea typeface="+mj-ea"/>
              </a:rPr>
              <a:t>数据模拟实验</a:t>
            </a:r>
            <a:endParaRPr lang="en-GB" sz="2000" dirty="0">
              <a:latin typeface="+mj-ea"/>
              <a:ea typeface="+mj-ea"/>
            </a:endParaRPr>
          </a:p>
        </p:txBody>
      </p:sp>
      <p:sp>
        <p:nvSpPr>
          <p:cNvPr id="10" name="Title 1"/>
          <p:cNvSpPr txBox="1"/>
          <p:nvPr/>
        </p:nvSpPr>
        <p:spPr>
          <a:xfrm>
            <a:off x="2522707" y="1066800"/>
            <a:ext cx="4114800" cy="471041"/>
          </a:xfrm>
          <a:prstGeom prst="rect">
            <a:avLst/>
          </a:prstGeom>
        </p:spPr>
        <p:txBody>
          <a:bodyPr/>
          <a:lstStyle>
            <a:lvl1pPr algn="l" rtl="0" eaLnBrk="0" fontAlgn="base" hangingPunct="0">
              <a:lnSpc>
                <a:spcPct val="80000"/>
              </a:lnSpc>
              <a:spcBef>
                <a:spcPct val="0"/>
              </a:spcBef>
              <a:spcAft>
                <a:spcPct val="0"/>
              </a:spcAft>
              <a:defRPr sz="3200" b="1">
                <a:solidFill>
                  <a:srgbClr val="093A80"/>
                </a:solidFill>
                <a:latin typeface="+mj-lt"/>
                <a:ea typeface="+mj-ea"/>
                <a:cs typeface="+mj-cs"/>
              </a:defRPr>
            </a:lvl1pPr>
            <a:lvl2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2pPr>
            <a:lvl3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3pPr>
            <a:lvl4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4pPr>
            <a:lvl5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5pPr>
            <a:lvl6pPr marL="4572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6pPr>
            <a:lvl7pPr marL="9144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7pPr>
            <a:lvl8pPr marL="13716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8pPr>
            <a:lvl9pPr marL="18288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9pPr>
          </a:lstStyle>
          <a:p>
            <a:pPr algn="ctr">
              <a:lnSpc>
                <a:spcPct val="120000"/>
              </a:lnSpc>
            </a:pPr>
            <a:r>
              <a:rPr lang="en-US" altLang="zh-CN" sz="2400" dirty="0">
                <a:solidFill>
                  <a:schemeClr val="tx1"/>
                </a:solidFill>
                <a:latin typeface="Times New Roman" panose="02020603050405020304" charset="0"/>
                <a:cs typeface="Times New Roman" panose="02020603050405020304" charset="0"/>
              </a:rPr>
              <a:t>GWR</a:t>
            </a:r>
            <a:r>
              <a:rPr lang="zh-CN" altLang="en-US" sz="2400" dirty="0">
                <a:solidFill>
                  <a:schemeClr val="tx1"/>
                </a:solidFill>
                <a:latin typeface="Times New Roman" panose="02020603050405020304" charset="0"/>
                <a:cs typeface="Times New Roman" panose="02020603050405020304" charset="0"/>
              </a:rPr>
              <a:t>参数估计的多尺度特征</a:t>
            </a:r>
          </a:p>
        </p:txBody>
      </p:sp>
      <p:grpSp>
        <p:nvGrpSpPr>
          <p:cNvPr id="4" name="组合 3"/>
          <p:cNvGrpSpPr/>
          <p:nvPr/>
        </p:nvGrpSpPr>
        <p:grpSpPr>
          <a:xfrm>
            <a:off x="2781643" y="1598166"/>
            <a:ext cx="6362357" cy="2650730"/>
            <a:chOff x="1219202" y="1562103"/>
            <a:chExt cx="6591298" cy="2669012"/>
          </a:xfrm>
        </p:grpSpPr>
        <p:pic>
          <p:nvPicPr>
            <p:cNvPr id="2" name="图片 1"/>
            <p:cNvPicPr>
              <a:picLocks noChangeAspect="1"/>
            </p:cNvPicPr>
            <p:nvPr/>
          </p:nvPicPr>
          <p:blipFill>
            <a:blip r:embed="rId2"/>
            <a:stretch>
              <a:fillRect/>
            </a:stretch>
          </p:blipFill>
          <p:spPr>
            <a:xfrm>
              <a:off x="1219202" y="1562103"/>
              <a:ext cx="6286500" cy="2315253"/>
            </a:xfrm>
            <a:prstGeom prst="rect">
              <a:avLst/>
            </a:prstGeom>
          </p:spPr>
        </p:pic>
        <p:pic>
          <p:nvPicPr>
            <p:cNvPr id="14" name="图片 13"/>
            <p:cNvPicPr>
              <a:picLocks noChangeAspect="1"/>
            </p:cNvPicPr>
            <p:nvPr/>
          </p:nvPicPr>
          <p:blipFill rotWithShape="1">
            <a:blip r:embed="rId3"/>
            <a:srcRect t="-5494" r="65449"/>
            <a:stretch>
              <a:fillRect/>
            </a:stretch>
          </p:blipFill>
          <p:spPr>
            <a:xfrm>
              <a:off x="1409702" y="3850668"/>
              <a:ext cx="2872827" cy="340335"/>
            </a:xfrm>
            <a:prstGeom prst="rect">
              <a:avLst/>
            </a:prstGeom>
          </p:spPr>
        </p:pic>
        <p:pic>
          <p:nvPicPr>
            <p:cNvPr id="16" name="图片 15"/>
            <p:cNvPicPr>
              <a:picLocks noChangeAspect="1"/>
            </p:cNvPicPr>
            <p:nvPr/>
          </p:nvPicPr>
          <p:blipFill rotWithShape="1">
            <a:blip r:embed="rId4"/>
            <a:srcRect r="62806" b="-15694"/>
            <a:stretch>
              <a:fillRect/>
            </a:stretch>
          </p:blipFill>
          <p:spPr>
            <a:xfrm>
              <a:off x="4762500" y="3863252"/>
              <a:ext cx="3048000" cy="367863"/>
            </a:xfrm>
            <a:prstGeom prst="rect">
              <a:avLst/>
            </a:prstGeom>
          </p:spPr>
        </p:pic>
      </p:grpSp>
      <p:sp>
        <p:nvSpPr>
          <p:cNvPr id="19" name="Rectangle 6"/>
          <p:cNvSpPr>
            <a:spLocks noChangeArrowheads="1"/>
          </p:cNvSpPr>
          <p:nvPr/>
        </p:nvSpPr>
        <p:spPr bwMode="auto">
          <a:xfrm>
            <a:off x="3599763" y="5134095"/>
            <a:ext cx="130673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pSp>
        <p:nvGrpSpPr>
          <p:cNvPr id="5" name="组合 4"/>
          <p:cNvGrpSpPr/>
          <p:nvPr/>
        </p:nvGrpSpPr>
        <p:grpSpPr>
          <a:xfrm>
            <a:off x="6156325" y="4781550"/>
            <a:ext cx="2695575" cy="1185863"/>
            <a:chOff x="533228" y="4651335"/>
            <a:chExt cx="2695575" cy="1185863"/>
          </a:xfrm>
        </p:grpSpPr>
        <mc:AlternateContent xmlns:mc="http://schemas.openxmlformats.org/markup-compatibility/2006" xmlns:a14="http://schemas.microsoft.com/office/drawing/2010/main">
          <mc:Choice Requires="a14">
            <p:sp>
              <p:nvSpPr>
                <p:cNvPr id="18" name="对象 17"/>
                <p:cNvSpPr txBox="1"/>
                <p:nvPr/>
              </p:nvSpPr>
              <p:spPr bwMode="auto">
                <a:xfrm>
                  <a:off x="788816" y="4651335"/>
                  <a:ext cx="1992312" cy="4857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𝛽</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𝛽</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8" name="对象 17"/>
                <p:cNvSpPr txBox="1">
                  <a:spLocks noRot="1" noChangeAspect="1" noMove="1" noResize="1" noEditPoints="1" noAdjustHandles="1" noChangeArrowheads="1" noChangeShapeType="1" noTextEdit="1"/>
                </p:cNvSpPr>
                <p:nvPr/>
              </p:nvSpPr>
              <p:spPr bwMode="auto">
                <a:xfrm>
                  <a:off x="788816" y="4651335"/>
                  <a:ext cx="1992312" cy="485775"/>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对象 19"/>
                <p:cNvSpPr txBox="1"/>
                <p:nvPr/>
              </p:nvSpPr>
              <p:spPr bwMode="auto">
                <a:xfrm>
                  <a:off x="533228" y="5341898"/>
                  <a:ext cx="2695575" cy="4953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𝛽</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𝛽</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log</m:t>
                            </m:r>
                          </m:fName>
                          <m:e>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𝑢</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𝑣</m:t>
                                </m:r>
                              </m:e>
                            </m:d>
                          </m:e>
                        </m:func>
                      </m:oMath>
                    </m:oMathPara>
                  </a14:m>
                  <a:endParaRPr lang="zh-CN" altLang="en-US"/>
                </a:p>
              </p:txBody>
            </p:sp>
          </mc:Choice>
          <mc:Fallback xmlns="">
            <p:sp>
              <p:nvSpPr>
                <p:cNvPr id="20" name="对象 19"/>
                <p:cNvSpPr txBox="1">
                  <a:spLocks noRot="1" noChangeAspect="1" noMove="1" noResize="1" noEditPoints="1" noAdjustHandles="1" noChangeArrowheads="1" noChangeShapeType="1" noTextEdit="1"/>
                </p:cNvSpPr>
                <p:nvPr/>
              </p:nvSpPr>
              <p:spPr bwMode="auto">
                <a:xfrm>
                  <a:off x="533228" y="5341898"/>
                  <a:ext cx="2695575" cy="495300"/>
                </a:xfrm>
                <a:prstGeom prst="rect">
                  <a:avLst/>
                </a:prstGeom>
                <a:blipFill rotWithShape="1">
                  <a:blip r:embed="rId6"/>
                </a:blipFill>
              </p:spPr>
              <p:txBody>
                <a:bodyPr/>
                <a:lstStyle/>
                <a:p>
                  <a:r>
                    <a:rPr lang="zh-CN" altLang="en-US">
                      <a:noFill/>
                    </a:rPr>
                    <a:t> </a:t>
                  </a:r>
                </a:p>
              </p:txBody>
            </p:sp>
          </mc:Fallback>
        </mc:AlternateContent>
      </p:grpSp>
      <p:grpSp>
        <p:nvGrpSpPr>
          <p:cNvPr id="7" name="组合 6"/>
          <p:cNvGrpSpPr/>
          <p:nvPr/>
        </p:nvGrpSpPr>
        <p:grpSpPr>
          <a:xfrm>
            <a:off x="112840" y="4276310"/>
            <a:ext cx="5705371" cy="2478030"/>
            <a:chOff x="3438629" y="4248896"/>
            <a:chExt cx="5705371" cy="2478030"/>
          </a:xfrm>
        </p:grpSpPr>
        <p:pic>
          <p:nvPicPr>
            <p:cNvPr id="21" name="图片 20"/>
            <p:cNvPicPr>
              <a:picLocks noChangeAspect="1"/>
            </p:cNvPicPr>
            <p:nvPr/>
          </p:nvPicPr>
          <p:blipFill>
            <a:blip r:embed="rId7"/>
            <a:stretch>
              <a:fillRect/>
            </a:stretch>
          </p:blipFill>
          <p:spPr>
            <a:xfrm>
              <a:off x="3438629" y="4248896"/>
              <a:ext cx="5702729" cy="2196220"/>
            </a:xfrm>
            <a:prstGeom prst="rect">
              <a:avLst/>
            </a:prstGeom>
          </p:spPr>
        </p:pic>
        <p:pic>
          <p:nvPicPr>
            <p:cNvPr id="23" name="图片 22"/>
            <p:cNvPicPr>
              <a:picLocks noChangeAspect="1"/>
            </p:cNvPicPr>
            <p:nvPr/>
          </p:nvPicPr>
          <p:blipFill rotWithShape="1">
            <a:blip r:embed="rId8"/>
            <a:srcRect r="69860" b="4034"/>
            <a:stretch>
              <a:fillRect/>
            </a:stretch>
          </p:blipFill>
          <p:spPr>
            <a:xfrm>
              <a:off x="3771901" y="6407585"/>
              <a:ext cx="2584956" cy="319341"/>
            </a:xfrm>
            <a:prstGeom prst="rect">
              <a:avLst/>
            </a:prstGeom>
          </p:spPr>
        </p:pic>
        <p:pic>
          <p:nvPicPr>
            <p:cNvPr id="24" name="图片 23"/>
            <p:cNvPicPr>
              <a:picLocks noChangeAspect="1"/>
            </p:cNvPicPr>
            <p:nvPr/>
          </p:nvPicPr>
          <p:blipFill rotWithShape="1">
            <a:blip r:embed="rId9"/>
            <a:srcRect r="65417" b="15336"/>
            <a:stretch>
              <a:fillRect/>
            </a:stretch>
          </p:blipFill>
          <p:spPr>
            <a:xfrm>
              <a:off x="6477000" y="6423397"/>
              <a:ext cx="2667000" cy="253331"/>
            </a:xfrm>
            <a:prstGeom prst="rect">
              <a:avLst/>
            </a:prstGeom>
          </p:spPr>
        </p:pic>
      </p:grpSp>
      <p:sp>
        <p:nvSpPr>
          <p:cNvPr id="6" name="灯片编号占位符 5"/>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64</a:t>
            </a:fld>
            <a:endParaRPr lang="zh-CN" altLang="en-US" dirty="0">
              <a:solidFill>
                <a:schemeClr val="bg2">
                  <a:lumMod val="75000"/>
                </a:schemeClr>
              </a:solidFill>
            </a:endParaRPr>
          </a:p>
        </p:txBody>
      </p:sp>
      <p:sp>
        <p:nvSpPr>
          <p:cNvPr id="9" name="标题 1">
            <a:extLst>
              <a:ext uri="{FF2B5EF4-FFF2-40B4-BE49-F238E27FC236}">
                <a16:creationId xmlns:a16="http://schemas.microsoft.com/office/drawing/2014/main" id="{5854C57C-A2EF-53B7-4CFA-2669011EF7D4}"/>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6"/>
          <p:cNvSpPr>
            <a:spLocks noChangeArrowheads="1"/>
          </p:cNvSpPr>
          <p:nvPr/>
        </p:nvSpPr>
        <p:spPr bwMode="auto">
          <a:xfrm>
            <a:off x="3599763" y="5134095"/>
            <a:ext cx="1306735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3" name="图片 2"/>
          <p:cNvPicPr>
            <a:picLocks noChangeAspect="1"/>
          </p:cNvPicPr>
          <p:nvPr/>
        </p:nvPicPr>
        <p:blipFill rotWithShape="1">
          <a:blip r:embed="rId2"/>
          <a:srcRect l="5055" t="8491" b="6092"/>
          <a:stretch>
            <a:fillRect/>
          </a:stretch>
        </p:blipFill>
        <p:spPr>
          <a:xfrm>
            <a:off x="4577695" y="4189883"/>
            <a:ext cx="2813705" cy="2428329"/>
          </a:xfrm>
          <a:prstGeom prst="rect">
            <a:avLst/>
          </a:prstGeom>
        </p:spPr>
      </p:pic>
      <p:pic>
        <p:nvPicPr>
          <p:cNvPr id="6" name="图片 5"/>
          <p:cNvPicPr>
            <a:picLocks noChangeAspect="1"/>
          </p:cNvPicPr>
          <p:nvPr/>
        </p:nvPicPr>
        <p:blipFill rotWithShape="1">
          <a:blip r:embed="rId3"/>
          <a:srcRect l="5055" t="8439" b="6144"/>
          <a:stretch>
            <a:fillRect/>
          </a:stretch>
        </p:blipFill>
        <p:spPr>
          <a:xfrm>
            <a:off x="4577695" y="1737596"/>
            <a:ext cx="2813705" cy="2428328"/>
          </a:xfrm>
          <a:prstGeom prst="rect">
            <a:avLst/>
          </a:prstGeom>
        </p:spPr>
      </p:pic>
      <p:pic>
        <p:nvPicPr>
          <p:cNvPr id="5" name="图片 4"/>
          <p:cNvPicPr>
            <a:picLocks noChangeAspect="1"/>
          </p:cNvPicPr>
          <p:nvPr/>
        </p:nvPicPr>
        <p:blipFill rotWithShape="1">
          <a:blip r:embed="rId4">
            <a:extLst>
              <a:ext uri="{28A0092B-C50C-407E-A947-70E740481C1C}">
                <a14:useLocalDpi xmlns:a14="http://schemas.microsoft.com/office/drawing/2010/main" val="0"/>
              </a:ext>
            </a:extLst>
          </a:blip>
          <a:srcRect l="5767" t="8333" b="6250"/>
          <a:stretch>
            <a:fillRect/>
          </a:stretch>
        </p:blipFill>
        <p:spPr>
          <a:xfrm>
            <a:off x="1672899" y="1742540"/>
            <a:ext cx="2897050" cy="2428328"/>
          </a:xfrm>
          <a:prstGeom prst="rect">
            <a:avLst/>
          </a:prstGeom>
        </p:spPr>
      </p:pic>
      <mc:AlternateContent xmlns:mc="http://schemas.openxmlformats.org/markup-compatibility/2006" xmlns:a14="http://schemas.microsoft.com/office/drawing/2010/main">
        <mc:Choice Requires="a14">
          <p:sp>
            <p:nvSpPr>
              <p:cNvPr id="7" name="矩形 6"/>
              <p:cNvSpPr/>
              <p:nvPr/>
            </p:nvSpPr>
            <p:spPr>
              <a:xfrm>
                <a:off x="787715" y="2626002"/>
                <a:ext cx="427354" cy="33727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𝛽</m:t>
                          </m:r>
                        </m:e>
                        <m:sub>
                          <m:r>
                            <a:rPr lang="zh-CN" altLang="en-US">
                              <a:latin typeface="Cambria Math" panose="02040503050406030204" pitchFamily="18" charset="0"/>
                            </a:rPr>
                            <m:t>1</m:t>
                          </m:r>
                        </m:sub>
                      </m:sSub>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787715" y="2626002"/>
                <a:ext cx="427354" cy="337271"/>
              </a:xfrm>
              <a:prstGeom prst="rect">
                <a:avLst/>
              </a:prstGeom>
              <a:blipFill rotWithShape="1">
                <a:blip r:embed="rId5"/>
                <a:stretch>
                  <a:fillRect l="-74" t="-82" r="73" b="1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7793680" y="2582428"/>
                <a:ext cx="48090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𝛽</m:t>
                          </m:r>
                        </m:e>
                        <m:sub>
                          <m:r>
                            <a:rPr lang="en-US" altLang="zh-CN">
                              <a:latin typeface="Cambria Math" panose="02040503050406030204" pitchFamily="18" charset="0"/>
                            </a:rPr>
                            <m:t>2</m:t>
                          </m:r>
                        </m:sub>
                      </m:sSub>
                    </m:oMath>
                  </m:oMathPara>
                </a14:m>
                <a:endParaRPr lang="zh-CN"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7793680" y="2582428"/>
                <a:ext cx="480901" cy="369332"/>
              </a:xfrm>
              <a:prstGeom prst="rect">
                <a:avLst/>
              </a:prstGeom>
              <a:blipFill rotWithShape="1">
                <a:blip r:embed="rId6"/>
                <a:stretch>
                  <a:fillRect l="-68" t="-140" r="110" b="76"/>
                </a:stretch>
              </a:blipFill>
            </p:spPr>
            <p:txBody>
              <a:bodyPr/>
              <a:lstStyle/>
              <a:p>
                <a:r>
                  <a:rPr lang="zh-CN" altLang="en-US">
                    <a:noFill/>
                  </a:rPr>
                  <a:t> </a:t>
                </a:r>
              </a:p>
            </p:txBody>
          </p:sp>
        </mc:Fallback>
      </mc:AlternateContent>
      <p:pic>
        <p:nvPicPr>
          <p:cNvPr id="4" name="图片 3"/>
          <p:cNvPicPr>
            <a:picLocks noChangeAspect="1"/>
          </p:cNvPicPr>
          <p:nvPr/>
        </p:nvPicPr>
        <p:blipFill rotWithShape="1">
          <a:blip r:embed="rId7"/>
          <a:srcRect l="5687" t="8333" b="6945"/>
          <a:stretch>
            <a:fillRect/>
          </a:stretch>
        </p:blipFill>
        <p:spPr>
          <a:xfrm>
            <a:off x="1680645" y="4180376"/>
            <a:ext cx="2897050" cy="2428328"/>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760166" y="5061067"/>
                <a:ext cx="441376" cy="4174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limUpp>
                            <m:limUppPr>
                              <m:ctrlPr>
                                <a:rPr lang="zh-CN" altLang="en-US" i="1">
                                  <a:latin typeface="Cambria Math" panose="02040503050406030204" pitchFamily="18" charset="0"/>
                                </a:rPr>
                              </m:ctrlPr>
                            </m:limUppPr>
                            <m:e>
                              <m:r>
                                <a:rPr lang="zh-CN" altLang="en-US" i="1">
                                  <a:latin typeface="Cambria Math" panose="02040503050406030204" pitchFamily="18" charset="0"/>
                                </a:rPr>
                                <m:t>𝛽</m:t>
                              </m:r>
                            </m:e>
                            <m:lim>
                              <m:r>
                                <a:rPr lang="zh-CN" altLang="en-US">
                                  <a:latin typeface="Cambria Math" panose="02040503050406030204" pitchFamily="18" charset="0"/>
                                </a:rPr>
                                <m:t>⌢</m:t>
                              </m:r>
                            </m:lim>
                          </m:limUpp>
                        </m:e>
                        <m:sub>
                          <m:r>
                            <a:rPr lang="zh-CN" altLang="en-US">
                              <a:latin typeface="Cambria Math" panose="02040503050406030204" pitchFamily="18" charset="0"/>
                            </a:rPr>
                            <m:t>1</m:t>
                          </m:r>
                        </m:sub>
                      </m:sSub>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760166" y="5061067"/>
                <a:ext cx="441376" cy="417489"/>
              </a:xfrm>
              <a:prstGeom prst="rect">
                <a:avLst/>
              </a:prstGeom>
              <a:blipFill rotWithShape="1">
                <a:blip r:embed="rId8"/>
                <a:stretch>
                  <a:fillRect l="-16" t="-28" r="28" b="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7809446" y="5041223"/>
                <a:ext cx="496354" cy="457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limUpp>
                            <m:limUppPr>
                              <m:ctrlPr>
                                <a:rPr lang="zh-CN" altLang="en-US" i="1">
                                  <a:latin typeface="Cambria Math" panose="02040503050406030204" pitchFamily="18" charset="0"/>
                                </a:rPr>
                              </m:ctrlPr>
                            </m:limUppPr>
                            <m:e>
                              <m:r>
                                <a:rPr lang="zh-CN" altLang="en-US" i="1">
                                  <a:latin typeface="Cambria Math" panose="02040503050406030204" pitchFamily="18" charset="0"/>
                                </a:rPr>
                                <m:t>𝛽</m:t>
                              </m:r>
                            </m:e>
                            <m:lim>
                              <m:r>
                                <a:rPr lang="zh-CN" altLang="en-US">
                                  <a:latin typeface="Cambria Math" panose="02040503050406030204" pitchFamily="18" charset="0"/>
                                </a:rPr>
                                <m:t>⌢</m:t>
                              </m:r>
                            </m:lim>
                          </m:limUpp>
                        </m:e>
                        <m:sub>
                          <m:r>
                            <a:rPr lang="en-US" altLang="zh-CN">
                              <a:latin typeface="Cambria Math" panose="02040503050406030204" pitchFamily="18" charset="0"/>
                            </a:rPr>
                            <m:t>2</m:t>
                          </m:r>
                        </m:sub>
                      </m:sSub>
                    </m:oMath>
                  </m:oMathPara>
                </a14:m>
                <a:endParaRPr lang="zh-CN" altLang="en-US" dirty="0"/>
              </a:p>
            </p:txBody>
          </p:sp>
        </mc:Choice>
        <mc:Fallback xmlns="">
          <p:sp>
            <p:nvSpPr>
              <p:cNvPr id="26" name="矩形 25"/>
              <p:cNvSpPr>
                <a:spLocks noRot="1" noChangeAspect="1" noMove="1" noResize="1" noEditPoints="1" noAdjustHandles="1" noChangeArrowheads="1" noChangeShapeType="1" noTextEdit="1"/>
              </p:cNvSpPr>
              <p:nvPr/>
            </p:nvSpPr>
            <p:spPr>
              <a:xfrm>
                <a:off x="7809446" y="5041223"/>
                <a:ext cx="496354" cy="457176"/>
              </a:xfrm>
              <a:prstGeom prst="rect">
                <a:avLst/>
              </a:prstGeom>
              <a:blipFill rotWithShape="1">
                <a:blip r:embed="rId9"/>
                <a:stretch>
                  <a:fillRect l="-44" t="-130" b="124"/>
                </a:stretch>
              </a:blipFill>
            </p:spPr>
            <p:txBody>
              <a:bodyPr/>
              <a:lstStyle/>
              <a:p>
                <a:r>
                  <a:rPr lang="zh-CN" altLang="en-US">
                    <a:noFill/>
                  </a:rPr>
                  <a:t> </a:t>
                </a:r>
              </a:p>
            </p:txBody>
          </p:sp>
        </mc:Fallback>
      </mc:AlternateContent>
      <p:sp>
        <p:nvSpPr>
          <p:cNvPr id="9" name="灯片编号占位符 8"/>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65</a:t>
            </a:fld>
            <a:endParaRPr lang="zh-CN" altLang="en-US">
              <a:solidFill>
                <a:schemeClr val="bg2">
                  <a:lumMod val="75000"/>
                </a:schemeClr>
              </a:solidFill>
            </a:endParaRPr>
          </a:p>
        </p:txBody>
      </p:sp>
      <p:sp>
        <p:nvSpPr>
          <p:cNvPr id="12" name="Title 1"/>
          <p:cNvSpPr txBox="1"/>
          <p:nvPr/>
        </p:nvSpPr>
        <p:spPr>
          <a:xfrm>
            <a:off x="2522707" y="1066800"/>
            <a:ext cx="4114800" cy="471041"/>
          </a:xfrm>
          <a:prstGeom prst="rect">
            <a:avLst/>
          </a:prstGeom>
        </p:spPr>
        <p:txBody>
          <a:bodyPr/>
          <a:lstStyle>
            <a:lvl1pPr algn="l" rtl="0" eaLnBrk="0" fontAlgn="base" hangingPunct="0">
              <a:lnSpc>
                <a:spcPct val="80000"/>
              </a:lnSpc>
              <a:spcBef>
                <a:spcPct val="0"/>
              </a:spcBef>
              <a:spcAft>
                <a:spcPct val="0"/>
              </a:spcAft>
              <a:defRPr sz="3200" b="1">
                <a:solidFill>
                  <a:srgbClr val="093A80"/>
                </a:solidFill>
                <a:latin typeface="+mj-lt"/>
                <a:ea typeface="+mj-ea"/>
                <a:cs typeface="+mj-cs"/>
              </a:defRPr>
            </a:lvl1pPr>
            <a:lvl2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2pPr>
            <a:lvl3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3pPr>
            <a:lvl4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4pPr>
            <a:lvl5pPr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5pPr>
            <a:lvl6pPr marL="4572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6pPr>
            <a:lvl7pPr marL="9144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7pPr>
            <a:lvl8pPr marL="13716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8pPr>
            <a:lvl9pPr marL="1828800" algn="l" rtl="0" eaLnBrk="0" fontAlgn="base" hangingPunct="0">
              <a:lnSpc>
                <a:spcPct val="80000"/>
              </a:lnSpc>
              <a:spcBef>
                <a:spcPct val="0"/>
              </a:spcBef>
              <a:spcAft>
                <a:spcPct val="0"/>
              </a:spcAft>
              <a:defRPr sz="3200" b="1">
                <a:solidFill>
                  <a:srgbClr val="093A80"/>
                </a:solidFill>
                <a:latin typeface="Arial" panose="020B0604020202020204" pitchFamily="34" charset="0"/>
                <a:ea typeface="楷体" panose="02010609060101010101" pitchFamily="18" charset="-122"/>
              </a:defRPr>
            </a:lvl9pPr>
          </a:lstStyle>
          <a:p>
            <a:pPr algn="ctr">
              <a:lnSpc>
                <a:spcPct val="120000"/>
              </a:lnSpc>
            </a:pPr>
            <a:r>
              <a:rPr lang="en-US" altLang="zh-CN" sz="2400" dirty="0">
                <a:solidFill>
                  <a:schemeClr val="tx1"/>
                </a:solidFill>
                <a:latin typeface="Times New Roman" panose="02020603050405020304" charset="0"/>
                <a:cs typeface="Times New Roman" panose="02020603050405020304" charset="0"/>
              </a:rPr>
              <a:t>GWR</a:t>
            </a:r>
            <a:r>
              <a:rPr lang="zh-CN" altLang="en-US" sz="2400" dirty="0">
                <a:solidFill>
                  <a:schemeClr val="tx1"/>
                </a:solidFill>
                <a:latin typeface="Times New Roman" panose="02020603050405020304" charset="0"/>
                <a:cs typeface="Times New Roman" panose="02020603050405020304" charset="0"/>
              </a:rPr>
              <a:t>参数估计的多尺度特征</a:t>
            </a:r>
          </a:p>
        </p:txBody>
      </p:sp>
      <p:sp>
        <p:nvSpPr>
          <p:cNvPr id="2" name="标题 1">
            <a:extLst>
              <a:ext uri="{FF2B5EF4-FFF2-40B4-BE49-F238E27FC236}">
                <a16:creationId xmlns:a16="http://schemas.microsoft.com/office/drawing/2014/main" id="{8505287D-D078-2953-7649-95EB00716C8E}"/>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p:cNvSpPr>
          <p:nvPr>
            <p:ph type="title"/>
          </p:nvPr>
        </p:nvSpPr>
        <p:spPr>
          <a:xfrm>
            <a:off x="1068387" y="1066800"/>
            <a:ext cx="7007225" cy="663575"/>
          </a:xfrm>
          <a:prstGeom prst="rect">
            <a:avLst/>
          </a:prstGeom>
        </p:spPr>
        <p:txBody>
          <a:bodyPr lIns="0"/>
          <a:lstStyle/>
          <a:p>
            <a:pPr>
              <a:lnSpc>
                <a:spcPct val="120000"/>
              </a:lnSpc>
            </a:pPr>
            <a:r>
              <a:rPr lang="zh-CN" altLang="en-US" sz="2400" dirty="0">
                <a:solidFill>
                  <a:schemeClr val="tx1"/>
                </a:solidFill>
                <a:latin typeface="+mj-ea"/>
                <a:cs typeface="Times New Roman" panose="02020603050405020304" charset="0"/>
              </a:rPr>
              <a:t>多尺度地理加权回归分析</a:t>
            </a:r>
            <a:endParaRPr lang="en-US" altLang="zh-CN" sz="2400" dirty="0">
              <a:solidFill>
                <a:schemeClr val="tx1"/>
              </a:solidFill>
              <a:latin typeface="+mj-ea"/>
              <a:cs typeface="Times New Roman" panose="02020603050405020304" charset="0"/>
            </a:endParaRPr>
          </a:p>
        </p:txBody>
      </p:sp>
      <p:sp>
        <p:nvSpPr>
          <p:cNvPr id="4" name="灯片编号占位符 3"/>
          <p:cNvSpPr>
            <a:spLocks noGrp="1"/>
          </p:cNvSpPr>
          <p:nvPr>
            <p:ph type="sldNum" sz="quarter" idx="12"/>
          </p:nvPr>
        </p:nvSpPr>
        <p:spPr>
          <a:prstGeom prst="rect">
            <a:avLst/>
          </a:prstGeom>
        </p:spPr>
        <p:txBody>
          <a:bodyPr/>
          <a:lstStyle/>
          <a:p>
            <a:fld id="{CE0EDD7D-95AA-4333-87B5-3818B1CC7C1C}" type="slidenum">
              <a:rPr lang="zh-CN" altLang="en-US">
                <a:solidFill>
                  <a:schemeClr val="bg2">
                    <a:lumMod val="75000"/>
                  </a:schemeClr>
                </a:solidFill>
              </a:rPr>
              <a:t>66</a:t>
            </a:fld>
            <a:endParaRPr lang="zh-CN" altLang="en-US" dirty="0">
              <a:solidFill>
                <a:schemeClr val="bg2">
                  <a:lumMod val="75000"/>
                </a:schemeClr>
              </a:solidFill>
            </a:endParaRPr>
          </a:p>
        </p:txBody>
      </p:sp>
      <p:sp>
        <p:nvSpPr>
          <p:cNvPr id="3" name="内容占位符 2"/>
          <p:cNvSpPr>
            <a:spLocks noGrp="1"/>
          </p:cNvSpPr>
          <p:nvPr>
            <p:ph idx="4294967295"/>
          </p:nvPr>
        </p:nvSpPr>
        <p:spPr>
          <a:xfrm>
            <a:off x="571500" y="1676400"/>
            <a:ext cx="8488362" cy="4527550"/>
          </a:xfrm>
          <a:prstGeom prst="rect">
            <a:avLst/>
          </a:prstGeom>
        </p:spPr>
        <p:txBody>
          <a:bodyPr/>
          <a:lstStyle/>
          <a:p>
            <a:pPr>
              <a:lnSpc>
                <a:spcPct val="200000"/>
              </a:lnSpc>
              <a:defRPr/>
            </a:pPr>
            <a:r>
              <a:rPr lang="en-US" altLang="zh-CN" sz="2400" dirty="0">
                <a:latin typeface="Times New Roman" panose="02020603050405020304" charset="0"/>
                <a:ea typeface="+mj-ea"/>
                <a:cs typeface="Times New Roman" panose="02020603050405020304" charset="0"/>
              </a:rPr>
              <a:t>Mixed GWR (Brunsdon et al., 1999)</a:t>
            </a:r>
          </a:p>
          <a:p>
            <a:pPr marL="457200" lvl="1" indent="0">
              <a:lnSpc>
                <a:spcPct val="200000"/>
              </a:lnSpc>
              <a:buNone/>
              <a:defRPr/>
            </a:pPr>
            <a:endParaRPr lang="en-US" altLang="zh-CN" sz="2000" dirty="0">
              <a:latin typeface="Times New Roman" panose="02020603050405020304" charset="0"/>
              <a:ea typeface="+mj-ea"/>
              <a:cs typeface="Times New Roman" panose="02020603050405020304" charset="0"/>
            </a:endParaRPr>
          </a:p>
          <a:p>
            <a:pPr lvl="1">
              <a:lnSpc>
                <a:spcPct val="200000"/>
              </a:lnSpc>
              <a:defRPr/>
            </a:pPr>
            <a:r>
              <a:rPr lang="zh-CN" altLang="en-US" sz="2000" dirty="0">
                <a:latin typeface="Times New Roman" panose="02020603050405020304" charset="0"/>
                <a:ea typeface="+mj-ea"/>
                <a:cs typeface="Times New Roman" panose="02020603050405020304" charset="0"/>
              </a:rPr>
              <a:t>假设仅有部分参数估计在研究区域内是变化的，而其余的是不变的</a:t>
            </a:r>
            <a:endParaRPr lang="en-US" altLang="zh-CN" sz="2000" dirty="0">
              <a:latin typeface="Times New Roman" panose="02020603050405020304" charset="0"/>
              <a:ea typeface="+mj-ea"/>
              <a:cs typeface="Times New Roman" panose="02020603050405020304" charset="0"/>
            </a:endParaRPr>
          </a:p>
          <a:p>
            <a:pPr>
              <a:lnSpc>
                <a:spcPct val="200000"/>
              </a:lnSpc>
              <a:defRPr/>
            </a:pPr>
            <a:r>
              <a:rPr lang="en-US" altLang="zh-CN" sz="2400" dirty="0">
                <a:latin typeface="Times New Roman" panose="02020603050405020304" charset="0"/>
                <a:ea typeface="+mj-ea"/>
                <a:cs typeface="Times New Roman" panose="02020603050405020304" charset="0"/>
              </a:rPr>
              <a:t>GWR with flexible bandwidths </a:t>
            </a:r>
            <a:r>
              <a:rPr lang="zh-CN" altLang="en-US" sz="2400" dirty="0">
                <a:latin typeface="Times New Roman" panose="02020603050405020304" charset="0"/>
                <a:ea typeface="+mj-ea"/>
                <a:cs typeface="Times New Roman" panose="02020603050405020304" charset="0"/>
              </a:rPr>
              <a:t>（</a:t>
            </a:r>
            <a:r>
              <a:rPr lang="en-US" altLang="zh-CN" sz="2400" dirty="0">
                <a:latin typeface="Times New Roman" panose="02020603050405020304" charset="0"/>
                <a:ea typeface="+mj-ea"/>
                <a:cs typeface="Times New Roman" panose="02020603050405020304" charset="0"/>
              </a:rPr>
              <a:t>FBGWR</a:t>
            </a:r>
            <a:r>
              <a:rPr lang="zh-CN" altLang="en-US" sz="2400" dirty="0">
                <a:latin typeface="Times New Roman" panose="02020603050405020304" charset="0"/>
                <a:ea typeface="+mj-ea"/>
                <a:cs typeface="Times New Roman" panose="02020603050405020304" charset="0"/>
              </a:rPr>
              <a:t>）</a:t>
            </a:r>
            <a:r>
              <a:rPr lang="en-US" altLang="zh-CN" sz="2400" dirty="0">
                <a:latin typeface="Times New Roman" panose="02020603050405020304" charset="0"/>
                <a:ea typeface="+mj-ea"/>
                <a:cs typeface="Times New Roman" panose="02020603050405020304" charset="0"/>
              </a:rPr>
              <a:t> (Yang, 2014)</a:t>
            </a:r>
          </a:p>
          <a:p>
            <a:pPr marL="457200" lvl="1" indent="0">
              <a:lnSpc>
                <a:spcPct val="200000"/>
              </a:lnSpc>
              <a:buNone/>
              <a:defRPr/>
            </a:pPr>
            <a:endParaRPr lang="en-US" altLang="zh-CN" sz="2000" dirty="0">
              <a:latin typeface="+mj-ea"/>
              <a:ea typeface="+mj-ea"/>
              <a:cs typeface="Times New Roman" panose="02020603050405020304" charset="0"/>
            </a:endParaRPr>
          </a:p>
          <a:p>
            <a:pPr lvl="1">
              <a:lnSpc>
                <a:spcPct val="200000"/>
              </a:lnSpc>
              <a:defRPr/>
            </a:pPr>
            <a:r>
              <a:rPr lang="zh-CN" altLang="en-US" sz="2000" dirty="0">
                <a:latin typeface="+mj-ea"/>
                <a:ea typeface="+mj-ea"/>
                <a:cs typeface="Times New Roman" panose="02020603050405020304" charset="0"/>
              </a:rPr>
              <a:t>假设针对不同的参数采用变化的带宽对模型进行估计</a:t>
            </a:r>
            <a:endParaRPr lang="en-US" altLang="zh-CN" sz="2000" dirty="0">
              <a:latin typeface="+mj-ea"/>
              <a:ea typeface="+mj-ea"/>
              <a:cs typeface="Times New Roman" panose="02020603050405020304" charset="0"/>
            </a:endParaRPr>
          </a:p>
        </p:txBody>
      </p:sp>
      <mc:AlternateContent xmlns:mc="http://schemas.openxmlformats.org/markup-compatibility/2006" xmlns:a14="http://schemas.microsoft.com/office/drawing/2010/main">
        <mc:Choice Requires="a14">
          <p:sp>
            <p:nvSpPr>
              <p:cNvPr id="59397" name="对象 4"/>
              <p:cNvSpPr txBox="1"/>
              <p:nvPr/>
            </p:nvSpPr>
            <p:spPr bwMode="auto">
              <a:xfrm>
                <a:off x="1927225" y="2438400"/>
                <a:ext cx="5311775" cy="828675"/>
              </a:xfrm>
              <a:prstGeom prst="rect">
                <a:avLst/>
              </a:prstGeom>
              <a:noFill/>
              <a:ln>
                <a:noFill/>
              </a:ln>
            </p:spPr>
            <p:txBody>
              <a:bodyPr>
                <a:noAutofit/>
              </a:bodyPr>
              <a:lstStyle/>
              <a:p>
                <a:pPr/>
                <a14:m>
                  <m:oMathPara xmlns:m="http://schemas.openxmlformats.org/officeDocument/2006/math">
                    <m:oMathParaPr>
                      <m:jc m:val="center"/>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𝑎</m:t>
                              </m:r>
                            </m:sub>
                          </m:sSub>
                        </m: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𝑎</m:t>
                              </m:r>
                            </m:e>
                            <m:sub>
                              <m:r>
                                <a:rPr lang="zh-CN" altLang="en-US" sz="2000" i="1">
                                  <a:solidFill>
                                    <a:srgbClr val="000000"/>
                                  </a:solidFill>
                                  <a:latin typeface="Cambria Math" panose="02040503050406030204" pitchFamily="18" charset="0"/>
                                </a:rPr>
                                <m:t>𝑗</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𝑖𝑗</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𝑎</m:t>
                          </m:r>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𝑏</m:t>
                                  </m:r>
                                </m:sub>
                              </m:sSub>
                            </m: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𝑏</m:t>
                                  </m:r>
                                </m:e>
                                <m:sub>
                                  <m:r>
                                    <a:rPr lang="zh-CN" altLang="en-US" sz="2000" i="1">
                                      <a:solidFill>
                                        <a:srgbClr val="000000"/>
                                      </a:solidFill>
                                      <a:latin typeface="Cambria Math" panose="02040503050406030204" pitchFamily="18" charset="0"/>
                                    </a:rPr>
                                    <m:t>𝑙</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𝑖𝑙</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𝑏</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𝜀</m:t>
                                  </m:r>
                                </m:e>
                                <m:sub>
                                  <m:r>
                                    <a:rPr lang="zh-CN" altLang="en-US" sz="2000" i="1">
                                      <a:solidFill>
                                        <a:srgbClr val="000000"/>
                                      </a:solidFill>
                                      <a:latin typeface="Cambria Math" panose="02040503050406030204" pitchFamily="18" charset="0"/>
                                    </a:rPr>
                                    <m:t>𝑖</m:t>
                                  </m:r>
                                </m:sub>
                              </m:sSub>
                            </m:e>
                          </m:nary>
                        </m:e>
                      </m:nary>
                    </m:oMath>
                  </m:oMathPara>
                </a14:m>
                <a:endParaRPr lang="zh-CN" altLang="en-US" sz="2000" dirty="0"/>
              </a:p>
            </p:txBody>
          </p:sp>
        </mc:Choice>
        <mc:Fallback xmlns="">
          <p:sp>
            <p:nvSpPr>
              <p:cNvPr id="59397" name="对象 4"/>
              <p:cNvSpPr txBox="1">
                <a:spLocks noRot="1" noChangeAspect="1" noMove="1" noResize="1" noEditPoints="1" noAdjustHandles="1" noChangeArrowheads="1" noChangeShapeType="1" noTextEdit="1"/>
              </p:cNvSpPr>
              <p:nvPr/>
            </p:nvSpPr>
            <p:spPr bwMode="auto">
              <a:xfrm>
                <a:off x="1927225" y="2438400"/>
                <a:ext cx="5311775" cy="828675"/>
              </a:xfrm>
              <a:prstGeom prst="rect">
                <a:avLst/>
              </a:prstGeom>
              <a:blipFill rotWithShape="1">
                <a:blip r:embed="rId3"/>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98" name="Object 4"/>
              <p:cNvSpPr txBox="1"/>
              <p:nvPr/>
            </p:nvSpPr>
            <p:spPr bwMode="auto">
              <a:xfrm>
                <a:off x="1876424" y="4525962"/>
                <a:ext cx="5438776" cy="808038"/>
              </a:xfrm>
              <a:prstGeom prst="rect">
                <a:avLst/>
              </a:prstGeom>
              <a:noFill/>
              <a:ln>
                <a:noFill/>
              </a:ln>
            </p:spPr>
            <p:txBody>
              <a:bodyPr>
                <a:noAutofit/>
              </a:bodyPr>
              <a:lstStyle/>
              <a:p>
                <a:pPr/>
                <a14:m>
                  <m:oMathPara xmlns:m="http://schemas.openxmlformats.org/officeDocument/2006/math">
                    <m:oMathParaPr>
                      <m:jc m:val="center"/>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𝛽</m:t>
                          </m:r>
                        </m:e>
                        <m:sub>
                          <m:r>
                            <a:rPr lang="zh-CN" altLang="en-US" sz="2000" i="1">
                              <a:solidFill>
                                <a:srgbClr val="000000"/>
                              </a:solidFill>
                              <a:latin typeface="Cambria Math" panose="02040503050406030204" pitchFamily="18" charset="0"/>
                            </a:rPr>
                            <m:t>𝑏</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𝑤</m:t>
                              </m:r>
                            </m:e>
                            <m:sub>
                              <m:r>
                                <a:rPr lang="zh-CN" altLang="en-US" sz="2000" i="1">
                                  <a:solidFill>
                                    <a:srgbClr val="000000"/>
                                  </a:solidFill>
                                  <a:latin typeface="Cambria Math" panose="02040503050406030204" pitchFamily="18" charset="0"/>
                                </a:rPr>
                                <m:t>0</m:t>
                              </m:r>
                            </m:sub>
                          </m:sSub>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𝑘</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𝑛</m:t>
                          </m:r>
                        </m: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𝛽</m:t>
                              </m:r>
                            </m:e>
                            <m:sub>
                              <m:r>
                                <a:rPr lang="zh-CN" altLang="en-US" sz="2000" i="1">
                                  <a:solidFill>
                                    <a:srgbClr val="000000"/>
                                  </a:solidFill>
                                  <a:latin typeface="Cambria Math" panose="02040503050406030204" pitchFamily="18" charset="0"/>
                                </a:rPr>
                                <m:t>𝑏</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𝑤</m:t>
                                  </m:r>
                                </m:e>
                                <m:sub>
                                  <m:r>
                                    <a:rPr lang="zh-CN" altLang="en-US" sz="2000" i="1">
                                      <a:solidFill>
                                        <a:srgbClr val="000000"/>
                                      </a:solidFill>
                                      <a:latin typeface="Cambria Math" panose="02040503050406030204" pitchFamily="18" charset="0"/>
                                    </a:rPr>
                                    <m:t>𝑘</m:t>
                                  </m:r>
                                </m:sub>
                              </m:sSub>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𝑖𝑘</m:t>
                              </m:r>
                            </m:sub>
                          </m:sSub>
                        </m:e>
                      </m:nary>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𝜀</m:t>
                          </m:r>
                        </m:e>
                        <m:sub>
                          <m:r>
                            <a:rPr lang="zh-CN" altLang="en-US" sz="2000" i="1">
                              <a:solidFill>
                                <a:srgbClr val="000000"/>
                              </a:solidFill>
                              <a:latin typeface="Cambria Math" panose="02040503050406030204" pitchFamily="18" charset="0"/>
                            </a:rPr>
                            <m:t>𝑖</m:t>
                          </m:r>
                        </m:sub>
                      </m:sSub>
                    </m:oMath>
                  </m:oMathPara>
                </a14:m>
                <a:endParaRPr lang="zh-CN" altLang="en-US" sz="2000" dirty="0"/>
              </a:p>
            </p:txBody>
          </p:sp>
        </mc:Choice>
        <mc:Fallback xmlns="">
          <p:sp>
            <p:nvSpPr>
              <p:cNvPr id="59398" name="Object 4"/>
              <p:cNvSpPr txBox="1">
                <a:spLocks noRot="1" noChangeAspect="1" noMove="1" noResize="1" noEditPoints="1" noAdjustHandles="1" noChangeArrowheads="1" noChangeShapeType="1" noTextEdit="1"/>
              </p:cNvSpPr>
              <p:nvPr/>
            </p:nvSpPr>
            <p:spPr bwMode="auto">
              <a:xfrm>
                <a:off x="1876424" y="4525962"/>
                <a:ext cx="5438776" cy="808038"/>
              </a:xfrm>
              <a:prstGeom prst="rect">
                <a:avLst/>
              </a:prstGeom>
              <a:blipFill rotWithShape="1">
                <a:blip r:embed="rId4"/>
                <a:stretch>
                  <a:fillRect l="-12" t="-39"/>
                </a:stretch>
              </a:blipFill>
              <a:ln>
                <a:noFill/>
              </a:ln>
            </p:spPr>
            <p:txBody>
              <a:bodyPr/>
              <a:lstStyle/>
              <a:p>
                <a:r>
                  <a:rPr lang="zh-CN" altLang="en-US">
                    <a:noFill/>
                  </a:rPr>
                  <a:t> </a:t>
                </a:r>
              </a:p>
            </p:txBody>
          </p:sp>
        </mc:Fallback>
      </mc:AlternateContent>
      <p:sp>
        <p:nvSpPr>
          <p:cNvPr id="5" name="标题 1">
            <a:extLst>
              <a:ext uri="{FF2B5EF4-FFF2-40B4-BE49-F238E27FC236}">
                <a16:creationId xmlns:a16="http://schemas.microsoft.com/office/drawing/2014/main" id="{EB680994-0F76-7E0E-22E7-72118838ED87}"/>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FD83B4C4-763A-4B30-8C90-9139DA0EE8E8}" type="slidenum">
              <a:rPr lang="zh-CN" altLang="en-US">
                <a:solidFill>
                  <a:schemeClr val="bg2">
                    <a:lumMod val="75000"/>
                  </a:schemeClr>
                </a:solidFill>
              </a:rPr>
              <a:t>67</a:t>
            </a:fld>
            <a:endParaRPr lang="zh-CN" altLang="en-US" dirty="0">
              <a:solidFill>
                <a:schemeClr val="bg2">
                  <a:lumMod val="75000"/>
                </a:schemeClr>
              </a:solidFill>
            </a:endParaRPr>
          </a:p>
        </p:txBody>
      </p:sp>
      <p:sp>
        <p:nvSpPr>
          <p:cNvPr id="3" name="内容占位符 2"/>
          <p:cNvSpPr>
            <a:spLocks noGrp="1"/>
          </p:cNvSpPr>
          <p:nvPr>
            <p:ph idx="4294967295"/>
          </p:nvPr>
        </p:nvSpPr>
        <p:spPr>
          <a:xfrm>
            <a:off x="655638" y="1644650"/>
            <a:ext cx="8488362" cy="4527550"/>
          </a:xfrm>
          <a:prstGeom prst="rect">
            <a:avLst/>
          </a:prstGeom>
        </p:spPr>
        <p:txBody>
          <a:bodyPr/>
          <a:lstStyle/>
          <a:p>
            <a:pPr>
              <a:lnSpc>
                <a:spcPct val="200000"/>
              </a:lnSpc>
              <a:defRPr/>
            </a:pPr>
            <a:r>
              <a:rPr lang="en-US" altLang="zh-CN" sz="2400" dirty="0">
                <a:latin typeface="Times New Roman" panose="02020603050405020304" charset="0"/>
                <a:cs typeface="Times New Roman" panose="02020603050405020304" charset="0"/>
              </a:rPr>
              <a:t>PSDM GWR (Lu et al., 2015;</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Lu</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et</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al.</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2017</a:t>
            </a:r>
            <a:r>
              <a:rPr lang="zh-CN" altLang="en-US" sz="2400" dirty="0">
                <a:latin typeface="Times New Roman" panose="02020603050405020304" charset="0"/>
                <a:cs typeface="Times New Roman" panose="02020603050405020304" charset="0"/>
              </a:rPr>
              <a:t>；</a:t>
            </a:r>
            <a:r>
              <a:rPr lang="en-US" altLang="zh-CN" sz="2400" dirty="0">
                <a:latin typeface="Times New Roman" panose="02020603050405020304" charset="0"/>
                <a:cs typeface="Times New Roman" panose="02020603050405020304" charset="0"/>
              </a:rPr>
              <a:t>Lu</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et</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al.</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2018)</a:t>
            </a:r>
          </a:p>
          <a:p>
            <a:pPr marL="457200" lvl="1" indent="0">
              <a:lnSpc>
                <a:spcPct val="200000"/>
              </a:lnSpc>
              <a:buNone/>
              <a:defRPr/>
            </a:pPr>
            <a:endParaRPr lang="en-US" altLang="zh-CN" sz="2000" dirty="0">
              <a:latin typeface="Times New Roman" panose="02020603050405020304" charset="0"/>
              <a:cs typeface="Times New Roman" panose="02020603050405020304" charset="0"/>
            </a:endParaRPr>
          </a:p>
          <a:p>
            <a:pPr lvl="1">
              <a:lnSpc>
                <a:spcPct val="200000"/>
              </a:lnSpc>
              <a:defRPr/>
            </a:pPr>
            <a:r>
              <a:rPr lang="zh-CN" altLang="en-US" sz="2000" dirty="0">
                <a:latin typeface="Times New Roman" panose="02020603050405020304" charset="0"/>
                <a:cs typeface="Times New Roman" panose="02020603050405020304" charset="0"/>
              </a:rPr>
              <a:t>针对不同的参数采用不同的距离度量和带宽进行估计</a:t>
            </a:r>
            <a:endParaRPr lang="en-US" altLang="zh-CN" sz="2000" dirty="0">
              <a:latin typeface="Times New Roman" panose="02020603050405020304" charset="0"/>
              <a:cs typeface="Times New Roman" panose="02020603050405020304" charset="0"/>
            </a:endParaRPr>
          </a:p>
          <a:p>
            <a:pPr>
              <a:lnSpc>
                <a:spcPct val="200000"/>
              </a:lnSpc>
              <a:defRPr/>
            </a:pPr>
            <a:r>
              <a:rPr lang="en-US" altLang="zh-CN" sz="2400" dirty="0" err="1">
                <a:latin typeface="Times New Roman" panose="02020603050405020304" charset="0"/>
                <a:cs typeface="Times New Roman" panose="02020603050405020304" charset="0"/>
              </a:rPr>
              <a:t>Mutiscale</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GWR</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(FBGWR,</a:t>
            </a:r>
            <a:r>
              <a:rPr lang="zh-CN" altLang="en-US" sz="2400" dirty="0">
                <a:latin typeface="Times New Roman" panose="02020603050405020304" charset="0"/>
                <a:cs typeface="Times New Roman" panose="02020603050405020304" charset="0"/>
              </a:rPr>
              <a:t> </a:t>
            </a:r>
            <a:r>
              <a:rPr lang="en-US" altLang="zh-CN" sz="2400" dirty="0" err="1">
                <a:latin typeface="Times New Roman" panose="02020603050405020304" charset="0"/>
                <a:cs typeface="Times New Roman" panose="02020603050405020304" charset="0"/>
              </a:rPr>
              <a:t>Fortheringham</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et</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al.</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2017)</a:t>
            </a:r>
            <a:endParaRPr lang="zh-CN" altLang="en-US" sz="2400" dirty="0">
              <a:latin typeface="Times New Roman" panose="02020603050405020304" charset="0"/>
              <a:cs typeface="Times New Roman" panose="02020603050405020304" charset="0"/>
            </a:endParaRPr>
          </a:p>
          <a:p>
            <a:pPr>
              <a:lnSpc>
                <a:spcPct val="200000"/>
              </a:lnSpc>
              <a:defRPr/>
            </a:pPr>
            <a:r>
              <a:rPr lang="en-US" sz="2400" dirty="0">
                <a:latin typeface="Times New Roman" panose="02020603050405020304" charset="0"/>
                <a:cs typeface="Times New Roman" panose="02020603050405020304" charset="0"/>
              </a:rPr>
              <a:t>Conditional geographically weighted regression</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(CGWR,</a:t>
            </a:r>
            <a:r>
              <a:rPr lang="zh-CN" altLang="en-US" sz="2400" dirty="0">
                <a:latin typeface="Times New Roman" panose="02020603050405020304" charset="0"/>
                <a:cs typeface="Times New Roman" panose="02020603050405020304" charset="0"/>
              </a:rPr>
              <a:t> </a:t>
            </a:r>
            <a:r>
              <a:rPr lang="en-US" sz="2400" dirty="0">
                <a:latin typeface="Times New Roman" panose="02020603050405020304" charset="0"/>
                <a:cs typeface="Times New Roman" panose="02020603050405020304" charset="0"/>
              </a:rPr>
              <a:t>Leong</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and</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Yue</a:t>
            </a:r>
            <a:r>
              <a:rPr lang="zh-CN" altLang="en-US" sz="2400" dirty="0">
                <a:latin typeface="Times New Roman" panose="02020603050405020304" charset="0"/>
                <a:cs typeface="Times New Roman" panose="02020603050405020304" charset="0"/>
              </a:rPr>
              <a:t> </a:t>
            </a:r>
            <a:r>
              <a:rPr lang="en-US" altLang="zh-CN" sz="2400" dirty="0">
                <a:latin typeface="Times New Roman" panose="02020603050405020304" charset="0"/>
                <a:cs typeface="Times New Roman" panose="02020603050405020304" charset="0"/>
              </a:rPr>
              <a:t>2017)</a:t>
            </a:r>
          </a:p>
          <a:p>
            <a:pPr marL="0" indent="0">
              <a:lnSpc>
                <a:spcPct val="200000"/>
              </a:lnSpc>
              <a:buNone/>
              <a:defRPr/>
            </a:pPr>
            <a:endParaRPr lang="en-US" altLang="zh-CN" sz="2400" dirty="0">
              <a:latin typeface="Times New Roman" panose="02020603050405020304" charset="0"/>
              <a:cs typeface="Times New Roman" panose="02020603050405020304" charset="0"/>
            </a:endParaRPr>
          </a:p>
          <a:p>
            <a:pPr marL="0" indent="0">
              <a:lnSpc>
                <a:spcPct val="200000"/>
              </a:lnSpc>
              <a:buNone/>
              <a:defRPr/>
            </a:pPr>
            <a:endParaRPr lang="en-US" altLang="zh-CN" sz="2400" dirty="0">
              <a:latin typeface="Times New Roman" panose="02020603050405020304" charset="0"/>
              <a:cs typeface="Times New Roman" panose="02020603050405020304" charset="0"/>
            </a:endParaRPr>
          </a:p>
        </p:txBody>
      </p:sp>
      <p:sp>
        <p:nvSpPr>
          <p:cNvPr id="84998" name="Rectangle 2"/>
          <p:cNvSpPr>
            <a:spLocks noChangeArrowheads="1"/>
          </p:cNvSpPr>
          <p:nvPr/>
        </p:nvSpPr>
        <p:spPr bwMode="auto">
          <a:xfrm>
            <a:off x="1679577" y="1697316"/>
            <a:ext cx="154162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defRPr/>
            </a:pPr>
            <a:endParaRPr lang="zh-CN" altLang="en-US" sz="1800">
              <a:latin typeface="Arial" panose="020B0604020202020204" pitchFamily="34" charset="0"/>
            </a:endParaRPr>
          </a:p>
        </p:txBody>
      </p:sp>
      <mc:AlternateContent xmlns:mc="http://schemas.openxmlformats.org/markup-compatibility/2006" xmlns:a14="http://schemas.microsoft.com/office/drawing/2010/main">
        <mc:Choice Requires="a14">
          <p:sp>
            <p:nvSpPr>
              <p:cNvPr id="61446" name="Object 4"/>
              <p:cNvSpPr txBox="1"/>
              <p:nvPr/>
            </p:nvSpPr>
            <p:spPr bwMode="auto">
              <a:xfrm>
                <a:off x="1327150" y="2476500"/>
                <a:ext cx="6475413" cy="746125"/>
              </a:xfrm>
              <a:prstGeom prst="rect">
                <a:avLst/>
              </a:prstGeom>
              <a:noFill/>
              <a:ln>
                <a:noFill/>
              </a:ln>
            </p:spPr>
            <p:txBody>
              <a:bodyPr>
                <a:noAutofit/>
              </a:bodyPr>
              <a:lstStyle/>
              <a:p>
                <a:pPr/>
                <a14:m>
                  <m:oMathPara xmlns:m="http://schemas.openxmlformats.org/officeDocument/2006/math">
                    <m:oMathParaPr>
                      <m:jc m:val="center"/>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𝑦</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𝛽</m:t>
                          </m:r>
                        </m:e>
                        <m:sub>
                          <m:r>
                            <a:rPr lang="zh-CN" altLang="en-US" sz="2000" i="1">
                              <a:solidFill>
                                <a:srgbClr val="000000"/>
                              </a:solidFill>
                              <a:latin typeface="Cambria Math" panose="02040503050406030204" pitchFamily="18" charset="0"/>
                            </a:rPr>
                            <m:t>𝐷</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0</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𝑏</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𝑤</m:t>
                              </m:r>
                            </m:e>
                            <m:sub>
                              <m:r>
                                <a:rPr lang="zh-CN" altLang="en-US" sz="2000" i="1">
                                  <a:solidFill>
                                    <a:srgbClr val="000000"/>
                                  </a:solidFill>
                                  <a:latin typeface="Cambria Math" panose="02040503050406030204" pitchFamily="18" charset="0"/>
                                </a:rPr>
                                <m:t>0</m:t>
                              </m:r>
                            </m:sub>
                          </m:sSub>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nary>
                        <m:naryPr>
                          <m:chr m:val="∑"/>
                          <m:supHide m:val="on"/>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𝑘</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𝑛</m:t>
                          </m:r>
                        </m: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𝛽</m:t>
                              </m:r>
                            </m:e>
                            <m:sub>
                              <m:r>
                                <a:rPr lang="zh-CN" altLang="en-US" sz="2000" i="1">
                                  <a:solidFill>
                                    <a:srgbClr val="000000"/>
                                  </a:solidFill>
                                  <a:latin typeface="Cambria Math" panose="02040503050406030204" pitchFamily="18" charset="0"/>
                                </a:rPr>
                                <m:t>𝐷</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𝑀</m:t>
                                  </m:r>
                                </m:e>
                                <m:sub>
                                  <m:r>
                                    <a:rPr lang="zh-CN" altLang="en-US" sz="2000" i="1">
                                      <a:solidFill>
                                        <a:srgbClr val="000000"/>
                                      </a:solidFill>
                                      <a:latin typeface="Cambria Math" panose="02040503050406030204" pitchFamily="18" charset="0"/>
                                    </a:rPr>
                                    <m:t>𝑘</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𝑏</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𝑤</m:t>
                                  </m:r>
                                </m:e>
                                <m:sub>
                                  <m:r>
                                    <a:rPr lang="zh-CN" altLang="en-US" sz="2000" i="1">
                                      <a:solidFill>
                                        <a:srgbClr val="000000"/>
                                      </a:solidFill>
                                      <a:latin typeface="Cambria Math" panose="02040503050406030204" pitchFamily="18" charset="0"/>
                                    </a:rPr>
                                    <m:t>𝑘</m:t>
                                  </m:r>
                                </m:sub>
                              </m:sSub>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𝑢</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𝑣</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𝑥</m:t>
                              </m:r>
                            </m:e>
                            <m:sub>
                              <m:r>
                                <a:rPr lang="zh-CN" altLang="en-US" sz="2000" i="1">
                                  <a:solidFill>
                                    <a:srgbClr val="000000"/>
                                  </a:solidFill>
                                  <a:latin typeface="Cambria Math" panose="02040503050406030204" pitchFamily="18" charset="0"/>
                                </a:rPr>
                                <m:t>𝑖𝑘</m:t>
                              </m:r>
                            </m:sub>
                          </m:sSub>
                        </m:e>
                      </m:nary>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𝜀</m:t>
                          </m:r>
                        </m:e>
                        <m:sub>
                          <m:r>
                            <a:rPr lang="zh-CN" altLang="en-US" sz="2000" i="1">
                              <a:solidFill>
                                <a:srgbClr val="000000"/>
                              </a:solidFill>
                              <a:latin typeface="Cambria Math" panose="02040503050406030204" pitchFamily="18" charset="0"/>
                            </a:rPr>
                            <m:t>𝑖</m:t>
                          </m:r>
                        </m:sub>
                      </m:sSub>
                    </m:oMath>
                  </m:oMathPara>
                </a14:m>
                <a:endParaRPr lang="zh-CN" altLang="en-US" sz="2000" dirty="0"/>
              </a:p>
            </p:txBody>
          </p:sp>
        </mc:Choice>
        <mc:Fallback xmlns="">
          <p:sp>
            <p:nvSpPr>
              <p:cNvPr id="61446" name="Object 4"/>
              <p:cNvSpPr txBox="1">
                <a:spLocks noRot="1" noChangeAspect="1" noMove="1" noResize="1" noEditPoints="1" noAdjustHandles="1" noChangeArrowheads="1" noChangeShapeType="1" noTextEdit="1"/>
              </p:cNvSpPr>
              <p:nvPr/>
            </p:nvSpPr>
            <p:spPr bwMode="auto">
              <a:xfrm>
                <a:off x="1327150" y="2476500"/>
                <a:ext cx="6475413" cy="746125"/>
              </a:xfrm>
              <a:prstGeom prst="rect">
                <a:avLst/>
              </a:prstGeom>
              <a:blipFill rotWithShape="1">
                <a:blip r:embed="rId3"/>
                <a:stretch>
                  <a:fillRect r="5" b="-936"/>
                </a:stretch>
              </a:blipFill>
              <a:ln>
                <a:noFill/>
              </a:ln>
            </p:spPr>
            <p:txBody>
              <a:bodyPr/>
              <a:lstStyle/>
              <a:p>
                <a:r>
                  <a:rPr lang="zh-CN" altLang="en-US">
                    <a:noFill/>
                  </a:rPr>
                  <a:t> </a:t>
                </a:r>
              </a:p>
            </p:txBody>
          </p:sp>
        </mc:Fallback>
      </mc:AlternateContent>
      <p:sp>
        <p:nvSpPr>
          <p:cNvPr id="8" name="标题 1"/>
          <p:cNvSpPr>
            <a:spLocks noGrp="1"/>
          </p:cNvSpPr>
          <p:nvPr>
            <p:ph type="title"/>
          </p:nvPr>
        </p:nvSpPr>
        <p:spPr>
          <a:xfrm>
            <a:off x="1068387" y="1066800"/>
            <a:ext cx="7007225" cy="663575"/>
          </a:xfrm>
          <a:prstGeom prst="rect">
            <a:avLst/>
          </a:prstGeom>
        </p:spPr>
        <p:txBody>
          <a:bodyPr lIns="0"/>
          <a:lstStyle/>
          <a:p>
            <a:pPr>
              <a:lnSpc>
                <a:spcPct val="120000"/>
              </a:lnSpc>
            </a:pPr>
            <a:r>
              <a:rPr lang="zh-CN" altLang="en-US" sz="2400" dirty="0">
                <a:solidFill>
                  <a:schemeClr val="tx1"/>
                </a:solidFill>
                <a:latin typeface="+mj-ea"/>
                <a:cs typeface="Times New Roman" panose="02020603050405020304" charset="0"/>
              </a:rPr>
              <a:t>多尺度地理加权回归分析</a:t>
            </a:r>
            <a:endParaRPr lang="en-US" altLang="zh-CN" sz="2400" dirty="0">
              <a:solidFill>
                <a:schemeClr val="tx1"/>
              </a:solidFill>
              <a:latin typeface="+mj-ea"/>
              <a:cs typeface="Times New Roman" panose="02020603050405020304" charset="0"/>
            </a:endParaRPr>
          </a:p>
        </p:txBody>
      </p:sp>
      <p:sp>
        <p:nvSpPr>
          <p:cNvPr id="2" name="标题 1">
            <a:extLst>
              <a:ext uri="{FF2B5EF4-FFF2-40B4-BE49-F238E27FC236}">
                <a16:creationId xmlns:a16="http://schemas.microsoft.com/office/drawing/2014/main" id="{01702FD3-961D-8756-062F-BCBD2F39A9B3}"/>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068388" y="1066800"/>
            <a:ext cx="7007225" cy="663575"/>
          </a:xfrm>
          <a:prstGeom prst="rect">
            <a:avLst/>
          </a:prstGeom>
        </p:spPr>
        <p:txBody>
          <a:bodyPr lIns="0"/>
          <a:lstStyle/>
          <a:p>
            <a:pPr>
              <a:lnSpc>
                <a:spcPct val="120000"/>
              </a:lnSpc>
            </a:pPr>
            <a:r>
              <a:rPr lang="en-US" altLang="zh-CN" sz="2400" dirty="0">
                <a:solidFill>
                  <a:schemeClr val="tx1"/>
                </a:solidFill>
                <a:latin typeface="Times New Roman" panose="02020603050405020304" charset="0"/>
                <a:cs typeface="Times New Roman" panose="02020603050405020304" charset="0"/>
              </a:rPr>
              <a:t>Back-fitting procedure</a:t>
            </a:r>
          </a:p>
        </p:txBody>
      </p:sp>
      <p:sp>
        <p:nvSpPr>
          <p:cNvPr id="4" name="灯片编号占位符 3"/>
          <p:cNvSpPr>
            <a:spLocks noGrp="1"/>
          </p:cNvSpPr>
          <p:nvPr>
            <p:ph type="sldNum" sz="quarter" idx="12"/>
          </p:nvPr>
        </p:nvSpPr>
        <p:spPr>
          <a:prstGeom prst="rect">
            <a:avLst/>
          </a:prstGeom>
        </p:spPr>
        <p:txBody>
          <a:bodyPr/>
          <a:lstStyle/>
          <a:p>
            <a:fld id="{FD83B4C4-763A-4B30-8C90-9139DA0EE8E8}" type="slidenum">
              <a:rPr lang="zh-CN" altLang="en-US">
                <a:solidFill>
                  <a:schemeClr val="bg2">
                    <a:lumMod val="75000"/>
                  </a:schemeClr>
                </a:solidFill>
              </a:rPr>
              <a:t>68</a:t>
            </a:fld>
            <a:endParaRPr lang="zh-CN" altLang="en-US" dirty="0">
              <a:solidFill>
                <a:schemeClr val="bg2">
                  <a:lumMod val="75000"/>
                </a:schemeClr>
              </a:solidFill>
            </a:endParaRPr>
          </a:p>
        </p:txBody>
      </p:sp>
      <p:grpSp>
        <p:nvGrpSpPr>
          <p:cNvPr id="2" name="组合 1"/>
          <p:cNvGrpSpPr/>
          <p:nvPr/>
        </p:nvGrpSpPr>
        <p:grpSpPr>
          <a:xfrm>
            <a:off x="238479" y="1628609"/>
            <a:ext cx="4165248" cy="4023364"/>
            <a:chOff x="2400301" y="818119"/>
            <a:chExt cx="4165248" cy="4023364"/>
          </a:xfrm>
        </p:grpSpPr>
        <p:pic>
          <p:nvPicPr>
            <p:cNvPr id="5" name="图片 4"/>
            <p:cNvPicPr>
              <a:picLocks noChangeAspect="1"/>
            </p:cNvPicPr>
            <p:nvPr/>
          </p:nvPicPr>
          <p:blipFill>
            <a:blip r:embed="rId3"/>
            <a:stretch>
              <a:fillRect/>
            </a:stretch>
          </p:blipFill>
          <p:spPr>
            <a:xfrm>
              <a:off x="2400301" y="856215"/>
              <a:ext cx="4165248" cy="3985268"/>
            </a:xfrm>
            <a:prstGeom prst="rect">
              <a:avLst/>
            </a:prstGeom>
          </p:spPr>
        </p:pic>
        <p:sp>
          <p:nvSpPr>
            <p:cNvPr id="8" name="矩形 7"/>
            <p:cNvSpPr/>
            <p:nvPr/>
          </p:nvSpPr>
          <p:spPr>
            <a:xfrm>
              <a:off x="3001963" y="818119"/>
              <a:ext cx="2743200" cy="212015"/>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933701" y="1665998"/>
              <a:ext cx="2895600" cy="239003"/>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4229100" y="3931893"/>
            <a:ext cx="4664075" cy="2228533"/>
            <a:chOff x="2041528" y="4517952"/>
            <a:chExt cx="4664075" cy="2228533"/>
          </a:xfrm>
        </p:grpSpPr>
        <p:pic>
          <p:nvPicPr>
            <p:cNvPr id="7" name="图片 6"/>
            <p:cNvPicPr>
              <a:picLocks noChangeAspect="1"/>
            </p:cNvPicPr>
            <p:nvPr/>
          </p:nvPicPr>
          <p:blipFill rotWithShape="1">
            <a:blip r:embed="rId4"/>
            <a:srcRect l="26764" t="23722" r="26764" b="34296"/>
            <a:stretch>
              <a:fillRect/>
            </a:stretch>
          </p:blipFill>
          <p:spPr>
            <a:xfrm>
              <a:off x="2041528" y="4517952"/>
              <a:ext cx="4664075" cy="2228533"/>
            </a:xfrm>
            <a:prstGeom prst="rect">
              <a:avLst/>
            </a:prstGeom>
          </p:spPr>
        </p:pic>
        <p:sp>
          <p:nvSpPr>
            <p:cNvPr id="13" name="矩形 12"/>
            <p:cNvSpPr/>
            <p:nvPr/>
          </p:nvSpPr>
          <p:spPr>
            <a:xfrm>
              <a:off x="2552702" y="5034449"/>
              <a:ext cx="4152899" cy="1023452"/>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标题 1">
            <a:extLst>
              <a:ext uri="{FF2B5EF4-FFF2-40B4-BE49-F238E27FC236}">
                <a16:creationId xmlns:a16="http://schemas.microsoft.com/office/drawing/2014/main" id="{C7E47A99-6035-3D2E-5C01-EB41F7511EB9}"/>
              </a:ext>
            </a:extLst>
          </p:cNvPr>
          <p:cNvSpPr txBox="1">
            <a:spLocks/>
          </p:cNvSpPr>
          <p:nvPr/>
        </p:nvSpPr>
        <p:spPr>
          <a:xfrm>
            <a:off x="1181101" y="342900"/>
            <a:ext cx="6896099" cy="663575"/>
          </a:xfrm>
          <a:prstGeom prst="rect">
            <a:avLst/>
          </a:prstGeom>
        </p:spPr>
        <p:txBody>
          <a:bodyPr lIns="0"/>
          <a:lstStyle>
            <a:lvl1pPr algn="ctr" rtl="0" eaLnBrk="0" fontAlgn="base" hangingPunct="0">
              <a:spcBef>
                <a:spcPct val="0"/>
              </a:spcBef>
              <a:spcAft>
                <a:spcPct val="0"/>
              </a:spcAft>
              <a:defRPr sz="4400" b="1" kern="1200">
                <a:solidFill>
                  <a:schemeClr val="accent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a:lstStyle>
          <a:p>
            <a:pPr algn="l"/>
            <a:r>
              <a:rPr lang="en-US" altLang="zh-CN" sz="3600">
                <a:latin typeface="Times New Roman" panose="02020603050405020304" charset="0"/>
                <a:cs typeface="Times New Roman" panose="02020603050405020304" charset="0"/>
                <a:sym typeface="Consolas" panose="020B0609020204030204" pitchFamily="49" charset="0"/>
              </a:rPr>
              <a:t>8.4.3 </a:t>
            </a:r>
            <a:r>
              <a:rPr lang="zh-CN" altLang="en-US" sz="3600">
                <a:latin typeface="Times New Roman" panose="02020603050405020304" charset="0"/>
                <a:cs typeface="Times New Roman" panose="02020603050405020304" charset="0"/>
                <a:sym typeface="Consolas" panose="020B0609020204030204" pitchFamily="49" charset="0"/>
              </a:rPr>
              <a:t>地理加权回归</a:t>
            </a:r>
            <a:endParaRPr lang="zh-CN" altLang="en-US" sz="3600" dirty="0">
              <a:latin typeface="Times New Roman" panose="02020603050405020304" charset="0"/>
              <a:cs typeface="Times New Roman" panose="02020603050405020304" charset="0"/>
              <a:sym typeface="Consolas" panose="020B0609020204030204"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pic>
        <p:nvPicPr>
          <p:cNvPr id="2" name="Picture 1"/>
          <p:cNvPicPr>
            <a:picLocks noChangeAspect="1"/>
          </p:cNvPicPr>
          <p:nvPr/>
        </p:nvPicPr>
        <p:blipFill>
          <a:blip r:embed="rId2"/>
          <a:stretch>
            <a:fillRect/>
          </a:stretch>
        </p:blipFill>
        <p:spPr>
          <a:xfrm>
            <a:off x="3770191" y="1641915"/>
            <a:ext cx="4648198" cy="2320485"/>
          </a:xfrm>
          <a:prstGeom prst="rect">
            <a:avLst/>
          </a:prstGeom>
        </p:spPr>
      </p:pic>
      <p:pic>
        <p:nvPicPr>
          <p:cNvPr id="3" name="Picture 2"/>
          <p:cNvPicPr>
            <a:picLocks noChangeAspect="1"/>
          </p:cNvPicPr>
          <p:nvPr/>
        </p:nvPicPr>
        <p:blipFill>
          <a:blip r:embed="rId3"/>
          <a:stretch>
            <a:fillRect/>
          </a:stretch>
        </p:blipFill>
        <p:spPr>
          <a:xfrm>
            <a:off x="3792227" y="3927915"/>
            <a:ext cx="4648198" cy="2320485"/>
          </a:xfrm>
          <a:prstGeom prst="rect">
            <a:avLst/>
          </a:prstGeom>
        </p:spPr>
      </p:pic>
      <p:pic>
        <p:nvPicPr>
          <p:cNvPr id="12" name="图片 4"/>
          <p:cNvPicPr>
            <a:picLocks noChangeAspect="1"/>
          </p:cNvPicPr>
          <p:nvPr/>
        </p:nvPicPr>
        <p:blipFill rotWithShape="1">
          <a:blip r:embed="rId4">
            <a:extLst>
              <a:ext uri="{28A0092B-C50C-407E-A947-70E740481C1C}">
                <a14:useLocalDpi xmlns:a14="http://schemas.microsoft.com/office/drawing/2010/main" val="0"/>
              </a:ext>
            </a:extLst>
          </a:blip>
          <a:srcRect l="5767" t="8333" b="6250"/>
          <a:stretch>
            <a:fillRect/>
          </a:stretch>
        </p:blipFill>
        <p:spPr>
          <a:xfrm>
            <a:off x="1243959" y="1760325"/>
            <a:ext cx="2526232" cy="2083664"/>
          </a:xfrm>
          <a:prstGeom prst="rect">
            <a:avLst/>
          </a:prstGeom>
        </p:spPr>
      </p:pic>
      <p:pic>
        <p:nvPicPr>
          <p:cNvPr id="13" name="图片 5"/>
          <p:cNvPicPr>
            <a:picLocks noChangeAspect="1"/>
          </p:cNvPicPr>
          <p:nvPr/>
        </p:nvPicPr>
        <p:blipFill rotWithShape="1">
          <a:blip r:embed="rId5"/>
          <a:srcRect l="5055" t="8439" b="6144"/>
          <a:stretch>
            <a:fillRect/>
          </a:stretch>
        </p:blipFill>
        <p:spPr>
          <a:xfrm>
            <a:off x="1181100" y="4010357"/>
            <a:ext cx="2633162" cy="2155601"/>
          </a:xfrm>
          <a:prstGeom prst="rect">
            <a:avLst/>
          </a:prstGeom>
        </p:spPr>
      </p:pic>
      <mc:AlternateContent xmlns:mc="http://schemas.openxmlformats.org/markup-compatibility/2006" xmlns:a14="http://schemas.microsoft.com/office/drawing/2010/main">
        <mc:Choice Requires="a14">
          <p:sp>
            <p:nvSpPr>
              <p:cNvPr id="14" name="矩形 6"/>
              <p:cNvSpPr/>
              <p:nvPr/>
            </p:nvSpPr>
            <p:spPr>
              <a:xfrm>
                <a:off x="662413" y="2617491"/>
                <a:ext cx="47557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𝛽</m:t>
                          </m:r>
                        </m:e>
                        <m:sub>
                          <m:r>
                            <a:rPr lang="zh-CN" altLang="en-US">
                              <a:latin typeface="Cambria Math" panose="02040503050406030204" pitchFamily="18" charset="0"/>
                            </a:rPr>
                            <m:t>1</m:t>
                          </m:r>
                        </m:sub>
                      </m:sSub>
                    </m:oMath>
                  </m:oMathPara>
                </a14:m>
                <a:endParaRPr lang="zh-CN" altLang="en-US" dirty="0"/>
              </a:p>
            </p:txBody>
          </p:sp>
        </mc:Choice>
        <mc:Fallback xmlns="">
          <p:sp>
            <p:nvSpPr>
              <p:cNvPr id="14" name="矩形 6"/>
              <p:cNvSpPr>
                <a:spLocks noRot="1" noChangeAspect="1" noMove="1" noResize="1" noEditPoints="1" noAdjustHandles="1" noChangeArrowheads="1" noChangeShapeType="1" noTextEdit="1"/>
              </p:cNvSpPr>
              <p:nvPr/>
            </p:nvSpPr>
            <p:spPr>
              <a:xfrm>
                <a:off x="662413" y="2617491"/>
                <a:ext cx="475579" cy="369332"/>
              </a:xfrm>
              <a:prstGeom prst="rect">
                <a:avLst/>
              </a:prstGeom>
              <a:blipFill rotWithShape="1">
                <a:blip r:embed="rId6"/>
                <a:stretch>
                  <a:fillRect l="-23" t="-6" r="15" b="1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21"/>
              <p:cNvSpPr/>
              <p:nvPr/>
            </p:nvSpPr>
            <p:spPr>
              <a:xfrm>
                <a:off x="555249" y="4903491"/>
                <a:ext cx="48090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𝛽</m:t>
                          </m:r>
                        </m:e>
                        <m:sub>
                          <m:r>
                            <a:rPr lang="en-US" altLang="zh-CN">
                              <a:latin typeface="Cambria Math" panose="02040503050406030204" pitchFamily="18" charset="0"/>
                            </a:rPr>
                            <m:t>2</m:t>
                          </m:r>
                        </m:sub>
                      </m:sSub>
                    </m:oMath>
                  </m:oMathPara>
                </a14:m>
                <a:endParaRPr lang="zh-CN" altLang="en-US" dirty="0"/>
              </a:p>
            </p:txBody>
          </p:sp>
        </mc:Choice>
        <mc:Fallback xmlns="">
          <p:sp>
            <p:nvSpPr>
              <p:cNvPr id="15" name="矩形 21"/>
              <p:cNvSpPr>
                <a:spLocks noRot="1" noChangeAspect="1" noMove="1" noResize="1" noEditPoints="1" noAdjustHandles="1" noChangeArrowheads="1" noChangeShapeType="1" noTextEdit="1"/>
              </p:cNvSpPr>
              <p:nvPr/>
            </p:nvSpPr>
            <p:spPr>
              <a:xfrm>
                <a:off x="555249" y="4903491"/>
                <a:ext cx="480901" cy="369332"/>
              </a:xfrm>
              <a:prstGeom prst="rect">
                <a:avLst/>
              </a:prstGeom>
              <a:blipFill rotWithShape="1">
                <a:blip r:embed="rId7"/>
                <a:stretch>
                  <a:fillRect l="-54" t="-6" r="97" b="113"/>
                </a:stretch>
              </a:blipFill>
            </p:spPr>
            <p:txBody>
              <a:bodyPr/>
              <a:lstStyle/>
              <a:p>
                <a:r>
                  <a:rPr lang="zh-CN" altLang="en-US">
                    <a:noFill/>
                  </a:rPr>
                  <a:t> </a:t>
                </a:r>
              </a:p>
            </p:txBody>
          </p:sp>
        </mc:Fallback>
      </mc:AlternateContent>
      <p:sp>
        <p:nvSpPr>
          <p:cNvPr id="5" name="灯片编号占位符 4"/>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69</a:t>
            </a:fld>
            <a:endParaRPr lang="zh-CN" altLang="en-US">
              <a:solidFill>
                <a:schemeClr val="bg2">
                  <a:lumMod val="75000"/>
                </a:schemeClr>
              </a:solidFill>
            </a:endParaRPr>
          </a:p>
        </p:txBody>
      </p:sp>
      <p:sp>
        <p:nvSpPr>
          <p:cNvPr id="6" name="标题 1">
            <a:extLst>
              <a:ext uri="{FF2B5EF4-FFF2-40B4-BE49-F238E27FC236}">
                <a16:creationId xmlns:a16="http://schemas.microsoft.com/office/drawing/2014/main" id="{AC3C7579-541F-5F42-4B7B-DEE042E62857}"/>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2160511"/>
            <a:ext cx="4114800" cy="4457701"/>
          </a:xfrm>
          <a:prstGeom prst="rect">
            <a:avLst/>
          </a:prstGeom>
          <a:noFill/>
          <a:ln>
            <a:noFill/>
          </a:ln>
        </p:spPr>
      </p:pic>
      <p:sp>
        <p:nvSpPr>
          <p:cNvPr id="3" name="灯片编号占位符 2"/>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70</a:t>
            </a:fld>
            <a:endParaRPr lang="zh-CN" altLang="en-US">
              <a:solidFill>
                <a:schemeClr val="bg2">
                  <a:lumMod val="75000"/>
                </a:schemeClr>
              </a:solidFill>
            </a:endParaRPr>
          </a:p>
        </p:txBody>
      </p:sp>
      <p:sp>
        <p:nvSpPr>
          <p:cNvPr id="2"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sp>
        <p:nvSpPr>
          <p:cNvPr id="6" name="文本框 5"/>
          <p:cNvSpPr txBox="1"/>
          <p:nvPr/>
        </p:nvSpPr>
        <p:spPr>
          <a:xfrm>
            <a:off x="685800" y="1485900"/>
            <a:ext cx="8801100" cy="8258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mgwr.res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gwr.multiscale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Avg_HP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Pop_Den,WHHP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kernel=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bisquare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,adaptive=T)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print(mgwr.res)</a:t>
            </a:r>
            <a:endParaRPr lang="zh-CN" altLang="zh-CN" sz="1200" dirty="0">
              <a:latin typeface="Times New Roman" panose="02020603050405020304" charset="0"/>
              <a:ea typeface="宋体" panose="02010600030101010101" pitchFamily="2" charset="-122"/>
            </a:endParaRPr>
          </a:p>
        </p:txBody>
      </p:sp>
      <p:sp>
        <p:nvSpPr>
          <p:cNvPr id="5" name="标题 1">
            <a:extLst>
              <a:ext uri="{FF2B5EF4-FFF2-40B4-BE49-F238E27FC236}">
                <a16:creationId xmlns:a16="http://schemas.microsoft.com/office/drawing/2014/main" id="{A9427E00-B00A-E52E-6EFA-72207EF3BBF7}"/>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srcRect b="34702"/>
          <a:stretch>
            <a:fillRect/>
          </a:stretch>
        </p:blipFill>
        <p:spPr>
          <a:xfrm>
            <a:off x="607060" y="2667960"/>
            <a:ext cx="3833450" cy="3466140"/>
          </a:xfrm>
          <a:prstGeom prst="rect">
            <a:avLst/>
          </a:prstGeom>
        </p:spPr>
      </p:pic>
      <p:sp>
        <p:nvSpPr>
          <p:cNvPr id="4" name="灯片编号占位符 3"/>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71</a:t>
            </a:fld>
            <a:endParaRPr lang="zh-CN" altLang="en-US">
              <a:solidFill>
                <a:schemeClr val="bg2">
                  <a:lumMod val="75000"/>
                </a:schemeClr>
              </a:solidFill>
            </a:endParaRPr>
          </a:p>
        </p:txBody>
      </p:sp>
      <p:sp>
        <p:nvSpPr>
          <p:cNvPr id="3"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pic>
        <p:nvPicPr>
          <p:cNvPr id="7" name="图片 6"/>
          <p:cNvPicPr/>
          <p:nvPr/>
        </p:nvPicPr>
        <p:blipFill>
          <a:blip r:embed="rId3"/>
          <a:srcRect l="7715" t="65383" r="13951"/>
          <a:stretch>
            <a:fillRect/>
          </a:stretch>
        </p:blipFill>
        <p:spPr>
          <a:xfrm>
            <a:off x="4722792" y="3429960"/>
            <a:ext cx="3672500" cy="2599345"/>
          </a:xfrm>
          <a:prstGeom prst="rect">
            <a:avLst/>
          </a:prstGeom>
        </p:spPr>
      </p:pic>
      <p:sp>
        <p:nvSpPr>
          <p:cNvPr id="8" name="文本框 7"/>
          <p:cNvSpPr txBox="1"/>
          <p:nvPr/>
        </p:nvSpPr>
        <p:spPr>
          <a:xfrm>
            <a:off x="800100" y="1524000"/>
            <a:ext cx="7543800" cy="89287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ct val="150000"/>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require(</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GISTools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ct val="150000"/>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thematic.map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var.names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"residual"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horiz</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000FF"/>
                </a:solidFill>
                <a:latin typeface="Consolas" panose="020B0609020204030204" pitchFamily="49" charset="0"/>
                <a:ea typeface="宋体" panose="02010600030101010101" pitchFamily="2" charset="-122"/>
                <a:cs typeface="宋体" panose="02010600030101010101" pitchFamily="2" charset="-122"/>
              </a:rPr>
              <a:t>FALSE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na.pos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topleft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scaleBar.pos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bottomright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legend.pos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bottomleft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colorStyle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hcl.colors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2" name="标题 1">
            <a:extLst>
              <a:ext uri="{FF2B5EF4-FFF2-40B4-BE49-F238E27FC236}">
                <a16:creationId xmlns:a16="http://schemas.microsoft.com/office/drawing/2014/main" id="{9FB50766-4791-9121-D039-38BD12E6B9F0}"/>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72</a:t>
            </a:fld>
            <a:endParaRPr lang="zh-CN" altLang="en-US" dirty="0">
              <a:solidFill>
                <a:schemeClr val="bg2">
                  <a:lumMod val="75000"/>
                </a:schemeClr>
              </a:solidFill>
            </a:endParaRPr>
          </a:p>
        </p:txBody>
      </p:sp>
      <p:sp>
        <p:nvSpPr>
          <p:cNvPr id="5"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sp>
        <p:nvSpPr>
          <p:cNvPr id="2" name="文本框 1"/>
          <p:cNvSpPr txBox="1"/>
          <p:nvPr/>
        </p:nvSpPr>
        <p:spPr>
          <a:xfrm>
            <a:off x="647700" y="1656946"/>
            <a:ext cx="8801100" cy="440120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which(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pval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Pop_Den_TV_pv</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"Pop_Den.png"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res=</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width=</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height=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18</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unit=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"cm"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shades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auto.shading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cutter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user.cuts,params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7</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,cols=mypalette1)</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choropleth(mgwr.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"grey"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st_geometry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indx.Pop_Den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"black"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lwd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add=T)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choro.legend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545000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3376163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title=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"Est. </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Pop_Den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map.scale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525000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3363000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"Kilometers"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550000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3394566</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0.35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dev.off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which(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pval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Den_POI_TV_pv</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"Den_POI.png"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res=</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width=</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height=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18</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unit=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"cm"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shades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auto.shading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cutter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user.cuts,params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8000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7</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,cols=mypalette1)</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choropleth(mgwr.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"grey"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st_geometry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indx.Den_POI</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"black"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lwd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add=T)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choro.legend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545000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3376163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title=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"Est. </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Den_POI</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map.scale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525000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3363000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"Kilometers"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550000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3394566</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0.35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dev.off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which(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pval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Rev_per_Land_TV_pv</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"Rev_per_Land.png"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res=</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width=</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height=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18</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unit=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"cm"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3" name="标题 1">
            <a:extLst>
              <a:ext uri="{FF2B5EF4-FFF2-40B4-BE49-F238E27FC236}">
                <a16:creationId xmlns:a16="http://schemas.microsoft.com/office/drawing/2014/main" id="{CAFEBC5F-823B-D133-E2E5-84266614A113}"/>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73</a:t>
            </a:fld>
            <a:endParaRPr lang="zh-CN" altLang="en-US" dirty="0">
              <a:solidFill>
                <a:schemeClr val="bg2">
                  <a:lumMod val="75000"/>
                </a:schemeClr>
              </a:solidFill>
            </a:endParaRPr>
          </a:p>
        </p:txBody>
      </p:sp>
      <p:sp>
        <p:nvSpPr>
          <p:cNvPr id="5"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sp>
        <p:nvSpPr>
          <p:cNvPr id="8" name="文本框 7"/>
          <p:cNvSpPr txBox="1"/>
          <p:nvPr/>
        </p:nvSpPr>
        <p:spPr>
          <a:xfrm>
            <a:off x="800100" y="1661593"/>
            <a:ext cx="7543800" cy="437555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shades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auto.shading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cutter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user.cuts,params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0.75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7</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cols=mypalette1)</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choropleth(mgwr.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"grey"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st_geometry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indx.Rev_per_Land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"black"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lwd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add=T)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choro.legend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545000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3376163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title=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"Est. </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Rev_per_Land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map.scale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525000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3363000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"Kilometers"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550000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3394566</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0.35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dev.off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spcAft>
                <a:spcPts val="1200"/>
              </a:spcAft>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 which(</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pval</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GDP_per_Land_TV_pv</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"GDP_per_Land.png"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res=</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width=</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height=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18</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unit=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"cm"</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shades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auto.shading</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cutter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user.cuts,params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0.75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n=</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7</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,cols=mypalette1)</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choropleth(mgwr.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GDP_per_Land</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"grey"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st_geometry</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mgwr.res</a:t>
            </a:r>
            <a:r>
              <a:rPr lang="en-US" altLang="zh-CN" sz="1200" dirty="0" err="1">
                <a:solidFill>
                  <a:srgbClr val="0000FF"/>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SDF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indx.GDP_per_Land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border=</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"black"</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lwd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add=T)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choro.legend</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545000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3376163</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shades, title=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"Est. </a:t>
            </a:r>
            <a:r>
              <a:rPr lang="en-US" altLang="zh-CN" sz="1200" dirty="0" err="1">
                <a:solidFill>
                  <a:srgbClr val="A31515"/>
                </a:solidFill>
                <a:latin typeface="Consolas" panose="020B0609020204030204" pitchFamily="49" charset="0"/>
                <a:ea typeface="宋体" panose="02010600030101010101" pitchFamily="2" charset="-122"/>
                <a:cs typeface="宋体" panose="02010600030101010101" pitchFamily="2" charset="-122"/>
              </a:rPr>
              <a:t>Green_Rate</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map.scale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525000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3363000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"Kilometers"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north.arrow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550000</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3394566</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,km2ft(</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0.35</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),col=</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"white"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dev.off</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
        <p:nvSpPr>
          <p:cNvPr id="2" name="标题 1">
            <a:extLst>
              <a:ext uri="{FF2B5EF4-FFF2-40B4-BE49-F238E27FC236}">
                <a16:creationId xmlns:a16="http://schemas.microsoft.com/office/drawing/2014/main" id="{4C747D04-3B02-4432-E3A4-37B087036291}"/>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rotWithShape="1">
          <a:blip r:embed="rId3" cstate="print">
            <a:extLst>
              <a:ext uri="{28A0092B-C50C-407E-A947-70E740481C1C}">
                <a14:useLocalDpi xmlns:a14="http://schemas.microsoft.com/office/drawing/2010/main" val="0"/>
              </a:ext>
            </a:extLst>
          </a:blip>
          <a:srcRect l="20265" t="13611" r="12677" b="13695"/>
          <a:stretch>
            <a:fillRect/>
          </a:stretch>
        </p:blipFill>
        <p:spPr bwMode="auto">
          <a:xfrm>
            <a:off x="1219200" y="1522825"/>
            <a:ext cx="3276600" cy="2384181"/>
          </a:xfrm>
          <a:prstGeom prst="rect">
            <a:avLst/>
          </a:prstGeom>
          <a:noFill/>
          <a:ln>
            <a:noFill/>
          </a:ln>
        </p:spPr>
      </p:pic>
      <p:pic>
        <p:nvPicPr>
          <p:cNvPr id="5" name="图片 4"/>
          <p:cNvPicPr/>
          <p:nvPr/>
        </p:nvPicPr>
        <p:blipFill rotWithShape="1">
          <a:blip r:embed="rId4" cstate="print">
            <a:extLst>
              <a:ext uri="{28A0092B-C50C-407E-A947-70E740481C1C}">
                <a14:useLocalDpi xmlns:a14="http://schemas.microsoft.com/office/drawing/2010/main" val="0"/>
              </a:ext>
            </a:extLst>
          </a:blip>
          <a:srcRect l="20334" t="13981" r="8723" b="13970"/>
          <a:stretch>
            <a:fillRect/>
          </a:stretch>
        </p:blipFill>
        <p:spPr bwMode="auto">
          <a:xfrm>
            <a:off x="4495800" y="1522822"/>
            <a:ext cx="3048000" cy="2384180"/>
          </a:xfrm>
          <a:prstGeom prst="rect">
            <a:avLst/>
          </a:prstGeom>
          <a:noFill/>
          <a:ln>
            <a:noFill/>
          </a:ln>
        </p:spPr>
      </p:pic>
      <p:pic>
        <p:nvPicPr>
          <p:cNvPr id="6" name="图片 5"/>
          <p:cNvPicPr/>
          <p:nvPr/>
        </p:nvPicPr>
        <p:blipFill rotWithShape="1">
          <a:blip r:embed="rId5" cstate="print">
            <a:extLst>
              <a:ext uri="{28A0092B-C50C-407E-A947-70E740481C1C}">
                <a14:useLocalDpi xmlns:a14="http://schemas.microsoft.com/office/drawing/2010/main" val="0"/>
              </a:ext>
            </a:extLst>
          </a:blip>
          <a:srcRect l="20334" t="13888" r="11652" b="13611"/>
          <a:stretch>
            <a:fillRect/>
          </a:stretch>
        </p:blipFill>
        <p:spPr bwMode="auto">
          <a:xfrm>
            <a:off x="1219200" y="3907003"/>
            <a:ext cx="3276600" cy="2569997"/>
          </a:xfrm>
          <a:prstGeom prst="rect">
            <a:avLst/>
          </a:prstGeom>
          <a:noFill/>
          <a:ln>
            <a:noFill/>
          </a:ln>
        </p:spPr>
      </p:pic>
      <p:pic>
        <p:nvPicPr>
          <p:cNvPr id="7" name="图片 6"/>
          <p:cNvPicPr/>
          <p:nvPr/>
        </p:nvPicPr>
        <p:blipFill rotWithShape="1">
          <a:blip r:embed="rId6" cstate="print">
            <a:extLst>
              <a:ext uri="{28A0092B-C50C-407E-A947-70E740481C1C}">
                <a14:useLocalDpi xmlns:a14="http://schemas.microsoft.com/office/drawing/2010/main" val="0"/>
              </a:ext>
            </a:extLst>
          </a:blip>
          <a:srcRect l="20267" t="13796" r="10793" b="13872"/>
          <a:stretch>
            <a:fillRect/>
          </a:stretch>
        </p:blipFill>
        <p:spPr bwMode="auto">
          <a:xfrm>
            <a:off x="4495800" y="3907001"/>
            <a:ext cx="3048000" cy="2569997"/>
          </a:xfrm>
          <a:prstGeom prst="rect">
            <a:avLst/>
          </a:prstGeom>
          <a:noFill/>
          <a:ln>
            <a:noFill/>
          </a:ln>
        </p:spPr>
      </p:pic>
      <p:sp>
        <p:nvSpPr>
          <p:cNvPr id="3" name="灯片编号占位符 2"/>
          <p:cNvSpPr>
            <a:spLocks noGrp="1"/>
          </p:cNvSpPr>
          <p:nvPr>
            <p:ph type="sldNum" sz="quarter" idx="12"/>
          </p:nvPr>
        </p:nvSpPr>
        <p:spPr>
          <a:prstGeom prst="rect">
            <a:avLst/>
          </a:prstGeom>
        </p:spPr>
        <p:txBody>
          <a:bodyPr/>
          <a:lstStyle/>
          <a:p>
            <a:fld id="{6B3369F9-03CD-4B48-86A9-9EE39A82955A}" type="slidenum">
              <a:rPr lang="zh-CN" altLang="en-US">
                <a:solidFill>
                  <a:schemeClr val="bg2">
                    <a:lumMod val="75000"/>
                  </a:schemeClr>
                </a:solidFill>
              </a:rPr>
              <a:t>74</a:t>
            </a:fld>
            <a:endParaRPr lang="zh-CN" altLang="en-US" dirty="0">
              <a:solidFill>
                <a:schemeClr val="bg2">
                  <a:lumMod val="75000"/>
                </a:schemeClr>
              </a:solidFill>
            </a:endParaRPr>
          </a:p>
        </p:txBody>
      </p:sp>
      <p:sp>
        <p:nvSpPr>
          <p:cNvPr id="2" name="Title 1"/>
          <p:cNvSpPr txBox="1"/>
          <p:nvPr/>
        </p:nvSpPr>
        <p:spPr>
          <a:xfrm>
            <a:off x="2819400" y="1067868"/>
            <a:ext cx="3505200" cy="532332"/>
          </a:xfrm>
          <a:prstGeom prst="rect">
            <a:avLst/>
          </a:prstGeom>
        </p:spPr>
        <p:txBody>
          <a:bodyPr lIns="0"/>
          <a:lstStyle>
            <a:lvl1pPr>
              <a:defRPr sz="3600" b="1">
                <a:solidFill>
                  <a:schemeClr val="accent1"/>
                </a:solidFill>
                <a:latin typeface="+mj-ea"/>
                <a:ea typeface="+mj-ea"/>
                <a:cs typeface="+mj-cs"/>
              </a:defRPr>
            </a:lvl1pPr>
            <a:lvl2pPr algn="ctr">
              <a:defRPr sz="4400">
                <a:latin typeface="Calibri" panose="020F0502020204030204" pitchFamily="34" charset="0"/>
              </a:defRPr>
            </a:lvl2pPr>
            <a:lvl3pPr algn="ctr">
              <a:defRPr sz="4400">
                <a:latin typeface="Calibri" panose="020F0502020204030204" pitchFamily="34" charset="0"/>
              </a:defRPr>
            </a:lvl3pPr>
            <a:lvl4pPr algn="ctr">
              <a:defRPr sz="4400">
                <a:latin typeface="Calibri" panose="020F0502020204030204" pitchFamily="34" charset="0"/>
              </a:defRPr>
            </a:lvl4pPr>
            <a:lvl5pPr algn="ctr">
              <a:defRPr sz="4400">
                <a:latin typeface="Calibri" panose="020F0502020204030204" pitchFamily="34" charset="0"/>
              </a:defRPr>
            </a:lvl5pPr>
            <a:lvl6pPr marL="457200" algn="ctr" fontAlgn="base">
              <a:spcBef>
                <a:spcPct val="0"/>
              </a:spcBef>
              <a:spcAft>
                <a:spcPct val="0"/>
              </a:spcAft>
              <a:defRPr sz="4400">
                <a:latin typeface="Calibri" panose="020F0502020204030204" pitchFamily="34" charset="0"/>
              </a:defRPr>
            </a:lvl6pPr>
            <a:lvl7pPr marL="914400" algn="ctr" fontAlgn="base">
              <a:spcBef>
                <a:spcPct val="0"/>
              </a:spcBef>
              <a:spcAft>
                <a:spcPct val="0"/>
              </a:spcAft>
              <a:defRPr sz="4400">
                <a:latin typeface="Calibri" panose="020F0502020204030204" pitchFamily="34" charset="0"/>
              </a:defRPr>
            </a:lvl7pPr>
            <a:lvl8pPr marL="1371600" algn="ctr" fontAlgn="base">
              <a:spcBef>
                <a:spcPct val="0"/>
              </a:spcBef>
              <a:spcAft>
                <a:spcPct val="0"/>
              </a:spcAft>
              <a:defRPr sz="4400">
                <a:latin typeface="Calibri" panose="020F0502020204030204" pitchFamily="34" charset="0"/>
              </a:defRPr>
            </a:lvl8pPr>
            <a:lvl9pPr marL="1828800" algn="ctr" fontAlgn="base">
              <a:spcBef>
                <a:spcPct val="0"/>
              </a:spcBef>
              <a:spcAft>
                <a:spcPct val="0"/>
              </a:spcAft>
              <a:defRPr sz="4400">
                <a:latin typeface="Calibri" panose="020F0502020204030204" pitchFamily="34" charset="0"/>
              </a:defRPr>
            </a:lvl9pPr>
          </a:lstStyle>
          <a:p>
            <a:pPr algn="ctr"/>
            <a:r>
              <a:rPr lang="zh-CN" altLang="en-US" sz="2400" dirty="0">
                <a:solidFill>
                  <a:schemeClr val="tx1"/>
                </a:solidFill>
                <a:latin typeface="Times New Roman" panose="02020603050405020304" charset="0"/>
                <a:cs typeface="Times New Roman" panose="02020603050405020304" charset="0"/>
              </a:rPr>
              <a:t>多尺度地理加权回归分析</a:t>
            </a:r>
          </a:p>
        </p:txBody>
      </p:sp>
      <p:sp>
        <p:nvSpPr>
          <p:cNvPr id="9" name="标题 1">
            <a:extLst>
              <a:ext uri="{FF2B5EF4-FFF2-40B4-BE49-F238E27FC236}">
                <a16:creationId xmlns:a16="http://schemas.microsoft.com/office/drawing/2014/main" id="{35DB7348-80F8-7D60-E6F0-263319C9E6E4}"/>
              </a:ext>
            </a:extLst>
          </p:cNvPr>
          <p:cNvSpPr>
            <a:spLocks noGrp="1"/>
          </p:cNvSpPr>
          <p:nvPr>
            <p:ph type="title"/>
          </p:nvPr>
        </p:nvSpPr>
        <p:spPr>
          <a:xfrm>
            <a:off x="1181101" y="342900"/>
            <a:ext cx="6896099" cy="663575"/>
          </a:xfrm>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8.4.3 </a:t>
            </a:r>
            <a:r>
              <a:rPr lang="zh-CN" altLang="en-US" sz="3600" dirty="0">
                <a:latin typeface="Times New Roman" panose="02020603050405020304" charset="0"/>
                <a:cs typeface="Times New Roman" panose="02020603050405020304" charset="0"/>
                <a:sym typeface="Consolas" panose="020B0609020204030204" pitchFamily="49" charset="0"/>
              </a:rPr>
              <a:t>地理加权回归</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8.5 </a:t>
            </a:r>
            <a:r>
              <a:rPr lang="zh-CN" altLang="en-US" sz="3600" dirty="0">
                <a:latin typeface="Times New Roman" panose="02020603050405020304" charset="0"/>
                <a:cs typeface="Times New Roman" panose="02020603050405020304" charset="0"/>
                <a:sym typeface="Consolas" panose="020B0609020204030204" pitchFamily="49" charset="0"/>
              </a:rPr>
              <a:t>空间点模式分析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75</a:t>
            </a:fld>
            <a:endParaRPr lang="zh-CN" altLang="en-US">
              <a:solidFill>
                <a:schemeClr val="bg2">
                  <a:lumMod val="75000"/>
                </a:schemeClr>
              </a:solidFill>
              <a:sym typeface="Consolas" panose="020B0609020204030204" pitchFamily="49" charset="0"/>
            </a:endParaRPr>
          </a:p>
        </p:txBody>
      </p:sp>
      <p:sp>
        <p:nvSpPr>
          <p:cNvPr id="11" name="矩形 10"/>
          <p:cNvSpPr/>
          <p:nvPr/>
        </p:nvSpPr>
        <p:spPr>
          <a:xfrm>
            <a:off x="647703" y="1219202"/>
            <a:ext cx="8137525" cy="1289712"/>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空间点模式分析</a:t>
            </a:r>
            <a:r>
              <a:rPr lang="en-US" altLang="zh-CN" dirty="0">
                <a:latin typeface="Times New Roman" panose="02020603050405020304" charset="0"/>
                <a:ea typeface="+mj-ea"/>
                <a:cs typeface="Times New Roman" panose="02020603050405020304" charset="0"/>
                <a:sym typeface="Consolas" panose="020B0609020204030204" pitchFamily="49" charset="0"/>
              </a:rPr>
              <a:t>(Point Pattern Analysis)</a:t>
            </a:r>
            <a:r>
              <a:rPr lang="zh-CN" altLang="en-US" dirty="0">
                <a:latin typeface="Times New Roman" panose="02020603050405020304" charset="0"/>
                <a:ea typeface="+mj-ea"/>
                <a:cs typeface="Times New Roman" panose="02020603050405020304" charset="0"/>
                <a:sym typeface="Consolas" panose="020B0609020204030204" pitchFamily="49" charset="0"/>
              </a:rPr>
              <a:t>通过研究地理空间中点数据的统计分布特征揭示其空间分布结构，探讨空间点位置数据呈现随机分布或某种聚集、分散的模式，在地理学、生态学、流行病学、城市规划等领域均有广泛应用。</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p:txBody>
      </p:sp>
      <p:pic>
        <p:nvPicPr>
          <p:cNvPr id="5" name="图片 4"/>
          <p:cNvPicPr>
            <a:picLocks noChangeAspect="1"/>
          </p:cNvPicPr>
          <p:nvPr/>
        </p:nvPicPr>
        <p:blipFill>
          <a:blip r:embed="rId2"/>
          <a:stretch>
            <a:fillRect/>
          </a:stretch>
        </p:blipFill>
        <p:spPr>
          <a:xfrm>
            <a:off x="1989138" y="2555322"/>
            <a:ext cx="5162549" cy="370229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8.5 </a:t>
            </a:r>
            <a:r>
              <a:rPr lang="zh-CN" altLang="en-US" sz="3600" dirty="0">
                <a:latin typeface="Times New Roman" panose="02020603050405020304" charset="0"/>
                <a:cs typeface="Times New Roman" panose="02020603050405020304" charset="0"/>
                <a:sym typeface="Consolas" panose="020B0609020204030204" pitchFamily="49" charset="0"/>
              </a:rPr>
              <a:t>空间点模式分析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76</a:t>
            </a:fld>
            <a:endParaRPr lang="zh-CN" altLang="en-US" dirty="0">
              <a:solidFill>
                <a:schemeClr val="bg2">
                  <a:lumMod val="75000"/>
                </a:schemeClr>
              </a:solidFill>
              <a:sym typeface="Consolas" panose="020B0609020204030204" pitchFamily="49" charset="0"/>
            </a:endParaRPr>
          </a:p>
        </p:txBody>
      </p:sp>
      <mc:AlternateContent xmlns:mc="http://schemas.openxmlformats.org/markup-compatibility/2006" xmlns:a14="http://schemas.microsoft.com/office/drawing/2010/main">
        <mc:Choice Requires="a14">
          <p:sp>
            <p:nvSpPr>
              <p:cNvPr id="11" name="矩形 10"/>
              <p:cNvSpPr/>
              <p:nvPr/>
            </p:nvSpPr>
            <p:spPr>
              <a:xfrm>
                <a:off x="465136" y="1324054"/>
                <a:ext cx="8213728" cy="4944943"/>
              </a:xfrm>
              <a:prstGeom prst="rect">
                <a:avLst/>
              </a:prstGeom>
            </p:spPr>
            <p:txBody>
              <a:bodyPr wrap="square">
                <a:spAutoFit/>
              </a:bodyPr>
              <a:lstStyle/>
              <a:p>
                <a:pPr indent="457200">
                  <a:lnSpc>
                    <a:spcPct val="20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最近邻分析（</a:t>
                </a:r>
                <a:r>
                  <a:rPr lang="en-US" altLang="zh-CN" dirty="0">
                    <a:latin typeface="Times New Roman" panose="02020603050405020304" charset="0"/>
                    <a:ea typeface="+mj-ea"/>
                    <a:cs typeface="Times New Roman" panose="02020603050405020304" charset="0"/>
                    <a:sym typeface="Consolas" panose="020B0609020204030204" pitchFamily="49" charset="0"/>
                  </a:rPr>
                  <a:t>Nearest Neighbor Analysis</a:t>
                </a:r>
                <a:r>
                  <a:rPr lang="zh-CN" altLang="en-US" dirty="0">
                    <a:latin typeface="Times New Roman" panose="02020603050405020304" charset="0"/>
                    <a:ea typeface="+mj-ea"/>
                    <a:cs typeface="Times New Roman" panose="02020603050405020304" charset="0"/>
                    <a:sym typeface="Consolas" panose="020B0609020204030204" pitchFamily="49" charset="0"/>
                  </a:rPr>
                  <a:t>）：通过计算空间点之间的最近邻距离，判断点分布呈现聚集、分散或随机分布的特征。</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20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20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200000"/>
                  </a:lnSpc>
                </a:pPr>
                <a:r>
                  <a:rPr lang="zh-CN" altLang="zh-CN" dirty="0">
                    <a:latin typeface="Times New Roman" panose="02020603050405020304" charset="0"/>
                    <a:ea typeface="+mj-ea"/>
                    <a:cs typeface="Times New Roman" panose="02020603050405020304" charset="0"/>
                  </a:rPr>
                  <a:t>其中</a:t>
                </a:r>
                <a14:m>
                  <m:oMath xmlns:m="http://schemas.openxmlformats.org/officeDocument/2006/math">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𝑑</m:t>
                        </m:r>
                      </m:e>
                      <m:sub>
                        <m:r>
                          <a:rPr lang="en-US" altLang="zh-CN" i="1">
                            <a:latin typeface="Cambria Math" panose="02040503050406030204" pitchFamily="18" charset="0"/>
                            <a:ea typeface="+mj-ea"/>
                          </a:rPr>
                          <m:t>𝑜𝑏𝑠𝑒𝑟𝑣𝑒𝑑</m:t>
                        </m:r>
                      </m:sub>
                    </m:sSub>
                  </m:oMath>
                </a14:m>
                <a:r>
                  <a:rPr lang="zh-CN" altLang="zh-CN" dirty="0">
                    <a:latin typeface="Times New Roman" panose="02020603050405020304" charset="0"/>
                    <a:ea typeface="+mj-ea"/>
                    <a:cs typeface="Times New Roman" panose="02020603050405020304" charset="0"/>
                  </a:rPr>
                  <a:t>表示最临近距离观测值，</a:t>
                </a:r>
                <a14:m>
                  <m:oMath xmlns:m="http://schemas.openxmlformats.org/officeDocument/2006/math">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𝑑</m:t>
                        </m:r>
                      </m:e>
                      <m:sub>
                        <m:r>
                          <a:rPr lang="en-US" altLang="zh-CN" i="1">
                            <a:latin typeface="Cambria Math" panose="02040503050406030204" pitchFamily="18" charset="0"/>
                            <a:ea typeface="+mj-ea"/>
                          </a:rPr>
                          <m:t>𝑒𝑥𝑝𝑒𝑐𝑡𝑒𝑑</m:t>
                        </m:r>
                      </m:sub>
                    </m:sSub>
                  </m:oMath>
                </a14:m>
                <a:r>
                  <a:rPr lang="zh-CN" altLang="zh-CN" dirty="0">
                    <a:latin typeface="Times New Roman" panose="02020603050405020304" charset="0"/>
                    <a:ea typeface="+mj-ea"/>
                    <a:cs typeface="Times New Roman" panose="02020603050405020304" charset="0"/>
                  </a:rPr>
                  <a:t>表示最临近距离期望值。</a:t>
                </a:r>
                <a:endParaRPr lang="en-US" altLang="zh-CN" dirty="0">
                  <a:latin typeface="Times New Roman" panose="02020603050405020304" charset="0"/>
                  <a:ea typeface="+mj-ea"/>
                  <a:cs typeface="Times New Roman" panose="02020603050405020304" charset="0"/>
                </a:endParaRPr>
              </a:p>
              <a:p>
                <a:pPr marL="285750" indent="360045">
                  <a:lnSpc>
                    <a:spcPct val="200000"/>
                  </a:lnSpc>
                  <a:buFont typeface="Wingdings" panose="05000000000000000000" pitchFamily="2" charset="2"/>
                  <a:buChar char="ü"/>
                </a:pPr>
                <a14:m>
                  <m:oMath xmlns:m="http://schemas.openxmlformats.org/officeDocument/2006/math">
                    <m:r>
                      <a:rPr lang="en-US" altLang="zh-CN" i="1">
                        <a:latin typeface="Cambria Math" panose="02040503050406030204" pitchFamily="18" charset="0"/>
                        <a:ea typeface="+mj-ea"/>
                      </a:rPr>
                      <m:t>𝑅</m:t>
                    </m:r>
                    <m:r>
                      <a:rPr lang="en-US" altLang="zh-CN" i="1">
                        <a:latin typeface="Cambria Math" panose="02040503050406030204" pitchFamily="18" charset="0"/>
                        <a:ea typeface="+mj-ea"/>
                      </a:rPr>
                      <m:t>=1</m:t>
                    </m:r>
                  </m:oMath>
                </a14:m>
                <a:r>
                  <a:rPr lang="zh-CN" altLang="zh-CN" dirty="0">
                    <a:latin typeface="Times New Roman" panose="02020603050405020304" charset="0"/>
                    <a:ea typeface="+mj-ea"/>
                    <a:cs typeface="Times New Roman" panose="02020603050405020304" charset="0"/>
                  </a:rPr>
                  <a:t>表示空间点随机分布</a:t>
                </a:r>
                <a:r>
                  <a:rPr lang="zh-CN" altLang="en-US" dirty="0">
                    <a:latin typeface="Times New Roman" panose="02020603050405020304" charset="0"/>
                    <a:ea typeface="+mj-ea"/>
                    <a:cs typeface="Times New Roman" panose="02020603050405020304" charset="0"/>
                  </a:rPr>
                  <a:t>；</a:t>
                </a:r>
                <a:endParaRPr lang="en-US" altLang="zh-CN" i="1" dirty="0">
                  <a:latin typeface="Times New Roman" panose="02020603050405020304" charset="0"/>
                  <a:ea typeface="+mj-ea"/>
                  <a:cs typeface="Times New Roman" panose="02020603050405020304" charset="0"/>
                </a:endParaRPr>
              </a:p>
              <a:p>
                <a:pPr marL="285750" indent="360045">
                  <a:lnSpc>
                    <a:spcPct val="200000"/>
                  </a:lnSpc>
                  <a:buFont typeface="Wingdings" panose="05000000000000000000" pitchFamily="2" charset="2"/>
                  <a:buChar char="ü"/>
                </a:pPr>
                <a14:m>
                  <m:oMath xmlns:m="http://schemas.openxmlformats.org/officeDocument/2006/math">
                    <m:r>
                      <a:rPr lang="en-US" altLang="zh-CN" i="1">
                        <a:latin typeface="Cambria Math" panose="02040503050406030204" pitchFamily="18" charset="0"/>
                        <a:ea typeface="+mj-ea"/>
                      </a:rPr>
                      <m:t>𝑅</m:t>
                    </m:r>
                    <m:r>
                      <a:rPr lang="en-US" altLang="zh-CN" i="1">
                        <a:latin typeface="Cambria Math" panose="02040503050406030204" pitchFamily="18" charset="0"/>
                        <a:ea typeface="+mj-ea"/>
                      </a:rPr>
                      <m:t>&lt;1</m:t>
                    </m:r>
                  </m:oMath>
                </a14:m>
                <a:r>
                  <a:rPr lang="zh-CN" altLang="zh-CN" dirty="0">
                    <a:latin typeface="Times New Roman" panose="02020603050405020304" charset="0"/>
                    <a:ea typeface="+mj-ea"/>
                    <a:cs typeface="Times New Roman" panose="02020603050405020304" charset="0"/>
                  </a:rPr>
                  <a:t>表示最近邻距离小于随机分布下的期望值，呈现聚集分布</a:t>
                </a:r>
                <a:r>
                  <a:rPr lang="zh-CN" altLang="en-US" dirty="0">
                    <a:latin typeface="Times New Roman" panose="02020603050405020304" charset="0"/>
                    <a:ea typeface="+mj-ea"/>
                    <a:cs typeface="Times New Roman" panose="02020603050405020304" charset="0"/>
                  </a:rPr>
                  <a:t>；</a:t>
                </a:r>
                <a:endParaRPr lang="en-US" altLang="zh-CN" i="1" dirty="0">
                  <a:latin typeface="Times New Roman" panose="02020603050405020304" charset="0"/>
                  <a:ea typeface="+mj-ea"/>
                  <a:cs typeface="Times New Roman" panose="02020603050405020304" charset="0"/>
                </a:endParaRPr>
              </a:p>
              <a:p>
                <a:pPr marL="285750" indent="360045">
                  <a:lnSpc>
                    <a:spcPct val="200000"/>
                  </a:lnSpc>
                  <a:buFont typeface="Wingdings" panose="05000000000000000000" pitchFamily="2" charset="2"/>
                  <a:buChar char="ü"/>
                </a:pPr>
                <a14:m>
                  <m:oMath xmlns:m="http://schemas.openxmlformats.org/officeDocument/2006/math">
                    <m:r>
                      <a:rPr lang="en-US" altLang="zh-CN" i="1">
                        <a:latin typeface="Cambria Math" panose="02040503050406030204" pitchFamily="18" charset="0"/>
                        <a:ea typeface="+mj-ea"/>
                      </a:rPr>
                      <m:t>𝑅</m:t>
                    </m:r>
                    <m:r>
                      <a:rPr lang="en-US" altLang="zh-CN" i="1">
                        <a:latin typeface="Cambria Math" panose="02040503050406030204" pitchFamily="18" charset="0"/>
                        <a:ea typeface="+mj-ea"/>
                      </a:rPr>
                      <m:t>&gt;1</m:t>
                    </m:r>
                  </m:oMath>
                </a14:m>
                <a:r>
                  <a:rPr lang="zh-CN" altLang="zh-CN" dirty="0">
                    <a:latin typeface="Times New Roman" panose="02020603050405020304" charset="0"/>
                    <a:ea typeface="+mj-ea"/>
                    <a:cs typeface="Times New Roman" panose="02020603050405020304" charset="0"/>
                  </a:rPr>
                  <a:t>表示最近邻距离大于随机分布下的期望值，呈现离散分布。</a:t>
                </a:r>
              </a:p>
              <a:p>
                <a:pPr>
                  <a:lnSpc>
                    <a:spcPct val="150000"/>
                  </a:lnSpc>
                </a:pPr>
                <a:endPar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465136" y="1324054"/>
                <a:ext cx="8213728" cy="4944943"/>
              </a:xfrm>
              <a:prstGeom prst="rect">
                <a:avLst/>
              </a:prstGeom>
              <a:blipFill rotWithShape="1">
                <a:blip r:embed="rId2"/>
                <a:stretch>
                  <a:fillRect l="-4" t="-2" r="4" b="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339515" y="2621694"/>
                <a:ext cx="2464970" cy="912301"/>
              </a:xfrm>
              <a:prstGeom prst="rect">
                <a:avLst/>
              </a:prstGeom>
            </p:spPr>
            <p:txBody>
              <a:bodyPr wrap="none">
                <a:spAutoFit/>
              </a:bodyPr>
              <a:lstStyle/>
              <a:p>
                <a14:m>
                  <m:oMath xmlns:m="http://schemas.openxmlformats.org/officeDocument/2006/math">
                    <m:r>
                      <a:rPr lang="en-US" altLang="zh-CN" sz="3200" i="1" kern="0">
                        <a:latin typeface="Cambria Math" panose="02040503050406030204" pitchFamily="18" charset="0"/>
                        <a:cs typeface="Times New Roman" panose="02020603050405020304" charset="0"/>
                      </a:rPr>
                      <m:t>𝑅</m:t>
                    </m:r>
                    <m:r>
                      <a:rPr lang="en-US" altLang="zh-CN" sz="3200" i="1" kern="0">
                        <a:latin typeface="Cambria Math" panose="02040503050406030204" pitchFamily="18" charset="0"/>
                        <a:cs typeface="Times New Roman" panose="02020603050405020304" charset="0"/>
                      </a:rPr>
                      <m:t>=</m:t>
                    </m:r>
                    <m:f>
                      <m:fPr>
                        <m:ctrlPr>
                          <a:rPr lang="zh-CN" altLang="zh-CN" sz="3200" i="1">
                            <a:latin typeface="Cambria Math" panose="02040503050406030204" pitchFamily="18" charset="0"/>
                            <a:ea typeface="Cambria Math" panose="02040503050406030204" pitchFamily="18" charset="0"/>
                          </a:rPr>
                        </m:ctrlPr>
                      </m:fPr>
                      <m:num>
                        <m:sSub>
                          <m:sSubPr>
                            <m:ctrlPr>
                              <a:rPr lang="zh-CN" altLang="zh-CN" sz="3200" i="1">
                                <a:latin typeface="Cambria Math" panose="02040503050406030204" pitchFamily="18" charset="0"/>
                                <a:ea typeface="Cambria Math" panose="02040503050406030204" pitchFamily="18" charset="0"/>
                              </a:rPr>
                            </m:ctrlPr>
                          </m:sSubPr>
                          <m:e>
                            <m:r>
                              <a:rPr lang="en-US" altLang="zh-CN" sz="3200" i="1" kern="0">
                                <a:latin typeface="Cambria Math" panose="02040503050406030204" pitchFamily="18" charset="0"/>
                                <a:cs typeface="Times New Roman" panose="02020603050405020304" charset="0"/>
                              </a:rPr>
                              <m:t>𝑑</m:t>
                            </m:r>
                          </m:e>
                          <m:sub>
                            <m:r>
                              <a:rPr lang="en-US" altLang="zh-CN" sz="3200" i="1" kern="0">
                                <a:latin typeface="Cambria Math" panose="02040503050406030204" pitchFamily="18" charset="0"/>
                                <a:cs typeface="Times New Roman" panose="02020603050405020304" charset="0"/>
                              </a:rPr>
                              <m:t>𝑜𝑏𝑠𝑒𝑟𝑣𝑒𝑑</m:t>
                            </m:r>
                          </m:sub>
                        </m:sSub>
                      </m:num>
                      <m:den>
                        <m:sSub>
                          <m:sSubPr>
                            <m:ctrlPr>
                              <a:rPr lang="zh-CN" altLang="zh-CN" sz="3200" i="1">
                                <a:latin typeface="Cambria Math" panose="02040503050406030204" pitchFamily="18" charset="0"/>
                                <a:ea typeface="Cambria Math" panose="02040503050406030204" pitchFamily="18" charset="0"/>
                              </a:rPr>
                            </m:ctrlPr>
                          </m:sSubPr>
                          <m:e>
                            <m:r>
                              <a:rPr lang="en-US" altLang="zh-CN" sz="3200" i="1" kern="0">
                                <a:latin typeface="Cambria Math" panose="02040503050406030204" pitchFamily="18" charset="0"/>
                                <a:cs typeface="Times New Roman" panose="02020603050405020304" charset="0"/>
                              </a:rPr>
                              <m:t>𝑑</m:t>
                            </m:r>
                          </m:e>
                          <m:sub>
                            <m:r>
                              <a:rPr lang="en-US" altLang="zh-CN" sz="3200" i="1" kern="0">
                                <a:latin typeface="Cambria Math" panose="02040503050406030204" pitchFamily="18" charset="0"/>
                                <a:cs typeface="Times New Roman" panose="02020603050405020304" charset="0"/>
                              </a:rPr>
                              <m:t>𝑒𝑥𝑝𝑒𝑐𝑡𝑒𝑑</m:t>
                            </m:r>
                          </m:sub>
                        </m:sSub>
                      </m:den>
                    </m:f>
                  </m:oMath>
                </a14:m>
                <a:r>
                  <a:rPr lang="en-US" altLang="zh-CN" sz="3200" kern="0" dirty="0">
                    <a:latin typeface="Times New Roman" panose="02020603050405020304" charset="0"/>
                    <a:cs typeface="Times New Roman" panose="02020603050405020304" charset="0"/>
                  </a:rPr>
                  <a:t> </a:t>
                </a:r>
                <a:endParaRPr lang="zh-CN" altLang="en-US" sz="3200" dirty="0">
                  <a:latin typeface="Times New Roman" panose="02020603050405020304" charset="0"/>
                  <a:cs typeface="Times New Roman" panose="02020603050405020304"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3339515" y="2621694"/>
                <a:ext cx="2464970" cy="912301"/>
              </a:xfrm>
              <a:prstGeom prst="rect">
                <a:avLst/>
              </a:prstGeom>
              <a:blipFill rotWithShape="1">
                <a:blip r:embed="rId3"/>
                <a:stretch>
                  <a:fillRect l="-2" t="-45" r="-2965" b="24"/>
                </a:stretch>
              </a:blipFill>
            </p:spPr>
            <p:txBody>
              <a:bodyPr/>
              <a:lstStyle/>
              <a:p>
                <a:r>
                  <a:rPr lang="zh-CN" altLang="en-US">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p:nvPr/>
        </p:nvPicPr>
        <p:blipFill rotWithShape="1">
          <a:blip r:embed="rId2"/>
          <a:srcRect t="12135" b="10403"/>
          <a:stretch>
            <a:fillRect/>
          </a:stretch>
        </p:blipFill>
        <p:spPr bwMode="auto">
          <a:xfrm>
            <a:off x="2479357" y="1219200"/>
            <a:ext cx="4182111" cy="3239771"/>
          </a:xfrm>
          <a:prstGeom prst="rect">
            <a:avLst/>
          </a:prstGeom>
          <a:ln>
            <a:noFill/>
          </a:ln>
        </p:spPr>
      </p:pic>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8.5 </a:t>
            </a:r>
            <a:r>
              <a:rPr lang="zh-CN" altLang="en-US" sz="3600" dirty="0">
                <a:latin typeface="Times New Roman" panose="02020603050405020304" charset="0"/>
                <a:cs typeface="Times New Roman" panose="02020603050405020304" charset="0"/>
                <a:sym typeface="Consolas" panose="020B0609020204030204" pitchFamily="49" charset="0"/>
              </a:rPr>
              <a:t>空间点模式分析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77</a:t>
            </a:fld>
            <a:endParaRPr lang="zh-CN" altLang="en-US" dirty="0">
              <a:solidFill>
                <a:schemeClr val="bg2">
                  <a:lumMod val="75000"/>
                </a:schemeClr>
              </a:solidFill>
              <a:sym typeface="Consolas" panose="020B0609020204030204" pitchFamily="49" charset="0"/>
            </a:endParaRPr>
          </a:p>
        </p:txBody>
      </p:sp>
      <mc:AlternateContent xmlns:mc="http://schemas.openxmlformats.org/markup-compatibility/2006" xmlns:a14="http://schemas.microsoft.com/office/drawing/2010/main">
        <mc:Choice Requires="a14">
          <p:sp>
            <p:nvSpPr>
              <p:cNvPr id="8" name="矩形 7"/>
              <p:cNvSpPr/>
              <p:nvPr/>
            </p:nvSpPr>
            <p:spPr>
              <a:xfrm>
                <a:off x="5105400" y="5797813"/>
                <a:ext cx="2857500" cy="369332"/>
              </a:xfrm>
              <a:prstGeom prst="rect">
                <a:avLst/>
              </a:prstGeom>
            </p:spPr>
            <p:txBody>
              <a:bodyPr wrap="square">
                <a:spAutoFit/>
              </a:bodyPr>
              <a:lstStyle/>
              <a:p>
                <a:r>
                  <a:rPr lang="zh-CN" altLang="zh-CN" kern="0" dirty="0">
                    <a:latin typeface="Times New Roman" panose="02020603050405020304" charset="0"/>
                    <a:ea typeface="宋体" panose="02010600030101010101" pitchFamily="2" charset="-122"/>
                    <a:cs typeface="Times New Roman" panose="02020603050405020304" charset="0"/>
                  </a:rPr>
                  <a:t>最近邻比值</a:t>
                </a:r>
                <a14:m>
                  <m:oMath xmlns:m="http://schemas.openxmlformats.org/officeDocument/2006/math">
                    <m:r>
                      <a:rPr lang="en-US" altLang="zh-CN" i="1" kern="0">
                        <a:latin typeface="Cambria Math" panose="02040503050406030204" pitchFamily="18" charset="0"/>
                        <a:ea typeface="宋体" panose="02010600030101010101" pitchFamily="2" charset="-122"/>
                        <a:cs typeface="Times New Roman" panose="02020603050405020304" charset="0"/>
                      </a:rPr>
                      <m:t>𝑅</m:t>
                    </m:r>
                  </m:oMath>
                </a14:m>
                <a:r>
                  <a:rPr lang="zh-CN" altLang="zh-CN" kern="0" dirty="0">
                    <a:latin typeface="Times New Roman" panose="02020603050405020304" charset="0"/>
                    <a:ea typeface="宋体" panose="02010600030101010101" pitchFamily="2" charset="-122"/>
                    <a:cs typeface="Times New Roman" panose="02020603050405020304" charset="0"/>
                  </a:rPr>
                  <a:t>为</a:t>
                </a:r>
                <a:r>
                  <a:rPr lang="en-US" altLang="zh-CN" kern="0" dirty="0">
                    <a:latin typeface="Times New Roman" panose="02020603050405020304" charset="0"/>
                    <a:ea typeface="宋体" panose="02010600030101010101" pitchFamily="2" charset="-122"/>
                  </a:rPr>
                  <a:t>0.8620639</a:t>
                </a:r>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5105400" y="5797813"/>
                <a:ext cx="2857500" cy="369332"/>
              </a:xfrm>
              <a:prstGeom prst="rect">
                <a:avLst/>
              </a:prstGeom>
              <a:blipFill rotWithShape="1">
                <a:blip r:embed="rId3"/>
                <a:stretch>
                  <a:fillRect t="-71" b="7"/>
                </a:stretch>
              </a:blipFill>
            </p:spPr>
            <p:txBody>
              <a:bodyPr/>
              <a:lstStyle/>
              <a:p>
                <a:r>
                  <a:rPr lang="zh-CN" altLang="en-US">
                    <a:noFill/>
                  </a:rPr>
                  <a:t> </a:t>
                </a:r>
              </a:p>
            </p:txBody>
          </p:sp>
        </mc:Fallback>
      </mc:AlternateContent>
      <p:sp>
        <p:nvSpPr>
          <p:cNvPr id="3" name="文本框 2"/>
          <p:cNvSpPr txBox="1"/>
          <p:nvPr/>
        </p:nvSpPr>
        <p:spPr>
          <a:xfrm>
            <a:off x="798512" y="4568746"/>
            <a:ext cx="7543800" cy="152862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WHHP_centroids_ppp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as.ppp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st_coordinates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W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as.owin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st_bbox</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nearest_neighbor_distances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nndist</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WHHP_centroids_ppp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mean_nn_distance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mean(</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nearest_neighbor_distances</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lambda &lt;- intensity(</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WHHP_centroids_ppp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expected_nn_distance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&lt;-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sqrt(lambda))</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R &lt;-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mean_nn_distance</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expected_nn_distance</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a:t>
            </a:r>
            <a:r>
              <a:rPr lang="zh-CN"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最近邻比值</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 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R, </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8.5 </a:t>
            </a:r>
            <a:r>
              <a:rPr lang="zh-CN" altLang="en-US" sz="3600" dirty="0">
                <a:latin typeface="Times New Roman" panose="02020603050405020304" charset="0"/>
                <a:cs typeface="Times New Roman" panose="02020603050405020304" charset="0"/>
                <a:sym typeface="Consolas" panose="020B0609020204030204" pitchFamily="49" charset="0"/>
              </a:rPr>
              <a:t>空间点模式分析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78</a:t>
            </a:fld>
            <a:endParaRPr lang="zh-CN" altLang="en-US" dirty="0">
              <a:solidFill>
                <a:schemeClr val="bg2">
                  <a:lumMod val="75000"/>
                </a:schemeClr>
              </a:solidFill>
              <a:sym typeface="Consolas" panose="020B0609020204030204" pitchFamily="49" charset="0"/>
            </a:endParaRPr>
          </a:p>
        </p:txBody>
      </p:sp>
      <mc:AlternateContent xmlns:mc="http://schemas.openxmlformats.org/markup-compatibility/2006" xmlns:a14="http://schemas.microsoft.com/office/drawing/2010/main">
        <mc:Choice Requires="a14">
          <p:sp>
            <p:nvSpPr>
              <p:cNvPr id="11" name="矩形 10"/>
              <p:cNvSpPr/>
              <p:nvPr/>
            </p:nvSpPr>
            <p:spPr>
              <a:xfrm>
                <a:off x="609600" y="1412016"/>
                <a:ext cx="7924797" cy="3883884"/>
              </a:xfrm>
              <a:prstGeom prst="rect">
                <a:avLst/>
              </a:prstGeom>
            </p:spPr>
            <p:txBody>
              <a:bodyPr wrap="square">
                <a:spAutoFit/>
              </a:bodyPr>
              <a:lstStyle/>
              <a:p>
                <a:pPr indent="457200">
                  <a:lnSpc>
                    <a:spcPct val="150000"/>
                  </a:lnSpc>
                </a:pPr>
                <a:r>
                  <a:rPr lang="zh-CN" altLang="en-US" dirty="0">
                    <a:latin typeface="Times New Roman" panose="02020603050405020304" charset="0"/>
                    <a:ea typeface="+mj-ea"/>
                    <a:cs typeface="Times New Roman" panose="02020603050405020304" charset="0"/>
                    <a:sym typeface="Consolas" panose="020B0609020204030204" pitchFamily="49" charset="0"/>
                  </a:rPr>
                  <a:t>多距离空间聚类分析</a:t>
                </a:r>
                <a:r>
                  <a:rPr lang="en-US" altLang="zh-CN" dirty="0">
                    <a:latin typeface="Times New Roman" panose="02020603050405020304" charset="0"/>
                    <a:ea typeface="+mj-ea"/>
                    <a:cs typeface="Times New Roman" panose="02020603050405020304" charset="0"/>
                    <a:sym typeface="Consolas" panose="020B0609020204030204" pitchFamily="49" charset="0"/>
                  </a:rPr>
                  <a:t>(Ripley’s K-function)</a:t>
                </a:r>
                <a:r>
                  <a:rPr lang="zh-CN" altLang="en-US" dirty="0">
                    <a:latin typeface="Times New Roman" panose="02020603050405020304" charset="0"/>
                    <a:ea typeface="+mj-ea"/>
                    <a:cs typeface="Times New Roman" panose="02020603050405020304" charset="0"/>
                    <a:sym typeface="Consolas" panose="020B0609020204030204" pitchFamily="49" charset="0"/>
                  </a:rPr>
                  <a:t>：通过不同距离下描述研究区域内空间点的聚集性或离散性特征。</a:t>
                </a: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endParaRPr lang="en-US" altLang="zh-CN" dirty="0">
                  <a:latin typeface="Times New Roman" panose="02020603050405020304" charset="0"/>
                  <a:ea typeface="+mj-ea"/>
                  <a:cs typeface="Times New Roman" panose="02020603050405020304" charset="0"/>
                  <a:sym typeface="Consolas" panose="020B0609020204030204" pitchFamily="49" charset="0"/>
                </a:endParaRPr>
              </a:p>
              <a:p>
                <a:pPr indent="457200">
                  <a:lnSpc>
                    <a:spcPct val="150000"/>
                  </a:lnSpc>
                </a:pPr>
                <a:r>
                  <a:rPr lang="zh-CN" altLang="zh-CN" dirty="0">
                    <a:latin typeface="Times New Roman" panose="02020603050405020304" charset="0"/>
                    <a:ea typeface="+mj-ea"/>
                    <a:cs typeface="Times New Roman" panose="02020603050405020304" charset="0"/>
                  </a:rPr>
                  <a:t>其中</a:t>
                </a:r>
                <a14:m>
                  <m:oMath xmlns:m="http://schemas.openxmlformats.org/officeDocument/2006/math">
                    <m:r>
                      <a:rPr lang="en-US" altLang="zh-CN" i="1">
                        <a:latin typeface="Cambria Math" panose="02040503050406030204" pitchFamily="18" charset="0"/>
                        <a:ea typeface="+mj-ea"/>
                      </a:rPr>
                      <m:t>𝐴</m:t>
                    </m:r>
                  </m:oMath>
                </a14:m>
                <a:r>
                  <a:rPr lang="zh-CN" altLang="zh-CN" dirty="0">
                    <a:latin typeface="Times New Roman" panose="02020603050405020304" charset="0"/>
                    <a:ea typeface="+mj-ea"/>
                    <a:cs typeface="Times New Roman" panose="02020603050405020304" charset="0"/>
                  </a:rPr>
                  <a:t>表示研究区域面积，</a:t>
                </a:r>
                <a14:m>
                  <m:oMath xmlns:m="http://schemas.openxmlformats.org/officeDocument/2006/math">
                    <m:r>
                      <a:rPr lang="en-US" altLang="zh-CN" i="1">
                        <a:latin typeface="Cambria Math" panose="02040503050406030204" pitchFamily="18" charset="0"/>
                        <a:ea typeface="+mj-ea"/>
                      </a:rPr>
                      <m:t>𝑛</m:t>
                    </m:r>
                  </m:oMath>
                </a14:m>
                <a:r>
                  <a:rPr lang="zh-CN" altLang="zh-CN" dirty="0">
                    <a:latin typeface="Times New Roman" panose="02020603050405020304" charset="0"/>
                    <a:ea typeface="+mj-ea"/>
                    <a:cs typeface="Times New Roman" panose="02020603050405020304" charset="0"/>
                  </a:rPr>
                  <a:t>为点数量，</a:t>
                </a:r>
                <a14:m>
                  <m:oMath xmlns:m="http://schemas.openxmlformats.org/officeDocument/2006/math">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𝑑</m:t>
                        </m:r>
                      </m:e>
                      <m:sub>
                        <m:r>
                          <a:rPr lang="en-US" altLang="zh-CN" i="1">
                            <a:latin typeface="Cambria Math" panose="02040503050406030204" pitchFamily="18" charset="0"/>
                            <a:ea typeface="+mj-ea"/>
                          </a:rPr>
                          <m:t>𝑖𝑗</m:t>
                        </m:r>
                      </m:sub>
                    </m:sSub>
                  </m:oMath>
                </a14:m>
                <a:r>
                  <a:rPr lang="zh-CN" altLang="zh-CN" dirty="0">
                    <a:latin typeface="Times New Roman" panose="02020603050405020304" charset="0"/>
                    <a:ea typeface="+mj-ea"/>
                    <a:cs typeface="Times New Roman" panose="02020603050405020304" charset="0"/>
                  </a:rPr>
                  <a:t>为第</a:t>
                </a:r>
                <a:r>
                  <a:rPr lang="en-US" altLang="zh-CN" dirty="0">
                    <a:latin typeface="Times New Roman" panose="02020603050405020304" charset="0"/>
                    <a:ea typeface="+mj-ea"/>
                    <a:cs typeface="Times New Roman" panose="02020603050405020304" charset="0"/>
                  </a:rPr>
                  <a:t>𝑖 </a:t>
                </a:r>
                <a:r>
                  <a:rPr lang="zh-CN" altLang="zh-CN" dirty="0">
                    <a:latin typeface="Times New Roman" panose="02020603050405020304" charset="0"/>
                    <a:ea typeface="+mj-ea"/>
                    <a:cs typeface="Times New Roman" panose="02020603050405020304" charset="0"/>
                  </a:rPr>
                  <a:t>个点与第</a:t>
                </a:r>
                <a:r>
                  <a:rPr lang="en-US" altLang="zh-CN" dirty="0">
                    <a:latin typeface="Times New Roman" panose="02020603050405020304" charset="0"/>
                    <a:ea typeface="+mj-ea"/>
                    <a:cs typeface="Times New Roman" panose="02020603050405020304" charset="0"/>
                  </a:rPr>
                  <a:t>𝑗 </a:t>
                </a:r>
                <a:r>
                  <a:rPr lang="zh-CN" altLang="zh-CN" dirty="0">
                    <a:latin typeface="Times New Roman" panose="02020603050405020304" charset="0"/>
                    <a:ea typeface="+mj-ea"/>
                    <a:cs typeface="Times New Roman" panose="02020603050405020304" charset="0"/>
                  </a:rPr>
                  <a:t>个点之间的距离，</a:t>
                </a:r>
                <a14:m>
                  <m:oMath xmlns:m="http://schemas.openxmlformats.org/officeDocument/2006/math">
                    <m:r>
                      <a:rPr lang="en-US" altLang="zh-CN" i="1">
                        <a:latin typeface="Cambria Math" panose="02040503050406030204" pitchFamily="18" charset="0"/>
                        <a:ea typeface="+mj-ea"/>
                      </a:rPr>
                      <m:t>𝐼</m:t>
                    </m:r>
                    <m:d>
                      <m:dPr>
                        <m:ctrlPr>
                          <a:rPr lang="zh-CN" altLang="zh-CN" i="1">
                            <a:latin typeface="Cambria Math" panose="02040503050406030204" pitchFamily="18" charset="0"/>
                            <a:ea typeface="+mj-ea"/>
                          </a:rPr>
                        </m:ctrlPr>
                      </m:dPr>
                      <m:e>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𝑑</m:t>
                            </m:r>
                          </m:e>
                          <m:sub>
                            <m:r>
                              <a:rPr lang="en-US" altLang="zh-CN" i="1">
                                <a:latin typeface="Cambria Math" panose="02040503050406030204" pitchFamily="18" charset="0"/>
                                <a:ea typeface="+mj-ea"/>
                              </a:rPr>
                              <m:t>𝑖𝑗</m:t>
                            </m:r>
                          </m:sub>
                        </m:sSub>
                        <m:r>
                          <a:rPr lang="en-US" altLang="zh-CN" i="1">
                            <a:latin typeface="Cambria Math" panose="02040503050406030204" pitchFamily="18" charset="0"/>
                            <a:ea typeface="+mj-ea"/>
                          </a:rPr>
                          <m:t>≤</m:t>
                        </m:r>
                        <m:r>
                          <a:rPr lang="en-US" altLang="zh-CN" i="1">
                            <a:latin typeface="Cambria Math" panose="02040503050406030204" pitchFamily="18" charset="0"/>
                            <a:ea typeface="+mj-ea"/>
                          </a:rPr>
                          <m:t>𝑠</m:t>
                        </m:r>
                      </m:e>
                    </m:d>
                  </m:oMath>
                </a14:m>
                <a:r>
                  <a:rPr lang="zh-CN" altLang="zh-CN" dirty="0">
                    <a:latin typeface="Times New Roman" panose="02020603050405020304" charset="0"/>
                    <a:ea typeface="+mj-ea"/>
                    <a:cs typeface="Times New Roman" panose="02020603050405020304" charset="0"/>
                  </a:rPr>
                  <a:t>表示指数函数，当</a:t>
                </a:r>
                <a14:m>
                  <m:oMath xmlns:m="http://schemas.openxmlformats.org/officeDocument/2006/math">
                    <m:sSub>
                      <m:sSubPr>
                        <m:ctrlPr>
                          <a:rPr lang="zh-CN" altLang="zh-CN" i="1">
                            <a:latin typeface="Cambria Math" panose="02040503050406030204" pitchFamily="18" charset="0"/>
                            <a:ea typeface="+mj-ea"/>
                          </a:rPr>
                        </m:ctrlPr>
                      </m:sSubPr>
                      <m:e>
                        <m:r>
                          <a:rPr lang="en-US" altLang="zh-CN" i="1">
                            <a:latin typeface="Cambria Math" panose="02040503050406030204" pitchFamily="18" charset="0"/>
                            <a:ea typeface="+mj-ea"/>
                          </a:rPr>
                          <m:t>𝑑</m:t>
                        </m:r>
                      </m:e>
                      <m:sub>
                        <m:r>
                          <a:rPr lang="en-US" altLang="zh-CN" i="1">
                            <a:latin typeface="Cambria Math" panose="02040503050406030204" pitchFamily="18" charset="0"/>
                            <a:ea typeface="+mj-ea"/>
                          </a:rPr>
                          <m:t>𝑖𝑗</m:t>
                        </m:r>
                      </m:sub>
                    </m:sSub>
                    <m:r>
                      <a:rPr lang="en-US" altLang="zh-CN" i="1">
                        <a:latin typeface="Cambria Math" panose="02040503050406030204" pitchFamily="18" charset="0"/>
                        <a:ea typeface="+mj-ea"/>
                      </a:rPr>
                      <m:t>≤</m:t>
                    </m:r>
                    <m:r>
                      <a:rPr lang="en-US" altLang="zh-CN" i="1">
                        <a:latin typeface="Cambria Math" panose="02040503050406030204" pitchFamily="18" charset="0"/>
                        <a:ea typeface="+mj-ea"/>
                      </a:rPr>
                      <m:t>𝑠</m:t>
                    </m:r>
                  </m:oMath>
                </a14:m>
                <a:r>
                  <a:rPr lang="zh-CN" altLang="zh-CN" dirty="0">
                    <a:latin typeface="Times New Roman" panose="02020603050405020304" charset="0"/>
                    <a:ea typeface="+mj-ea"/>
                    <a:cs typeface="Times New Roman" panose="02020603050405020304" charset="0"/>
                  </a:rPr>
                  <a:t>其值为</a:t>
                </a:r>
                <a:r>
                  <a:rPr lang="en-US" altLang="zh-CN" dirty="0">
                    <a:latin typeface="Times New Roman" panose="02020603050405020304" charset="0"/>
                    <a:ea typeface="+mj-ea"/>
                    <a:cs typeface="Times New Roman" panose="02020603050405020304" charset="0"/>
                  </a:rPr>
                  <a:t>1</a:t>
                </a:r>
                <a:r>
                  <a:rPr lang="zh-CN" altLang="zh-CN" dirty="0">
                    <a:latin typeface="Times New Roman" panose="02020603050405020304" charset="0"/>
                    <a:ea typeface="+mj-ea"/>
                    <a:cs typeface="Times New Roman" panose="02020603050405020304" charset="0"/>
                  </a:rPr>
                  <a:t>，否则为</a:t>
                </a:r>
                <a:r>
                  <a:rPr lang="en-US" altLang="zh-CN" dirty="0">
                    <a:latin typeface="Times New Roman" panose="02020603050405020304" charset="0"/>
                    <a:ea typeface="+mj-ea"/>
                    <a:cs typeface="Times New Roman" panose="02020603050405020304" charset="0"/>
                  </a:rPr>
                  <a:t>0</a:t>
                </a:r>
                <a:r>
                  <a:rPr lang="zh-CN" altLang="zh-CN" dirty="0">
                    <a:latin typeface="Times New Roman" panose="02020603050405020304" charset="0"/>
                    <a:ea typeface="+mj-ea"/>
                    <a:cs typeface="Times New Roman" panose="02020603050405020304" charset="0"/>
                  </a:rPr>
                  <a:t>。</a:t>
                </a:r>
                <a:endParaRPr lang="en-US" altLang="zh-CN" dirty="0">
                  <a:latin typeface="Times New Roman" panose="02020603050405020304" charset="0"/>
                  <a:ea typeface="+mj-ea"/>
                  <a:cs typeface="Times New Roman" panose="02020603050405020304" charset="0"/>
                </a:endParaRPr>
              </a:p>
              <a:p>
                <a:pPr indent="457200">
                  <a:lnSpc>
                    <a:spcPct val="150000"/>
                  </a:lnSpc>
                </a:pPr>
                <a:endParaRPr lang="en-US" altLang="zh-CN" dirty="0">
                  <a:latin typeface="Times New Roman" panose="02020603050405020304" charset="0"/>
                  <a:ea typeface="+mj-ea"/>
                  <a:cs typeface="Times New Roman" panose="02020603050405020304" charset="0"/>
                </a:endParaRPr>
              </a:p>
              <a:p>
                <a:pPr indent="457200">
                  <a:lnSpc>
                    <a:spcPct val="150000"/>
                  </a:lnSpc>
                </a:pPr>
                <a:r>
                  <a:rPr lang="zh-CN" altLang="zh-CN" kern="0" dirty="0">
                    <a:latin typeface="Times New Roman" panose="02020603050405020304" charset="0"/>
                    <a:ea typeface="+mj-ea"/>
                    <a:cs typeface="Times New Roman" panose="02020603050405020304" charset="0"/>
                  </a:rPr>
                  <a:t>为了更加便于解释结果，常用其标准化版本，即</a:t>
                </a:r>
                <a:r>
                  <a:rPr lang="en-US" altLang="zh-CN" kern="0" dirty="0">
                    <a:latin typeface="Times New Roman" panose="02020603050405020304" charset="0"/>
                    <a:ea typeface="+mj-ea"/>
                    <a:cs typeface="Times New Roman" panose="02020603050405020304" charset="0"/>
                  </a:rPr>
                  <a:t>L</a:t>
                </a:r>
                <a:r>
                  <a:rPr lang="zh-CN" altLang="zh-CN" kern="0" dirty="0">
                    <a:latin typeface="Times New Roman" panose="02020603050405020304" charset="0"/>
                    <a:ea typeface="+mj-ea"/>
                    <a:cs typeface="Times New Roman" panose="02020603050405020304" charset="0"/>
                  </a:rPr>
                  <a:t>函数</a:t>
                </a:r>
                <a:r>
                  <a:rPr lang="en-US" altLang="zh-CN" kern="0" dirty="0">
                    <a:latin typeface="Times New Roman" panose="02020603050405020304" charset="0"/>
                    <a:ea typeface="+mj-ea"/>
                    <a:cs typeface="Times New Roman" panose="02020603050405020304" charset="0"/>
                  </a:rPr>
                  <a:t>(L-function)</a:t>
                </a:r>
                <a:r>
                  <a:rPr lang="zh-CN" altLang="zh-CN" kern="0" dirty="0">
                    <a:latin typeface="Times New Roman" panose="02020603050405020304" charset="0"/>
                    <a:ea typeface="+mj-ea"/>
                    <a:cs typeface="Times New Roman" panose="02020603050405020304" charset="0"/>
                  </a:rPr>
                  <a:t>，</a:t>
                </a:r>
                <a:endParaRPr lang="zh-CN" altLang="zh-CN" dirty="0">
                  <a:latin typeface="Times New Roman" panose="02020603050405020304" charset="0"/>
                  <a:ea typeface="+mj-ea"/>
                  <a:cs typeface="Times New Roman" panose="02020603050405020304" charset="0"/>
                </a:endParaRPr>
              </a:p>
              <a:p>
                <a:pPr>
                  <a:lnSpc>
                    <a:spcPct val="150000"/>
                  </a:lnSpc>
                </a:pPr>
                <a:endParaRPr lang="en-US" altLang="zh-CN" dirty="0">
                  <a:latin typeface="Times New Roman" panose="02020603050405020304" charset="0"/>
                  <a:ea typeface="微软雅黑" panose="020B0503020204020204" pitchFamily="34" charset="-122"/>
                  <a:cs typeface="Times New Roman" panose="02020603050405020304" charset="0"/>
                  <a:sym typeface="Consolas" panose="020B0609020204030204" pitchFamily="49" charset="0"/>
                </a:endParaRPr>
              </a:p>
            </p:txBody>
          </p:sp>
        </mc:Choice>
        <mc:Fallback xmlns="">
          <p:sp>
            <p:nvSpPr>
              <p:cNvPr id="11" name="矩形 10"/>
              <p:cNvSpPr>
                <a:spLocks noRot="1" noChangeAspect="1" noMove="1" noResize="1" noEditPoints="1" noAdjustHandles="1" noChangeArrowheads="1" noChangeShapeType="1" noTextEdit="1"/>
              </p:cNvSpPr>
              <p:nvPr/>
            </p:nvSpPr>
            <p:spPr>
              <a:xfrm>
                <a:off x="609600" y="1412016"/>
                <a:ext cx="7924797" cy="3883884"/>
              </a:xfrm>
              <a:prstGeom prst="rect">
                <a:avLst/>
              </a:prstGeom>
              <a:blipFill rotWithShape="1">
                <a:blip r:embed="rId2"/>
                <a:stretch>
                  <a:fillRect t="-11" r="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790887" y="2405542"/>
                <a:ext cx="3559051" cy="530915"/>
              </a:xfrm>
              <a:prstGeom prst="rect">
                <a:avLst/>
              </a:prstGeom>
            </p:spPr>
            <p:txBody>
              <a:bodyPr wrap="none">
                <a:spAutoFit/>
              </a:bodyPr>
              <a:lstStyle/>
              <a:p>
                <a14:m>
                  <m:oMath xmlns:m="http://schemas.openxmlformats.org/officeDocument/2006/math">
                    <m:r>
                      <a:rPr lang="en-US" altLang="zh-CN" sz="2000" i="1" kern="0">
                        <a:latin typeface="Cambria Math" panose="02040503050406030204" pitchFamily="18" charset="0"/>
                        <a:cs typeface="Times New Roman" panose="02020603050405020304" charset="0"/>
                      </a:rPr>
                      <m:t>𝐾</m:t>
                    </m:r>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e>
                    </m:d>
                    <m:r>
                      <a:rPr lang="en-US" altLang="zh-CN" sz="2000" i="1" kern="0">
                        <a:latin typeface="Cambria Math" panose="02040503050406030204" pitchFamily="18" charset="0"/>
                        <a:cs typeface="Times New Roman" panose="02020603050405020304" charset="0"/>
                      </a:rPr>
                      <m:t>=</m:t>
                    </m:r>
                    <m:f>
                      <m:fPr>
                        <m:ctrlPr>
                          <a:rPr lang="zh-CN" altLang="zh-CN" sz="2000" i="1">
                            <a:latin typeface="Cambria Math" panose="02040503050406030204" pitchFamily="18" charset="0"/>
                            <a:ea typeface="Cambria Math" panose="02040503050406030204" pitchFamily="18" charset="0"/>
                          </a:rPr>
                        </m:ctrlPr>
                      </m:fPr>
                      <m:num>
                        <m:r>
                          <a:rPr lang="en-US" altLang="zh-CN" sz="2000" i="1" kern="0">
                            <a:latin typeface="Cambria Math" panose="02040503050406030204" pitchFamily="18" charset="0"/>
                            <a:cs typeface="Times New Roman" panose="02020603050405020304" charset="0"/>
                          </a:rPr>
                          <m:t>𝐴</m:t>
                        </m:r>
                      </m:num>
                      <m:den>
                        <m:sSup>
                          <m:sSupPr>
                            <m:ctrlPr>
                              <a:rPr lang="zh-CN" altLang="zh-CN" sz="2000" i="1">
                                <a:latin typeface="Cambria Math" panose="02040503050406030204" pitchFamily="18" charset="0"/>
                                <a:ea typeface="Cambria Math" panose="02040503050406030204" pitchFamily="18" charset="0"/>
                              </a:rPr>
                            </m:ctrlPr>
                          </m:sSupPr>
                          <m:e>
                            <m:r>
                              <a:rPr lang="en-US" altLang="zh-CN" sz="2000" i="1" kern="0">
                                <a:latin typeface="Cambria Math" panose="02040503050406030204" pitchFamily="18" charset="0"/>
                                <a:cs typeface="Times New Roman" panose="02020603050405020304" charset="0"/>
                              </a:rPr>
                              <m:t>𝑛</m:t>
                            </m:r>
                          </m:e>
                          <m:sup>
                            <m:r>
                              <a:rPr lang="en-US" altLang="zh-CN" sz="2000" i="1" kern="0">
                                <a:latin typeface="Cambria Math" panose="02040503050406030204" pitchFamily="18" charset="0"/>
                                <a:cs typeface="Times New Roman" panose="02020603050405020304" charset="0"/>
                              </a:rPr>
                              <m:t>2</m:t>
                            </m:r>
                          </m:sup>
                        </m:sSup>
                      </m:den>
                    </m:f>
                    <m:nary>
                      <m:naryPr>
                        <m:chr m:val="∑"/>
                        <m:limLoc m:val="undOvr"/>
                        <m:ctrlPr>
                          <a:rPr lang="zh-CN" altLang="zh-CN" sz="2000" i="1">
                            <a:latin typeface="Cambria Math" panose="02040503050406030204" pitchFamily="18" charset="0"/>
                            <a:ea typeface="Cambria Math" panose="02040503050406030204" pitchFamily="18" charset="0"/>
                          </a:rPr>
                        </m:ctrlPr>
                      </m:naryPr>
                      <m:sub>
                        <m:r>
                          <a:rPr lang="en-US" altLang="zh-CN" sz="2000" i="1" kern="0">
                            <a:latin typeface="Cambria Math" panose="02040503050406030204" pitchFamily="18" charset="0"/>
                            <a:cs typeface="Times New Roman" panose="02020603050405020304" charset="0"/>
                          </a:rPr>
                          <m:t>𝑖</m:t>
                        </m:r>
                        <m:r>
                          <a:rPr lang="en-US" altLang="zh-CN" sz="2000" i="1" kern="0">
                            <a:latin typeface="Cambria Math" panose="02040503050406030204" pitchFamily="18" charset="0"/>
                            <a:cs typeface="Times New Roman" panose="02020603050405020304" charset="0"/>
                          </a:rPr>
                          <m:t>=1</m:t>
                        </m:r>
                      </m:sub>
                      <m:sup>
                        <m:r>
                          <a:rPr lang="en-US" altLang="zh-CN" sz="2000" i="1" kern="0">
                            <a:latin typeface="Cambria Math" panose="02040503050406030204" pitchFamily="18" charset="0"/>
                            <a:cs typeface="Times New Roman" panose="02020603050405020304" charset="0"/>
                          </a:rPr>
                          <m:t>𝑛</m:t>
                        </m:r>
                      </m:sup>
                      <m:e>
                        <m:nary>
                          <m:naryPr>
                            <m:chr m:val="∑"/>
                            <m:limLoc m:val="undOvr"/>
                            <m:supHide m:val="on"/>
                            <m:ctrlPr>
                              <a:rPr lang="zh-CN" altLang="zh-CN" sz="2000" i="1">
                                <a:latin typeface="Cambria Math" panose="02040503050406030204" pitchFamily="18" charset="0"/>
                                <a:ea typeface="Cambria Math" panose="02040503050406030204" pitchFamily="18" charset="0"/>
                              </a:rPr>
                            </m:ctrlPr>
                          </m:naryPr>
                          <m:sub>
                            <m:r>
                              <a:rPr lang="en-US" altLang="zh-CN" sz="2000" i="1" kern="0">
                                <a:latin typeface="Cambria Math" panose="02040503050406030204" pitchFamily="18" charset="0"/>
                                <a:cs typeface="Times New Roman" panose="02020603050405020304" charset="0"/>
                              </a:rPr>
                              <m:t>𝑗</m:t>
                            </m:r>
                            <m:r>
                              <a:rPr lang="en-US" altLang="zh-CN" sz="2000" i="1" kern="0">
                                <a:latin typeface="Cambria Math" panose="02040503050406030204" pitchFamily="18" charset="0"/>
                                <a:cs typeface="Times New Roman" panose="02020603050405020304" charset="0"/>
                              </a:rPr>
                              <m:t>≠</m:t>
                            </m:r>
                            <m:r>
                              <a:rPr lang="en-US" altLang="zh-CN" sz="2000" i="1" kern="0">
                                <a:latin typeface="Cambria Math" panose="02040503050406030204" pitchFamily="18" charset="0"/>
                                <a:cs typeface="Times New Roman" panose="02020603050405020304" charset="0"/>
                              </a:rPr>
                              <m:t>𝑖</m:t>
                            </m:r>
                          </m:sub>
                          <m:sup/>
                          <m:e>
                            <m:r>
                              <a:rPr lang="en-US" altLang="zh-CN" sz="2000" i="1" kern="0">
                                <a:latin typeface="Cambria Math" panose="02040503050406030204" pitchFamily="18" charset="0"/>
                                <a:cs typeface="Times New Roman" panose="02020603050405020304" charset="0"/>
                              </a:rPr>
                              <m:t>𝐼</m:t>
                            </m:r>
                            <m:d>
                              <m:dPr>
                                <m:ctrlPr>
                                  <a:rPr lang="zh-CN" altLang="zh-CN" sz="2000" i="1">
                                    <a:latin typeface="Cambria Math" panose="02040503050406030204" pitchFamily="18" charset="0"/>
                                    <a:ea typeface="Cambria Math" panose="02040503050406030204" pitchFamily="18" charset="0"/>
                                  </a:rPr>
                                </m:ctrlPr>
                              </m:dPr>
                              <m:e>
                                <m:sSub>
                                  <m:sSubPr>
                                    <m:ctrlPr>
                                      <a:rPr lang="zh-CN" altLang="zh-CN" sz="2000" i="1">
                                        <a:latin typeface="Cambria Math" panose="02040503050406030204" pitchFamily="18" charset="0"/>
                                        <a:ea typeface="Cambria Math" panose="02040503050406030204" pitchFamily="18" charset="0"/>
                                      </a:rPr>
                                    </m:ctrlPr>
                                  </m:sSubPr>
                                  <m:e>
                                    <m:r>
                                      <a:rPr lang="en-US" altLang="zh-CN" sz="2000" i="1" kern="0">
                                        <a:latin typeface="Cambria Math" panose="02040503050406030204" pitchFamily="18" charset="0"/>
                                        <a:cs typeface="Times New Roman" panose="02020603050405020304" charset="0"/>
                                      </a:rPr>
                                      <m:t>𝑑</m:t>
                                    </m:r>
                                  </m:e>
                                  <m:sub>
                                    <m:r>
                                      <a:rPr lang="en-US" altLang="zh-CN" sz="2000" i="1" kern="0">
                                        <a:latin typeface="Cambria Math" panose="02040503050406030204" pitchFamily="18" charset="0"/>
                                        <a:cs typeface="Times New Roman" panose="02020603050405020304" charset="0"/>
                                      </a:rPr>
                                      <m:t>𝑖𝑗</m:t>
                                    </m:r>
                                  </m:sub>
                                </m:sSub>
                                <m:r>
                                  <a:rPr lang="en-US" altLang="zh-CN" sz="2000" i="1" kern="0">
                                    <a:latin typeface="Cambria Math" panose="02040503050406030204" pitchFamily="18" charset="0"/>
                                    <a:cs typeface="Times New Roman" panose="02020603050405020304" charset="0"/>
                                  </a:rPr>
                                  <m:t>≤</m:t>
                                </m:r>
                                <m:r>
                                  <a:rPr lang="en-US" altLang="zh-CN" sz="2000" i="1" kern="0">
                                    <a:latin typeface="Cambria Math" panose="02040503050406030204" pitchFamily="18" charset="0"/>
                                    <a:cs typeface="Times New Roman" panose="02020603050405020304" charset="0"/>
                                  </a:rPr>
                                  <m:t>𝑠</m:t>
                                </m:r>
                              </m:e>
                            </m:d>
                          </m:e>
                        </m:nary>
                      </m:e>
                    </m:nary>
                  </m:oMath>
                </a14:m>
                <a:r>
                  <a:rPr lang="en-US" altLang="zh-CN" sz="2000" kern="0" dirty="0">
                    <a:latin typeface="Times New Roman" panose="02020603050405020304" charset="0"/>
                    <a:cs typeface="Times New Roman" panose="02020603050405020304" charset="0"/>
                  </a:rPr>
                  <a:t> </a:t>
                </a:r>
                <a:endParaRPr lang="zh-CN" altLang="en-US" sz="2000" dirty="0">
                  <a:latin typeface="Times New Roman" panose="02020603050405020304" charset="0"/>
                  <a:cs typeface="Times New Roman" panose="02020603050405020304"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2790887" y="2405542"/>
                <a:ext cx="3559051" cy="530915"/>
              </a:xfrm>
              <a:prstGeom prst="rect">
                <a:avLst/>
              </a:prstGeom>
              <a:blipFill rotWithShape="1">
                <a:blip r:embed="rId3"/>
                <a:stretch>
                  <a:fillRect l="-2" t="-31" r="16" b="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627526" y="4996342"/>
                <a:ext cx="1885773" cy="718658"/>
              </a:xfrm>
              <a:prstGeom prst="rect">
                <a:avLst/>
              </a:prstGeom>
            </p:spPr>
            <p:txBody>
              <a:bodyPr wrap="none">
                <a:spAutoFit/>
              </a:bodyPr>
              <a:lstStyle/>
              <a:p>
                <a14:m>
                  <m:oMath xmlns:m="http://schemas.openxmlformats.org/officeDocument/2006/math">
                    <m:r>
                      <a:rPr lang="en-US" altLang="zh-CN" sz="2000" i="1" kern="0">
                        <a:latin typeface="Cambria Math" panose="02040503050406030204" pitchFamily="18" charset="0"/>
                        <a:cs typeface="Times New Roman" panose="02020603050405020304" charset="0"/>
                      </a:rPr>
                      <m:t>𝐿</m:t>
                    </m:r>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e>
                    </m:d>
                    <m:r>
                      <a:rPr lang="en-US" altLang="zh-CN" sz="2000" i="1" kern="0">
                        <a:latin typeface="Cambria Math" panose="02040503050406030204" pitchFamily="18" charset="0"/>
                        <a:cs typeface="Times New Roman" panose="02020603050405020304" charset="0"/>
                      </a:rPr>
                      <m:t>=</m:t>
                    </m:r>
                    <m:rad>
                      <m:radPr>
                        <m:degHide m:val="on"/>
                        <m:ctrlPr>
                          <a:rPr lang="zh-CN" altLang="zh-CN" sz="2000" i="1">
                            <a:latin typeface="Cambria Math" panose="02040503050406030204" pitchFamily="18" charset="0"/>
                            <a:ea typeface="Cambria Math" panose="02040503050406030204" pitchFamily="18" charset="0"/>
                          </a:rPr>
                        </m:ctrlPr>
                      </m:radPr>
                      <m:deg/>
                      <m:e>
                        <m:f>
                          <m:fPr>
                            <m:ctrlPr>
                              <a:rPr lang="zh-CN" altLang="zh-CN" sz="2000" i="1">
                                <a:latin typeface="Cambria Math" panose="02040503050406030204" pitchFamily="18" charset="0"/>
                                <a:ea typeface="Cambria Math" panose="02040503050406030204" pitchFamily="18" charset="0"/>
                              </a:rPr>
                            </m:ctrlPr>
                          </m:fPr>
                          <m:num>
                            <m:r>
                              <a:rPr lang="en-US" altLang="zh-CN" sz="2000" i="1" kern="0">
                                <a:latin typeface="Cambria Math" panose="02040503050406030204" pitchFamily="18" charset="0"/>
                                <a:cs typeface="Times New Roman" panose="02020603050405020304" charset="0"/>
                              </a:rPr>
                              <m:t>𝐾</m:t>
                            </m:r>
                            <m:d>
                              <m:dPr>
                                <m:ctrlPr>
                                  <a:rPr lang="zh-CN" altLang="zh-CN" sz="2000" i="1">
                                    <a:latin typeface="Cambria Math" panose="02040503050406030204" pitchFamily="18" charset="0"/>
                                    <a:ea typeface="Cambria Math" panose="02040503050406030204" pitchFamily="18" charset="0"/>
                                  </a:rPr>
                                </m:ctrlPr>
                              </m:dPr>
                              <m:e>
                                <m:r>
                                  <a:rPr lang="en-US" altLang="zh-CN" sz="2000" i="1" kern="0">
                                    <a:latin typeface="Cambria Math" panose="02040503050406030204" pitchFamily="18" charset="0"/>
                                    <a:cs typeface="Times New Roman" panose="02020603050405020304" charset="0"/>
                                  </a:rPr>
                                  <m:t>𝑠</m:t>
                                </m:r>
                              </m:e>
                            </m:d>
                          </m:num>
                          <m:den>
                            <m:r>
                              <a:rPr lang="en-US" altLang="zh-CN" sz="2000" i="1" kern="0">
                                <a:latin typeface="Cambria Math" panose="02040503050406030204" pitchFamily="18" charset="0"/>
                                <a:cs typeface="Times New Roman" panose="02020603050405020304" charset="0"/>
                              </a:rPr>
                              <m:t>𝜋</m:t>
                            </m:r>
                          </m:den>
                        </m:f>
                        <m:r>
                          <a:rPr lang="en-US" altLang="zh-CN" sz="2000" i="1" kern="0">
                            <a:latin typeface="Cambria Math" panose="02040503050406030204" pitchFamily="18" charset="0"/>
                            <a:cs typeface="Times New Roman" panose="02020603050405020304" charset="0"/>
                          </a:rPr>
                          <m:t> </m:t>
                        </m:r>
                      </m:e>
                    </m:rad>
                  </m:oMath>
                </a14:m>
                <a:r>
                  <a:rPr lang="en-US" altLang="zh-CN" sz="2000" kern="0" dirty="0">
                    <a:latin typeface="Times New Roman" panose="02020603050405020304" charset="0"/>
                    <a:cs typeface="Times New Roman" panose="02020603050405020304" charset="0"/>
                  </a:rPr>
                  <a:t>-s </a:t>
                </a:r>
                <a:endParaRPr lang="zh-CN" altLang="en-US" sz="2000" dirty="0">
                  <a:latin typeface="Times New Roman" panose="02020603050405020304" charset="0"/>
                  <a:cs typeface="Times New Roman" panose="02020603050405020304"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3627526" y="4996342"/>
                <a:ext cx="1885773" cy="718658"/>
              </a:xfrm>
              <a:prstGeom prst="rect">
                <a:avLst/>
              </a:prstGeom>
              <a:blipFill rotWithShape="1">
                <a:blip r:embed="rId4"/>
                <a:stretch>
                  <a:fillRect l="-22" t="-23" r="-1975"/>
                </a:stretch>
              </a:blipFill>
            </p:spPr>
            <p:txBody>
              <a:bodyPr/>
              <a:lstStyle/>
              <a:p>
                <a:r>
                  <a:rPr lang="zh-CN" altLang="en-US">
                    <a:noFill/>
                  </a:rPr>
                  <a:t> </a:t>
                </a:r>
              </a:p>
            </p:txBody>
          </p:sp>
        </mc:Fallback>
      </mc:AlternateContent>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lIns="0"/>
          <a:lstStyle/>
          <a:p>
            <a:pPr algn="l"/>
            <a:r>
              <a:rPr lang="en-US" altLang="zh-CN" sz="3600" dirty="0">
                <a:latin typeface="Times New Roman" panose="02020603050405020304" charset="0"/>
                <a:cs typeface="Times New Roman" panose="02020603050405020304" charset="0"/>
                <a:sym typeface="Consolas" panose="020B0609020204030204" pitchFamily="49" charset="0"/>
              </a:rPr>
              <a:t>8.5 </a:t>
            </a:r>
            <a:r>
              <a:rPr lang="zh-CN" altLang="en-US" sz="3600" dirty="0">
                <a:latin typeface="Times New Roman" panose="02020603050405020304" charset="0"/>
                <a:cs typeface="Times New Roman" panose="02020603050405020304" charset="0"/>
                <a:sym typeface="Consolas" panose="020B0609020204030204" pitchFamily="49" charset="0"/>
              </a:rPr>
              <a:t>空间点模式分析</a:t>
            </a:r>
          </a:p>
        </p:txBody>
      </p:sp>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79</a:t>
            </a:fld>
            <a:endParaRPr lang="zh-CN" altLang="en-US">
              <a:solidFill>
                <a:schemeClr val="bg2">
                  <a:lumMod val="75000"/>
                </a:schemeClr>
              </a:solidFill>
              <a:sym typeface="Consolas" panose="020B0609020204030204" pitchFamily="49" charset="0"/>
            </a:endParaRPr>
          </a:p>
        </p:txBody>
      </p:sp>
      <p:pic>
        <p:nvPicPr>
          <p:cNvPr id="9" name="图片 8"/>
          <p:cNvPicPr/>
          <p:nvPr/>
        </p:nvPicPr>
        <p:blipFill rotWithShape="1">
          <a:blip r:embed="rId2"/>
          <a:srcRect t="3246" b="3047"/>
          <a:stretch>
            <a:fillRect/>
          </a:stretch>
        </p:blipFill>
        <p:spPr bwMode="auto">
          <a:xfrm>
            <a:off x="400050" y="2628900"/>
            <a:ext cx="8343900" cy="3467100"/>
          </a:xfrm>
          <a:prstGeom prst="rect">
            <a:avLst/>
          </a:prstGeom>
          <a:ln>
            <a:noFill/>
          </a:ln>
        </p:spPr>
      </p:pic>
      <p:sp>
        <p:nvSpPr>
          <p:cNvPr id="3" name="文本框 2"/>
          <p:cNvSpPr txBox="1"/>
          <p:nvPr/>
        </p:nvSpPr>
        <p:spPr>
          <a:xfrm>
            <a:off x="800100" y="1322680"/>
            <a:ext cx="7543800" cy="99001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K &lt;- Kest(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WHHP_centroids_ppp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L &lt;- Lest(</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WHHP_centroids_ppp</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par(</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mfrow</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a:solidFill>
                  <a:srgbClr val="098658"/>
                </a:solidFill>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plot(K, main=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"Ripley's K-function"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ylab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"K(r)"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xlab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"Distance 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a:p>
            <a:pPr indent="127000">
              <a:lnSpc>
                <a:spcPts val="1425"/>
              </a:lnSpc>
            </a:pP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plot(L, main=</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"Ripley's L-function"</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ylab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"L(r) - 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latin typeface="Consolas" panose="020B0609020204030204" pitchFamily="49" charset="0"/>
                <a:ea typeface="宋体" panose="02010600030101010101" pitchFamily="2" charset="-122"/>
                <a:cs typeface="宋体" panose="02010600030101010101" pitchFamily="2" charset="-122"/>
              </a:rPr>
              <a:t>xlab</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latin typeface="Consolas" panose="020B0609020204030204" pitchFamily="49" charset="0"/>
                <a:ea typeface="宋体" panose="02010600030101010101" pitchFamily="2" charset="-122"/>
                <a:cs typeface="宋体" panose="02010600030101010101" pitchFamily="2" charset="-122"/>
              </a:rPr>
              <a:t>"Distance r"</a:t>
            </a:r>
            <a:r>
              <a:rPr lang="en-US" altLang="zh-CN" sz="1200" dirty="0">
                <a:solidFill>
                  <a:srgbClr val="000000"/>
                </a:solidFill>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Times New Roman" panose="0202060305040502030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550" y="174625"/>
            <a:ext cx="6896099" cy="663575"/>
          </a:xfrm>
        </p:spPr>
        <p:txBody>
          <a:bodyPr/>
          <a:lstStyle/>
          <a:p>
            <a:r>
              <a:rPr lang="zh-CN" altLang="en-US" dirty="0"/>
              <a:t>参考教材</a:t>
            </a:r>
          </a:p>
        </p:txBody>
      </p:sp>
      <p:sp>
        <p:nvSpPr>
          <p:cNvPr id="4" name="Slide Number Placeholder 3"/>
          <p:cNvSpPr>
            <a:spLocks noGrp="1"/>
          </p:cNvSpPr>
          <p:nvPr>
            <p:ph type="sldNum" sz="quarter" idx="12"/>
          </p:nvPr>
        </p:nvSpPr>
        <p:spPr>
          <a:prstGeom prst="rect">
            <a:avLst/>
          </a:prstGeom>
        </p:spPr>
        <p:txBody>
          <a:bodyPr/>
          <a:lstStyle/>
          <a:p>
            <a:pPr>
              <a:defRPr/>
            </a:pPr>
            <a:fld id="{4169501A-70AB-40D4-B144-E9884F45072F}" type="slidenum">
              <a:rPr lang="zh-CN" altLang="en-US" smtClean="0">
                <a:solidFill>
                  <a:schemeClr val="bg1">
                    <a:lumMod val="65000"/>
                  </a:schemeClr>
                </a:solidFill>
              </a:rPr>
              <a:t>80</a:t>
            </a:fld>
            <a:endParaRPr lang="zh-CN" altLang="en-US" dirty="0">
              <a:solidFill>
                <a:schemeClr val="bg1">
                  <a:lumMod val="65000"/>
                </a:schemeClr>
              </a:solidFill>
            </a:endParaRPr>
          </a:p>
        </p:txBody>
      </p:sp>
      <p:sp>
        <p:nvSpPr>
          <p:cNvPr id="3" name="AutoShape 2" descr="https://wx.qq.com/cgi-bin/mmwebwx-bin/webwxgetmsgimg?&amp;MsgID=1011342995928164582&amp;skey=%40crypt_f86d81c0_f5935c9dae5f61551a58979cad691918"/>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490" y="1418579"/>
            <a:ext cx="3274810" cy="4601221"/>
          </a:xfrm>
          <a:prstGeom prst="rect">
            <a:avLst/>
          </a:prstGeom>
        </p:spPr>
      </p:pic>
      <p:pic>
        <p:nvPicPr>
          <p:cNvPr id="10" name="图片 9"/>
          <p:cNvPicPr>
            <a:picLocks noChangeAspect="1"/>
          </p:cNvPicPr>
          <p:nvPr/>
        </p:nvPicPr>
        <p:blipFill>
          <a:blip r:embed="rId3"/>
          <a:stretch>
            <a:fillRect/>
          </a:stretch>
        </p:blipFill>
        <p:spPr>
          <a:xfrm>
            <a:off x="876300" y="1440809"/>
            <a:ext cx="3353787" cy="4578991"/>
          </a:xfrm>
          <a:prstGeom prst="rect">
            <a:avLst/>
          </a:prstGeom>
          <a:ln>
            <a:solidFill>
              <a:srgbClr val="F9FAFC"/>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5390"/>
      </a:accent1>
      <a:accent2>
        <a:srgbClr val="FFC000"/>
      </a:accent2>
      <a:accent3>
        <a:srgbClr val="FFFF00"/>
      </a:accent3>
      <a:accent4>
        <a:srgbClr val="00B050"/>
      </a:accent4>
      <a:accent5>
        <a:srgbClr val="00B0F0"/>
      </a:accent5>
      <a:accent6>
        <a:srgbClr val="0070C0"/>
      </a:accent6>
      <a:hlink>
        <a:srgbClr val="7030A0"/>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122</TotalTime>
  <Words>7442</Words>
  <Application>Microsoft Office PowerPoint</Application>
  <PresentationFormat>全屏显示(4:3)</PresentationFormat>
  <Paragraphs>710</Paragraphs>
  <Slides>80</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80</vt:i4>
      </vt:variant>
    </vt:vector>
  </HeadingPairs>
  <TitlesOfParts>
    <vt:vector size="88" baseType="lpstr">
      <vt:lpstr>宋体</vt:lpstr>
      <vt:lpstr>Arial</vt:lpstr>
      <vt:lpstr>Calibri</vt:lpstr>
      <vt:lpstr>Cambria Math</vt:lpstr>
      <vt:lpstr>Consolas</vt:lpstr>
      <vt:lpstr>Times New Roman</vt:lpstr>
      <vt:lpstr>Wingdings</vt:lpstr>
      <vt:lpstr>Office 主题​​</vt:lpstr>
      <vt:lpstr>第八章 R语言空间统计分析</vt:lpstr>
      <vt:lpstr>目录</vt:lpstr>
      <vt:lpstr>8.1 章节R函数包准备</vt:lpstr>
      <vt:lpstr>8.2 空间插值</vt:lpstr>
      <vt:lpstr>8.2 空间插值</vt:lpstr>
      <vt:lpstr>8.2 空间插值</vt:lpstr>
      <vt:lpstr>8.2.1 最邻近插值</vt:lpstr>
      <vt:lpstr>8.2.1 最邻近插值</vt:lpstr>
      <vt:lpstr>8.2.2 IDW插值</vt:lpstr>
      <vt:lpstr>8.2.2 IDW插值</vt:lpstr>
      <vt:lpstr>8.2.2 IDW插值</vt:lpstr>
      <vt:lpstr>8.2.2 IDW插值</vt:lpstr>
      <vt:lpstr>8.2.2 IDW插值</vt:lpstr>
      <vt:lpstr>8.2.3 克里金插值</vt:lpstr>
      <vt:lpstr>8.2.3 克里金插值</vt:lpstr>
      <vt:lpstr>8.2.3 克里金插值</vt:lpstr>
      <vt:lpstr>8.2.3 克里金插值</vt:lpstr>
      <vt:lpstr>8.2.3 克里金插值</vt:lpstr>
      <vt:lpstr>8.3 空间自相关分析</vt:lpstr>
      <vt:lpstr>8.3 空间自相关分析</vt:lpstr>
      <vt:lpstr>8.3 空间自相关分析</vt:lpstr>
      <vt:lpstr>8.3 空间自相关分析</vt:lpstr>
      <vt:lpstr>8.3 空间自相关分析</vt:lpstr>
      <vt:lpstr>8.3.1 全局空间自相关</vt:lpstr>
      <vt:lpstr>8.3.1 全局空间自相关</vt:lpstr>
      <vt:lpstr>8.3.1 全局空间自相关</vt:lpstr>
      <vt:lpstr>8.3.1 全局空间自相关</vt:lpstr>
      <vt:lpstr>8.3.1 全局空间自相关</vt:lpstr>
      <vt:lpstr>8.3.1 全局空间自相关</vt:lpstr>
      <vt:lpstr>8.3.1 全局空间自相关</vt:lpstr>
      <vt:lpstr>8.3.2 局部空间自相关</vt:lpstr>
      <vt:lpstr>8.3.2 局部空间自相关</vt:lpstr>
      <vt:lpstr>8.3.2 局部空间自相关</vt:lpstr>
      <vt:lpstr>8.3.2 局部空间自相关</vt:lpstr>
      <vt:lpstr>8.3.2 局部空间自相关</vt:lpstr>
      <vt:lpstr>8.3.2 局部空间自相关</vt:lpstr>
      <vt:lpstr>8.4 空间回归分析</vt:lpstr>
      <vt:lpstr>8.4.1 线性回归分析</vt:lpstr>
      <vt:lpstr>8.4.1 线性回归分析</vt:lpstr>
      <vt:lpstr>8.4.1 线性回归分析</vt:lpstr>
      <vt:lpstr>8.4.2 空间滞后/误差/杜宾模型</vt:lpstr>
      <vt:lpstr>8.4.2 空间滞后/误差/杜宾模型</vt:lpstr>
      <vt:lpstr>8.4.2 空间滞后/误差/杜宾模型</vt:lpstr>
      <vt:lpstr>8.4.2 空间滞后/误差/杜宾模型</vt:lpstr>
      <vt:lpstr>8.4.2 空间滞后/误差/杜宾模型</vt:lpstr>
      <vt:lpstr>8.4.2 空间滞后/误差/杜宾模型</vt:lpstr>
      <vt:lpstr>8.4.3 地理加权回归</vt:lpstr>
      <vt:lpstr>8.4.3 地理加权回归</vt:lpstr>
      <vt:lpstr>8.4.3 地理加权回归</vt:lpstr>
      <vt:lpstr>8.4.3 地理加权回归</vt:lpstr>
      <vt:lpstr>8.4.3 地理加权回归</vt:lpstr>
      <vt:lpstr>8.4.3 地理加权回归</vt:lpstr>
      <vt:lpstr>8.4.3 地理加权回归</vt:lpstr>
      <vt:lpstr>带宽（Bandwidth, b）</vt:lpstr>
      <vt:lpstr>带宽（Bandwidth, b）</vt:lpstr>
      <vt:lpstr>地理加权回归分析</vt:lpstr>
      <vt:lpstr>地理加权回归分析</vt:lpstr>
      <vt:lpstr>地理加权回归分析</vt:lpstr>
      <vt:lpstr>地理加权回归分析</vt:lpstr>
      <vt:lpstr>地理加权回归分析</vt:lpstr>
      <vt:lpstr>地理加权回归分析</vt:lpstr>
      <vt:lpstr>地理加权回归分析</vt:lpstr>
      <vt:lpstr>地理加权回归分析</vt:lpstr>
      <vt:lpstr>8.4.3 地理加权回归</vt:lpstr>
      <vt:lpstr>8.4.3 地理加权回归</vt:lpstr>
      <vt:lpstr>多尺度地理加权回归分析</vt:lpstr>
      <vt:lpstr>多尺度地理加权回归分析</vt:lpstr>
      <vt:lpstr>Back-fitting procedure</vt:lpstr>
      <vt:lpstr>8.4.3 地理加权回归</vt:lpstr>
      <vt:lpstr>8.4.3 地理加权回归</vt:lpstr>
      <vt:lpstr>8.4.3 地理加权回归</vt:lpstr>
      <vt:lpstr>8.4.3 地理加权回归</vt:lpstr>
      <vt:lpstr>8.4.3 地理加权回归</vt:lpstr>
      <vt:lpstr>8.4.3 地理加权回归</vt:lpstr>
      <vt:lpstr>8.5 空间点模式分析</vt:lpstr>
      <vt:lpstr>8.5 空间点模式分析</vt:lpstr>
      <vt:lpstr>8.5 空间点模式分析</vt:lpstr>
      <vt:lpstr>8.5 空间点模式分析</vt:lpstr>
      <vt:lpstr>8.5 空间点模式分析</vt:lpstr>
      <vt:lpstr>参考教材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Yiyun Zhang</cp:lastModifiedBy>
  <cp:revision>298</cp:revision>
  <dcterms:created xsi:type="dcterms:W3CDTF">2019-05-21T17:53:00Z</dcterms:created>
  <dcterms:modified xsi:type="dcterms:W3CDTF">2025-04-02T07:55:49Z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2BF106B6094D49028DE9D54E62957DB2_12</vt:lpwstr>
  </property>
</Properties>
</file>